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5" d="100"/>
          <a:sy n="75" d="100"/>
        </p:scale>
        <p:origin x="874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1" d="100"/>
          <a:sy n="61" d="100"/>
        </p:scale>
        <p:origin x="3168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BA0BEF7-1B59-2DD7-48AC-8D278B9B16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79DECA-576E-98AD-0E31-69B942F8E3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79B719-FB77-43FD-976E-5F3F5655C542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ADE075-F4BF-BDC7-E728-4FA2A7B0CE5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C154F9E-60CC-A54B-F590-AA16DE8C43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95A73A-8E8B-4B23-9D94-795DDEEC2C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74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EA891E-6FC9-4C53-87AC-7123AFACE3CF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5C9F07-A549-4B4A-9445-15A9E73DB8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118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subTitle" idx="1"/>
          </p:nvPr>
        </p:nvSpPr>
        <p:spPr>
          <a:xfrm>
            <a:off x="980266" y="3237426"/>
            <a:ext cx="6786562" cy="1048678"/>
          </a:xfrm>
        </p:spPr>
        <p:txBody>
          <a:bodyPr vert="horz" lIns="91440" tIns="45720" rIns="91440" bIns="4572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</a:pPr>
            <a:r>
              <a:rPr lang="en-US" sz="2000" b="0" i="0" u="none" baseline="0">
                <a:solidFill>
                  <a:schemeClr val="accent4"/>
                </a:solidFill>
                <a:latin typeface="Arial"/>
                <a:ea typeface="Arial"/>
              </a:rPr>
              <a:t>Click to edit Master subtitle style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ctrTitle"/>
          </p:nvPr>
        </p:nvSpPr>
        <p:spPr>
          <a:xfrm>
            <a:off x="980266" y="1136650"/>
            <a:ext cx="6786562" cy="2360716"/>
          </a:xfrm>
        </p:spPr>
        <p:txBody>
          <a:bodyPr vert="horz" lIns="91440" tIns="45720" rIns="91440" bIns="45720" anchor="ctr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48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  <a:ea typeface="Arial"/>
              </a:rPr>
              <a:t>Click to edit Master </a:t>
            </a:r>
            <a:br>
              <a:rPr lang="en-US" sz="48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  <a:ea typeface="Arial"/>
              </a:rPr>
            </a:br>
            <a:r>
              <a:rPr lang="en-US" sz="48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  <a:ea typeface="Arial"/>
              </a:rPr>
              <a:t>title style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0"/>
          </p:nvPr>
        </p:nvSpPr>
        <p:spPr>
          <a:xfrm>
            <a:off x="980266" y="5094260"/>
            <a:ext cx="5357061" cy="296271"/>
          </a:xfrm>
        </p:spPr>
        <p:txBody>
          <a:bodyPr vert="horz" lIns="91440" tIns="45720" rIns="91440" bIns="4572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</a:pPr>
            <a:r>
              <a:rPr lang="en-US" sz="1500" b="0" i="0" u="none" baseline="0">
                <a:solidFill>
                  <a:srgbClr val="F0F0F0">
                    <a:lumMod val="75000"/>
                  </a:srgbClr>
                </a:solidFill>
                <a:latin typeface="Arial"/>
                <a:ea typeface="Arial"/>
              </a:rPr>
              <a:t>Signature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1"/>
          </p:nvPr>
        </p:nvSpPr>
        <p:spPr>
          <a:xfrm>
            <a:off x="980266" y="5419201"/>
            <a:ext cx="5357061" cy="296271"/>
          </a:xfrm>
        </p:spPr>
        <p:txBody>
          <a:bodyPr vert="horz" lIns="91440" tIns="45720" rIns="91440" bIns="4572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</a:pPr>
            <a:r>
              <a:rPr lang="en-US" sz="1500" b="0" i="0" u="none" baseline="0">
                <a:solidFill>
                  <a:srgbClr val="F0F0F0">
                    <a:lumMod val="75000"/>
                  </a:srgbClr>
                </a:solidFill>
                <a:latin typeface="Arial"/>
                <a:ea typeface="Arial"/>
              </a:rPr>
              <a:t>Date</a:t>
            </a:r>
          </a:p>
        </p:txBody>
      </p:sp>
      <p:pic>
        <p:nvPicPr>
          <p:cNvPr id="7" name="image2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52400" y="-30480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idx="1"/>
          </p:nvPr>
        </p:nvSpPr>
        <p:spPr>
          <a:xfrm>
            <a:off x="669924" y="1123950"/>
            <a:ext cx="10850563" cy="5019675"/>
          </a:xfrm>
        </p:spPr>
        <p:txBody>
          <a:bodyPr vert="horz" lIns="91440" tIns="45720" rIns="91440" bIns="45720" anchor="t">
            <a:normAutofit/>
          </a:bodyPr>
          <a:lstStyle/>
          <a:p>
            <a:pPr marL="228589" indent="-228589" algn="l">
              <a:lnSpc>
                <a:spcPct val="90000"/>
              </a:lnSpc>
              <a:spcBef>
                <a:spcPts val="1000"/>
              </a:spcBef>
            </a:pPr>
            <a:r>
              <a:rPr lang="en-US" sz="20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text styles</a:t>
            </a:r>
          </a:p>
          <a:p>
            <a:pPr marL="685766" lvl="1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2942" lvl="2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120" lvl="3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298" lvl="4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2024/7/31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OfficePLUS</a:t>
            </a:r>
          </a:p>
        </p:txBody>
      </p:sp>
      <p:sp>
        <p:nvSpPr>
          <p:cNvPr id="5" name="AutoShape 5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  <a:endParaRPr lang="zh-CN" altLang="en-US" sz="10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0" y="-304800"/>
            <a:ext cx="12192000" cy="6858000"/>
          </a:xfrm>
          <a:prstGeom prst="rect">
            <a:avLst/>
          </a:prstGeom>
        </p:spPr>
      </p:pic>
      <p:sp>
        <p:nvSpPr>
          <p:cNvPr id="4" name="AutoShape 4"/>
          <p:cNvSpPr>
            <a:spLocks noGrp="1"/>
          </p:cNvSpPr>
          <p:nvPr>
            <p:ph type="ctrTitle"/>
          </p:nvPr>
        </p:nvSpPr>
        <p:spPr>
          <a:xfrm>
            <a:off x="1454398" y="1396009"/>
            <a:ext cx="5426076" cy="1621509"/>
          </a:xfrm>
        </p:spPr>
        <p:txBody>
          <a:bodyPr vert="horz" lIns="91440" tIns="45720" rIns="91440" bIns="45720" anchor="b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ct val="0"/>
              </a:spcBef>
            </a:pPr>
            <a:r>
              <a:rPr lang="en-US" sz="72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  <a:ea typeface="Arial"/>
              </a:rPr>
              <a:t>Conclusion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/>
          </p:nvPr>
        </p:nvSpPr>
        <p:spPr>
          <a:xfrm>
            <a:off x="1451001" y="3511745"/>
            <a:ext cx="5426076" cy="310871"/>
          </a:xfrm>
        </p:spPr>
        <p:txBody>
          <a:bodyPr vert="horz" lIns="91440" tIns="45720" rIns="91440" bIns="45720" anchor="t">
            <a:normAutofit/>
          </a:bodyPr>
          <a:lstStyle/>
          <a:p>
            <a:pPr marL="228589" marR="0" indent="-228589" algn="l" fontAlgn="auto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sz="15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Data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/>
          </p:nvPr>
        </p:nvSpPr>
        <p:spPr>
          <a:xfrm>
            <a:off x="1451002" y="3215474"/>
            <a:ext cx="5426076" cy="296271"/>
          </a:xfrm>
        </p:spPr>
        <p:txBody>
          <a:bodyPr vert="horz" lIns="91440" tIns="45720" rIns="91440" bIns="4572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</a:pPr>
            <a:r>
              <a:rPr lang="en-US" sz="15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Signature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AutoShape 4"/>
          <p:cNvSpPr>
            <a:spLocks noGrp="1"/>
          </p:cNvSpPr>
          <p:nvPr>
            <p:ph type="title"/>
          </p:nvPr>
        </p:nvSpPr>
        <p:spPr>
          <a:xfrm>
            <a:off x="5787424" y="3142015"/>
            <a:ext cx="5419185" cy="895350"/>
          </a:xfrm>
        </p:spPr>
        <p:txBody>
          <a:bodyPr vert="horz"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idx="1"/>
          </p:nvPr>
        </p:nvSpPr>
        <p:spPr>
          <a:xfrm>
            <a:off x="5787423" y="4114354"/>
            <a:ext cx="5419185" cy="1015623"/>
          </a:xfrm>
        </p:spPr>
        <p:txBody>
          <a:bodyPr vert="horz" lIns="91440" tIns="45720" rIns="91440" bIns="4572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</a:pPr>
            <a:r>
              <a:rPr lang="en-US" sz="1100" b="0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ea typeface="Arial"/>
              </a:rPr>
              <a:t>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sz="half" idx="2"/>
          </p:nvPr>
        </p:nvSpPr>
        <p:spPr>
          <a:xfrm>
            <a:off x="6172199" y="1130300"/>
            <a:ext cx="5348287" cy="5006975"/>
          </a:xfrm>
        </p:spPr>
        <p:txBody>
          <a:bodyPr vert="horz" lIns="91440" tIns="45720" rIns="91440" bIns="45720" anchor="t">
            <a:normAutofit/>
          </a:bodyPr>
          <a:lstStyle/>
          <a:p>
            <a:pPr marL="228589" indent="-228589" algn="l">
              <a:lnSpc>
                <a:spcPct val="90000"/>
              </a:lnSpc>
              <a:spcBef>
                <a:spcPts val="10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marL="685766" lvl="1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2942" lvl="2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120" lvl="3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298" lvl="4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sz="half" idx="13"/>
          </p:nvPr>
        </p:nvSpPr>
        <p:spPr>
          <a:xfrm>
            <a:off x="669924" y="1130300"/>
            <a:ext cx="5348287" cy="5006975"/>
          </a:xfrm>
        </p:spPr>
        <p:txBody>
          <a:bodyPr vert="horz" lIns="91440" tIns="45720" rIns="91440" bIns="45720" anchor="t">
            <a:normAutofit/>
          </a:bodyPr>
          <a:lstStyle/>
          <a:p>
            <a:pPr marL="228589" indent="-228589" algn="l">
              <a:lnSpc>
                <a:spcPct val="90000"/>
              </a:lnSpc>
              <a:spcBef>
                <a:spcPts val="10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marL="685766" lvl="1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2942" lvl="2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120" lvl="3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298" lvl="4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5" name="AutoShape 5"/>
          <p:cNvSpPr>
            <a:spLocks noGrp="1"/>
          </p:cNvSpPr>
          <p:nvPr>
            <p:ph type="dt" sz="half" idx="14"/>
          </p:nvPr>
        </p:nvSpPr>
        <p:spPr>
          <a:xfrm>
            <a:off x="5401732" y="6240463"/>
            <a:ext cx="1388536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2024/7/31</a:t>
            </a:r>
          </a:p>
        </p:txBody>
      </p:sp>
      <p:sp>
        <p:nvSpPr>
          <p:cNvPr id="6" name="AutoShape 6"/>
          <p:cNvSpPr>
            <a:spLocks noGrp="1"/>
          </p:cNvSpPr>
          <p:nvPr>
            <p:ph type="ftr" sz="quarter" idx="15"/>
          </p:nvPr>
        </p:nvSpPr>
        <p:spPr>
          <a:xfrm>
            <a:off x="669924" y="6240463"/>
            <a:ext cx="4140201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OfficePLUS </a:t>
            </a:r>
          </a:p>
        </p:txBody>
      </p:sp>
      <p:sp>
        <p:nvSpPr>
          <p:cNvPr id="7" name="AutoShape 7"/>
          <p:cNvSpPr>
            <a:spLocks noGrp="1"/>
          </p:cNvSpPr>
          <p:nvPr>
            <p:ph type="sldNum" sz="quarter" idx="16"/>
          </p:nvPr>
        </p:nvSpPr>
        <p:spPr>
          <a:xfrm>
            <a:off x="8610599" y="6240463"/>
            <a:ext cx="2909888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  <a:endParaRPr lang="zh-CN" altLang="en-US" sz="10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idx="1"/>
          </p:nvPr>
        </p:nvSpPr>
        <p:spPr>
          <a:xfrm>
            <a:off x="665163" y="1135380"/>
            <a:ext cx="5326061" cy="448976"/>
          </a:xfrm>
        </p:spPr>
        <p:txBody>
          <a:bodyPr vert="horz" lIns="91440" tIns="45720" rIns="91440" bIns="4572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</a:pPr>
            <a:r>
              <a:rPr lang="en-US" sz="20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sz="half" idx="2"/>
          </p:nvPr>
        </p:nvSpPr>
        <p:spPr>
          <a:xfrm>
            <a:off x="671514" y="1685956"/>
            <a:ext cx="5326061" cy="4503707"/>
          </a:xfrm>
        </p:spPr>
        <p:txBody>
          <a:bodyPr vert="horz" lIns="91440" tIns="45720" rIns="91440" bIns="45720" anchor="t">
            <a:normAutofit/>
          </a:bodyPr>
          <a:lstStyle/>
          <a:p>
            <a:pPr marL="228589" indent="-228589" algn="l">
              <a:lnSpc>
                <a:spcPct val="90000"/>
              </a:lnSpc>
              <a:spcBef>
                <a:spcPts val="10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marL="685766" lvl="1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2942" lvl="2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120" lvl="3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298" lvl="4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"/>
          </p:nvPr>
        </p:nvSpPr>
        <p:spPr>
          <a:xfrm>
            <a:off x="6194426" y="1135380"/>
            <a:ext cx="5326061" cy="448976"/>
          </a:xfrm>
        </p:spPr>
        <p:txBody>
          <a:bodyPr vert="horz" lIns="91440" tIns="45720" rIns="91440" bIns="4572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</a:pPr>
            <a:r>
              <a:rPr lang="en-US" sz="2000" b="1" i="0" u="none" baseline="0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</p:txBody>
      </p:sp>
      <p:sp>
        <p:nvSpPr>
          <p:cNvPr id="5" name="AutoShape 5"/>
          <p:cNvSpPr>
            <a:spLocks noGrp="1"/>
          </p:cNvSpPr>
          <p:nvPr>
            <p:ph sz="quarter" idx="4"/>
          </p:nvPr>
        </p:nvSpPr>
        <p:spPr>
          <a:xfrm>
            <a:off x="6172199" y="1685956"/>
            <a:ext cx="5348287" cy="4503707"/>
          </a:xfrm>
        </p:spPr>
        <p:txBody>
          <a:bodyPr vert="horz" lIns="91440" tIns="45720" rIns="91440" bIns="45720" anchor="t">
            <a:normAutofit/>
          </a:bodyPr>
          <a:lstStyle/>
          <a:p>
            <a:pPr marL="228589" indent="-228589" algn="l">
              <a:lnSpc>
                <a:spcPct val="90000"/>
              </a:lnSpc>
              <a:spcBef>
                <a:spcPts val="10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marL="685766" lvl="1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2942" lvl="2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120" lvl="3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298" lvl="4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6" name="AutoShape 6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7" name="AutoShape 7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2024/7/31</a:t>
            </a:r>
          </a:p>
        </p:txBody>
      </p:sp>
      <p:sp>
        <p:nvSpPr>
          <p:cNvPr id="8" name="AutoShape 8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OfficePLUS </a:t>
            </a:r>
          </a:p>
        </p:txBody>
      </p:sp>
      <p:sp>
        <p:nvSpPr>
          <p:cNvPr id="9" name="AutoShape 9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  <a:endParaRPr lang="zh-CN" altLang="en-US" sz="10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2024/7/31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OfficePLUS</a:t>
            </a:r>
          </a:p>
        </p:txBody>
      </p:sp>
      <p:sp>
        <p:nvSpPr>
          <p:cNvPr id="5" name="AutoShape 5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  <a:endParaRPr lang="zh-CN" altLang="en-US" sz="10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idx="1"/>
          </p:nvPr>
        </p:nvSpPr>
        <p:spPr>
          <a:xfrm>
            <a:off x="5183188" y="1130299"/>
            <a:ext cx="6337300" cy="5006975"/>
          </a:xfrm>
          <a:solidFill>
            <a:srgbClr val="FFFFFF">
              <a:lumMod val="95000"/>
            </a:srgbClr>
          </a:solidFill>
        </p:spPr>
        <p:txBody>
          <a:bodyPr vert="horz" lIns="91440" tIns="45720" rIns="91440" bIns="4572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Picture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half" idx="2"/>
          </p:nvPr>
        </p:nvSpPr>
        <p:spPr>
          <a:xfrm>
            <a:off x="669924" y="1138237"/>
            <a:ext cx="4282322" cy="4999037"/>
          </a:xfrm>
        </p:spPr>
        <p:txBody>
          <a:bodyPr vert="horz" lIns="91440" tIns="45720" rIns="91440" bIns="4572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</p:txBody>
      </p:sp>
      <p:sp>
        <p:nvSpPr>
          <p:cNvPr id="4" name="AutoShape 4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2024/7/31</a:t>
            </a:r>
          </a:p>
        </p:txBody>
      </p:sp>
      <p:sp>
        <p:nvSpPr>
          <p:cNvPr id="6" name="AutoShape 6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OfficePLUS </a:t>
            </a:r>
          </a:p>
        </p:txBody>
      </p:sp>
      <p:sp>
        <p:nvSpPr>
          <p:cNvPr id="7" name="AutoShape 7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  <a:endParaRPr lang="zh-CN" altLang="en-US" sz="10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8610599" y="1130300"/>
            <a:ext cx="2909888" cy="5006974"/>
          </a:xfrm>
        </p:spPr>
        <p:txBody>
          <a:bodyPr vert="eaVert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0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idx="1"/>
          </p:nvPr>
        </p:nvSpPr>
        <p:spPr>
          <a:xfrm>
            <a:off x="669925" y="1130300"/>
            <a:ext cx="7795065" cy="5006973"/>
          </a:xfrm>
        </p:spPr>
        <p:txBody>
          <a:bodyPr vert="eaVert" lIns="91440" tIns="45720" rIns="91440" bIns="45720" anchor="t">
            <a:normAutofit/>
          </a:bodyPr>
          <a:lstStyle/>
          <a:p>
            <a:pPr marL="228589" indent="-228589" algn="l">
              <a:lnSpc>
                <a:spcPct val="90000"/>
              </a:lnSpc>
              <a:spcBef>
                <a:spcPts val="1000"/>
              </a:spcBef>
            </a:pPr>
            <a:r>
              <a:rPr lang="en-US" sz="20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text styles</a:t>
            </a:r>
          </a:p>
          <a:p>
            <a:pPr marL="685766" lvl="1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2942" lvl="2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120" lvl="3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298" lvl="4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2024/7/31</a:t>
            </a:r>
          </a:p>
        </p:txBody>
      </p:sp>
      <p:sp>
        <p:nvSpPr>
          <p:cNvPr id="5" name="AutoShape 5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OfficePLUS </a:t>
            </a:r>
          </a:p>
        </p:txBody>
      </p:sp>
      <p:sp>
        <p:nvSpPr>
          <p:cNvPr id="6" name="AutoShape 6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  <a:endParaRPr lang="zh-CN" altLang="en-US" sz="10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228589" indent="-228589" algn="l">
              <a:lnSpc>
                <a:spcPct val="90000"/>
              </a:lnSpc>
              <a:spcBef>
                <a:spcPts val="1000"/>
              </a:spcBef>
            </a:pPr>
            <a:r>
              <a:rPr lang="en-US" sz="2000" b="0" i="0" u="none" baseline="0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marL="685766" lvl="1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2942" lvl="2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120" lvl="3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298" lvl="4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zh-CN" alt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2024/7/31</a:t>
            </a:r>
          </a:p>
        </p:txBody>
      </p:sp>
      <p:sp>
        <p:nvSpPr>
          <p:cNvPr id="5" name="AutoShape 5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OfficePLUS</a:t>
            </a:r>
          </a:p>
        </p:txBody>
      </p:sp>
      <p:sp>
        <p:nvSpPr>
          <p:cNvPr id="6" name="AutoShape 6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fld id="{3386411A-70EE-422D-B97C-F56BEE3FF077}" type="slidenum">
              <a:rPr lang="zh-CN" alt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zh-CN" alt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subTitle" idx="1"/>
          </p:nvPr>
        </p:nvSpPr>
        <p:spPr>
          <a:xfrm>
            <a:off x="980266" y="3237426"/>
            <a:ext cx="6786562" cy="1048678"/>
          </a:xfrm>
        </p:spPr>
        <p:txBody>
          <a:bodyPr vert="horz" lIns="91440" tIns="45720" rIns="91440" bIns="4572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altLang="zh-CN" sz="2500" b="1" dirty="0">
                <a:solidFill>
                  <a:srgbClr val="000000">
                    <a:lumMod val="85000"/>
                    <a:lumOff val="15000"/>
                  </a:srgbClr>
                </a:solidFill>
                <a:latin typeface="+mj-lt"/>
                <a:cs typeface="+mj-cs"/>
              </a:rPr>
              <a:t>Team: </a:t>
            </a:r>
            <a:r>
              <a:rPr lang="en-US" altLang="zh-CN" sz="2500" b="1" dirty="0" err="1">
                <a:solidFill>
                  <a:srgbClr val="000000">
                    <a:lumMod val="85000"/>
                    <a:lumOff val="15000"/>
                  </a:srgbClr>
                </a:solidFill>
                <a:latin typeface="+mj-lt"/>
                <a:cs typeface="+mj-cs"/>
              </a:rPr>
              <a:t>AlphaStock</a:t>
            </a:r>
            <a:endParaRPr lang="zh-CN" altLang="en-US" sz="2500" b="1" dirty="0">
              <a:solidFill>
                <a:srgbClr val="000000">
                  <a:lumMod val="85000"/>
                  <a:lumOff val="15000"/>
                </a:srgbClr>
              </a:solidFill>
              <a:latin typeface="+mj-lt"/>
              <a:cs typeface="+mj-cs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ctrTitle"/>
          </p:nvPr>
        </p:nvSpPr>
        <p:spPr>
          <a:xfrm>
            <a:off x="980266" y="1606043"/>
            <a:ext cx="6786562" cy="1421928"/>
          </a:xfrm>
        </p:spPr>
        <p:txBody>
          <a:bodyPr vert="horz" lIns="91440" tIns="45720" rIns="91440" bIns="45720" anchor="ctr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4800" b="1" i="0" u="none" baseline="0" dirty="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Pair Trade: Long BYD vs. Short Tesla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979095" y="1130300"/>
            <a:ext cx="7039548" cy="537098"/>
          </a:xfrm>
          <a:prstGeom prst="homePlate">
            <a:avLst/>
          </a:prstGeom>
          <a:noFill/>
          <a:ln w="12700" cap="flat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vert="horz" wrap="square" lIns="810000" tIns="45720" rIns="91440" bIns="45720" anchor="ctr">
            <a:prstTxWarp prst="textNoShape">
              <a:avLst/>
            </a:prstTxWarp>
            <a:no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Introduction</a:t>
            </a:r>
          </a:p>
        </p:txBody>
      </p:sp>
      <p:sp>
        <p:nvSpPr>
          <p:cNvPr id="3" name="AutoShape 3"/>
          <p:cNvSpPr/>
          <p:nvPr/>
        </p:nvSpPr>
        <p:spPr>
          <a:xfrm rot="19800000" flipH="1">
            <a:off x="2558631" y="941372"/>
            <a:ext cx="840930" cy="724933"/>
          </a:xfrm>
          <a:prstGeom prst="triangle">
            <a:avLst/>
          </a:prstGeom>
          <a:solidFill>
            <a:schemeClr val="accent1"/>
          </a:solidFill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2818740" y="1186757"/>
            <a:ext cx="470000" cy="43088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r>
              <a:rPr lang="en-US" sz="2000" b="1" i="0" u="none" baseline="0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979095" y="1977072"/>
            <a:ext cx="7039548" cy="537098"/>
          </a:xfrm>
          <a:prstGeom prst="homePlate">
            <a:avLst/>
          </a:prstGeom>
          <a:noFill/>
          <a:ln w="12700" cap="flat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vert="horz" wrap="square" lIns="810000" tIns="45720" rIns="91440" bIns="45720" anchor="ctr">
            <a:prstTxWarp prst="textNoShape">
              <a:avLst/>
            </a:prstTxWarp>
            <a:no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Industry and Company Overview</a:t>
            </a:r>
          </a:p>
        </p:txBody>
      </p:sp>
      <p:sp>
        <p:nvSpPr>
          <p:cNvPr id="6" name="AutoShape 6"/>
          <p:cNvSpPr/>
          <p:nvPr/>
        </p:nvSpPr>
        <p:spPr>
          <a:xfrm rot="19800000" flipH="1">
            <a:off x="2558631" y="1788144"/>
            <a:ext cx="840930" cy="724933"/>
          </a:xfrm>
          <a:prstGeom prst="triangle">
            <a:avLst/>
          </a:prstGeom>
          <a:solidFill>
            <a:schemeClr val="accent2"/>
          </a:solidFill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2818740" y="2033530"/>
            <a:ext cx="470000" cy="43088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r>
              <a:rPr lang="en-US" sz="2000" b="1" i="0" u="none" baseline="0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979095" y="2823844"/>
            <a:ext cx="7039548" cy="537098"/>
          </a:xfrm>
          <a:prstGeom prst="homePlate">
            <a:avLst/>
          </a:prstGeom>
          <a:noFill/>
          <a:ln w="12700" cap="flat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vert="horz" wrap="square" lIns="810000" tIns="45720" rIns="91440" bIns="45720" anchor="ctr">
            <a:prstTxWarp prst="textNoShape">
              <a:avLst/>
            </a:prstTxWarp>
            <a:no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Valuation Comparison</a:t>
            </a:r>
          </a:p>
        </p:txBody>
      </p:sp>
      <p:sp>
        <p:nvSpPr>
          <p:cNvPr id="9" name="AutoShape 9"/>
          <p:cNvSpPr/>
          <p:nvPr/>
        </p:nvSpPr>
        <p:spPr>
          <a:xfrm rot="19800000" flipH="1">
            <a:off x="2558631" y="2634916"/>
            <a:ext cx="840930" cy="724933"/>
          </a:xfrm>
          <a:prstGeom prst="triangle">
            <a:avLst/>
          </a:prstGeom>
          <a:solidFill>
            <a:schemeClr val="accent1"/>
          </a:solidFill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2818740" y="2880301"/>
            <a:ext cx="470000" cy="43088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r>
              <a:rPr lang="en-US" sz="2000" b="1" i="0" u="none" baseline="0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979095" y="3670616"/>
            <a:ext cx="7039548" cy="537098"/>
          </a:xfrm>
          <a:prstGeom prst="homePlate">
            <a:avLst/>
          </a:prstGeom>
          <a:noFill/>
          <a:ln w="12700" cap="flat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vert="horz" wrap="square" lIns="810000" tIns="45720" rIns="91440" bIns="45720" anchor="ctr">
            <a:prstTxWarp prst="textNoShape">
              <a:avLst/>
            </a:prstTxWarp>
            <a:no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Fundamental Catalysts &amp; Risks</a:t>
            </a:r>
          </a:p>
        </p:txBody>
      </p:sp>
      <p:sp>
        <p:nvSpPr>
          <p:cNvPr id="12" name="AutoShape 12"/>
          <p:cNvSpPr/>
          <p:nvPr/>
        </p:nvSpPr>
        <p:spPr>
          <a:xfrm rot="19800000" flipH="1">
            <a:off x="2558631" y="3481688"/>
            <a:ext cx="840930" cy="724933"/>
          </a:xfrm>
          <a:prstGeom prst="triangle">
            <a:avLst/>
          </a:prstGeom>
          <a:solidFill>
            <a:schemeClr val="accent2"/>
          </a:solidFill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2818740" y="3727073"/>
            <a:ext cx="470000" cy="43088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r>
              <a:rPr lang="en-US" sz="2000" b="1" i="0" u="none" baseline="0">
                <a:solidFill>
                  <a:srgbClr val="FFFFFF"/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979095" y="4517387"/>
            <a:ext cx="7039548" cy="537098"/>
          </a:xfrm>
          <a:prstGeom prst="homePlate">
            <a:avLst/>
          </a:prstGeom>
          <a:noFill/>
          <a:ln w="12700" cap="flat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vert="horz" wrap="square" lIns="810000" tIns="45720" rIns="91440" bIns="45720" anchor="ctr">
            <a:prstTxWarp prst="textNoShape">
              <a:avLst/>
            </a:prstTxWarp>
            <a:no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Technical Analysis</a:t>
            </a:r>
          </a:p>
        </p:txBody>
      </p:sp>
      <p:sp>
        <p:nvSpPr>
          <p:cNvPr id="15" name="AutoShape 15"/>
          <p:cNvSpPr/>
          <p:nvPr/>
        </p:nvSpPr>
        <p:spPr>
          <a:xfrm rot="19800000" flipH="1">
            <a:off x="2558631" y="4328459"/>
            <a:ext cx="840930" cy="724933"/>
          </a:xfrm>
          <a:prstGeom prst="triangle">
            <a:avLst/>
          </a:prstGeom>
          <a:solidFill>
            <a:schemeClr val="accent1"/>
          </a:solidFill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2818740" y="4573843"/>
            <a:ext cx="470000" cy="43088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r>
              <a:rPr lang="en-US" sz="2000" b="1" i="0" u="none" baseline="0">
                <a:solidFill>
                  <a:srgbClr val="FFFFFF"/>
                </a:solidFill>
                <a:latin typeface="Arial"/>
                <a:ea typeface="Arial"/>
              </a:rPr>
              <a:t>05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1491" y="1376706"/>
            <a:ext cx="2044149" cy="369332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algn="l"/>
            <a:r>
              <a:rPr lang="zh-CN" altLang="en-US" sz="2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Table of Contents</a:t>
            </a:r>
          </a:p>
        </p:txBody>
      </p:sp>
      <p:sp>
        <p:nvSpPr>
          <p:cNvPr id="18" name="AutoShape 18"/>
          <p:cNvSpPr/>
          <p:nvPr/>
        </p:nvSpPr>
        <p:spPr>
          <a:xfrm>
            <a:off x="2979095" y="5343858"/>
            <a:ext cx="7039548" cy="537098"/>
          </a:xfrm>
          <a:prstGeom prst="homePlate">
            <a:avLst/>
          </a:prstGeom>
          <a:noFill/>
          <a:ln w="12700" cap="flat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vert="horz" wrap="square" lIns="810000" tIns="45720" rIns="91440" bIns="45720" anchor="ctr">
            <a:prstTxWarp prst="textNoShape">
              <a:avLst/>
            </a:prstTxWarp>
            <a:no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Risk Factors &amp; Mitigation</a:t>
            </a:r>
          </a:p>
        </p:txBody>
      </p:sp>
      <p:sp>
        <p:nvSpPr>
          <p:cNvPr id="19" name="AutoShape 19"/>
          <p:cNvSpPr/>
          <p:nvPr/>
        </p:nvSpPr>
        <p:spPr>
          <a:xfrm rot="19800000" flipH="1">
            <a:off x="2558631" y="5154930"/>
            <a:ext cx="840930" cy="724933"/>
          </a:xfrm>
          <a:prstGeom prst="triangle">
            <a:avLst/>
          </a:prstGeom>
          <a:solidFill>
            <a:schemeClr val="accent2"/>
          </a:solidFill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2818740" y="5400315"/>
            <a:ext cx="470000" cy="43088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r>
              <a:rPr lang="en-US" sz="2000" b="1" i="0" u="none" baseline="0">
                <a:solidFill>
                  <a:srgbClr val="FFFFFF"/>
                </a:solidFill>
                <a:latin typeface="Arial"/>
                <a:ea typeface="Arial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99223" y="2413920"/>
            <a:ext cx="3993554" cy="2449261"/>
          </a:xfrm>
          <a:custGeom>
            <a:avLst/>
            <a:gdLst/>
            <a:ahLst/>
            <a:cxnLst/>
            <a:rect l="l" t="t" r="r" b="b"/>
            <a:pathLst>
              <a:path w="3993554" h="2449261">
                <a:moveTo>
                  <a:pt x="1996777" y="0"/>
                </a:moveTo>
                <a:cubicBezTo>
                  <a:pt x="3030642" y="0"/>
                  <a:pt x="3880990" y="963784"/>
                  <a:pt x="3983245" y="2198839"/>
                </a:cubicBezTo>
                <a:lnTo>
                  <a:pt x="3993554" y="2449261"/>
                </a:lnTo>
                <a:lnTo>
                  <a:pt x="3581819" y="2449261"/>
                </a:lnTo>
                <a:lnTo>
                  <a:pt x="3549617" y="2038630"/>
                </a:lnTo>
                <a:cubicBezTo>
                  <a:pt x="3401818" y="1110163"/>
                  <a:pt x="2762748" y="411736"/>
                  <a:pt x="1996777" y="411736"/>
                </a:cubicBezTo>
                <a:cubicBezTo>
                  <a:pt x="1230807" y="411736"/>
                  <a:pt x="591737" y="1110163"/>
                  <a:pt x="443938" y="2038630"/>
                </a:cubicBezTo>
                <a:lnTo>
                  <a:pt x="411735" y="2449261"/>
                </a:lnTo>
                <a:lnTo>
                  <a:pt x="0" y="2449261"/>
                </a:lnTo>
                <a:lnTo>
                  <a:pt x="10309" y="2198839"/>
                </a:lnTo>
                <a:cubicBezTo>
                  <a:pt x="112564" y="963784"/>
                  <a:pt x="962913" y="0"/>
                  <a:pt x="1996777" y="0"/>
                </a:cubicBezTo>
                <a:close/>
              </a:path>
            </a:pathLst>
          </a:custGeom>
          <a:gradFill>
            <a:gsLst>
              <a:gs pos="57000">
                <a:srgbClr val="F08300">
                  <a:alpha val="0"/>
                  <a:lumMod val="0"/>
                  <a:lumOff val="100000"/>
                </a:srgbClr>
              </a:gs>
              <a:gs pos="100000">
                <a:srgbClr val="FFFFFF">
                  <a:alpha val="85000"/>
                  <a:lumMod val="85000"/>
                </a:srgbClr>
              </a:gs>
            </a:gsLst>
            <a:lin ang="16200000"/>
          </a:gradFill>
          <a:ln cap="flat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4189282" y="3299235"/>
            <a:ext cx="611616" cy="678630"/>
          </a:xfrm>
          <a:custGeom>
            <a:avLst/>
            <a:gdLst/>
            <a:ahLst/>
            <a:cxnLst/>
            <a:rect l="l" t="t" r="r" b="b"/>
            <a:pathLst>
              <a:path w="1369" h="1519">
                <a:moveTo>
                  <a:pt x="668" y="0"/>
                </a:moveTo>
                <a:lnTo>
                  <a:pt x="702" y="0"/>
                </a:lnTo>
                <a:lnTo>
                  <a:pt x="736" y="7"/>
                </a:lnTo>
                <a:lnTo>
                  <a:pt x="768" y="21"/>
                </a:lnTo>
                <a:lnTo>
                  <a:pt x="1284" y="318"/>
                </a:lnTo>
                <a:lnTo>
                  <a:pt x="1313" y="339"/>
                </a:lnTo>
                <a:lnTo>
                  <a:pt x="1337" y="364"/>
                </a:lnTo>
                <a:lnTo>
                  <a:pt x="1354" y="395"/>
                </a:lnTo>
                <a:lnTo>
                  <a:pt x="1364" y="429"/>
                </a:lnTo>
                <a:lnTo>
                  <a:pt x="1369" y="465"/>
                </a:lnTo>
                <a:lnTo>
                  <a:pt x="1369" y="1054"/>
                </a:lnTo>
                <a:lnTo>
                  <a:pt x="1364" y="1090"/>
                </a:lnTo>
                <a:lnTo>
                  <a:pt x="1354" y="1124"/>
                </a:lnTo>
                <a:lnTo>
                  <a:pt x="1337" y="1154"/>
                </a:lnTo>
                <a:lnTo>
                  <a:pt x="1313" y="1181"/>
                </a:lnTo>
                <a:lnTo>
                  <a:pt x="1284" y="1201"/>
                </a:lnTo>
                <a:lnTo>
                  <a:pt x="768" y="1497"/>
                </a:lnTo>
                <a:lnTo>
                  <a:pt x="736" y="1512"/>
                </a:lnTo>
                <a:lnTo>
                  <a:pt x="702" y="1519"/>
                </a:lnTo>
                <a:lnTo>
                  <a:pt x="668" y="1519"/>
                </a:lnTo>
                <a:lnTo>
                  <a:pt x="632" y="1512"/>
                </a:lnTo>
                <a:lnTo>
                  <a:pt x="599" y="1497"/>
                </a:lnTo>
                <a:lnTo>
                  <a:pt x="85" y="1201"/>
                </a:lnTo>
                <a:lnTo>
                  <a:pt x="56" y="1181"/>
                </a:lnTo>
                <a:lnTo>
                  <a:pt x="32" y="1154"/>
                </a:lnTo>
                <a:lnTo>
                  <a:pt x="15" y="1124"/>
                </a:lnTo>
                <a:lnTo>
                  <a:pt x="3" y="1090"/>
                </a:lnTo>
                <a:lnTo>
                  <a:pt x="0" y="1054"/>
                </a:lnTo>
                <a:lnTo>
                  <a:pt x="0" y="465"/>
                </a:lnTo>
                <a:lnTo>
                  <a:pt x="3" y="429"/>
                </a:lnTo>
                <a:lnTo>
                  <a:pt x="15" y="395"/>
                </a:lnTo>
                <a:lnTo>
                  <a:pt x="32" y="364"/>
                </a:lnTo>
                <a:lnTo>
                  <a:pt x="56" y="339"/>
                </a:lnTo>
                <a:lnTo>
                  <a:pt x="85" y="318"/>
                </a:lnTo>
                <a:lnTo>
                  <a:pt x="599" y="21"/>
                </a:lnTo>
                <a:lnTo>
                  <a:pt x="632" y="7"/>
                </a:lnTo>
                <a:lnTo>
                  <a:pt x="668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4333128" y="3487679"/>
            <a:ext cx="323925" cy="301741"/>
          </a:xfrm>
          <a:custGeom>
            <a:avLst/>
            <a:gdLst/>
            <a:ahLst/>
            <a:cxnLst/>
            <a:rect l="l" t="t" r="r" b="b"/>
            <a:pathLst>
              <a:path w="606862" h="565300">
                <a:moveTo>
                  <a:pt x="225640" y="344936"/>
                </a:moveTo>
                <a:cubicBezTo>
                  <a:pt x="221272" y="347315"/>
                  <a:pt x="216904" y="348802"/>
                  <a:pt x="212735" y="349595"/>
                </a:cubicBezTo>
                <a:cubicBezTo>
                  <a:pt x="210154" y="349991"/>
                  <a:pt x="208268" y="352172"/>
                  <a:pt x="208268" y="354750"/>
                </a:cubicBezTo>
                <a:lnTo>
                  <a:pt x="208268" y="368033"/>
                </a:lnTo>
                <a:cubicBezTo>
                  <a:pt x="207573" y="368330"/>
                  <a:pt x="206878" y="368826"/>
                  <a:pt x="206282" y="369421"/>
                </a:cubicBezTo>
                <a:cubicBezTo>
                  <a:pt x="205289" y="370511"/>
                  <a:pt x="204793" y="371998"/>
                  <a:pt x="204992" y="373584"/>
                </a:cubicBezTo>
                <a:lnTo>
                  <a:pt x="207870" y="401836"/>
                </a:lnTo>
                <a:cubicBezTo>
                  <a:pt x="208069" y="404017"/>
                  <a:pt x="209657" y="405801"/>
                  <a:pt x="211742" y="406396"/>
                </a:cubicBezTo>
                <a:cubicBezTo>
                  <a:pt x="212238" y="406495"/>
                  <a:pt x="212735" y="406594"/>
                  <a:pt x="213132" y="406594"/>
                </a:cubicBezTo>
                <a:cubicBezTo>
                  <a:pt x="214819" y="406594"/>
                  <a:pt x="216408" y="405801"/>
                  <a:pt x="217400" y="404413"/>
                </a:cubicBezTo>
                <a:lnTo>
                  <a:pt x="232390" y="384687"/>
                </a:lnTo>
                <a:cubicBezTo>
                  <a:pt x="233085" y="383695"/>
                  <a:pt x="233383" y="382605"/>
                  <a:pt x="233482" y="381415"/>
                </a:cubicBezTo>
                <a:lnTo>
                  <a:pt x="233383" y="349694"/>
                </a:lnTo>
                <a:cubicBezTo>
                  <a:pt x="233383" y="347811"/>
                  <a:pt x="232489" y="346026"/>
                  <a:pt x="230901" y="345134"/>
                </a:cubicBezTo>
                <a:cubicBezTo>
                  <a:pt x="229213" y="344143"/>
                  <a:pt x="227228" y="344143"/>
                  <a:pt x="225640" y="344936"/>
                </a:cubicBezTo>
                <a:close/>
                <a:moveTo>
                  <a:pt x="158236" y="344936"/>
                </a:moveTo>
                <a:cubicBezTo>
                  <a:pt x="156548" y="344044"/>
                  <a:pt x="154563" y="344143"/>
                  <a:pt x="152974" y="345134"/>
                </a:cubicBezTo>
                <a:cubicBezTo>
                  <a:pt x="151386" y="346026"/>
                  <a:pt x="150393" y="347811"/>
                  <a:pt x="150393" y="349694"/>
                </a:cubicBezTo>
                <a:lnTo>
                  <a:pt x="150393" y="381415"/>
                </a:lnTo>
                <a:cubicBezTo>
                  <a:pt x="150393" y="382605"/>
                  <a:pt x="150791" y="383695"/>
                  <a:pt x="151485" y="384687"/>
                </a:cubicBezTo>
                <a:lnTo>
                  <a:pt x="166475" y="404512"/>
                </a:lnTo>
                <a:cubicBezTo>
                  <a:pt x="167468" y="405801"/>
                  <a:pt x="169056" y="406594"/>
                  <a:pt x="170644" y="406594"/>
                </a:cubicBezTo>
                <a:cubicBezTo>
                  <a:pt x="171141" y="406594"/>
                  <a:pt x="171637" y="406495"/>
                  <a:pt x="172133" y="406396"/>
                </a:cubicBezTo>
                <a:cubicBezTo>
                  <a:pt x="174218" y="405801"/>
                  <a:pt x="175707" y="404017"/>
                  <a:pt x="176005" y="401836"/>
                </a:cubicBezTo>
                <a:lnTo>
                  <a:pt x="178884" y="373584"/>
                </a:lnTo>
                <a:cubicBezTo>
                  <a:pt x="179082" y="372097"/>
                  <a:pt x="178586" y="370511"/>
                  <a:pt x="177593" y="369421"/>
                </a:cubicBezTo>
                <a:cubicBezTo>
                  <a:pt x="176998" y="368826"/>
                  <a:pt x="176303" y="368330"/>
                  <a:pt x="175509" y="368033"/>
                </a:cubicBezTo>
                <a:lnTo>
                  <a:pt x="175509" y="354750"/>
                </a:lnTo>
                <a:cubicBezTo>
                  <a:pt x="175509" y="352172"/>
                  <a:pt x="173722" y="349991"/>
                  <a:pt x="171141" y="349595"/>
                </a:cubicBezTo>
                <a:cubicBezTo>
                  <a:pt x="166971" y="348802"/>
                  <a:pt x="162604" y="347216"/>
                  <a:pt x="158236" y="344936"/>
                </a:cubicBezTo>
                <a:close/>
                <a:moveTo>
                  <a:pt x="166475" y="201992"/>
                </a:moveTo>
                <a:cubicBezTo>
                  <a:pt x="151386" y="201992"/>
                  <a:pt x="136893" y="208038"/>
                  <a:pt x="129547" y="211706"/>
                </a:cubicBezTo>
                <a:cubicBezTo>
                  <a:pt x="127760" y="212598"/>
                  <a:pt x="126569" y="214482"/>
                  <a:pt x="126569" y="216464"/>
                </a:cubicBezTo>
                <a:lnTo>
                  <a:pt x="126569" y="225981"/>
                </a:lnTo>
                <a:lnTo>
                  <a:pt x="124385" y="225981"/>
                </a:lnTo>
                <a:cubicBezTo>
                  <a:pt x="121506" y="225981"/>
                  <a:pt x="119124" y="228360"/>
                  <a:pt x="119124" y="231334"/>
                </a:cubicBezTo>
                <a:lnTo>
                  <a:pt x="119124" y="240057"/>
                </a:lnTo>
                <a:cubicBezTo>
                  <a:pt x="119124" y="241842"/>
                  <a:pt x="120017" y="243527"/>
                  <a:pt x="121506" y="244518"/>
                </a:cubicBezTo>
                <a:lnTo>
                  <a:pt x="126668" y="247888"/>
                </a:lnTo>
                <a:lnTo>
                  <a:pt x="126966" y="250069"/>
                </a:lnTo>
                <a:cubicBezTo>
                  <a:pt x="128653" y="262758"/>
                  <a:pt x="135801" y="279213"/>
                  <a:pt x="146026" y="294083"/>
                </a:cubicBezTo>
                <a:cubicBezTo>
                  <a:pt x="159129" y="313016"/>
                  <a:pt x="171339" y="321442"/>
                  <a:pt x="177593" y="321442"/>
                </a:cubicBezTo>
                <a:lnTo>
                  <a:pt x="206183" y="321442"/>
                </a:lnTo>
                <a:cubicBezTo>
                  <a:pt x="212536" y="321442"/>
                  <a:pt x="224746" y="313016"/>
                  <a:pt x="237751" y="294083"/>
                </a:cubicBezTo>
                <a:cubicBezTo>
                  <a:pt x="248075" y="279213"/>
                  <a:pt x="255222" y="262758"/>
                  <a:pt x="256910" y="250069"/>
                </a:cubicBezTo>
                <a:lnTo>
                  <a:pt x="257207" y="247888"/>
                </a:lnTo>
                <a:lnTo>
                  <a:pt x="262369" y="244518"/>
                </a:lnTo>
                <a:cubicBezTo>
                  <a:pt x="263858" y="243527"/>
                  <a:pt x="264752" y="241842"/>
                  <a:pt x="264752" y="240057"/>
                </a:cubicBezTo>
                <a:lnTo>
                  <a:pt x="264752" y="231334"/>
                </a:lnTo>
                <a:cubicBezTo>
                  <a:pt x="264752" y="228360"/>
                  <a:pt x="262369" y="225981"/>
                  <a:pt x="259391" y="225981"/>
                </a:cubicBezTo>
                <a:lnTo>
                  <a:pt x="256513" y="225981"/>
                </a:lnTo>
                <a:cubicBezTo>
                  <a:pt x="256115" y="225287"/>
                  <a:pt x="255520" y="224692"/>
                  <a:pt x="254825" y="224197"/>
                </a:cubicBezTo>
                <a:cubicBezTo>
                  <a:pt x="253336" y="223205"/>
                  <a:pt x="251450" y="223106"/>
                  <a:pt x="249762" y="223800"/>
                </a:cubicBezTo>
                <a:cubicBezTo>
                  <a:pt x="242615" y="226972"/>
                  <a:pt x="235567" y="228657"/>
                  <a:pt x="228717" y="228657"/>
                </a:cubicBezTo>
                <a:cubicBezTo>
                  <a:pt x="216606" y="228657"/>
                  <a:pt x="205587" y="223602"/>
                  <a:pt x="196057" y="213788"/>
                </a:cubicBezTo>
                <a:cubicBezTo>
                  <a:pt x="188414" y="205957"/>
                  <a:pt x="178487" y="201992"/>
                  <a:pt x="166475" y="201992"/>
                </a:cubicBezTo>
                <a:close/>
                <a:moveTo>
                  <a:pt x="178487" y="100979"/>
                </a:moveTo>
                <a:lnTo>
                  <a:pt x="205389" y="100979"/>
                </a:lnTo>
                <a:cubicBezTo>
                  <a:pt x="251152" y="100979"/>
                  <a:pt x="288477" y="138152"/>
                  <a:pt x="288477" y="183950"/>
                </a:cubicBezTo>
                <a:lnTo>
                  <a:pt x="288477" y="210021"/>
                </a:lnTo>
                <a:cubicBezTo>
                  <a:pt x="291555" y="214383"/>
                  <a:pt x="293242" y="219537"/>
                  <a:pt x="293242" y="224890"/>
                </a:cubicBezTo>
                <a:lnTo>
                  <a:pt x="293242" y="243428"/>
                </a:lnTo>
                <a:cubicBezTo>
                  <a:pt x="293242" y="250961"/>
                  <a:pt x="289867" y="258198"/>
                  <a:pt x="284109" y="262956"/>
                </a:cubicBezTo>
                <a:cubicBezTo>
                  <a:pt x="282620" y="267615"/>
                  <a:pt x="280834" y="272373"/>
                  <a:pt x="278749" y="277132"/>
                </a:cubicBezTo>
                <a:cubicBezTo>
                  <a:pt x="274381" y="288234"/>
                  <a:pt x="268226" y="299832"/>
                  <a:pt x="260781" y="310637"/>
                </a:cubicBezTo>
                <a:cubicBezTo>
                  <a:pt x="257704" y="315197"/>
                  <a:pt x="253534" y="320649"/>
                  <a:pt x="248670" y="326101"/>
                </a:cubicBezTo>
                <a:cubicBezTo>
                  <a:pt x="253137" y="329273"/>
                  <a:pt x="256314" y="332941"/>
                  <a:pt x="257704" y="337303"/>
                </a:cubicBezTo>
                <a:lnTo>
                  <a:pt x="316968" y="355245"/>
                </a:lnTo>
                <a:cubicBezTo>
                  <a:pt x="358661" y="367240"/>
                  <a:pt x="383875" y="542104"/>
                  <a:pt x="383875" y="549638"/>
                </a:cubicBezTo>
                <a:cubicBezTo>
                  <a:pt x="383875" y="558262"/>
                  <a:pt x="376827" y="565300"/>
                  <a:pt x="368091" y="565300"/>
                </a:cubicBezTo>
                <a:lnTo>
                  <a:pt x="15685" y="565300"/>
                </a:lnTo>
                <a:cubicBezTo>
                  <a:pt x="7048" y="565300"/>
                  <a:pt x="0" y="558262"/>
                  <a:pt x="0" y="549638"/>
                </a:cubicBezTo>
                <a:cubicBezTo>
                  <a:pt x="0" y="548745"/>
                  <a:pt x="100" y="547952"/>
                  <a:pt x="199" y="547159"/>
                </a:cubicBezTo>
                <a:cubicBezTo>
                  <a:pt x="199" y="547159"/>
                  <a:pt x="25215" y="367240"/>
                  <a:pt x="66908" y="355245"/>
                </a:cubicBezTo>
                <a:lnTo>
                  <a:pt x="126172" y="337303"/>
                </a:lnTo>
                <a:cubicBezTo>
                  <a:pt x="127562" y="332941"/>
                  <a:pt x="130738" y="329273"/>
                  <a:pt x="135205" y="326101"/>
                </a:cubicBezTo>
                <a:cubicBezTo>
                  <a:pt x="130341" y="320649"/>
                  <a:pt x="126172" y="315197"/>
                  <a:pt x="123094" y="310637"/>
                </a:cubicBezTo>
                <a:cubicBezTo>
                  <a:pt x="115649" y="299832"/>
                  <a:pt x="109395" y="288234"/>
                  <a:pt x="105127" y="277132"/>
                </a:cubicBezTo>
                <a:cubicBezTo>
                  <a:pt x="103042" y="272373"/>
                  <a:pt x="101255" y="267615"/>
                  <a:pt x="99766" y="262956"/>
                </a:cubicBezTo>
                <a:cubicBezTo>
                  <a:pt x="94008" y="258099"/>
                  <a:pt x="90633" y="250961"/>
                  <a:pt x="90633" y="243428"/>
                </a:cubicBezTo>
                <a:lnTo>
                  <a:pt x="90633" y="224890"/>
                </a:lnTo>
                <a:cubicBezTo>
                  <a:pt x="90633" y="219537"/>
                  <a:pt x="92321" y="214383"/>
                  <a:pt x="95398" y="210021"/>
                </a:cubicBezTo>
                <a:lnTo>
                  <a:pt x="95398" y="183950"/>
                </a:lnTo>
                <a:cubicBezTo>
                  <a:pt x="95398" y="138152"/>
                  <a:pt x="132624" y="100979"/>
                  <a:pt x="178487" y="100979"/>
                </a:cubicBezTo>
                <a:close/>
                <a:moveTo>
                  <a:pt x="479606" y="93305"/>
                </a:moveTo>
                <a:cubicBezTo>
                  <a:pt x="488144" y="92017"/>
                  <a:pt x="496086" y="97962"/>
                  <a:pt x="497278" y="106483"/>
                </a:cubicBezTo>
                <a:lnTo>
                  <a:pt x="506710" y="172472"/>
                </a:lnTo>
                <a:cubicBezTo>
                  <a:pt x="508000" y="180993"/>
                  <a:pt x="502043" y="188821"/>
                  <a:pt x="493505" y="190109"/>
                </a:cubicBezTo>
                <a:cubicBezTo>
                  <a:pt x="492711" y="190208"/>
                  <a:pt x="492016" y="190208"/>
                  <a:pt x="491222" y="190208"/>
                </a:cubicBezTo>
                <a:cubicBezTo>
                  <a:pt x="483676" y="190208"/>
                  <a:pt x="476925" y="184659"/>
                  <a:pt x="475833" y="176832"/>
                </a:cubicBezTo>
                <a:lnTo>
                  <a:pt x="471862" y="148989"/>
                </a:lnTo>
                <a:lnTo>
                  <a:pt x="424107" y="213789"/>
                </a:lnTo>
                <a:cubicBezTo>
                  <a:pt x="419739" y="219635"/>
                  <a:pt x="411896" y="221716"/>
                  <a:pt x="405244" y="218843"/>
                </a:cubicBezTo>
                <a:lnTo>
                  <a:pt x="327506" y="184758"/>
                </a:lnTo>
                <a:lnTo>
                  <a:pt x="323237" y="189415"/>
                </a:lnTo>
                <a:cubicBezTo>
                  <a:pt x="322940" y="176336"/>
                  <a:pt x="320557" y="163753"/>
                  <a:pt x="316486" y="152061"/>
                </a:cubicBezTo>
                <a:cubicBezTo>
                  <a:pt x="320557" y="149980"/>
                  <a:pt x="325422" y="149782"/>
                  <a:pt x="329790" y="151665"/>
                </a:cubicBezTo>
                <a:lnTo>
                  <a:pt x="406336" y="185254"/>
                </a:lnTo>
                <a:lnTo>
                  <a:pt x="447538" y="129371"/>
                </a:lnTo>
                <a:lnTo>
                  <a:pt x="417952" y="133632"/>
                </a:lnTo>
                <a:cubicBezTo>
                  <a:pt x="409414" y="134821"/>
                  <a:pt x="401471" y="128876"/>
                  <a:pt x="400280" y="120355"/>
                </a:cubicBezTo>
                <a:cubicBezTo>
                  <a:pt x="398989" y="111834"/>
                  <a:pt x="404946" y="104006"/>
                  <a:pt x="413484" y="102718"/>
                </a:cubicBezTo>
                <a:close/>
                <a:moveTo>
                  <a:pt x="183273" y="0"/>
                </a:moveTo>
                <a:lnTo>
                  <a:pt x="580456" y="0"/>
                </a:lnTo>
                <a:cubicBezTo>
                  <a:pt x="595049" y="0"/>
                  <a:pt x="606862" y="11896"/>
                  <a:pt x="606862" y="26468"/>
                </a:cubicBezTo>
                <a:cubicBezTo>
                  <a:pt x="606862" y="35687"/>
                  <a:pt x="602097" y="43816"/>
                  <a:pt x="594850" y="48575"/>
                </a:cubicBezTo>
                <a:lnTo>
                  <a:pt x="594850" y="299675"/>
                </a:lnTo>
                <a:cubicBezTo>
                  <a:pt x="594850" y="308994"/>
                  <a:pt x="587207" y="316627"/>
                  <a:pt x="577776" y="316627"/>
                </a:cubicBezTo>
                <a:lnTo>
                  <a:pt x="304086" y="316627"/>
                </a:lnTo>
                <a:cubicBezTo>
                  <a:pt x="306468" y="311770"/>
                  <a:pt x="308652" y="306912"/>
                  <a:pt x="310439" y="302154"/>
                </a:cubicBezTo>
                <a:cubicBezTo>
                  <a:pt x="311928" y="298882"/>
                  <a:pt x="313219" y="295611"/>
                  <a:pt x="314410" y="292340"/>
                </a:cubicBezTo>
                <a:cubicBezTo>
                  <a:pt x="316991" y="289267"/>
                  <a:pt x="319175" y="285995"/>
                  <a:pt x="320962" y="282625"/>
                </a:cubicBezTo>
                <a:lnTo>
                  <a:pt x="560801" y="282625"/>
                </a:lnTo>
                <a:lnTo>
                  <a:pt x="560801" y="52837"/>
                </a:lnTo>
                <a:lnTo>
                  <a:pt x="203028" y="52837"/>
                </a:lnTo>
                <a:lnTo>
                  <a:pt x="203028" y="71871"/>
                </a:lnTo>
                <a:lnTo>
                  <a:pt x="174835" y="71871"/>
                </a:lnTo>
                <a:cubicBezTo>
                  <a:pt x="172850" y="71871"/>
                  <a:pt x="170864" y="71970"/>
                  <a:pt x="168879" y="72069"/>
                </a:cubicBezTo>
                <a:lnTo>
                  <a:pt x="168879" y="48575"/>
                </a:lnTo>
                <a:cubicBezTo>
                  <a:pt x="161632" y="43816"/>
                  <a:pt x="156867" y="35687"/>
                  <a:pt x="156867" y="26468"/>
                </a:cubicBezTo>
                <a:cubicBezTo>
                  <a:pt x="156867" y="11896"/>
                  <a:pt x="168680" y="0"/>
                  <a:pt x="18327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91440" tIns="45720" rIns="91440" bIns="45720" anchor="ctr">
            <a:normAutofit fontScale="85000" lnSpcReduction="10000"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391102" y="3299235"/>
            <a:ext cx="611616" cy="678630"/>
          </a:xfrm>
          <a:custGeom>
            <a:avLst/>
            <a:gdLst/>
            <a:ahLst/>
            <a:cxnLst/>
            <a:rect l="l" t="t" r="r" b="b"/>
            <a:pathLst>
              <a:path w="1369" h="1519">
                <a:moveTo>
                  <a:pt x="668" y="0"/>
                </a:moveTo>
                <a:lnTo>
                  <a:pt x="702" y="0"/>
                </a:lnTo>
                <a:lnTo>
                  <a:pt x="736" y="7"/>
                </a:lnTo>
                <a:lnTo>
                  <a:pt x="768" y="21"/>
                </a:lnTo>
                <a:lnTo>
                  <a:pt x="1284" y="318"/>
                </a:lnTo>
                <a:lnTo>
                  <a:pt x="1313" y="339"/>
                </a:lnTo>
                <a:lnTo>
                  <a:pt x="1337" y="364"/>
                </a:lnTo>
                <a:lnTo>
                  <a:pt x="1354" y="395"/>
                </a:lnTo>
                <a:lnTo>
                  <a:pt x="1364" y="429"/>
                </a:lnTo>
                <a:lnTo>
                  <a:pt x="1369" y="465"/>
                </a:lnTo>
                <a:lnTo>
                  <a:pt x="1369" y="1054"/>
                </a:lnTo>
                <a:lnTo>
                  <a:pt x="1364" y="1090"/>
                </a:lnTo>
                <a:lnTo>
                  <a:pt x="1354" y="1124"/>
                </a:lnTo>
                <a:lnTo>
                  <a:pt x="1337" y="1154"/>
                </a:lnTo>
                <a:lnTo>
                  <a:pt x="1313" y="1181"/>
                </a:lnTo>
                <a:lnTo>
                  <a:pt x="1284" y="1201"/>
                </a:lnTo>
                <a:lnTo>
                  <a:pt x="768" y="1497"/>
                </a:lnTo>
                <a:lnTo>
                  <a:pt x="736" y="1512"/>
                </a:lnTo>
                <a:lnTo>
                  <a:pt x="702" y="1519"/>
                </a:lnTo>
                <a:lnTo>
                  <a:pt x="668" y="1519"/>
                </a:lnTo>
                <a:lnTo>
                  <a:pt x="632" y="1512"/>
                </a:lnTo>
                <a:lnTo>
                  <a:pt x="599" y="1497"/>
                </a:lnTo>
                <a:lnTo>
                  <a:pt x="85" y="1201"/>
                </a:lnTo>
                <a:lnTo>
                  <a:pt x="56" y="1181"/>
                </a:lnTo>
                <a:lnTo>
                  <a:pt x="32" y="1154"/>
                </a:lnTo>
                <a:lnTo>
                  <a:pt x="15" y="1124"/>
                </a:lnTo>
                <a:lnTo>
                  <a:pt x="3" y="1090"/>
                </a:lnTo>
                <a:lnTo>
                  <a:pt x="0" y="1054"/>
                </a:lnTo>
                <a:lnTo>
                  <a:pt x="0" y="465"/>
                </a:lnTo>
                <a:lnTo>
                  <a:pt x="3" y="429"/>
                </a:lnTo>
                <a:lnTo>
                  <a:pt x="15" y="395"/>
                </a:lnTo>
                <a:lnTo>
                  <a:pt x="32" y="364"/>
                </a:lnTo>
                <a:lnTo>
                  <a:pt x="56" y="339"/>
                </a:lnTo>
                <a:lnTo>
                  <a:pt x="85" y="318"/>
                </a:lnTo>
                <a:lnTo>
                  <a:pt x="599" y="21"/>
                </a:lnTo>
                <a:lnTo>
                  <a:pt x="632" y="7"/>
                </a:lnTo>
                <a:lnTo>
                  <a:pt x="668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7534948" y="3487679"/>
            <a:ext cx="323925" cy="301741"/>
          </a:xfrm>
          <a:custGeom>
            <a:avLst/>
            <a:gdLst/>
            <a:ahLst/>
            <a:cxnLst/>
            <a:rect l="l" t="t" r="r" b="b"/>
            <a:pathLst>
              <a:path w="606862" h="565300">
                <a:moveTo>
                  <a:pt x="225640" y="344936"/>
                </a:moveTo>
                <a:cubicBezTo>
                  <a:pt x="221272" y="347315"/>
                  <a:pt x="216904" y="348802"/>
                  <a:pt x="212735" y="349595"/>
                </a:cubicBezTo>
                <a:cubicBezTo>
                  <a:pt x="210154" y="349991"/>
                  <a:pt x="208268" y="352172"/>
                  <a:pt x="208268" y="354750"/>
                </a:cubicBezTo>
                <a:lnTo>
                  <a:pt x="208268" y="368033"/>
                </a:lnTo>
                <a:cubicBezTo>
                  <a:pt x="207573" y="368330"/>
                  <a:pt x="206878" y="368826"/>
                  <a:pt x="206282" y="369421"/>
                </a:cubicBezTo>
                <a:cubicBezTo>
                  <a:pt x="205289" y="370511"/>
                  <a:pt x="204793" y="371998"/>
                  <a:pt x="204992" y="373584"/>
                </a:cubicBezTo>
                <a:lnTo>
                  <a:pt x="207870" y="401836"/>
                </a:lnTo>
                <a:cubicBezTo>
                  <a:pt x="208069" y="404017"/>
                  <a:pt x="209657" y="405801"/>
                  <a:pt x="211742" y="406396"/>
                </a:cubicBezTo>
                <a:cubicBezTo>
                  <a:pt x="212238" y="406495"/>
                  <a:pt x="212735" y="406594"/>
                  <a:pt x="213132" y="406594"/>
                </a:cubicBezTo>
                <a:cubicBezTo>
                  <a:pt x="214819" y="406594"/>
                  <a:pt x="216408" y="405801"/>
                  <a:pt x="217400" y="404413"/>
                </a:cubicBezTo>
                <a:lnTo>
                  <a:pt x="232390" y="384687"/>
                </a:lnTo>
                <a:cubicBezTo>
                  <a:pt x="233085" y="383695"/>
                  <a:pt x="233383" y="382605"/>
                  <a:pt x="233482" y="381415"/>
                </a:cubicBezTo>
                <a:lnTo>
                  <a:pt x="233383" y="349694"/>
                </a:lnTo>
                <a:cubicBezTo>
                  <a:pt x="233383" y="347811"/>
                  <a:pt x="232489" y="346026"/>
                  <a:pt x="230901" y="345134"/>
                </a:cubicBezTo>
                <a:cubicBezTo>
                  <a:pt x="229213" y="344143"/>
                  <a:pt x="227228" y="344143"/>
                  <a:pt x="225640" y="344936"/>
                </a:cubicBezTo>
                <a:close/>
                <a:moveTo>
                  <a:pt x="158236" y="344936"/>
                </a:moveTo>
                <a:cubicBezTo>
                  <a:pt x="156548" y="344044"/>
                  <a:pt x="154563" y="344143"/>
                  <a:pt x="152974" y="345134"/>
                </a:cubicBezTo>
                <a:cubicBezTo>
                  <a:pt x="151386" y="346026"/>
                  <a:pt x="150393" y="347811"/>
                  <a:pt x="150393" y="349694"/>
                </a:cubicBezTo>
                <a:lnTo>
                  <a:pt x="150393" y="381415"/>
                </a:lnTo>
                <a:cubicBezTo>
                  <a:pt x="150393" y="382605"/>
                  <a:pt x="150791" y="383695"/>
                  <a:pt x="151485" y="384687"/>
                </a:cubicBezTo>
                <a:lnTo>
                  <a:pt x="166475" y="404512"/>
                </a:lnTo>
                <a:cubicBezTo>
                  <a:pt x="167468" y="405801"/>
                  <a:pt x="169056" y="406594"/>
                  <a:pt x="170644" y="406594"/>
                </a:cubicBezTo>
                <a:cubicBezTo>
                  <a:pt x="171141" y="406594"/>
                  <a:pt x="171637" y="406495"/>
                  <a:pt x="172133" y="406396"/>
                </a:cubicBezTo>
                <a:cubicBezTo>
                  <a:pt x="174218" y="405801"/>
                  <a:pt x="175707" y="404017"/>
                  <a:pt x="176005" y="401836"/>
                </a:cubicBezTo>
                <a:lnTo>
                  <a:pt x="178884" y="373584"/>
                </a:lnTo>
                <a:cubicBezTo>
                  <a:pt x="179082" y="372097"/>
                  <a:pt x="178586" y="370511"/>
                  <a:pt x="177593" y="369421"/>
                </a:cubicBezTo>
                <a:cubicBezTo>
                  <a:pt x="176998" y="368826"/>
                  <a:pt x="176303" y="368330"/>
                  <a:pt x="175509" y="368033"/>
                </a:cubicBezTo>
                <a:lnTo>
                  <a:pt x="175509" y="354750"/>
                </a:lnTo>
                <a:cubicBezTo>
                  <a:pt x="175509" y="352172"/>
                  <a:pt x="173722" y="349991"/>
                  <a:pt x="171141" y="349595"/>
                </a:cubicBezTo>
                <a:cubicBezTo>
                  <a:pt x="166971" y="348802"/>
                  <a:pt x="162604" y="347216"/>
                  <a:pt x="158236" y="344936"/>
                </a:cubicBezTo>
                <a:close/>
                <a:moveTo>
                  <a:pt x="166475" y="201992"/>
                </a:moveTo>
                <a:cubicBezTo>
                  <a:pt x="151386" y="201992"/>
                  <a:pt x="136893" y="208038"/>
                  <a:pt x="129547" y="211706"/>
                </a:cubicBezTo>
                <a:cubicBezTo>
                  <a:pt x="127760" y="212598"/>
                  <a:pt x="126569" y="214482"/>
                  <a:pt x="126569" y="216464"/>
                </a:cubicBezTo>
                <a:lnTo>
                  <a:pt x="126569" y="225981"/>
                </a:lnTo>
                <a:lnTo>
                  <a:pt x="124385" y="225981"/>
                </a:lnTo>
                <a:cubicBezTo>
                  <a:pt x="121506" y="225981"/>
                  <a:pt x="119124" y="228360"/>
                  <a:pt x="119124" y="231334"/>
                </a:cubicBezTo>
                <a:lnTo>
                  <a:pt x="119124" y="240057"/>
                </a:lnTo>
                <a:cubicBezTo>
                  <a:pt x="119124" y="241842"/>
                  <a:pt x="120017" y="243527"/>
                  <a:pt x="121506" y="244518"/>
                </a:cubicBezTo>
                <a:lnTo>
                  <a:pt x="126668" y="247888"/>
                </a:lnTo>
                <a:lnTo>
                  <a:pt x="126966" y="250069"/>
                </a:lnTo>
                <a:cubicBezTo>
                  <a:pt x="128653" y="262758"/>
                  <a:pt x="135801" y="279213"/>
                  <a:pt x="146026" y="294083"/>
                </a:cubicBezTo>
                <a:cubicBezTo>
                  <a:pt x="159129" y="313016"/>
                  <a:pt x="171339" y="321442"/>
                  <a:pt x="177593" y="321442"/>
                </a:cubicBezTo>
                <a:lnTo>
                  <a:pt x="206183" y="321442"/>
                </a:lnTo>
                <a:cubicBezTo>
                  <a:pt x="212536" y="321442"/>
                  <a:pt x="224746" y="313016"/>
                  <a:pt x="237751" y="294083"/>
                </a:cubicBezTo>
                <a:cubicBezTo>
                  <a:pt x="248075" y="279213"/>
                  <a:pt x="255222" y="262758"/>
                  <a:pt x="256910" y="250069"/>
                </a:cubicBezTo>
                <a:lnTo>
                  <a:pt x="257207" y="247888"/>
                </a:lnTo>
                <a:lnTo>
                  <a:pt x="262369" y="244518"/>
                </a:lnTo>
                <a:cubicBezTo>
                  <a:pt x="263858" y="243527"/>
                  <a:pt x="264752" y="241842"/>
                  <a:pt x="264752" y="240057"/>
                </a:cubicBezTo>
                <a:lnTo>
                  <a:pt x="264752" y="231334"/>
                </a:lnTo>
                <a:cubicBezTo>
                  <a:pt x="264752" y="228360"/>
                  <a:pt x="262369" y="225981"/>
                  <a:pt x="259391" y="225981"/>
                </a:cubicBezTo>
                <a:lnTo>
                  <a:pt x="256513" y="225981"/>
                </a:lnTo>
                <a:cubicBezTo>
                  <a:pt x="256115" y="225287"/>
                  <a:pt x="255520" y="224692"/>
                  <a:pt x="254825" y="224197"/>
                </a:cubicBezTo>
                <a:cubicBezTo>
                  <a:pt x="253336" y="223205"/>
                  <a:pt x="251450" y="223106"/>
                  <a:pt x="249762" y="223800"/>
                </a:cubicBezTo>
                <a:cubicBezTo>
                  <a:pt x="242615" y="226972"/>
                  <a:pt x="235567" y="228657"/>
                  <a:pt x="228717" y="228657"/>
                </a:cubicBezTo>
                <a:cubicBezTo>
                  <a:pt x="216606" y="228657"/>
                  <a:pt x="205587" y="223602"/>
                  <a:pt x="196057" y="213788"/>
                </a:cubicBezTo>
                <a:cubicBezTo>
                  <a:pt x="188414" y="205957"/>
                  <a:pt x="178487" y="201992"/>
                  <a:pt x="166475" y="201992"/>
                </a:cubicBezTo>
                <a:close/>
                <a:moveTo>
                  <a:pt x="178487" y="100979"/>
                </a:moveTo>
                <a:lnTo>
                  <a:pt x="205389" y="100979"/>
                </a:lnTo>
                <a:cubicBezTo>
                  <a:pt x="251152" y="100979"/>
                  <a:pt x="288477" y="138152"/>
                  <a:pt x="288477" y="183950"/>
                </a:cubicBezTo>
                <a:lnTo>
                  <a:pt x="288477" y="210021"/>
                </a:lnTo>
                <a:cubicBezTo>
                  <a:pt x="291555" y="214383"/>
                  <a:pt x="293242" y="219537"/>
                  <a:pt x="293242" y="224890"/>
                </a:cubicBezTo>
                <a:lnTo>
                  <a:pt x="293242" y="243428"/>
                </a:lnTo>
                <a:cubicBezTo>
                  <a:pt x="293242" y="250961"/>
                  <a:pt x="289867" y="258198"/>
                  <a:pt x="284109" y="262956"/>
                </a:cubicBezTo>
                <a:cubicBezTo>
                  <a:pt x="282620" y="267615"/>
                  <a:pt x="280834" y="272373"/>
                  <a:pt x="278749" y="277132"/>
                </a:cubicBezTo>
                <a:cubicBezTo>
                  <a:pt x="274381" y="288234"/>
                  <a:pt x="268226" y="299832"/>
                  <a:pt x="260781" y="310637"/>
                </a:cubicBezTo>
                <a:cubicBezTo>
                  <a:pt x="257704" y="315197"/>
                  <a:pt x="253534" y="320649"/>
                  <a:pt x="248670" y="326101"/>
                </a:cubicBezTo>
                <a:cubicBezTo>
                  <a:pt x="253137" y="329273"/>
                  <a:pt x="256314" y="332941"/>
                  <a:pt x="257704" y="337303"/>
                </a:cubicBezTo>
                <a:lnTo>
                  <a:pt x="316968" y="355245"/>
                </a:lnTo>
                <a:cubicBezTo>
                  <a:pt x="358661" y="367240"/>
                  <a:pt x="383875" y="542104"/>
                  <a:pt x="383875" y="549638"/>
                </a:cubicBezTo>
                <a:cubicBezTo>
                  <a:pt x="383875" y="558262"/>
                  <a:pt x="376827" y="565300"/>
                  <a:pt x="368091" y="565300"/>
                </a:cubicBezTo>
                <a:lnTo>
                  <a:pt x="15685" y="565300"/>
                </a:lnTo>
                <a:cubicBezTo>
                  <a:pt x="7048" y="565300"/>
                  <a:pt x="0" y="558262"/>
                  <a:pt x="0" y="549638"/>
                </a:cubicBezTo>
                <a:cubicBezTo>
                  <a:pt x="0" y="548745"/>
                  <a:pt x="100" y="547952"/>
                  <a:pt x="199" y="547159"/>
                </a:cubicBezTo>
                <a:cubicBezTo>
                  <a:pt x="199" y="547159"/>
                  <a:pt x="25215" y="367240"/>
                  <a:pt x="66908" y="355245"/>
                </a:cubicBezTo>
                <a:lnTo>
                  <a:pt x="126172" y="337303"/>
                </a:lnTo>
                <a:cubicBezTo>
                  <a:pt x="127562" y="332941"/>
                  <a:pt x="130738" y="329273"/>
                  <a:pt x="135205" y="326101"/>
                </a:cubicBezTo>
                <a:cubicBezTo>
                  <a:pt x="130341" y="320649"/>
                  <a:pt x="126172" y="315197"/>
                  <a:pt x="123094" y="310637"/>
                </a:cubicBezTo>
                <a:cubicBezTo>
                  <a:pt x="115649" y="299832"/>
                  <a:pt x="109395" y="288234"/>
                  <a:pt x="105127" y="277132"/>
                </a:cubicBezTo>
                <a:cubicBezTo>
                  <a:pt x="103042" y="272373"/>
                  <a:pt x="101255" y="267615"/>
                  <a:pt x="99766" y="262956"/>
                </a:cubicBezTo>
                <a:cubicBezTo>
                  <a:pt x="94008" y="258099"/>
                  <a:pt x="90633" y="250961"/>
                  <a:pt x="90633" y="243428"/>
                </a:cubicBezTo>
                <a:lnTo>
                  <a:pt x="90633" y="224890"/>
                </a:lnTo>
                <a:cubicBezTo>
                  <a:pt x="90633" y="219537"/>
                  <a:pt x="92321" y="214383"/>
                  <a:pt x="95398" y="210021"/>
                </a:cubicBezTo>
                <a:lnTo>
                  <a:pt x="95398" y="183950"/>
                </a:lnTo>
                <a:cubicBezTo>
                  <a:pt x="95398" y="138152"/>
                  <a:pt x="132624" y="100979"/>
                  <a:pt x="178487" y="100979"/>
                </a:cubicBezTo>
                <a:close/>
                <a:moveTo>
                  <a:pt x="479606" y="93305"/>
                </a:moveTo>
                <a:cubicBezTo>
                  <a:pt x="488144" y="92017"/>
                  <a:pt x="496086" y="97962"/>
                  <a:pt x="497278" y="106483"/>
                </a:cubicBezTo>
                <a:lnTo>
                  <a:pt x="506710" y="172472"/>
                </a:lnTo>
                <a:cubicBezTo>
                  <a:pt x="508000" y="180993"/>
                  <a:pt x="502043" y="188821"/>
                  <a:pt x="493505" y="190109"/>
                </a:cubicBezTo>
                <a:cubicBezTo>
                  <a:pt x="492711" y="190208"/>
                  <a:pt x="492016" y="190208"/>
                  <a:pt x="491222" y="190208"/>
                </a:cubicBezTo>
                <a:cubicBezTo>
                  <a:pt x="483676" y="190208"/>
                  <a:pt x="476925" y="184659"/>
                  <a:pt x="475833" y="176832"/>
                </a:cubicBezTo>
                <a:lnTo>
                  <a:pt x="471862" y="148989"/>
                </a:lnTo>
                <a:lnTo>
                  <a:pt x="424107" y="213789"/>
                </a:lnTo>
                <a:cubicBezTo>
                  <a:pt x="419739" y="219635"/>
                  <a:pt x="411896" y="221716"/>
                  <a:pt x="405244" y="218843"/>
                </a:cubicBezTo>
                <a:lnTo>
                  <a:pt x="327506" y="184758"/>
                </a:lnTo>
                <a:lnTo>
                  <a:pt x="323237" y="189415"/>
                </a:lnTo>
                <a:cubicBezTo>
                  <a:pt x="322940" y="176336"/>
                  <a:pt x="320557" y="163753"/>
                  <a:pt x="316486" y="152061"/>
                </a:cubicBezTo>
                <a:cubicBezTo>
                  <a:pt x="320557" y="149980"/>
                  <a:pt x="325422" y="149782"/>
                  <a:pt x="329790" y="151665"/>
                </a:cubicBezTo>
                <a:lnTo>
                  <a:pt x="406336" y="185254"/>
                </a:lnTo>
                <a:lnTo>
                  <a:pt x="447538" y="129371"/>
                </a:lnTo>
                <a:lnTo>
                  <a:pt x="417952" y="133632"/>
                </a:lnTo>
                <a:cubicBezTo>
                  <a:pt x="409414" y="134821"/>
                  <a:pt x="401471" y="128876"/>
                  <a:pt x="400280" y="120355"/>
                </a:cubicBezTo>
                <a:cubicBezTo>
                  <a:pt x="398989" y="111834"/>
                  <a:pt x="404946" y="104006"/>
                  <a:pt x="413484" y="102718"/>
                </a:cubicBezTo>
                <a:close/>
                <a:moveTo>
                  <a:pt x="183273" y="0"/>
                </a:moveTo>
                <a:lnTo>
                  <a:pt x="580456" y="0"/>
                </a:lnTo>
                <a:cubicBezTo>
                  <a:pt x="595049" y="0"/>
                  <a:pt x="606862" y="11896"/>
                  <a:pt x="606862" y="26468"/>
                </a:cubicBezTo>
                <a:cubicBezTo>
                  <a:pt x="606862" y="35687"/>
                  <a:pt x="602097" y="43816"/>
                  <a:pt x="594850" y="48575"/>
                </a:cubicBezTo>
                <a:lnTo>
                  <a:pt x="594850" y="299675"/>
                </a:lnTo>
                <a:cubicBezTo>
                  <a:pt x="594850" y="308994"/>
                  <a:pt x="587207" y="316627"/>
                  <a:pt x="577776" y="316627"/>
                </a:cubicBezTo>
                <a:lnTo>
                  <a:pt x="304086" y="316627"/>
                </a:lnTo>
                <a:cubicBezTo>
                  <a:pt x="306468" y="311770"/>
                  <a:pt x="308652" y="306912"/>
                  <a:pt x="310439" y="302154"/>
                </a:cubicBezTo>
                <a:cubicBezTo>
                  <a:pt x="311928" y="298882"/>
                  <a:pt x="313219" y="295611"/>
                  <a:pt x="314410" y="292340"/>
                </a:cubicBezTo>
                <a:cubicBezTo>
                  <a:pt x="316991" y="289267"/>
                  <a:pt x="319175" y="285995"/>
                  <a:pt x="320962" y="282625"/>
                </a:cubicBezTo>
                <a:lnTo>
                  <a:pt x="560801" y="282625"/>
                </a:lnTo>
                <a:lnTo>
                  <a:pt x="560801" y="52837"/>
                </a:lnTo>
                <a:lnTo>
                  <a:pt x="203028" y="52837"/>
                </a:lnTo>
                <a:lnTo>
                  <a:pt x="203028" y="71871"/>
                </a:lnTo>
                <a:lnTo>
                  <a:pt x="174835" y="71871"/>
                </a:lnTo>
                <a:cubicBezTo>
                  <a:pt x="172850" y="71871"/>
                  <a:pt x="170864" y="71970"/>
                  <a:pt x="168879" y="72069"/>
                </a:cubicBezTo>
                <a:lnTo>
                  <a:pt x="168879" y="48575"/>
                </a:lnTo>
                <a:cubicBezTo>
                  <a:pt x="161632" y="43816"/>
                  <a:pt x="156867" y="35687"/>
                  <a:pt x="156867" y="26468"/>
                </a:cubicBezTo>
                <a:cubicBezTo>
                  <a:pt x="156867" y="11896"/>
                  <a:pt x="168680" y="0"/>
                  <a:pt x="18327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91440" tIns="45720" rIns="91440" bIns="45720" anchor="ctr">
            <a:normAutofit fontScale="85000" lnSpcReduction="10000"/>
          </a:bodyPr>
          <a:lstStyle/>
          <a:p>
            <a:pPr marL="0"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755948" y="2369249"/>
            <a:ext cx="3343275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Title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55948" y="2956981"/>
            <a:ext cx="3343275" cy="3180294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wrap="square" lIns="91440" tIns="406800" rIns="91440" bIns="45720" anchor="t">
            <a:no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Pair Trade Strategy: Long BYD vs. Short Tesla</a:t>
            </a:r>
          </a:p>
        </p:txBody>
      </p:sp>
      <p:sp>
        <p:nvSpPr>
          <p:cNvPr id="9" name="Freeform 9"/>
          <p:cNvSpPr/>
          <p:nvPr/>
        </p:nvSpPr>
        <p:spPr>
          <a:xfrm>
            <a:off x="5245582" y="1831268"/>
            <a:ext cx="1700413" cy="8806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7317"/>
                </a:moveTo>
                <a:lnTo>
                  <a:pt x="6301" y="21600"/>
                </a:lnTo>
                <a:lnTo>
                  <a:pt x="21600" y="0"/>
                </a:lnTo>
                <a:lnTo>
                  <a:pt x="0" y="17317"/>
                </a:lnTo>
                <a:close/>
              </a:path>
            </a:pathLst>
          </a:custGeom>
          <a:solidFill>
            <a:schemeClr val="accent1"/>
          </a:solidFill>
          <a:ln w="25400" cap="flat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5866064" y="1831437"/>
            <a:ext cx="1080065" cy="133625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5166"/>
                </a:moveTo>
                <a:lnTo>
                  <a:pt x="14073" y="21600"/>
                </a:lnTo>
                <a:lnTo>
                  <a:pt x="21600" y="0"/>
                </a:lnTo>
                <a:lnTo>
                  <a:pt x="0" y="15166"/>
                </a:lnTo>
                <a:close/>
              </a:path>
            </a:pathLst>
          </a:custGeom>
          <a:solidFill>
            <a:schemeClr val="accent1"/>
          </a:solidFill>
          <a:ln w="25400" cap="flat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5247270" y="1830797"/>
            <a:ext cx="1699148" cy="70515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lnTo>
                  <a:pt x="11443" y="17896"/>
                </a:lnTo>
                <a:lnTo>
                  <a:pt x="21600" y="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25400" cap="flat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Title Slide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82836" y="2358453"/>
            <a:ext cx="3343275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Subtitle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82836" y="2946185"/>
            <a:ext cx="3343275" cy="3180294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wrap="square" lIns="91440" tIns="406800" rIns="91440" bIns="45720" anchor="t">
            <a:no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Capitalizing on EV Industry Divergence &amp; Valuation Gaps. This presentation proposes a pair trade strategy, leveraging the contrasting valuations and growth dynamics of BYD and Tesla in the evolving EV landscape.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lIns="91440" tIns="45720" rIns="91440" bIns="45720" anchor="ctr">
            <a:normAutofit fontScale="92500" lnSpcReduction="20000"/>
          </a:bodyPr>
          <a:lstStyle/>
          <a:p>
            <a:pPr marL="0" algn="l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Please insert in the menu.</a:t>
            </a:r>
            <a:r>
              <a:rPr 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—</a:t>
            </a:r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Modify this text in the header and footer.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457200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1661510">
                <a:moveTo>
                  <a:pt x="0" y="0"/>
                </a:moveTo>
                <a:cubicBezTo>
                  <a:pt x="869272" y="359532"/>
                  <a:pt x="3110884" y="1145313"/>
                  <a:pt x="5359893" y="833966"/>
                </a:cubicBezTo>
                <a:cubicBezTo>
                  <a:pt x="7875233" y="485553"/>
                  <a:pt x="10172330" y="-593043"/>
                  <a:pt x="12192000" y="489260"/>
                </a:cubicBezTo>
                <a:cubicBezTo>
                  <a:pt x="12192000" y="489260"/>
                  <a:pt x="12192000" y="489260"/>
                  <a:pt x="12192000" y="919216"/>
                </a:cubicBezTo>
                <a:cubicBezTo>
                  <a:pt x="11236610" y="626980"/>
                  <a:pt x="9400208" y="319523"/>
                  <a:pt x="7949249" y="1596913"/>
                </a:cubicBezTo>
                <a:lnTo>
                  <a:pt x="7879588" y="1661510"/>
                </a:lnTo>
                <a:lnTo>
                  <a:pt x="1145797" y="1661510"/>
                </a:lnTo>
                <a:lnTo>
                  <a:pt x="891928" y="1486776"/>
                </a:lnTo>
                <a:cubicBezTo>
                  <a:pt x="577048" y="1258362"/>
                  <a:pt x="277427" y="1017438"/>
                  <a:pt x="0" y="770955"/>
                </a:cubicBezTo>
                <a:cubicBezTo>
                  <a:pt x="0" y="770955"/>
                  <a:pt x="0" y="770955"/>
                  <a:pt x="0" y="0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1838341" y="5034949"/>
            <a:ext cx="953230" cy="953228"/>
            <a:chOff x="7828426" y="1707625"/>
            <a:chExt cx="682538" cy="682537"/>
          </a:xfrm>
        </p:grpSpPr>
        <p:sp>
          <p:nvSpPr>
            <p:cNvPr id="5" name="AutoShape 5"/>
            <p:cNvSpPr/>
            <p:nvPr/>
          </p:nvSpPr>
          <p:spPr>
            <a:xfrm>
              <a:off x="7828426" y="1707625"/>
              <a:ext cx="682538" cy="682537"/>
            </a:xfrm>
            <a:prstGeom prst="ellipse">
              <a:avLst/>
            </a:prstGeom>
            <a:solidFill>
              <a:schemeClr val="accent1"/>
            </a:solidFill>
            <a:ln w="57150" cap="flat" cmpd="sng">
              <a:solidFill>
                <a:srgbClr val="FFFFFF"/>
              </a:solidFill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8066864" y="1842685"/>
              <a:ext cx="205663" cy="412418"/>
            </a:xfrm>
            <a:custGeom>
              <a:avLst/>
              <a:gdLst/>
              <a:ahLst/>
              <a:cxnLst/>
              <a:rect l="l" t="t" r="r" b="b"/>
              <a:pathLst>
                <a:path w="302980" h="607568">
                  <a:moveTo>
                    <a:pt x="102172" y="160819"/>
                  </a:moveTo>
                  <a:lnTo>
                    <a:pt x="108318" y="160819"/>
                  </a:lnTo>
                  <a:cubicBezTo>
                    <a:pt x="121377" y="167109"/>
                    <a:pt x="136127" y="170638"/>
                    <a:pt x="151491" y="170638"/>
                  </a:cubicBezTo>
                  <a:cubicBezTo>
                    <a:pt x="166855" y="170638"/>
                    <a:pt x="181604" y="167109"/>
                    <a:pt x="194663" y="160819"/>
                  </a:cubicBezTo>
                  <a:lnTo>
                    <a:pt x="200809" y="160819"/>
                  </a:lnTo>
                  <a:cubicBezTo>
                    <a:pt x="240755" y="160819"/>
                    <a:pt x="278704" y="195491"/>
                    <a:pt x="285157" y="238141"/>
                  </a:cubicBezTo>
                  <a:lnTo>
                    <a:pt x="302826" y="361948"/>
                  </a:lnTo>
                  <a:cubicBezTo>
                    <a:pt x="303594" y="366397"/>
                    <a:pt x="301443" y="370846"/>
                    <a:pt x="297602" y="373148"/>
                  </a:cubicBezTo>
                  <a:lnTo>
                    <a:pt x="246901" y="404598"/>
                  </a:lnTo>
                  <a:lnTo>
                    <a:pt x="223240" y="570288"/>
                  </a:lnTo>
                  <a:cubicBezTo>
                    <a:pt x="220475" y="591153"/>
                    <a:pt x="202653" y="607568"/>
                    <a:pt x="182833" y="607568"/>
                  </a:cubicBezTo>
                  <a:lnTo>
                    <a:pt x="120148" y="607568"/>
                  </a:lnTo>
                  <a:cubicBezTo>
                    <a:pt x="100328" y="607568"/>
                    <a:pt x="82506" y="591153"/>
                    <a:pt x="79741" y="570134"/>
                  </a:cubicBezTo>
                  <a:lnTo>
                    <a:pt x="56080" y="404598"/>
                  </a:lnTo>
                  <a:lnTo>
                    <a:pt x="5379" y="373148"/>
                  </a:lnTo>
                  <a:cubicBezTo>
                    <a:pt x="1538" y="370846"/>
                    <a:pt x="-613" y="366397"/>
                    <a:pt x="155" y="361948"/>
                  </a:cubicBezTo>
                  <a:lnTo>
                    <a:pt x="17824" y="238294"/>
                  </a:lnTo>
                  <a:cubicBezTo>
                    <a:pt x="24277" y="195491"/>
                    <a:pt x="62226" y="160819"/>
                    <a:pt x="102172" y="160819"/>
                  </a:cubicBezTo>
                  <a:close/>
                  <a:moveTo>
                    <a:pt x="151490" y="0"/>
                  </a:moveTo>
                  <a:cubicBezTo>
                    <a:pt x="190443" y="0"/>
                    <a:pt x="222020" y="31704"/>
                    <a:pt x="222020" y="70813"/>
                  </a:cubicBezTo>
                  <a:cubicBezTo>
                    <a:pt x="222020" y="109922"/>
                    <a:pt x="190443" y="141626"/>
                    <a:pt x="151490" y="141626"/>
                  </a:cubicBezTo>
                  <a:cubicBezTo>
                    <a:pt x="112537" y="141626"/>
                    <a:pt x="80960" y="109922"/>
                    <a:pt x="80960" y="70813"/>
                  </a:cubicBezTo>
                  <a:cubicBezTo>
                    <a:pt x="80960" y="31704"/>
                    <a:pt x="112537" y="0"/>
                    <a:pt x="15149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493251" y="5034949"/>
            <a:ext cx="953230" cy="953228"/>
            <a:chOff x="7828426" y="1707625"/>
            <a:chExt cx="682538" cy="682537"/>
          </a:xfrm>
        </p:grpSpPr>
        <p:sp>
          <p:nvSpPr>
            <p:cNvPr id="8" name="AutoShape 8"/>
            <p:cNvSpPr/>
            <p:nvPr/>
          </p:nvSpPr>
          <p:spPr>
            <a:xfrm>
              <a:off x="7828426" y="1707625"/>
              <a:ext cx="682538" cy="682537"/>
            </a:xfrm>
            <a:prstGeom prst="ellipse">
              <a:avLst/>
            </a:prstGeom>
            <a:solidFill>
              <a:schemeClr val="accent2"/>
            </a:solidFill>
            <a:ln w="57150" cap="flat" cmpd="sng">
              <a:solidFill>
                <a:srgbClr val="FFFFFF"/>
              </a:solidFill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9" name="Freeform 9"/>
            <p:cNvSpPr/>
            <p:nvPr/>
          </p:nvSpPr>
          <p:spPr>
            <a:xfrm>
              <a:off x="8066864" y="1842685"/>
              <a:ext cx="205663" cy="412418"/>
            </a:xfrm>
            <a:custGeom>
              <a:avLst/>
              <a:gdLst/>
              <a:ahLst/>
              <a:cxnLst/>
              <a:rect l="l" t="t" r="r" b="b"/>
              <a:pathLst>
                <a:path w="302980" h="607568">
                  <a:moveTo>
                    <a:pt x="102172" y="160819"/>
                  </a:moveTo>
                  <a:lnTo>
                    <a:pt x="108318" y="160819"/>
                  </a:lnTo>
                  <a:cubicBezTo>
                    <a:pt x="121377" y="167109"/>
                    <a:pt x="136127" y="170638"/>
                    <a:pt x="151491" y="170638"/>
                  </a:cubicBezTo>
                  <a:cubicBezTo>
                    <a:pt x="166855" y="170638"/>
                    <a:pt x="181604" y="167109"/>
                    <a:pt x="194663" y="160819"/>
                  </a:cubicBezTo>
                  <a:lnTo>
                    <a:pt x="200809" y="160819"/>
                  </a:lnTo>
                  <a:cubicBezTo>
                    <a:pt x="240755" y="160819"/>
                    <a:pt x="278704" y="195491"/>
                    <a:pt x="285157" y="238141"/>
                  </a:cubicBezTo>
                  <a:lnTo>
                    <a:pt x="302826" y="361948"/>
                  </a:lnTo>
                  <a:cubicBezTo>
                    <a:pt x="303594" y="366397"/>
                    <a:pt x="301443" y="370846"/>
                    <a:pt x="297602" y="373148"/>
                  </a:cubicBezTo>
                  <a:lnTo>
                    <a:pt x="246901" y="404598"/>
                  </a:lnTo>
                  <a:lnTo>
                    <a:pt x="223240" y="570288"/>
                  </a:lnTo>
                  <a:cubicBezTo>
                    <a:pt x="220475" y="591153"/>
                    <a:pt x="202653" y="607568"/>
                    <a:pt x="182833" y="607568"/>
                  </a:cubicBezTo>
                  <a:lnTo>
                    <a:pt x="120148" y="607568"/>
                  </a:lnTo>
                  <a:cubicBezTo>
                    <a:pt x="100328" y="607568"/>
                    <a:pt x="82506" y="591153"/>
                    <a:pt x="79741" y="570134"/>
                  </a:cubicBezTo>
                  <a:lnTo>
                    <a:pt x="56080" y="404598"/>
                  </a:lnTo>
                  <a:lnTo>
                    <a:pt x="5379" y="373148"/>
                  </a:lnTo>
                  <a:cubicBezTo>
                    <a:pt x="1538" y="370846"/>
                    <a:pt x="-613" y="366397"/>
                    <a:pt x="155" y="361948"/>
                  </a:cubicBezTo>
                  <a:lnTo>
                    <a:pt x="17824" y="238294"/>
                  </a:lnTo>
                  <a:cubicBezTo>
                    <a:pt x="24277" y="195491"/>
                    <a:pt x="62226" y="160819"/>
                    <a:pt x="102172" y="160819"/>
                  </a:cubicBezTo>
                  <a:close/>
                  <a:moveTo>
                    <a:pt x="151490" y="0"/>
                  </a:moveTo>
                  <a:cubicBezTo>
                    <a:pt x="190443" y="0"/>
                    <a:pt x="222020" y="31704"/>
                    <a:pt x="222020" y="70813"/>
                  </a:cubicBezTo>
                  <a:cubicBezTo>
                    <a:pt x="222020" y="109922"/>
                    <a:pt x="190443" y="141626"/>
                    <a:pt x="151490" y="141626"/>
                  </a:cubicBezTo>
                  <a:cubicBezTo>
                    <a:pt x="112537" y="141626"/>
                    <a:pt x="80960" y="109922"/>
                    <a:pt x="80960" y="70813"/>
                  </a:cubicBezTo>
                  <a:cubicBezTo>
                    <a:pt x="80960" y="31704"/>
                    <a:pt x="112537" y="0"/>
                    <a:pt x="15149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8162" y="4270345"/>
            <a:ext cx="953230" cy="953228"/>
            <a:chOff x="7828426" y="1707625"/>
            <a:chExt cx="682538" cy="682537"/>
          </a:xfrm>
        </p:grpSpPr>
        <p:sp>
          <p:nvSpPr>
            <p:cNvPr id="11" name="AutoShape 11"/>
            <p:cNvSpPr/>
            <p:nvPr/>
          </p:nvSpPr>
          <p:spPr>
            <a:xfrm>
              <a:off x="7828426" y="1707625"/>
              <a:ext cx="682538" cy="682537"/>
            </a:xfrm>
            <a:prstGeom prst="ellipse">
              <a:avLst/>
            </a:prstGeom>
            <a:solidFill>
              <a:schemeClr val="accent3"/>
            </a:solidFill>
            <a:ln w="57150" cap="flat" cmpd="sng">
              <a:solidFill>
                <a:srgbClr val="FFFFFF"/>
              </a:solidFill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2" name="Freeform 12"/>
            <p:cNvSpPr/>
            <p:nvPr/>
          </p:nvSpPr>
          <p:spPr>
            <a:xfrm>
              <a:off x="8066864" y="1842685"/>
              <a:ext cx="205663" cy="412418"/>
            </a:xfrm>
            <a:custGeom>
              <a:avLst/>
              <a:gdLst/>
              <a:ahLst/>
              <a:cxnLst/>
              <a:rect l="l" t="t" r="r" b="b"/>
              <a:pathLst>
                <a:path w="302980" h="607568">
                  <a:moveTo>
                    <a:pt x="102172" y="160819"/>
                  </a:moveTo>
                  <a:lnTo>
                    <a:pt x="108318" y="160819"/>
                  </a:lnTo>
                  <a:cubicBezTo>
                    <a:pt x="121377" y="167109"/>
                    <a:pt x="136127" y="170638"/>
                    <a:pt x="151491" y="170638"/>
                  </a:cubicBezTo>
                  <a:cubicBezTo>
                    <a:pt x="166855" y="170638"/>
                    <a:pt x="181604" y="167109"/>
                    <a:pt x="194663" y="160819"/>
                  </a:cubicBezTo>
                  <a:lnTo>
                    <a:pt x="200809" y="160819"/>
                  </a:lnTo>
                  <a:cubicBezTo>
                    <a:pt x="240755" y="160819"/>
                    <a:pt x="278704" y="195491"/>
                    <a:pt x="285157" y="238141"/>
                  </a:cubicBezTo>
                  <a:lnTo>
                    <a:pt x="302826" y="361948"/>
                  </a:lnTo>
                  <a:cubicBezTo>
                    <a:pt x="303594" y="366397"/>
                    <a:pt x="301443" y="370846"/>
                    <a:pt x="297602" y="373148"/>
                  </a:cubicBezTo>
                  <a:lnTo>
                    <a:pt x="246901" y="404598"/>
                  </a:lnTo>
                  <a:lnTo>
                    <a:pt x="223240" y="570288"/>
                  </a:lnTo>
                  <a:cubicBezTo>
                    <a:pt x="220475" y="591153"/>
                    <a:pt x="202653" y="607568"/>
                    <a:pt x="182833" y="607568"/>
                  </a:cubicBezTo>
                  <a:lnTo>
                    <a:pt x="120148" y="607568"/>
                  </a:lnTo>
                  <a:cubicBezTo>
                    <a:pt x="100328" y="607568"/>
                    <a:pt x="82506" y="591153"/>
                    <a:pt x="79741" y="570134"/>
                  </a:cubicBezTo>
                  <a:lnTo>
                    <a:pt x="56080" y="404598"/>
                  </a:lnTo>
                  <a:lnTo>
                    <a:pt x="5379" y="373148"/>
                  </a:lnTo>
                  <a:cubicBezTo>
                    <a:pt x="1538" y="370846"/>
                    <a:pt x="-613" y="366397"/>
                    <a:pt x="155" y="361948"/>
                  </a:cubicBezTo>
                  <a:lnTo>
                    <a:pt x="17824" y="238294"/>
                  </a:lnTo>
                  <a:cubicBezTo>
                    <a:pt x="24277" y="195491"/>
                    <a:pt x="62226" y="160819"/>
                    <a:pt x="102172" y="160819"/>
                  </a:cubicBezTo>
                  <a:close/>
                  <a:moveTo>
                    <a:pt x="151490" y="0"/>
                  </a:moveTo>
                  <a:cubicBezTo>
                    <a:pt x="190443" y="0"/>
                    <a:pt x="222020" y="31704"/>
                    <a:pt x="222020" y="70813"/>
                  </a:cubicBezTo>
                  <a:cubicBezTo>
                    <a:pt x="222020" y="109922"/>
                    <a:pt x="190443" y="141626"/>
                    <a:pt x="151490" y="141626"/>
                  </a:cubicBezTo>
                  <a:cubicBezTo>
                    <a:pt x="112537" y="141626"/>
                    <a:pt x="80960" y="109922"/>
                    <a:pt x="80960" y="70813"/>
                  </a:cubicBezTo>
                  <a:cubicBezTo>
                    <a:pt x="80960" y="31704"/>
                    <a:pt x="112537" y="0"/>
                    <a:pt x="15149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962324" y="2264735"/>
            <a:ext cx="2705263" cy="226314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Exploit valuation discrepancies and regional growth asymmetry. Investment strategy aims to profit from the valuation gap between BYD, the Chinese EV leader, and Tesla, the global EV market giant.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2324" y="1619140"/>
            <a:ext cx="2705263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Objective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>
            <a:off x="2314956" y="3611257"/>
            <a:ext cx="0" cy="1423692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dash"/>
          </a:ln>
        </p:spPr>
      </p:cxnSp>
      <p:cxnSp>
        <p:nvCxnSpPr>
          <p:cNvPr id="16" name="Connector 16"/>
          <p:cNvCxnSpPr/>
          <p:nvPr/>
        </p:nvCxnSpPr>
        <p:spPr>
          <a:xfrm>
            <a:off x="5969866" y="3063438"/>
            <a:ext cx="0" cy="1971511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dash"/>
          </a:ln>
        </p:spPr>
      </p:cxnSp>
      <p:cxnSp>
        <p:nvCxnSpPr>
          <p:cNvPr id="17" name="Connector 17"/>
          <p:cNvCxnSpPr/>
          <p:nvPr/>
        </p:nvCxnSpPr>
        <p:spPr>
          <a:xfrm flipH="1">
            <a:off x="9624777" y="3580276"/>
            <a:ext cx="1" cy="690069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dash"/>
          </a:ln>
        </p:spPr>
      </p:cxnSp>
      <p:sp>
        <p:nvSpPr>
          <p:cNvPr id="18" name="AutoShape 18"/>
          <p:cNvSpPr/>
          <p:nvPr/>
        </p:nvSpPr>
        <p:spPr>
          <a:xfrm>
            <a:off x="4415743" y="1850375"/>
            <a:ext cx="2705263" cy="2693044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Long BYD: Undervalued leader in China’s ecosystem. BYD demonstrates substantial growth potential driven by its dominant position in the Chinese market. Short Tesla: Overvalued global incumbent facing margin pressures. Tesla's high valuation is unsustainable due to increasing competition and normalizing demand, leading to potential correction.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15743" y="1197743"/>
            <a:ext cx="2705263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Thesis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272146" y="2233754"/>
            <a:ext cx="2705263" cy="226314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Valuation multiples, growth rates, and margin trends. Monitoring these key metrics, including P/E ratios, EV/EBITDA, revenue growth, and net margins, is crucial for assessing the pair trade validity.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72146" y="1581122"/>
            <a:ext cx="2705263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Key Metrics</a:t>
            </a:r>
            <a:endParaRPr lang="en-US" sz="1100"/>
          </a:p>
        </p:txBody>
      </p:sp>
      <p:sp>
        <p:nvSpPr>
          <p:cNvPr id="22" name="AutoShape 2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Executive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Industry and Company Overview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26088" y="2767486"/>
            <a:ext cx="1906808" cy="1716124"/>
          </a:xfrm>
          <a:custGeom>
            <a:avLst/>
            <a:gdLst/>
            <a:ahLst/>
            <a:cxnLst/>
            <a:rect l="l" t="t" r="r" b="b"/>
            <a:pathLst>
              <a:path w="257" h="232">
                <a:moveTo>
                  <a:pt x="116" y="232"/>
                </a:moveTo>
                <a:cubicBezTo>
                  <a:pt x="121" y="232"/>
                  <a:pt x="124" y="229"/>
                  <a:pt x="124" y="224"/>
                </a:cubicBezTo>
                <a:cubicBezTo>
                  <a:pt x="124" y="220"/>
                  <a:pt x="121" y="216"/>
                  <a:pt x="116" y="216"/>
                </a:cubicBezTo>
                <a:cubicBezTo>
                  <a:pt x="61" y="216"/>
                  <a:pt x="16" y="171"/>
                  <a:pt x="16" y="116"/>
                </a:cubicBezTo>
                <a:cubicBezTo>
                  <a:pt x="16" y="61"/>
                  <a:pt x="61" y="16"/>
                  <a:pt x="116" y="16"/>
                </a:cubicBezTo>
                <a:cubicBezTo>
                  <a:pt x="171" y="16"/>
                  <a:pt x="216" y="61"/>
                  <a:pt x="216" y="116"/>
                </a:cubicBezTo>
                <a:cubicBezTo>
                  <a:pt x="216" y="117"/>
                  <a:pt x="217" y="134"/>
                  <a:pt x="212" y="150"/>
                </a:cubicBezTo>
                <a:cubicBezTo>
                  <a:pt x="204" y="132"/>
                  <a:pt x="204" y="132"/>
                  <a:pt x="204" y="132"/>
                </a:cubicBezTo>
                <a:cubicBezTo>
                  <a:pt x="202" y="128"/>
                  <a:pt x="198" y="126"/>
                  <a:pt x="194" y="127"/>
                </a:cubicBezTo>
                <a:cubicBezTo>
                  <a:pt x="189" y="129"/>
                  <a:pt x="187" y="134"/>
                  <a:pt x="189" y="138"/>
                </a:cubicBezTo>
                <a:cubicBezTo>
                  <a:pt x="204" y="174"/>
                  <a:pt x="204" y="174"/>
                  <a:pt x="204" y="174"/>
                </a:cubicBezTo>
                <a:cubicBezTo>
                  <a:pt x="204" y="174"/>
                  <a:pt x="204" y="174"/>
                  <a:pt x="204" y="175"/>
                </a:cubicBezTo>
                <a:cubicBezTo>
                  <a:pt x="204" y="175"/>
                  <a:pt x="204" y="175"/>
                  <a:pt x="204" y="175"/>
                </a:cubicBezTo>
                <a:cubicBezTo>
                  <a:pt x="204" y="175"/>
                  <a:pt x="204" y="175"/>
                  <a:pt x="205" y="176"/>
                </a:cubicBezTo>
                <a:cubicBezTo>
                  <a:pt x="205" y="176"/>
                  <a:pt x="205" y="176"/>
                  <a:pt x="205" y="176"/>
                </a:cubicBezTo>
                <a:cubicBezTo>
                  <a:pt x="205" y="177"/>
                  <a:pt x="206" y="177"/>
                  <a:pt x="206" y="177"/>
                </a:cubicBezTo>
                <a:cubicBezTo>
                  <a:pt x="206" y="177"/>
                  <a:pt x="207" y="178"/>
                  <a:pt x="207" y="178"/>
                </a:cubicBezTo>
                <a:cubicBezTo>
                  <a:pt x="207" y="178"/>
                  <a:pt x="207" y="178"/>
                  <a:pt x="208" y="178"/>
                </a:cubicBezTo>
                <a:cubicBezTo>
                  <a:pt x="208" y="178"/>
                  <a:pt x="208" y="179"/>
                  <a:pt x="209" y="179"/>
                </a:cubicBezTo>
                <a:cubicBezTo>
                  <a:pt x="209" y="179"/>
                  <a:pt x="209" y="179"/>
                  <a:pt x="210" y="179"/>
                </a:cubicBezTo>
                <a:cubicBezTo>
                  <a:pt x="210" y="179"/>
                  <a:pt x="210" y="179"/>
                  <a:pt x="210" y="179"/>
                </a:cubicBezTo>
                <a:cubicBezTo>
                  <a:pt x="211" y="179"/>
                  <a:pt x="211" y="179"/>
                  <a:pt x="211" y="179"/>
                </a:cubicBezTo>
                <a:cubicBezTo>
                  <a:pt x="211" y="179"/>
                  <a:pt x="211" y="179"/>
                  <a:pt x="211" y="179"/>
                </a:cubicBezTo>
                <a:cubicBezTo>
                  <a:pt x="211" y="179"/>
                  <a:pt x="212" y="179"/>
                  <a:pt x="212" y="179"/>
                </a:cubicBezTo>
                <a:cubicBezTo>
                  <a:pt x="212" y="179"/>
                  <a:pt x="213" y="179"/>
                  <a:pt x="213" y="179"/>
                </a:cubicBezTo>
                <a:cubicBezTo>
                  <a:pt x="213" y="179"/>
                  <a:pt x="214" y="179"/>
                  <a:pt x="214" y="179"/>
                </a:cubicBezTo>
                <a:cubicBezTo>
                  <a:pt x="214" y="178"/>
                  <a:pt x="215" y="178"/>
                  <a:pt x="215" y="178"/>
                </a:cubicBezTo>
                <a:cubicBezTo>
                  <a:pt x="215" y="178"/>
                  <a:pt x="215" y="178"/>
                  <a:pt x="215" y="178"/>
                </a:cubicBezTo>
                <a:cubicBezTo>
                  <a:pt x="252" y="157"/>
                  <a:pt x="252" y="157"/>
                  <a:pt x="252" y="157"/>
                </a:cubicBezTo>
                <a:cubicBezTo>
                  <a:pt x="256" y="154"/>
                  <a:pt x="257" y="149"/>
                  <a:pt x="255" y="146"/>
                </a:cubicBezTo>
                <a:cubicBezTo>
                  <a:pt x="253" y="142"/>
                  <a:pt x="248" y="140"/>
                  <a:pt x="244" y="143"/>
                </a:cubicBezTo>
                <a:cubicBezTo>
                  <a:pt x="228" y="152"/>
                  <a:pt x="228" y="152"/>
                  <a:pt x="228" y="152"/>
                </a:cubicBezTo>
                <a:cubicBezTo>
                  <a:pt x="233" y="134"/>
                  <a:pt x="232" y="117"/>
                  <a:pt x="232" y="116"/>
                </a:cubicBezTo>
                <a:cubicBezTo>
                  <a:pt x="232" y="52"/>
                  <a:pt x="180" y="0"/>
                  <a:pt x="116" y="0"/>
                </a:cubicBezTo>
                <a:cubicBezTo>
                  <a:pt x="52" y="0"/>
                  <a:pt x="0" y="52"/>
                  <a:pt x="0" y="116"/>
                </a:cubicBezTo>
                <a:cubicBezTo>
                  <a:pt x="0" y="180"/>
                  <a:pt x="52" y="232"/>
                  <a:pt x="116" y="232"/>
                </a:cubicBezTo>
                <a:close/>
              </a:path>
            </a:pathLst>
          </a:cu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10800000">
            <a:off x="4300326" y="1842343"/>
            <a:ext cx="2112784" cy="1775074"/>
          </a:xfrm>
          <a:custGeom>
            <a:avLst/>
            <a:gdLst/>
            <a:ahLst/>
            <a:cxnLst/>
            <a:rect l="l" t="t" r="r" b="b"/>
            <a:pathLst>
              <a:path w="2466521" h="2072270">
                <a:moveTo>
                  <a:pt x="370825" y="2072270"/>
                </a:moveTo>
                <a:lnTo>
                  <a:pt x="303147" y="2068853"/>
                </a:lnTo>
                <a:lnTo>
                  <a:pt x="284239" y="2066281"/>
                </a:lnTo>
                <a:cubicBezTo>
                  <a:pt x="184305" y="2038557"/>
                  <a:pt x="98017" y="1971400"/>
                  <a:pt x="47099" y="1877727"/>
                </a:cubicBezTo>
                <a:cubicBezTo>
                  <a:pt x="-20793" y="1752830"/>
                  <a:pt x="-14929" y="1600802"/>
                  <a:pt x="62381" y="1481505"/>
                </a:cubicBezTo>
                <a:cubicBezTo>
                  <a:pt x="101036" y="1421857"/>
                  <a:pt x="154456" y="1375169"/>
                  <a:pt x="215929" y="1344762"/>
                </a:cubicBezTo>
                <a:lnTo>
                  <a:pt x="307716" y="1313682"/>
                </a:lnTo>
                <a:lnTo>
                  <a:pt x="370825" y="1316868"/>
                </a:lnTo>
                <a:cubicBezTo>
                  <a:pt x="1065430" y="1316868"/>
                  <a:pt x="1636739" y="788972"/>
                  <a:pt x="1705439" y="112493"/>
                </a:cubicBezTo>
                <a:lnTo>
                  <a:pt x="1709142" y="39163"/>
                </a:lnTo>
                <a:lnTo>
                  <a:pt x="1718451" y="53001"/>
                </a:lnTo>
                <a:cubicBezTo>
                  <a:pt x="1746512" y="84662"/>
                  <a:pt x="1779046" y="112833"/>
                  <a:pt x="1815545" y="136486"/>
                </a:cubicBezTo>
                <a:cubicBezTo>
                  <a:pt x="1961542" y="231099"/>
                  <a:pt x="2147595" y="238275"/>
                  <a:pt x="2300446" y="155189"/>
                </a:cubicBezTo>
                <a:cubicBezTo>
                  <a:pt x="2338659" y="134418"/>
                  <a:pt x="2373266" y="108837"/>
                  <a:pt x="2403682" y="79431"/>
                </a:cubicBezTo>
                <a:lnTo>
                  <a:pt x="2466521" y="0"/>
                </a:lnTo>
                <a:lnTo>
                  <a:pt x="2456941" y="189728"/>
                </a:lnTo>
                <a:cubicBezTo>
                  <a:pt x="2349556" y="1247124"/>
                  <a:pt x="1456552" y="2072270"/>
                  <a:pt x="370825" y="2072270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 rot="10800000">
            <a:off x="6296841" y="1861421"/>
            <a:ext cx="1594833" cy="2055986"/>
          </a:xfrm>
          <a:custGeom>
            <a:avLst/>
            <a:gdLst/>
            <a:ahLst/>
            <a:cxnLst/>
            <a:rect l="l" t="t" r="r" b="b"/>
            <a:pathLst>
              <a:path w="1861852" h="2400216">
                <a:moveTo>
                  <a:pt x="1807547" y="2400216"/>
                </a:moveTo>
                <a:lnTo>
                  <a:pt x="1674335" y="2379885"/>
                </a:lnTo>
                <a:cubicBezTo>
                  <a:pt x="718794" y="2184353"/>
                  <a:pt x="0" y="1338891"/>
                  <a:pt x="0" y="325545"/>
                </a:cubicBezTo>
                <a:lnTo>
                  <a:pt x="1464" y="296556"/>
                </a:lnTo>
                <a:lnTo>
                  <a:pt x="3139" y="284239"/>
                </a:lnTo>
                <a:cubicBezTo>
                  <a:pt x="30863" y="184305"/>
                  <a:pt x="98020" y="98017"/>
                  <a:pt x="191693" y="47099"/>
                </a:cubicBezTo>
                <a:cubicBezTo>
                  <a:pt x="316590" y="-20793"/>
                  <a:pt x="468618" y="-14929"/>
                  <a:pt x="587915" y="62381"/>
                </a:cubicBezTo>
                <a:cubicBezTo>
                  <a:pt x="647564" y="101036"/>
                  <a:pt x="694251" y="154456"/>
                  <a:pt x="724658" y="215929"/>
                </a:cubicBezTo>
                <a:lnTo>
                  <a:pt x="756229" y="309165"/>
                </a:lnTo>
                <a:lnTo>
                  <a:pt x="755402" y="325545"/>
                </a:lnTo>
                <a:cubicBezTo>
                  <a:pt x="755402" y="973843"/>
                  <a:pt x="1215258" y="1514736"/>
                  <a:pt x="1826575" y="1639830"/>
                </a:cubicBezTo>
                <a:lnTo>
                  <a:pt x="1861852" y="1645214"/>
                </a:lnTo>
                <a:lnTo>
                  <a:pt x="1799125" y="1687413"/>
                </a:lnTo>
                <a:cubicBezTo>
                  <a:pt x="1767464" y="1715474"/>
                  <a:pt x="1739293" y="1748008"/>
                  <a:pt x="1715640" y="1784507"/>
                </a:cubicBezTo>
                <a:cubicBezTo>
                  <a:pt x="1621027" y="1930504"/>
                  <a:pt x="1613851" y="2116557"/>
                  <a:pt x="1696937" y="2269408"/>
                </a:cubicBezTo>
                <a:cubicBezTo>
                  <a:pt x="1717709" y="2307621"/>
                  <a:pt x="1743290" y="2342228"/>
                  <a:pt x="1772695" y="2372644"/>
                </a:cubicBezTo>
                <a:lnTo>
                  <a:pt x="1807547" y="2400216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 rot="10800000">
            <a:off x="4308164" y="3509481"/>
            <a:ext cx="1578547" cy="1902533"/>
          </a:xfrm>
          <a:custGeom>
            <a:avLst/>
            <a:gdLst/>
            <a:ahLst/>
            <a:cxnLst/>
            <a:rect l="l" t="t" r="r" b="b"/>
            <a:pathLst>
              <a:path w="1842839" h="2221070">
                <a:moveTo>
                  <a:pt x="1444238" y="2220782"/>
                </a:moveTo>
                <a:cubicBezTo>
                  <a:pt x="1375707" y="2218139"/>
                  <a:pt x="1307876" y="2197345"/>
                  <a:pt x="1248227" y="2158690"/>
                </a:cubicBezTo>
                <a:cubicBezTo>
                  <a:pt x="1188579" y="2120035"/>
                  <a:pt x="1141891" y="2066615"/>
                  <a:pt x="1111484" y="2005141"/>
                </a:cubicBezTo>
                <a:lnTo>
                  <a:pt x="1091568" y="1946324"/>
                </a:lnTo>
                <a:lnTo>
                  <a:pt x="1090906" y="1933225"/>
                </a:lnTo>
                <a:lnTo>
                  <a:pt x="1073259" y="1817593"/>
                </a:lnTo>
                <a:lnTo>
                  <a:pt x="1072426" y="1803275"/>
                </a:lnTo>
                <a:lnTo>
                  <a:pt x="1071057" y="1803169"/>
                </a:lnTo>
                <a:lnTo>
                  <a:pt x="1070577" y="1800023"/>
                </a:lnTo>
                <a:cubicBezTo>
                  <a:pt x="963354" y="1276037"/>
                  <a:pt x="550645" y="863328"/>
                  <a:pt x="26659" y="756105"/>
                </a:cubicBezTo>
                <a:lnTo>
                  <a:pt x="0" y="752036"/>
                </a:lnTo>
                <a:lnTo>
                  <a:pt x="71201" y="704136"/>
                </a:lnTo>
                <a:cubicBezTo>
                  <a:pt x="102862" y="676075"/>
                  <a:pt x="131033" y="643541"/>
                  <a:pt x="154686" y="607042"/>
                </a:cubicBezTo>
                <a:cubicBezTo>
                  <a:pt x="249299" y="461045"/>
                  <a:pt x="256475" y="274992"/>
                  <a:pt x="173389" y="122141"/>
                </a:cubicBezTo>
                <a:cubicBezTo>
                  <a:pt x="152618" y="83928"/>
                  <a:pt x="127037" y="49321"/>
                  <a:pt x="97631" y="18905"/>
                </a:cubicBezTo>
                <a:lnTo>
                  <a:pt x="73735" y="0"/>
                </a:lnTo>
                <a:lnTo>
                  <a:pt x="178899" y="16050"/>
                </a:lnTo>
                <a:cubicBezTo>
                  <a:pt x="1066187" y="197616"/>
                  <a:pt x="1749341" y="939580"/>
                  <a:pt x="1842408" y="1855990"/>
                </a:cubicBezTo>
                <a:lnTo>
                  <a:pt x="1842839" y="1864516"/>
                </a:lnTo>
                <a:lnTo>
                  <a:pt x="1833003" y="1936832"/>
                </a:lnTo>
                <a:cubicBezTo>
                  <a:pt x="1805279" y="2036766"/>
                  <a:pt x="1738122" y="2123054"/>
                  <a:pt x="1644449" y="2173972"/>
                </a:cubicBezTo>
                <a:cubicBezTo>
                  <a:pt x="1582001" y="2207918"/>
                  <a:pt x="1512769" y="2223425"/>
                  <a:pt x="1444238" y="2220782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 rot="10800000">
            <a:off x="5763184" y="3805353"/>
            <a:ext cx="2116163" cy="1629404"/>
          </a:xfrm>
          <a:custGeom>
            <a:avLst/>
            <a:gdLst/>
            <a:ahLst/>
            <a:cxnLst/>
            <a:rect l="l" t="t" r="r" b="b"/>
            <a:pathLst>
              <a:path w="2470467" h="1902212">
                <a:moveTo>
                  <a:pt x="756723" y="1902212"/>
                </a:moveTo>
                <a:lnTo>
                  <a:pt x="717833" y="1844405"/>
                </a:lnTo>
                <a:cubicBezTo>
                  <a:pt x="689772" y="1812744"/>
                  <a:pt x="657238" y="1784573"/>
                  <a:pt x="620739" y="1760920"/>
                </a:cubicBezTo>
                <a:cubicBezTo>
                  <a:pt x="474742" y="1666307"/>
                  <a:pt x="288689" y="1659131"/>
                  <a:pt x="135838" y="1742217"/>
                </a:cubicBezTo>
                <a:cubicBezTo>
                  <a:pt x="97625" y="1762989"/>
                  <a:pt x="63018" y="1788570"/>
                  <a:pt x="32602" y="1817975"/>
                </a:cubicBezTo>
                <a:lnTo>
                  <a:pt x="0" y="1859186"/>
                </a:lnTo>
                <a:lnTo>
                  <a:pt x="28211" y="1674335"/>
                </a:lnTo>
                <a:cubicBezTo>
                  <a:pt x="223744" y="718794"/>
                  <a:pt x="1069206" y="0"/>
                  <a:pt x="2082551" y="0"/>
                </a:cubicBezTo>
                <a:lnTo>
                  <a:pt x="2195875" y="5722"/>
                </a:lnTo>
                <a:lnTo>
                  <a:pt x="2280810" y="41993"/>
                </a:lnTo>
                <a:cubicBezTo>
                  <a:pt x="2339758" y="77045"/>
                  <a:pt x="2389424" y="127708"/>
                  <a:pt x="2423369" y="190157"/>
                </a:cubicBezTo>
                <a:cubicBezTo>
                  <a:pt x="2491261" y="315054"/>
                  <a:pt x="2485397" y="467082"/>
                  <a:pt x="2408087" y="586379"/>
                </a:cubicBezTo>
                <a:cubicBezTo>
                  <a:pt x="2350105" y="675852"/>
                  <a:pt x="2258900" y="736163"/>
                  <a:pt x="2157128" y="756107"/>
                </a:cubicBezTo>
                <a:lnTo>
                  <a:pt x="2128954" y="757745"/>
                </a:lnTo>
                <a:lnTo>
                  <a:pt x="2082551" y="755402"/>
                </a:lnTo>
                <a:cubicBezTo>
                  <a:pt x="1434253" y="755402"/>
                  <a:pt x="893360" y="1215258"/>
                  <a:pt x="768266" y="1826575"/>
                </a:cubicBezTo>
                <a:lnTo>
                  <a:pt x="756723" y="1902212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5800302" y="3319093"/>
            <a:ext cx="591396" cy="609685"/>
          </a:xfrm>
          <a:custGeom>
            <a:avLst/>
            <a:gdLst/>
            <a:ahLst/>
            <a:cxnLst/>
            <a:rect l="l" t="t" r="r" b="b"/>
            <a:pathLst>
              <a:path w="5499" h="5677">
                <a:moveTo>
                  <a:pt x="5363" y="3960"/>
                </a:moveTo>
                <a:cubicBezTo>
                  <a:pt x="5342" y="3930"/>
                  <a:pt x="5320" y="3902"/>
                  <a:pt x="5296" y="3876"/>
                </a:cubicBezTo>
                <a:cubicBezTo>
                  <a:pt x="5326" y="3832"/>
                  <a:pt x="5349" y="3782"/>
                  <a:pt x="5363" y="3729"/>
                </a:cubicBezTo>
                <a:cubicBezTo>
                  <a:pt x="5405" y="3570"/>
                  <a:pt x="5363" y="3403"/>
                  <a:pt x="5251" y="3283"/>
                </a:cubicBezTo>
                <a:cubicBezTo>
                  <a:pt x="5178" y="3205"/>
                  <a:pt x="5093" y="3143"/>
                  <a:pt x="4995" y="3096"/>
                </a:cubicBezTo>
                <a:cubicBezTo>
                  <a:pt x="4980" y="2847"/>
                  <a:pt x="4773" y="2649"/>
                  <a:pt x="4520" y="2649"/>
                </a:cubicBezTo>
                <a:cubicBezTo>
                  <a:pt x="4272" y="2649"/>
                  <a:pt x="4067" y="2841"/>
                  <a:pt x="4047" y="3085"/>
                </a:cubicBezTo>
                <a:cubicBezTo>
                  <a:pt x="4017" y="3098"/>
                  <a:pt x="3989" y="3112"/>
                  <a:pt x="3962" y="3128"/>
                </a:cubicBezTo>
                <a:lnTo>
                  <a:pt x="3673" y="3040"/>
                </a:lnTo>
                <a:cubicBezTo>
                  <a:pt x="3673" y="3040"/>
                  <a:pt x="3673" y="3041"/>
                  <a:pt x="3673" y="3041"/>
                </a:cubicBezTo>
                <a:lnTo>
                  <a:pt x="3133" y="2877"/>
                </a:lnTo>
                <a:cubicBezTo>
                  <a:pt x="3116" y="2825"/>
                  <a:pt x="3077" y="2779"/>
                  <a:pt x="3023" y="2741"/>
                </a:cubicBezTo>
                <a:cubicBezTo>
                  <a:pt x="3083" y="2675"/>
                  <a:pt x="3133" y="2608"/>
                  <a:pt x="3171" y="2553"/>
                </a:cubicBezTo>
                <a:cubicBezTo>
                  <a:pt x="3261" y="2421"/>
                  <a:pt x="3337" y="2280"/>
                  <a:pt x="3389" y="2144"/>
                </a:cubicBezTo>
                <a:cubicBezTo>
                  <a:pt x="3414" y="2087"/>
                  <a:pt x="3436" y="2029"/>
                  <a:pt x="3454" y="1972"/>
                </a:cubicBezTo>
                <a:cubicBezTo>
                  <a:pt x="3524" y="1914"/>
                  <a:pt x="3565" y="1826"/>
                  <a:pt x="3565" y="1734"/>
                </a:cubicBezTo>
                <a:lnTo>
                  <a:pt x="3565" y="1508"/>
                </a:lnTo>
                <a:cubicBezTo>
                  <a:pt x="3565" y="1443"/>
                  <a:pt x="3545" y="1380"/>
                  <a:pt x="3507" y="1328"/>
                </a:cubicBezTo>
                <a:lnTo>
                  <a:pt x="3507" y="1010"/>
                </a:lnTo>
                <a:cubicBezTo>
                  <a:pt x="3507" y="453"/>
                  <a:pt x="3054" y="0"/>
                  <a:pt x="2497" y="0"/>
                </a:cubicBezTo>
                <a:lnTo>
                  <a:pt x="2170" y="0"/>
                </a:lnTo>
                <a:cubicBezTo>
                  <a:pt x="1613" y="0"/>
                  <a:pt x="1160" y="453"/>
                  <a:pt x="1160" y="1010"/>
                </a:cubicBezTo>
                <a:lnTo>
                  <a:pt x="1160" y="1328"/>
                </a:lnTo>
                <a:cubicBezTo>
                  <a:pt x="1122" y="1380"/>
                  <a:pt x="1102" y="1444"/>
                  <a:pt x="1102" y="1508"/>
                </a:cubicBezTo>
                <a:lnTo>
                  <a:pt x="1102" y="1734"/>
                </a:lnTo>
                <a:cubicBezTo>
                  <a:pt x="1102" y="1826"/>
                  <a:pt x="1143" y="1914"/>
                  <a:pt x="1213" y="1972"/>
                </a:cubicBezTo>
                <a:cubicBezTo>
                  <a:pt x="1231" y="2029"/>
                  <a:pt x="1253" y="2087"/>
                  <a:pt x="1279" y="2144"/>
                </a:cubicBezTo>
                <a:cubicBezTo>
                  <a:pt x="1331" y="2280"/>
                  <a:pt x="1406" y="2421"/>
                  <a:pt x="1496" y="2552"/>
                </a:cubicBezTo>
                <a:cubicBezTo>
                  <a:pt x="1534" y="2608"/>
                  <a:pt x="1584" y="2674"/>
                  <a:pt x="1644" y="2740"/>
                </a:cubicBezTo>
                <a:cubicBezTo>
                  <a:pt x="1590" y="2779"/>
                  <a:pt x="1551" y="2825"/>
                  <a:pt x="1534" y="2877"/>
                </a:cubicBezTo>
                <a:lnTo>
                  <a:pt x="814" y="3095"/>
                </a:lnTo>
                <a:cubicBezTo>
                  <a:pt x="307" y="3241"/>
                  <a:pt x="3" y="5432"/>
                  <a:pt x="3" y="5432"/>
                </a:cubicBezTo>
                <a:lnTo>
                  <a:pt x="3" y="5432"/>
                </a:lnTo>
                <a:cubicBezTo>
                  <a:pt x="1" y="5442"/>
                  <a:pt x="0" y="5452"/>
                  <a:pt x="0" y="5462"/>
                </a:cubicBezTo>
                <a:cubicBezTo>
                  <a:pt x="0" y="5567"/>
                  <a:pt x="86" y="5653"/>
                  <a:pt x="191" y="5653"/>
                </a:cubicBezTo>
                <a:lnTo>
                  <a:pt x="4372" y="5653"/>
                </a:lnTo>
                <a:cubicBezTo>
                  <a:pt x="4418" y="5668"/>
                  <a:pt x="4468" y="5677"/>
                  <a:pt x="4520" y="5677"/>
                </a:cubicBezTo>
                <a:cubicBezTo>
                  <a:pt x="4783" y="5677"/>
                  <a:pt x="4996" y="5464"/>
                  <a:pt x="4996" y="5202"/>
                </a:cubicBezTo>
                <a:lnTo>
                  <a:pt x="4996" y="5161"/>
                </a:lnTo>
                <a:cubicBezTo>
                  <a:pt x="5091" y="5119"/>
                  <a:pt x="5175" y="5063"/>
                  <a:pt x="5248" y="4994"/>
                </a:cubicBezTo>
                <a:cubicBezTo>
                  <a:pt x="5412" y="4838"/>
                  <a:pt x="5499" y="4635"/>
                  <a:pt x="5499" y="4406"/>
                </a:cubicBezTo>
                <a:cubicBezTo>
                  <a:pt x="5499" y="4239"/>
                  <a:pt x="5453" y="4089"/>
                  <a:pt x="5363" y="3960"/>
                </a:cubicBezTo>
                <a:close/>
                <a:moveTo>
                  <a:pt x="2140" y="3663"/>
                </a:moveTo>
                <a:cubicBezTo>
                  <a:pt x="2137" y="3689"/>
                  <a:pt x="2118" y="3711"/>
                  <a:pt x="2093" y="3718"/>
                </a:cubicBezTo>
                <a:cubicBezTo>
                  <a:pt x="2087" y="3720"/>
                  <a:pt x="2081" y="3721"/>
                  <a:pt x="2075" y="3721"/>
                </a:cubicBezTo>
                <a:cubicBezTo>
                  <a:pt x="2055" y="3721"/>
                  <a:pt x="2036" y="3711"/>
                  <a:pt x="2024" y="3695"/>
                </a:cubicBezTo>
                <a:lnTo>
                  <a:pt x="1842" y="3454"/>
                </a:lnTo>
                <a:cubicBezTo>
                  <a:pt x="1833" y="3442"/>
                  <a:pt x="1829" y="3429"/>
                  <a:pt x="1829" y="3415"/>
                </a:cubicBezTo>
                <a:lnTo>
                  <a:pt x="1829" y="3028"/>
                </a:lnTo>
                <a:cubicBezTo>
                  <a:pt x="1829" y="3005"/>
                  <a:pt x="1841" y="2984"/>
                  <a:pt x="1860" y="2972"/>
                </a:cubicBezTo>
                <a:cubicBezTo>
                  <a:pt x="1880" y="2961"/>
                  <a:pt x="1904" y="2960"/>
                  <a:pt x="1924" y="2970"/>
                </a:cubicBezTo>
                <a:cubicBezTo>
                  <a:pt x="1977" y="2998"/>
                  <a:pt x="2030" y="3017"/>
                  <a:pt x="2081" y="3026"/>
                </a:cubicBezTo>
                <a:cubicBezTo>
                  <a:pt x="2112" y="3032"/>
                  <a:pt x="2135" y="3059"/>
                  <a:pt x="2135" y="3090"/>
                </a:cubicBezTo>
                <a:lnTo>
                  <a:pt x="2135" y="3252"/>
                </a:lnTo>
                <a:cubicBezTo>
                  <a:pt x="2144" y="3255"/>
                  <a:pt x="2152" y="3261"/>
                  <a:pt x="2159" y="3268"/>
                </a:cubicBezTo>
                <a:cubicBezTo>
                  <a:pt x="2171" y="3282"/>
                  <a:pt x="2177" y="3300"/>
                  <a:pt x="2175" y="3318"/>
                </a:cubicBezTo>
                <a:lnTo>
                  <a:pt x="2140" y="3663"/>
                </a:lnTo>
                <a:close/>
                <a:moveTo>
                  <a:pt x="2825" y="3454"/>
                </a:moveTo>
                <a:lnTo>
                  <a:pt x="2644" y="3695"/>
                </a:lnTo>
                <a:cubicBezTo>
                  <a:pt x="2631" y="3711"/>
                  <a:pt x="2612" y="3721"/>
                  <a:pt x="2592" y="3721"/>
                </a:cubicBezTo>
                <a:cubicBezTo>
                  <a:pt x="2586" y="3721"/>
                  <a:pt x="2580" y="3720"/>
                  <a:pt x="2574" y="3718"/>
                </a:cubicBezTo>
                <a:cubicBezTo>
                  <a:pt x="2549" y="3711"/>
                  <a:pt x="2530" y="3689"/>
                  <a:pt x="2527" y="3662"/>
                </a:cubicBezTo>
                <a:lnTo>
                  <a:pt x="2492" y="3318"/>
                </a:lnTo>
                <a:cubicBezTo>
                  <a:pt x="2490" y="3300"/>
                  <a:pt x="2496" y="3282"/>
                  <a:pt x="2508" y="3268"/>
                </a:cubicBezTo>
                <a:cubicBezTo>
                  <a:pt x="2515" y="3261"/>
                  <a:pt x="2523" y="3255"/>
                  <a:pt x="2533" y="3252"/>
                </a:cubicBezTo>
                <a:lnTo>
                  <a:pt x="2533" y="3090"/>
                </a:lnTo>
                <a:cubicBezTo>
                  <a:pt x="2533" y="3059"/>
                  <a:pt x="2555" y="3032"/>
                  <a:pt x="2586" y="3026"/>
                </a:cubicBezTo>
                <a:cubicBezTo>
                  <a:pt x="2637" y="3017"/>
                  <a:pt x="2690" y="2998"/>
                  <a:pt x="2743" y="2971"/>
                </a:cubicBezTo>
                <a:cubicBezTo>
                  <a:pt x="2763" y="2960"/>
                  <a:pt x="2787" y="2961"/>
                  <a:pt x="2807" y="2972"/>
                </a:cubicBezTo>
                <a:cubicBezTo>
                  <a:pt x="2826" y="2984"/>
                  <a:pt x="2838" y="3005"/>
                  <a:pt x="2838" y="3028"/>
                </a:cubicBezTo>
                <a:lnTo>
                  <a:pt x="2838" y="3415"/>
                </a:lnTo>
                <a:cubicBezTo>
                  <a:pt x="2838" y="3429"/>
                  <a:pt x="2834" y="3442"/>
                  <a:pt x="2825" y="3454"/>
                </a:cubicBezTo>
                <a:close/>
                <a:moveTo>
                  <a:pt x="2508" y="2684"/>
                </a:moveTo>
                <a:lnTo>
                  <a:pt x="2160" y="2684"/>
                </a:lnTo>
                <a:cubicBezTo>
                  <a:pt x="2083" y="2684"/>
                  <a:pt x="1934" y="2581"/>
                  <a:pt x="1776" y="2351"/>
                </a:cubicBezTo>
                <a:cubicBezTo>
                  <a:pt x="1651" y="2170"/>
                  <a:pt x="1564" y="1970"/>
                  <a:pt x="1544" y="1815"/>
                </a:cubicBezTo>
                <a:lnTo>
                  <a:pt x="1540" y="1788"/>
                </a:lnTo>
                <a:lnTo>
                  <a:pt x="1477" y="1747"/>
                </a:lnTo>
                <a:cubicBezTo>
                  <a:pt x="1459" y="1735"/>
                  <a:pt x="1448" y="1715"/>
                  <a:pt x="1448" y="1693"/>
                </a:cubicBezTo>
                <a:lnTo>
                  <a:pt x="1448" y="1586"/>
                </a:lnTo>
                <a:cubicBezTo>
                  <a:pt x="1448" y="1551"/>
                  <a:pt x="1477" y="1522"/>
                  <a:pt x="1513" y="1522"/>
                </a:cubicBezTo>
                <a:lnTo>
                  <a:pt x="1539" y="1522"/>
                </a:lnTo>
                <a:lnTo>
                  <a:pt x="1539" y="1406"/>
                </a:lnTo>
                <a:cubicBezTo>
                  <a:pt x="1539" y="1382"/>
                  <a:pt x="1553" y="1359"/>
                  <a:pt x="1575" y="1348"/>
                </a:cubicBezTo>
                <a:cubicBezTo>
                  <a:pt x="1664" y="1304"/>
                  <a:pt x="1841" y="1229"/>
                  <a:pt x="2024" y="1229"/>
                </a:cubicBezTo>
                <a:cubicBezTo>
                  <a:pt x="2170" y="1229"/>
                  <a:pt x="2292" y="1278"/>
                  <a:pt x="2384" y="1374"/>
                </a:cubicBezTo>
                <a:cubicBezTo>
                  <a:pt x="2500" y="1493"/>
                  <a:pt x="2633" y="1554"/>
                  <a:pt x="2781" y="1554"/>
                </a:cubicBezTo>
                <a:cubicBezTo>
                  <a:pt x="2864" y="1554"/>
                  <a:pt x="2950" y="1534"/>
                  <a:pt x="3037" y="1495"/>
                </a:cubicBezTo>
                <a:cubicBezTo>
                  <a:pt x="3057" y="1486"/>
                  <a:pt x="3080" y="1488"/>
                  <a:pt x="3098" y="1500"/>
                </a:cubicBezTo>
                <a:cubicBezTo>
                  <a:pt x="3107" y="1506"/>
                  <a:pt x="3114" y="1513"/>
                  <a:pt x="3119" y="1522"/>
                </a:cubicBezTo>
                <a:lnTo>
                  <a:pt x="3154" y="1522"/>
                </a:lnTo>
                <a:cubicBezTo>
                  <a:pt x="3190" y="1522"/>
                  <a:pt x="3219" y="1551"/>
                  <a:pt x="3219" y="1586"/>
                </a:cubicBezTo>
                <a:lnTo>
                  <a:pt x="3219" y="1693"/>
                </a:lnTo>
                <a:cubicBezTo>
                  <a:pt x="3219" y="1715"/>
                  <a:pt x="3208" y="1735"/>
                  <a:pt x="3190" y="1747"/>
                </a:cubicBezTo>
                <a:lnTo>
                  <a:pt x="3127" y="1788"/>
                </a:lnTo>
                <a:lnTo>
                  <a:pt x="3123" y="1815"/>
                </a:lnTo>
                <a:cubicBezTo>
                  <a:pt x="3103" y="1970"/>
                  <a:pt x="3016" y="2170"/>
                  <a:pt x="2891" y="2351"/>
                </a:cubicBezTo>
                <a:cubicBezTo>
                  <a:pt x="2733" y="2581"/>
                  <a:pt x="2584" y="2684"/>
                  <a:pt x="2508" y="2684"/>
                </a:cubicBezTo>
                <a:close/>
                <a:moveTo>
                  <a:pt x="5035" y="4769"/>
                </a:moveTo>
                <a:cubicBezTo>
                  <a:pt x="4947" y="4852"/>
                  <a:pt x="4830" y="4908"/>
                  <a:pt x="4686" y="4935"/>
                </a:cubicBezTo>
                <a:lnTo>
                  <a:pt x="4686" y="5202"/>
                </a:lnTo>
                <a:cubicBezTo>
                  <a:pt x="4686" y="5293"/>
                  <a:pt x="4612" y="5367"/>
                  <a:pt x="4520" y="5367"/>
                </a:cubicBezTo>
                <a:cubicBezTo>
                  <a:pt x="4429" y="5367"/>
                  <a:pt x="4355" y="5293"/>
                  <a:pt x="4355" y="5202"/>
                </a:cubicBezTo>
                <a:lnTo>
                  <a:pt x="4355" y="4944"/>
                </a:lnTo>
                <a:cubicBezTo>
                  <a:pt x="4144" y="4915"/>
                  <a:pt x="3987" y="4824"/>
                  <a:pt x="3887" y="4672"/>
                </a:cubicBezTo>
                <a:cubicBezTo>
                  <a:pt x="3857" y="4626"/>
                  <a:pt x="3851" y="4567"/>
                  <a:pt x="3873" y="4516"/>
                </a:cubicBezTo>
                <a:cubicBezTo>
                  <a:pt x="3895" y="4465"/>
                  <a:pt x="3941" y="4428"/>
                  <a:pt x="3995" y="4418"/>
                </a:cubicBezTo>
                <a:lnTo>
                  <a:pt x="4121" y="4395"/>
                </a:lnTo>
                <a:cubicBezTo>
                  <a:pt x="4185" y="4383"/>
                  <a:pt x="4250" y="4410"/>
                  <a:pt x="4287" y="4463"/>
                </a:cubicBezTo>
                <a:cubicBezTo>
                  <a:pt x="4334" y="4531"/>
                  <a:pt x="4414" y="4565"/>
                  <a:pt x="4524" y="4565"/>
                </a:cubicBezTo>
                <a:cubicBezTo>
                  <a:pt x="4693" y="4565"/>
                  <a:pt x="4693" y="4498"/>
                  <a:pt x="4693" y="4475"/>
                </a:cubicBezTo>
                <a:cubicBezTo>
                  <a:pt x="4693" y="4443"/>
                  <a:pt x="4681" y="4420"/>
                  <a:pt x="4656" y="4402"/>
                </a:cubicBezTo>
                <a:cubicBezTo>
                  <a:pt x="4629" y="4384"/>
                  <a:pt x="4581" y="4367"/>
                  <a:pt x="4512" y="4353"/>
                </a:cubicBezTo>
                <a:cubicBezTo>
                  <a:pt x="4237" y="4297"/>
                  <a:pt x="4059" y="4224"/>
                  <a:pt x="3985" y="4136"/>
                </a:cubicBezTo>
                <a:cubicBezTo>
                  <a:pt x="3909" y="4048"/>
                  <a:pt x="3872" y="3948"/>
                  <a:pt x="3872" y="3833"/>
                </a:cubicBezTo>
                <a:cubicBezTo>
                  <a:pt x="3872" y="3707"/>
                  <a:pt x="3914" y="3595"/>
                  <a:pt x="3995" y="3497"/>
                </a:cubicBezTo>
                <a:cubicBezTo>
                  <a:pt x="4074" y="3403"/>
                  <a:pt x="4195" y="3342"/>
                  <a:pt x="4355" y="3316"/>
                </a:cubicBezTo>
                <a:lnTo>
                  <a:pt x="4355" y="3124"/>
                </a:lnTo>
                <a:cubicBezTo>
                  <a:pt x="4355" y="3033"/>
                  <a:pt x="4429" y="2959"/>
                  <a:pt x="4520" y="2959"/>
                </a:cubicBezTo>
                <a:cubicBezTo>
                  <a:pt x="4612" y="2959"/>
                  <a:pt x="4686" y="3033"/>
                  <a:pt x="4686" y="3124"/>
                </a:cubicBezTo>
                <a:lnTo>
                  <a:pt x="4686" y="3319"/>
                </a:lnTo>
                <a:cubicBezTo>
                  <a:pt x="4829" y="3346"/>
                  <a:pt x="4940" y="3404"/>
                  <a:pt x="5024" y="3494"/>
                </a:cubicBezTo>
                <a:cubicBezTo>
                  <a:pt x="5063" y="3536"/>
                  <a:pt x="5078" y="3595"/>
                  <a:pt x="5064" y="3650"/>
                </a:cubicBezTo>
                <a:cubicBezTo>
                  <a:pt x="5049" y="3705"/>
                  <a:pt x="5007" y="3749"/>
                  <a:pt x="4953" y="3766"/>
                </a:cubicBezTo>
                <a:lnTo>
                  <a:pt x="4867" y="3793"/>
                </a:lnTo>
                <a:cubicBezTo>
                  <a:pt x="4805" y="3812"/>
                  <a:pt x="4737" y="3793"/>
                  <a:pt x="4693" y="3744"/>
                </a:cubicBezTo>
                <a:cubicBezTo>
                  <a:pt x="4650" y="3696"/>
                  <a:pt x="4586" y="3671"/>
                  <a:pt x="4503" y="3671"/>
                </a:cubicBezTo>
                <a:cubicBezTo>
                  <a:pt x="4436" y="3671"/>
                  <a:pt x="4356" y="3687"/>
                  <a:pt x="4356" y="3763"/>
                </a:cubicBezTo>
                <a:cubicBezTo>
                  <a:pt x="4356" y="3785"/>
                  <a:pt x="4364" y="3804"/>
                  <a:pt x="4379" y="3819"/>
                </a:cubicBezTo>
                <a:cubicBezTo>
                  <a:pt x="4396" y="3835"/>
                  <a:pt x="4444" y="3852"/>
                  <a:pt x="4521" y="3870"/>
                </a:cubicBezTo>
                <a:cubicBezTo>
                  <a:pt x="4701" y="3909"/>
                  <a:pt x="4832" y="3945"/>
                  <a:pt x="4910" y="3976"/>
                </a:cubicBezTo>
                <a:cubicBezTo>
                  <a:pt x="4990" y="4008"/>
                  <a:pt x="5057" y="4062"/>
                  <a:pt x="5110" y="4137"/>
                </a:cubicBezTo>
                <a:cubicBezTo>
                  <a:pt x="5162" y="4213"/>
                  <a:pt x="5189" y="4303"/>
                  <a:pt x="5189" y="4406"/>
                </a:cubicBezTo>
                <a:cubicBezTo>
                  <a:pt x="5189" y="4550"/>
                  <a:pt x="5137" y="4672"/>
                  <a:pt x="5035" y="476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5763114" y="1960149"/>
            <a:ext cx="611964" cy="4363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7279710" y="3405765"/>
            <a:ext cx="611964" cy="4363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4335917" y="3587183"/>
            <a:ext cx="611964" cy="4363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69924" y="1778348"/>
            <a:ext cx="3353436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EV Market Domination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9924" y="2322642"/>
            <a:ext cx="3353436" cy="2316019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China dominates 60% of global EV sales; BYD leads. China's EV market leadership, propelled by BYD's dominance, provides a strong foundation for BYD's growth and contrasts with Tesla's challenges in saturated markets.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68640" y="1778348"/>
            <a:ext cx="3351848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Regulatory Tailwinds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68640" y="2322642"/>
            <a:ext cx="3351848" cy="2316019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China’s subsidies, tax breaks, and infrastructure investments. Government incentives and investment are major drivers of BYD's success.</a:t>
            </a:r>
          </a:p>
        </p:txBody>
      </p:sp>
      <p:sp>
        <p:nvSpPr>
          <p:cNvPr id="15" name="AutoShape 15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Global EV Market Trends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24113" y="3540958"/>
            <a:ext cx="5439692" cy="2719846"/>
          </a:xfrm>
          <a:custGeom>
            <a:avLst/>
            <a:gdLst/>
            <a:ahLst/>
            <a:cxnLst/>
            <a:rect l="l" t="t" r="r" b="b"/>
            <a:pathLst>
              <a:path w="6237448" h="3118724">
                <a:moveTo>
                  <a:pt x="0" y="3118724"/>
                </a:moveTo>
                <a:cubicBezTo>
                  <a:pt x="0" y="1396300"/>
                  <a:pt x="1396300" y="0"/>
                  <a:pt x="3118724" y="0"/>
                </a:cubicBezTo>
                <a:cubicBezTo>
                  <a:pt x="4841148" y="0"/>
                  <a:pt x="6237448" y="1396300"/>
                  <a:pt x="6237448" y="3118724"/>
                </a:cubicBezTo>
              </a:path>
            </a:pathLst>
          </a:custGeom>
          <a:solidFill>
            <a:srgbClr val="FFFFFF">
              <a:lumMod val="95000"/>
            </a:srgb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3792574" y="3837128"/>
            <a:ext cx="4606853" cy="2303427"/>
          </a:xfrm>
          <a:custGeom>
            <a:avLst/>
            <a:gdLst/>
            <a:ahLst/>
            <a:cxnLst/>
            <a:rect l="l" t="t" r="r" b="b"/>
            <a:pathLst>
              <a:path w="6237448" h="3118724">
                <a:moveTo>
                  <a:pt x="0" y="3118724"/>
                </a:moveTo>
                <a:cubicBezTo>
                  <a:pt x="0" y="1396300"/>
                  <a:pt x="1396300" y="0"/>
                  <a:pt x="3118724" y="0"/>
                </a:cubicBezTo>
                <a:cubicBezTo>
                  <a:pt x="4841148" y="0"/>
                  <a:pt x="6237448" y="1396300"/>
                  <a:pt x="6237448" y="3118724"/>
                </a:cubicBezTo>
              </a:path>
            </a:pathLst>
          </a:custGeom>
          <a:solidFill>
            <a:srgbClr val="FFFFFF">
              <a:alpha val="65000"/>
              <a:lumMod val="8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567895" y="5572034"/>
            <a:ext cx="1152128" cy="40339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4541778" y="4538372"/>
            <a:ext cx="3204363" cy="1602183"/>
          </a:xfrm>
          <a:custGeom>
            <a:avLst/>
            <a:gdLst/>
            <a:ahLst/>
            <a:cxnLst/>
            <a:rect l="l" t="t" r="r" b="b"/>
            <a:pathLst>
              <a:path w="6237448" h="3118724">
                <a:moveTo>
                  <a:pt x="0" y="3118724"/>
                </a:moveTo>
                <a:cubicBezTo>
                  <a:pt x="0" y="1396300"/>
                  <a:pt x="1396300" y="0"/>
                  <a:pt x="3118724" y="0"/>
                </a:cubicBezTo>
                <a:cubicBezTo>
                  <a:pt x="4841148" y="0"/>
                  <a:pt x="6237448" y="1396300"/>
                  <a:pt x="6237448" y="3118724"/>
                </a:cubicBezTo>
              </a:path>
            </a:pathLst>
          </a:custGeom>
          <a:solidFill>
            <a:srgbClr val="FFFFFF">
              <a:alpha val="65000"/>
              <a:lumMod val="7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3477192" y="2255425"/>
            <a:ext cx="5307671" cy="8153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1400" b="0" i="0" u="none" baseline="0">
                <a:solidFill>
                  <a:schemeClr val="dk1">
                    <a:lumMod val="100000"/>
                  </a:schemeClr>
                </a:solidFill>
                <a:latin typeface="微软雅黑"/>
                <a:ea typeface="微软雅黑"/>
              </a:rPr>
              <a:t>2023 sales: 3M+ EVs (+70% YoY); Export expansion. BYD's recent sales surge and expansion into new markets demonstrate its growing global presence and ability to capture market share.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492062" y="1755690"/>
            <a:ext cx="5292801" cy="338554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Growth Drivers</a:t>
            </a:r>
          </a:p>
        </p:txBody>
      </p:sp>
      <p:sp>
        <p:nvSpPr>
          <p:cNvPr id="8" name="AutoShape 8"/>
          <p:cNvSpPr/>
          <p:nvPr/>
        </p:nvSpPr>
        <p:spPr>
          <a:xfrm>
            <a:off x="3616960" y="4509931"/>
            <a:ext cx="822599" cy="822598"/>
          </a:xfrm>
          <a:prstGeom prst="ellipse">
            <a:avLst/>
          </a:prstGeom>
          <a:solidFill>
            <a:schemeClr val="accent2"/>
          </a:solidFill>
          <a:ln w="5715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3821397" y="4676757"/>
            <a:ext cx="413724" cy="488946"/>
          </a:xfrm>
          <a:custGeom>
            <a:avLst/>
            <a:gdLst/>
            <a:ahLst/>
            <a:cxnLst/>
            <a:rect l="l" t="t" r="r" b="b"/>
            <a:pathLst>
              <a:path w="250" h="296">
                <a:moveTo>
                  <a:pt x="250" y="250"/>
                </a:moveTo>
                <a:cubicBezTo>
                  <a:pt x="250" y="282"/>
                  <a:pt x="185" y="296"/>
                  <a:pt x="125" y="296"/>
                </a:cubicBezTo>
                <a:cubicBezTo>
                  <a:pt x="65" y="296"/>
                  <a:pt x="0" y="282"/>
                  <a:pt x="0" y="250"/>
                </a:cubicBezTo>
                <a:cubicBezTo>
                  <a:pt x="0" y="226"/>
                  <a:pt x="36" y="215"/>
                  <a:pt x="66" y="210"/>
                </a:cubicBezTo>
                <a:cubicBezTo>
                  <a:pt x="72" y="209"/>
                  <a:pt x="78" y="213"/>
                  <a:pt x="79" y="219"/>
                </a:cubicBezTo>
                <a:cubicBezTo>
                  <a:pt x="80" y="225"/>
                  <a:pt x="76" y="231"/>
                  <a:pt x="70" y="232"/>
                </a:cubicBezTo>
                <a:cubicBezTo>
                  <a:pt x="33" y="239"/>
                  <a:pt x="23" y="249"/>
                  <a:pt x="23" y="251"/>
                </a:cubicBezTo>
                <a:cubicBezTo>
                  <a:pt x="24" y="257"/>
                  <a:pt x="58" y="273"/>
                  <a:pt x="125" y="273"/>
                </a:cubicBezTo>
                <a:cubicBezTo>
                  <a:pt x="192" y="273"/>
                  <a:pt x="226" y="257"/>
                  <a:pt x="228" y="250"/>
                </a:cubicBezTo>
                <a:cubicBezTo>
                  <a:pt x="227" y="249"/>
                  <a:pt x="217" y="238"/>
                  <a:pt x="180" y="232"/>
                </a:cubicBezTo>
                <a:cubicBezTo>
                  <a:pt x="174" y="231"/>
                  <a:pt x="170" y="225"/>
                  <a:pt x="171" y="219"/>
                </a:cubicBezTo>
                <a:cubicBezTo>
                  <a:pt x="172" y="213"/>
                  <a:pt x="178" y="209"/>
                  <a:pt x="184" y="210"/>
                </a:cubicBezTo>
                <a:cubicBezTo>
                  <a:pt x="214" y="215"/>
                  <a:pt x="250" y="226"/>
                  <a:pt x="250" y="250"/>
                </a:cubicBezTo>
                <a:close/>
                <a:moveTo>
                  <a:pt x="80" y="182"/>
                </a:moveTo>
                <a:cubicBezTo>
                  <a:pt x="91" y="182"/>
                  <a:pt x="91" y="182"/>
                  <a:pt x="91" y="182"/>
                </a:cubicBezTo>
                <a:cubicBezTo>
                  <a:pt x="91" y="250"/>
                  <a:pt x="91" y="250"/>
                  <a:pt x="91" y="250"/>
                </a:cubicBezTo>
                <a:cubicBezTo>
                  <a:pt x="91" y="257"/>
                  <a:pt x="96" y="262"/>
                  <a:pt x="102" y="262"/>
                </a:cubicBezTo>
                <a:cubicBezTo>
                  <a:pt x="148" y="262"/>
                  <a:pt x="148" y="262"/>
                  <a:pt x="148" y="262"/>
                </a:cubicBezTo>
                <a:cubicBezTo>
                  <a:pt x="154" y="262"/>
                  <a:pt x="159" y="257"/>
                  <a:pt x="159" y="250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1" y="182"/>
                  <a:pt x="171" y="182"/>
                  <a:pt x="171" y="182"/>
                </a:cubicBezTo>
                <a:cubicBezTo>
                  <a:pt x="177" y="182"/>
                  <a:pt x="182" y="177"/>
                  <a:pt x="182" y="171"/>
                </a:cubicBezTo>
                <a:cubicBezTo>
                  <a:pt x="182" y="102"/>
                  <a:pt x="182" y="102"/>
                  <a:pt x="182" y="102"/>
                </a:cubicBezTo>
                <a:cubicBezTo>
                  <a:pt x="182" y="97"/>
                  <a:pt x="173" y="84"/>
                  <a:pt x="157" y="82"/>
                </a:cubicBezTo>
                <a:cubicBezTo>
                  <a:pt x="150" y="81"/>
                  <a:pt x="138" y="80"/>
                  <a:pt x="125" y="80"/>
                </a:cubicBezTo>
                <a:cubicBezTo>
                  <a:pt x="112" y="80"/>
                  <a:pt x="100" y="81"/>
                  <a:pt x="93" y="82"/>
                </a:cubicBezTo>
                <a:cubicBezTo>
                  <a:pt x="77" y="84"/>
                  <a:pt x="68" y="97"/>
                  <a:pt x="68" y="102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77"/>
                  <a:pt x="73" y="182"/>
                  <a:pt x="80" y="182"/>
                </a:cubicBezTo>
                <a:close/>
                <a:moveTo>
                  <a:pt x="125" y="68"/>
                </a:moveTo>
                <a:cubicBezTo>
                  <a:pt x="144" y="68"/>
                  <a:pt x="159" y="53"/>
                  <a:pt x="159" y="34"/>
                </a:cubicBezTo>
                <a:cubicBezTo>
                  <a:pt x="159" y="15"/>
                  <a:pt x="144" y="0"/>
                  <a:pt x="125" y="0"/>
                </a:cubicBezTo>
                <a:cubicBezTo>
                  <a:pt x="106" y="0"/>
                  <a:pt x="91" y="15"/>
                  <a:pt x="91" y="34"/>
                </a:cubicBezTo>
                <a:cubicBezTo>
                  <a:pt x="91" y="53"/>
                  <a:pt x="106" y="68"/>
                  <a:pt x="125" y="68"/>
                </a:cubicBezTo>
                <a:close/>
                <a:moveTo>
                  <a:pt x="125" y="68"/>
                </a:moveTo>
                <a:cubicBezTo>
                  <a:pt x="125" y="68"/>
                  <a:pt x="125" y="68"/>
                  <a:pt x="125" y="68"/>
                </a:cubicBezTo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779043" y="3198943"/>
            <a:ext cx="822599" cy="822598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5983480" y="3365769"/>
            <a:ext cx="413724" cy="488946"/>
          </a:xfrm>
          <a:custGeom>
            <a:avLst/>
            <a:gdLst/>
            <a:ahLst/>
            <a:cxnLst/>
            <a:rect l="l" t="t" r="r" b="b"/>
            <a:pathLst>
              <a:path w="250" h="296">
                <a:moveTo>
                  <a:pt x="250" y="250"/>
                </a:moveTo>
                <a:cubicBezTo>
                  <a:pt x="250" y="282"/>
                  <a:pt x="185" y="296"/>
                  <a:pt x="125" y="296"/>
                </a:cubicBezTo>
                <a:cubicBezTo>
                  <a:pt x="65" y="296"/>
                  <a:pt x="0" y="282"/>
                  <a:pt x="0" y="250"/>
                </a:cubicBezTo>
                <a:cubicBezTo>
                  <a:pt x="0" y="226"/>
                  <a:pt x="36" y="215"/>
                  <a:pt x="66" y="210"/>
                </a:cubicBezTo>
                <a:cubicBezTo>
                  <a:pt x="72" y="209"/>
                  <a:pt x="78" y="213"/>
                  <a:pt x="79" y="219"/>
                </a:cubicBezTo>
                <a:cubicBezTo>
                  <a:pt x="80" y="225"/>
                  <a:pt x="76" y="231"/>
                  <a:pt x="70" y="232"/>
                </a:cubicBezTo>
                <a:cubicBezTo>
                  <a:pt x="33" y="239"/>
                  <a:pt x="23" y="249"/>
                  <a:pt x="23" y="251"/>
                </a:cubicBezTo>
                <a:cubicBezTo>
                  <a:pt x="24" y="257"/>
                  <a:pt x="58" y="273"/>
                  <a:pt x="125" y="273"/>
                </a:cubicBezTo>
                <a:cubicBezTo>
                  <a:pt x="192" y="273"/>
                  <a:pt x="226" y="257"/>
                  <a:pt x="228" y="250"/>
                </a:cubicBezTo>
                <a:cubicBezTo>
                  <a:pt x="227" y="249"/>
                  <a:pt x="217" y="238"/>
                  <a:pt x="180" y="232"/>
                </a:cubicBezTo>
                <a:cubicBezTo>
                  <a:pt x="174" y="231"/>
                  <a:pt x="170" y="225"/>
                  <a:pt x="171" y="219"/>
                </a:cubicBezTo>
                <a:cubicBezTo>
                  <a:pt x="172" y="213"/>
                  <a:pt x="178" y="209"/>
                  <a:pt x="184" y="210"/>
                </a:cubicBezTo>
                <a:cubicBezTo>
                  <a:pt x="214" y="215"/>
                  <a:pt x="250" y="226"/>
                  <a:pt x="250" y="250"/>
                </a:cubicBezTo>
                <a:close/>
                <a:moveTo>
                  <a:pt x="80" y="182"/>
                </a:moveTo>
                <a:cubicBezTo>
                  <a:pt x="91" y="182"/>
                  <a:pt x="91" y="182"/>
                  <a:pt x="91" y="182"/>
                </a:cubicBezTo>
                <a:cubicBezTo>
                  <a:pt x="91" y="250"/>
                  <a:pt x="91" y="250"/>
                  <a:pt x="91" y="250"/>
                </a:cubicBezTo>
                <a:cubicBezTo>
                  <a:pt x="91" y="257"/>
                  <a:pt x="96" y="262"/>
                  <a:pt x="102" y="262"/>
                </a:cubicBezTo>
                <a:cubicBezTo>
                  <a:pt x="148" y="262"/>
                  <a:pt x="148" y="262"/>
                  <a:pt x="148" y="262"/>
                </a:cubicBezTo>
                <a:cubicBezTo>
                  <a:pt x="154" y="262"/>
                  <a:pt x="159" y="257"/>
                  <a:pt x="159" y="250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1" y="182"/>
                  <a:pt x="171" y="182"/>
                  <a:pt x="171" y="182"/>
                </a:cubicBezTo>
                <a:cubicBezTo>
                  <a:pt x="177" y="182"/>
                  <a:pt x="182" y="177"/>
                  <a:pt x="182" y="171"/>
                </a:cubicBezTo>
                <a:cubicBezTo>
                  <a:pt x="182" y="102"/>
                  <a:pt x="182" y="102"/>
                  <a:pt x="182" y="102"/>
                </a:cubicBezTo>
                <a:cubicBezTo>
                  <a:pt x="182" y="97"/>
                  <a:pt x="173" y="84"/>
                  <a:pt x="157" y="82"/>
                </a:cubicBezTo>
                <a:cubicBezTo>
                  <a:pt x="150" y="81"/>
                  <a:pt x="138" y="80"/>
                  <a:pt x="125" y="80"/>
                </a:cubicBezTo>
                <a:cubicBezTo>
                  <a:pt x="112" y="80"/>
                  <a:pt x="100" y="81"/>
                  <a:pt x="93" y="82"/>
                </a:cubicBezTo>
                <a:cubicBezTo>
                  <a:pt x="77" y="84"/>
                  <a:pt x="68" y="97"/>
                  <a:pt x="68" y="102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77"/>
                  <a:pt x="73" y="182"/>
                  <a:pt x="80" y="182"/>
                </a:cubicBezTo>
                <a:close/>
                <a:moveTo>
                  <a:pt x="125" y="68"/>
                </a:moveTo>
                <a:cubicBezTo>
                  <a:pt x="144" y="68"/>
                  <a:pt x="159" y="53"/>
                  <a:pt x="159" y="34"/>
                </a:cubicBezTo>
                <a:cubicBezTo>
                  <a:pt x="159" y="15"/>
                  <a:pt x="144" y="0"/>
                  <a:pt x="125" y="0"/>
                </a:cubicBezTo>
                <a:cubicBezTo>
                  <a:pt x="106" y="0"/>
                  <a:pt x="91" y="15"/>
                  <a:pt x="91" y="34"/>
                </a:cubicBezTo>
                <a:cubicBezTo>
                  <a:pt x="91" y="53"/>
                  <a:pt x="106" y="68"/>
                  <a:pt x="125" y="68"/>
                </a:cubicBezTo>
                <a:close/>
                <a:moveTo>
                  <a:pt x="125" y="68"/>
                </a:moveTo>
                <a:cubicBezTo>
                  <a:pt x="125" y="68"/>
                  <a:pt x="125" y="68"/>
                  <a:pt x="125" y="68"/>
                </a:cubicBezTo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070029" y="4509931"/>
            <a:ext cx="822599" cy="822598"/>
          </a:xfrm>
          <a:prstGeom prst="ellipse">
            <a:avLst/>
          </a:prstGeom>
          <a:solidFill>
            <a:schemeClr val="accent2"/>
          </a:solidFill>
          <a:ln w="5715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274466" y="4676757"/>
            <a:ext cx="413724" cy="488946"/>
          </a:xfrm>
          <a:custGeom>
            <a:avLst/>
            <a:gdLst/>
            <a:ahLst/>
            <a:cxnLst/>
            <a:rect l="l" t="t" r="r" b="b"/>
            <a:pathLst>
              <a:path w="250" h="296">
                <a:moveTo>
                  <a:pt x="250" y="250"/>
                </a:moveTo>
                <a:cubicBezTo>
                  <a:pt x="250" y="282"/>
                  <a:pt x="185" y="296"/>
                  <a:pt x="125" y="296"/>
                </a:cubicBezTo>
                <a:cubicBezTo>
                  <a:pt x="65" y="296"/>
                  <a:pt x="0" y="282"/>
                  <a:pt x="0" y="250"/>
                </a:cubicBezTo>
                <a:cubicBezTo>
                  <a:pt x="0" y="226"/>
                  <a:pt x="36" y="215"/>
                  <a:pt x="66" y="210"/>
                </a:cubicBezTo>
                <a:cubicBezTo>
                  <a:pt x="72" y="209"/>
                  <a:pt x="78" y="213"/>
                  <a:pt x="79" y="219"/>
                </a:cubicBezTo>
                <a:cubicBezTo>
                  <a:pt x="80" y="225"/>
                  <a:pt x="76" y="231"/>
                  <a:pt x="70" y="232"/>
                </a:cubicBezTo>
                <a:cubicBezTo>
                  <a:pt x="33" y="239"/>
                  <a:pt x="23" y="249"/>
                  <a:pt x="23" y="251"/>
                </a:cubicBezTo>
                <a:cubicBezTo>
                  <a:pt x="24" y="257"/>
                  <a:pt x="58" y="273"/>
                  <a:pt x="125" y="273"/>
                </a:cubicBezTo>
                <a:cubicBezTo>
                  <a:pt x="192" y="273"/>
                  <a:pt x="226" y="257"/>
                  <a:pt x="228" y="250"/>
                </a:cubicBezTo>
                <a:cubicBezTo>
                  <a:pt x="227" y="249"/>
                  <a:pt x="217" y="238"/>
                  <a:pt x="180" y="232"/>
                </a:cubicBezTo>
                <a:cubicBezTo>
                  <a:pt x="174" y="231"/>
                  <a:pt x="170" y="225"/>
                  <a:pt x="171" y="219"/>
                </a:cubicBezTo>
                <a:cubicBezTo>
                  <a:pt x="172" y="213"/>
                  <a:pt x="178" y="209"/>
                  <a:pt x="184" y="210"/>
                </a:cubicBezTo>
                <a:cubicBezTo>
                  <a:pt x="214" y="215"/>
                  <a:pt x="250" y="226"/>
                  <a:pt x="250" y="250"/>
                </a:cubicBezTo>
                <a:close/>
                <a:moveTo>
                  <a:pt x="80" y="182"/>
                </a:moveTo>
                <a:cubicBezTo>
                  <a:pt x="91" y="182"/>
                  <a:pt x="91" y="182"/>
                  <a:pt x="91" y="182"/>
                </a:cubicBezTo>
                <a:cubicBezTo>
                  <a:pt x="91" y="250"/>
                  <a:pt x="91" y="250"/>
                  <a:pt x="91" y="250"/>
                </a:cubicBezTo>
                <a:cubicBezTo>
                  <a:pt x="91" y="257"/>
                  <a:pt x="96" y="262"/>
                  <a:pt x="102" y="262"/>
                </a:cubicBezTo>
                <a:cubicBezTo>
                  <a:pt x="148" y="262"/>
                  <a:pt x="148" y="262"/>
                  <a:pt x="148" y="262"/>
                </a:cubicBezTo>
                <a:cubicBezTo>
                  <a:pt x="154" y="262"/>
                  <a:pt x="159" y="257"/>
                  <a:pt x="159" y="250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1" y="182"/>
                  <a:pt x="171" y="182"/>
                  <a:pt x="171" y="182"/>
                </a:cubicBezTo>
                <a:cubicBezTo>
                  <a:pt x="177" y="182"/>
                  <a:pt x="182" y="177"/>
                  <a:pt x="182" y="171"/>
                </a:cubicBezTo>
                <a:cubicBezTo>
                  <a:pt x="182" y="102"/>
                  <a:pt x="182" y="102"/>
                  <a:pt x="182" y="102"/>
                </a:cubicBezTo>
                <a:cubicBezTo>
                  <a:pt x="182" y="97"/>
                  <a:pt x="173" y="84"/>
                  <a:pt x="157" y="82"/>
                </a:cubicBezTo>
                <a:cubicBezTo>
                  <a:pt x="150" y="81"/>
                  <a:pt x="138" y="80"/>
                  <a:pt x="125" y="80"/>
                </a:cubicBezTo>
                <a:cubicBezTo>
                  <a:pt x="112" y="80"/>
                  <a:pt x="100" y="81"/>
                  <a:pt x="93" y="82"/>
                </a:cubicBezTo>
                <a:cubicBezTo>
                  <a:pt x="77" y="84"/>
                  <a:pt x="68" y="97"/>
                  <a:pt x="68" y="102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77"/>
                  <a:pt x="73" y="182"/>
                  <a:pt x="80" y="182"/>
                </a:cubicBezTo>
                <a:close/>
                <a:moveTo>
                  <a:pt x="125" y="68"/>
                </a:moveTo>
                <a:cubicBezTo>
                  <a:pt x="144" y="68"/>
                  <a:pt x="159" y="53"/>
                  <a:pt x="159" y="34"/>
                </a:cubicBezTo>
                <a:cubicBezTo>
                  <a:pt x="159" y="15"/>
                  <a:pt x="144" y="0"/>
                  <a:pt x="125" y="0"/>
                </a:cubicBezTo>
                <a:cubicBezTo>
                  <a:pt x="106" y="0"/>
                  <a:pt x="91" y="15"/>
                  <a:pt x="91" y="34"/>
                </a:cubicBezTo>
                <a:cubicBezTo>
                  <a:pt x="91" y="53"/>
                  <a:pt x="106" y="68"/>
                  <a:pt x="125" y="68"/>
                </a:cubicBezTo>
                <a:close/>
                <a:moveTo>
                  <a:pt x="125" y="68"/>
                </a:moveTo>
                <a:cubicBezTo>
                  <a:pt x="125" y="68"/>
                  <a:pt x="125" y="68"/>
                  <a:pt x="125" y="68"/>
                </a:cubicBezTo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726406" y="4185173"/>
            <a:ext cx="2822138" cy="11772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1400" b="0" i="0" u="none" baseline="0">
                <a:solidFill>
                  <a:schemeClr val="dk1">
                    <a:lumMod val="100000"/>
                  </a:schemeClr>
                </a:solidFill>
                <a:latin typeface="微软雅黑"/>
                <a:ea typeface="微软雅黑"/>
              </a:rPr>
              <a:t>Vertically integrated (batteries, EVs, semiconductors). Vertical integration gives BYD a cost advantage.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26406" y="3685438"/>
            <a:ext cx="2822138" cy="338554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Business Model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92627" y="4185173"/>
            <a:ext cx="2622412" cy="11772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1400" b="0" i="0" u="none" baseline="0">
                <a:solidFill>
                  <a:schemeClr val="dk1">
                    <a:lumMod val="100000"/>
                  </a:schemeClr>
                </a:solidFill>
                <a:latin typeface="微软雅黑"/>
                <a:ea typeface="微软雅黑"/>
              </a:rPr>
              <a:t>2023E Revenue: $80B (+50% YoY); Net Margin: 5.2%. The company is seeing improvements in efficiencies.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892627" y="3685438"/>
            <a:ext cx="2622412" cy="338554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Financials</a:t>
            </a:r>
          </a:p>
        </p:txBody>
      </p:sp>
      <p:sp>
        <p:nvSpPr>
          <p:cNvPr id="18" name="AutoShape 18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Company Overview - BYD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Company Overview - Tesla</a:t>
            </a:r>
          </a:p>
        </p:txBody>
      </p:sp>
      <p:sp>
        <p:nvSpPr>
          <p:cNvPr id="3" name="Freeform 3"/>
          <p:cNvSpPr/>
          <p:nvPr/>
        </p:nvSpPr>
        <p:spPr>
          <a:xfrm>
            <a:off x="673100" y="3983292"/>
            <a:ext cx="3020766" cy="2163508"/>
          </a:xfrm>
          <a:custGeom>
            <a:avLst/>
            <a:gdLst/>
            <a:ahLst/>
            <a:cxnLst/>
            <a:rect l="l" t="t" r="r" b="b"/>
            <a:pathLst>
              <a:path w="2967" h="2125">
                <a:moveTo>
                  <a:pt x="1320" y="2125"/>
                </a:moveTo>
                <a:lnTo>
                  <a:pt x="2967" y="733"/>
                </a:lnTo>
                <a:lnTo>
                  <a:pt x="2697" y="239"/>
                </a:lnTo>
                <a:lnTo>
                  <a:pt x="2228" y="0"/>
                </a:lnTo>
                <a:lnTo>
                  <a:pt x="0" y="1759"/>
                </a:lnTo>
                <a:lnTo>
                  <a:pt x="2" y="2122"/>
                </a:lnTo>
                <a:lnTo>
                  <a:pt x="1320" y="2125"/>
                </a:lnTo>
                <a:close/>
              </a:path>
            </a:pathLst>
          </a:custGeom>
          <a:solidFill>
            <a:srgbClr val="FFFFFF">
              <a:lumMod val="8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 rot="21480000">
            <a:off x="2151553" y="4433688"/>
            <a:ext cx="2859684" cy="1723200"/>
          </a:xfrm>
          <a:custGeom>
            <a:avLst/>
            <a:gdLst/>
            <a:ahLst/>
            <a:cxnLst/>
            <a:rect l="l" t="t" r="r" b="b"/>
            <a:pathLst>
              <a:path w="2859684" h="1723200">
                <a:moveTo>
                  <a:pt x="2107292" y="0"/>
                </a:moveTo>
                <a:lnTo>
                  <a:pt x="2584791" y="243331"/>
                </a:lnTo>
                <a:lnTo>
                  <a:pt x="2859684" y="746283"/>
                </a:lnTo>
                <a:lnTo>
                  <a:pt x="1703806" y="1723200"/>
                </a:lnTo>
                <a:lnTo>
                  <a:pt x="0" y="1663701"/>
                </a:lnTo>
                <a:close/>
              </a:path>
            </a:pathLst>
          </a:custGeom>
          <a:solidFill>
            <a:srgbClr val="FFFFFF">
              <a:lumMod val="8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673100" y="2495154"/>
            <a:ext cx="2936262" cy="3136832"/>
          </a:xfrm>
          <a:custGeom>
            <a:avLst/>
            <a:gdLst/>
            <a:ahLst/>
            <a:cxnLst/>
            <a:rect l="l" t="t" r="r" b="b"/>
            <a:pathLst>
              <a:path w="2884" h="3081">
                <a:moveTo>
                  <a:pt x="2080" y="0"/>
                </a:moveTo>
                <a:lnTo>
                  <a:pt x="0" y="1655"/>
                </a:lnTo>
                <a:lnTo>
                  <a:pt x="0" y="3081"/>
                </a:lnTo>
                <a:lnTo>
                  <a:pt x="2884" y="796"/>
                </a:lnTo>
                <a:lnTo>
                  <a:pt x="2591" y="259"/>
                </a:lnTo>
                <a:lnTo>
                  <a:pt x="208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2859488" y="2423248"/>
            <a:ext cx="878104" cy="853459"/>
          </a:xfrm>
          <a:custGeom>
            <a:avLst/>
            <a:gdLst/>
            <a:ahLst/>
            <a:cxnLst/>
            <a:rect l="l" t="t" r="r" b="b"/>
            <a:pathLst>
              <a:path w="678" h="659">
                <a:moveTo>
                  <a:pt x="558" y="643"/>
                </a:moveTo>
                <a:cubicBezTo>
                  <a:pt x="560" y="634"/>
                  <a:pt x="561" y="619"/>
                  <a:pt x="557" y="594"/>
                </a:cubicBezTo>
                <a:cubicBezTo>
                  <a:pt x="557" y="594"/>
                  <a:pt x="556" y="582"/>
                  <a:pt x="554" y="567"/>
                </a:cubicBezTo>
                <a:cubicBezTo>
                  <a:pt x="553" y="553"/>
                  <a:pt x="562" y="532"/>
                  <a:pt x="574" y="522"/>
                </a:cubicBezTo>
                <a:cubicBezTo>
                  <a:pt x="612" y="491"/>
                  <a:pt x="612" y="491"/>
                  <a:pt x="612" y="491"/>
                </a:cubicBezTo>
                <a:cubicBezTo>
                  <a:pt x="612" y="491"/>
                  <a:pt x="623" y="483"/>
                  <a:pt x="627" y="468"/>
                </a:cubicBezTo>
                <a:cubicBezTo>
                  <a:pt x="632" y="453"/>
                  <a:pt x="620" y="433"/>
                  <a:pt x="610" y="435"/>
                </a:cubicBezTo>
                <a:cubicBezTo>
                  <a:pt x="600" y="436"/>
                  <a:pt x="583" y="446"/>
                  <a:pt x="570" y="452"/>
                </a:cubicBezTo>
                <a:cubicBezTo>
                  <a:pt x="557" y="459"/>
                  <a:pt x="545" y="450"/>
                  <a:pt x="544" y="434"/>
                </a:cubicBezTo>
                <a:cubicBezTo>
                  <a:pt x="542" y="404"/>
                  <a:pt x="542" y="404"/>
                  <a:pt x="542" y="404"/>
                </a:cubicBezTo>
                <a:cubicBezTo>
                  <a:pt x="541" y="388"/>
                  <a:pt x="551" y="367"/>
                  <a:pt x="565" y="359"/>
                </a:cubicBezTo>
                <a:cubicBezTo>
                  <a:pt x="574" y="352"/>
                  <a:pt x="574" y="352"/>
                  <a:pt x="574" y="352"/>
                </a:cubicBezTo>
                <a:cubicBezTo>
                  <a:pt x="588" y="343"/>
                  <a:pt x="609" y="326"/>
                  <a:pt x="614" y="310"/>
                </a:cubicBezTo>
                <a:cubicBezTo>
                  <a:pt x="614" y="310"/>
                  <a:pt x="614" y="310"/>
                  <a:pt x="614" y="310"/>
                </a:cubicBezTo>
                <a:cubicBezTo>
                  <a:pt x="619" y="294"/>
                  <a:pt x="603" y="275"/>
                  <a:pt x="591" y="274"/>
                </a:cubicBezTo>
                <a:cubicBezTo>
                  <a:pt x="580" y="273"/>
                  <a:pt x="558" y="282"/>
                  <a:pt x="543" y="286"/>
                </a:cubicBezTo>
                <a:cubicBezTo>
                  <a:pt x="527" y="290"/>
                  <a:pt x="513" y="280"/>
                  <a:pt x="511" y="264"/>
                </a:cubicBezTo>
                <a:cubicBezTo>
                  <a:pt x="509" y="249"/>
                  <a:pt x="509" y="249"/>
                  <a:pt x="509" y="249"/>
                </a:cubicBezTo>
                <a:cubicBezTo>
                  <a:pt x="508" y="232"/>
                  <a:pt x="516" y="210"/>
                  <a:pt x="528" y="199"/>
                </a:cubicBezTo>
                <a:cubicBezTo>
                  <a:pt x="645" y="90"/>
                  <a:pt x="645" y="90"/>
                  <a:pt x="645" y="90"/>
                </a:cubicBezTo>
                <a:cubicBezTo>
                  <a:pt x="657" y="78"/>
                  <a:pt x="675" y="58"/>
                  <a:pt x="677" y="42"/>
                </a:cubicBezTo>
                <a:cubicBezTo>
                  <a:pt x="677" y="39"/>
                  <a:pt x="677" y="37"/>
                  <a:pt x="677" y="35"/>
                </a:cubicBezTo>
                <a:cubicBezTo>
                  <a:pt x="678" y="27"/>
                  <a:pt x="673" y="19"/>
                  <a:pt x="667" y="13"/>
                </a:cubicBezTo>
                <a:cubicBezTo>
                  <a:pt x="661" y="6"/>
                  <a:pt x="654" y="1"/>
                  <a:pt x="646" y="0"/>
                </a:cubicBezTo>
                <a:cubicBezTo>
                  <a:pt x="644" y="0"/>
                  <a:pt x="642" y="0"/>
                  <a:pt x="639" y="0"/>
                </a:cubicBezTo>
                <a:cubicBezTo>
                  <a:pt x="623" y="1"/>
                  <a:pt x="601" y="16"/>
                  <a:pt x="588" y="27"/>
                </a:cubicBezTo>
                <a:cubicBezTo>
                  <a:pt x="468" y="132"/>
                  <a:pt x="468" y="132"/>
                  <a:pt x="468" y="132"/>
                </a:cubicBezTo>
                <a:cubicBezTo>
                  <a:pt x="455" y="143"/>
                  <a:pt x="432" y="149"/>
                  <a:pt x="416" y="146"/>
                </a:cubicBezTo>
                <a:cubicBezTo>
                  <a:pt x="402" y="143"/>
                  <a:pt x="402" y="143"/>
                  <a:pt x="402" y="143"/>
                </a:cubicBezTo>
                <a:cubicBezTo>
                  <a:pt x="385" y="139"/>
                  <a:pt x="377" y="124"/>
                  <a:pt x="383" y="109"/>
                </a:cubicBezTo>
                <a:cubicBezTo>
                  <a:pt x="389" y="94"/>
                  <a:pt x="399" y="73"/>
                  <a:pt x="399" y="62"/>
                </a:cubicBezTo>
                <a:cubicBezTo>
                  <a:pt x="400" y="50"/>
                  <a:pt x="382" y="32"/>
                  <a:pt x="366" y="36"/>
                </a:cubicBezTo>
                <a:cubicBezTo>
                  <a:pt x="366" y="36"/>
                  <a:pt x="366" y="36"/>
                  <a:pt x="366" y="36"/>
                </a:cubicBezTo>
                <a:cubicBezTo>
                  <a:pt x="350" y="39"/>
                  <a:pt x="330" y="58"/>
                  <a:pt x="320" y="71"/>
                </a:cubicBezTo>
                <a:cubicBezTo>
                  <a:pt x="313" y="80"/>
                  <a:pt x="313" y="80"/>
                  <a:pt x="313" y="80"/>
                </a:cubicBezTo>
                <a:cubicBezTo>
                  <a:pt x="302" y="92"/>
                  <a:pt x="281" y="101"/>
                  <a:pt x="265" y="98"/>
                </a:cubicBezTo>
                <a:cubicBezTo>
                  <a:pt x="236" y="92"/>
                  <a:pt x="236" y="92"/>
                  <a:pt x="236" y="92"/>
                </a:cubicBezTo>
                <a:cubicBezTo>
                  <a:pt x="219" y="90"/>
                  <a:pt x="212" y="77"/>
                  <a:pt x="220" y="65"/>
                </a:cubicBezTo>
                <a:cubicBezTo>
                  <a:pt x="227" y="52"/>
                  <a:pt x="239" y="36"/>
                  <a:pt x="241" y="27"/>
                </a:cubicBezTo>
                <a:cubicBezTo>
                  <a:pt x="244" y="17"/>
                  <a:pt x="225" y="4"/>
                  <a:pt x="210" y="6"/>
                </a:cubicBezTo>
                <a:cubicBezTo>
                  <a:pt x="195" y="9"/>
                  <a:pt x="186" y="19"/>
                  <a:pt x="186" y="19"/>
                </a:cubicBezTo>
                <a:cubicBezTo>
                  <a:pt x="151" y="54"/>
                  <a:pt x="151" y="54"/>
                  <a:pt x="151" y="54"/>
                </a:cubicBezTo>
                <a:cubicBezTo>
                  <a:pt x="139" y="65"/>
                  <a:pt x="118" y="72"/>
                  <a:pt x="104" y="69"/>
                </a:cubicBezTo>
                <a:cubicBezTo>
                  <a:pt x="89" y="66"/>
                  <a:pt x="78" y="63"/>
                  <a:pt x="78" y="63"/>
                </a:cubicBezTo>
                <a:cubicBezTo>
                  <a:pt x="53" y="57"/>
                  <a:pt x="38" y="56"/>
                  <a:pt x="29" y="58"/>
                </a:cubicBezTo>
                <a:cubicBezTo>
                  <a:pt x="13" y="61"/>
                  <a:pt x="30" y="87"/>
                  <a:pt x="45" y="95"/>
                </a:cubicBezTo>
                <a:cubicBezTo>
                  <a:pt x="293" y="257"/>
                  <a:pt x="293" y="257"/>
                  <a:pt x="293" y="257"/>
                </a:cubicBezTo>
                <a:cubicBezTo>
                  <a:pt x="308" y="265"/>
                  <a:pt x="311" y="280"/>
                  <a:pt x="300" y="289"/>
                </a:cubicBezTo>
                <a:cubicBezTo>
                  <a:pt x="136" y="438"/>
                  <a:pt x="136" y="438"/>
                  <a:pt x="136" y="438"/>
                </a:cubicBezTo>
                <a:cubicBezTo>
                  <a:pt x="124" y="449"/>
                  <a:pt x="100" y="456"/>
                  <a:pt x="85" y="450"/>
                </a:cubicBezTo>
                <a:cubicBezTo>
                  <a:pt x="70" y="447"/>
                  <a:pt x="70" y="447"/>
                  <a:pt x="70" y="447"/>
                </a:cubicBezTo>
                <a:cubicBezTo>
                  <a:pt x="54" y="441"/>
                  <a:pt x="33" y="439"/>
                  <a:pt x="24" y="442"/>
                </a:cubicBezTo>
                <a:cubicBezTo>
                  <a:pt x="8" y="450"/>
                  <a:pt x="2" y="461"/>
                  <a:pt x="1" y="473"/>
                </a:cubicBezTo>
                <a:cubicBezTo>
                  <a:pt x="0" y="482"/>
                  <a:pt x="10" y="500"/>
                  <a:pt x="35" y="508"/>
                </a:cubicBezTo>
                <a:cubicBezTo>
                  <a:pt x="50" y="516"/>
                  <a:pt x="70" y="521"/>
                  <a:pt x="88" y="536"/>
                </a:cubicBezTo>
                <a:cubicBezTo>
                  <a:pt x="101" y="555"/>
                  <a:pt x="104" y="576"/>
                  <a:pt x="110" y="592"/>
                </a:cubicBezTo>
                <a:cubicBezTo>
                  <a:pt x="116" y="617"/>
                  <a:pt x="133" y="629"/>
                  <a:pt x="142" y="629"/>
                </a:cubicBezTo>
                <a:cubicBezTo>
                  <a:pt x="154" y="629"/>
                  <a:pt x="165" y="625"/>
                  <a:pt x="175" y="609"/>
                </a:cubicBezTo>
                <a:cubicBezTo>
                  <a:pt x="179" y="600"/>
                  <a:pt x="179" y="579"/>
                  <a:pt x="175" y="563"/>
                </a:cubicBezTo>
                <a:cubicBezTo>
                  <a:pt x="173" y="548"/>
                  <a:pt x="173" y="548"/>
                  <a:pt x="173" y="548"/>
                </a:cubicBezTo>
                <a:cubicBezTo>
                  <a:pt x="169" y="532"/>
                  <a:pt x="178" y="509"/>
                  <a:pt x="190" y="498"/>
                </a:cubicBezTo>
                <a:cubicBezTo>
                  <a:pt x="355" y="350"/>
                  <a:pt x="355" y="350"/>
                  <a:pt x="355" y="350"/>
                </a:cubicBezTo>
                <a:cubicBezTo>
                  <a:pt x="366" y="340"/>
                  <a:pt x="380" y="345"/>
                  <a:pt x="386" y="360"/>
                </a:cubicBezTo>
                <a:cubicBezTo>
                  <a:pt x="522" y="624"/>
                  <a:pt x="522" y="624"/>
                  <a:pt x="522" y="624"/>
                </a:cubicBezTo>
                <a:cubicBezTo>
                  <a:pt x="529" y="639"/>
                  <a:pt x="553" y="659"/>
                  <a:pt x="558" y="643"/>
                </a:cubicBezTo>
              </a:path>
            </a:pathLst>
          </a:custGeom>
          <a:solidFill>
            <a:schemeClr val="accent1"/>
          </a:solidFill>
          <a:ln w="114300">
            <a:solidFill>
              <a:srgbClr val="FFFFFF"/>
            </a:solidFill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2974807" y="3917514"/>
            <a:ext cx="825972" cy="802791"/>
          </a:xfrm>
          <a:custGeom>
            <a:avLst/>
            <a:gdLst/>
            <a:ahLst/>
            <a:cxnLst/>
            <a:rect l="l" t="t" r="r" b="b"/>
            <a:pathLst>
              <a:path w="678" h="659">
                <a:moveTo>
                  <a:pt x="558" y="643"/>
                </a:moveTo>
                <a:cubicBezTo>
                  <a:pt x="560" y="634"/>
                  <a:pt x="561" y="619"/>
                  <a:pt x="557" y="594"/>
                </a:cubicBezTo>
                <a:cubicBezTo>
                  <a:pt x="557" y="594"/>
                  <a:pt x="556" y="582"/>
                  <a:pt x="554" y="567"/>
                </a:cubicBezTo>
                <a:cubicBezTo>
                  <a:pt x="553" y="553"/>
                  <a:pt x="562" y="532"/>
                  <a:pt x="574" y="522"/>
                </a:cubicBezTo>
                <a:cubicBezTo>
                  <a:pt x="612" y="491"/>
                  <a:pt x="612" y="491"/>
                  <a:pt x="612" y="491"/>
                </a:cubicBezTo>
                <a:cubicBezTo>
                  <a:pt x="612" y="491"/>
                  <a:pt x="623" y="483"/>
                  <a:pt x="627" y="468"/>
                </a:cubicBezTo>
                <a:cubicBezTo>
                  <a:pt x="632" y="453"/>
                  <a:pt x="620" y="433"/>
                  <a:pt x="610" y="435"/>
                </a:cubicBezTo>
                <a:cubicBezTo>
                  <a:pt x="600" y="436"/>
                  <a:pt x="583" y="446"/>
                  <a:pt x="570" y="452"/>
                </a:cubicBezTo>
                <a:cubicBezTo>
                  <a:pt x="557" y="459"/>
                  <a:pt x="545" y="450"/>
                  <a:pt x="544" y="434"/>
                </a:cubicBezTo>
                <a:cubicBezTo>
                  <a:pt x="542" y="404"/>
                  <a:pt x="542" y="404"/>
                  <a:pt x="542" y="404"/>
                </a:cubicBezTo>
                <a:cubicBezTo>
                  <a:pt x="541" y="388"/>
                  <a:pt x="551" y="367"/>
                  <a:pt x="565" y="359"/>
                </a:cubicBezTo>
                <a:cubicBezTo>
                  <a:pt x="574" y="352"/>
                  <a:pt x="574" y="352"/>
                  <a:pt x="574" y="352"/>
                </a:cubicBezTo>
                <a:cubicBezTo>
                  <a:pt x="588" y="343"/>
                  <a:pt x="609" y="326"/>
                  <a:pt x="614" y="310"/>
                </a:cubicBezTo>
                <a:cubicBezTo>
                  <a:pt x="614" y="310"/>
                  <a:pt x="614" y="310"/>
                  <a:pt x="614" y="310"/>
                </a:cubicBezTo>
                <a:cubicBezTo>
                  <a:pt x="619" y="294"/>
                  <a:pt x="603" y="275"/>
                  <a:pt x="591" y="274"/>
                </a:cubicBezTo>
                <a:cubicBezTo>
                  <a:pt x="580" y="273"/>
                  <a:pt x="558" y="282"/>
                  <a:pt x="543" y="286"/>
                </a:cubicBezTo>
                <a:cubicBezTo>
                  <a:pt x="527" y="290"/>
                  <a:pt x="513" y="280"/>
                  <a:pt x="511" y="264"/>
                </a:cubicBezTo>
                <a:cubicBezTo>
                  <a:pt x="509" y="249"/>
                  <a:pt x="509" y="249"/>
                  <a:pt x="509" y="249"/>
                </a:cubicBezTo>
                <a:cubicBezTo>
                  <a:pt x="508" y="232"/>
                  <a:pt x="516" y="210"/>
                  <a:pt x="528" y="199"/>
                </a:cubicBezTo>
                <a:cubicBezTo>
                  <a:pt x="645" y="90"/>
                  <a:pt x="645" y="90"/>
                  <a:pt x="645" y="90"/>
                </a:cubicBezTo>
                <a:cubicBezTo>
                  <a:pt x="657" y="78"/>
                  <a:pt x="675" y="58"/>
                  <a:pt x="677" y="42"/>
                </a:cubicBezTo>
                <a:cubicBezTo>
                  <a:pt x="677" y="39"/>
                  <a:pt x="677" y="37"/>
                  <a:pt x="677" y="35"/>
                </a:cubicBezTo>
                <a:cubicBezTo>
                  <a:pt x="678" y="27"/>
                  <a:pt x="673" y="19"/>
                  <a:pt x="667" y="13"/>
                </a:cubicBezTo>
                <a:cubicBezTo>
                  <a:pt x="661" y="6"/>
                  <a:pt x="654" y="1"/>
                  <a:pt x="646" y="0"/>
                </a:cubicBezTo>
                <a:cubicBezTo>
                  <a:pt x="644" y="0"/>
                  <a:pt x="642" y="0"/>
                  <a:pt x="639" y="0"/>
                </a:cubicBezTo>
                <a:cubicBezTo>
                  <a:pt x="623" y="1"/>
                  <a:pt x="601" y="16"/>
                  <a:pt x="588" y="27"/>
                </a:cubicBezTo>
                <a:cubicBezTo>
                  <a:pt x="468" y="132"/>
                  <a:pt x="468" y="132"/>
                  <a:pt x="468" y="132"/>
                </a:cubicBezTo>
                <a:cubicBezTo>
                  <a:pt x="455" y="143"/>
                  <a:pt x="432" y="149"/>
                  <a:pt x="416" y="146"/>
                </a:cubicBezTo>
                <a:cubicBezTo>
                  <a:pt x="402" y="143"/>
                  <a:pt x="402" y="143"/>
                  <a:pt x="402" y="143"/>
                </a:cubicBezTo>
                <a:cubicBezTo>
                  <a:pt x="385" y="139"/>
                  <a:pt x="377" y="124"/>
                  <a:pt x="383" y="109"/>
                </a:cubicBezTo>
                <a:cubicBezTo>
                  <a:pt x="389" y="94"/>
                  <a:pt x="399" y="73"/>
                  <a:pt x="399" y="62"/>
                </a:cubicBezTo>
                <a:cubicBezTo>
                  <a:pt x="400" y="50"/>
                  <a:pt x="382" y="32"/>
                  <a:pt x="366" y="36"/>
                </a:cubicBezTo>
                <a:cubicBezTo>
                  <a:pt x="366" y="36"/>
                  <a:pt x="366" y="36"/>
                  <a:pt x="366" y="36"/>
                </a:cubicBezTo>
                <a:cubicBezTo>
                  <a:pt x="350" y="39"/>
                  <a:pt x="330" y="58"/>
                  <a:pt x="320" y="71"/>
                </a:cubicBezTo>
                <a:cubicBezTo>
                  <a:pt x="313" y="80"/>
                  <a:pt x="313" y="80"/>
                  <a:pt x="313" y="80"/>
                </a:cubicBezTo>
                <a:cubicBezTo>
                  <a:pt x="302" y="92"/>
                  <a:pt x="281" y="101"/>
                  <a:pt x="265" y="98"/>
                </a:cubicBezTo>
                <a:cubicBezTo>
                  <a:pt x="236" y="92"/>
                  <a:pt x="236" y="92"/>
                  <a:pt x="236" y="92"/>
                </a:cubicBezTo>
                <a:cubicBezTo>
                  <a:pt x="219" y="90"/>
                  <a:pt x="212" y="77"/>
                  <a:pt x="220" y="65"/>
                </a:cubicBezTo>
                <a:cubicBezTo>
                  <a:pt x="227" y="52"/>
                  <a:pt x="239" y="36"/>
                  <a:pt x="241" y="27"/>
                </a:cubicBezTo>
                <a:cubicBezTo>
                  <a:pt x="244" y="17"/>
                  <a:pt x="225" y="4"/>
                  <a:pt x="210" y="6"/>
                </a:cubicBezTo>
                <a:cubicBezTo>
                  <a:pt x="195" y="9"/>
                  <a:pt x="186" y="19"/>
                  <a:pt x="186" y="19"/>
                </a:cubicBezTo>
                <a:cubicBezTo>
                  <a:pt x="151" y="54"/>
                  <a:pt x="151" y="54"/>
                  <a:pt x="151" y="54"/>
                </a:cubicBezTo>
                <a:cubicBezTo>
                  <a:pt x="139" y="65"/>
                  <a:pt x="118" y="72"/>
                  <a:pt x="104" y="69"/>
                </a:cubicBezTo>
                <a:cubicBezTo>
                  <a:pt x="89" y="66"/>
                  <a:pt x="78" y="63"/>
                  <a:pt x="78" y="63"/>
                </a:cubicBezTo>
                <a:cubicBezTo>
                  <a:pt x="53" y="57"/>
                  <a:pt x="38" y="56"/>
                  <a:pt x="29" y="58"/>
                </a:cubicBezTo>
                <a:cubicBezTo>
                  <a:pt x="13" y="61"/>
                  <a:pt x="30" y="87"/>
                  <a:pt x="45" y="95"/>
                </a:cubicBezTo>
                <a:cubicBezTo>
                  <a:pt x="293" y="257"/>
                  <a:pt x="293" y="257"/>
                  <a:pt x="293" y="257"/>
                </a:cubicBezTo>
                <a:cubicBezTo>
                  <a:pt x="308" y="265"/>
                  <a:pt x="311" y="280"/>
                  <a:pt x="300" y="289"/>
                </a:cubicBezTo>
                <a:cubicBezTo>
                  <a:pt x="136" y="438"/>
                  <a:pt x="136" y="438"/>
                  <a:pt x="136" y="438"/>
                </a:cubicBezTo>
                <a:cubicBezTo>
                  <a:pt x="124" y="449"/>
                  <a:pt x="100" y="456"/>
                  <a:pt x="85" y="450"/>
                </a:cubicBezTo>
                <a:cubicBezTo>
                  <a:pt x="70" y="447"/>
                  <a:pt x="70" y="447"/>
                  <a:pt x="70" y="447"/>
                </a:cubicBezTo>
                <a:cubicBezTo>
                  <a:pt x="54" y="441"/>
                  <a:pt x="33" y="439"/>
                  <a:pt x="24" y="442"/>
                </a:cubicBezTo>
                <a:cubicBezTo>
                  <a:pt x="8" y="450"/>
                  <a:pt x="2" y="461"/>
                  <a:pt x="1" y="473"/>
                </a:cubicBezTo>
                <a:cubicBezTo>
                  <a:pt x="0" y="482"/>
                  <a:pt x="10" y="500"/>
                  <a:pt x="35" y="508"/>
                </a:cubicBezTo>
                <a:cubicBezTo>
                  <a:pt x="50" y="516"/>
                  <a:pt x="70" y="521"/>
                  <a:pt x="88" y="536"/>
                </a:cubicBezTo>
                <a:cubicBezTo>
                  <a:pt x="101" y="555"/>
                  <a:pt x="104" y="576"/>
                  <a:pt x="110" y="592"/>
                </a:cubicBezTo>
                <a:cubicBezTo>
                  <a:pt x="116" y="617"/>
                  <a:pt x="133" y="629"/>
                  <a:pt x="142" y="629"/>
                </a:cubicBezTo>
                <a:cubicBezTo>
                  <a:pt x="154" y="629"/>
                  <a:pt x="165" y="625"/>
                  <a:pt x="175" y="609"/>
                </a:cubicBezTo>
                <a:cubicBezTo>
                  <a:pt x="179" y="600"/>
                  <a:pt x="179" y="579"/>
                  <a:pt x="175" y="563"/>
                </a:cubicBezTo>
                <a:cubicBezTo>
                  <a:pt x="173" y="548"/>
                  <a:pt x="173" y="548"/>
                  <a:pt x="173" y="548"/>
                </a:cubicBezTo>
                <a:cubicBezTo>
                  <a:pt x="169" y="532"/>
                  <a:pt x="178" y="509"/>
                  <a:pt x="190" y="498"/>
                </a:cubicBezTo>
                <a:cubicBezTo>
                  <a:pt x="355" y="350"/>
                  <a:pt x="355" y="350"/>
                  <a:pt x="355" y="350"/>
                </a:cubicBezTo>
                <a:cubicBezTo>
                  <a:pt x="366" y="340"/>
                  <a:pt x="380" y="345"/>
                  <a:pt x="386" y="360"/>
                </a:cubicBezTo>
                <a:cubicBezTo>
                  <a:pt x="522" y="624"/>
                  <a:pt x="522" y="624"/>
                  <a:pt x="522" y="624"/>
                </a:cubicBezTo>
                <a:cubicBezTo>
                  <a:pt x="529" y="639"/>
                  <a:pt x="553" y="659"/>
                  <a:pt x="558" y="643"/>
                </a:cubicBezTo>
              </a:path>
            </a:pathLst>
          </a:custGeom>
          <a:solidFill>
            <a:srgbClr val="FFFFFF">
              <a:lumMod val="85000"/>
            </a:srgbClr>
          </a:solidFill>
          <a:ln w="114300">
            <a:solidFill>
              <a:srgbClr val="FFFFFF"/>
            </a:solidFill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4310808" y="4318276"/>
            <a:ext cx="825972" cy="802791"/>
          </a:xfrm>
          <a:custGeom>
            <a:avLst/>
            <a:gdLst/>
            <a:ahLst/>
            <a:cxnLst/>
            <a:rect l="l" t="t" r="r" b="b"/>
            <a:pathLst>
              <a:path w="678" h="659">
                <a:moveTo>
                  <a:pt x="558" y="643"/>
                </a:moveTo>
                <a:cubicBezTo>
                  <a:pt x="560" y="634"/>
                  <a:pt x="561" y="619"/>
                  <a:pt x="557" y="594"/>
                </a:cubicBezTo>
                <a:cubicBezTo>
                  <a:pt x="557" y="594"/>
                  <a:pt x="556" y="582"/>
                  <a:pt x="554" y="567"/>
                </a:cubicBezTo>
                <a:cubicBezTo>
                  <a:pt x="553" y="553"/>
                  <a:pt x="562" y="532"/>
                  <a:pt x="574" y="522"/>
                </a:cubicBezTo>
                <a:cubicBezTo>
                  <a:pt x="612" y="491"/>
                  <a:pt x="612" y="491"/>
                  <a:pt x="612" y="491"/>
                </a:cubicBezTo>
                <a:cubicBezTo>
                  <a:pt x="612" y="491"/>
                  <a:pt x="623" y="483"/>
                  <a:pt x="627" y="468"/>
                </a:cubicBezTo>
                <a:cubicBezTo>
                  <a:pt x="632" y="453"/>
                  <a:pt x="620" y="433"/>
                  <a:pt x="610" y="435"/>
                </a:cubicBezTo>
                <a:cubicBezTo>
                  <a:pt x="600" y="436"/>
                  <a:pt x="583" y="446"/>
                  <a:pt x="570" y="452"/>
                </a:cubicBezTo>
                <a:cubicBezTo>
                  <a:pt x="557" y="459"/>
                  <a:pt x="545" y="450"/>
                  <a:pt x="544" y="434"/>
                </a:cubicBezTo>
                <a:cubicBezTo>
                  <a:pt x="542" y="404"/>
                  <a:pt x="542" y="404"/>
                  <a:pt x="542" y="404"/>
                </a:cubicBezTo>
                <a:cubicBezTo>
                  <a:pt x="541" y="388"/>
                  <a:pt x="551" y="367"/>
                  <a:pt x="565" y="359"/>
                </a:cubicBezTo>
                <a:cubicBezTo>
                  <a:pt x="574" y="352"/>
                  <a:pt x="574" y="352"/>
                  <a:pt x="574" y="352"/>
                </a:cubicBezTo>
                <a:cubicBezTo>
                  <a:pt x="588" y="343"/>
                  <a:pt x="609" y="326"/>
                  <a:pt x="614" y="310"/>
                </a:cubicBezTo>
                <a:cubicBezTo>
                  <a:pt x="614" y="310"/>
                  <a:pt x="614" y="310"/>
                  <a:pt x="614" y="310"/>
                </a:cubicBezTo>
                <a:cubicBezTo>
                  <a:pt x="619" y="294"/>
                  <a:pt x="603" y="275"/>
                  <a:pt x="591" y="274"/>
                </a:cubicBezTo>
                <a:cubicBezTo>
                  <a:pt x="580" y="273"/>
                  <a:pt x="558" y="282"/>
                  <a:pt x="543" y="286"/>
                </a:cubicBezTo>
                <a:cubicBezTo>
                  <a:pt x="527" y="290"/>
                  <a:pt x="513" y="280"/>
                  <a:pt x="511" y="264"/>
                </a:cubicBezTo>
                <a:cubicBezTo>
                  <a:pt x="509" y="249"/>
                  <a:pt x="509" y="249"/>
                  <a:pt x="509" y="249"/>
                </a:cubicBezTo>
                <a:cubicBezTo>
                  <a:pt x="508" y="232"/>
                  <a:pt x="516" y="210"/>
                  <a:pt x="528" y="199"/>
                </a:cubicBezTo>
                <a:cubicBezTo>
                  <a:pt x="645" y="90"/>
                  <a:pt x="645" y="90"/>
                  <a:pt x="645" y="90"/>
                </a:cubicBezTo>
                <a:cubicBezTo>
                  <a:pt x="657" y="78"/>
                  <a:pt x="675" y="58"/>
                  <a:pt x="677" y="42"/>
                </a:cubicBezTo>
                <a:cubicBezTo>
                  <a:pt x="677" y="39"/>
                  <a:pt x="677" y="37"/>
                  <a:pt x="677" y="35"/>
                </a:cubicBezTo>
                <a:cubicBezTo>
                  <a:pt x="678" y="27"/>
                  <a:pt x="673" y="19"/>
                  <a:pt x="667" y="13"/>
                </a:cubicBezTo>
                <a:cubicBezTo>
                  <a:pt x="661" y="6"/>
                  <a:pt x="654" y="1"/>
                  <a:pt x="646" y="0"/>
                </a:cubicBezTo>
                <a:cubicBezTo>
                  <a:pt x="644" y="0"/>
                  <a:pt x="642" y="0"/>
                  <a:pt x="639" y="0"/>
                </a:cubicBezTo>
                <a:cubicBezTo>
                  <a:pt x="623" y="1"/>
                  <a:pt x="601" y="16"/>
                  <a:pt x="588" y="27"/>
                </a:cubicBezTo>
                <a:cubicBezTo>
                  <a:pt x="468" y="132"/>
                  <a:pt x="468" y="132"/>
                  <a:pt x="468" y="132"/>
                </a:cubicBezTo>
                <a:cubicBezTo>
                  <a:pt x="455" y="143"/>
                  <a:pt x="432" y="149"/>
                  <a:pt x="416" y="146"/>
                </a:cubicBezTo>
                <a:cubicBezTo>
                  <a:pt x="402" y="143"/>
                  <a:pt x="402" y="143"/>
                  <a:pt x="402" y="143"/>
                </a:cubicBezTo>
                <a:cubicBezTo>
                  <a:pt x="385" y="139"/>
                  <a:pt x="377" y="124"/>
                  <a:pt x="383" y="109"/>
                </a:cubicBezTo>
                <a:cubicBezTo>
                  <a:pt x="389" y="94"/>
                  <a:pt x="399" y="73"/>
                  <a:pt x="399" y="62"/>
                </a:cubicBezTo>
                <a:cubicBezTo>
                  <a:pt x="400" y="50"/>
                  <a:pt x="382" y="32"/>
                  <a:pt x="366" y="36"/>
                </a:cubicBezTo>
                <a:cubicBezTo>
                  <a:pt x="366" y="36"/>
                  <a:pt x="366" y="36"/>
                  <a:pt x="366" y="36"/>
                </a:cubicBezTo>
                <a:cubicBezTo>
                  <a:pt x="350" y="39"/>
                  <a:pt x="330" y="58"/>
                  <a:pt x="320" y="71"/>
                </a:cubicBezTo>
                <a:cubicBezTo>
                  <a:pt x="313" y="80"/>
                  <a:pt x="313" y="80"/>
                  <a:pt x="313" y="80"/>
                </a:cubicBezTo>
                <a:cubicBezTo>
                  <a:pt x="302" y="92"/>
                  <a:pt x="281" y="101"/>
                  <a:pt x="265" y="98"/>
                </a:cubicBezTo>
                <a:cubicBezTo>
                  <a:pt x="236" y="92"/>
                  <a:pt x="236" y="92"/>
                  <a:pt x="236" y="92"/>
                </a:cubicBezTo>
                <a:cubicBezTo>
                  <a:pt x="219" y="90"/>
                  <a:pt x="212" y="77"/>
                  <a:pt x="220" y="65"/>
                </a:cubicBezTo>
                <a:cubicBezTo>
                  <a:pt x="227" y="52"/>
                  <a:pt x="239" y="36"/>
                  <a:pt x="241" y="27"/>
                </a:cubicBezTo>
                <a:cubicBezTo>
                  <a:pt x="244" y="17"/>
                  <a:pt x="225" y="4"/>
                  <a:pt x="210" y="6"/>
                </a:cubicBezTo>
                <a:cubicBezTo>
                  <a:pt x="195" y="9"/>
                  <a:pt x="186" y="19"/>
                  <a:pt x="186" y="19"/>
                </a:cubicBezTo>
                <a:cubicBezTo>
                  <a:pt x="151" y="54"/>
                  <a:pt x="151" y="54"/>
                  <a:pt x="151" y="54"/>
                </a:cubicBezTo>
                <a:cubicBezTo>
                  <a:pt x="139" y="65"/>
                  <a:pt x="118" y="72"/>
                  <a:pt x="104" y="69"/>
                </a:cubicBezTo>
                <a:cubicBezTo>
                  <a:pt x="89" y="66"/>
                  <a:pt x="78" y="63"/>
                  <a:pt x="78" y="63"/>
                </a:cubicBezTo>
                <a:cubicBezTo>
                  <a:pt x="53" y="57"/>
                  <a:pt x="38" y="56"/>
                  <a:pt x="29" y="58"/>
                </a:cubicBezTo>
                <a:cubicBezTo>
                  <a:pt x="13" y="61"/>
                  <a:pt x="30" y="87"/>
                  <a:pt x="45" y="95"/>
                </a:cubicBezTo>
                <a:cubicBezTo>
                  <a:pt x="293" y="257"/>
                  <a:pt x="293" y="257"/>
                  <a:pt x="293" y="257"/>
                </a:cubicBezTo>
                <a:cubicBezTo>
                  <a:pt x="308" y="265"/>
                  <a:pt x="311" y="280"/>
                  <a:pt x="300" y="289"/>
                </a:cubicBezTo>
                <a:cubicBezTo>
                  <a:pt x="136" y="438"/>
                  <a:pt x="136" y="438"/>
                  <a:pt x="136" y="438"/>
                </a:cubicBezTo>
                <a:cubicBezTo>
                  <a:pt x="124" y="449"/>
                  <a:pt x="100" y="456"/>
                  <a:pt x="85" y="450"/>
                </a:cubicBezTo>
                <a:cubicBezTo>
                  <a:pt x="70" y="447"/>
                  <a:pt x="70" y="447"/>
                  <a:pt x="70" y="447"/>
                </a:cubicBezTo>
                <a:cubicBezTo>
                  <a:pt x="54" y="441"/>
                  <a:pt x="33" y="439"/>
                  <a:pt x="24" y="442"/>
                </a:cubicBezTo>
                <a:cubicBezTo>
                  <a:pt x="8" y="450"/>
                  <a:pt x="2" y="461"/>
                  <a:pt x="1" y="473"/>
                </a:cubicBezTo>
                <a:cubicBezTo>
                  <a:pt x="0" y="482"/>
                  <a:pt x="10" y="500"/>
                  <a:pt x="35" y="508"/>
                </a:cubicBezTo>
                <a:cubicBezTo>
                  <a:pt x="50" y="516"/>
                  <a:pt x="70" y="521"/>
                  <a:pt x="88" y="536"/>
                </a:cubicBezTo>
                <a:cubicBezTo>
                  <a:pt x="101" y="555"/>
                  <a:pt x="104" y="576"/>
                  <a:pt x="110" y="592"/>
                </a:cubicBezTo>
                <a:cubicBezTo>
                  <a:pt x="116" y="617"/>
                  <a:pt x="133" y="629"/>
                  <a:pt x="142" y="629"/>
                </a:cubicBezTo>
                <a:cubicBezTo>
                  <a:pt x="154" y="629"/>
                  <a:pt x="165" y="625"/>
                  <a:pt x="175" y="609"/>
                </a:cubicBezTo>
                <a:cubicBezTo>
                  <a:pt x="179" y="600"/>
                  <a:pt x="179" y="579"/>
                  <a:pt x="175" y="563"/>
                </a:cubicBezTo>
                <a:cubicBezTo>
                  <a:pt x="173" y="548"/>
                  <a:pt x="173" y="548"/>
                  <a:pt x="173" y="548"/>
                </a:cubicBezTo>
                <a:cubicBezTo>
                  <a:pt x="169" y="532"/>
                  <a:pt x="178" y="509"/>
                  <a:pt x="190" y="498"/>
                </a:cubicBezTo>
                <a:cubicBezTo>
                  <a:pt x="355" y="350"/>
                  <a:pt x="355" y="350"/>
                  <a:pt x="355" y="350"/>
                </a:cubicBezTo>
                <a:cubicBezTo>
                  <a:pt x="366" y="340"/>
                  <a:pt x="380" y="345"/>
                  <a:pt x="386" y="360"/>
                </a:cubicBezTo>
                <a:cubicBezTo>
                  <a:pt x="522" y="624"/>
                  <a:pt x="522" y="624"/>
                  <a:pt x="522" y="624"/>
                </a:cubicBezTo>
                <a:cubicBezTo>
                  <a:pt x="529" y="639"/>
                  <a:pt x="553" y="659"/>
                  <a:pt x="558" y="643"/>
                </a:cubicBezTo>
              </a:path>
            </a:pathLst>
          </a:custGeom>
          <a:solidFill>
            <a:srgbClr val="FFFFFF">
              <a:lumMod val="85000"/>
            </a:srgbClr>
          </a:solidFill>
          <a:ln w="114300">
            <a:solidFill>
              <a:srgbClr val="FFFFFF"/>
            </a:solidFill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2866228" y="2421901"/>
            <a:ext cx="878104" cy="853459"/>
          </a:xfrm>
          <a:custGeom>
            <a:avLst/>
            <a:gdLst/>
            <a:ahLst/>
            <a:cxnLst/>
            <a:rect l="l" t="t" r="r" b="b"/>
            <a:pathLst>
              <a:path w="678" h="659">
                <a:moveTo>
                  <a:pt x="558" y="643"/>
                </a:moveTo>
                <a:cubicBezTo>
                  <a:pt x="560" y="634"/>
                  <a:pt x="561" y="619"/>
                  <a:pt x="557" y="594"/>
                </a:cubicBezTo>
                <a:cubicBezTo>
                  <a:pt x="557" y="594"/>
                  <a:pt x="556" y="582"/>
                  <a:pt x="554" y="567"/>
                </a:cubicBezTo>
                <a:cubicBezTo>
                  <a:pt x="553" y="553"/>
                  <a:pt x="562" y="532"/>
                  <a:pt x="574" y="522"/>
                </a:cubicBezTo>
                <a:cubicBezTo>
                  <a:pt x="612" y="491"/>
                  <a:pt x="612" y="491"/>
                  <a:pt x="612" y="491"/>
                </a:cubicBezTo>
                <a:cubicBezTo>
                  <a:pt x="612" y="491"/>
                  <a:pt x="623" y="483"/>
                  <a:pt x="627" y="468"/>
                </a:cubicBezTo>
                <a:cubicBezTo>
                  <a:pt x="632" y="453"/>
                  <a:pt x="620" y="433"/>
                  <a:pt x="610" y="435"/>
                </a:cubicBezTo>
                <a:cubicBezTo>
                  <a:pt x="600" y="436"/>
                  <a:pt x="583" y="446"/>
                  <a:pt x="570" y="452"/>
                </a:cubicBezTo>
                <a:cubicBezTo>
                  <a:pt x="557" y="459"/>
                  <a:pt x="545" y="450"/>
                  <a:pt x="544" y="434"/>
                </a:cubicBezTo>
                <a:cubicBezTo>
                  <a:pt x="542" y="404"/>
                  <a:pt x="542" y="404"/>
                  <a:pt x="542" y="404"/>
                </a:cubicBezTo>
                <a:cubicBezTo>
                  <a:pt x="541" y="388"/>
                  <a:pt x="551" y="367"/>
                  <a:pt x="565" y="359"/>
                </a:cubicBezTo>
                <a:cubicBezTo>
                  <a:pt x="574" y="352"/>
                  <a:pt x="574" y="352"/>
                  <a:pt x="574" y="352"/>
                </a:cubicBezTo>
                <a:cubicBezTo>
                  <a:pt x="588" y="343"/>
                  <a:pt x="609" y="326"/>
                  <a:pt x="614" y="310"/>
                </a:cubicBezTo>
                <a:cubicBezTo>
                  <a:pt x="614" y="310"/>
                  <a:pt x="614" y="310"/>
                  <a:pt x="614" y="310"/>
                </a:cubicBezTo>
                <a:cubicBezTo>
                  <a:pt x="619" y="294"/>
                  <a:pt x="603" y="275"/>
                  <a:pt x="591" y="274"/>
                </a:cubicBezTo>
                <a:cubicBezTo>
                  <a:pt x="580" y="273"/>
                  <a:pt x="558" y="282"/>
                  <a:pt x="543" y="286"/>
                </a:cubicBezTo>
                <a:cubicBezTo>
                  <a:pt x="527" y="290"/>
                  <a:pt x="513" y="280"/>
                  <a:pt x="511" y="264"/>
                </a:cubicBezTo>
                <a:cubicBezTo>
                  <a:pt x="509" y="249"/>
                  <a:pt x="509" y="249"/>
                  <a:pt x="509" y="249"/>
                </a:cubicBezTo>
                <a:cubicBezTo>
                  <a:pt x="508" y="232"/>
                  <a:pt x="516" y="210"/>
                  <a:pt x="528" y="199"/>
                </a:cubicBezTo>
                <a:cubicBezTo>
                  <a:pt x="645" y="90"/>
                  <a:pt x="645" y="90"/>
                  <a:pt x="645" y="90"/>
                </a:cubicBezTo>
                <a:cubicBezTo>
                  <a:pt x="657" y="78"/>
                  <a:pt x="675" y="58"/>
                  <a:pt x="677" y="42"/>
                </a:cubicBezTo>
                <a:cubicBezTo>
                  <a:pt x="677" y="39"/>
                  <a:pt x="677" y="37"/>
                  <a:pt x="677" y="35"/>
                </a:cubicBezTo>
                <a:cubicBezTo>
                  <a:pt x="678" y="27"/>
                  <a:pt x="673" y="19"/>
                  <a:pt x="667" y="13"/>
                </a:cubicBezTo>
                <a:cubicBezTo>
                  <a:pt x="661" y="6"/>
                  <a:pt x="654" y="1"/>
                  <a:pt x="646" y="0"/>
                </a:cubicBezTo>
                <a:cubicBezTo>
                  <a:pt x="644" y="0"/>
                  <a:pt x="642" y="0"/>
                  <a:pt x="639" y="0"/>
                </a:cubicBezTo>
                <a:cubicBezTo>
                  <a:pt x="623" y="1"/>
                  <a:pt x="601" y="16"/>
                  <a:pt x="588" y="27"/>
                </a:cubicBezTo>
                <a:cubicBezTo>
                  <a:pt x="468" y="132"/>
                  <a:pt x="468" y="132"/>
                  <a:pt x="468" y="132"/>
                </a:cubicBezTo>
                <a:cubicBezTo>
                  <a:pt x="455" y="143"/>
                  <a:pt x="432" y="149"/>
                  <a:pt x="416" y="146"/>
                </a:cubicBezTo>
                <a:cubicBezTo>
                  <a:pt x="402" y="143"/>
                  <a:pt x="402" y="143"/>
                  <a:pt x="402" y="143"/>
                </a:cubicBezTo>
                <a:cubicBezTo>
                  <a:pt x="385" y="139"/>
                  <a:pt x="377" y="124"/>
                  <a:pt x="383" y="109"/>
                </a:cubicBezTo>
                <a:cubicBezTo>
                  <a:pt x="389" y="94"/>
                  <a:pt x="399" y="73"/>
                  <a:pt x="399" y="62"/>
                </a:cubicBezTo>
                <a:cubicBezTo>
                  <a:pt x="400" y="50"/>
                  <a:pt x="382" y="32"/>
                  <a:pt x="366" y="36"/>
                </a:cubicBezTo>
                <a:cubicBezTo>
                  <a:pt x="366" y="36"/>
                  <a:pt x="366" y="36"/>
                  <a:pt x="366" y="36"/>
                </a:cubicBezTo>
                <a:cubicBezTo>
                  <a:pt x="350" y="39"/>
                  <a:pt x="330" y="58"/>
                  <a:pt x="320" y="71"/>
                </a:cubicBezTo>
                <a:cubicBezTo>
                  <a:pt x="313" y="80"/>
                  <a:pt x="313" y="80"/>
                  <a:pt x="313" y="80"/>
                </a:cubicBezTo>
                <a:cubicBezTo>
                  <a:pt x="302" y="92"/>
                  <a:pt x="281" y="101"/>
                  <a:pt x="265" y="98"/>
                </a:cubicBezTo>
                <a:cubicBezTo>
                  <a:pt x="236" y="92"/>
                  <a:pt x="236" y="92"/>
                  <a:pt x="236" y="92"/>
                </a:cubicBezTo>
                <a:cubicBezTo>
                  <a:pt x="219" y="90"/>
                  <a:pt x="212" y="77"/>
                  <a:pt x="220" y="65"/>
                </a:cubicBezTo>
                <a:cubicBezTo>
                  <a:pt x="227" y="52"/>
                  <a:pt x="239" y="36"/>
                  <a:pt x="241" y="27"/>
                </a:cubicBezTo>
                <a:cubicBezTo>
                  <a:pt x="244" y="17"/>
                  <a:pt x="225" y="4"/>
                  <a:pt x="210" y="6"/>
                </a:cubicBezTo>
                <a:cubicBezTo>
                  <a:pt x="195" y="9"/>
                  <a:pt x="186" y="19"/>
                  <a:pt x="186" y="19"/>
                </a:cubicBezTo>
                <a:cubicBezTo>
                  <a:pt x="151" y="54"/>
                  <a:pt x="151" y="54"/>
                  <a:pt x="151" y="54"/>
                </a:cubicBezTo>
                <a:cubicBezTo>
                  <a:pt x="139" y="65"/>
                  <a:pt x="118" y="72"/>
                  <a:pt x="104" y="69"/>
                </a:cubicBezTo>
                <a:cubicBezTo>
                  <a:pt x="89" y="66"/>
                  <a:pt x="78" y="63"/>
                  <a:pt x="78" y="63"/>
                </a:cubicBezTo>
                <a:cubicBezTo>
                  <a:pt x="53" y="57"/>
                  <a:pt x="38" y="56"/>
                  <a:pt x="29" y="58"/>
                </a:cubicBezTo>
                <a:cubicBezTo>
                  <a:pt x="13" y="61"/>
                  <a:pt x="30" y="87"/>
                  <a:pt x="45" y="95"/>
                </a:cubicBezTo>
                <a:cubicBezTo>
                  <a:pt x="293" y="257"/>
                  <a:pt x="293" y="257"/>
                  <a:pt x="293" y="257"/>
                </a:cubicBezTo>
                <a:cubicBezTo>
                  <a:pt x="308" y="265"/>
                  <a:pt x="311" y="280"/>
                  <a:pt x="300" y="289"/>
                </a:cubicBezTo>
                <a:cubicBezTo>
                  <a:pt x="136" y="438"/>
                  <a:pt x="136" y="438"/>
                  <a:pt x="136" y="438"/>
                </a:cubicBezTo>
                <a:cubicBezTo>
                  <a:pt x="124" y="449"/>
                  <a:pt x="100" y="456"/>
                  <a:pt x="85" y="450"/>
                </a:cubicBezTo>
                <a:cubicBezTo>
                  <a:pt x="70" y="447"/>
                  <a:pt x="70" y="447"/>
                  <a:pt x="70" y="447"/>
                </a:cubicBezTo>
                <a:cubicBezTo>
                  <a:pt x="54" y="441"/>
                  <a:pt x="33" y="439"/>
                  <a:pt x="24" y="442"/>
                </a:cubicBezTo>
                <a:cubicBezTo>
                  <a:pt x="8" y="450"/>
                  <a:pt x="2" y="461"/>
                  <a:pt x="1" y="473"/>
                </a:cubicBezTo>
                <a:cubicBezTo>
                  <a:pt x="0" y="482"/>
                  <a:pt x="10" y="500"/>
                  <a:pt x="35" y="508"/>
                </a:cubicBezTo>
                <a:cubicBezTo>
                  <a:pt x="50" y="516"/>
                  <a:pt x="70" y="521"/>
                  <a:pt x="88" y="536"/>
                </a:cubicBezTo>
                <a:cubicBezTo>
                  <a:pt x="101" y="555"/>
                  <a:pt x="104" y="576"/>
                  <a:pt x="110" y="592"/>
                </a:cubicBezTo>
                <a:cubicBezTo>
                  <a:pt x="116" y="617"/>
                  <a:pt x="133" y="629"/>
                  <a:pt x="142" y="629"/>
                </a:cubicBezTo>
                <a:cubicBezTo>
                  <a:pt x="154" y="629"/>
                  <a:pt x="165" y="625"/>
                  <a:pt x="175" y="609"/>
                </a:cubicBezTo>
                <a:cubicBezTo>
                  <a:pt x="179" y="600"/>
                  <a:pt x="179" y="579"/>
                  <a:pt x="175" y="563"/>
                </a:cubicBezTo>
                <a:cubicBezTo>
                  <a:pt x="173" y="548"/>
                  <a:pt x="173" y="548"/>
                  <a:pt x="173" y="548"/>
                </a:cubicBezTo>
                <a:cubicBezTo>
                  <a:pt x="169" y="532"/>
                  <a:pt x="178" y="509"/>
                  <a:pt x="190" y="498"/>
                </a:cubicBezTo>
                <a:cubicBezTo>
                  <a:pt x="355" y="350"/>
                  <a:pt x="355" y="350"/>
                  <a:pt x="355" y="350"/>
                </a:cubicBezTo>
                <a:cubicBezTo>
                  <a:pt x="366" y="340"/>
                  <a:pt x="380" y="345"/>
                  <a:pt x="386" y="360"/>
                </a:cubicBezTo>
                <a:cubicBezTo>
                  <a:pt x="522" y="624"/>
                  <a:pt x="522" y="624"/>
                  <a:pt x="522" y="624"/>
                </a:cubicBezTo>
                <a:cubicBezTo>
                  <a:pt x="529" y="639"/>
                  <a:pt x="553" y="659"/>
                  <a:pt x="558" y="643"/>
                </a:cubicBezTo>
              </a:path>
            </a:pathLst>
          </a:custGeom>
          <a:solidFill>
            <a:schemeClr val="accent1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2981147" y="3916247"/>
            <a:ext cx="825972" cy="802791"/>
          </a:xfrm>
          <a:custGeom>
            <a:avLst/>
            <a:gdLst/>
            <a:ahLst/>
            <a:cxnLst/>
            <a:rect l="l" t="t" r="r" b="b"/>
            <a:pathLst>
              <a:path w="678" h="659">
                <a:moveTo>
                  <a:pt x="558" y="643"/>
                </a:moveTo>
                <a:cubicBezTo>
                  <a:pt x="560" y="634"/>
                  <a:pt x="561" y="619"/>
                  <a:pt x="557" y="594"/>
                </a:cubicBezTo>
                <a:cubicBezTo>
                  <a:pt x="557" y="594"/>
                  <a:pt x="556" y="582"/>
                  <a:pt x="554" y="567"/>
                </a:cubicBezTo>
                <a:cubicBezTo>
                  <a:pt x="553" y="553"/>
                  <a:pt x="562" y="532"/>
                  <a:pt x="574" y="522"/>
                </a:cubicBezTo>
                <a:cubicBezTo>
                  <a:pt x="612" y="491"/>
                  <a:pt x="612" y="491"/>
                  <a:pt x="612" y="491"/>
                </a:cubicBezTo>
                <a:cubicBezTo>
                  <a:pt x="612" y="491"/>
                  <a:pt x="623" y="483"/>
                  <a:pt x="627" y="468"/>
                </a:cubicBezTo>
                <a:cubicBezTo>
                  <a:pt x="632" y="453"/>
                  <a:pt x="620" y="433"/>
                  <a:pt x="610" y="435"/>
                </a:cubicBezTo>
                <a:cubicBezTo>
                  <a:pt x="600" y="436"/>
                  <a:pt x="583" y="446"/>
                  <a:pt x="570" y="452"/>
                </a:cubicBezTo>
                <a:cubicBezTo>
                  <a:pt x="557" y="459"/>
                  <a:pt x="545" y="450"/>
                  <a:pt x="544" y="434"/>
                </a:cubicBezTo>
                <a:cubicBezTo>
                  <a:pt x="542" y="404"/>
                  <a:pt x="542" y="404"/>
                  <a:pt x="542" y="404"/>
                </a:cubicBezTo>
                <a:cubicBezTo>
                  <a:pt x="541" y="388"/>
                  <a:pt x="551" y="367"/>
                  <a:pt x="565" y="359"/>
                </a:cubicBezTo>
                <a:cubicBezTo>
                  <a:pt x="574" y="352"/>
                  <a:pt x="574" y="352"/>
                  <a:pt x="574" y="352"/>
                </a:cubicBezTo>
                <a:cubicBezTo>
                  <a:pt x="588" y="343"/>
                  <a:pt x="609" y="326"/>
                  <a:pt x="614" y="310"/>
                </a:cubicBezTo>
                <a:cubicBezTo>
                  <a:pt x="614" y="310"/>
                  <a:pt x="614" y="310"/>
                  <a:pt x="614" y="310"/>
                </a:cubicBezTo>
                <a:cubicBezTo>
                  <a:pt x="619" y="294"/>
                  <a:pt x="603" y="275"/>
                  <a:pt x="591" y="274"/>
                </a:cubicBezTo>
                <a:cubicBezTo>
                  <a:pt x="580" y="273"/>
                  <a:pt x="558" y="282"/>
                  <a:pt x="543" y="286"/>
                </a:cubicBezTo>
                <a:cubicBezTo>
                  <a:pt x="527" y="290"/>
                  <a:pt x="513" y="280"/>
                  <a:pt x="511" y="264"/>
                </a:cubicBezTo>
                <a:cubicBezTo>
                  <a:pt x="509" y="249"/>
                  <a:pt x="509" y="249"/>
                  <a:pt x="509" y="249"/>
                </a:cubicBezTo>
                <a:cubicBezTo>
                  <a:pt x="508" y="232"/>
                  <a:pt x="516" y="210"/>
                  <a:pt x="528" y="199"/>
                </a:cubicBezTo>
                <a:cubicBezTo>
                  <a:pt x="645" y="90"/>
                  <a:pt x="645" y="90"/>
                  <a:pt x="645" y="90"/>
                </a:cubicBezTo>
                <a:cubicBezTo>
                  <a:pt x="657" y="78"/>
                  <a:pt x="675" y="58"/>
                  <a:pt x="677" y="42"/>
                </a:cubicBezTo>
                <a:cubicBezTo>
                  <a:pt x="677" y="39"/>
                  <a:pt x="677" y="37"/>
                  <a:pt x="677" y="35"/>
                </a:cubicBezTo>
                <a:cubicBezTo>
                  <a:pt x="678" y="27"/>
                  <a:pt x="673" y="19"/>
                  <a:pt x="667" y="13"/>
                </a:cubicBezTo>
                <a:cubicBezTo>
                  <a:pt x="661" y="6"/>
                  <a:pt x="654" y="1"/>
                  <a:pt x="646" y="0"/>
                </a:cubicBezTo>
                <a:cubicBezTo>
                  <a:pt x="644" y="0"/>
                  <a:pt x="642" y="0"/>
                  <a:pt x="639" y="0"/>
                </a:cubicBezTo>
                <a:cubicBezTo>
                  <a:pt x="623" y="1"/>
                  <a:pt x="601" y="16"/>
                  <a:pt x="588" y="27"/>
                </a:cubicBezTo>
                <a:cubicBezTo>
                  <a:pt x="468" y="132"/>
                  <a:pt x="468" y="132"/>
                  <a:pt x="468" y="132"/>
                </a:cubicBezTo>
                <a:cubicBezTo>
                  <a:pt x="455" y="143"/>
                  <a:pt x="432" y="149"/>
                  <a:pt x="416" y="146"/>
                </a:cubicBezTo>
                <a:cubicBezTo>
                  <a:pt x="402" y="143"/>
                  <a:pt x="402" y="143"/>
                  <a:pt x="402" y="143"/>
                </a:cubicBezTo>
                <a:cubicBezTo>
                  <a:pt x="385" y="139"/>
                  <a:pt x="377" y="124"/>
                  <a:pt x="383" y="109"/>
                </a:cubicBezTo>
                <a:cubicBezTo>
                  <a:pt x="389" y="94"/>
                  <a:pt x="399" y="73"/>
                  <a:pt x="399" y="62"/>
                </a:cubicBezTo>
                <a:cubicBezTo>
                  <a:pt x="400" y="50"/>
                  <a:pt x="382" y="32"/>
                  <a:pt x="366" y="36"/>
                </a:cubicBezTo>
                <a:cubicBezTo>
                  <a:pt x="366" y="36"/>
                  <a:pt x="366" y="36"/>
                  <a:pt x="366" y="36"/>
                </a:cubicBezTo>
                <a:cubicBezTo>
                  <a:pt x="350" y="39"/>
                  <a:pt x="330" y="58"/>
                  <a:pt x="320" y="71"/>
                </a:cubicBezTo>
                <a:cubicBezTo>
                  <a:pt x="313" y="80"/>
                  <a:pt x="313" y="80"/>
                  <a:pt x="313" y="80"/>
                </a:cubicBezTo>
                <a:cubicBezTo>
                  <a:pt x="302" y="92"/>
                  <a:pt x="281" y="101"/>
                  <a:pt x="265" y="98"/>
                </a:cubicBezTo>
                <a:cubicBezTo>
                  <a:pt x="236" y="92"/>
                  <a:pt x="236" y="92"/>
                  <a:pt x="236" y="92"/>
                </a:cubicBezTo>
                <a:cubicBezTo>
                  <a:pt x="219" y="90"/>
                  <a:pt x="212" y="77"/>
                  <a:pt x="220" y="65"/>
                </a:cubicBezTo>
                <a:cubicBezTo>
                  <a:pt x="227" y="52"/>
                  <a:pt x="239" y="36"/>
                  <a:pt x="241" y="27"/>
                </a:cubicBezTo>
                <a:cubicBezTo>
                  <a:pt x="244" y="17"/>
                  <a:pt x="225" y="4"/>
                  <a:pt x="210" y="6"/>
                </a:cubicBezTo>
                <a:cubicBezTo>
                  <a:pt x="195" y="9"/>
                  <a:pt x="186" y="19"/>
                  <a:pt x="186" y="19"/>
                </a:cubicBezTo>
                <a:cubicBezTo>
                  <a:pt x="151" y="54"/>
                  <a:pt x="151" y="54"/>
                  <a:pt x="151" y="54"/>
                </a:cubicBezTo>
                <a:cubicBezTo>
                  <a:pt x="139" y="65"/>
                  <a:pt x="118" y="72"/>
                  <a:pt x="104" y="69"/>
                </a:cubicBezTo>
                <a:cubicBezTo>
                  <a:pt x="89" y="66"/>
                  <a:pt x="78" y="63"/>
                  <a:pt x="78" y="63"/>
                </a:cubicBezTo>
                <a:cubicBezTo>
                  <a:pt x="53" y="57"/>
                  <a:pt x="38" y="56"/>
                  <a:pt x="29" y="58"/>
                </a:cubicBezTo>
                <a:cubicBezTo>
                  <a:pt x="13" y="61"/>
                  <a:pt x="30" y="87"/>
                  <a:pt x="45" y="95"/>
                </a:cubicBezTo>
                <a:cubicBezTo>
                  <a:pt x="293" y="257"/>
                  <a:pt x="293" y="257"/>
                  <a:pt x="293" y="257"/>
                </a:cubicBezTo>
                <a:cubicBezTo>
                  <a:pt x="308" y="265"/>
                  <a:pt x="311" y="280"/>
                  <a:pt x="300" y="289"/>
                </a:cubicBezTo>
                <a:cubicBezTo>
                  <a:pt x="136" y="438"/>
                  <a:pt x="136" y="438"/>
                  <a:pt x="136" y="438"/>
                </a:cubicBezTo>
                <a:cubicBezTo>
                  <a:pt x="124" y="449"/>
                  <a:pt x="100" y="456"/>
                  <a:pt x="85" y="450"/>
                </a:cubicBezTo>
                <a:cubicBezTo>
                  <a:pt x="70" y="447"/>
                  <a:pt x="70" y="447"/>
                  <a:pt x="70" y="447"/>
                </a:cubicBezTo>
                <a:cubicBezTo>
                  <a:pt x="54" y="441"/>
                  <a:pt x="33" y="439"/>
                  <a:pt x="24" y="442"/>
                </a:cubicBezTo>
                <a:cubicBezTo>
                  <a:pt x="8" y="450"/>
                  <a:pt x="2" y="461"/>
                  <a:pt x="1" y="473"/>
                </a:cubicBezTo>
                <a:cubicBezTo>
                  <a:pt x="0" y="482"/>
                  <a:pt x="10" y="500"/>
                  <a:pt x="35" y="508"/>
                </a:cubicBezTo>
                <a:cubicBezTo>
                  <a:pt x="50" y="516"/>
                  <a:pt x="70" y="521"/>
                  <a:pt x="88" y="536"/>
                </a:cubicBezTo>
                <a:cubicBezTo>
                  <a:pt x="101" y="555"/>
                  <a:pt x="104" y="576"/>
                  <a:pt x="110" y="592"/>
                </a:cubicBezTo>
                <a:cubicBezTo>
                  <a:pt x="116" y="617"/>
                  <a:pt x="133" y="629"/>
                  <a:pt x="142" y="629"/>
                </a:cubicBezTo>
                <a:cubicBezTo>
                  <a:pt x="154" y="629"/>
                  <a:pt x="165" y="625"/>
                  <a:pt x="175" y="609"/>
                </a:cubicBezTo>
                <a:cubicBezTo>
                  <a:pt x="179" y="600"/>
                  <a:pt x="179" y="579"/>
                  <a:pt x="175" y="563"/>
                </a:cubicBezTo>
                <a:cubicBezTo>
                  <a:pt x="173" y="548"/>
                  <a:pt x="173" y="548"/>
                  <a:pt x="173" y="548"/>
                </a:cubicBezTo>
                <a:cubicBezTo>
                  <a:pt x="169" y="532"/>
                  <a:pt x="178" y="509"/>
                  <a:pt x="190" y="498"/>
                </a:cubicBezTo>
                <a:cubicBezTo>
                  <a:pt x="355" y="350"/>
                  <a:pt x="355" y="350"/>
                  <a:pt x="355" y="350"/>
                </a:cubicBezTo>
                <a:cubicBezTo>
                  <a:pt x="366" y="340"/>
                  <a:pt x="380" y="345"/>
                  <a:pt x="386" y="360"/>
                </a:cubicBezTo>
                <a:cubicBezTo>
                  <a:pt x="522" y="624"/>
                  <a:pt x="522" y="624"/>
                  <a:pt x="522" y="624"/>
                </a:cubicBezTo>
                <a:cubicBezTo>
                  <a:pt x="529" y="639"/>
                  <a:pt x="553" y="659"/>
                  <a:pt x="558" y="643"/>
                </a:cubicBezTo>
              </a:path>
            </a:pathLst>
          </a:custGeom>
          <a:solidFill>
            <a:srgbClr val="FFFFFF">
              <a:lumMod val="8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4317148" y="4317009"/>
            <a:ext cx="825972" cy="802791"/>
          </a:xfrm>
          <a:custGeom>
            <a:avLst/>
            <a:gdLst/>
            <a:ahLst/>
            <a:cxnLst/>
            <a:rect l="l" t="t" r="r" b="b"/>
            <a:pathLst>
              <a:path w="678" h="659">
                <a:moveTo>
                  <a:pt x="558" y="643"/>
                </a:moveTo>
                <a:cubicBezTo>
                  <a:pt x="560" y="634"/>
                  <a:pt x="561" y="619"/>
                  <a:pt x="557" y="594"/>
                </a:cubicBezTo>
                <a:cubicBezTo>
                  <a:pt x="557" y="594"/>
                  <a:pt x="556" y="582"/>
                  <a:pt x="554" y="567"/>
                </a:cubicBezTo>
                <a:cubicBezTo>
                  <a:pt x="553" y="553"/>
                  <a:pt x="562" y="532"/>
                  <a:pt x="574" y="522"/>
                </a:cubicBezTo>
                <a:cubicBezTo>
                  <a:pt x="612" y="491"/>
                  <a:pt x="612" y="491"/>
                  <a:pt x="612" y="491"/>
                </a:cubicBezTo>
                <a:cubicBezTo>
                  <a:pt x="612" y="491"/>
                  <a:pt x="623" y="483"/>
                  <a:pt x="627" y="468"/>
                </a:cubicBezTo>
                <a:cubicBezTo>
                  <a:pt x="632" y="453"/>
                  <a:pt x="620" y="433"/>
                  <a:pt x="610" y="435"/>
                </a:cubicBezTo>
                <a:cubicBezTo>
                  <a:pt x="600" y="436"/>
                  <a:pt x="583" y="446"/>
                  <a:pt x="570" y="452"/>
                </a:cubicBezTo>
                <a:cubicBezTo>
                  <a:pt x="557" y="459"/>
                  <a:pt x="545" y="450"/>
                  <a:pt x="544" y="434"/>
                </a:cubicBezTo>
                <a:cubicBezTo>
                  <a:pt x="542" y="404"/>
                  <a:pt x="542" y="404"/>
                  <a:pt x="542" y="404"/>
                </a:cubicBezTo>
                <a:cubicBezTo>
                  <a:pt x="541" y="388"/>
                  <a:pt x="551" y="367"/>
                  <a:pt x="565" y="359"/>
                </a:cubicBezTo>
                <a:cubicBezTo>
                  <a:pt x="574" y="352"/>
                  <a:pt x="574" y="352"/>
                  <a:pt x="574" y="352"/>
                </a:cubicBezTo>
                <a:cubicBezTo>
                  <a:pt x="588" y="343"/>
                  <a:pt x="609" y="326"/>
                  <a:pt x="614" y="310"/>
                </a:cubicBezTo>
                <a:cubicBezTo>
                  <a:pt x="614" y="310"/>
                  <a:pt x="614" y="310"/>
                  <a:pt x="614" y="310"/>
                </a:cubicBezTo>
                <a:cubicBezTo>
                  <a:pt x="619" y="294"/>
                  <a:pt x="603" y="275"/>
                  <a:pt x="591" y="274"/>
                </a:cubicBezTo>
                <a:cubicBezTo>
                  <a:pt x="580" y="273"/>
                  <a:pt x="558" y="282"/>
                  <a:pt x="543" y="286"/>
                </a:cubicBezTo>
                <a:cubicBezTo>
                  <a:pt x="527" y="290"/>
                  <a:pt x="513" y="280"/>
                  <a:pt x="511" y="264"/>
                </a:cubicBezTo>
                <a:cubicBezTo>
                  <a:pt x="509" y="249"/>
                  <a:pt x="509" y="249"/>
                  <a:pt x="509" y="249"/>
                </a:cubicBezTo>
                <a:cubicBezTo>
                  <a:pt x="508" y="232"/>
                  <a:pt x="516" y="210"/>
                  <a:pt x="528" y="199"/>
                </a:cubicBezTo>
                <a:cubicBezTo>
                  <a:pt x="645" y="90"/>
                  <a:pt x="645" y="90"/>
                  <a:pt x="645" y="90"/>
                </a:cubicBezTo>
                <a:cubicBezTo>
                  <a:pt x="657" y="78"/>
                  <a:pt x="675" y="58"/>
                  <a:pt x="677" y="42"/>
                </a:cubicBezTo>
                <a:cubicBezTo>
                  <a:pt x="677" y="39"/>
                  <a:pt x="677" y="37"/>
                  <a:pt x="677" y="35"/>
                </a:cubicBezTo>
                <a:cubicBezTo>
                  <a:pt x="678" y="27"/>
                  <a:pt x="673" y="19"/>
                  <a:pt x="667" y="13"/>
                </a:cubicBezTo>
                <a:cubicBezTo>
                  <a:pt x="661" y="6"/>
                  <a:pt x="654" y="1"/>
                  <a:pt x="646" y="0"/>
                </a:cubicBezTo>
                <a:cubicBezTo>
                  <a:pt x="644" y="0"/>
                  <a:pt x="642" y="0"/>
                  <a:pt x="639" y="0"/>
                </a:cubicBezTo>
                <a:cubicBezTo>
                  <a:pt x="623" y="1"/>
                  <a:pt x="601" y="16"/>
                  <a:pt x="588" y="27"/>
                </a:cubicBezTo>
                <a:cubicBezTo>
                  <a:pt x="468" y="132"/>
                  <a:pt x="468" y="132"/>
                  <a:pt x="468" y="132"/>
                </a:cubicBezTo>
                <a:cubicBezTo>
                  <a:pt x="455" y="143"/>
                  <a:pt x="432" y="149"/>
                  <a:pt x="416" y="146"/>
                </a:cubicBezTo>
                <a:cubicBezTo>
                  <a:pt x="402" y="143"/>
                  <a:pt x="402" y="143"/>
                  <a:pt x="402" y="143"/>
                </a:cubicBezTo>
                <a:cubicBezTo>
                  <a:pt x="385" y="139"/>
                  <a:pt x="377" y="124"/>
                  <a:pt x="383" y="109"/>
                </a:cubicBezTo>
                <a:cubicBezTo>
                  <a:pt x="389" y="94"/>
                  <a:pt x="399" y="73"/>
                  <a:pt x="399" y="62"/>
                </a:cubicBezTo>
                <a:cubicBezTo>
                  <a:pt x="400" y="50"/>
                  <a:pt x="382" y="32"/>
                  <a:pt x="366" y="36"/>
                </a:cubicBezTo>
                <a:cubicBezTo>
                  <a:pt x="366" y="36"/>
                  <a:pt x="366" y="36"/>
                  <a:pt x="366" y="36"/>
                </a:cubicBezTo>
                <a:cubicBezTo>
                  <a:pt x="350" y="39"/>
                  <a:pt x="330" y="58"/>
                  <a:pt x="320" y="71"/>
                </a:cubicBezTo>
                <a:cubicBezTo>
                  <a:pt x="313" y="80"/>
                  <a:pt x="313" y="80"/>
                  <a:pt x="313" y="80"/>
                </a:cubicBezTo>
                <a:cubicBezTo>
                  <a:pt x="302" y="92"/>
                  <a:pt x="281" y="101"/>
                  <a:pt x="265" y="98"/>
                </a:cubicBezTo>
                <a:cubicBezTo>
                  <a:pt x="236" y="92"/>
                  <a:pt x="236" y="92"/>
                  <a:pt x="236" y="92"/>
                </a:cubicBezTo>
                <a:cubicBezTo>
                  <a:pt x="219" y="90"/>
                  <a:pt x="212" y="77"/>
                  <a:pt x="220" y="65"/>
                </a:cubicBezTo>
                <a:cubicBezTo>
                  <a:pt x="227" y="52"/>
                  <a:pt x="239" y="36"/>
                  <a:pt x="241" y="27"/>
                </a:cubicBezTo>
                <a:cubicBezTo>
                  <a:pt x="244" y="17"/>
                  <a:pt x="225" y="4"/>
                  <a:pt x="210" y="6"/>
                </a:cubicBezTo>
                <a:cubicBezTo>
                  <a:pt x="195" y="9"/>
                  <a:pt x="186" y="19"/>
                  <a:pt x="186" y="19"/>
                </a:cubicBezTo>
                <a:cubicBezTo>
                  <a:pt x="151" y="54"/>
                  <a:pt x="151" y="54"/>
                  <a:pt x="151" y="54"/>
                </a:cubicBezTo>
                <a:cubicBezTo>
                  <a:pt x="139" y="65"/>
                  <a:pt x="118" y="72"/>
                  <a:pt x="104" y="69"/>
                </a:cubicBezTo>
                <a:cubicBezTo>
                  <a:pt x="89" y="66"/>
                  <a:pt x="78" y="63"/>
                  <a:pt x="78" y="63"/>
                </a:cubicBezTo>
                <a:cubicBezTo>
                  <a:pt x="53" y="57"/>
                  <a:pt x="38" y="56"/>
                  <a:pt x="29" y="58"/>
                </a:cubicBezTo>
                <a:cubicBezTo>
                  <a:pt x="13" y="61"/>
                  <a:pt x="30" y="87"/>
                  <a:pt x="45" y="95"/>
                </a:cubicBezTo>
                <a:cubicBezTo>
                  <a:pt x="293" y="257"/>
                  <a:pt x="293" y="257"/>
                  <a:pt x="293" y="257"/>
                </a:cubicBezTo>
                <a:cubicBezTo>
                  <a:pt x="308" y="265"/>
                  <a:pt x="311" y="280"/>
                  <a:pt x="300" y="289"/>
                </a:cubicBezTo>
                <a:cubicBezTo>
                  <a:pt x="136" y="438"/>
                  <a:pt x="136" y="438"/>
                  <a:pt x="136" y="438"/>
                </a:cubicBezTo>
                <a:cubicBezTo>
                  <a:pt x="124" y="449"/>
                  <a:pt x="100" y="456"/>
                  <a:pt x="85" y="450"/>
                </a:cubicBezTo>
                <a:cubicBezTo>
                  <a:pt x="70" y="447"/>
                  <a:pt x="70" y="447"/>
                  <a:pt x="70" y="447"/>
                </a:cubicBezTo>
                <a:cubicBezTo>
                  <a:pt x="54" y="441"/>
                  <a:pt x="33" y="439"/>
                  <a:pt x="24" y="442"/>
                </a:cubicBezTo>
                <a:cubicBezTo>
                  <a:pt x="8" y="450"/>
                  <a:pt x="2" y="461"/>
                  <a:pt x="1" y="473"/>
                </a:cubicBezTo>
                <a:cubicBezTo>
                  <a:pt x="0" y="482"/>
                  <a:pt x="10" y="500"/>
                  <a:pt x="35" y="508"/>
                </a:cubicBezTo>
                <a:cubicBezTo>
                  <a:pt x="50" y="516"/>
                  <a:pt x="70" y="521"/>
                  <a:pt x="88" y="536"/>
                </a:cubicBezTo>
                <a:cubicBezTo>
                  <a:pt x="101" y="555"/>
                  <a:pt x="104" y="576"/>
                  <a:pt x="110" y="592"/>
                </a:cubicBezTo>
                <a:cubicBezTo>
                  <a:pt x="116" y="617"/>
                  <a:pt x="133" y="629"/>
                  <a:pt x="142" y="629"/>
                </a:cubicBezTo>
                <a:cubicBezTo>
                  <a:pt x="154" y="629"/>
                  <a:pt x="165" y="625"/>
                  <a:pt x="175" y="609"/>
                </a:cubicBezTo>
                <a:cubicBezTo>
                  <a:pt x="179" y="600"/>
                  <a:pt x="179" y="579"/>
                  <a:pt x="175" y="563"/>
                </a:cubicBezTo>
                <a:cubicBezTo>
                  <a:pt x="173" y="548"/>
                  <a:pt x="173" y="548"/>
                  <a:pt x="173" y="548"/>
                </a:cubicBezTo>
                <a:cubicBezTo>
                  <a:pt x="169" y="532"/>
                  <a:pt x="178" y="509"/>
                  <a:pt x="190" y="498"/>
                </a:cubicBezTo>
                <a:cubicBezTo>
                  <a:pt x="355" y="350"/>
                  <a:pt x="355" y="350"/>
                  <a:pt x="355" y="350"/>
                </a:cubicBezTo>
                <a:cubicBezTo>
                  <a:pt x="366" y="340"/>
                  <a:pt x="380" y="345"/>
                  <a:pt x="386" y="360"/>
                </a:cubicBezTo>
                <a:cubicBezTo>
                  <a:pt x="522" y="624"/>
                  <a:pt x="522" y="624"/>
                  <a:pt x="522" y="624"/>
                </a:cubicBezTo>
                <a:cubicBezTo>
                  <a:pt x="529" y="639"/>
                  <a:pt x="553" y="659"/>
                  <a:pt x="558" y="643"/>
                </a:cubicBezTo>
              </a:path>
            </a:pathLst>
          </a:custGeom>
          <a:solidFill>
            <a:srgbClr val="FFFFFF">
              <a:lumMod val="8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6816234" y="3004965"/>
            <a:ext cx="4702666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Growth Challenges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817915" y="3464511"/>
            <a:ext cx="4700985" cy="890372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2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2023 deliveries: 1.8M (+35% YoY), below targets. Price cuts erode margins (2023E gross margin: 18%). This shows the need to stay competitive by Tesla.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16234" y="4666089"/>
            <a:ext cx="4702666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Financials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817915" y="5125635"/>
            <a:ext cx="4700985" cy="890372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2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2023E Revenue: $110B (+25% YoY); Net Margin: 10%. Tesla is facing some struggles.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06074" y="953715"/>
            <a:ext cx="4702666" cy="338554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Business Model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785754" y="1399459"/>
            <a:ext cx="4700985" cy="106299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Premium EVs, energy storage, software integration. Tesla's focus on high-end market segments, energy solutions, and software creates revenue streams but is increasingly challenged by competition.</a:t>
            </a:r>
          </a:p>
        </p:txBody>
      </p:sp>
      <p:cxnSp>
        <p:nvCxnSpPr>
          <p:cNvPr id="18" name="Connector 18"/>
          <p:cNvCxnSpPr/>
          <p:nvPr/>
        </p:nvCxnSpPr>
        <p:spPr>
          <a:xfrm>
            <a:off x="6917866" y="2796524"/>
            <a:ext cx="4601034" cy="0"/>
          </a:xfrm>
          <a:prstGeom prst="line">
            <a:avLst/>
          </a:prstGeom>
          <a:ln w="3175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id="19" name="Connector 19"/>
          <p:cNvCxnSpPr/>
          <p:nvPr/>
        </p:nvCxnSpPr>
        <p:spPr>
          <a:xfrm>
            <a:off x="6917866" y="4413092"/>
            <a:ext cx="4601034" cy="0"/>
          </a:xfrm>
          <a:prstGeom prst="line">
            <a:avLst/>
          </a:prstGeom>
          <a:ln w="3175" cap="flat" cmpd="sng">
            <a:solidFill>
              <a:srgbClr val="FFFFFF">
                <a:lumMod val="75000"/>
              </a:srgbClr>
            </a:solidFill>
            <a:prstDash val="soli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Valuation Comparison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Valuation Metrics</a:t>
            </a:r>
          </a:p>
        </p:txBody>
      </p:sp>
      <p:sp>
        <p:nvSpPr>
          <p:cNvPr id="3" name="AutoShape 3"/>
          <p:cNvSpPr/>
          <p:nvPr/>
        </p:nvSpPr>
        <p:spPr>
          <a:xfrm>
            <a:off x="6389735" y="1613923"/>
            <a:ext cx="5123712" cy="1023317"/>
          </a:xfrm>
          <a:prstGeom prst="rect">
            <a:avLst/>
          </a:prstGeom>
          <a:noFill/>
        </p:spPr>
        <p:txBody>
          <a:bodyPr vert="horz" wrap="square" lIns="91412" tIns="45700" rIns="91412" bIns="4570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BYD (1211.HK): 25x vs. Tesla (TSLA.US): 60x. This shows that Tesla is overpriced.</a:t>
            </a:r>
          </a:p>
        </p:txBody>
      </p:sp>
      <p:sp>
        <p:nvSpPr>
          <p:cNvPr id="4" name="AutoShape 4"/>
          <p:cNvSpPr/>
          <p:nvPr/>
        </p:nvSpPr>
        <p:spPr>
          <a:xfrm>
            <a:off x="6399707" y="1245352"/>
            <a:ext cx="5120779" cy="338514"/>
          </a:xfrm>
          <a:prstGeom prst="rect">
            <a:avLst/>
          </a:prstGeom>
          <a:noFill/>
        </p:spPr>
        <p:txBody>
          <a:bodyPr vert="horz" wrap="square" lIns="91412" tIns="45700" rIns="91412" bIns="45700" anchor="ctr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P/E Ratio</a:t>
            </a:r>
          </a:p>
        </p:txBody>
      </p:sp>
      <p:sp>
        <p:nvSpPr>
          <p:cNvPr id="5" name="AutoShape 5"/>
          <p:cNvSpPr/>
          <p:nvPr/>
        </p:nvSpPr>
        <p:spPr>
          <a:xfrm>
            <a:off x="5780434" y="1418686"/>
            <a:ext cx="515816" cy="515816"/>
          </a:xfrm>
          <a:prstGeom prst="ellipse">
            <a:avLst/>
          </a:prstGeom>
          <a:solidFill>
            <a:srgbClr val="768395">
              <a:lumMod val="20000"/>
              <a:lumOff val="8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5931071" y="1574777"/>
            <a:ext cx="214542" cy="20363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lIns="91440" tIns="45720" rIns="91440" bIns="45720" anchor="ctr">
            <a:normAutofit fontScale="40000" lnSpcReduction="20000"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389735" y="3317363"/>
            <a:ext cx="5123712" cy="1023317"/>
          </a:xfrm>
          <a:prstGeom prst="rect">
            <a:avLst/>
          </a:prstGeom>
          <a:noFill/>
        </p:spPr>
        <p:txBody>
          <a:bodyPr vert="horz" wrap="square" lIns="91412" tIns="45700" rIns="91412" bIns="4570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BYD (1211.HK): 18x vs. Tesla (TSLA.US): 40x. Tesla again looks to be overpriced</a:t>
            </a:r>
          </a:p>
        </p:txBody>
      </p:sp>
      <p:sp>
        <p:nvSpPr>
          <p:cNvPr id="8" name="AutoShape 8"/>
          <p:cNvSpPr/>
          <p:nvPr/>
        </p:nvSpPr>
        <p:spPr>
          <a:xfrm>
            <a:off x="6399707" y="2948792"/>
            <a:ext cx="5120779" cy="338514"/>
          </a:xfrm>
          <a:prstGeom prst="rect">
            <a:avLst/>
          </a:prstGeom>
          <a:noFill/>
        </p:spPr>
        <p:txBody>
          <a:bodyPr vert="horz" wrap="square" lIns="91412" tIns="45700" rIns="91412" bIns="45700" anchor="ctr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EV/EBITDA</a:t>
            </a:r>
          </a:p>
        </p:txBody>
      </p:sp>
      <p:sp>
        <p:nvSpPr>
          <p:cNvPr id="9" name="AutoShape 9"/>
          <p:cNvSpPr/>
          <p:nvPr/>
        </p:nvSpPr>
        <p:spPr>
          <a:xfrm>
            <a:off x="5780434" y="3122126"/>
            <a:ext cx="515816" cy="515816"/>
          </a:xfrm>
          <a:prstGeom prst="ellipse">
            <a:avLst/>
          </a:prstGeom>
          <a:solidFill>
            <a:srgbClr val="768395">
              <a:lumMod val="20000"/>
              <a:lumOff val="8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5931071" y="3286049"/>
            <a:ext cx="214542" cy="18797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lIns="91440" tIns="45720" rIns="91440" bIns="45720" anchor="ctr">
            <a:normAutofit fontScale="40000" lnSpcReduction="20000"/>
          </a:bodyPr>
          <a:lstStyle/>
          <a:p>
            <a:pPr marL="0" algn="ctr"/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03664" y="5105715"/>
            <a:ext cx="5123712" cy="1023317"/>
          </a:xfrm>
          <a:prstGeom prst="rect">
            <a:avLst/>
          </a:prstGeom>
          <a:noFill/>
        </p:spPr>
        <p:txBody>
          <a:bodyPr vert="horz" wrap="square" lIns="91412" tIns="45700" rIns="91412" bIns="4570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BYD: 0.8 vs. Tesla: 2.5. This shows that BYD has potential for growth.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399710" y="4737144"/>
            <a:ext cx="5120779" cy="338514"/>
          </a:xfrm>
          <a:prstGeom prst="rect">
            <a:avLst/>
          </a:prstGeom>
          <a:noFill/>
        </p:spPr>
        <p:txBody>
          <a:bodyPr vert="horz" wrap="square" lIns="91412" tIns="45700" rIns="91412" bIns="45700" anchor="ctr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PEG Ratio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790410" y="4910478"/>
            <a:ext cx="515816" cy="515816"/>
          </a:xfrm>
          <a:prstGeom prst="ellipse">
            <a:avLst/>
          </a:prstGeom>
          <a:solidFill>
            <a:srgbClr val="768395">
              <a:lumMod val="20000"/>
              <a:lumOff val="8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5961405" y="5061870"/>
            <a:ext cx="173826" cy="21303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lIns="91440" tIns="45720" rIns="91440" bIns="45720" anchor="ctr">
            <a:normAutofit fontScale="47500" lnSpcReduction="20000"/>
          </a:bodyPr>
          <a:lstStyle/>
          <a:p>
            <a:pPr marL="0" algn="ctr"/>
            <a:endParaRPr/>
          </a:p>
        </p:txBody>
      </p:sp>
      <p:cxnSp>
        <p:nvCxnSpPr>
          <p:cNvPr id="15" name="Connector 15"/>
          <p:cNvCxnSpPr/>
          <p:nvPr/>
        </p:nvCxnSpPr>
        <p:spPr>
          <a:xfrm>
            <a:off x="5411498" y="1130300"/>
            <a:ext cx="0" cy="4998732"/>
          </a:xfrm>
          <a:prstGeom prst="line">
            <a:avLst/>
          </a:prstGeom>
          <a:ln w="6350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id="16" name="Connector 16"/>
          <p:cNvCxnSpPr/>
          <p:nvPr/>
        </p:nvCxnSpPr>
        <p:spPr>
          <a:xfrm>
            <a:off x="6500434" y="2780008"/>
            <a:ext cx="3751723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id="17" name="Connector 17"/>
          <p:cNvCxnSpPr/>
          <p:nvPr/>
        </p:nvCxnSpPr>
        <p:spPr>
          <a:xfrm>
            <a:off x="6500434" y="4596015"/>
            <a:ext cx="3751723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sp>
        <p:nvSpPr>
          <p:cNvPr id="18" name="Freeform 18"/>
          <p:cNvSpPr/>
          <p:nvPr/>
        </p:nvSpPr>
        <p:spPr>
          <a:xfrm rot="18900000">
            <a:off x="2336843" y="1411245"/>
            <a:ext cx="1309121" cy="1309120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768395">
              <a:lumMod val="20000"/>
              <a:lumOff val="80000"/>
            </a:srgbClr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9" name="Freeform 19"/>
          <p:cNvSpPr/>
          <p:nvPr/>
        </p:nvSpPr>
        <p:spPr>
          <a:xfrm rot="18900000">
            <a:off x="3664261" y="2736478"/>
            <a:ext cx="1309121" cy="1309120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768395">
              <a:lumMod val="20000"/>
              <a:lumOff val="80000"/>
            </a:srgbClr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0" name="Freeform 20"/>
          <p:cNvSpPr/>
          <p:nvPr/>
        </p:nvSpPr>
        <p:spPr>
          <a:xfrm rot="18900000">
            <a:off x="3190552" y="2255521"/>
            <a:ext cx="923985" cy="94911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cubicBezTo>
                  <a:pt x="2960" y="2851"/>
                  <a:pt x="4637" y="6730"/>
                  <a:pt x="4660" y="10784"/>
                </a:cubicBezTo>
                <a:cubicBezTo>
                  <a:pt x="4684" y="14829"/>
                  <a:pt x="3060" y="18718"/>
                  <a:pt x="144" y="21600"/>
                </a:cubicBezTo>
                <a:lnTo>
                  <a:pt x="21358" y="21288"/>
                </a:lnTo>
                <a:cubicBezTo>
                  <a:pt x="18644" y="18590"/>
                  <a:pt x="17078" y="14994"/>
                  <a:pt x="16974" y="11219"/>
                </a:cubicBezTo>
                <a:cubicBezTo>
                  <a:pt x="16858" y="7040"/>
                  <a:pt x="18534" y="3002"/>
                  <a:pt x="21600" y="75"/>
                </a:cubicBezTo>
                <a:lnTo>
                  <a:pt x="0" y="0"/>
                </a:lnTo>
                <a:close/>
              </a:path>
            </a:pathLst>
          </a:custGeom>
          <a:solidFill>
            <a:srgbClr val="768395">
              <a:lumMod val="20000"/>
              <a:lumOff val="80000"/>
            </a:srgbClr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1" name="Freeform 21"/>
          <p:cNvSpPr/>
          <p:nvPr/>
        </p:nvSpPr>
        <p:spPr>
          <a:xfrm rot="18900000">
            <a:off x="2242663" y="2823942"/>
            <a:ext cx="1309121" cy="1309121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2" name="Freeform 22"/>
          <p:cNvSpPr/>
          <p:nvPr/>
        </p:nvSpPr>
        <p:spPr>
          <a:xfrm rot="18900000">
            <a:off x="3570080" y="4149175"/>
            <a:ext cx="1309121" cy="1309121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3" name="Freeform 23"/>
          <p:cNvSpPr/>
          <p:nvPr/>
        </p:nvSpPr>
        <p:spPr>
          <a:xfrm rot="18900000">
            <a:off x="3096371" y="3668218"/>
            <a:ext cx="923984" cy="94911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cubicBezTo>
                  <a:pt x="2960" y="2851"/>
                  <a:pt x="4637" y="6730"/>
                  <a:pt x="4660" y="10784"/>
                </a:cubicBezTo>
                <a:cubicBezTo>
                  <a:pt x="4684" y="14829"/>
                  <a:pt x="3060" y="18718"/>
                  <a:pt x="144" y="21600"/>
                </a:cubicBezTo>
                <a:lnTo>
                  <a:pt x="21358" y="21288"/>
                </a:lnTo>
                <a:cubicBezTo>
                  <a:pt x="18644" y="18590"/>
                  <a:pt x="17078" y="14994"/>
                  <a:pt x="16974" y="11219"/>
                </a:cubicBezTo>
                <a:cubicBezTo>
                  <a:pt x="16858" y="7040"/>
                  <a:pt x="18534" y="3002"/>
                  <a:pt x="21600" y="7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4" name="Freeform 24"/>
          <p:cNvSpPr/>
          <p:nvPr/>
        </p:nvSpPr>
        <p:spPr>
          <a:xfrm rot="18900000">
            <a:off x="826086" y="2905680"/>
            <a:ext cx="1309121" cy="1309120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768395">
              <a:lumMod val="20000"/>
              <a:lumOff val="80000"/>
            </a:srgbClr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5" name="Freeform 25"/>
          <p:cNvSpPr/>
          <p:nvPr/>
        </p:nvSpPr>
        <p:spPr>
          <a:xfrm rot="18900000">
            <a:off x="2153504" y="4230914"/>
            <a:ext cx="1309121" cy="1309120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768395">
              <a:lumMod val="20000"/>
              <a:lumOff val="80000"/>
            </a:srgbClr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6" name="Freeform 26"/>
          <p:cNvSpPr/>
          <p:nvPr/>
        </p:nvSpPr>
        <p:spPr>
          <a:xfrm rot="18900000">
            <a:off x="1679795" y="3749957"/>
            <a:ext cx="923984" cy="94911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cubicBezTo>
                  <a:pt x="2960" y="2851"/>
                  <a:pt x="4637" y="6730"/>
                  <a:pt x="4660" y="10784"/>
                </a:cubicBezTo>
                <a:cubicBezTo>
                  <a:pt x="4684" y="14829"/>
                  <a:pt x="3060" y="18718"/>
                  <a:pt x="144" y="21600"/>
                </a:cubicBezTo>
                <a:lnTo>
                  <a:pt x="21358" y="21288"/>
                </a:lnTo>
                <a:cubicBezTo>
                  <a:pt x="18644" y="18590"/>
                  <a:pt x="17078" y="14994"/>
                  <a:pt x="16974" y="11219"/>
                </a:cubicBezTo>
                <a:cubicBezTo>
                  <a:pt x="16858" y="7040"/>
                  <a:pt x="18534" y="3002"/>
                  <a:pt x="21600" y="75"/>
                </a:cubicBezTo>
                <a:lnTo>
                  <a:pt x="0" y="0"/>
                </a:lnTo>
                <a:close/>
              </a:path>
            </a:pathLst>
          </a:custGeom>
          <a:solidFill>
            <a:srgbClr val="768395">
              <a:lumMod val="20000"/>
              <a:lumOff val="80000"/>
            </a:srgbClr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4067048" y="3142330"/>
            <a:ext cx="522451" cy="503142"/>
          </a:xfrm>
          <a:custGeom>
            <a:avLst/>
            <a:gdLst/>
            <a:ahLst/>
            <a:cxnLst/>
            <a:rect l="l" t="t" r="r" b="b"/>
            <a:pathLst>
              <a:path w="609050" h="586540">
                <a:moveTo>
                  <a:pt x="216243" y="412730"/>
                </a:moveTo>
                <a:lnTo>
                  <a:pt x="216243" y="456594"/>
                </a:lnTo>
                <a:lnTo>
                  <a:pt x="293953" y="456594"/>
                </a:lnTo>
                <a:lnTo>
                  <a:pt x="293953" y="412730"/>
                </a:lnTo>
                <a:close/>
                <a:moveTo>
                  <a:pt x="69884" y="412730"/>
                </a:moveTo>
                <a:lnTo>
                  <a:pt x="69884" y="456594"/>
                </a:lnTo>
                <a:lnTo>
                  <a:pt x="147595" y="456594"/>
                </a:lnTo>
                <a:lnTo>
                  <a:pt x="147595" y="412730"/>
                </a:lnTo>
                <a:close/>
                <a:moveTo>
                  <a:pt x="460769" y="376268"/>
                </a:moveTo>
                <a:lnTo>
                  <a:pt x="460769" y="414786"/>
                </a:lnTo>
                <a:lnTo>
                  <a:pt x="555916" y="414786"/>
                </a:lnTo>
                <a:lnTo>
                  <a:pt x="555916" y="376268"/>
                </a:lnTo>
                <a:close/>
                <a:moveTo>
                  <a:pt x="216243" y="339670"/>
                </a:moveTo>
                <a:lnTo>
                  <a:pt x="216243" y="383533"/>
                </a:lnTo>
                <a:lnTo>
                  <a:pt x="293953" y="383533"/>
                </a:lnTo>
                <a:lnTo>
                  <a:pt x="293953" y="339670"/>
                </a:lnTo>
                <a:close/>
                <a:moveTo>
                  <a:pt x="69884" y="339670"/>
                </a:moveTo>
                <a:lnTo>
                  <a:pt x="69884" y="383533"/>
                </a:lnTo>
                <a:lnTo>
                  <a:pt x="147595" y="383533"/>
                </a:lnTo>
                <a:lnTo>
                  <a:pt x="147595" y="339670"/>
                </a:lnTo>
                <a:close/>
                <a:moveTo>
                  <a:pt x="460769" y="303071"/>
                </a:moveTo>
                <a:lnTo>
                  <a:pt x="460769" y="341726"/>
                </a:lnTo>
                <a:lnTo>
                  <a:pt x="555916" y="341726"/>
                </a:lnTo>
                <a:lnTo>
                  <a:pt x="555916" y="303071"/>
                </a:lnTo>
                <a:close/>
                <a:moveTo>
                  <a:pt x="216243" y="266609"/>
                </a:moveTo>
                <a:lnTo>
                  <a:pt x="216243" y="310473"/>
                </a:lnTo>
                <a:lnTo>
                  <a:pt x="293953" y="310473"/>
                </a:lnTo>
                <a:lnTo>
                  <a:pt x="293953" y="266609"/>
                </a:lnTo>
                <a:close/>
                <a:moveTo>
                  <a:pt x="69884" y="266609"/>
                </a:moveTo>
                <a:lnTo>
                  <a:pt x="69884" y="310473"/>
                </a:lnTo>
                <a:lnTo>
                  <a:pt x="147595" y="310473"/>
                </a:lnTo>
                <a:lnTo>
                  <a:pt x="147595" y="266609"/>
                </a:lnTo>
                <a:close/>
                <a:moveTo>
                  <a:pt x="460769" y="230010"/>
                </a:moveTo>
                <a:lnTo>
                  <a:pt x="460769" y="268528"/>
                </a:lnTo>
                <a:lnTo>
                  <a:pt x="555916" y="268528"/>
                </a:lnTo>
                <a:lnTo>
                  <a:pt x="555916" y="230010"/>
                </a:lnTo>
                <a:close/>
                <a:moveTo>
                  <a:pt x="216243" y="193549"/>
                </a:moveTo>
                <a:lnTo>
                  <a:pt x="216243" y="237412"/>
                </a:lnTo>
                <a:lnTo>
                  <a:pt x="293953" y="237412"/>
                </a:lnTo>
                <a:lnTo>
                  <a:pt x="293953" y="193549"/>
                </a:lnTo>
                <a:close/>
                <a:moveTo>
                  <a:pt x="69884" y="193549"/>
                </a:moveTo>
                <a:lnTo>
                  <a:pt x="69884" y="237412"/>
                </a:lnTo>
                <a:lnTo>
                  <a:pt x="147595" y="237412"/>
                </a:lnTo>
                <a:lnTo>
                  <a:pt x="147595" y="193549"/>
                </a:lnTo>
                <a:close/>
                <a:moveTo>
                  <a:pt x="460769" y="156950"/>
                </a:moveTo>
                <a:lnTo>
                  <a:pt x="460769" y="195468"/>
                </a:lnTo>
                <a:lnTo>
                  <a:pt x="555916" y="195468"/>
                </a:lnTo>
                <a:lnTo>
                  <a:pt x="555916" y="156950"/>
                </a:lnTo>
                <a:close/>
                <a:moveTo>
                  <a:pt x="192926" y="96251"/>
                </a:moveTo>
                <a:lnTo>
                  <a:pt x="361366" y="96251"/>
                </a:lnTo>
                <a:lnTo>
                  <a:pt x="361366" y="114880"/>
                </a:lnTo>
                <a:lnTo>
                  <a:pt x="192926" y="114880"/>
                </a:lnTo>
                <a:close/>
                <a:moveTo>
                  <a:pt x="192926" y="49819"/>
                </a:moveTo>
                <a:lnTo>
                  <a:pt x="361366" y="49819"/>
                </a:lnTo>
                <a:lnTo>
                  <a:pt x="361366" y="68307"/>
                </a:lnTo>
                <a:lnTo>
                  <a:pt x="192926" y="68307"/>
                </a:lnTo>
                <a:close/>
                <a:moveTo>
                  <a:pt x="166130" y="25222"/>
                </a:moveTo>
                <a:lnTo>
                  <a:pt x="166130" y="155716"/>
                </a:lnTo>
                <a:lnTo>
                  <a:pt x="338987" y="155716"/>
                </a:lnTo>
                <a:lnTo>
                  <a:pt x="338987" y="341040"/>
                </a:lnTo>
                <a:lnTo>
                  <a:pt x="338987" y="531710"/>
                </a:lnTo>
                <a:lnTo>
                  <a:pt x="366721" y="531710"/>
                </a:lnTo>
                <a:lnTo>
                  <a:pt x="366721" y="341040"/>
                </a:lnTo>
                <a:lnTo>
                  <a:pt x="366721" y="155305"/>
                </a:lnTo>
                <a:lnTo>
                  <a:pt x="388002" y="143517"/>
                </a:lnTo>
                <a:lnTo>
                  <a:pt x="388002" y="25222"/>
                </a:lnTo>
                <a:close/>
                <a:moveTo>
                  <a:pt x="140867" y="0"/>
                </a:moveTo>
                <a:lnTo>
                  <a:pt x="413402" y="0"/>
                </a:lnTo>
                <a:lnTo>
                  <a:pt x="413402" y="129398"/>
                </a:lnTo>
                <a:lnTo>
                  <a:pt x="432486" y="118843"/>
                </a:lnTo>
                <a:lnTo>
                  <a:pt x="584199" y="118843"/>
                </a:lnTo>
                <a:lnTo>
                  <a:pt x="584199" y="531710"/>
                </a:lnTo>
                <a:lnTo>
                  <a:pt x="609050" y="531710"/>
                </a:lnTo>
                <a:lnTo>
                  <a:pt x="609050" y="586540"/>
                </a:lnTo>
                <a:lnTo>
                  <a:pt x="0" y="586540"/>
                </a:lnTo>
                <a:lnTo>
                  <a:pt x="0" y="531710"/>
                </a:lnTo>
                <a:lnTo>
                  <a:pt x="24851" y="531710"/>
                </a:lnTo>
                <a:lnTo>
                  <a:pt x="24851" y="155716"/>
                </a:lnTo>
                <a:lnTo>
                  <a:pt x="140867" y="155716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none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2755181" y="1841799"/>
            <a:ext cx="460986" cy="443948"/>
          </a:xfrm>
          <a:custGeom>
            <a:avLst/>
            <a:gdLst/>
            <a:ahLst/>
            <a:cxnLst/>
            <a:rect l="l" t="t" r="r" b="b"/>
            <a:pathLst>
              <a:path w="609050" h="586540">
                <a:moveTo>
                  <a:pt x="216243" y="412730"/>
                </a:moveTo>
                <a:lnTo>
                  <a:pt x="216243" y="456594"/>
                </a:lnTo>
                <a:lnTo>
                  <a:pt x="293953" y="456594"/>
                </a:lnTo>
                <a:lnTo>
                  <a:pt x="293953" y="412730"/>
                </a:lnTo>
                <a:close/>
                <a:moveTo>
                  <a:pt x="69884" y="412730"/>
                </a:moveTo>
                <a:lnTo>
                  <a:pt x="69884" y="456594"/>
                </a:lnTo>
                <a:lnTo>
                  <a:pt x="147595" y="456594"/>
                </a:lnTo>
                <a:lnTo>
                  <a:pt x="147595" y="412730"/>
                </a:lnTo>
                <a:close/>
                <a:moveTo>
                  <a:pt x="460769" y="376268"/>
                </a:moveTo>
                <a:lnTo>
                  <a:pt x="460769" y="414786"/>
                </a:lnTo>
                <a:lnTo>
                  <a:pt x="555916" y="414786"/>
                </a:lnTo>
                <a:lnTo>
                  <a:pt x="555916" y="376268"/>
                </a:lnTo>
                <a:close/>
                <a:moveTo>
                  <a:pt x="216243" y="339670"/>
                </a:moveTo>
                <a:lnTo>
                  <a:pt x="216243" y="383533"/>
                </a:lnTo>
                <a:lnTo>
                  <a:pt x="293953" y="383533"/>
                </a:lnTo>
                <a:lnTo>
                  <a:pt x="293953" y="339670"/>
                </a:lnTo>
                <a:close/>
                <a:moveTo>
                  <a:pt x="69884" y="339670"/>
                </a:moveTo>
                <a:lnTo>
                  <a:pt x="69884" y="383533"/>
                </a:lnTo>
                <a:lnTo>
                  <a:pt x="147595" y="383533"/>
                </a:lnTo>
                <a:lnTo>
                  <a:pt x="147595" y="339670"/>
                </a:lnTo>
                <a:close/>
                <a:moveTo>
                  <a:pt x="460769" y="303071"/>
                </a:moveTo>
                <a:lnTo>
                  <a:pt x="460769" y="341726"/>
                </a:lnTo>
                <a:lnTo>
                  <a:pt x="555916" y="341726"/>
                </a:lnTo>
                <a:lnTo>
                  <a:pt x="555916" y="303071"/>
                </a:lnTo>
                <a:close/>
                <a:moveTo>
                  <a:pt x="216243" y="266609"/>
                </a:moveTo>
                <a:lnTo>
                  <a:pt x="216243" y="310473"/>
                </a:lnTo>
                <a:lnTo>
                  <a:pt x="293953" y="310473"/>
                </a:lnTo>
                <a:lnTo>
                  <a:pt x="293953" y="266609"/>
                </a:lnTo>
                <a:close/>
                <a:moveTo>
                  <a:pt x="69884" y="266609"/>
                </a:moveTo>
                <a:lnTo>
                  <a:pt x="69884" y="310473"/>
                </a:lnTo>
                <a:lnTo>
                  <a:pt x="147595" y="310473"/>
                </a:lnTo>
                <a:lnTo>
                  <a:pt x="147595" y="266609"/>
                </a:lnTo>
                <a:close/>
                <a:moveTo>
                  <a:pt x="460769" y="230010"/>
                </a:moveTo>
                <a:lnTo>
                  <a:pt x="460769" y="268528"/>
                </a:lnTo>
                <a:lnTo>
                  <a:pt x="555916" y="268528"/>
                </a:lnTo>
                <a:lnTo>
                  <a:pt x="555916" y="230010"/>
                </a:lnTo>
                <a:close/>
                <a:moveTo>
                  <a:pt x="216243" y="193549"/>
                </a:moveTo>
                <a:lnTo>
                  <a:pt x="216243" y="237412"/>
                </a:lnTo>
                <a:lnTo>
                  <a:pt x="293953" y="237412"/>
                </a:lnTo>
                <a:lnTo>
                  <a:pt x="293953" y="193549"/>
                </a:lnTo>
                <a:close/>
                <a:moveTo>
                  <a:pt x="69884" y="193549"/>
                </a:moveTo>
                <a:lnTo>
                  <a:pt x="69884" y="237412"/>
                </a:lnTo>
                <a:lnTo>
                  <a:pt x="147595" y="237412"/>
                </a:lnTo>
                <a:lnTo>
                  <a:pt x="147595" y="193549"/>
                </a:lnTo>
                <a:close/>
                <a:moveTo>
                  <a:pt x="460769" y="156950"/>
                </a:moveTo>
                <a:lnTo>
                  <a:pt x="460769" y="195468"/>
                </a:lnTo>
                <a:lnTo>
                  <a:pt x="555916" y="195468"/>
                </a:lnTo>
                <a:lnTo>
                  <a:pt x="555916" y="156950"/>
                </a:lnTo>
                <a:close/>
                <a:moveTo>
                  <a:pt x="192926" y="96251"/>
                </a:moveTo>
                <a:lnTo>
                  <a:pt x="361366" y="96251"/>
                </a:lnTo>
                <a:lnTo>
                  <a:pt x="361366" y="114880"/>
                </a:lnTo>
                <a:lnTo>
                  <a:pt x="192926" y="114880"/>
                </a:lnTo>
                <a:close/>
                <a:moveTo>
                  <a:pt x="192926" y="49819"/>
                </a:moveTo>
                <a:lnTo>
                  <a:pt x="361366" y="49819"/>
                </a:lnTo>
                <a:lnTo>
                  <a:pt x="361366" y="68307"/>
                </a:lnTo>
                <a:lnTo>
                  <a:pt x="192926" y="68307"/>
                </a:lnTo>
                <a:close/>
                <a:moveTo>
                  <a:pt x="166130" y="25222"/>
                </a:moveTo>
                <a:lnTo>
                  <a:pt x="166130" y="155716"/>
                </a:lnTo>
                <a:lnTo>
                  <a:pt x="338987" y="155716"/>
                </a:lnTo>
                <a:lnTo>
                  <a:pt x="338987" y="341040"/>
                </a:lnTo>
                <a:lnTo>
                  <a:pt x="338987" y="531710"/>
                </a:lnTo>
                <a:lnTo>
                  <a:pt x="366721" y="531710"/>
                </a:lnTo>
                <a:lnTo>
                  <a:pt x="366721" y="341040"/>
                </a:lnTo>
                <a:lnTo>
                  <a:pt x="366721" y="155305"/>
                </a:lnTo>
                <a:lnTo>
                  <a:pt x="388002" y="143517"/>
                </a:lnTo>
                <a:lnTo>
                  <a:pt x="388002" y="25222"/>
                </a:lnTo>
                <a:close/>
                <a:moveTo>
                  <a:pt x="140867" y="0"/>
                </a:moveTo>
                <a:lnTo>
                  <a:pt x="413402" y="0"/>
                </a:lnTo>
                <a:lnTo>
                  <a:pt x="413402" y="129398"/>
                </a:lnTo>
                <a:lnTo>
                  <a:pt x="432486" y="118843"/>
                </a:lnTo>
                <a:lnTo>
                  <a:pt x="584199" y="118843"/>
                </a:lnTo>
                <a:lnTo>
                  <a:pt x="584199" y="531710"/>
                </a:lnTo>
                <a:lnTo>
                  <a:pt x="609050" y="531710"/>
                </a:lnTo>
                <a:lnTo>
                  <a:pt x="609050" y="586540"/>
                </a:lnTo>
                <a:lnTo>
                  <a:pt x="0" y="586540"/>
                </a:lnTo>
                <a:lnTo>
                  <a:pt x="0" y="531710"/>
                </a:lnTo>
                <a:lnTo>
                  <a:pt x="24851" y="531710"/>
                </a:lnTo>
                <a:lnTo>
                  <a:pt x="24851" y="155716"/>
                </a:lnTo>
                <a:lnTo>
                  <a:pt x="140867" y="155716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none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2646146" y="4691087"/>
            <a:ext cx="371729" cy="357990"/>
          </a:xfrm>
          <a:custGeom>
            <a:avLst/>
            <a:gdLst/>
            <a:ahLst/>
            <a:cxnLst/>
            <a:rect l="l" t="t" r="r" b="b"/>
            <a:pathLst>
              <a:path w="609050" h="586540">
                <a:moveTo>
                  <a:pt x="216243" y="412730"/>
                </a:moveTo>
                <a:lnTo>
                  <a:pt x="216243" y="456594"/>
                </a:lnTo>
                <a:lnTo>
                  <a:pt x="293953" y="456594"/>
                </a:lnTo>
                <a:lnTo>
                  <a:pt x="293953" y="412730"/>
                </a:lnTo>
                <a:close/>
                <a:moveTo>
                  <a:pt x="69884" y="412730"/>
                </a:moveTo>
                <a:lnTo>
                  <a:pt x="69884" y="456594"/>
                </a:lnTo>
                <a:lnTo>
                  <a:pt x="147595" y="456594"/>
                </a:lnTo>
                <a:lnTo>
                  <a:pt x="147595" y="412730"/>
                </a:lnTo>
                <a:close/>
                <a:moveTo>
                  <a:pt x="460769" y="376268"/>
                </a:moveTo>
                <a:lnTo>
                  <a:pt x="460769" y="414786"/>
                </a:lnTo>
                <a:lnTo>
                  <a:pt x="555916" y="414786"/>
                </a:lnTo>
                <a:lnTo>
                  <a:pt x="555916" y="376268"/>
                </a:lnTo>
                <a:close/>
                <a:moveTo>
                  <a:pt x="216243" y="339670"/>
                </a:moveTo>
                <a:lnTo>
                  <a:pt x="216243" y="383533"/>
                </a:lnTo>
                <a:lnTo>
                  <a:pt x="293953" y="383533"/>
                </a:lnTo>
                <a:lnTo>
                  <a:pt x="293953" y="339670"/>
                </a:lnTo>
                <a:close/>
                <a:moveTo>
                  <a:pt x="69884" y="339670"/>
                </a:moveTo>
                <a:lnTo>
                  <a:pt x="69884" y="383533"/>
                </a:lnTo>
                <a:lnTo>
                  <a:pt x="147595" y="383533"/>
                </a:lnTo>
                <a:lnTo>
                  <a:pt x="147595" y="339670"/>
                </a:lnTo>
                <a:close/>
                <a:moveTo>
                  <a:pt x="460769" y="303071"/>
                </a:moveTo>
                <a:lnTo>
                  <a:pt x="460769" y="341726"/>
                </a:lnTo>
                <a:lnTo>
                  <a:pt x="555916" y="341726"/>
                </a:lnTo>
                <a:lnTo>
                  <a:pt x="555916" y="303071"/>
                </a:lnTo>
                <a:close/>
                <a:moveTo>
                  <a:pt x="216243" y="266609"/>
                </a:moveTo>
                <a:lnTo>
                  <a:pt x="216243" y="310473"/>
                </a:lnTo>
                <a:lnTo>
                  <a:pt x="293953" y="310473"/>
                </a:lnTo>
                <a:lnTo>
                  <a:pt x="293953" y="266609"/>
                </a:lnTo>
                <a:close/>
                <a:moveTo>
                  <a:pt x="69884" y="266609"/>
                </a:moveTo>
                <a:lnTo>
                  <a:pt x="69884" y="310473"/>
                </a:lnTo>
                <a:lnTo>
                  <a:pt x="147595" y="310473"/>
                </a:lnTo>
                <a:lnTo>
                  <a:pt x="147595" y="266609"/>
                </a:lnTo>
                <a:close/>
                <a:moveTo>
                  <a:pt x="460769" y="230010"/>
                </a:moveTo>
                <a:lnTo>
                  <a:pt x="460769" y="268528"/>
                </a:lnTo>
                <a:lnTo>
                  <a:pt x="555916" y="268528"/>
                </a:lnTo>
                <a:lnTo>
                  <a:pt x="555916" y="230010"/>
                </a:lnTo>
                <a:close/>
                <a:moveTo>
                  <a:pt x="216243" y="193549"/>
                </a:moveTo>
                <a:lnTo>
                  <a:pt x="216243" y="237412"/>
                </a:lnTo>
                <a:lnTo>
                  <a:pt x="293953" y="237412"/>
                </a:lnTo>
                <a:lnTo>
                  <a:pt x="293953" y="193549"/>
                </a:lnTo>
                <a:close/>
                <a:moveTo>
                  <a:pt x="69884" y="193549"/>
                </a:moveTo>
                <a:lnTo>
                  <a:pt x="69884" y="237412"/>
                </a:lnTo>
                <a:lnTo>
                  <a:pt x="147595" y="237412"/>
                </a:lnTo>
                <a:lnTo>
                  <a:pt x="147595" y="193549"/>
                </a:lnTo>
                <a:close/>
                <a:moveTo>
                  <a:pt x="460769" y="156950"/>
                </a:moveTo>
                <a:lnTo>
                  <a:pt x="460769" y="195468"/>
                </a:lnTo>
                <a:lnTo>
                  <a:pt x="555916" y="195468"/>
                </a:lnTo>
                <a:lnTo>
                  <a:pt x="555916" y="156950"/>
                </a:lnTo>
                <a:close/>
                <a:moveTo>
                  <a:pt x="192926" y="96251"/>
                </a:moveTo>
                <a:lnTo>
                  <a:pt x="361366" y="96251"/>
                </a:lnTo>
                <a:lnTo>
                  <a:pt x="361366" y="114880"/>
                </a:lnTo>
                <a:lnTo>
                  <a:pt x="192926" y="114880"/>
                </a:lnTo>
                <a:close/>
                <a:moveTo>
                  <a:pt x="192926" y="49819"/>
                </a:moveTo>
                <a:lnTo>
                  <a:pt x="361366" y="49819"/>
                </a:lnTo>
                <a:lnTo>
                  <a:pt x="361366" y="68307"/>
                </a:lnTo>
                <a:lnTo>
                  <a:pt x="192926" y="68307"/>
                </a:lnTo>
                <a:close/>
                <a:moveTo>
                  <a:pt x="166130" y="25222"/>
                </a:moveTo>
                <a:lnTo>
                  <a:pt x="166130" y="155716"/>
                </a:lnTo>
                <a:lnTo>
                  <a:pt x="338987" y="155716"/>
                </a:lnTo>
                <a:lnTo>
                  <a:pt x="338987" y="341040"/>
                </a:lnTo>
                <a:lnTo>
                  <a:pt x="338987" y="531710"/>
                </a:lnTo>
                <a:lnTo>
                  <a:pt x="366721" y="531710"/>
                </a:lnTo>
                <a:lnTo>
                  <a:pt x="366721" y="341040"/>
                </a:lnTo>
                <a:lnTo>
                  <a:pt x="366721" y="155305"/>
                </a:lnTo>
                <a:lnTo>
                  <a:pt x="388002" y="143517"/>
                </a:lnTo>
                <a:lnTo>
                  <a:pt x="388002" y="25222"/>
                </a:lnTo>
                <a:close/>
                <a:moveTo>
                  <a:pt x="140867" y="0"/>
                </a:moveTo>
                <a:lnTo>
                  <a:pt x="413402" y="0"/>
                </a:lnTo>
                <a:lnTo>
                  <a:pt x="413402" y="129398"/>
                </a:lnTo>
                <a:lnTo>
                  <a:pt x="432486" y="118843"/>
                </a:lnTo>
                <a:lnTo>
                  <a:pt x="584199" y="118843"/>
                </a:lnTo>
                <a:lnTo>
                  <a:pt x="584199" y="531710"/>
                </a:lnTo>
                <a:lnTo>
                  <a:pt x="609050" y="531710"/>
                </a:lnTo>
                <a:lnTo>
                  <a:pt x="609050" y="586540"/>
                </a:lnTo>
                <a:lnTo>
                  <a:pt x="0" y="586540"/>
                </a:lnTo>
                <a:lnTo>
                  <a:pt x="0" y="531710"/>
                </a:lnTo>
                <a:lnTo>
                  <a:pt x="24851" y="531710"/>
                </a:lnTo>
                <a:lnTo>
                  <a:pt x="24851" y="155716"/>
                </a:lnTo>
                <a:lnTo>
                  <a:pt x="140867" y="155716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none" lIns="91440" tIns="45720" rIns="91440" bIns="45720" anchor="ctr">
            <a:normAutofit lnSpcReduction="10000"/>
          </a:bodyPr>
          <a:lstStyle/>
          <a:p>
            <a:pPr marL="0" algn="l"/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1304273" y="3398329"/>
            <a:ext cx="394553" cy="379970"/>
          </a:xfrm>
          <a:custGeom>
            <a:avLst/>
            <a:gdLst/>
            <a:ahLst/>
            <a:cxnLst/>
            <a:rect l="l" t="t" r="r" b="b"/>
            <a:pathLst>
              <a:path w="609050" h="586540">
                <a:moveTo>
                  <a:pt x="216243" y="412730"/>
                </a:moveTo>
                <a:lnTo>
                  <a:pt x="216243" y="456594"/>
                </a:lnTo>
                <a:lnTo>
                  <a:pt x="293953" y="456594"/>
                </a:lnTo>
                <a:lnTo>
                  <a:pt x="293953" y="412730"/>
                </a:lnTo>
                <a:close/>
                <a:moveTo>
                  <a:pt x="69884" y="412730"/>
                </a:moveTo>
                <a:lnTo>
                  <a:pt x="69884" y="456594"/>
                </a:lnTo>
                <a:lnTo>
                  <a:pt x="147595" y="456594"/>
                </a:lnTo>
                <a:lnTo>
                  <a:pt x="147595" y="412730"/>
                </a:lnTo>
                <a:close/>
                <a:moveTo>
                  <a:pt x="460769" y="376268"/>
                </a:moveTo>
                <a:lnTo>
                  <a:pt x="460769" y="414786"/>
                </a:lnTo>
                <a:lnTo>
                  <a:pt x="555916" y="414786"/>
                </a:lnTo>
                <a:lnTo>
                  <a:pt x="555916" y="376268"/>
                </a:lnTo>
                <a:close/>
                <a:moveTo>
                  <a:pt x="216243" y="339670"/>
                </a:moveTo>
                <a:lnTo>
                  <a:pt x="216243" y="383533"/>
                </a:lnTo>
                <a:lnTo>
                  <a:pt x="293953" y="383533"/>
                </a:lnTo>
                <a:lnTo>
                  <a:pt x="293953" y="339670"/>
                </a:lnTo>
                <a:close/>
                <a:moveTo>
                  <a:pt x="69884" y="339670"/>
                </a:moveTo>
                <a:lnTo>
                  <a:pt x="69884" y="383533"/>
                </a:lnTo>
                <a:lnTo>
                  <a:pt x="147595" y="383533"/>
                </a:lnTo>
                <a:lnTo>
                  <a:pt x="147595" y="339670"/>
                </a:lnTo>
                <a:close/>
                <a:moveTo>
                  <a:pt x="460769" y="303071"/>
                </a:moveTo>
                <a:lnTo>
                  <a:pt x="460769" y="341726"/>
                </a:lnTo>
                <a:lnTo>
                  <a:pt x="555916" y="341726"/>
                </a:lnTo>
                <a:lnTo>
                  <a:pt x="555916" y="303071"/>
                </a:lnTo>
                <a:close/>
                <a:moveTo>
                  <a:pt x="216243" y="266609"/>
                </a:moveTo>
                <a:lnTo>
                  <a:pt x="216243" y="310473"/>
                </a:lnTo>
                <a:lnTo>
                  <a:pt x="293953" y="310473"/>
                </a:lnTo>
                <a:lnTo>
                  <a:pt x="293953" y="266609"/>
                </a:lnTo>
                <a:close/>
                <a:moveTo>
                  <a:pt x="69884" y="266609"/>
                </a:moveTo>
                <a:lnTo>
                  <a:pt x="69884" y="310473"/>
                </a:lnTo>
                <a:lnTo>
                  <a:pt x="147595" y="310473"/>
                </a:lnTo>
                <a:lnTo>
                  <a:pt x="147595" y="266609"/>
                </a:lnTo>
                <a:close/>
                <a:moveTo>
                  <a:pt x="460769" y="230010"/>
                </a:moveTo>
                <a:lnTo>
                  <a:pt x="460769" y="268528"/>
                </a:lnTo>
                <a:lnTo>
                  <a:pt x="555916" y="268528"/>
                </a:lnTo>
                <a:lnTo>
                  <a:pt x="555916" y="230010"/>
                </a:lnTo>
                <a:close/>
                <a:moveTo>
                  <a:pt x="216243" y="193549"/>
                </a:moveTo>
                <a:lnTo>
                  <a:pt x="216243" y="237412"/>
                </a:lnTo>
                <a:lnTo>
                  <a:pt x="293953" y="237412"/>
                </a:lnTo>
                <a:lnTo>
                  <a:pt x="293953" y="193549"/>
                </a:lnTo>
                <a:close/>
                <a:moveTo>
                  <a:pt x="69884" y="193549"/>
                </a:moveTo>
                <a:lnTo>
                  <a:pt x="69884" y="237412"/>
                </a:lnTo>
                <a:lnTo>
                  <a:pt x="147595" y="237412"/>
                </a:lnTo>
                <a:lnTo>
                  <a:pt x="147595" y="193549"/>
                </a:lnTo>
                <a:close/>
                <a:moveTo>
                  <a:pt x="460769" y="156950"/>
                </a:moveTo>
                <a:lnTo>
                  <a:pt x="460769" y="195468"/>
                </a:lnTo>
                <a:lnTo>
                  <a:pt x="555916" y="195468"/>
                </a:lnTo>
                <a:lnTo>
                  <a:pt x="555916" y="156950"/>
                </a:lnTo>
                <a:close/>
                <a:moveTo>
                  <a:pt x="192926" y="96251"/>
                </a:moveTo>
                <a:lnTo>
                  <a:pt x="361366" y="96251"/>
                </a:lnTo>
                <a:lnTo>
                  <a:pt x="361366" y="114880"/>
                </a:lnTo>
                <a:lnTo>
                  <a:pt x="192926" y="114880"/>
                </a:lnTo>
                <a:close/>
                <a:moveTo>
                  <a:pt x="192926" y="49819"/>
                </a:moveTo>
                <a:lnTo>
                  <a:pt x="361366" y="49819"/>
                </a:lnTo>
                <a:lnTo>
                  <a:pt x="361366" y="68307"/>
                </a:lnTo>
                <a:lnTo>
                  <a:pt x="192926" y="68307"/>
                </a:lnTo>
                <a:close/>
                <a:moveTo>
                  <a:pt x="166130" y="25222"/>
                </a:moveTo>
                <a:lnTo>
                  <a:pt x="166130" y="155716"/>
                </a:lnTo>
                <a:lnTo>
                  <a:pt x="338987" y="155716"/>
                </a:lnTo>
                <a:lnTo>
                  <a:pt x="338987" y="341040"/>
                </a:lnTo>
                <a:lnTo>
                  <a:pt x="338987" y="531710"/>
                </a:lnTo>
                <a:lnTo>
                  <a:pt x="366721" y="531710"/>
                </a:lnTo>
                <a:lnTo>
                  <a:pt x="366721" y="341040"/>
                </a:lnTo>
                <a:lnTo>
                  <a:pt x="366721" y="155305"/>
                </a:lnTo>
                <a:lnTo>
                  <a:pt x="388002" y="143517"/>
                </a:lnTo>
                <a:lnTo>
                  <a:pt x="388002" y="25222"/>
                </a:lnTo>
                <a:close/>
                <a:moveTo>
                  <a:pt x="140867" y="0"/>
                </a:moveTo>
                <a:lnTo>
                  <a:pt x="413402" y="0"/>
                </a:lnTo>
                <a:lnTo>
                  <a:pt x="413402" y="129398"/>
                </a:lnTo>
                <a:lnTo>
                  <a:pt x="432486" y="118843"/>
                </a:lnTo>
                <a:lnTo>
                  <a:pt x="584199" y="118843"/>
                </a:lnTo>
                <a:lnTo>
                  <a:pt x="584199" y="531710"/>
                </a:lnTo>
                <a:lnTo>
                  <a:pt x="609050" y="531710"/>
                </a:lnTo>
                <a:lnTo>
                  <a:pt x="609050" y="586540"/>
                </a:lnTo>
                <a:lnTo>
                  <a:pt x="0" y="586540"/>
                </a:lnTo>
                <a:lnTo>
                  <a:pt x="0" y="531710"/>
                </a:lnTo>
                <a:lnTo>
                  <a:pt x="24851" y="531710"/>
                </a:lnTo>
                <a:lnTo>
                  <a:pt x="24851" y="155716"/>
                </a:lnTo>
                <a:lnTo>
                  <a:pt x="140867" y="155716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none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1" name="Freeform 31"/>
          <p:cNvSpPr/>
          <p:nvPr/>
        </p:nvSpPr>
        <p:spPr>
          <a:xfrm rot="16200000">
            <a:off x="2626108" y="3190739"/>
            <a:ext cx="587546" cy="601470"/>
          </a:xfrm>
          <a:custGeom>
            <a:avLst/>
            <a:gdLst/>
            <a:ahLst/>
            <a:cxnLst/>
            <a:rect l="l" t="t" r="r" b="b"/>
            <a:pathLst>
              <a:path w="452" h="462">
                <a:moveTo>
                  <a:pt x="275" y="301"/>
                </a:moveTo>
                <a:lnTo>
                  <a:pt x="275" y="301"/>
                </a:lnTo>
                <a:cubicBezTo>
                  <a:pt x="275" y="301"/>
                  <a:pt x="451" y="169"/>
                  <a:pt x="434" y="26"/>
                </a:cubicBezTo>
                <a:lnTo>
                  <a:pt x="434" y="18"/>
                </a:lnTo>
                <a:cubicBezTo>
                  <a:pt x="425" y="18"/>
                  <a:pt x="425" y="18"/>
                  <a:pt x="425" y="18"/>
                </a:cubicBezTo>
                <a:cubicBezTo>
                  <a:pt x="284" y="0"/>
                  <a:pt x="159" y="178"/>
                  <a:pt x="159" y="178"/>
                </a:cubicBezTo>
                <a:cubicBezTo>
                  <a:pt x="53" y="159"/>
                  <a:pt x="62" y="186"/>
                  <a:pt x="9" y="301"/>
                </a:cubicBezTo>
                <a:cubicBezTo>
                  <a:pt x="0" y="328"/>
                  <a:pt x="18" y="328"/>
                  <a:pt x="35" y="328"/>
                </a:cubicBezTo>
                <a:cubicBezTo>
                  <a:pt x="53" y="319"/>
                  <a:pt x="88" y="310"/>
                  <a:pt x="88" y="310"/>
                </a:cubicBezTo>
                <a:cubicBezTo>
                  <a:pt x="151" y="372"/>
                  <a:pt x="151" y="372"/>
                  <a:pt x="151" y="372"/>
                </a:cubicBezTo>
                <a:cubicBezTo>
                  <a:pt x="151" y="372"/>
                  <a:pt x="141" y="407"/>
                  <a:pt x="133" y="425"/>
                </a:cubicBezTo>
                <a:cubicBezTo>
                  <a:pt x="124" y="443"/>
                  <a:pt x="133" y="461"/>
                  <a:pt x="151" y="452"/>
                </a:cubicBezTo>
                <a:cubicBezTo>
                  <a:pt x="266" y="398"/>
                  <a:pt x="292" y="407"/>
                  <a:pt x="275" y="301"/>
                </a:cubicBezTo>
                <a:close/>
                <a:moveTo>
                  <a:pt x="301" y="150"/>
                </a:moveTo>
                <a:lnTo>
                  <a:pt x="301" y="150"/>
                </a:lnTo>
                <a:cubicBezTo>
                  <a:pt x="284" y="133"/>
                  <a:pt x="284" y="115"/>
                  <a:pt x="301" y="97"/>
                </a:cubicBezTo>
                <a:cubicBezTo>
                  <a:pt x="319" y="80"/>
                  <a:pt x="345" y="80"/>
                  <a:pt x="354" y="97"/>
                </a:cubicBezTo>
                <a:cubicBezTo>
                  <a:pt x="372" y="115"/>
                  <a:pt x="372" y="133"/>
                  <a:pt x="354" y="150"/>
                </a:cubicBezTo>
                <a:cubicBezTo>
                  <a:pt x="345" y="169"/>
                  <a:pt x="319" y="169"/>
                  <a:pt x="301" y="15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3473174" y="2036600"/>
            <a:ext cx="234950" cy="832644"/>
          </a:xfrm>
          <a:custGeom>
            <a:avLst/>
            <a:gdLst/>
            <a:ahLst/>
            <a:cxnLst/>
            <a:rect l="l" t="t" r="r" b="b"/>
            <a:pathLst>
              <a:path w="21467" h="21506">
                <a:moveTo>
                  <a:pt x="20549" y="21506"/>
                </a:moveTo>
                <a:lnTo>
                  <a:pt x="11083" y="21506"/>
                </a:lnTo>
                <a:cubicBezTo>
                  <a:pt x="8114" y="21393"/>
                  <a:pt x="5380" y="20988"/>
                  <a:pt x="3360" y="20363"/>
                </a:cubicBezTo>
                <a:cubicBezTo>
                  <a:pt x="1071" y="19655"/>
                  <a:pt x="-133" y="18720"/>
                  <a:pt x="11" y="17762"/>
                </a:cubicBezTo>
                <a:lnTo>
                  <a:pt x="11" y="3540"/>
                </a:lnTo>
                <a:cubicBezTo>
                  <a:pt x="58" y="2557"/>
                  <a:pt x="1530" y="1623"/>
                  <a:pt x="4083" y="956"/>
                </a:cubicBezTo>
                <a:cubicBezTo>
                  <a:pt x="6797" y="247"/>
                  <a:pt x="10470" y="-94"/>
                  <a:pt x="14144" y="23"/>
                </a:cubicBezTo>
                <a:lnTo>
                  <a:pt x="21467" y="23"/>
                </a:lnTo>
              </a:path>
            </a:pathLst>
          </a:custGeom>
          <a:noFill/>
          <a:ln w="19050" cap="flat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l" fontAlgn="base"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884459" y="1685677"/>
            <a:ext cx="3562184" cy="6455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vert="horz" wrap="square" lIns="91440" tIns="45720" rIns="91440" bIns="45720" anchor="ctr">
            <a:noAutofit/>
          </a:bodyPr>
          <a:lstStyle/>
          <a:p>
            <a:pPr marL="0" algn="ctr">
              <a:spcBef>
                <a:spcPct val="0"/>
              </a:spcBef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Tesla's Premium</a:t>
            </a:r>
          </a:p>
        </p:txBody>
      </p:sp>
      <p:sp>
        <p:nvSpPr>
          <p:cNvPr id="4" name="AutoShape 4"/>
          <p:cNvSpPr/>
          <p:nvPr/>
        </p:nvSpPr>
        <p:spPr>
          <a:xfrm>
            <a:off x="1884459" y="2570396"/>
            <a:ext cx="3562183" cy="2335559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wrap="square" lIns="91440" tIns="406800" rIns="91440" bIns="45720" anchor="t">
            <a:no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Tesla trades at a significant premium despite slowing growth. This is not a good thing.</a:t>
            </a:r>
          </a:p>
        </p:txBody>
      </p:sp>
      <p:sp>
        <p:nvSpPr>
          <p:cNvPr id="5" name="Freeform 5"/>
          <p:cNvSpPr/>
          <p:nvPr/>
        </p:nvSpPr>
        <p:spPr>
          <a:xfrm rot="5400000">
            <a:off x="8759669" y="2036599"/>
            <a:ext cx="234950" cy="832644"/>
          </a:xfrm>
          <a:custGeom>
            <a:avLst/>
            <a:gdLst/>
            <a:ahLst/>
            <a:cxnLst/>
            <a:rect l="l" t="t" r="r" b="b"/>
            <a:pathLst>
              <a:path w="21467" h="21506">
                <a:moveTo>
                  <a:pt x="20549" y="21506"/>
                </a:moveTo>
                <a:lnTo>
                  <a:pt x="11083" y="21506"/>
                </a:lnTo>
                <a:cubicBezTo>
                  <a:pt x="8114" y="21393"/>
                  <a:pt x="5380" y="20988"/>
                  <a:pt x="3360" y="20363"/>
                </a:cubicBezTo>
                <a:cubicBezTo>
                  <a:pt x="1071" y="19655"/>
                  <a:pt x="-133" y="18720"/>
                  <a:pt x="11" y="17762"/>
                </a:cubicBezTo>
                <a:lnTo>
                  <a:pt x="11" y="3540"/>
                </a:lnTo>
                <a:cubicBezTo>
                  <a:pt x="58" y="2557"/>
                  <a:pt x="1530" y="1623"/>
                  <a:pt x="4083" y="956"/>
                </a:cubicBezTo>
                <a:cubicBezTo>
                  <a:pt x="6797" y="247"/>
                  <a:pt x="10470" y="-94"/>
                  <a:pt x="14144" y="23"/>
                </a:cubicBezTo>
                <a:lnTo>
                  <a:pt x="21467" y="23"/>
                </a:lnTo>
              </a:path>
            </a:pathLst>
          </a:custGeom>
          <a:noFill/>
          <a:ln w="19050" cap="flat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l" fontAlgn="base"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170953" y="1704696"/>
            <a:ext cx="3562184" cy="6455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vert="horz" wrap="square" lIns="91440" tIns="45720" rIns="91440" bIns="45720" anchor="ctr">
            <a:noAutofit/>
          </a:bodyPr>
          <a:lstStyle/>
          <a:p>
            <a:pPr marL="0" algn="ctr">
              <a:spcBef>
                <a:spcPct val="0"/>
              </a:spcBef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Visual Aid</a:t>
            </a:r>
          </a:p>
        </p:txBody>
      </p:sp>
      <p:sp>
        <p:nvSpPr>
          <p:cNvPr id="7" name="AutoShape 7"/>
          <p:cNvSpPr/>
          <p:nvPr/>
        </p:nvSpPr>
        <p:spPr>
          <a:xfrm>
            <a:off x="7170953" y="2570396"/>
            <a:ext cx="3562183" cy="2335559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wrap="square" lIns="91440" tIns="406800" rIns="91440" bIns="45720" anchor="t">
            <a:no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Valuation Multiples Heatmap, a visual reprentation of this data.</a:t>
            </a:r>
          </a:p>
        </p:txBody>
      </p:sp>
      <p:sp>
        <p:nvSpPr>
          <p:cNvPr id="8" name="AutoShape 8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Conclusion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Fundamental Catalysts &amp; Risks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BYD Catalysts</a:t>
            </a:r>
          </a:p>
        </p:txBody>
      </p:sp>
      <p:sp>
        <p:nvSpPr>
          <p:cNvPr id="3" name="Freeform 3"/>
          <p:cNvSpPr/>
          <p:nvPr/>
        </p:nvSpPr>
        <p:spPr>
          <a:xfrm rot="5400000">
            <a:off x="2258640" y="2139967"/>
            <a:ext cx="234950" cy="832644"/>
          </a:xfrm>
          <a:custGeom>
            <a:avLst/>
            <a:gdLst/>
            <a:ahLst/>
            <a:cxnLst/>
            <a:rect l="l" t="t" r="r" b="b"/>
            <a:pathLst>
              <a:path w="21467" h="21506">
                <a:moveTo>
                  <a:pt x="20549" y="21506"/>
                </a:moveTo>
                <a:lnTo>
                  <a:pt x="11083" y="21506"/>
                </a:lnTo>
                <a:cubicBezTo>
                  <a:pt x="8114" y="21393"/>
                  <a:pt x="5380" y="20988"/>
                  <a:pt x="3360" y="20363"/>
                </a:cubicBezTo>
                <a:cubicBezTo>
                  <a:pt x="1071" y="19655"/>
                  <a:pt x="-133" y="18720"/>
                  <a:pt x="11" y="17762"/>
                </a:cubicBezTo>
                <a:lnTo>
                  <a:pt x="11" y="3540"/>
                </a:lnTo>
                <a:cubicBezTo>
                  <a:pt x="58" y="2557"/>
                  <a:pt x="1530" y="1623"/>
                  <a:pt x="4083" y="956"/>
                </a:cubicBezTo>
                <a:cubicBezTo>
                  <a:pt x="6797" y="247"/>
                  <a:pt x="10470" y="-94"/>
                  <a:pt x="14144" y="23"/>
                </a:cubicBezTo>
                <a:lnTo>
                  <a:pt x="21467" y="23"/>
                </a:lnTo>
              </a:path>
            </a:pathLst>
          </a:custGeom>
          <a:noFill/>
          <a:ln w="19050" cap="flat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l" fontAlgn="base"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69925" y="1789044"/>
            <a:ext cx="3562184" cy="6455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vert="horz" wrap="square" lIns="91440" tIns="45720" rIns="91440" bIns="45720" anchor="ctr">
            <a:noAutofit/>
          </a:bodyPr>
          <a:lstStyle/>
          <a:p>
            <a:pPr marL="0" algn="ctr">
              <a:spcBef>
                <a:spcPct val="0"/>
              </a:spcBef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Battery Cost Leadership</a:t>
            </a:r>
          </a:p>
        </p:txBody>
      </p:sp>
      <p:sp>
        <p:nvSpPr>
          <p:cNvPr id="5" name="AutoShape 5"/>
          <p:cNvSpPr/>
          <p:nvPr/>
        </p:nvSpPr>
        <p:spPr>
          <a:xfrm>
            <a:off x="669925" y="2673763"/>
            <a:ext cx="3562183" cy="2335559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wrap="square" lIns="91440" tIns="406800" rIns="91440" bIns="45720" anchor="t">
            <a:no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BYD's LFP technology lowers battery costs. LFP batteries provide a cost-effective competitive advantage for BYD.</a:t>
            </a:r>
          </a:p>
        </p:txBody>
      </p:sp>
      <p:sp>
        <p:nvSpPr>
          <p:cNvPr id="6" name="Freeform 6"/>
          <p:cNvSpPr/>
          <p:nvPr/>
        </p:nvSpPr>
        <p:spPr>
          <a:xfrm rot="5400000">
            <a:off x="5909616" y="2139967"/>
            <a:ext cx="234950" cy="832644"/>
          </a:xfrm>
          <a:custGeom>
            <a:avLst/>
            <a:gdLst/>
            <a:ahLst/>
            <a:cxnLst/>
            <a:rect l="l" t="t" r="r" b="b"/>
            <a:pathLst>
              <a:path w="21467" h="21506">
                <a:moveTo>
                  <a:pt x="20549" y="21506"/>
                </a:moveTo>
                <a:lnTo>
                  <a:pt x="11083" y="21506"/>
                </a:lnTo>
                <a:cubicBezTo>
                  <a:pt x="8114" y="21393"/>
                  <a:pt x="5380" y="20988"/>
                  <a:pt x="3360" y="20363"/>
                </a:cubicBezTo>
                <a:cubicBezTo>
                  <a:pt x="1071" y="19655"/>
                  <a:pt x="-133" y="18720"/>
                  <a:pt x="11" y="17762"/>
                </a:cubicBezTo>
                <a:lnTo>
                  <a:pt x="11" y="3540"/>
                </a:lnTo>
                <a:cubicBezTo>
                  <a:pt x="58" y="2557"/>
                  <a:pt x="1530" y="1623"/>
                  <a:pt x="4083" y="956"/>
                </a:cubicBezTo>
                <a:cubicBezTo>
                  <a:pt x="6797" y="247"/>
                  <a:pt x="10470" y="-94"/>
                  <a:pt x="14144" y="23"/>
                </a:cubicBezTo>
                <a:lnTo>
                  <a:pt x="21467" y="23"/>
                </a:lnTo>
              </a:path>
            </a:pathLst>
          </a:custGeom>
          <a:noFill/>
          <a:ln w="19050" cap="flat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l" fontAlgn="base"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320901" y="1789044"/>
            <a:ext cx="3562184" cy="6455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vert="horz" wrap="square" lIns="91440" tIns="45720" rIns="91440" bIns="45720" anchor="ctr">
            <a:noAutofit/>
          </a:bodyPr>
          <a:lstStyle/>
          <a:p>
            <a:pPr marL="0" algn="ctr">
              <a:spcBef>
                <a:spcPct val="0"/>
              </a:spcBef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Expansion in Europe</a:t>
            </a:r>
          </a:p>
        </p:txBody>
      </p:sp>
      <p:sp>
        <p:nvSpPr>
          <p:cNvPr id="8" name="AutoShape 8"/>
          <p:cNvSpPr/>
          <p:nvPr/>
        </p:nvSpPr>
        <p:spPr>
          <a:xfrm>
            <a:off x="4320901" y="2673763"/>
            <a:ext cx="3562183" cy="2335559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wrap="square" lIns="91440" tIns="406800" rIns="91440" bIns="45720" anchor="t">
            <a:no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BYD is expanding into Europe and is targeting 10% market share by 2025. This expansion diversifies revenue streams and reduces reliance on the Chinese market.</a:t>
            </a:r>
          </a:p>
        </p:txBody>
      </p:sp>
      <p:sp>
        <p:nvSpPr>
          <p:cNvPr id="9" name="Freeform 9"/>
          <p:cNvSpPr/>
          <p:nvPr/>
        </p:nvSpPr>
        <p:spPr>
          <a:xfrm rot="5400000">
            <a:off x="9548608" y="2139967"/>
            <a:ext cx="234950" cy="832644"/>
          </a:xfrm>
          <a:custGeom>
            <a:avLst/>
            <a:gdLst/>
            <a:ahLst/>
            <a:cxnLst/>
            <a:rect l="l" t="t" r="r" b="b"/>
            <a:pathLst>
              <a:path w="21467" h="21506">
                <a:moveTo>
                  <a:pt x="20549" y="21506"/>
                </a:moveTo>
                <a:lnTo>
                  <a:pt x="11083" y="21506"/>
                </a:lnTo>
                <a:cubicBezTo>
                  <a:pt x="8114" y="21393"/>
                  <a:pt x="5380" y="20988"/>
                  <a:pt x="3360" y="20363"/>
                </a:cubicBezTo>
                <a:cubicBezTo>
                  <a:pt x="1071" y="19655"/>
                  <a:pt x="-133" y="18720"/>
                  <a:pt x="11" y="17762"/>
                </a:cubicBezTo>
                <a:lnTo>
                  <a:pt x="11" y="3540"/>
                </a:lnTo>
                <a:cubicBezTo>
                  <a:pt x="58" y="2557"/>
                  <a:pt x="1530" y="1623"/>
                  <a:pt x="4083" y="956"/>
                </a:cubicBezTo>
                <a:cubicBezTo>
                  <a:pt x="6797" y="247"/>
                  <a:pt x="10470" y="-94"/>
                  <a:pt x="14144" y="23"/>
                </a:cubicBezTo>
                <a:lnTo>
                  <a:pt x="21467" y="23"/>
                </a:lnTo>
              </a:path>
            </a:pathLst>
          </a:custGeom>
          <a:noFill/>
          <a:ln w="19050" cap="flat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l" fontAlgn="base"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959893" y="1789044"/>
            <a:ext cx="3562184" cy="6455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vert="horz" wrap="square" lIns="91440" tIns="45720" rIns="91440" bIns="45720" anchor="ctr">
            <a:noAutofit/>
          </a:bodyPr>
          <a:lstStyle/>
          <a:p>
            <a:pPr marL="0" algn="ctr">
              <a:spcBef>
                <a:spcPct val="0"/>
              </a:spcBef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Policy Support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959893" y="2673763"/>
            <a:ext cx="3562183" cy="2335559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wrap="square" lIns="91440" tIns="406800" rIns="91440" bIns="45720" anchor="t">
            <a:no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China’s dual-carbon goals. Government initiatives are driving BYD's growth.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Tesla Risks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011897" y="1129675"/>
            <a:ext cx="4852418" cy="5017750"/>
            <a:chOff x="6506958" y="705228"/>
            <a:chExt cx="5279207" cy="5459089"/>
          </a:xfrm>
        </p:grpSpPr>
        <p:sp>
          <p:nvSpPr>
            <p:cNvPr id="4" name="Freeform 4"/>
            <p:cNvSpPr/>
            <p:nvPr/>
          </p:nvSpPr>
          <p:spPr>
            <a:xfrm>
              <a:off x="6506958" y="705228"/>
              <a:ext cx="5279207" cy="5459089"/>
            </a:xfrm>
            <a:custGeom>
              <a:avLst/>
              <a:gdLst/>
              <a:ahLst/>
              <a:cxnLst/>
              <a:rect l="l" t="t" r="r" b="b"/>
              <a:pathLst>
                <a:path w="5879683" h="6080019">
                  <a:moveTo>
                    <a:pt x="3859967" y="0"/>
                  </a:moveTo>
                  <a:cubicBezTo>
                    <a:pt x="4362097" y="358740"/>
                    <a:pt x="4642087" y="941982"/>
                    <a:pt x="4112189" y="1506708"/>
                  </a:cubicBezTo>
                  <a:cubicBezTo>
                    <a:pt x="3762781" y="1877021"/>
                    <a:pt x="3175034" y="2136239"/>
                    <a:pt x="2712241" y="2332968"/>
                  </a:cubicBezTo>
                  <a:cubicBezTo>
                    <a:pt x="1997227" y="2633847"/>
                    <a:pt x="171510" y="3247176"/>
                    <a:pt x="606535" y="4372000"/>
                  </a:cubicBezTo>
                  <a:cubicBezTo>
                    <a:pt x="729175" y="4686765"/>
                    <a:pt x="1029990" y="4897381"/>
                    <a:pt x="1316921" y="5047820"/>
                  </a:cubicBezTo>
                  <a:cubicBezTo>
                    <a:pt x="2186827" y="5499139"/>
                    <a:pt x="3628218" y="5507004"/>
                    <a:pt x="4723998" y="5435664"/>
                  </a:cubicBezTo>
                  <a:lnTo>
                    <a:pt x="4808310" y="5429676"/>
                  </a:lnTo>
                  <a:lnTo>
                    <a:pt x="4961760" y="5207111"/>
                  </a:lnTo>
                  <a:lnTo>
                    <a:pt x="5879683" y="5581914"/>
                  </a:lnTo>
                  <a:lnTo>
                    <a:pt x="4359923" y="6080019"/>
                  </a:lnTo>
                  <a:lnTo>
                    <a:pt x="4478454" y="5908101"/>
                  </a:lnTo>
                  <a:lnTo>
                    <a:pt x="4184148" y="5922625"/>
                  </a:lnTo>
                  <a:cubicBezTo>
                    <a:pt x="3187544" y="5964741"/>
                    <a:pt x="2102801" y="5947275"/>
                    <a:pt x="1205851" y="5552371"/>
                  </a:cubicBezTo>
                  <a:cubicBezTo>
                    <a:pt x="1002222" y="5462107"/>
                    <a:pt x="807849" y="5353328"/>
                    <a:pt x="625046" y="5223719"/>
                  </a:cubicBezTo>
                  <a:cubicBezTo>
                    <a:pt x="276" y="4774715"/>
                    <a:pt x="-221864" y="4103524"/>
                    <a:pt x="264068" y="3453163"/>
                  </a:cubicBezTo>
                  <a:cubicBezTo>
                    <a:pt x="743058" y="2809745"/>
                    <a:pt x="2263332" y="2351484"/>
                    <a:pt x="3019998" y="2011259"/>
                  </a:cubicBezTo>
                  <a:cubicBezTo>
                    <a:pt x="3293046" y="1888593"/>
                    <a:pt x="3577663" y="1745097"/>
                    <a:pt x="3816002" y="1564570"/>
                  </a:cubicBezTo>
                  <a:cubicBezTo>
                    <a:pt x="4491679" y="1057705"/>
                    <a:pt x="4359783" y="460576"/>
                    <a:pt x="3859967" y="0"/>
                  </a:cubicBez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6726849" y="793973"/>
              <a:ext cx="4081230" cy="5055164"/>
            </a:xfrm>
            <a:custGeom>
              <a:avLst/>
              <a:gdLst/>
              <a:ahLst/>
              <a:cxnLst/>
              <a:rect l="l" t="t" r="r" b="b"/>
              <a:pathLst>
                <a:path w="4545444" h="5630150">
                  <a:moveTo>
                    <a:pt x="2256537" y="5459202"/>
                  </a:moveTo>
                  <a:lnTo>
                    <a:pt x="2494614" y="5490324"/>
                  </a:lnTo>
                  <a:cubicBezTo>
                    <a:pt x="3248051" y="5573048"/>
                    <a:pt x="4008214" y="5552417"/>
                    <a:pt x="4501279" y="5522041"/>
                  </a:cubicBezTo>
                  <a:cubicBezTo>
                    <a:pt x="4524421" y="5522041"/>
                    <a:pt x="4542935" y="5538242"/>
                    <a:pt x="4545249" y="5561385"/>
                  </a:cubicBezTo>
                  <a:cubicBezTo>
                    <a:pt x="4547563" y="5584529"/>
                    <a:pt x="4529049" y="5605358"/>
                    <a:pt x="4505907" y="5607672"/>
                  </a:cubicBezTo>
                  <a:cubicBezTo>
                    <a:pt x="3998668" y="5636023"/>
                    <a:pt x="3202626" y="5653742"/>
                    <a:pt x="2419318" y="5557726"/>
                  </a:cubicBezTo>
                  <a:lnTo>
                    <a:pt x="2235390" y="5531069"/>
                  </a:lnTo>
                  <a:close/>
                  <a:moveTo>
                    <a:pt x="618660" y="4907146"/>
                  </a:moveTo>
                  <a:lnTo>
                    <a:pt x="632400" y="4917588"/>
                  </a:lnTo>
                  <a:cubicBezTo>
                    <a:pt x="956939" y="5146045"/>
                    <a:pt x="1389337" y="5295867"/>
                    <a:pt x="1856847" y="5391925"/>
                  </a:cubicBezTo>
                  <a:lnTo>
                    <a:pt x="2034852" y="5423658"/>
                  </a:lnTo>
                  <a:lnTo>
                    <a:pt x="2014093" y="5495358"/>
                  </a:lnTo>
                  <a:lnTo>
                    <a:pt x="1758065" y="5445168"/>
                  </a:lnTo>
                  <a:cubicBezTo>
                    <a:pt x="1328685" y="5348354"/>
                    <a:pt x="931595" y="5204783"/>
                    <a:pt x="623058" y="4995217"/>
                  </a:cubicBezTo>
                  <a:lnTo>
                    <a:pt x="574601" y="4959683"/>
                  </a:lnTo>
                  <a:close/>
                  <a:moveTo>
                    <a:pt x="56894" y="3655972"/>
                  </a:moveTo>
                  <a:lnTo>
                    <a:pt x="114769" y="3681320"/>
                  </a:lnTo>
                  <a:lnTo>
                    <a:pt x="80108" y="3791413"/>
                  </a:lnTo>
                  <a:cubicBezTo>
                    <a:pt x="36211" y="3992545"/>
                    <a:pt x="66151" y="4215012"/>
                    <a:pt x="203845" y="4459754"/>
                  </a:cubicBezTo>
                  <a:cubicBezTo>
                    <a:pt x="264592" y="4567588"/>
                    <a:pt x="341815" y="4665151"/>
                    <a:pt x="432817" y="4753361"/>
                  </a:cubicBezTo>
                  <a:lnTo>
                    <a:pt x="437043" y="4757128"/>
                  </a:lnTo>
                  <a:lnTo>
                    <a:pt x="393339" y="4809243"/>
                  </a:lnTo>
                  <a:lnTo>
                    <a:pt x="316280" y="4730599"/>
                  </a:lnTo>
                  <a:cubicBezTo>
                    <a:pt x="228451" y="4632436"/>
                    <a:pt x="156043" y="4523978"/>
                    <a:pt x="102021" y="4404210"/>
                  </a:cubicBezTo>
                  <a:cubicBezTo>
                    <a:pt x="-16002" y="4141676"/>
                    <a:pt x="-25657" y="3905829"/>
                    <a:pt x="42457" y="3693267"/>
                  </a:cubicBezTo>
                  <a:close/>
                  <a:moveTo>
                    <a:pt x="929004" y="2786814"/>
                  </a:moveTo>
                  <a:lnTo>
                    <a:pt x="956746" y="2834023"/>
                  </a:lnTo>
                  <a:lnTo>
                    <a:pt x="807170" y="2926453"/>
                  </a:lnTo>
                  <a:cubicBezTo>
                    <a:pt x="608715" y="3055790"/>
                    <a:pt x="424743" y="3204817"/>
                    <a:pt x="289168" y="3374474"/>
                  </a:cubicBezTo>
                  <a:lnTo>
                    <a:pt x="202845" y="3497409"/>
                  </a:lnTo>
                  <a:lnTo>
                    <a:pt x="145829" y="3472437"/>
                  </a:lnTo>
                  <a:lnTo>
                    <a:pt x="199129" y="3391464"/>
                  </a:lnTo>
                  <a:cubicBezTo>
                    <a:pt x="360399" y="3169649"/>
                    <a:pt x="606694" y="2977213"/>
                    <a:pt x="889422" y="2808754"/>
                  </a:cubicBezTo>
                  <a:close/>
                  <a:moveTo>
                    <a:pt x="1866690" y="2342652"/>
                  </a:moveTo>
                  <a:lnTo>
                    <a:pt x="1887488" y="2393291"/>
                  </a:lnTo>
                  <a:lnTo>
                    <a:pt x="1840098" y="2412028"/>
                  </a:lnTo>
                  <a:cubicBezTo>
                    <a:pt x="1736774" y="2453321"/>
                    <a:pt x="1640084" y="2493135"/>
                    <a:pt x="1553013" y="2531900"/>
                  </a:cubicBezTo>
                  <a:cubicBezTo>
                    <a:pt x="1462182" y="2572691"/>
                    <a:pt x="1364371" y="2618110"/>
                    <a:pt x="1263822" y="2668275"/>
                  </a:cubicBezTo>
                  <a:lnTo>
                    <a:pt x="1050436" y="2783374"/>
                  </a:lnTo>
                  <a:lnTo>
                    <a:pt x="1022313" y="2735091"/>
                  </a:lnTo>
                  <a:lnTo>
                    <a:pt x="1139549" y="2670106"/>
                  </a:lnTo>
                  <a:cubicBezTo>
                    <a:pt x="1310738" y="2581420"/>
                    <a:pt x="1489289" y="2500060"/>
                    <a:pt x="1666136" y="2425016"/>
                  </a:cubicBezTo>
                  <a:close/>
                  <a:moveTo>
                    <a:pt x="2691412" y="2019045"/>
                  </a:moveTo>
                  <a:lnTo>
                    <a:pt x="2709493" y="2058447"/>
                  </a:lnTo>
                  <a:lnTo>
                    <a:pt x="2515802" y="2143103"/>
                  </a:lnTo>
                  <a:cubicBezTo>
                    <a:pt x="2338903" y="2216486"/>
                    <a:pt x="2163509" y="2284612"/>
                    <a:pt x="1999688" y="2348928"/>
                  </a:cubicBezTo>
                  <a:lnTo>
                    <a:pt x="1967235" y="2361760"/>
                  </a:lnTo>
                  <a:lnTo>
                    <a:pt x="1946919" y="2310047"/>
                  </a:lnTo>
                  <a:lnTo>
                    <a:pt x="2182498" y="2217829"/>
                  </a:lnTo>
                  <a:cubicBezTo>
                    <a:pt x="2346871" y="2154412"/>
                    <a:pt x="2500473" y="2096303"/>
                    <a:pt x="2634236" y="2042495"/>
                  </a:cubicBezTo>
                  <a:close/>
                  <a:moveTo>
                    <a:pt x="3419929" y="1652893"/>
                  </a:moveTo>
                  <a:lnTo>
                    <a:pt x="3435936" y="1679865"/>
                  </a:lnTo>
                  <a:lnTo>
                    <a:pt x="3366230" y="1725659"/>
                  </a:lnTo>
                  <a:cubicBezTo>
                    <a:pt x="3212281" y="1820595"/>
                    <a:pt x="3043056" y="1907857"/>
                    <a:pt x="2868625" y="1988895"/>
                  </a:cubicBezTo>
                  <a:lnTo>
                    <a:pt x="2779467" y="2027864"/>
                  </a:lnTo>
                  <a:lnTo>
                    <a:pt x="2761652" y="1989574"/>
                  </a:lnTo>
                  <a:lnTo>
                    <a:pt x="2818870" y="1964884"/>
                  </a:lnTo>
                  <a:cubicBezTo>
                    <a:pt x="2942679" y="1909918"/>
                    <a:pt x="3080517" y="1845984"/>
                    <a:pt x="3218283" y="1771311"/>
                  </a:cubicBezTo>
                  <a:close/>
                  <a:moveTo>
                    <a:pt x="3856693" y="1280930"/>
                  </a:moveTo>
                  <a:lnTo>
                    <a:pt x="3878857" y="1298486"/>
                  </a:lnTo>
                  <a:lnTo>
                    <a:pt x="3876698" y="1301552"/>
                  </a:lnTo>
                  <a:cubicBezTo>
                    <a:pt x="3781380" y="1419528"/>
                    <a:pt x="3657364" y="1527897"/>
                    <a:pt x="3514716" y="1628110"/>
                  </a:cubicBezTo>
                  <a:lnTo>
                    <a:pt x="3492103" y="1642966"/>
                  </a:lnTo>
                  <a:lnTo>
                    <a:pt x="3475028" y="1614196"/>
                  </a:lnTo>
                  <a:lnTo>
                    <a:pt x="3617263" y="1513296"/>
                  </a:lnTo>
                  <a:cubicBezTo>
                    <a:pt x="3679023" y="1464333"/>
                    <a:pt x="3737239" y="1412242"/>
                    <a:pt x="3790149" y="1356801"/>
                  </a:cubicBezTo>
                  <a:close/>
                  <a:moveTo>
                    <a:pt x="4049529" y="911879"/>
                  </a:moveTo>
                  <a:lnTo>
                    <a:pt x="4075412" y="916031"/>
                  </a:lnTo>
                  <a:lnTo>
                    <a:pt x="4071869" y="931641"/>
                  </a:lnTo>
                  <a:cubicBezTo>
                    <a:pt x="4049346" y="1012031"/>
                    <a:pt x="4013278" y="1094833"/>
                    <a:pt x="3962076" y="1180319"/>
                  </a:cubicBezTo>
                  <a:lnTo>
                    <a:pt x="3914053" y="1248509"/>
                  </a:lnTo>
                  <a:lnTo>
                    <a:pt x="3893587" y="1232095"/>
                  </a:lnTo>
                  <a:lnTo>
                    <a:pt x="3931196" y="1180211"/>
                  </a:lnTo>
                  <a:cubicBezTo>
                    <a:pt x="3971731" y="1117849"/>
                    <a:pt x="4005196" y="1051917"/>
                    <a:pt x="4029829" y="982194"/>
                  </a:cubicBezTo>
                  <a:close/>
                  <a:moveTo>
                    <a:pt x="4087808" y="593511"/>
                  </a:moveTo>
                  <a:lnTo>
                    <a:pt x="4093474" y="622281"/>
                  </a:lnTo>
                  <a:cubicBezTo>
                    <a:pt x="4104254" y="696733"/>
                    <a:pt x="4103603" y="773228"/>
                    <a:pt x="4089935" y="852043"/>
                  </a:cubicBezTo>
                  <a:lnTo>
                    <a:pt x="4087219" y="864013"/>
                  </a:lnTo>
                  <a:lnTo>
                    <a:pt x="4061852" y="860755"/>
                  </a:lnTo>
                  <a:lnTo>
                    <a:pt x="4075471" y="761421"/>
                  </a:lnTo>
                  <a:cubicBezTo>
                    <a:pt x="4078364" y="721499"/>
                    <a:pt x="4078075" y="683239"/>
                    <a:pt x="4074987" y="646404"/>
                  </a:cubicBezTo>
                  <a:lnTo>
                    <a:pt x="4067029" y="597339"/>
                  </a:lnTo>
                  <a:close/>
                  <a:moveTo>
                    <a:pt x="4011395" y="373947"/>
                  </a:moveTo>
                  <a:lnTo>
                    <a:pt x="4028427" y="404785"/>
                  </a:lnTo>
                  <a:cubicBezTo>
                    <a:pt x="4049797" y="451877"/>
                    <a:pt x="4066792" y="499755"/>
                    <a:pt x="4078941" y="548501"/>
                  </a:cubicBezTo>
                  <a:lnTo>
                    <a:pt x="4080499" y="556408"/>
                  </a:lnTo>
                  <a:lnTo>
                    <a:pt x="4060972" y="560005"/>
                  </a:lnTo>
                  <a:lnTo>
                    <a:pt x="4057716" y="539931"/>
                  </a:lnTo>
                  <a:cubicBezTo>
                    <a:pt x="4049418" y="505704"/>
                    <a:pt x="4038706" y="472661"/>
                    <a:pt x="4025964" y="440563"/>
                  </a:cubicBezTo>
                  <a:lnTo>
                    <a:pt x="3997595" y="380051"/>
                  </a:lnTo>
                  <a:close/>
                  <a:moveTo>
                    <a:pt x="3901155" y="197856"/>
                  </a:moveTo>
                  <a:lnTo>
                    <a:pt x="3951662" y="265789"/>
                  </a:lnTo>
                  <a:lnTo>
                    <a:pt x="3997798" y="349324"/>
                  </a:lnTo>
                  <a:lnTo>
                    <a:pt x="3985699" y="354676"/>
                  </a:lnTo>
                  <a:lnTo>
                    <a:pt x="3982036" y="346863"/>
                  </a:lnTo>
                  <a:cubicBezTo>
                    <a:pt x="3965620" y="316415"/>
                    <a:pt x="3947559" y="286672"/>
                    <a:pt x="3928236" y="257395"/>
                  </a:cubicBezTo>
                  <a:lnTo>
                    <a:pt x="3891077" y="204911"/>
                  </a:lnTo>
                  <a:close/>
                  <a:moveTo>
                    <a:pt x="3831079" y="108914"/>
                  </a:moveTo>
                  <a:lnTo>
                    <a:pt x="3851464" y="131023"/>
                  </a:lnTo>
                  <a:lnTo>
                    <a:pt x="3891271" y="184563"/>
                  </a:lnTo>
                  <a:lnTo>
                    <a:pt x="3881402" y="191248"/>
                  </a:lnTo>
                  <a:lnTo>
                    <a:pt x="3866868" y="170720"/>
                  </a:lnTo>
                  <a:lnTo>
                    <a:pt x="3823189" y="115974"/>
                  </a:lnTo>
                  <a:close/>
                  <a:moveTo>
                    <a:pt x="3730658" y="0"/>
                  </a:moveTo>
                  <a:lnTo>
                    <a:pt x="3822781" y="99914"/>
                  </a:lnTo>
                  <a:lnTo>
                    <a:pt x="3814969" y="1056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10527062" y="5580008"/>
              <a:ext cx="471838" cy="430541"/>
            </a:xfrm>
            <a:custGeom>
              <a:avLst/>
              <a:gdLst/>
              <a:ahLst/>
              <a:cxnLst/>
              <a:rect l="l" t="t" r="r" b="b"/>
              <a:pathLst>
                <a:path w="537" h="490">
                  <a:moveTo>
                    <a:pt x="0" y="490"/>
                  </a:moveTo>
                  <a:lnTo>
                    <a:pt x="339" y="0"/>
                  </a:lnTo>
                  <a:lnTo>
                    <a:pt x="537" y="130"/>
                  </a:lnTo>
                  <a:lnTo>
                    <a:pt x="433" y="426"/>
                  </a:lnTo>
                  <a:lnTo>
                    <a:pt x="0" y="490"/>
                  </a:ln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715999" y="1324873"/>
            <a:ext cx="612122" cy="610730"/>
            <a:chOff x="6716793" y="1562178"/>
            <a:chExt cx="612122" cy="610730"/>
          </a:xfrm>
        </p:grpSpPr>
        <p:grpSp>
          <p:nvGrpSpPr>
            <p:cNvPr id="8" name="Group 8"/>
            <p:cNvGrpSpPr/>
            <p:nvPr/>
          </p:nvGrpSpPr>
          <p:grpSpPr>
            <a:xfrm>
              <a:off x="6716793" y="1562178"/>
              <a:ext cx="612122" cy="610730"/>
              <a:chOff x="6373895" y="1562177"/>
              <a:chExt cx="612122" cy="610730"/>
            </a:xfrm>
          </p:grpSpPr>
          <p:sp>
            <p:nvSpPr>
              <p:cNvPr id="9" name="AutoShape 9"/>
              <p:cNvSpPr/>
              <p:nvPr/>
            </p:nvSpPr>
            <p:spPr>
              <a:xfrm>
                <a:off x="6373895" y="1562177"/>
                <a:ext cx="612122" cy="610730"/>
              </a:xfrm>
              <a:prstGeom prst="wedgeEllipseCallout">
                <a:avLst>
                  <a:gd name="adj1" fmla="val 1039"/>
                  <a:gd name="adj2" fmla="val 97317"/>
                </a:avLst>
              </a:prstGeom>
              <a:solidFill>
                <a:srgbClr val="FFFFFF">
                  <a:lumMod val="85000"/>
                </a:srgbClr>
              </a:solidFill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6428760" y="1616917"/>
                <a:ext cx="502392" cy="501250"/>
              </a:xfrm>
              <a:prstGeom prst="ellipse">
                <a:avLst/>
              </a:prstGeom>
              <a:solidFill>
                <a:srgbClr val="FFFFFF"/>
              </a:solidFill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 lnSpcReduction="10000"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6858045" y="1686829"/>
              <a:ext cx="329620" cy="361428"/>
            </a:xfrm>
            <a:custGeom>
              <a:avLst/>
              <a:gdLst/>
              <a:ahLst/>
              <a:cxnLst/>
              <a:rect l="l" t="t" r="r" b="b"/>
              <a:pathLst>
                <a:path w="552598" h="605921">
                  <a:moveTo>
                    <a:pt x="257952" y="238897"/>
                  </a:moveTo>
                  <a:cubicBezTo>
                    <a:pt x="255074" y="238897"/>
                    <a:pt x="252845" y="241122"/>
                    <a:pt x="252845" y="243996"/>
                  </a:cubicBezTo>
                  <a:lnTo>
                    <a:pt x="252845" y="308986"/>
                  </a:lnTo>
                  <a:lnTo>
                    <a:pt x="228056" y="308986"/>
                  </a:lnTo>
                  <a:cubicBezTo>
                    <a:pt x="225364" y="308986"/>
                    <a:pt x="223878" y="311953"/>
                    <a:pt x="225642" y="314085"/>
                  </a:cubicBezTo>
                  <a:lnTo>
                    <a:pt x="273271" y="372123"/>
                  </a:lnTo>
                  <a:cubicBezTo>
                    <a:pt x="274849" y="373977"/>
                    <a:pt x="277727" y="373977"/>
                    <a:pt x="279306" y="372123"/>
                  </a:cubicBezTo>
                  <a:lnTo>
                    <a:pt x="327027" y="314085"/>
                  </a:lnTo>
                  <a:cubicBezTo>
                    <a:pt x="328605" y="311953"/>
                    <a:pt x="327213" y="308894"/>
                    <a:pt x="324520" y="308986"/>
                  </a:cubicBezTo>
                  <a:lnTo>
                    <a:pt x="299731" y="308986"/>
                  </a:lnTo>
                  <a:lnTo>
                    <a:pt x="299731" y="243996"/>
                  </a:lnTo>
                  <a:cubicBezTo>
                    <a:pt x="299731" y="241122"/>
                    <a:pt x="297503" y="238897"/>
                    <a:pt x="294718" y="238897"/>
                  </a:cubicBezTo>
                  <a:close/>
                  <a:moveTo>
                    <a:pt x="260737" y="130146"/>
                  </a:moveTo>
                  <a:lnTo>
                    <a:pt x="291932" y="130146"/>
                  </a:lnTo>
                  <a:cubicBezTo>
                    <a:pt x="298431" y="130146"/>
                    <a:pt x="303445" y="135338"/>
                    <a:pt x="303445" y="141642"/>
                  </a:cubicBezTo>
                  <a:lnTo>
                    <a:pt x="303445" y="167602"/>
                  </a:lnTo>
                  <a:cubicBezTo>
                    <a:pt x="321642" y="171125"/>
                    <a:pt x="338632" y="178356"/>
                    <a:pt x="353580" y="188369"/>
                  </a:cubicBezTo>
                  <a:lnTo>
                    <a:pt x="371963" y="170012"/>
                  </a:lnTo>
                  <a:cubicBezTo>
                    <a:pt x="376420" y="165562"/>
                    <a:pt x="383661" y="165562"/>
                    <a:pt x="388118" y="170012"/>
                  </a:cubicBezTo>
                  <a:lnTo>
                    <a:pt x="410215" y="192077"/>
                  </a:lnTo>
                  <a:cubicBezTo>
                    <a:pt x="414671" y="196528"/>
                    <a:pt x="414671" y="203759"/>
                    <a:pt x="410215" y="208209"/>
                  </a:cubicBezTo>
                  <a:lnTo>
                    <a:pt x="391832" y="226566"/>
                  </a:lnTo>
                  <a:cubicBezTo>
                    <a:pt x="401859" y="241400"/>
                    <a:pt x="409100" y="258459"/>
                    <a:pt x="412628" y="276630"/>
                  </a:cubicBezTo>
                  <a:lnTo>
                    <a:pt x="438625" y="276630"/>
                  </a:lnTo>
                  <a:cubicBezTo>
                    <a:pt x="445124" y="276630"/>
                    <a:pt x="450137" y="281822"/>
                    <a:pt x="450137" y="288126"/>
                  </a:cubicBezTo>
                  <a:lnTo>
                    <a:pt x="450137" y="319277"/>
                  </a:lnTo>
                  <a:cubicBezTo>
                    <a:pt x="450137" y="325674"/>
                    <a:pt x="444938" y="330773"/>
                    <a:pt x="438625" y="330773"/>
                  </a:cubicBezTo>
                  <a:lnTo>
                    <a:pt x="412628" y="330773"/>
                  </a:lnTo>
                  <a:cubicBezTo>
                    <a:pt x="409100" y="348945"/>
                    <a:pt x="401859" y="365818"/>
                    <a:pt x="391832" y="380838"/>
                  </a:cubicBezTo>
                  <a:lnTo>
                    <a:pt x="410215" y="399102"/>
                  </a:lnTo>
                  <a:cubicBezTo>
                    <a:pt x="414671" y="403552"/>
                    <a:pt x="414671" y="410876"/>
                    <a:pt x="410215" y="415326"/>
                  </a:cubicBezTo>
                  <a:lnTo>
                    <a:pt x="388118" y="437299"/>
                  </a:lnTo>
                  <a:cubicBezTo>
                    <a:pt x="383661" y="441749"/>
                    <a:pt x="376420" y="441749"/>
                    <a:pt x="371963" y="437299"/>
                  </a:cubicBezTo>
                  <a:lnTo>
                    <a:pt x="353580" y="419035"/>
                  </a:lnTo>
                  <a:cubicBezTo>
                    <a:pt x="338725" y="429047"/>
                    <a:pt x="321642" y="436186"/>
                    <a:pt x="303445" y="439802"/>
                  </a:cubicBezTo>
                  <a:lnTo>
                    <a:pt x="303445" y="465761"/>
                  </a:lnTo>
                  <a:cubicBezTo>
                    <a:pt x="303445" y="472158"/>
                    <a:pt x="298246" y="477257"/>
                    <a:pt x="291932" y="477257"/>
                  </a:cubicBezTo>
                  <a:lnTo>
                    <a:pt x="260737" y="477257"/>
                  </a:lnTo>
                  <a:cubicBezTo>
                    <a:pt x="254331" y="477257"/>
                    <a:pt x="249224" y="472065"/>
                    <a:pt x="249224" y="465761"/>
                  </a:cubicBezTo>
                  <a:lnTo>
                    <a:pt x="249224" y="439802"/>
                  </a:lnTo>
                  <a:cubicBezTo>
                    <a:pt x="231027" y="436186"/>
                    <a:pt x="214130" y="429047"/>
                    <a:pt x="199089" y="419035"/>
                  </a:cubicBezTo>
                  <a:lnTo>
                    <a:pt x="180799" y="437299"/>
                  </a:lnTo>
                  <a:cubicBezTo>
                    <a:pt x="176342" y="441749"/>
                    <a:pt x="169008" y="441749"/>
                    <a:pt x="164551" y="437299"/>
                  </a:cubicBezTo>
                  <a:lnTo>
                    <a:pt x="142547" y="415326"/>
                  </a:lnTo>
                  <a:cubicBezTo>
                    <a:pt x="138091" y="410876"/>
                    <a:pt x="138091" y="403552"/>
                    <a:pt x="142547" y="399102"/>
                  </a:cubicBezTo>
                  <a:lnTo>
                    <a:pt x="160837" y="380838"/>
                  </a:lnTo>
                  <a:cubicBezTo>
                    <a:pt x="150810" y="366004"/>
                    <a:pt x="143661" y="348945"/>
                    <a:pt x="140041" y="330773"/>
                  </a:cubicBezTo>
                  <a:lnTo>
                    <a:pt x="114044" y="330773"/>
                  </a:lnTo>
                  <a:cubicBezTo>
                    <a:pt x="107638" y="330773"/>
                    <a:pt x="102532" y="325582"/>
                    <a:pt x="102532" y="319277"/>
                  </a:cubicBezTo>
                  <a:lnTo>
                    <a:pt x="102532" y="288126"/>
                  </a:lnTo>
                  <a:cubicBezTo>
                    <a:pt x="102532" y="281636"/>
                    <a:pt x="107731" y="276630"/>
                    <a:pt x="114044" y="276630"/>
                  </a:cubicBezTo>
                  <a:lnTo>
                    <a:pt x="140041" y="276630"/>
                  </a:lnTo>
                  <a:cubicBezTo>
                    <a:pt x="143661" y="258459"/>
                    <a:pt x="150810" y="241492"/>
                    <a:pt x="160837" y="226566"/>
                  </a:cubicBezTo>
                  <a:lnTo>
                    <a:pt x="142547" y="208209"/>
                  </a:lnTo>
                  <a:cubicBezTo>
                    <a:pt x="138091" y="203759"/>
                    <a:pt x="138091" y="196528"/>
                    <a:pt x="142547" y="192077"/>
                  </a:cubicBezTo>
                  <a:lnTo>
                    <a:pt x="164551" y="170012"/>
                  </a:lnTo>
                  <a:cubicBezTo>
                    <a:pt x="169008" y="165562"/>
                    <a:pt x="176342" y="165562"/>
                    <a:pt x="180799" y="170012"/>
                  </a:cubicBezTo>
                  <a:lnTo>
                    <a:pt x="199089" y="188369"/>
                  </a:lnTo>
                  <a:cubicBezTo>
                    <a:pt x="213944" y="178356"/>
                    <a:pt x="231027" y="171125"/>
                    <a:pt x="249224" y="167602"/>
                  </a:cubicBezTo>
                  <a:lnTo>
                    <a:pt x="249224" y="141642"/>
                  </a:lnTo>
                  <a:cubicBezTo>
                    <a:pt x="249224" y="135153"/>
                    <a:pt x="254424" y="130146"/>
                    <a:pt x="260737" y="130146"/>
                  </a:cubicBezTo>
                  <a:close/>
                  <a:moveTo>
                    <a:pt x="438507" y="79551"/>
                  </a:moveTo>
                  <a:cubicBezTo>
                    <a:pt x="510081" y="131462"/>
                    <a:pt x="552598" y="214890"/>
                    <a:pt x="552598" y="302952"/>
                  </a:cubicBezTo>
                  <a:cubicBezTo>
                    <a:pt x="552598" y="455069"/>
                    <a:pt x="428760" y="578821"/>
                    <a:pt x="276329" y="578821"/>
                  </a:cubicBezTo>
                  <a:lnTo>
                    <a:pt x="276329" y="602737"/>
                  </a:lnTo>
                  <a:cubicBezTo>
                    <a:pt x="276329" y="605332"/>
                    <a:pt x="273358" y="606815"/>
                    <a:pt x="271316" y="605332"/>
                  </a:cubicBezTo>
                  <a:lnTo>
                    <a:pt x="206426" y="560837"/>
                  </a:lnTo>
                  <a:cubicBezTo>
                    <a:pt x="204569" y="559539"/>
                    <a:pt x="204569" y="556759"/>
                    <a:pt x="206426" y="555553"/>
                  </a:cubicBezTo>
                  <a:lnTo>
                    <a:pt x="271316" y="511059"/>
                  </a:lnTo>
                  <a:cubicBezTo>
                    <a:pt x="273544" y="509575"/>
                    <a:pt x="276329" y="511059"/>
                    <a:pt x="276329" y="513654"/>
                  </a:cubicBezTo>
                  <a:lnTo>
                    <a:pt x="276329" y="537663"/>
                  </a:lnTo>
                  <a:cubicBezTo>
                    <a:pt x="405923" y="537663"/>
                    <a:pt x="511381" y="432358"/>
                    <a:pt x="511381" y="302952"/>
                  </a:cubicBezTo>
                  <a:cubicBezTo>
                    <a:pt x="511381" y="228053"/>
                    <a:pt x="475176" y="156954"/>
                    <a:pt x="414278" y="112830"/>
                  </a:cubicBezTo>
                  <a:close/>
                  <a:moveTo>
                    <a:pt x="281414" y="589"/>
                  </a:moveTo>
                  <a:lnTo>
                    <a:pt x="346313" y="45086"/>
                  </a:lnTo>
                  <a:cubicBezTo>
                    <a:pt x="348170" y="46384"/>
                    <a:pt x="348170" y="49072"/>
                    <a:pt x="346313" y="50277"/>
                  </a:cubicBezTo>
                  <a:lnTo>
                    <a:pt x="281414" y="94775"/>
                  </a:lnTo>
                  <a:cubicBezTo>
                    <a:pt x="279186" y="96258"/>
                    <a:pt x="276308" y="94775"/>
                    <a:pt x="276308" y="92179"/>
                  </a:cubicBezTo>
                  <a:lnTo>
                    <a:pt x="276308" y="68262"/>
                  </a:lnTo>
                  <a:cubicBezTo>
                    <a:pt x="146695" y="68262"/>
                    <a:pt x="41223" y="173665"/>
                    <a:pt x="41223" y="303077"/>
                  </a:cubicBezTo>
                  <a:cubicBezTo>
                    <a:pt x="41223" y="377980"/>
                    <a:pt x="77526" y="449176"/>
                    <a:pt x="138432" y="493302"/>
                  </a:cubicBezTo>
                  <a:lnTo>
                    <a:pt x="114200" y="526582"/>
                  </a:lnTo>
                  <a:cubicBezTo>
                    <a:pt x="42709" y="474762"/>
                    <a:pt x="0" y="391237"/>
                    <a:pt x="0" y="303077"/>
                  </a:cubicBezTo>
                  <a:cubicBezTo>
                    <a:pt x="0" y="150953"/>
                    <a:pt x="123948" y="27195"/>
                    <a:pt x="276308" y="27195"/>
                  </a:cubicBezTo>
                  <a:lnTo>
                    <a:pt x="276308" y="3185"/>
                  </a:lnTo>
                  <a:cubicBezTo>
                    <a:pt x="276308" y="589"/>
                    <a:pt x="279279" y="-894"/>
                    <a:pt x="281414" y="589"/>
                  </a:cubicBezTo>
                  <a:close/>
                </a:path>
              </a:pathLst>
            </a:custGeom>
            <a:solidFill>
              <a:srgbClr val="000000">
                <a:lumMod val="50000"/>
                <a:lumOff val="50000"/>
              </a:srgbClr>
            </a:solidFill>
          </p:spPr>
          <p:txBody>
            <a:bodyPr vert="horz" wrap="square" lIns="91440" tIns="45720" rIns="91440" bIns="45720" anchor="t">
              <a:normAutofit lnSpcReduction="10000"/>
            </a:bodyPr>
            <a:lstStyle/>
            <a:p>
              <a:pPr marL="0" algn="l"/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7634152" y="1738454"/>
            <a:ext cx="3885542" cy="845616"/>
          </a:xfrm>
          <a:prstGeom prst="rect">
            <a:avLst/>
          </a:prstGeom>
          <a:noFill/>
        </p:spPr>
        <p:txBody>
          <a:bodyPr vert="horz" wrap="square" lIns="91440" tIns="45720" rIns="91440" bIns="45720" anchor="b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BYD, NIO, and legacy automakers are all becoming challengers. Increased competition in the EV sector is putting pressure on Tesla.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34152" y="1258198"/>
            <a:ext cx="388554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Rising Competition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>
            <a:off x="7707002" y="2642640"/>
            <a:ext cx="3812692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grpSp>
        <p:nvGrpSpPr>
          <p:cNvPr id="15" name="Group 15"/>
          <p:cNvGrpSpPr/>
          <p:nvPr/>
        </p:nvGrpSpPr>
        <p:grpSpPr>
          <a:xfrm>
            <a:off x="5514102" y="4069011"/>
            <a:ext cx="991058" cy="988806"/>
            <a:chOff x="5514896" y="4069011"/>
            <a:chExt cx="991058" cy="988806"/>
          </a:xfrm>
        </p:grpSpPr>
        <p:grpSp>
          <p:nvGrpSpPr>
            <p:cNvPr id="16" name="Group 16"/>
            <p:cNvGrpSpPr/>
            <p:nvPr/>
          </p:nvGrpSpPr>
          <p:grpSpPr>
            <a:xfrm>
              <a:off x="5514896" y="4069011"/>
              <a:ext cx="991058" cy="988806"/>
              <a:chOff x="5171998" y="4069010"/>
              <a:chExt cx="991058" cy="988806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5171998" y="4069010"/>
                <a:ext cx="991058" cy="988806"/>
              </a:xfrm>
              <a:prstGeom prst="wedgeEllipseCallout">
                <a:avLst>
                  <a:gd name="adj1" fmla="val 1039"/>
                  <a:gd name="adj2" fmla="val 97317"/>
                </a:avLst>
              </a:pr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8" name="AutoShape 18"/>
              <p:cNvSpPr/>
              <p:nvPr/>
            </p:nvSpPr>
            <p:spPr>
              <a:xfrm>
                <a:off x="5245151" y="4141996"/>
                <a:ext cx="844754" cy="842834"/>
              </a:xfrm>
              <a:prstGeom prst="ellipse">
                <a:avLst/>
              </a:prstGeom>
              <a:solidFill>
                <a:srgbClr val="FFFFFF"/>
              </a:solidFill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5746831" y="4326227"/>
              <a:ext cx="527188" cy="474374"/>
            </a:xfrm>
            <a:custGeom>
              <a:avLst/>
              <a:gdLst/>
              <a:ahLst/>
              <a:cxnLst/>
              <a:rect l="l" t="t" r="r" b="b"/>
              <a:pathLst>
                <a:path w="609191" h="548159">
                  <a:moveTo>
                    <a:pt x="465730" y="360460"/>
                  </a:moveTo>
                  <a:lnTo>
                    <a:pt x="465730" y="404898"/>
                  </a:lnTo>
                  <a:lnTo>
                    <a:pt x="421230" y="404898"/>
                  </a:lnTo>
                  <a:lnTo>
                    <a:pt x="421230" y="439197"/>
                  </a:lnTo>
                  <a:lnTo>
                    <a:pt x="465730" y="439197"/>
                  </a:lnTo>
                  <a:lnTo>
                    <a:pt x="465730" y="483635"/>
                  </a:lnTo>
                  <a:lnTo>
                    <a:pt x="499982" y="483635"/>
                  </a:lnTo>
                  <a:lnTo>
                    <a:pt x="499982" y="439197"/>
                  </a:lnTo>
                  <a:lnTo>
                    <a:pt x="544577" y="439197"/>
                  </a:lnTo>
                  <a:lnTo>
                    <a:pt x="544577" y="404898"/>
                  </a:lnTo>
                  <a:lnTo>
                    <a:pt x="499982" y="404898"/>
                  </a:lnTo>
                  <a:lnTo>
                    <a:pt x="499982" y="360460"/>
                  </a:lnTo>
                  <a:close/>
                  <a:moveTo>
                    <a:pt x="482809" y="295746"/>
                  </a:moveTo>
                  <a:cubicBezTo>
                    <a:pt x="552642" y="295746"/>
                    <a:pt x="609191" y="352217"/>
                    <a:pt x="609191" y="421953"/>
                  </a:cubicBezTo>
                  <a:cubicBezTo>
                    <a:pt x="609191" y="491688"/>
                    <a:pt x="552642" y="548159"/>
                    <a:pt x="482809" y="548159"/>
                  </a:cubicBezTo>
                  <a:cubicBezTo>
                    <a:pt x="413071" y="548159"/>
                    <a:pt x="356426" y="491688"/>
                    <a:pt x="356426" y="421953"/>
                  </a:cubicBezTo>
                  <a:cubicBezTo>
                    <a:pt x="356426" y="352217"/>
                    <a:pt x="412976" y="295746"/>
                    <a:pt x="482809" y="295746"/>
                  </a:cubicBezTo>
                  <a:close/>
                  <a:moveTo>
                    <a:pt x="256102" y="446"/>
                  </a:moveTo>
                  <a:cubicBezTo>
                    <a:pt x="283050" y="-1828"/>
                    <a:pt x="303356" y="4900"/>
                    <a:pt x="318064" y="13618"/>
                  </a:cubicBezTo>
                  <a:cubicBezTo>
                    <a:pt x="339983" y="25747"/>
                    <a:pt x="348333" y="41667"/>
                    <a:pt x="348333" y="41667"/>
                  </a:cubicBezTo>
                  <a:cubicBezTo>
                    <a:pt x="348333" y="41667"/>
                    <a:pt x="398434" y="45173"/>
                    <a:pt x="381544" y="146945"/>
                  </a:cubicBezTo>
                  <a:cubicBezTo>
                    <a:pt x="380975" y="149978"/>
                    <a:pt x="380216" y="153105"/>
                    <a:pt x="379267" y="156232"/>
                  </a:cubicBezTo>
                  <a:cubicBezTo>
                    <a:pt x="388946" y="156232"/>
                    <a:pt x="398624" y="163623"/>
                    <a:pt x="388186" y="200485"/>
                  </a:cubicBezTo>
                  <a:cubicBezTo>
                    <a:pt x="380026" y="229292"/>
                    <a:pt x="372435" y="237251"/>
                    <a:pt x="366742" y="237725"/>
                  </a:cubicBezTo>
                  <a:cubicBezTo>
                    <a:pt x="364749" y="250802"/>
                    <a:pt x="359530" y="265206"/>
                    <a:pt x="351749" y="278851"/>
                  </a:cubicBezTo>
                  <a:lnTo>
                    <a:pt x="351749" y="322915"/>
                  </a:lnTo>
                  <a:cubicBezTo>
                    <a:pt x="330589" y="350584"/>
                    <a:pt x="317969" y="385077"/>
                    <a:pt x="317969" y="422507"/>
                  </a:cubicBezTo>
                  <a:cubicBezTo>
                    <a:pt x="317969" y="472920"/>
                    <a:pt x="340837" y="518120"/>
                    <a:pt x="376800" y="548159"/>
                  </a:cubicBezTo>
                  <a:lnTo>
                    <a:pt x="26853" y="548159"/>
                  </a:lnTo>
                  <a:cubicBezTo>
                    <a:pt x="12051" y="548159"/>
                    <a:pt x="0" y="536219"/>
                    <a:pt x="0" y="521437"/>
                  </a:cubicBezTo>
                  <a:lnTo>
                    <a:pt x="0" y="473867"/>
                  </a:lnTo>
                  <a:cubicBezTo>
                    <a:pt x="0" y="458137"/>
                    <a:pt x="7211" y="443070"/>
                    <a:pt x="19452" y="433120"/>
                  </a:cubicBezTo>
                  <a:cubicBezTo>
                    <a:pt x="86633" y="377970"/>
                    <a:pt x="159032" y="341487"/>
                    <a:pt x="173740" y="334286"/>
                  </a:cubicBezTo>
                  <a:cubicBezTo>
                    <a:pt x="175353" y="333528"/>
                    <a:pt x="176396" y="331917"/>
                    <a:pt x="176586" y="330021"/>
                  </a:cubicBezTo>
                  <a:lnTo>
                    <a:pt x="176586" y="278851"/>
                  </a:lnTo>
                  <a:cubicBezTo>
                    <a:pt x="168616" y="265206"/>
                    <a:pt x="163587" y="250802"/>
                    <a:pt x="161594" y="237725"/>
                  </a:cubicBezTo>
                  <a:cubicBezTo>
                    <a:pt x="155901" y="237251"/>
                    <a:pt x="148310" y="229197"/>
                    <a:pt x="140149" y="200485"/>
                  </a:cubicBezTo>
                  <a:cubicBezTo>
                    <a:pt x="129806" y="164192"/>
                    <a:pt x="139200" y="156516"/>
                    <a:pt x="148499" y="156232"/>
                  </a:cubicBezTo>
                  <a:cubicBezTo>
                    <a:pt x="147645" y="153105"/>
                    <a:pt x="146886" y="149978"/>
                    <a:pt x="146222" y="146756"/>
                  </a:cubicBezTo>
                  <a:cubicBezTo>
                    <a:pt x="142711" y="128467"/>
                    <a:pt x="141667" y="111410"/>
                    <a:pt x="146032" y="95111"/>
                  </a:cubicBezTo>
                  <a:cubicBezTo>
                    <a:pt x="151061" y="73222"/>
                    <a:pt x="162922" y="55691"/>
                    <a:pt x="176207" y="42141"/>
                  </a:cubicBezTo>
                  <a:cubicBezTo>
                    <a:pt x="184557" y="33233"/>
                    <a:pt x="194046" y="25463"/>
                    <a:pt x="204199" y="19019"/>
                  </a:cubicBezTo>
                  <a:cubicBezTo>
                    <a:pt x="212454" y="13334"/>
                    <a:pt x="221563" y="8406"/>
                    <a:pt x="231431" y="5184"/>
                  </a:cubicBezTo>
                  <a:cubicBezTo>
                    <a:pt x="239117" y="2626"/>
                    <a:pt x="247373" y="825"/>
                    <a:pt x="256102" y="446"/>
                  </a:cubicBez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wrap="square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6758672" y="4331777"/>
            <a:ext cx="4761022" cy="960120"/>
          </a:xfrm>
          <a:prstGeom prst="rect">
            <a:avLst/>
          </a:prstGeom>
          <a:noFill/>
        </p:spPr>
        <p:txBody>
          <a:bodyPr vert="horz" wrap="square" lIns="91440" tIns="45720" rIns="91440" bIns="45720" anchor="b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Cybertruck delays and robotaxi skepticism impact growth. Uncertainty surrounding product launches and technological advancements is reducing investor confidence in Tesla.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58672" y="4116977"/>
            <a:ext cx="476102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Project Delays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>
            <a:off x="6857251" y="5407287"/>
            <a:ext cx="4663237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grpSp>
        <p:nvGrpSpPr>
          <p:cNvPr id="23" name="Group 23"/>
          <p:cNvGrpSpPr/>
          <p:nvPr/>
        </p:nvGrpSpPr>
        <p:grpSpPr>
          <a:xfrm>
            <a:off x="4541668" y="2172908"/>
            <a:ext cx="838780" cy="836872"/>
            <a:chOff x="4542462" y="2172908"/>
            <a:chExt cx="838780" cy="836872"/>
          </a:xfrm>
        </p:grpSpPr>
        <p:grpSp>
          <p:nvGrpSpPr>
            <p:cNvPr id="24" name="Group 24"/>
            <p:cNvGrpSpPr/>
            <p:nvPr/>
          </p:nvGrpSpPr>
          <p:grpSpPr>
            <a:xfrm>
              <a:off x="4542462" y="2172908"/>
              <a:ext cx="838780" cy="836872"/>
              <a:chOff x="4199564" y="2172907"/>
              <a:chExt cx="838780" cy="836872"/>
            </a:xfrm>
          </p:grpSpPr>
          <p:sp>
            <p:nvSpPr>
              <p:cNvPr id="25" name="AutoShape 25"/>
              <p:cNvSpPr/>
              <p:nvPr/>
            </p:nvSpPr>
            <p:spPr>
              <a:xfrm>
                <a:off x="4199564" y="2172907"/>
                <a:ext cx="838780" cy="836872"/>
              </a:xfrm>
              <a:prstGeom prst="wedgeEllipseCallout">
                <a:avLst>
                  <a:gd name="adj1" fmla="val 1039"/>
                  <a:gd name="adj2" fmla="val 97317"/>
                </a:avLst>
              </a:prstGeom>
              <a:solidFill>
                <a:srgbClr val="FFFFFF">
                  <a:lumMod val="85000"/>
                </a:srgbClr>
              </a:solidFill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6" name="AutoShape 26"/>
              <p:cNvSpPr/>
              <p:nvPr/>
            </p:nvSpPr>
            <p:spPr>
              <a:xfrm>
                <a:off x="4263601" y="2236797"/>
                <a:ext cx="710707" cy="709092"/>
              </a:xfrm>
              <a:prstGeom prst="ellipse">
                <a:avLst/>
              </a:prstGeom>
              <a:solidFill>
                <a:srgbClr val="FFFFFF"/>
              </a:solidFill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4724975" y="2362049"/>
              <a:ext cx="473754" cy="458590"/>
            </a:xfrm>
            <a:custGeom>
              <a:avLst/>
              <a:gdLst/>
              <a:ahLst/>
              <a:cxnLst/>
              <a:rect l="l" t="t" r="r" b="b"/>
              <a:pathLst>
                <a:path w="582453" h="563815">
                  <a:moveTo>
                    <a:pt x="452855" y="373207"/>
                  </a:moveTo>
                  <a:cubicBezTo>
                    <a:pt x="455860" y="372328"/>
                    <a:pt x="459231" y="372767"/>
                    <a:pt x="462456" y="374525"/>
                  </a:cubicBezTo>
                  <a:lnTo>
                    <a:pt x="539855" y="418461"/>
                  </a:lnTo>
                  <a:cubicBezTo>
                    <a:pt x="545132" y="421976"/>
                    <a:pt x="548650" y="429005"/>
                    <a:pt x="545132" y="436035"/>
                  </a:cubicBezTo>
                  <a:cubicBezTo>
                    <a:pt x="543373" y="441308"/>
                    <a:pt x="539855" y="443065"/>
                    <a:pt x="534578" y="443065"/>
                  </a:cubicBezTo>
                  <a:cubicBezTo>
                    <a:pt x="531060" y="443065"/>
                    <a:pt x="529300" y="443065"/>
                    <a:pt x="527541" y="441308"/>
                  </a:cubicBezTo>
                  <a:lnTo>
                    <a:pt x="450729" y="397372"/>
                  </a:lnTo>
                  <a:cubicBezTo>
                    <a:pt x="443693" y="393857"/>
                    <a:pt x="441934" y="386827"/>
                    <a:pt x="445452" y="379797"/>
                  </a:cubicBezTo>
                  <a:cubicBezTo>
                    <a:pt x="447211" y="376282"/>
                    <a:pt x="449850" y="374085"/>
                    <a:pt x="452855" y="373207"/>
                  </a:cubicBezTo>
                  <a:close/>
                  <a:moveTo>
                    <a:pt x="128583" y="372080"/>
                  </a:moveTo>
                  <a:cubicBezTo>
                    <a:pt x="131884" y="373180"/>
                    <a:pt x="134965" y="375380"/>
                    <a:pt x="136726" y="378020"/>
                  </a:cubicBezTo>
                  <a:cubicBezTo>
                    <a:pt x="140247" y="383299"/>
                    <a:pt x="138486" y="392098"/>
                    <a:pt x="131444" y="395617"/>
                  </a:cubicBezTo>
                  <a:lnTo>
                    <a:pt x="54564" y="439610"/>
                  </a:lnTo>
                  <a:cubicBezTo>
                    <a:pt x="52804" y="441370"/>
                    <a:pt x="49283" y="441370"/>
                    <a:pt x="47522" y="441370"/>
                  </a:cubicBezTo>
                  <a:cubicBezTo>
                    <a:pt x="44001" y="441370"/>
                    <a:pt x="38719" y="437851"/>
                    <a:pt x="36958" y="434331"/>
                  </a:cubicBezTo>
                  <a:cubicBezTo>
                    <a:pt x="33437" y="429052"/>
                    <a:pt x="35198" y="420253"/>
                    <a:pt x="42240" y="416734"/>
                  </a:cubicBezTo>
                  <a:lnTo>
                    <a:pt x="119120" y="372740"/>
                  </a:lnTo>
                  <a:cubicBezTo>
                    <a:pt x="121761" y="370981"/>
                    <a:pt x="125282" y="370981"/>
                    <a:pt x="128583" y="372080"/>
                  </a:cubicBezTo>
                  <a:close/>
                  <a:moveTo>
                    <a:pt x="481761" y="276633"/>
                  </a:moveTo>
                  <a:lnTo>
                    <a:pt x="569792" y="276633"/>
                  </a:lnTo>
                  <a:cubicBezTo>
                    <a:pt x="578595" y="276633"/>
                    <a:pt x="583877" y="281901"/>
                    <a:pt x="582116" y="288924"/>
                  </a:cubicBezTo>
                  <a:cubicBezTo>
                    <a:pt x="582116" y="295948"/>
                    <a:pt x="576835" y="301216"/>
                    <a:pt x="569792" y="301216"/>
                  </a:cubicBezTo>
                  <a:lnTo>
                    <a:pt x="481761" y="301216"/>
                  </a:lnTo>
                  <a:cubicBezTo>
                    <a:pt x="474719" y="301216"/>
                    <a:pt x="469437" y="295948"/>
                    <a:pt x="469437" y="288924"/>
                  </a:cubicBezTo>
                  <a:cubicBezTo>
                    <a:pt x="469437" y="281901"/>
                    <a:pt x="474719" y="276633"/>
                    <a:pt x="481761" y="276633"/>
                  </a:cubicBezTo>
                  <a:close/>
                  <a:moveTo>
                    <a:pt x="12323" y="276633"/>
                  </a:moveTo>
                  <a:lnTo>
                    <a:pt x="99762" y="276633"/>
                  </a:lnTo>
                  <a:cubicBezTo>
                    <a:pt x="106804" y="276633"/>
                    <a:pt x="112085" y="281908"/>
                    <a:pt x="112085" y="288940"/>
                  </a:cubicBezTo>
                  <a:cubicBezTo>
                    <a:pt x="112085" y="295973"/>
                    <a:pt x="106804" y="303006"/>
                    <a:pt x="99762" y="301248"/>
                  </a:cubicBezTo>
                  <a:lnTo>
                    <a:pt x="12323" y="301248"/>
                  </a:lnTo>
                  <a:cubicBezTo>
                    <a:pt x="5281" y="301248"/>
                    <a:pt x="0" y="295973"/>
                    <a:pt x="0" y="288940"/>
                  </a:cubicBezTo>
                  <a:cubicBezTo>
                    <a:pt x="0" y="281908"/>
                    <a:pt x="5281" y="276633"/>
                    <a:pt x="12323" y="276633"/>
                  </a:cubicBezTo>
                  <a:close/>
                  <a:moveTo>
                    <a:pt x="291091" y="230905"/>
                  </a:moveTo>
                  <a:cubicBezTo>
                    <a:pt x="193067" y="324096"/>
                    <a:pt x="232981" y="407910"/>
                    <a:pt x="273482" y="462418"/>
                  </a:cubicBezTo>
                  <a:cubicBezTo>
                    <a:pt x="277004" y="465935"/>
                    <a:pt x="257634" y="379777"/>
                    <a:pt x="291091" y="324096"/>
                  </a:cubicBezTo>
                  <a:cubicBezTo>
                    <a:pt x="273482" y="378018"/>
                    <a:pt x="296374" y="457143"/>
                    <a:pt x="291091" y="488207"/>
                  </a:cubicBezTo>
                  <a:cubicBezTo>
                    <a:pt x="403203" y="374502"/>
                    <a:pt x="324548" y="280138"/>
                    <a:pt x="291091" y="230905"/>
                  </a:cubicBezTo>
                  <a:close/>
                  <a:moveTo>
                    <a:pt x="291091" y="155883"/>
                  </a:moveTo>
                  <a:cubicBezTo>
                    <a:pt x="371506" y="155883"/>
                    <a:pt x="436660" y="220941"/>
                    <a:pt x="433138" y="301238"/>
                  </a:cubicBezTo>
                  <a:cubicBezTo>
                    <a:pt x="433138" y="407910"/>
                    <a:pt x="357419" y="421977"/>
                    <a:pt x="352136" y="480001"/>
                  </a:cubicBezTo>
                  <a:lnTo>
                    <a:pt x="348614" y="512824"/>
                  </a:lnTo>
                  <a:cubicBezTo>
                    <a:pt x="343332" y="542715"/>
                    <a:pt x="319266" y="563815"/>
                    <a:pt x="289330" y="563815"/>
                  </a:cubicBezTo>
                  <a:cubicBezTo>
                    <a:pt x="259395" y="563815"/>
                    <a:pt x="234742" y="540957"/>
                    <a:pt x="229459" y="512824"/>
                  </a:cubicBezTo>
                  <a:lnTo>
                    <a:pt x="225937" y="480001"/>
                  </a:lnTo>
                  <a:cubicBezTo>
                    <a:pt x="222415" y="421977"/>
                    <a:pt x="145522" y="409668"/>
                    <a:pt x="145522" y="301238"/>
                  </a:cubicBezTo>
                  <a:cubicBezTo>
                    <a:pt x="145522" y="220941"/>
                    <a:pt x="210089" y="155883"/>
                    <a:pt x="291091" y="155883"/>
                  </a:cubicBezTo>
                  <a:close/>
                  <a:moveTo>
                    <a:pt x="536996" y="136984"/>
                  </a:moveTo>
                  <a:cubicBezTo>
                    <a:pt x="540295" y="137864"/>
                    <a:pt x="543373" y="140064"/>
                    <a:pt x="545132" y="143583"/>
                  </a:cubicBezTo>
                  <a:cubicBezTo>
                    <a:pt x="548650" y="148862"/>
                    <a:pt x="546891" y="157661"/>
                    <a:pt x="539855" y="161180"/>
                  </a:cubicBezTo>
                  <a:lnTo>
                    <a:pt x="462456" y="205173"/>
                  </a:lnTo>
                  <a:cubicBezTo>
                    <a:pt x="460697" y="206933"/>
                    <a:pt x="457766" y="206933"/>
                    <a:pt x="456007" y="206933"/>
                  </a:cubicBezTo>
                  <a:cubicBezTo>
                    <a:pt x="452488" y="206933"/>
                    <a:pt x="447211" y="205173"/>
                    <a:pt x="445452" y="199894"/>
                  </a:cubicBezTo>
                  <a:cubicBezTo>
                    <a:pt x="441934" y="194615"/>
                    <a:pt x="443693" y="185816"/>
                    <a:pt x="450729" y="182297"/>
                  </a:cubicBezTo>
                  <a:lnTo>
                    <a:pt x="527541" y="138303"/>
                  </a:lnTo>
                  <a:cubicBezTo>
                    <a:pt x="530180" y="136544"/>
                    <a:pt x="533698" y="136104"/>
                    <a:pt x="536996" y="136984"/>
                  </a:cubicBezTo>
                  <a:close/>
                  <a:moveTo>
                    <a:pt x="44441" y="136984"/>
                  </a:moveTo>
                  <a:cubicBezTo>
                    <a:pt x="47522" y="136104"/>
                    <a:pt x="51043" y="136544"/>
                    <a:pt x="54564" y="138303"/>
                  </a:cubicBezTo>
                  <a:lnTo>
                    <a:pt x="131444" y="182297"/>
                  </a:lnTo>
                  <a:cubicBezTo>
                    <a:pt x="138486" y="185816"/>
                    <a:pt x="140247" y="194615"/>
                    <a:pt x="136726" y="199894"/>
                  </a:cubicBezTo>
                  <a:cubicBezTo>
                    <a:pt x="134965" y="205173"/>
                    <a:pt x="131444" y="206933"/>
                    <a:pt x="126162" y="206933"/>
                  </a:cubicBezTo>
                  <a:cubicBezTo>
                    <a:pt x="122641" y="206933"/>
                    <a:pt x="120880" y="206933"/>
                    <a:pt x="119120" y="205173"/>
                  </a:cubicBezTo>
                  <a:lnTo>
                    <a:pt x="42240" y="161180"/>
                  </a:lnTo>
                  <a:cubicBezTo>
                    <a:pt x="35198" y="157661"/>
                    <a:pt x="33437" y="150622"/>
                    <a:pt x="36958" y="143583"/>
                  </a:cubicBezTo>
                  <a:cubicBezTo>
                    <a:pt x="38719" y="140064"/>
                    <a:pt x="41360" y="137864"/>
                    <a:pt x="44441" y="136984"/>
                  </a:cubicBezTo>
                  <a:close/>
                  <a:moveTo>
                    <a:pt x="426494" y="35635"/>
                  </a:moveTo>
                  <a:cubicBezTo>
                    <a:pt x="429575" y="34756"/>
                    <a:pt x="433096" y="35196"/>
                    <a:pt x="436617" y="36954"/>
                  </a:cubicBezTo>
                  <a:cubicBezTo>
                    <a:pt x="443659" y="40471"/>
                    <a:pt x="445419" y="49264"/>
                    <a:pt x="441898" y="54539"/>
                  </a:cubicBezTo>
                  <a:lnTo>
                    <a:pt x="397887" y="131329"/>
                  </a:lnTo>
                  <a:cubicBezTo>
                    <a:pt x="396127" y="136604"/>
                    <a:pt x="392606" y="138363"/>
                    <a:pt x="387325" y="138363"/>
                  </a:cubicBezTo>
                  <a:cubicBezTo>
                    <a:pt x="383804" y="138363"/>
                    <a:pt x="382044" y="138363"/>
                    <a:pt x="380283" y="136604"/>
                  </a:cubicBezTo>
                  <a:cubicBezTo>
                    <a:pt x="373241" y="133087"/>
                    <a:pt x="371481" y="126053"/>
                    <a:pt x="375002" y="119019"/>
                  </a:cubicBezTo>
                  <a:lnTo>
                    <a:pt x="419013" y="42230"/>
                  </a:lnTo>
                  <a:cubicBezTo>
                    <a:pt x="420773" y="38713"/>
                    <a:pt x="423414" y="36515"/>
                    <a:pt x="426494" y="35635"/>
                  </a:cubicBezTo>
                  <a:close/>
                  <a:moveTo>
                    <a:pt x="155032" y="33845"/>
                  </a:moveTo>
                  <a:cubicBezTo>
                    <a:pt x="158334" y="34725"/>
                    <a:pt x="161415" y="36923"/>
                    <a:pt x="163176" y="40440"/>
                  </a:cubicBezTo>
                  <a:lnTo>
                    <a:pt x="206613" y="117229"/>
                  </a:lnTo>
                  <a:cubicBezTo>
                    <a:pt x="210135" y="122505"/>
                    <a:pt x="208374" y="131297"/>
                    <a:pt x="201330" y="134814"/>
                  </a:cubicBezTo>
                  <a:cubicBezTo>
                    <a:pt x="199569" y="136573"/>
                    <a:pt x="196634" y="136573"/>
                    <a:pt x="194873" y="136573"/>
                  </a:cubicBezTo>
                  <a:cubicBezTo>
                    <a:pt x="191352" y="136573"/>
                    <a:pt x="186069" y="134814"/>
                    <a:pt x="184308" y="129539"/>
                  </a:cubicBezTo>
                  <a:lnTo>
                    <a:pt x="140284" y="52749"/>
                  </a:lnTo>
                  <a:cubicBezTo>
                    <a:pt x="136762" y="47474"/>
                    <a:pt x="138523" y="38681"/>
                    <a:pt x="145567" y="35164"/>
                  </a:cubicBezTo>
                  <a:cubicBezTo>
                    <a:pt x="148208" y="33406"/>
                    <a:pt x="151730" y="32966"/>
                    <a:pt x="155032" y="33845"/>
                  </a:cubicBezTo>
                  <a:close/>
                  <a:moveTo>
                    <a:pt x="291044" y="0"/>
                  </a:moveTo>
                  <a:cubicBezTo>
                    <a:pt x="298094" y="0"/>
                    <a:pt x="303382" y="5277"/>
                    <a:pt x="303382" y="12313"/>
                  </a:cubicBezTo>
                  <a:lnTo>
                    <a:pt x="303382" y="99678"/>
                  </a:lnTo>
                  <a:cubicBezTo>
                    <a:pt x="303382" y="106714"/>
                    <a:pt x="298094" y="111991"/>
                    <a:pt x="291044" y="111991"/>
                  </a:cubicBezTo>
                  <a:cubicBezTo>
                    <a:pt x="283993" y="111991"/>
                    <a:pt x="278705" y="104955"/>
                    <a:pt x="278705" y="99678"/>
                  </a:cubicBezTo>
                  <a:lnTo>
                    <a:pt x="278705" y="12313"/>
                  </a:lnTo>
                  <a:cubicBezTo>
                    <a:pt x="278705" y="5277"/>
                    <a:pt x="283993" y="0"/>
                    <a:pt x="291044" y="0"/>
                  </a:cubicBezTo>
                  <a:close/>
                </a:path>
              </a:pathLst>
            </a:custGeom>
            <a:solidFill>
              <a:srgbClr val="000000">
                <a:lumMod val="50000"/>
                <a:lumOff val="50000"/>
              </a:srgbClr>
            </a:solidFill>
          </p:spPr>
          <p:txBody>
            <a:bodyPr vert="horz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28" name="AutoShape 28"/>
          <p:cNvSpPr/>
          <p:nvPr/>
        </p:nvSpPr>
        <p:spPr>
          <a:xfrm>
            <a:off x="672306" y="2666460"/>
            <a:ext cx="3789989" cy="845616"/>
          </a:xfrm>
          <a:prstGeom prst="rect">
            <a:avLst/>
          </a:prstGeom>
          <a:noFill/>
        </p:spPr>
        <p:txBody>
          <a:bodyPr vert="horz" wrap="square" lIns="91440" tIns="45720" rIns="91440" bIns="45720" anchor="b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Price cuts are eroding Tesla's margins. Price reductions to maintain market share are negatively affecting profitability.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72306" y="2145862"/>
            <a:ext cx="378998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Margin Compression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>
            <a:off x="673100" y="3570646"/>
            <a:ext cx="3679825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Technical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959041" y="4382072"/>
            <a:ext cx="1583789" cy="1583789"/>
          </a:xfrm>
          <a:prstGeom prst="ellipse">
            <a:avLst/>
          </a:prstGeom>
          <a:solidFill>
            <a:srgbClr val="FFFFFF">
              <a:alpha val="20000"/>
              <a:lumMod val="7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6356195" y="0"/>
            <a:ext cx="5835805" cy="6237288"/>
          </a:xfrm>
          <a:custGeom>
            <a:avLst/>
            <a:gdLst/>
            <a:ahLst/>
            <a:cxnLst/>
            <a:rect l="l" t="t" r="r" b="b"/>
            <a:pathLst>
              <a:path w="5835805" h="6237288">
                <a:moveTo>
                  <a:pt x="262855" y="0"/>
                </a:moveTo>
                <a:lnTo>
                  <a:pt x="5835805" y="0"/>
                </a:lnTo>
                <a:lnTo>
                  <a:pt x="5835805" y="6095470"/>
                </a:lnTo>
                <a:lnTo>
                  <a:pt x="5634104" y="6142022"/>
                </a:lnTo>
                <a:cubicBezTo>
                  <a:pt x="5328856" y="6204485"/>
                  <a:pt x="5012803" y="6237288"/>
                  <a:pt x="4689089" y="6237288"/>
                </a:cubicBezTo>
                <a:cubicBezTo>
                  <a:pt x="2099377" y="6237288"/>
                  <a:pt x="0" y="4137911"/>
                  <a:pt x="0" y="1548199"/>
                </a:cubicBezTo>
                <a:cubicBezTo>
                  <a:pt x="0" y="1062628"/>
                  <a:pt x="73807" y="594296"/>
                  <a:pt x="210813" y="153808"/>
                </a:cubicBezTo>
                <a:close/>
              </a:path>
            </a:pathLst>
          </a:custGeom>
          <a:solidFill>
            <a:srgbClr val="000000">
              <a:alpha val="10000"/>
              <a:lumMod val="50000"/>
              <a:lumOff val="50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5743876" y="1818411"/>
            <a:ext cx="4392583" cy="3377296"/>
            <a:chOff x="3257153" y="1570990"/>
            <a:chExt cx="5684838" cy="4370863"/>
          </a:xfrm>
        </p:grpSpPr>
        <p:sp>
          <p:nvSpPr>
            <p:cNvPr id="5" name="Freeform 5"/>
            <p:cNvSpPr/>
            <p:nvPr/>
          </p:nvSpPr>
          <p:spPr>
            <a:xfrm>
              <a:off x="8926441" y="5409897"/>
              <a:ext cx="15550" cy="241025"/>
            </a:xfrm>
            <a:custGeom>
              <a:avLst/>
              <a:gdLst/>
              <a:ahLst/>
              <a:cxnLst/>
              <a:rect l="l" t="t" r="r" b="b"/>
              <a:pathLst>
                <a:path w="24405" h="378288">
                  <a:moveTo>
                    <a:pt x="25647" y="13192"/>
                  </a:moveTo>
                  <a:lnTo>
                    <a:pt x="25647" y="367074"/>
                  </a:lnTo>
                  <a:cubicBezTo>
                    <a:pt x="25647" y="373786"/>
                    <a:pt x="20155" y="379277"/>
                    <a:pt x="13444" y="379277"/>
                  </a:cubicBezTo>
                  <a:cubicBezTo>
                    <a:pt x="6732" y="379277"/>
                    <a:pt x="1241" y="373786"/>
                    <a:pt x="1241" y="367074"/>
                  </a:cubicBezTo>
                  <a:lnTo>
                    <a:pt x="1241" y="13192"/>
                  </a:lnTo>
                  <a:cubicBezTo>
                    <a:pt x="1241" y="6480"/>
                    <a:pt x="6732" y="989"/>
                    <a:pt x="13444" y="989"/>
                  </a:cubicBezTo>
                  <a:cubicBezTo>
                    <a:pt x="20155" y="989"/>
                    <a:pt x="25647" y="6480"/>
                    <a:pt x="25647" y="13192"/>
                  </a:cubicBezTo>
                  <a:close/>
                </a:path>
              </a:pathLst>
            </a:custGeom>
            <a:gradFill>
              <a:gsLst>
                <a:gs pos="0">
                  <a:srgbClr val="F0F0F0">
                    <a:lumMod val="25000"/>
                  </a:srgbClr>
                </a:gs>
                <a:gs pos="1000">
                  <a:srgbClr val="000000">
                    <a:lumMod val="75000"/>
                    <a:lumOff val="25000"/>
                  </a:srgbClr>
                </a:gs>
                <a:gs pos="2000">
                  <a:srgbClr val="F0F0F0">
                    <a:lumMod val="25000"/>
                  </a:srgbClr>
                </a:gs>
                <a:gs pos="21000">
                  <a:srgbClr val="FFFFFF">
                    <a:alpha val="0"/>
                    <a:lumMod val="95000"/>
                  </a:srgbClr>
                </a:gs>
                <a:gs pos="82000">
                  <a:srgbClr val="FFFFFF">
                    <a:alpha val="4000"/>
                    <a:lumMod val="95000"/>
                  </a:srgbClr>
                </a:gs>
                <a:gs pos="98000">
                  <a:srgbClr val="F0F0F0">
                    <a:lumMod val="25000"/>
                  </a:srgbClr>
                </a:gs>
                <a:gs pos="99000">
                  <a:srgbClr val="000000">
                    <a:lumMod val="75000"/>
                    <a:lumOff val="25000"/>
                  </a:srgbClr>
                </a:gs>
                <a:gs pos="100000">
                  <a:srgbClr val="000000">
                    <a:lumMod val="75000"/>
                    <a:lumOff val="25000"/>
                  </a:srgbClr>
                </a:gs>
              </a:gsLst>
              <a:lin ang="5400000"/>
            </a:gradFill>
            <a:ln cap="flat">
              <a:prstDash val="solid"/>
            </a:ln>
          </p:spPr>
          <p:txBody>
            <a:bodyPr vert="horz" lIns="91440" tIns="45720" rIns="91440" bIns="45720" anchor="ctr">
              <a:normAutofit fontScale="40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8075711" y="5926303"/>
              <a:ext cx="209924" cy="15550"/>
            </a:xfrm>
            <a:custGeom>
              <a:avLst/>
              <a:gdLst/>
              <a:ahLst/>
              <a:cxnLst/>
              <a:rect l="l" t="t" r="r" b="b"/>
              <a:pathLst>
                <a:path w="329476" h="24405">
                  <a:moveTo>
                    <a:pt x="13444" y="989"/>
                  </a:moveTo>
                  <a:lnTo>
                    <a:pt x="318515" y="989"/>
                  </a:lnTo>
                  <a:cubicBezTo>
                    <a:pt x="325227" y="989"/>
                    <a:pt x="330718" y="6480"/>
                    <a:pt x="330718" y="13192"/>
                  </a:cubicBezTo>
                  <a:cubicBezTo>
                    <a:pt x="330718" y="19903"/>
                    <a:pt x="325227" y="25395"/>
                    <a:pt x="318515" y="25395"/>
                  </a:cubicBezTo>
                  <a:lnTo>
                    <a:pt x="13444" y="25395"/>
                  </a:lnTo>
                  <a:cubicBezTo>
                    <a:pt x="6732" y="25395"/>
                    <a:pt x="1241" y="19903"/>
                    <a:pt x="1241" y="13192"/>
                  </a:cubicBezTo>
                  <a:cubicBezTo>
                    <a:pt x="1241" y="6480"/>
                    <a:pt x="6732" y="989"/>
                    <a:pt x="13444" y="989"/>
                  </a:cubicBezTo>
                  <a:close/>
                </a:path>
              </a:pathLst>
            </a:custGeom>
            <a:gradFill>
              <a:gsLst>
                <a:gs pos="0">
                  <a:srgbClr val="F0F0F0">
                    <a:lumMod val="25000"/>
                  </a:srgbClr>
                </a:gs>
                <a:gs pos="1000">
                  <a:srgbClr val="000000">
                    <a:lumMod val="75000"/>
                    <a:lumOff val="25000"/>
                  </a:srgbClr>
                </a:gs>
                <a:gs pos="2000">
                  <a:srgbClr val="F0F0F0">
                    <a:lumMod val="25000"/>
                  </a:srgbClr>
                </a:gs>
                <a:gs pos="21000">
                  <a:srgbClr val="FFFFFF">
                    <a:alpha val="0"/>
                    <a:lumMod val="95000"/>
                  </a:srgbClr>
                </a:gs>
                <a:gs pos="82000">
                  <a:srgbClr val="FFFFFF">
                    <a:alpha val="4000"/>
                    <a:lumMod val="95000"/>
                  </a:srgbClr>
                </a:gs>
                <a:gs pos="98000">
                  <a:srgbClr val="F0F0F0">
                    <a:lumMod val="25000"/>
                  </a:srgbClr>
                </a:gs>
                <a:gs pos="99000">
                  <a:srgbClr val="000000">
                    <a:lumMod val="75000"/>
                    <a:lumOff val="25000"/>
                  </a:srgbClr>
                </a:gs>
                <a:gs pos="100000">
                  <a:srgbClr val="000000">
                    <a:lumMod val="75000"/>
                    <a:lumOff val="25000"/>
                  </a:srgbClr>
                </a:gs>
              </a:gsLst>
            </a:gradFill>
            <a:ln cap="flat">
              <a:prstDash val="solid"/>
            </a:ln>
          </p:spPr>
          <p:txBody>
            <a:bodyPr rot="0" vert="horz" wrap="square" lIns="91440" tIns="45720" rIns="91440" bIns="45720" anchor="ctr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7" name="Freeform 7"/>
            <p:cNvSpPr/>
            <p:nvPr/>
          </p:nvSpPr>
          <p:spPr>
            <a:xfrm>
              <a:off x="8324511" y="5926303"/>
              <a:ext cx="209924" cy="15550"/>
            </a:xfrm>
            <a:custGeom>
              <a:avLst/>
              <a:gdLst/>
              <a:ahLst/>
              <a:cxnLst/>
              <a:rect l="l" t="t" r="r" b="b"/>
              <a:pathLst>
                <a:path w="329476" h="24405">
                  <a:moveTo>
                    <a:pt x="13444" y="989"/>
                  </a:moveTo>
                  <a:lnTo>
                    <a:pt x="318515" y="989"/>
                  </a:lnTo>
                  <a:cubicBezTo>
                    <a:pt x="325227" y="989"/>
                    <a:pt x="330718" y="6480"/>
                    <a:pt x="330718" y="13192"/>
                  </a:cubicBezTo>
                  <a:cubicBezTo>
                    <a:pt x="330718" y="19903"/>
                    <a:pt x="325227" y="25395"/>
                    <a:pt x="318515" y="25395"/>
                  </a:cubicBezTo>
                  <a:lnTo>
                    <a:pt x="13444" y="25395"/>
                  </a:lnTo>
                  <a:cubicBezTo>
                    <a:pt x="6732" y="25395"/>
                    <a:pt x="1241" y="19903"/>
                    <a:pt x="1241" y="13192"/>
                  </a:cubicBezTo>
                  <a:cubicBezTo>
                    <a:pt x="1241" y="6480"/>
                    <a:pt x="6732" y="989"/>
                    <a:pt x="13444" y="989"/>
                  </a:cubicBezTo>
                  <a:close/>
                </a:path>
              </a:pathLst>
            </a:custGeom>
            <a:gradFill>
              <a:gsLst>
                <a:gs pos="0">
                  <a:srgbClr val="F0F0F0">
                    <a:lumMod val="25000"/>
                  </a:srgbClr>
                </a:gs>
                <a:gs pos="1000">
                  <a:srgbClr val="000000">
                    <a:lumMod val="75000"/>
                    <a:lumOff val="25000"/>
                  </a:srgbClr>
                </a:gs>
                <a:gs pos="2000">
                  <a:srgbClr val="F0F0F0">
                    <a:lumMod val="25000"/>
                  </a:srgbClr>
                </a:gs>
                <a:gs pos="21000">
                  <a:srgbClr val="FFFFFF">
                    <a:alpha val="0"/>
                    <a:lumMod val="95000"/>
                  </a:srgbClr>
                </a:gs>
                <a:gs pos="82000">
                  <a:srgbClr val="FFFFFF">
                    <a:alpha val="4000"/>
                    <a:lumMod val="95000"/>
                  </a:srgbClr>
                </a:gs>
                <a:gs pos="98000">
                  <a:srgbClr val="F0F0F0">
                    <a:lumMod val="25000"/>
                  </a:srgbClr>
                </a:gs>
                <a:gs pos="99000">
                  <a:srgbClr val="000000">
                    <a:lumMod val="75000"/>
                    <a:lumOff val="25000"/>
                  </a:srgbClr>
                </a:gs>
                <a:gs pos="100000">
                  <a:srgbClr val="000000">
                    <a:lumMod val="75000"/>
                    <a:lumOff val="25000"/>
                  </a:srgbClr>
                </a:gs>
              </a:gsLst>
            </a:gradFill>
            <a:ln cap="flat">
              <a:prstDash val="solid"/>
            </a:ln>
          </p:spPr>
          <p:txBody>
            <a:bodyPr rot="0" vert="horz" wrap="square" lIns="91440" tIns="45720" rIns="91440" bIns="45720" anchor="ctr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8" name="Freeform 8"/>
            <p:cNvSpPr/>
            <p:nvPr/>
          </p:nvSpPr>
          <p:spPr>
            <a:xfrm>
              <a:off x="3262984" y="1576821"/>
              <a:ext cx="5660202" cy="4342340"/>
            </a:xfrm>
            <a:custGeom>
              <a:avLst/>
              <a:gdLst/>
              <a:ahLst/>
              <a:cxnLst/>
              <a:rect l="l" t="t" r="r" b="b"/>
              <a:pathLst>
                <a:path w="8883672" h="6815290">
                  <a:moveTo>
                    <a:pt x="500320" y="3"/>
                  </a:moveTo>
                  <a:lnTo>
                    <a:pt x="8383359" y="3"/>
                  </a:lnTo>
                  <a:cubicBezTo>
                    <a:pt x="8557249" y="3"/>
                    <a:pt x="8620704" y="18307"/>
                    <a:pt x="8684159" y="51865"/>
                  </a:cubicBezTo>
                  <a:cubicBezTo>
                    <a:pt x="8747613" y="86033"/>
                    <a:pt x="8797646" y="136065"/>
                    <a:pt x="8831813" y="199520"/>
                  </a:cubicBezTo>
                  <a:cubicBezTo>
                    <a:pt x="8865981" y="262974"/>
                    <a:pt x="8883675" y="326429"/>
                    <a:pt x="8883675" y="500320"/>
                  </a:cubicBezTo>
                  <a:lnTo>
                    <a:pt x="8883675" y="6314977"/>
                  </a:lnTo>
                  <a:cubicBezTo>
                    <a:pt x="8883675" y="6488867"/>
                    <a:pt x="8865371" y="6552322"/>
                    <a:pt x="8831813" y="6615777"/>
                  </a:cubicBezTo>
                  <a:cubicBezTo>
                    <a:pt x="8797646" y="6679231"/>
                    <a:pt x="8747613" y="6729263"/>
                    <a:pt x="8684159" y="6763431"/>
                  </a:cubicBezTo>
                  <a:cubicBezTo>
                    <a:pt x="8620704" y="6797599"/>
                    <a:pt x="8557249" y="6815293"/>
                    <a:pt x="8383359" y="6815293"/>
                  </a:cubicBezTo>
                  <a:lnTo>
                    <a:pt x="500320" y="6815293"/>
                  </a:lnTo>
                  <a:cubicBezTo>
                    <a:pt x="326429" y="6815293"/>
                    <a:pt x="262974" y="6796989"/>
                    <a:pt x="199520" y="6763431"/>
                  </a:cubicBezTo>
                  <a:cubicBezTo>
                    <a:pt x="136065" y="6729263"/>
                    <a:pt x="86033" y="6679231"/>
                    <a:pt x="51865" y="6615777"/>
                  </a:cubicBezTo>
                  <a:cubicBezTo>
                    <a:pt x="18307" y="6551712"/>
                    <a:pt x="3" y="6488867"/>
                    <a:pt x="3" y="6314977"/>
                  </a:cubicBezTo>
                  <a:lnTo>
                    <a:pt x="3" y="500320"/>
                  </a:lnTo>
                  <a:cubicBezTo>
                    <a:pt x="3" y="326429"/>
                    <a:pt x="18307" y="262974"/>
                    <a:pt x="51865" y="199520"/>
                  </a:cubicBezTo>
                  <a:cubicBezTo>
                    <a:pt x="85423" y="136065"/>
                    <a:pt x="136065" y="86033"/>
                    <a:pt x="199520" y="51865"/>
                  </a:cubicBezTo>
                  <a:cubicBezTo>
                    <a:pt x="262974" y="17697"/>
                    <a:pt x="326429" y="3"/>
                    <a:pt x="500320" y="3"/>
                  </a:cubicBezTo>
                  <a:close/>
                </a:path>
              </a:pathLst>
            </a:custGeom>
            <a:solidFill>
              <a:srgbClr val="0E0E0E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9" name="Freeform 9"/>
            <p:cNvSpPr/>
            <p:nvPr/>
          </p:nvSpPr>
          <p:spPr>
            <a:xfrm>
              <a:off x="3262984" y="1576821"/>
              <a:ext cx="5660202" cy="4342340"/>
            </a:xfrm>
            <a:custGeom>
              <a:avLst/>
              <a:gdLst/>
              <a:ahLst/>
              <a:cxnLst/>
              <a:rect l="l" t="t" r="r" b="b"/>
              <a:pathLst>
                <a:path w="8883672" h="6815290">
                  <a:moveTo>
                    <a:pt x="500320" y="3"/>
                  </a:moveTo>
                  <a:lnTo>
                    <a:pt x="8383359" y="3"/>
                  </a:lnTo>
                  <a:cubicBezTo>
                    <a:pt x="8557249" y="3"/>
                    <a:pt x="8620704" y="18307"/>
                    <a:pt x="8684159" y="51865"/>
                  </a:cubicBezTo>
                  <a:cubicBezTo>
                    <a:pt x="8747613" y="86033"/>
                    <a:pt x="8797646" y="136065"/>
                    <a:pt x="8831813" y="199520"/>
                  </a:cubicBezTo>
                  <a:cubicBezTo>
                    <a:pt x="8865981" y="262974"/>
                    <a:pt x="8883675" y="326429"/>
                    <a:pt x="8883675" y="500320"/>
                  </a:cubicBezTo>
                  <a:lnTo>
                    <a:pt x="8883675" y="6314977"/>
                  </a:lnTo>
                  <a:cubicBezTo>
                    <a:pt x="8883675" y="6488867"/>
                    <a:pt x="8865371" y="6552322"/>
                    <a:pt x="8831813" y="6615777"/>
                  </a:cubicBezTo>
                  <a:cubicBezTo>
                    <a:pt x="8797646" y="6679231"/>
                    <a:pt x="8747613" y="6729263"/>
                    <a:pt x="8684159" y="6763431"/>
                  </a:cubicBezTo>
                  <a:cubicBezTo>
                    <a:pt x="8620704" y="6797599"/>
                    <a:pt x="8557249" y="6815293"/>
                    <a:pt x="8383359" y="6815293"/>
                  </a:cubicBezTo>
                  <a:lnTo>
                    <a:pt x="500320" y="6815293"/>
                  </a:lnTo>
                  <a:cubicBezTo>
                    <a:pt x="326429" y="6815293"/>
                    <a:pt x="262974" y="6796989"/>
                    <a:pt x="199520" y="6763431"/>
                  </a:cubicBezTo>
                  <a:cubicBezTo>
                    <a:pt x="136065" y="6729263"/>
                    <a:pt x="86033" y="6679231"/>
                    <a:pt x="51865" y="6615777"/>
                  </a:cubicBezTo>
                  <a:cubicBezTo>
                    <a:pt x="18307" y="6551712"/>
                    <a:pt x="3" y="6488867"/>
                    <a:pt x="3" y="6314977"/>
                  </a:cubicBezTo>
                  <a:lnTo>
                    <a:pt x="3" y="500320"/>
                  </a:lnTo>
                  <a:cubicBezTo>
                    <a:pt x="3" y="326429"/>
                    <a:pt x="18307" y="262974"/>
                    <a:pt x="51865" y="199520"/>
                  </a:cubicBezTo>
                  <a:cubicBezTo>
                    <a:pt x="85423" y="136065"/>
                    <a:pt x="136065" y="86033"/>
                    <a:pt x="199520" y="51865"/>
                  </a:cubicBezTo>
                  <a:cubicBezTo>
                    <a:pt x="262974" y="17697"/>
                    <a:pt x="326429" y="3"/>
                    <a:pt x="500320" y="3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3257153" y="1570990"/>
              <a:ext cx="5671864" cy="4354002"/>
            </a:xfrm>
            <a:custGeom>
              <a:avLst/>
              <a:gdLst/>
              <a:ahLst/>
              <a:cxnLst/>
              <a:rect l="l" t="t" r="r" b="b"/>
              <a:pathLst>
                <a:path w="8901976" h="6833594">
                  <a:moveTo>
                    <a:pt x="8392511" y="3"/>
                  </a:moveTo>
                  <a:cubicBezTo>
                    <a:pt x="8569452" y="3"/>
                    <a:pt x="8632907" y="18917"/>
                    <a:pt x="8697582" y="53085"/>
                  </a:cubicBezTo>
                  <a:cubicBezTo>
                    <a:pt x="8762867" y="87863"/>
                    <a:pt x="8814119" y="139115"/>
                    <a:pt x="8848898" y="204401"/>
                  </a:cubicBezTo>
                  <a:cubicBezTo>
                    <a:pt x="8883675" y="269076"/>
                    <a:pt x="8901980" y="333141"/>
                    <a:pt x="8901980" y="509472"/>
                  </a:cubicBezTo>
                  <a:lnTo>
                    <a:pt x="8901980" y="509472"/>
                  </a:lnTo>
                  <a:lnTo>
                    <a:pt x="8901980" y="6324129"/>
                  </a:lnTo>
                  <a:cubicBezTo>
                    <a:pt x="8901980" y="6501070"/>
                    <a:pt x="8883065" y="6564525"/>
                    <a:pt x="8848898" y="6629200"/>
                  </a:cubicBezTo>
                  <a:cubicBezTo>
                    <a:pt x="8814119" y="6694485"/>
                    <a:pt x="8762867" y="6745737"/>
                    <a:pt x="8697582" y="6780515"/>
                  </a:cubicBezTo>
                  <a:cubicBezTo>
                    <a:pt x="8632907" y="6815293"/>
                    <a:pt x="8568842" y="6833598"/>
                    <a:pt x="8392511" y="6833598"/>
                  </a:cubicBezTo>
                  <a:lnTo>
                    <a:pt x="8392511" y="6833598"/>
                  </a:lnTo>
                  <a:lnTo>
                    <a:pt x="509472" y="6833598"/>
                  </a:lnTo>
                  <a:cubicBezTo>
                    <a:pt x="332531" y="6833598"/>
                    <a:pt x="269076" y="6814683"/>
                    <a:pt x="204401" y="6780515"/>
                  </a:cubicBezTo>
                  <a:cubicBezTo>
                    <a:pt x="139115" y="6745737"/>
                    <a:pt x="87863" y="6694485"/>
                    <a:pt x="53085" y="6629200"/>
                  </a:cubicBezTo>
                  <a:cubicBezTo>
                    <a:pt x="18917" y="6565135"/>
                    <a:pt x="3" y="6501680"/>
                    <a:pt x="3" y="6329010"/>
                  </a:cubicBezTo>
                  <a:lnTo>
                    <a:pt x="3" y="6329010"/>
                  </a:lnTo>
                  <a:lnTo>
                    <a:pt x="3" y="504591"/>
                  </a:lnTo>
                  <a:cubicBezTo>
                    <a:pt x="613" y="331920"/>
                    <a:pt x="18917" y="268466"/>
                    <a:pt x="53085" y="204401"/>
                  </a:cubicBezTo>
                  <a:cubicBezTo>
                    <a:pt x="87863" y="139115"/>
                    <a:pt x="139115" y="87863"/>
                    <a:pt x="204401" y="53085"/>
                  </a:cubicBezTo>
                  <a:cubicBezTo>
                    <a:pt x="268466" y="18917"/>
                    <a:pt x="331920" y="3"/>
                    <a:pt x="504591" y="3"/>
                  </a:cubicBezTo>
                  <a:lnTo>
                    <a:pt x="504591" y="3"/>
                  </a:lnTo>
                  <a:lnTo>
                    <a:pt x="8392511" y="3"/>
                  </a:lnTo>
                  <a:close/>
                </a:path>
              </a:pathLst>
            </a:custGeom>
            <a:noFill/>
            <a:ln w="18294" cap="flat">
              <a:solidFill>
                <a:srgbClr val="FFFFFF">
                  <a:alpha val="10000"/>
                </a:srgbClr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1" name="Freeform 11"/>
            <p:cNvSpPr/>
            <p:nvPr/>
          </p:nvSpPr>
          <p:spPr>
            <a:xfrm>
              <a:off x="3258708" y="1572933"/>
              <a:ext cx="5668365" cy="4350503"/>
            </a:xfrm>
            <a:custGeom>
              <a:avLst/>
              <a:gdLst/>
              <a:ahLst/>
              <a:cxnLst/>
              <a:rect l="l" t="t" r="r" b="b"/>
              <a:pathLst>
                <a:path w="8896485" h="6828102">
                  <a:moveTo>
                    <a:pt x="8394952" y="3"/>
                  </a:moveTo>
                  <a:cubicBezTo>
                    <a:pt x="8567012" y="613"/>
                    <a:pt x="8629857" y="18917"/>
                    <a:pt x="8693311" y="53085"/>
                  </a:cubicBezTo>
                  <a:cubicBezTo>
                    <a:pt x="8757986" y="87863"/>
                    <a:pt x="8808628" y="138505"/>
                    <a:pt x="8843406" y="203180"/>
                  </a:cubicBezTo>
                  <a:cubicBezTo>
                    <a:pt x="8877574" y="267245"/>
                    <a:pt x="8896488" y="331310"/>
                    <a:pt x="8896488" y="507031"/>
                  </a:cubicBezTo>
                  <a:lnTo>
                    <a:pt x="8896488" y="507031"/>
                  </a:lnTo>
                  <a:lnTo>
                    <a:pt x="8896488" y="6321078"/>
                  </a:lnTo>
                  <a:cubicBezTo>
                    <a:pt x="8896488" y="6496799"/>
                    <a:pt x="8878184" y="6560253"/>
                    <a:pt x="8843406" y="6624929"/>
                  </a:cubicBezTo>
                  <a:cubicBezTo>
                    <a:pt x="8808628" y="6689604"/>
                    <a:pt x="8757986" y="6740245"/>
                    <a:pt x="8693311" y="6775024"/>
                  </a:cubicBezTo>
                  <a:cubicBezTo>
                    <a:pt x="8629246" y="6809192"/>
                    <a:pt x="8565181" y="6828106"/>
                    <a:pt x="8389460" y="6828106"/>
                  </a:cubicBezTo>
                  <a:lnTo>
                    <a:pt x="8389460" y="6828106"/>
                  </a:lnTo>
                  <a:lnTo>
                    <a:pt x="507031" y="6828106"/>
                  </a:lnTo>
                  <a:cubicBezTo>
                    <a:pt x="331310" y="6828106"/>
                    <a:pt x="267855" y="6809802"/>
                    <a:pt x="203180" y="6775024"/>
                  </a:cubicBezTo>
                  <a:cubicBezTo>
                    <a:pt x="138505" y="6740245"/>
                    <a:pt x="87864" y="6689604"/>
                    <a:pt x="53085" y="6624929"/>
                  </a:cubicBezTo>
                  <a:cubicBezTo>
                    <a:pt x="18917" y="6561474"/>
                    <a:pt x="613" y="6498019"/>
                    <a:pt x="3" y="6326569"/>
                  </a:cubicBezTo>
                  <a:lnTo>
                    <a:pt x="3" y="6326569"/>
                  </a:lnTo>
                  <a:lnTo>
                    <a:pt x="613" y="506421"/>
                  </a:lnTo>
                  <a:cubicBezTo>
                    <a:pt x="613" y="330700"/>
                    <a:pt x="18917" y="267245"/>
                    <a:pt x="53696" y="202570"/>
                  </a:cubicBezTo>
                  <a:cubicBezTo>
                    <a:pt x="88474" y="137895"/>
                    <a:pt x="139115" y="87253"/>
                    <a:pt x="203791" y="52475"/>
                  </a:cubicBezTo>
                  <a:cubicBezTo>
                    <a:pt x="267245" y="18917"/>
                    <a:pt x="330090" y="613"/>
                    <a:pt x="502150" y="3"/>
                  </a:cubicBezTo>
                  <a:lnTo>
                    <a:pt x="502150" y="3"/>
                  </a:lnTo>
                  <a:lnTo>
                    <a:pt x="8394952" y="3"/>
                  </a:lnTo>
                  <a:close/>
                </a:path>
              </a:pathLst>
            </a:custGeom>
            <a:noFill/>
            <a:ln w="12196" cap="flat">
              <a:solidFill>
                <a:srgbClr val="28292A">
                  <a:alpha val="40000"/>
                </a:srgbClr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2" name="Freeform 12"/>
            <p:cNvSpPr/>
            <p:nvPr/>
          </p:nvSpPr>
          <p:spPr>
            <a:xfrm>
              <a:off x="3268427" y="1582652"/>
              <a:ext cx="5649317" cy="4331065"/>
            </a:xfrm>
            <a:custGeom>
              <a:avLst/>
              <a:gdLst/>
              <a:ahLst/>
              <a:cxnLst/>
              <a:rect l="l" t="t" r="r" b="b"/>
              <a:pathLst>
                <a:path w="8866588" h="6797595">
                  <a:moveTo>
                    <a:pt x="8379698" y="3"/>
                  </a:moveTo>
                  <a:cubicBezTo>
                    <a:pt x="8547487" y="613"/>
                    <a:pt x="8609112" y="17697"/>
                    <a:pt x="8671346" y="51255"/>
                  </a:cubicBezTo>
                  <a:cubicBezTo>
                    <a:pt x="8733581" y="84203"/>
                    <a:pt x="8781781" y="133014"/>
                    <a:pt x="8815339" y="195249"/>
                  </a:cubicBezTo>
                  <a:cubicBezTo>
                    <a:pt x="8848897" y="258093"/>
                    <a:pt x="8866591" y="320328"/>
                    <a:pt x="8866591" y="491778"/>
                  </a:cubicBezTo>
                  <a:lnTo>
                    <a:pt x="8866591" y="491778"/>
                  </a:lnTo>
                  <a:lnTo>
                    <a:pt x="8866591" y="6305824"/>
                  </a:lnTo>
                  <a:cubicBezTo>
                    <a:pt x="8866591" y="6477274"/>
                    <a:pt x="8848897" y="6539509"/>
                    <a:pt x="8815339" y="6602353"/>
                  </a:cubicBezTo>
                  <a:cubicBezTo>
                    <a:pt x="8782392" y="6664588"/>
                    <a:pt x="8733581" y="6712789"/>
                    <a:pt x="8671346" y="6746347"/>
                  </a:cubicBezTo>
                  <a:cubicBezTo>
                    <a:pt x="8608502" y="6779905"/>
                    <a:pt x="8546267" y="6797599"/>
                    <a:pt x="8374817" y="6797599"/>
                  </a:cubicBezTo>
                  <a:lnTo>
                    <a:pt x="8374817" y="6797599"/>
                  </a:lnTo>
                  <a:lnTo>
                    <a:pt x="491778" y="6797599"/>
                  </a:lnTo>
                  <a:cubicBezTo>
                    <a:pt x="320328" y="6797599"/>
                    <a:pt x="258093" y="6779905"/>
                    <a:pt x="195249" y="6746347"/>
                  </a:cubicBezTo>
                  <a:cubicBezTo>
                    <a:pt x="133014" y="6713400"/>
                    <a:pt x="84813" y="6664588"/>
                    <a:pt x="51255" y="6602353"/>
                  </a:cubicBezTo>
                  <a:cubicBezTo>
                    <a:pt x="18307" y="6540119"/>
                    <a:pt x="613" y="6478495"/>
                    <a:pt x="3" y="6311316"/>
                  </a:cubicBezTo>
                  <a:lnTo>
                    <a:pt x="3" y="6311316"/>
                  </a:lnTo>
                  <a:lnTo>
                    <a:pt x="3" y="486897"/>
                  </a:lnTo>
                  <a:cubicBezTo>
                    <a:pt x="613" y="319107"/>
                    <a:pt x="17697" y="257483"/>
                    <a:pt x="51255" y="195249"/>
                  </a:cubicBezTo>
                  <a:cubicBezTo>
                    <a:pt x="84203" y="133014"/>
                    <a:pt x="133014" y="84813"/>
                    <a:pt x="195249" y="51255"/>
                  </a:cubicBezTo>
                  <a:cubicBezTo>
                    <a:pt x="257483" y="18307"/>
                    <a:pt x="319107" y="613"/>
                    <a:pt x="486286" y="3"/>
                  </a:cubicBezTo>
                  <a:lnTo>
                    <a:pt x="486286" y="3"/>
                  </a:lnTo>
                  <a:lnTo>
                    <a:pt x="8379698" y="3"/>
                  </a:lnTo>
                  <a:close/>
                </a:path>
              </a:pathLst>
            </a:custGeom>
            <a:noFill/>
            <a:ln w="18294" cap="flat">
              <a:solidFill>
                <a:srgbClr val="9FA0A1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3262984" y="1576821"/>
              <a:ext cx="5660202" cy="4342340"/>
            </a:xfrm>
            <a:custGeom>
              <a:avLst/>
              <a:gdLst/>
              <a:ahLst/>
              <a:cxnLst/>
              <a:rect l="l" t="t" r="r" b="b"/>
              <a:pathLst>
                <a:path w="8883672" h="6815290">
                  <a:moveTo>
                    <a:pt x="500320" y="3"/>
                  </a:moveTo>
                  <a:lnTo>
                    <a:pt x="8383359" y="3"/>
                  </a:lnTo>
                  <a:cubicBezTo>
                    <a:pt x="8557249" y="3"/>
                    <a:pt x="8620704" y="18307"/>
                    <a:pt x="8684159" y="51865"/>
                  </a:cubicBezTo>
                  <a:cubicBezTo>
                    <a:pt x="8747613" y="86033"/>
                    <a:pt x="8797646" y="136065"/>
                    <a:pt x="8831813" y="199520"/>
                  </a:cubicBezTo>
                  <a:cubicBezTo>
                    <a:pt x="8865981" y="262974"/>
                    <a:pt x="8883675" y="326429"/>
                    <a:pt x="8883675" y="500320"/>
                  </a:cubicBezTo>
                  <a:lnTo>
                    <a:pt x="8883675" y="6314977"/>
                  </a:lnTo>
                  <a:cubicBezTo>
                    <a:pt x="8883675" y="6488867"/>
                    <a:pt x="8865371" y="6552322"/>
                    <a:pt x="8831813" y="6615777"/>
                  </a:cubicBezTo>
                  <a:cubicBezTo>
                    <a:pt x="8797646" y="6679231"/>
                    <a:pt x="8747613" y="6729263"/>
                    <a:pt x="8684159" y="6763431"/>
                  </a:cubicBezTo>
                  <a:cubicBezTo>
                    <a:pt x="8620704" y="6797599"/>
                    <a:pt x="8557249" y="6815293"/>
                    <a:pt x="8383359" y="6815293"/>
                  </a:cubicBezTo>
                  <a:lnTo>
                    <a:pt x="500320" y="6815293"/>
                  </a:lnTo>
                  <a:cubicBezTo>
                    <a:pt x="326429" y="6815293"/>
                    <a:pt x="262974" y="6796989"/>
                    <a:pt x="199520" y="6763431"/>
                  </a:cubicBezTo>
                  <a:cubicBezTo>
                    <a:pt x="136065" y="6729263"/>
                    <a:pt x="86033" y="6679231"/>
                    <a:pt x="51865" y="6615777"/>
                  </a:cubicBezTo>
                  <a:cubicBezTo>
                    <a:pt x="18307" y="6551712"/>
                    <a:pt x="3" y="6488867"/>
                    <a:pt x="3" y="6314977"/>
                  </a:cubicBezTo>
                  <a:lnTo>
                    <a:pt x="3" y="500320"/>
                  </a:lnTo>
                  <a:cubicBezTo>
                    <a:pt x="3" y="326429"/>
                    <a:pt x="18307" y="262974"/>
                    <a:pt x="51865" y="199520"/>
                  </a:cubicBezTo>
                  <a:cubicBezTo>
                    <a:pt x="85423" y="136065"/>
                    <a:pt x="136065" y="86033"/>
                    <a:pt x="199520" y="51865"/>
                  </a:cubicBezTo>
                  <a:cubicBezTo>
                    <a:pt x="262974" y="17697"/>
                    <a:pt x="326429" y="3"/>
                    <a:pt x="500320" y="3"/>
                  </a:cubicBezTo>
                  <a:close/>
                </a:path>
              </a:pathLst>
            </a:custGeom>
            <a:noFill/>
            <a:ln w="12196" cap="flat">
              <a:solidFill>
                <a:srgbClr val="F8F8F8">
                  <a:alpha val="50000"/>
                </a:srgbClr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794898" y="3438935"/>
              <a:ext cx="77750" cy="614225"/>
              <a:chOff x="10336488" y="2940886"/>
              <a:chExt cx="122028" cy="96402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0360894" y="3380188"/>
                <a:ext cx="73217" cy="73217"/>
              </a:xfrm>
              <a:custGeom>
                <a:avLst/>
                <a:gdLst/>
                <a:ahLst/>
                <a:cxnLst/>
                <a:rect l="l" t="t" r="r" b="b"/>
                <a:pathLst>
                  <a:path w="73217" h="73217">
                    <a:moveTo>
                      <a:pt x="74643" y="37091"/>
                    </a:moveTo>
                    <a:cubicBezTo>
                      <a:pt x="74643" y="57309"/>
                      <a:pt x="58253" y="73699"/>
                      <a:pt x="38035" y="73699"/>
                    </a:cubicBezTo>
                    <a:cubicBezTo>
                      <a:pt x="17816" y="73699"/>
                      <a:pt x="1426" y="57309"/>
                      <a:pt x="1426" y="37091"/>
                    </a:cubicBezTo>
                    <a:cubicBezTo>
                      <a:pt x="1426" y="16872"/>
                      <a:pt x="17816" y="482"/>
                      <a:pt x="38035" y="482"/>
                    </a:cubicBezTo>
                    <a:cubicBezTo>
                      <a:pt x="58253" y="482"/>
                      <a:pt x="74643" y="16872"/>
                      <a:pt x="74643" y="37091"/>
                    </a:cubicBezTo>
                    <a:close/>
                  </a:path>
                </a:pathLst>
              </a:custGeom>
              <a:solidFill>
                <a:srgbClr val="464646">
                  <a:alpha val="50000"/>
                </a:srgbClr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grpSp>
            <p:nvGrpSpPr>
              <p:cNvPr id="16" name="Group 16"/>
              <p:cNvGrpSpPr/>
              <p:nvPr/>
            </p:nvGrpSpPr>
            <p:grpSpPr>
              <a:xfrm>
                <a:off x="10376148" y="3395442"/>
                <a:ext cx="42709" cy="42709"/>
                <a:chOff x="10376148" y="3395442"/>
                <a:chExt cx="42709" cy="42709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10379198" y="3398492"/>
                  <a:ext cx="36608" cy="36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08" h="36608">
                      <a:moveTo>
                        <a:pt x="19730" y="482"/>
                      </a:moveTo>
                      <a:cubicBezTo>
                        <a:pt x="9358" y="482"/>
                        <a:pt x="1426" y="8414"/>
                        <a:pt x="1426" y="18786"/>
                      </a:cubicBezTo>
                      <a:lnTo>
                        <a:pt x="1426" y="18786"/>
                      </a:lnTo>
                      <a:cubicBezTo>
                        <a:pt x="1426" y="29159"/>
                        <a:pt x="9358" y="37091"/>
                        <a:pt x="19730" y="37091"/>
                      </a:cubicBezTo>
                      <a:lnTo>
                        <a:pt x="19730" y="37091"/>
                      </a:lnTo>
                      <a:cubicBezTo>
                        <a:pt x="30103" y="37091"/>
                        <a:pt x="38035" y="29159"/>
                        <a:pt x="38035" y="18786"/>
                      </a:cubicBezTo>
                      <a:lnTo>
                        <a:pt x="38035" y="18786"/>
                      </a:lnTo>
                      <a:cubicBezTo>
                        <a:pt x="38035" y="8414"/>
                        <a:pt x="30103" y="482"/>
                        <a:pt x="19730" y="482"/>
                      </a:cubicBezTo>
                      <a:lnTo>
                        <a:pt x="19730" y="482"/>
                      </a:lnTo>
                      <a:close/>
                    </a:path>
                  </a:pathLst>
                </a:custGeom>
                <a:solidFill>
                  <a:srgbClr val="0722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8" name="Freeform 18"/>
                <p:cNvSpPr/>
                <p:nvPr/>
              </p:nvSpPr>
              <p:spPr>
                <a:xfrm>
                  <a:off x="10379198" y="3398492"/>
                  <a:ext cx="36608" cy="36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08" h="36608">
                      <a:moveTo>
                        <a:pt x="19730" y="482"/>
                      </a:moveTo>
                      <a:cubicBezTo>
                        <a:pt x="9358" y="482"/>
                        <a:pt x="1426" y="8414"/>
                        <a:pt x="1426" y="18786"/>
                      </a:cubicBezTo>
                      <a:lnTo>
                        <a:pt x="1426" y="18786"/>
                      </a:lnTo>
                      <a:cubicBezTo>
                        <a:pt x="1426" y="29159"/>
                        <a:pt x="9358" y="37091"/>
                        <a:pt x="19730" y="37091"/>
                      </a:cubicBezTo>
                      <a:lnTo>
                        <a:pt x="19730" y="37091"/>
                      </a:lnTo>
                      <a:cubicBezTo>
                        <a:pt x="30103" y="37091"/>
                        <a:pt x="38035" y="29159"/>
                        <a:pt x="38035" y="18786"/>
                      </a:cubicBezTo>
                      <a:lnTo>
                        <a:pt x="38035" y="18786"/>
                      </a:lnTo>
                      <a:cubicBezTo>
                        <a:pt x="38035" y="8414"/>
                        <a:pt x="30103" y="482"/>
                        <a:pt x="19730" y="482"/>
                      </a:cubicBezTo>
                      <a:lnTo>
                        <a:pt x="19730" y="4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9" name="Freeform 19"/>
                <p:cNvSpPr/>
                <p:nvPr/>
              </p:nvSpPr>
              <p:spPr>
                <a:xfrm>
                  <a:off x="10376148" y="3395442"/>
                  <a:ext cx="42709" cy="42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09" h="42709">
                      <a:moveTo>
                        <a:pt x="22781" y="482"/>
                      </a:moveTo>
                      <a:cubicBezTo>
                        <a:pt x="28882" y="482"/>
                        <a:pt x="33764" y="2923"/>
                        <a:pt x="38035" y="6583"/>
                      </a:cubicBezTo>
                      <a:cubicBezTo>
                        <a:pt x="41695" y="10244"/>
                        <a:pt x="44136" y="15736"/>
                        <a:pt x="44136" y="21837"/>
                      </a:cubicBezTo>
                      <a:cubicBezTo>
                        <a:pt x="43526" y="27938"/>
                        <a:pt x="41085" y="33430"/>
                        <a:pt x="37424" y="37091"/>
                      </a:cubicBezTo>
                      <a:cubicBezTo>
                        <a:pt x="33764" y="40751"/>
                        <a:pt x="28272" y="43192"/>
                        <a:pt x="22781" y="43192"/>
                      </a:cubicBezTo>
                      <a:cubicBezTo>
                        <a:pt x="16680" y="42582"/>
                        <a:pt x="11188" y="40141"/>
                        <a:pt x="7527" y="36480"/>
                      </a:cubicBezTo>
                      <a:cubicBezTo>
                        <a:pt x="3867" y="32820"/>
                        <a:pt x="1426" y="27328"/>
                        <a:pt x="1426" y="21837"/>
                      </a:cubicBezTo>
                      <a:cubicBezTo>
                        <a:pt x="2036" y="15736"/>
                        <a:pt x="4477" y="10244"/>
                        <a:pt x="8138" y="6583"/>
                      </a:cubicBezTo>
                      <a:cubicBezTo>
                        <a:pt x="11798" y="2923"/>
                        <a:pt x="17290" y="482"/>
                        <a:pt x="22781" y="482"/>
                      </a:cubicBezTo>
                      <a:close/>
                    </a:path>
                  </a:pathLst>
                </a:custGeom>
                <a:noFill/>
                <a:ln w="6098" cap="flat">
                  <a:solidFill>
                    <a:srgbClr val="33333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sp>
            <p:nvSpPr>
              <p:cNvPr id="20" name="Freeform 20"/>
              <p:cNvSpPr/>
              <p:nvPr/>
            </p:nvSpPr>
            <p:spPr>
              <a:xfrm>
                <a:off x="10391401" y="3404594"/>
                <a:ext cx="12202" cy="12202"/>
              </a:xfrm>
              <a:custGeom>
                <a:avLst/>
                <a:gdLst/>
                <a:ahLst/>
                <a:cxnLst/>
                <a:rect l="l" t="t" r="r" b="b"/>
                <a:pathLst>
                  <a:path w="12202" h="12202">
                    <a:moveTo>
                      <a:pt x="13629" y="6583"/>
                    </a:moveTo>
                    <a:cubicBezTo>
                      <a:pt x="13629" y="9953"/>
                      <a:pt x="10897" y="12685"/>
                      <a:pt x="7527" y="12685"/>
                    </a:cubicBezTo>
                    <a:cubicBezTo>
                      <a:pt x="4158" y="12685"/>
                      <a:pt x="1426" y="9953"/>
                      <a:pt x="1426" y="6583"/>
                    </a:cubicBezTo>
                    <a:cubicBezTo>
                      <a:pt x="1426" y="3214"/>
                      <a:pt x="4158" y="482"/>
                      <a:pt x="7527" y="482"/>
                    </a:cubicBezTo>
                    <a:cubicBezTo>
                      <a:pt x="10897" y="482"/>
                      <a:pt x="13629" y="3214"/>
                      <a:pt x="13629" y="6583"/>
                    </a:cubicBezTo>
                    <a:close/>
                  </a:path>
                </a:pathLst>
              </a:custGeom>
              <a:solidFill>
                <a:srgbClr val="03DBF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10403604" y="3410695"/>
                <a:ext cx="6101" cy="12202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12202">
                    <a:moveTo>
                      <a:pt x="7527" y="6583"/>
                    </a:moveTo>
                    <a:cubicBezTo>
                      <a:pt x="7527" y="1702"/>
                      <a:pt x="2036" y="482"/>
                      <a:pt x="2036" y="482"/>
                    </a:cubicBezTo>
                    <a:cubicBezTo>
                      <a:pt x="2036" y="482"/>
                      <a:pt x="4477" y="3533"/>
                      <a:pt x="4477" y="6583"/>
                    </a:cubicBezTo>
                    <a:cubicBezTo>
                      <a:pt x="4477" y="9634"/>
                      <a:pt x="1426" y="12685"/>
                      <a:pt x="1426" y="12685"/>
                    </a:cubicBezTo>
                    <a:cubicBezTo>
                      <a:pt x="1426" y="12685"/>
                      <a:pt x="7527" y="11465"/>
                      <a:pt x="7527" y="6583"/>
                    </a:cubicBezTo>
                    <a:close/>
                  </a:path>
                </a:pathLst>
              </a:custGeom>
              <a:solidFill>
                <a:srgbClr val="14AAC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10385300" y="3416797"/>
                <a:ext cx="6101" cy="6101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01">
                    <a:moveTo>
                      <a:pt x="7527" y="3533"/>
                    </a:moveTo>
                    <a:cubicBezTo>
                      <a:pt x="7527" y="5218"/>
                      <a:pt x="6162" y="6583"/>
                      <a:pt x="4477" y="6583"/>
                    </a:cubicBezTo>
                    <a:cubicBezTo>
                      <a:pt x="2792" y="6583"/>
                      <a:pt x="1426" y="5218"/>
                      <a:pt x="1426" y="3533"/>
                    </a:cubicBezTo>
                    <a:cubicBezTo>
                      <a:pt x="1426" y="1848"/>
                      <a:pt x="2792" y="482"/>
                      <a:pt x="4477" y="482"/>
                    </a:cubicBezTo>
                    <a:cubicBezTo>
                      <a:pt x="6162" y="482"/>
                      <a:pt x="7527" y="1848"/>
                      <a:pt x="7527" y="3533"/>
                    </a:cubicBezTo>
                    <a:close/>
                  </a:path>
                </a:pathLst>
              </a:custGeom>
              <a:solidFill>
                <a:srgbClr val="30A4B9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10348691" y="2940886"/>
                <a:ext cx="97622" cy="97622"/>
              </a:xfrm>
              <a:custGeom>
                <a:avLst/>
                <a:gdLst/>
                <a:ahLst/>
                <a:cxnLst/>
                <a:rect l="l" t="t" r="r" b="b"/>
                <a:pathLst>
                  <a:path w="97622" h="97622">
                    <a:moveTo>
                      <a:pt x="99049" y="49293"/>
                    </a:moveTo>
                    <a:cubicBezTo>
                      <a:pt x="99049" y="76251"/>
                      <a:pt x="77195" y="98105"/>
                      <a:pt x="50237" y="98105"/>
                    </a:cubicBezTo>
                    <a:cubicBezTo>
                      <a:pt x="23280" y="98105"/>
                      <a:pt x="1426" y="76251"/>
                      <a:pt x="1426" y="49293"/>
                    </a:cubicBezTo>
                    <a:cubicBezTo>
                      <a:pt x="1426" y="22336"/>
                      <a:pt x="23280" y="482"/>
                      <a:pt x="50237" y="482"/>
                    </a:cubicBezTo>
                    <a:cubicBezTo>
                      <a:pt x="77195" y="482"/>
                      <a:pt x="99049" y="22336"/>
                      <a:pt x="99049" y="49293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10336488" y="3136131"/>
                <a:ext cx="122028" cy="122028"/>
              </a:xfrm>
              <a:custGeom>
                <a:avLst/>
                <a:gdLst/>
                <a:ahLst/>
                <a:cxnLst/>
                <a:rect l="l" t="t" r="r" b="b"/>
                <a:pathLst>
                  <a:path w="122028" h="122028">
                    <a:moveTo>
                      <a:pt x="123454" y="61496"/>
                    </a:moveTo>
                    <a:cubicBezTo>
                      <a:pt x="123454" y="95193"/>
                      <a:pt x="96137" y="122510"/>
                      <a:pt x="62440" y="122510"/>
                    </a:cubicBezTo>
                    <a:cubicBezTo>
                      <a:pt x="28743" y="122510"/>
                      <a:pt x="1426" y="95193"/>
                      <a:pt x="1426" y="61496"/>
                    </a:cubicBezTo>
                    <a:cubicBezTo>
                      <a:pt x="1426" y="27799"/>
                      <a:pt x="28743" y="482"/>
                      <a:pt x="62440" y="482"/>
                    </a:cubicBezTo>
                    <a:cubicBezTo>
                      <a:pt x="96137" y="482"/>
                      <a:pt x="123454" y="27799"/>
                      <a:pt x="123454" y="6149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10336488" y="3782882"/>
                <a:ext cx="122028" cy="122028"/>
              </a:xfrm>
              <a:custGeom>
                <a:avLst/>
                <a:gdLst/>
                <a:ahLst/>
                <a:cxnLst/>
                <a:rect l="l" t="t" r="r" b="b"/>
                <a:pathLst>
                  <a:path w="122028" h="122028">
                    <a:moveTo>
                      <a:pt x="123454" y="61496"/>
                    </a:moveTo>
                    <a:cubicBezTo>
                      <a:pt x="123454" y="95193"/>
                      <a:pt x="96137" y="122510"/>
                      <a:pt x="62440" y="122510"/>
                    </a:cubicBezTo>
                    <a:cubicBezTo>
                      <a:pt x="28743" y="122510"/>
                      <a:pt x="1426" y="95193"/>
                      <a:pt x="1426" y="61496"/>
                    </a:cubicBezTo>
                    <a:cubicBezTo>
                      <a:pt x="1426" y="27799"/>
                      <a:pt x="28743" y="482"/>
                      <a:pt x="62440" y="482"/>
                    </a:cubicBezTo>
                    <a:cubicBezTo>
                      <a:pt x="96137" y="482"/>
                      <a:pt x="123454" y="27799"/>
                      <a:pt x="123454" y="6149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10379198" y="3599839"/>
                <a:ext cx="36608" cy="36608"/>
              </a:xfrm>
              <a:custGeom>
                <a:avLst/>
                <a:gdLst/>
                <a:ahLst/>
                <a:cxnLst/>
                <a:rect l="l" t="t" r="r" b="b"/>
                <a:pathLst>
                  <a:path w="36608" h="36608">
                    <a:moveTo>
                      <a:pt x="38035" y="18786"/>
                    </a:moveTo>
                    <a:cubicBezTo>
                      <a:pt x="38035" y="28895"/>
                      <a:pt x="29839" y="37091"/>
                      <a:pt x="19730" y="37091"/>
                    </a:cubicBezTo>
                    <a:cubicBezTo>
                      <a:pt x="9621" y="37091"/>
                      <a:pt x="1426" y="28895"/>
                      <a:pt x="1426" y="18786"/>
                    </a:cubicBezTo>
                    <a:cubicBezTo>
                      <a:pt x="1426" y="8677"/>
                      <a:pt x="9621" y="482"/>
                      <a:pt x="19730" y="482"/>
                    </a:cubicBezTo>
                    <a:cubicBezTo>
                      <a:pt x="29839" y="482"/>
                      <a:pt x="38035" y="8677"/>
                      <a:pt x="38035" y="1878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3433645" y="1747871"/>
              <a:ext cx="5318879" cy="3988965"/>
            </a:xfrm>
            <a:custGeom>
              <a:avLst/>
              <a:gdLst/>
              <a:ahLst/>
              <a:cxnLst/>
              <a:rect l="l" t="t" r="r" b="b"/>
              <a:pathLst>
                <a:path w="8347967" h="6260670">
                  <a:moveTo>
                    <a:pt x="8188114" y="3"/>
                  </a:moveTo>
                  <a:cubicBezTo>
                    <a:pt x="8241806" y="3"/>
                    <a:pt x="8261941" y="6104"/>
                    <a:pt x="8282076" y="17087"/>
                  </a:cubicBezTo>
                  <a:cubicBezTo>
                    <a:pt x="8302820" y="28070"/>
                    <a:pt x="8319294" y="44543"/>
                    <a:pt x="8330887" y="65898"/>
                  </a:cubicBezTo>
                  <a:cubicBezTo>
                    <a:pt x="8341869" y="86643"/>
                    <a:pt x="8347971" y="106778"/>
                    <a:pt x="8347971" y="162911"/>
                  </a:cubicBezTo>
                  <a:lnTo>
                    <a:pt x="8347971" y="162911"/>
                  </a:lnTo>
                  <a:lnTo>
                    <a:pt x="8347971" y="6097766"/>
                  </a:lnTo>
                  <a:cubicBezTo>
                    <a:pt x="8347971" y="6153899"/>
                    <a:pt x="8341869" y="6174034"/>
                    <a:pt x="8330887" y="6194779"/>
                  </a:cubicBezTo>
                  <a:cubicBezTo>
                    <a:pt x="8319904" y="6215523"/>
                    <a:pt x="8303431" y="6231997"/>
                    <a:pt x="8282076" y="6243590"/>
                  </a:cubicBezTo>
                  <a:cubicBezTo>
                    <a:pt x="8261331" y="6254572"/>
                    <a:pt x="8241196" y="6260674"/>
                    <a:pt x="8185063" y="6260674"/>
                  </a:cubicBezTo>
                  <a:lnTo>
                    <a:pt x="8185063" y="6260674"/>
                  </a:lnTo>
                  <a:lnTo>
                    <a:pt x="162911" y="6260674"/>
                  </a:lnTo>
                  <a:cubicBezTo>
                    <a:pt x="106778" y="6260674"/>
                    <a:pt x="86643" y="6254572"/>
                    <a:pt x="65898" y="6243590"/>
                  </a:cubicBezTo>
                  <a:cubicBezTo>
                    <a:pt x="45154" y="6232607"/>
                    <a:pt x="28680" y="6216134"/>
                    <a:pt x="17087" y="6194779"/>
                  </a:cubicBezTo>
                  <a:cubicBezTo>
                    <a:pt x="6104" y="6174644"/>
                    <a:pt x="3" y="6154509"/>
                    <a:pt x="3" y="6100817"/>
                  </a:cubicBezTo>
                  <a:lnTo>
                    <a:pt x="3" y="6100817"/>
                  </a:lnTo>
                  <a:lnTo>
                    <a:pt x="3" y="159860"/>
                  </a:lnTo>
                  <a:cubicBezTo>
                    <a:pt x="3" y="106168"/>
                    <a:pt x="6104" y="86033"/>
                    <a:pt x="17087" y="65898"/>
                  </a:cubicBezTo>
                  <a:cubicBezTo>
                    <a:pt x="28070" y="45154"/>
                    <a:pt x="44543" y="28680"/>
                    <a:pt x="65898" y="17087"/>
                  </a:cubicBezTo>
                  <a:cubicBezTo>
                    <a:pt x="86643" y="6104"/>
                    <a:pt x="106168" y="3"/>
                    <a:pt x="159860" y="3"/>
                  </a:cubicBezTo>
                  <a:lnTo>
                    <a:pt x="159860" y="3"/>
                  </a:lnTo>
                  <a:lnTo>
                    <a:pt x="8188114" y="3"/>
                  </a:lnTo>
                  <a:close/>
                </a:path>
              </a:pathLst>
            </a:custGeom>
            <a:blipFill>
              <a:blip r:embed="rId2"/>
              <a:srcRect t="2" b="2"/>
              <a:stretch>
                <a:fillRect/>
              </a:stretch>
            </a:blipFill>
            <a:ln w="12196" cap="flat">
              <a:solidFill>
                <a:srgbClr val="26262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5880398" y="1952281"/>
            <a:ext cx="4109812" cy="3082210"/>
          </a:xfrm>
          <a:custGeom>
            <a:avLst/>
            <a:gdLst/>
            <a:ahLst/>
            <a:cxnLst/>
            <a:rect l="l" t="t" r="r" b="b"/>
            <a:pathLst>
              <a:path w="8347967" h="6260670">
                <a:moveTo>
                  <a:pt x="8188114" y="3"/>
                </a:moveTo>
                <a:cubicBezTo>
                  <a:pt x="8241806" y="3"/>
                  <a:pt x="8261941" y="6104"/>
                  <a:pt x="8282076" y="17087"/>
                </a:cubicBezTo>
                <a:cubicBezTo>
                  <a:pt x="8302820" y="28070"/>
                  <a:pt x="8319294" y="44543"/>
                  <a:pt x="8330887" y="65898"/>
                </a:cubicBezTo>
                <a:cubicBezTo>
                  <a:pt x="8341869" y="86643"/>
                  <a:pt x="8347971" y="106778"/>
                  <a:pt x="8347971" y="162911"/>
                </a:cubicBezTo>
                <a:lnTo>
                  <a:pt x="8347971" y="162911"/>
                </a:lnTo>
                <a:lnTo>
                  <a:pt x="8347971" y="6097766"/>
                </a:lnTo>
                <a:cubicBezTo>
                  <a:pt x="8347971" y="6153899"/>
                  <a:pt x="8341869" y="6174034"/>
                  <a:pt x="8330887" y="6194779"/>
                </a:cubicBezTo>
                <a:cubicBezTo>
                  <a:pt x="8319904" y="6215523"/>
                  <a:pt x="8303431" y="6231997"/>
                  <a:pt x="8282076" y="6243590"/>
                </a:cubicBezTo>
                <a:cubicBezTo>
                  <a:pt x="8261331" y="6254572"/>
                  <a:pt x="8241196" y="6260674"/>
                  <a:pt x="8185063" y="6260674"/>
                </a:cubicBezTo>
                <a:lnTo>
                  <a:pt x="8185063" y="6260674"/>
                </a:lnTo>
                <a:lnTo>
                  <a:pt x="162911" y="6260674"/>
                </a:lnTo>
                <a:cubicBezTo>
                  <a:pt x="106778" y="6260674"/>
                  <a:pt x="86643" y="6254572"/>
                  <a:pt x="65898" y="6243590"/>
                </a:cubicBezTo>
                <a:cubicBezTo>
                  <a:pt x="45154" y="6232607"/>
                  <a:pt x="28680" y="6216134"/>
                  <a:pt x="17087" y="6194779"/>
                </a:cubicBezTo>
                <a:cubicBezTo>
                  <a:pt x="6104" y="6174644"/>
                  <a:pt x="3" y="6154509"/>
                  <a:pt x="3" y="6100817"/>
                </a:cubicBezTo>
                <a:lnTo>
                  <a:pt x="3" y="6100817"/>
                </a:lnTo>
                <a:lnTo>
                  <a:pt x="3" y="159860"/>
                </a:lnTo>
                <a:cubicBezTo>
                  <a:pt x="3" y="106168"/>
                  <a:pt x="6104" y="86033"/>
                  <a:pt x="17087" y="65898"/>
                </a:cubicBezTo>
                <a:cubicBezTo>
                  <a:pt x="28070" y="45154"/>
                  <a:pt x="44543" y="28680"/>
                  <a:pt x="65898" y="17087"/>
                </a:cubicBezTo>
                <a:cubicBezTo>
                  <a:pt x="86643" y="6104"/>
                  <a:pt x="106168" y="3"/>
                  <a:pt x="159860" y="3"/>
                </a:cubicBezTo>
                <a:lnTo>
                  <a:pt x="159860" y="3"/>
                </a:lnTo>
                <a:lnTo>
                  <a:pt x="8188114" y="3"/>
                </a:lnTo>
                <a:close/>
              </a:path>
            </a:pathLst>
          </a:custGeom>
          <a:pattFill prst="pct5">
            <a:fgClr>
              <a:srgbClr val="E4E6EA"/>
            </a:fgClr>
            <a:bgClr>
              <a:srgbClr val="ADB5BF"/>
            </a:bgClr>
          </a:pattFill>
          <a:ln cap="flat" cmpd="sng">
            <a:prstDash val="solid"/>
          </a:ln>
        </p:spPr>
        <p:txBody>
          <a:bodyPr rot="0"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54378" y="3273266"/>
            <a:ext cx="3253906" cy="134652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BYD (HKD) vs. Tesla (USD) shares. This would reveal mean reversion opportunity.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854377" y="2338497"/>
            <a:ext cx="3253907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i="0" u="none" baseline="0">
                <a:solidFill>
                  <a:schemeClr val="accent1"/>
                </a:solidFill>
                <a:latin typeface="微软雅黑"/>
                <a:ea typeface="微软雅黑"/>
              </a:rPr>
              <a:t>Historical Spread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54377" y="5628155"/>
            <a:ext cx="452797" cy="452797"/>
          </a:xfrm>
          <a:prstGeom prst="ellipse">
            <a:avLst/>
          </a:prstGeom>
          <a:solidFill>
            <a:srgbClr val="000000">
              <a:lumMod val="65000"/>
              <a:lumOff val="35000"/>
            </a:srgbClr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 fontScale="92500" lnSpcReduction="20000"/>
          </a:bodyPr>
          <a:lstStyle/>
          <a:p>
            <a:pPr marL="0" algn="ctr"/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66675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Price Ratio Chart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Supporting Charts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1832200"/>
            <a:ext cx="12192000" cy="3600000"/>
          </a:xfrm>
          <a:prstGeom prst="rect">
            <a:avLst/>
          </a:prstGeom>
          <a:solidFill>
            <a:srgbClr val="FFFFFF">
              <a:lumMod val="95000"/>
            </a:srgbClr>
          </a:solidFill>
          <a:ln cap="sq"/>
        </p:spPr>
        <p:txBody>
          <a:bodyPr vert="horz" wrap="square" lIns="0" tIns="0" rIns="0" bIns="0" rtlCol="0" anchor="ctr"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1875155" y="2957649"/>
            <a:ext cx="7344000" cy="931409"/>
          </a:xfrm>
          <a:prstGeom prst="rect">
            <a:avLst/>
          </a:prstGeom>
          <a:noFill/>
          <a:ln cap="sq"/>
        </p:spPr>
        <p:txBody>
          <a:bodyPr vert="horz" wrap="square" lIns="0" tIns="0" rIns="0" bIns="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sz="1400" b="0" i="0" u="none" baseline="0">
                <a:ln w="12700"/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BYD’s rising RSI momentum vs. Tesla’s bearish MACD divergence. Tesla's recent trends suggest potential downward momentum.</a:t>
            </a:r>
            <a:endParaRPr lang="en-US" sz="1100"/>
          </a:p>
        </p:txBody>
      </p:sp>
      <p:grpSp>
        <p:nvGrpSpPr>
          <p:cNvPr id="5" name="Group 5"/>
          <p:cNvGrpSpPr/>
          <p:nvPr/>
        </p:nvGrpSpPr>
        <p:grpSpPr>
          <a:xfrm>
            <a:off x="989381" y="2235193"/>
            <a:ext cx="635174" cy="504074"/>
            <a:chOff x="989381" y="2235193"/>
            <a:chExt cx="635174" cy="504074"/>
          </a:xfrm>
        </p:grpSpPr>
        <p:sp>
          <p:nvSpPr>
            <p:cNvPr id="6" name="Freeform 6"/>
            <p:cNvSpPr/>
            <p:nvPr/>
          </p:nvSpPr>
          <p:spPr>
            <a:xfrm>
              <a:off x="1370485" y="2235193"/>
              <a:ext cx="254070" cy="504074"/>
            </a:xfrm>
            <a:custGeom>
              <a:avLst/>
              <a:gdLst/>
              <a:ahLst/>
              <a:cxnLst/>
              <a:rect l="l" t="t" r="r" b="b"/>
              <a:pathLst>
                <a:path w="190500" h="377952">
                  <a:moveTo>
                    <a:pt x="190500" y="377952"/>
                  </a:moveTo>
                  <a:lnTo>
                    <a:pt x="190500" y="187452"/>
                  </a:lnTo>
                  <a:lnTo>
                    <a:pt x="81820" y="187452"/>
                  </a:lnTo>
                  <a:cubicBezTo>
                    <a:pt x="83469" y="128608"/>
                    <a:pt x="131633" y="81753"/>
                    <a:pt x="190500" y="81725"/>
                  </a:cubicBezTo>
                  <a:lnTo>
                    <a:pt x="190500" y="0"/>
                  </a:lnTo>
                  <a:cubicBezTo>
                    <a:pt x="86469" y="-13"/>
                    <a:pt x="1665" y="83434"/>
                    <a:pt x="0" y="187452"/>
                  </a:cubicBezTo>
                  <a:lnTo>
                    <a:pt x="0" y="187452"/>
                  </a:lnTo>
                  <a:lnTo>
                    <a:pt x="0" y="377952"/>
                  </a:lnTo>
                  <a:close/>
                </a:path>
              </a:pathLst>
            </a:custGeom>
            <a:noFill/>
            <a:ln w="25400" cap="sq">
              <a:solidFill>
                <a:schemeClr val="accent1"/>
              </a:solidFill>
              <a:headEnd type="oval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" name="Freeform 7"/>
            <p:cNvSpPr/>
            <p:nvPr/>
          </p:nvSpPr>
          <p:spPr>
            <a:xfrm>
              <a:off x="989381" y="2235193"/>
              <a:ext cx="254070" cy="504074"/>
            </a:xfrm>
            <a:custGeom>
              <a:avLst/>
              <a:gdLst/>
              <a:ahLst/>
              <a:cxnLst/>
              <a:rect l="l" t="t" r="r" b="b"/>
              <a:pathLst>
                <a:path w="190500" h="377952">
                  <a:moveTo>
                    <a:pt x="190500" y="377952"/>
                  </a:moveTo>
                  <a:lnTo>
                    <a:pt x="190500" y="187452"/>
                  </a:lnTo>
                  <a:lnTo>
                    <a:pt x="81820" y="187452"/>
                  </a:lnTo>
                  <a:cubicBezTo>
                    <a:pt x="83469" y="128608"/>
                    <a:pt x="131633" y="81753"/>
                    <a:pt x="190500" y="81725"/>
                  </a:cubicBezTo>
                  <a:lnTo>
                    <a:pt x="190500" y="0"/>
                  </a:lnTo>
                  <a:cubicBezTo>
                    <a:pt x="86469" y="-13"/>
                    <a:pt x="1665" y="83434"/>
                    <a:pt x="0" y="187452"/>
                  </a:cubicBezTo>
                  <a:lnTo>
                    <a:pt x="0" y="187452"/>
                  </a:lnTo>
                  <a:lnTo>
                    <a:pt x="0" y="377952"/>
                  </a:lnTo>
                  <a:close/>
                </a:path>
              </a:pathLst>
            </a:custGeom>
            <a:noFill/>
            <a:ln w="25400" cap="sq">
              <a:solidFill>
                <a:schemeClr val="accent1"/>
              </a:solidFill>
              <a:headEnd type="oval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475" y="3493443"/>
            <a:ext cx="2003425" cy="1589919"/>
            <a:chOff x="9515475" y="3493443"/>
            <a:chExt cx="2003425" cy="1589919"/>
          </a:xfrm>
        </p:grpSpPr>
        <p:sp>
          <p:nvSpPr>
            <p:cNvPr id="9" name="Freeform 9"/>
            <p:cNvSpPr/>
            <p:nvPr/>
          </p:nvSpPr>
          <p:spPr>
            <a:xfrm>
              <a:off x="9515475" y="3493443"/>
              <a:ext cx="801370" cy="1589919"/>
            </a:xfrm>
            <a:custGeom>
              <a:avLst/>
              <a:gdLst/>
              <a:ahLst/>
              <a:cxnLst/>
              <a:rect l="l" t="t" r="r" b="b"/>
              <a:pathLst>
                <a:path w="190500" h="377952">
                  <a:moveTo>
                    <a:pt x="0" y="0"/>
                  </a:moveTo>
                  <a:lnTo>
                    <a:pt x="0" y="190500"/>
                  </a:lnTo>
                  <a:lnTo>
                    <a:pt x="108680" y="190500"/>
                  </a:lnTo>
                  <a:cubicBezTo>
                    <a:pt x="107031" y="249344"/>
                    <a:pt x="58867" y="296199"/>
                    <a:pt x="0" y="296228"/>
                  </a:cubicBezTo>
                  <a:lnTo>
                    <a:pt x="0" y="377952"/>
                  </a:lnTo>
                  <a:cubicBezTo>
                    <a:pt x="104031" y="377965"/>
                    <a:pt x="188835" y="294518"/>
                    <a:pt x="190500" y="190500"/>
                  </a:cubicBezTo>
                  <a:lnTo>
                    <a:pt x="190500" y="1905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FFFFFF">
                <a:alpha val="50000"/>
                <a:lumMod val="85000"/>
              </a:srgbClr>
            </a:solidFill>
            <a:ln cap="flat"/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0717530" y="3493443"/>
              <a:ext cx="801370" cy="1589919"/>
            </a:xfrm>
            <a:custGeom>
              <a:avLst/>
              <a:gdLst/>
              <a:ahLst/>
              <a:cxnLst/>
              <a:rect l="l" t="t" r="r" b="b"/>
              <a:pathLst>
                <a:path w="190500" h="377952">
                  <a:moveTo>
                    <a:pt x="0" y="0"/>
                  </a:moveTo>
                  <a:lnTo>
                    <a:pt x="0" y="190500"/>
                  </a:lnTo>
                  <a:lnTo>
                    <a:pt x="108680" y="190500"/>
                  </a:lnTo>
                  <a:cubicBezTo>
                    <a:pt x="107031" y="249344"/>
                    <a:pt x="58867" y="296199"/>
                    <a:pt x="0" y="296228"/>
                  </a:cubicBezTo>
                  <a:lnTo>
                    <a:pt x="0" y="377952"/>
                  </a:lnTo>
                  <a:cubicBezTo>
                    <a:pt x="104031" y="377965"/>
                    <a:pt x="188835" y="294518"/>
                    <a:pt x="190500" y="190500"/>
                  </a:cubicBezTo>
                  <a:lnTo>
                    <a:pt x="190500" y="1905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FFFFFF">
                <a:alpha val="50000"/>
                <a:lumMod val="85000"/>
              </a:srgbClr>
            </a:solidFill>
            <a:ln cap="flat"/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875155" y="2487230"/>
            <a:ext cx="734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algn="l">
              <a:defRPr/>
            </a:pPr>
            <a:r>
              <a:rPr lang="en-US" sz="1600" b="1" i="0" u="none" baseline="0">
                <a:ln w="12700"/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RSI Momentum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Risk Factors &amp; Mitigation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959041" y="4382072"/>
            <a:ext cx="1583789" cy="1583789"/>
          </a:xfrm>
          <a:prstGeom prst="ellipse">
            <a:avLst/>
          </a:prstGeom>
          <a:solidFill>
            <a:srgbClr val="FFFFFF">
              <a:alpha val="20000"/>
              <a:lumMod val="7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6356195" y="0"/>
            <a:ext cx="5835805" cy="6237288"/>
          </a:xfrm>
          <a:custGeom>
            <a:avLst/>
            <a:gdLst/>
            <a:ahLst/>
            <a:cxnLst/>
            <a:rect l="l" t="t" r="r" b="b"/>
            <a:pathLst>
              <a:path w="5835805" h="6237288">
                <a:moveTo>
                  <a:pt x="262855" y="0"/>
                </a:moveTo>
                <a:lnTo>
                  <a:pt x="5835805" y="0"/>
                </a:lnTo>
                <a:lnTo>
                  <a:pt x="5835805" y="6095470"/>
                </a:lnTo>
                <a:lnTo>
                  <a:pt x="5634104" y="6142022"/>
                </a:lnTo>
                <a:cubicBezTo>
                  <a:pt x="5328856" y="6204485"/>
                  <a:pt x="5012803" y="6237288"/>
                  <a:pt x="4689089" y="6237288"/>
                </a:cubicBezTo>
                <a:cubicBezTo>
                  <a:pt x="2099377" y="6237288"/>
                  <a:pt x="0" y="4137911"/>
                  <a:pt x="0" y="1548199"/>
                </a:cubicBezTo>
                <a:cubicBezTo>
                  <a:pt x="0" y="1062628"/>
                  <a:pt x="73807" y="594296"/>
                  <a:pt x="210813" y="153808"/>
                </a:cubicBezTo>
                <a:close/>
              </a:path>
            </a:pathLst>
          </a:custGeom>
          <a:solidFill>
            <a:srgbClr val="000000">
              <a:alpha val="10000"/>
              <a:lumMod val="50000"/>
              <a:lumOff val="50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5743876" y="1818411"/>
            <a:ext cx="4392583" cy="3377296"/>
            <a:chOff x="3257153" y="1570990"/>
            <a:chExt cx="5684838" cy="4370863"/>
          </a:xfrm>
        </p:grpSpPr>
        <p:sp>
          <p:nvSpPr>
            <p:cNvPr id="5" name="Freeform 5"/>
            <p:cNvSpPr/>
            <p:nvPr/>
          </p:nvSpPr>
          <p:spPr>
            <a:xfrm>
              <a:off x="8926441" y="5409897"/>
              <a:ext cx="15550" cy="241025"/>
            </a:xfrm>
            <a:custGeom>
              <a:avLst/>
              <a:gdLst/>
              <a:ahLst/>
              <a:cxnLst/>
              <a:rect l="l" t="t" r="r" b="b"/>
              <a:pathLst>
                <a:path w="24405" h="378288">
                  <a:moveTo>
                    <a:pt x="25647" y="13192"/>
                  </a:moveTo>
                  <a:lnTo>
                    <a:pt x="25647" y="367074"/>
                  </a:lnTo>
                  <a:cubicBezTo>
                    <a:pt x="25647" y="373786"/>
                    <a:pt x="20155" y="379277"/>
                    <a:pt x="13444" y="379277"/>
                  </a:cubicBezTo>
                  <a:cubicBezTo>
                    <a:pt x="6732" y="379277"/>
                    <a:pt x="1241" y="373786"/>
                    <a:pt x="1241" y="367074"/>
                  </a:cubicBezTo>
                  <a:lnTo>
                    <a:pt x="1241" y="13192"/>
                  </a:lnTo>
                  <a:cubicBezTo>
                    <a:pt x="1241" y="6480"/>
                    <a:pt x="6732" y="989"/>
                    <a:pt x="13444" y="989"/>
                  </a:cubicBezTo>
                  <a:cubicBezTo>
                    <a:pt x="20155" y="989"/>
                    <a:pt x="25647" y="6480"/>
                    <a:pt x="25647" y="13192"/>
                  </a:cubicBezTo>
                  <a:close/>
                </a:path>
              </a:pathLst>
            </a:custGeom>
            <a:gradFill>
              <a:gsLst>
                <a:gs pos="0">
                  <a:srgbClr val="F0F0F0">
                    <a:lumMod val="25000"/>
                  </a:srgbClr>
                </a:gs>
                <a:gs pos="1000">
                  <a:srgbClr val="000000">
                    <a:lumMod val="75000"/>
                    <a:lumOff val="25000"/>
                  </a:srgbClr>
                </a:gs>
                <a:gs pos="2000">
                  <a:srgbClr val="F0F0F0">
                    <a:lumMod val="25000"/>
                  </a:srgbClr>
                </a:gs>
                <a:gs pos="21000">
                  <a:srgbClr val="FFFFFF">
                    <a:alpha val="0"/>
                    <a:lumMod val="95000"/>
                  </a:srgbClr>
                </a:gs>
                <a:gs pos="82000">
                  <a:srgbClr val="FFFFFF">
                    <a:alpha val="4000"/>
                    <a:lumMod val="95000"/>
                  </a:srgbClr>
                </a:gs>
                <a:gs pos="98000">
                  <a:srgbClr val="F0F0F0">
                    <a:lumMod val="25000"/>
                  </a:srgbClr>
                </a:gs>
                <a:gs pos="99000">
                  <a:srgbClr val="000000">
                    <a:lumMod val="75000"/>
                    <a:lumOff val="25000"/>
                  </a:srgbClr>
                </a:gs>
                <a:gs pos="100000">
                  <a:srgbClr val="000000">
                    <a:lumMod val="75000"/>
                    <a:lumOff val="25000"/>
                  </a:srgbClr>
                </a:gs>
              </a:gsLst>
              <a:lin ang="5400000"/>
            </a:gradFill>
            <a:ln cap="flat">
              <a:prstDash val="solid"/>
            </a:ln>
          </p:spPr>
          <p:txBody>
            <a:bodyPr vert="horz" lIns="91440" tIns="45720" rIns="91440" bIns="45720" anchor="ctr">
              <a:normAutofit fontScale="40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8075711" y="5926303"/>
              <a:ext cx="209924" cy="15550"/>
            </a:xfrm>
            <a:custGeom>
              <a:avLst/>
              <a:gdLst/>
              <a:ahLst/>
              <a:cxnLst/>
              <a:rect l="l" t="t" r="r" b="b"/>
              <a:pathLst>
                <a:path w="329476" h="24405">
                  <a:moveTo>
                    <a:pt x="13444" y="989"/>
                  </a:moveTo>
                  <a:lnTo>
                    <a:pt x="318515" y="989"/>
                  </a:lnTo>
                  <a:cubicBezTo>
                    <a:pt x="325227" y="989"/>
                    <a:pt x="330718" y="6480"/>
                    <a:pt x="330718" y="13192"/>
                  </a:cubicBezTo>
                  <a:cubicBezTo>
                    <a:pt x="330718" y="19903"/>
                    <a:pt x="325227" y="25395"/>
                    <a:pt x="318515" y="25395"/>
                  </a:cubicBezTo>
                  <a:lnTo>
                    <a:pt x="13444" y="25395"/>
                  </a:lnTo>
                  <a:cubicBezTo>
                    <a:pt x="6732" y="25395"/>
                    <a:pt x="1241" y="19903"/>
                    <a:pt x="1241" y="13192"/>
                  </a:cubicBezTo>
                  <a:cubicBezTo>
                    <a:pt x="1241" y="6480"/>
                    <a:pt x="6732" y="989"/>
                    <a:pt x="13444" y="989"/>
                  </a:cubicBezTo>
                  <a:close/>
                </a:path>
              </a:pathLst>
            </a:custGeom>
            <a:gradFill>
              <a:gsLst>
                <a:gs pos="0">
                  <a:srgbClr val="F0F0F0">
                    <a:lumMod val="25000"/>
                  </a:srgbClr>
                </a:gs>
                <a:gs pos="1000">
                  <a:srgbClr val="000000">
                    <a:lumMod val="75000"/>
                    <a:lumOff val="25000"/>
                  </a:srgbClr>
                </a:gs>
                <a:gs pos="2000">
                  <a:srgbClr val="F0F0F0">
                    <a:lumMod val="25000"/>
                  </a:srgbClr>
                </a:gs>
                <a:gs pos="21000">
                  <a:srgbClr val="FFFFFF">
                    <a:alpha val="0"/>
                    <a:lumMod val="95000"/>
                  </a:srgbClr>
                </a:gs>
                <a:gs pos="82000">
                  <a:srgbClr val="FFFFFF">
                    <a:alpha val="4000"/>
                    <a:lumMod val="95000"/>
                  </a:srgbClr>
                </a:gs>
                <a:gs pos="98000">
                  <a:srgbClr val="F0F0F0">
                    <a:lumMod val="25000"/>
                  </a:srgbClr>
                </a:gs>
                <a:gs pos="99000">
                  <a:srgbClr val="000000">
                    <a:lumMod val="75000"/>
                    <a:lumOff val="25000"/>
                  </a:srgbClr>
                </a:gs>
                <a:gs pos="100000">
                  <a:srgbClr val="000000">
                    <a:lumMod val="75000"/>
                    <a:lumOff val="25000"/>
                  </a:srgbClr>
                </a:gs>
              </a:gsLst>
            </a:gradFill>
            <a:ln cap="flat">
              <a:prstDash val="solid"/>
            </a:ln>
          </p:spPr>
          <p:txBody>
            <a:bodyPr rot="0" vert="horz" wrap="square" lIns="91440" tIns="45720" rIns="91440" bIns="45720" anchor="ctr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7" name="Freeform 7"/>
            <p:cNvSpPr/>
            <p:nvPr/>
          </p:nvSpPr>
          <p:spPr>
            <a:xfrm>
              <a:off x="8324511" y="5926303"/>
              <a:ext cx="209924" cy="15550"/>
            </a:xfrm>
            <a:custGeom>
              <a:avLst/>
              <a:gdLst/>
              <a:ahLst/>
              <a:cxnLst/>
              <a:rect l="l" t="t" r="r" b="b"/>
              <a:pathLst>
                <a:path w="329476" h="24405">
                  <a:moveTo>
                    <a:pt x="13444" y="989"/>
                  </a:moveTo>
                  <a:lnTo>
                    <a:pt x="318515" y="989"/>
                  </a:lnTo>
                  <a:cubicBezTo>
                    <a:pt x="325227" y="989"/>
                    <a:pt x="330718" y="6480"/>
                    <a:pt x="330718" y="13192"/>
                  </a:cubicBezTo>
                  <a:cubicBezTo>
                    <a:pt x="330718" y="19903"/>
                    <a:pt x="325227" y="25395"/>
                    <a:pt x="318515" y="25395"/>
                  </a:cubicBezTo>
                  <a:lnTo>
                    <a:pt x="13444" y="25395"/>
                  </a:lnTo>
                  <a:cubicBezTo>
                    <a:pt x="6732" y="25395"/>
                    <a:pt x="1241" y="19903"/>
                    <a:pt x="1241" y="13192"/>
                  </a:cubicBezTo>
                  <a:cubicBezTo>
                    <a:pt x="1241" y="6480"/>
                    <a:pt x="6732" y="989"/>
                    <a:pt x="13444" y="989"/>
                  </a:cubicBezTo>
                  <a:close/>
                </a:path>
              </a:pathLst>
            </a:custGeom>
            <a:gradFill>
              <a:gsLst>
                <a:gs pos="0">
                  <a:srgbClr val="F0F0F0">
                    <a:lumMod val="25000"/>
                  </a:srgbClr>
                </a:gs>
                <a:gs pos="1000">
                  <a:srgbClr val="000000">
                    <a:lumMod val="75000"/>
                    <a:lumOff val="25000"/>
                  </a:srgbClr>
                </a:gs>
                <a:gs pos="2000">
                  <a:srgbClr val="F0F0F0">
                    <a:lumMod val="25000"/>
                  </a:srgbClr>
                </a:gs>
                <a:gs pos="21000">
                  <a:srgbClr val="FFFFFF">
                    <a:alpha val="0"/>
                    <a:lumMod val="95000"/>
                  </a:srgbClr>
                </a:gs>
                <a:gs pos="82000">
                  <a:srgbClr val="FFFFFF">
                    <a:alpha val="4000"/>
                    <a:lumMod val="95000"/>
                  </a:srgbClr>
                </a:gs>
                <a:gs pos="98000">
                  <a:srgbClr val="F0F0F0">
                    <a:lumMod val="25000"/>
                  </a:srgbClr>
                </a:gs>
                <a:gs pos="99000">
                  <a:srgbClr val="000000">
                    <a:lumMod val="75000"/>
                    <a:lumOff val="25000"/>
                  </a:srgbClr>
                </a:gs>
                <a:gs pos="100000">
                  <a:srgbClr val="000000">
                    <a:lumMod val="75000"/>
                    <a:lumOff val="25000"/>
                  </a:srgbClr>
                </a:gs>
              </a:gsLst>
            </a:gradFill>
            <a:ln cap="flat">
              <a:prstDash val="solid"/>
            </a:ln>
          </p:spPr>
          <p:txBody>
            <a:bodyPr rot="0" vert="horz" wrap="square" lIns="91440" tIns="45720" rIns="91440" bIns="45720" anchor="ctr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8" name="Freeform 8"/>
            <p:cNvSpPr/>
            <p:nvPr/>
          </p:nvSpPr>
          <p:spPr>
            <a:xfrm>
              <a:off x="3262984" y="1576821"/>
              <a:ext cx="5660202" cy="4342340"/>
            </a:xfrm>
            <a:custGeom>
              <a:avLst/>
              <a:gdLst/>
              <a:ahLst/>
              <a:cxnLst/>
              <a:rect l="l" t="t" r="r" b="b"/>
              <a:pathLst>
                <a:path w="8883672" h="6815290">
                  <a:moveTo>
                    <a:pt x="500320" y="3"/>
                  </a:moveTo>
                  <a:lnTo>
                    <a:pt x="8383359" y="3"/>
                  </a:lnTo>
                  <a:cubicBezTo>
                    <a:pt x="8557249" y="3"/>
                    <a:pt x="8620704" y="18307"/>
                    <a:pt x="8684159" y="51865"/>
                  </a:cubicBezTo>
                  <a:cubicBezTo>
                    <a:pt x="8747613" y="86033"/>
                    <a:pt x="8797646" y="136065"/>
                    <a:pt x="8831813" y="199520"/>
                  </a:cubicBezTo>
                  <a:cubicBezTo>
                    <a:pt x="8865981" y="262974"/>
                    <a:pt x="8883675" y="326429"/>
                    <a:pt x="8883675" y="500320"/>
                  </a:cubicBezTo>
                  <a:lnTo>
                    <a:pt x="8883675" y="6314977"/>
                  </a:lnTo>
                  <a:cubicBezTo>
                    <a:pt x="8883675" y="6488867"/>
                    <a:pt x="8865371" y="6552322"/>
                    <a:pt x="8831813" y="6615777"/>
                  </a:cubicBezTo>
                  <a:cubicBezTo>
                    <a:pt x="8797646" y="6679231"/>
                    <a:pt x="8747613" y="6729263"/>
                    <a:pt x="8684159" y="6763431"/>
                  </a:cubicBezTo>
                  <a:cubicBezTo>
                    <a:pt x="8620704" y="6797599"/>
                    <a:pt x="8557249" y="6815293"/>
                    <a:pt x="8383359" y="6815293"/>
                  </a:cubicBezTo>
                  <a:lnTo>
                    <a:pt x="500320" y="6815293"/>
                  </a:lnTo>
                  <a:cubicBezTo>
                    <a:pt x="326429" y="6815293"/>
                    <a:pt x="262974" y="6796989"/>
                    <a:pt x="199520" y="6763431"/>
                  </a:cubicBezTo>
                  <a:cubicBezTo>
                    <a:pt x="136065" y="6729263"/>
                    <a:pt x="86033" y="6679231"/>
                    <a:pt x="51865" y="6615777"/>
                  </a:cubicBezTo>
                  <a:cubicBezTo>
                    <a:pt x="18307" y="6551712"/>
                    <a:pt x="3" y="6488867"/>
                    <a:pt x="3" y="6314977"/>
                  </a:cubicBezTo>
                  <a:lnTo>
                    <a:pt x="3" y="500320"/>
                  </a:lnTo>
                  <a:cubicBezTo>
                    <a:pt x="3" y="326429"/>
                    <a:pt x="18307" y="262974"/>
                    <a:pt x="51865" y="199520"/>
                  </a:cubicBezTo>
                  <a:cubicBezTo>
                    <a:pt x="85423" y="136065"/>
                    <a:pt x="136065" y="86033"/>
                    <a:pt x="199520" y="51865"/>
                  </a:cubicBezTo>
                  <a:cubicBezTo>
                    <a:pt x="262974" y="17697"/>
                    <a:pt x="326429" y="3"/>
                    <a:pt x="500320" y="3"/>
                  </a:cubicBezTo>
                  <a:close/>
                </a:path>
              </a:pathLst>
            </a:custGeom>
            <a:solidFill>
              <a:srgbClr val="0E0E0E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9" name="Freeform 9"/>
            <p:cNvSpPr/>
            <p:nvPr/>
          </p:nvSpPr>
          <p:spPr>
            <a:xfrm>
              <a:off x="3262984" y="1576821"/>
              <a:ext cx="5660202" cy="4342340"/>
            </a:xfrm>
            <a:custGeom>
              <a:avLst/>
              <a:gdLst/>
              <a:ahLst/>
              <a:cxnLst/>
              <a:rect l="l" t="t" r="r" b="b"/>
              <a:pathLst>
                <a:path w="8883672" h="6815290">
                  <a:moveTo>
                    <a:pt x="500320" y="3"/>
                  </a:moveTo>
                  <a:lnTo>
                    <a:pt x="8383359" y="3"/>
                  </a:lnTo>
                  <a:cubicBezTo>
                    <a:pt x="8557249" y="3"/>
                    <a:pt x="8620704" y="18307"/>
                    <a:pt x="8684159" y="51865"/>
                  </a:cubicBezTo>
                  <a:cubicBezTo>
                    <a:pt x="8747613" y="86033"/>
                    <a:pt x="8797646" y="136065"/>
                    <a:pt x="8831813" y="199520"/>
                  </a:cubicBezTo>
                  <a:cubicBezTo>
                    <a:pt x="8865981" y="262974"/>
                    <a:pt x="8883675" y="326429"/>
                    <a:pt x="8883675" y="500320"/>
                  </a:cubicBezTo>
                  <a:lnTo>
                    <a:pt x="8883675" y="6314977"/>
                  </a:lnTo>
                  <a:cubicBezTo>
                    <a:pt x="8883675" y="6488867"/>
                    <a:pt x="8865371" y="6552322"/>
                    <a:pt x="8831813" y="6615777"/>
                  </a:cubicBezTo>
                  <a:cubicBezTo>
                    <a:pt x="8797646" y="6679231"/>
                    <a:pt x="8747613" y="6729263"/>
                    <a:pt x="8684159" y="6763431"/>
                  </a:cubicBezTo>
                  <a:cubicBezTo>
                    <a:pt x="8620704" y="6797599"/>
                    <a:pt x="8557249" y="6815293"/>
                    <a:pt x="8383359" y="6815293"/>
                  </a:cubicBezTo>
                  <a:lnTo>
                    <a:pt x="500320" y="6815293"/>
                  </a:lnTo>
                  <a:cubicBezTo>
                    <a:pt x="326429" y="6815293"/>
                    <a:pt x="262974" y="6796989"/>
                    <a:pt x="199520" y="6763431"/>
                  </a:cubicBezTo>
                  <a:cubicBezTo>
                    <a:pt x="136065" y="6729263"/>
                    <a:pt x="86033" y="6679231"/>
                    <a:pt x="51865" y="6615777"/>
                  </a:cubicBezTo>
                  <a:cubicBezTo>
                    <a:pt x="18307" y="6551712"/>
                    <a:pt x="3" y="6488867"/>
                    <a:pt x="3" y="6314977"/>
                  </a:cubicBezTo>
                  <a:lnTo>
                    <a:pt x="3" y="500320"/>
                  </a:lnTo>
                  <a:cubicBezTo>
                    <a:pt x="3" y="326429"/>
                    <a:pt x="18307" y="262974"/>
                    <a:pt x="51865" y="199520"/>
                  </a:cubicBezTo>
                  <a:cubicBezTo>
                    <a:pt x="85423" y="136065"/>
                    <a:pt x="136065" y="86033"/>
                    <a:pt x="199520" y="51865"/>
                  </a:cubicBezTo>
                  <a:cubicBezTo>
                    <a:pt x="262974" y="17697"/>
                    <a:pt x="326429" y="3"/>
                    <a:pt x="500320" y="3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3257153" y="1570990"/>
              <a:ext cx="5671864" cy="4354002"/>
            </a:xfrm>
            <a:custGeom>
              <a:avLst/>
              <a:gdLst/>
              <a:ahLst/>
              <a:cxnLst/>
              <a:rect l="l" t="t" r="r" b="b"/>
              <a:pathLst>
                <a:path w="8901976" h="6833594">
                  <a:moveTo>
                    <a:pt x="8392511" y="3"/>
                  </a:moveTo>
                  <a:cubicBezTo>
                    <a:pt x="8569452" y="3"/>
                    <a:pt x="8632907" y="18917"/>
                    <a:pt x="8697582" y="53085"/>
                  </a:cubicBezTo>
                  <a:cubicBezTo>
                    <a:pt x="8762867" y="87863"/>
                    <a:pt x="8814119" y="139115"/>
                    <a:pt x="8848898" y="204401"/>
                  </a:cubicBezTo>
                  <a:cubicBezTo>
                    <a:pt x="8883675" y="269076"/>
                    <a:pt x="8901980" y="333141"/>
                    <a:pt x="8901980" y="509472"/>
                  </a:cubicBezTo>
                  <a:lnTo>
                    <a:pt x="8901980" y="509472"/>
                  </a:lnTo>
                  <a:lnTo>
                    <a:pt x="8901980" y="6324129"/>
                  </a:lnTo>
                  <a:cubicBezTo>
                    <a:pt x="8901980" y="6501070"/>
                    <a:pt x="8883065" y="6564525"/>
                    <a:pt x="8848898" y="6629200"/>
                  </a:cubicBezTo>
                  <a:cubicBezTo>
                    <a:pt x="8814119" y="6694485"/>
                    <a:pt x="8762867" y="6745737"/>
                    <a:pt x="8697582" y="6780515"/>
                  </a:cubicBezTo>
                  <a:cubicBezTo>
                    <a:pt x="8632907" y="6815293"/>
                    <a:pt x="8568842" y="6833598"/>
                    <a:pt x="8392511" y="6833598"/>
                  </a:cubicBezTo>
                  <a:lnTo>
                    <a:pt x="8392511" y="6833598"/>
                  </a:lnTo>
                  <a:lnTo>
                    <a:pt x="509472" y="6833598"/>
                  </a:lnTo>
                  <a:cubicBezTo>
                    <a:pt x="332531" y="6833598"/>
                    <a:pt x="269076" y="6814683"/>
                    <a:pt x="204401" y="6780515"/>
                  </a:cubicBezTo>
                  <a:cubicBezTo>
                    <a:pt x="139115" y="6745737"/>
                    <a:pt x="87863" y="6694485"/>
                    <a:pt x="53085" y="6629200"/>
                  </a:cubicBezTo>
                  <a:cubicBezTo>
                    <a:pt x="18917" y="6565135"/>
                    <a:pt x="3" y="6501680"/>
                    <a:pt x="3" y="6329010"/>
                  </a:cubicBezTo>
                  <a:lnTo>
                    <a:pt x="3" y="6329010"/>
                  </a:lnTo>
                  <a:lnTo>
                    <a:pt x="3" y="504591"/>
                  </a:lnTo>
                  <a:cubicBezTo>
                    <a:pt x="613" y="331920"/>
                    <a:pt x="18917" y="268466"/>
                    <a:pt x="53085" y="204401"/>
                  </a:cubicBezTo>
                  <a:cubicBezTo>
                    <a:pt x="87863" y="139115"/>
                    <a:pt x="139115" y="87863"/>
                    <a:pt x="204401" y="53085"/>
                  </a:cubicBezTo>
                  <a:cubicBezTo>
                    <a:pt x="268466" y="18917"/>
                    <a:pt x="331920" y="3"/>
                    <a:pt x="504591" y="3"/>
                  </a:cubicBezTo>
                  <a:lnTo>
                    <a:pt x="504591" y="3"/>
                  </a:lnTo>
                  <a:lnTo>
                    <a:pt x="8392511" y="3"/>
                  </a:lnTo>
                  <a:close/>
                </a:path>
              </a:pathLst>
            </a:custGeom>
            <a:noFill/>
            <a:ln w="18294" cap="flat">
              <a:solidFill>
                <a:srgbClr val="FFFFFF">
                  <a:alpha val="10000"/>
                </a:srgbClr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1" name="Freeform 11"/>
            <p:cNvSpPr/>
            <p:nvPr/>
          </p:nvSpPr>
          <p:spPr>
            <a:xfrm>
              <a:off x="3258708" y="1572933"/>
              <a:ext cx="5668365" cy="4350503"/>
            </a:xfrm>
            <a:custGeom>
              <a:avLst/>
              <a:gdLst/>
              <a:ahLst/>
              <a:cxnLst/>
              <a:rect l="l" t="t" r="r" b="b"/>
              <a:pathLst>
                <a:path w="8896485" h="6828102">
                  <a:moveTo>
                    <a:pt x="8394952" y="3"/>
                  </a:moveTo>
                  <a:cubicBezTo>
                    <a:pt x="8567012" y="613"/>
                    <a:pt x="8629857" y="18917"/>
                    <a:pt x="8693311" y="53085"/>
                  </a:cubicBezTo>
                  <a:cubicBezTo>
                    <a:pt x="8757986" y="87863"/>
                    <a:pt x="8808628" y="138505"/>
                    <a:pt x="8843406" y="203180"/>
                  </a:cubicBezTo>
                  <a:cubicBezTo>
                    <a:pt x="8877574" y="267245"/>
                    <a:pt x="8896488" y="331310"/>
                    <a:pt x="8896488" y="507031"/>
                  </a:cubicBezTo>
                  <a:lnTo>
                    <a:pt x="8896488" y="507031"/>
                  </a:lnTo>
                  <a:lnTo>
                    <a:pt x="8896488" y="6321078"/>
                  </a:lnTo>
                  <a:cubicBezTo>
                    <a:pt x="8896488" y="6496799"/>
                    <a:pt x="8878184" y="6560253"/>
                    <a:pt x="8843406" y="6624929"/>
                  </a:cubicBezTo>
                  <a:cubicBezTo>
                    <a:pt x="8808628" y="6689604"/>
                    <a:pt x="8757986" y="6740245"/>
                    <a:pt x="8693311" y="6775024"/>
                  </a:cubicBezTo>
                  <a:cubicBezTo>
                    <a:pt x="8629246" y="6809192"/>
                    <a:pt x="8565181" y="6828106"/>
                    <a:pt x="8389460" y="6828106"/>
                  </a:cubicBezTo>
                  <a:lnTo>
                    <a:pt x="8389460" y="6828106"/>
                  </a:lnTo>
                  <a:lnTo>
                    <a:pt x="507031" y="6828106"/>
                  </a:lnTo>
                  <a:cubicBezTo>
                    <a:pt x="331310" y="6828106"/>
                    <a:pt x="267855" y="6809802"/>
                    <a:pt x="203180" y="6775024"/>
                  </a:cubicBezTo>
                  <a:cubicBezTo>
                    <a:pt x="138505" y="6740245"/>
                    <a:pt x="87864" y="6689604"/>
                    <a:pt x="53085" y="6624929"/>
                  </a:cubicBezTo>
                  <a:cubicBezTo>
                    <a:pt x="18917" y="6561474"/>
                    <a:pt x="613" y="6498019"/>
                    <a:pt x="3" y="6326569"/>
                  </a:cubicBezTo>
                  <a:lnTo>
                    <a:pt x="3" y="6326569"/>
                  </a:lnTo>
                  <a:lnTo>
                    <a:pt x="613" y="506421"/>
                  </a:lnTo>
                  <a:cubicBezTo>
                    <a:pt x="613" y="330700"/>
                    <a:pt x="18917" y="267245"/>
                    <a:pt x="53696" y="202570"/>
                  </a:cubicBezTo>
                  <a:cubicBezTo>
                    <a:pt x="88474" y="137895"/>
                    <a:pt x="139115" y="87253"/>
                    <a:pt x="203791" y="52475"/>
                  </a:cubicBezTo>
                  <a:cubicBezTo>
                    <a:pt x="267245" y="18917"/>
                    <a:pt x="330090" y="613"/>
                    <a:pt x="502150" y="3"/>
                  </a:cubicBezTo>
                  <a:lnTo>
                    <a:pt x="502150" y="3"/>
                  </a:lnTo>
                  <a:lnTo>
                    <a:pt x="8394952" y="3"/>
                  </a:lnTo>
                  <a:close/>
                </a:path>
              </a:pathLst>
            </a:custGeom>
            <a:noFill/>
            <a:ln w="12196" cap="flat">
              <a:solidFill>
                <a:srgbClr val="28292A">
                  <a:alpha val="40000"/>
                </a:srgbClr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2" name="Freeform 12"/>
            <p:cNvSpPr/>
            <p:nvPr/>
          </p:nvSpPr>
          <p:spPr>
            <a:xfrm>
              <a:off x="3268427" y="1582652"/>
              <a:ext cx="5649317" cy="4331065"/>
            </a:xfrm>
            <a:custGeom>
              <a:avLst/>
              <a:gdLst/>
              <a:ahLst/>
              <a:cxnLst/>
              <a:rect l="l" t="t" r="r" b="b"/>
              <a:pathLst>
                <a:path w="8866588" h="6797595">
                  <a:moveTo>
                    <a:pt x="8379698" y="3"/>
                  </a:moveTo>
                  <a:cubicBezTo>
                    <a:pt x="8547487" y="613"/>
                    <a:pt x="8609112" y="17697"/>
                    <a:pt x="8671346" y="51255"/>
                  </a:cubicBezTo>
                  <a:cubicBezTo>
                    <a:pt x="8733581" y="84203"/>
                    <a:pt x="8781781" y="133014"/>
                    <a:pt x="8815339" y="195249"/>
                  </a:cubicBezTo>
                  <a:cubicBezTo>
                    <a:pt x="8848897" y="258093"/>
                    <a:pt x="8866591" y="320328"/>
                    <a:pt x="8866591" y="491778"/>
                  </a:cubicBezTo>
                  <a:lnTo>
                    <a:pt x="8866591" y="491778"/>
                  </a:lnTo>
                  <a:lnTo>
                    <a:pt x="8866591" y="6305824"/>
                  </a:lnTo>
                  <a:cubicBezTo>
                    <a:pt x="8866591" y="6477274"/>
                    <a:pt x="8848897" y="6539509"/>
                    <a:pt x="8815339" y="6602353"/>
                  </a:cubicBezTo>
                  <a:cubicBezTo>
                    <a:pt x="8782392" y="6664588"/>
                    <a:pt x="8733581" y="6712789"/>
                    <a:pt x="8671346" y="6746347"/>
                  </a:cubicBezTo>
                  <a:cubicBezTo>
                    <a:pt x="8608502" y="6779905"/>
                    <a:pt x="8546267" y="6797599"/>
                    <a:pt x="8374817" y="6797599"/>
                  </a:cubicBezTo>
                  <a:lnTo>
                    <a:pt x="8374817" y="6797599"/>
                  </a:lnTo>
                  <a:lnTo>
                    <a:pt x="491778" y="6797599"/>
                  </a:lnTo>
                  <a:cubicBezTo>
                    <a:pt x="320328" y="6797599"/>
                    <a:pt x="258093" y="6779905"/>
                    <a:pt x="195249" y="6746347"/>
                  </a:cubicBezTo>
                  <a:cubicBezTo>
                    <a:pt x="133014" y="6713400"/>
                    <a:pt x="84813" y="6664588"/>
                    <a:pt x="51255" y="6602353"/>
                  </a:cubicBezTo>
                  <a:cubicBezTo>
                    <a:pt x="18307" y="6540119"/>
                    <a:pt x="613" y="6478495"/>
                    <a:pt x="3" y="6311316"/>
                  </a:cubicBezTo>
                  <a:lnTo>
                    <a:pt x="3" y="6311316"/>
                  </a:lnTo>
                  <a:lnTo>
                    <a:pt x="3" y="486897"/>
                  </a:lnTo>
                  <a:cubicBezTo>
                    <a:pt x="613" y="319107"/>
                    <a:pt x="17697" y="257483"/>
                    <a:pt x="51255" y="195249"/>
                  </a:cubicBezTo>
                  <a:cubicBezTo>
                    <a:pt x="84203" y="133014"/>
                    <a:pt x="133014" y="84813"/>
                    <a:pt x="195249" y="51255"/>
                  </a:cubicBezTo>
                  <a:cubicBezTo>
                    <a:pt x="257483" y="18307"/>
                    <a:pt x="319107" y="613"/>
                    <a:pt x="486286" y="3"/>
                  </a:cubicBezTo>
                  <a:lnTo>
                    <a:pt x="486286" y="3"/>
                  </a:lnTo>
                  <a:lnTo>
                    <a:pt x="8379698" y="3"/>
                  </a:lnTo>
                  <a:close/>
                </a:path>
              </a:pathLst>
            </a:custGeom>
            <a:noFill/>
            <a:ln w="18294" cap="flat">
              <a:solidFill>
                <a:srgbClr val="9FA0A1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3262984" y="1576821"/>
              <a:ext cx="5660202" cy="4342340"/>
            </a:xfrm>
            <a:custGeom>
              <a:avLst/>
              <a:gdLst/>
              <a:ahLst/>
              <a:cxnLst/>
              <a:rect l="l" t="t" r="r" b="b"/>
              <a:pathLst>
                <a:path w="8883672" h="6815290">
                  <a:moveTo>
                    <a:pt x="500320" y="3"/>
                  </a:moveTo>
                  <a:lnTo>
                    <a:pt x="8383359" y="3"/>
                  </a:lnTo>
                  <a:cubicBezTo>
                    <a:pt x="8557249" y="3"/>
                    <a:pt x="8620704" y="18307"/>
                    <a:pt x="8684159" y="51865"/>
                  </a:cubicBezTo>
                  <a:cubicBezTo>
                    <a:pt x="8747613" y="86033"/>
                    <a:pt x="8797646" y="136065"/>
                    <a:pt x="8831813" y="199520"/>
                  </a:cubicBezTo>
                  <a:cubicBezTo>
                    <a:pt x="8865981" y="262974"/>
                    <a:pt x="8883675" y="326429"/>
                    <a:pt x="8883675" y="500320"/>
                  </a:cubicBezTo>
                  <a:lnTo>
                    <a:pt x="8883675" y="6314977"/>
                  </a:lnTo>
                  <a:cubicBezTo>
                    <a:pt x="8883675" y="6488867"/>
                    <a:pt x="8865371" y="6552322"/>
                    <a:pt x="8831813" y="6615777"/>
                  </a:cubicBezTo>
                  <a:cubicBezTo>
                    <a:pt x="8797646" y="6679231"/>
                    <a:pt x="8747613" y="6729263"/>
                    <a:pt x="8684159" y="6763431"/>
                  </a:cubicBezTo>
                  <a:cubicBezTo>
                    <a:pt x="8620704" y="6797599"/>
                    <a:pt x="8557249" y="6815293"/>
                    <a:pt x="8383359" y="6815293"/>
                  </a:cubicBezTo>
                  <a:lnTo>
                    <a:pt x="500320" y="6815293"/>
                  </a:lnTo>
                  <a:cubicBezTo>
                    <a:pt x="326429" y="6815293"/>
                    <a:pt x="262974" y="6796989"/>
                    <a:pt x="199520" y="6763431"/>
                  </a:cubicBezTo>
                  <a:cubicBezTo>
                    <a:pt x="136065" y="6729263"/>
                    <a:pt x="86033" y="6679231"/>
                    <a:pt x="51865" y="6615777"/>
                  </a:cubicBezTo>
                  <a:cubicBezTo>
                    <a:pt x="18307" y="6551712"/>
                    <a:pt x="3" y="6488867"/>
                    <a:pt x="3" y="6314977"/>
                  </a:cubicBezTo>
                  <a:lnTo>
                    <a:pt x="3" y="500320"/>
                  </a:lnTo>
                  <a:cubicBezTo>
                    <a:pt x="3" y="326429"/>
                    <a:pt x="18307" y="262974"/>
                    <a:pt x="51865" y="199520"/>
                  </a:cubicBezTo>
                  <a:cubicBezTo>
                    <a:pt x="85423" y="136065"/>
                    <a:pt x="136065" y="86033"/>
                    <a:pt x="199520" y="51865"/>
                  </a:cubicBezTo>
                  <a:cubicBezTo>
                    <a:pt x="262974" y="17697"/>
                    <a:pt x="326429" y="3"/>
                    <a:pt x="500320" y="3"/>
                  </a:cubicBezTo>
                  <a:close/>
                </a:path>
              </a:pathLst>
            </a:custGeom>
            <a:noFill/>
            <a:ln w="12196" cap="flat">
              <a:solidFill>
                <a:srgbClr val="F8F8F8">
                  <a:alpha val="50000"/>
                </a:srgbClr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794898" y="3438935"/>
              <a:ext cx="77750" cy="614225"/>
              <a:chOff x="10336488" y="2940886"/>
              <a:chExt cx="122028" cy="96402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0360894" y="3380188"/>
                <a:ext cx="73217" cy="73217"/>
              </a:xfrm>
              <a:custGeom>
                <a:avLst/>
                <a:gdLst/>
                <a:ahLst/>
                <a:cxnLst/>
                <a:rect l="l" t="t" r="r" b="b"/>
                <a:pathLst>
                  <a:path w="73217" h="73217">
                    <a:moveTo>
                      <a:pt x="74643" y="37091"/>
                    </a:moveTo>
                    <a:cubicBezTo>
                      <a:pt x="74643" y="57309"/>
                      <a:pt x="58253" y="73699"/>
                      <a:pt x="38035" y="73699"/>
                    </a:cubicBezTo>
                    <a:cubicBezTo>
                      <a:pt x="17816" y="73699"/>
                      <a:pt x="1426" y="57309"/>
                      <a:pt x="1426" y="37091"/>
                    </a:cubicBezTo>
                    <a:cubicBezTo>
                      <a:pt x="1426" y="16872"/>
                      <a:pt x="17816" y="482"/>
                      <a:pt x="38035" y="482"/>
                    </a:cubicBezTo>
                    <a:cubicBezTo>
                      <a:pt x="58253" y="482"/>
                      <a:pt x="74643" y="16872"/>
                      <a:pt x="74643" y="37091"/>
                    </a:cubicBezTo>
                    <a:close/>
                  </a:path>
                </a:pathLst>
              </a:custGeom>
              <a:solidFill>
                <a:srgbClr val="464646">
                  <a:alpha val="50000"/>
                </a:srgbClr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grpSp>
            <p:nvGrpSpPr>
              <p:cNvPr id="16" name="Group 16"/>
              <p:cNvGrpSpPr/>
              <p:nvPr/>
            </p:nvGrpSpPr>
            <p:grpSpPr>
              <a:xfrm>
                <a:off x="10376148" y="3395442"/>
                <a:ext cx="42709" cy="42709"/>
                <a:chOff x="10376148" y="3395442"/>
                <a:chExt cx="42709" cy="42709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10379198" y="3398492"/>
                  <a:ext cx="36608" cy="36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08" h="36608">
                      <a:moveTo>
                        <a:pt x="19730" y="482"/>
                      </a:moveTo>
                      <a:cubicBezTo>
                        <a:pt x="9358" y="482"/>
                        <a:pt x="1426" y="8414"/>
                        <a:pt x="1426" y="18786"/>
                      </a:cubicBezTo>
                      <a:lnTo>
                        <a:pt x="1426" y="18786"/>
                      </a:lnTo>
                      <a:cubicBezTo>
                        <a:pt x="1426" y="29159"/>
                        <a:pt x="9358" y="37091"/>
                        <a:pt x="19730" y="37091"/>
                      </a:cubicBezTo>
                      <a:lnTo>
                        <a:pt x="19730" y="37091"/>
                      </a:lnTo>
                      <a:cubicBezTo>
                        <a:pt x="30103" y="37091"/>
                        <a:pt x="38035" y="29159"/>
                        <a:pt x="38035" y="18786"/>
                      </a:cubicBezTo>
                      <a:lnTo>
                        <a:pt x="38035" y="18786"/>
                      </a:lnTo>
                      <a:cubicBezTo>
                        <a:pt x="38035" y="8414"/>
                        <a:pt x="30103" y="482"/>
                        <a:pt x="19730" y="482"/>
                      </a:cubicBezTo>
                      <a:lnTo>
                        <a:pt x="19730" y="482"/>
                      </a:lnTo>
                      <a:close/>
                    </a:path>
                  </a:pathLst>
                </a:custGeom>
                <a:solidFill>
                  <a:srgbClr val="0722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8" name="Freeform 18"/>
                <p:cNvSpPr/>
                <p:nvPr/>
              </p:nvSpPr>
              <p:spPr>
                <a:xfrm>
                  <a:off x="10379198" y="3398492"/>
                  <a:ext cx="36608" cy="36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08" h="36608">
                      <a:moveTo>
                        <a:pt x="19730" y="482"/>
                      </a:moveTo>
                      <a:cubicBezTo>
                        <a:pt x="9358" y="482"/>
                        <a:pt x="1426" y="8414"/>
                        <a:pt x="1426" y="18786"/>
                      </a:cubicBezTo>
                      <a:lnTo>
                        <a:pt x="1426" y="18786"/>
                      </a:lnTo>
                      <a:cubicBezTo>
                        <a:pt x="1426" y="29159"/>
                        <a:pt x="9358" y="37091"/>
                        <a:pt x="19730" y="37091"/>
                      </a:cubicBezTo>
                      <a:lnTo>
                        <a:pt x="19730" y="37091"/>
                      </a:lnTo>
                      <a:cubicBezTo>
                        <a:pt x="30103" y="37091"/>
                        <a:pt x="38035" y="29159"/>
                        <a:pt x="38035" y="18786"/>
                      </a:cubicBezTo>
                      <a:lnTo>
                        <a:pt x="38035" y="18786"/>
                      </a:lnTo>
                      <a:cubicBezTo>
                        <a:pt x="38035" y="8414"/>
                        <a:pt x="30103" y="482"/>
                        <a:pt x="19730" y="482"/>
                      </a:cubicBezTo>
                      <a:lnTo>
                        <a:pt x="19730" y="4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9" name="Freeform 19"/>
                <p:cNvSpPr/>
                <p:nvPr/>
              </p:nvSpPr>
              <p:spPr>
                <a:xfrm>
                  <a:off x="10376148" y="3395442"/>
                  <a:ext cx="42709" cy="42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09" h="42709">
                      <a:moveTo>
                        <a:pt x="22781" y="482"/>
                      </a:moveTo>
                      <a:cubicBezTo>
                        <a:pt x="28882" y="482"/>
                        <a:pt x="33764" y="2923"/>
                        <a:pt x="38035" y="6583"/>
                      </a:cubicBezTo>
                      <a:cubicBezTo>
                        <a:pt x="41695" y="10244"/>
                        <a:pt x="44136" y="15736"/>
                        <a:pt x="44136" y="21837"/>
                      </a:cubicBezTo>
                      <a:cubicBezTo>
                        <a:pt x="43526" y="27938"/>
                        <a:pt x="41085" y="33430"/>
                        <a:pt x="37424" y="37091"/>
                      </a:cubicBezTo>
                      <a:cubicBezTo>
                        <a:pt x="33764" y="40751"/>
                        <a:pt x="28272" y="43192"/>
                        <a:pt x="22781" y="43192"/>
                      </a:cubicBezTo>
                      <a:cubicBezTo>
                        <a:pt x="16680" y="42582"/>
                        <a:pt x="11188" y="40141"/>
                        <a:pt x="7527" y="36480"/>
                      </a:cubicBezTo>
                      <a:cubicBezTo>
                        <a:pt x="3867" y="32820"/>
                        <a:pt x="1426" y="27328"/>
                        <a:pt x="1426" y="21837"/>
                      </a:cubicBezTo>
                      <a:cubicBezTo>
                        <a:pt x="2036" y="15736"/>
                        <a:pt x="4477" y="10244"/>
                        <a:pt x="8138" y="6583"/>
                      </a:cubicBezTo>
                      <a:cubicBezTo>
                        <a:pt x="11798" y="2923"/>
                        <a:pt x="17290" y="482"/>
                        <a:pt x="22781" y="482"/>
                      </a:cubicBezTo>
                      <a:close/>
                    </a:path>
                  </a:pathLst>
                </a:custGeom>
                <a:noFill/>
                <a:ln w="6098" cap="flat">
                  <a:solidFill>
                    <a:srgbClr val="33333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sp>
            <p:nvSpPr>
              <p:cNvPr id="20" name="Freeform 20"/>
              <p:cNvSpPr/>
              <p:nvPr/>
            </p:nvSpPr>
            <p:spPr>
              <a:xfrm>
                <a:off x="10391401" y="3404594"/>
                <a:ext cx="12202" cy="12202"/>
              </a:xfrm>
              <a:custGeom>
                <a:avLst/>
                <a:gdLst/>
                <a:ahLst/>
                <a:cxnLst/>
                <a:rect l="l" t="t" r="r" b="b"/>
                <a:pathLst>
                  <a:path w="12202" h="12202">
                    <a:moveTo>
                      <a:pt x="13629" y="6583"/>
                    </a:moveTo>
                    <a:cubicBezTo>
                      <a:pt x="13629" y="9953"/>
                      <a:pt x="10897" y="12685"/>
                      <a:pt x="7527" y="12685"/>
                    </a:cubicBezTo>
                    <a:cubicBezTo>
                      <a:pt x="4158" y="12685"/>
                      <a:pt x="1426" y="9953"/>
                      <a:pt x="1426" y="6583"/>
                    </a:cubicBezTo>
                    <a:cubicBezTo>
                      <a:pt x="1426" y="3214"/>
                      <a:pt x="4158" y="482"/>
                      <a:pt x="7527" y="482"/>
                    </a:cubicBezTo>
                    <a:cubicBezTo>
                      <a:pt x="10897" y="482"/>
                      <a:pt x="13629" y="3214"/>
                      <a:pt x="13629" y="6583"/>
                    </a:cubicBezTo>
                    <a:close/>
                  </a:path>
                </a:pathLst>
              </a:custGeom>
              <a:solidFill>
                <a:srgbClr val="03DBF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10403604" y="3410695"/>
                <a:ext cx="6101" cy="12202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12202">
                    <a:moveTo>
                      <a:pt x="7527" y="6583"/>
                    </a:moveTo>
                    <a:cubicBezTo>
                      <a:pt x="7527" y="1702"/>
                      <a:pt x="2036" y="482"/>
                      <a:pt x="2036" y="482"/>
                    </a:cubicBezTo>
                    <a:cubicBezTo>
                      <a:pt x="2036" y="482"/>
                      <a:pt x="4477" y="3533"/>
                      <a:pt x="4477" y="6583"/>
                    </a:cubicBezTo>
                    <a:cubicBezTo>
                      <a:pt x="4477" y="9634"/>
                      <a:pt x="1426" y="12685"/>
                      <a:pt x="1426" y="12685"/>
                    </a:cubicBezTo>
                    <a:cubicBezTo>
                      <a:pt x="1426" y="12685"/>
                      <a:pt x="7527" y="11465"/>
                      <a:pt x="7527" y="6583"/>
                    </a:cubicBezTo>
                    <a:close/>
                  </a:path>
                </a:pathLst>
              </a:custGeom>
              <a:solidFill>
                <a:srgbClr val="14AAC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10385300" y="3416797"/>
                <a:ext cx="6101" cy="6101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01">
                    <a:moveTo>
                      <a:pt x="7527" y="3533"/>
                    </a:moveTo>
                    <a:cubicBezTo>
                      <a:pt x="7527" y="5218"/>
                      <a:pt x="6162" y="6583"/>
                      <a:pt x="4477" y="6583"/>
                    </a:cubicBezTo>
                    <a:cubicBezTo>
                      <a:pt x="2792" y="6583"/>
                      <a:pt x="1426" y="5218"/>
                      <a:pt x="1426" y="3533"/>
                    </a:cubicBezTo>
                    <a:cubicBezTo>
                      <a:pt x="1426" y="1848"/>
                      <a:pt x="2792" y="482"/>
                      <a:pt x="4477" y="482"/>
                    </a:cubicBezTo>
                    <a:cubicBezTo>
                      <a:pt x="6162" y="482"/>
                      <a:pt x="7527" y="1848"/>
                      <a:pt x="7527" y="3533"/>
                    </a:cubicBezTo>
                    <a:close/>
                  </a:path>
                </a:pathLst>
              </a:custGeom>
              <a:solidFill>
                <a:srgbClr val="30A4B9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10348691" y="2940886"/>
                <a:ext cx="97622" cy="97622"/>
              </a:xfrm>
              <a:custGeom>
                <a:avLst/>
                <a:gdLst/>
                <a:ahLst/>
                <a:cxnLst/>
                <a:rect l="l" t="t" r="r" b="b"/>
                <a:pathLst>
                  <a:path w="97622" h="97622">
                    <a:moveTo>
                      <a:pt x="99049" y="49293"/>
                    </a:moveTo>
                    <a:cubicBezTo>
                      <a:pt x="99049" y="76251"/>
                      <a:pt x="77195" y="98105"/>
                      <a:pt x="50237" y="98105"/>
                    </a:cubicBezTo>
                    <a:cubicBezTo>
                      <a:pt x="23280" y="98105"/>
                      <a:pt x="1426" y="76251"/>
                      <a:pt x="1426" y="49293"/>
                    </a:cubicBezTo>
                    <a:cubicBezTo>
                      <a:pt x="1426" y="22336"/>
                      <a:pt x="23280" y="482"/>
                      <a:pt x="50237" y="482"/>
                    </a:cubicBezTo>
                    <a:cubicBezTo>
                      <a:pt x="77195" y="482"/>
                      <a:pt x="99049" y="22336"/>
                      <a:pt x="99049" y="49293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10336488" y="3136131"/>
                <a:ext cx="122028" cy="122028"/>
              </a:xfrm>
              <a:custGeom>
                <a:avLst/>
                <a:gdLst/>
                <a:ahLst/>
                <a:cxnLst/>
                <a:rect l="l" t="t" r="r" b="b"/>
                <a:pathLst>
                  <a:path w="122028" h="122028">
                    <a:moveTo>
                      <a:pt x="123454" y="61496"/>
                    </a:moveTo>
                    <a:cubicBezTo>
                      <a:pt x="123454" y="95193"/>
                      <a:pt x="96137" y="122510"/>
                      <a:pt x="62440" y="122510"/>
                    </a:cubicBezTo>
                    <a:cubicBezTo>
                      <a:pt x="28743" y="122510"/>
                      <a:pt x="1426" y="95193"/>
                      <a:pt x="1426" y="61496"/>
                    </a:cubicBezTo>
                    <a:cubicBezTo>
                      <a:pt x="1426" y="27799"/>
                      <a:pt x="28743" y="482"/>
                      <a:pt x="62440" y="482"/>
                    </a:cubicBezTo>
                    <a:cubicBezTo>
                      <a:pt x="96137" y="482"/>
                      <a:pt x="123454" y="27799"/>
                      <a:pt x="123454" y="6149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10336488" y="3782882"/>
                <a:ext cx="122028" cy="122028"/>
              </a:xfrm>
              <a:custGeom>
                <a:avLst/>
                <a:gdLst/>
                <a:ahLst/>
                <a:cxnLst/>
                <a:rect l="l" t="t" r="r" b="b"/>
                <a:pathLst>
                  <a:path w="122028" h="122028">
                    <a:moveTo>
                      <a:pt x="123454" y="61496"/>
                    </a:moveTo>
                    <a:cubicBezTo>
                      <a:pt x="123454" y="95193"/>
                      <a:pt x="96137" y="122510"/>
                      <a:pt x="62440" y="122510"/>
                    </a:cubicBezTo>
                    <a:cubicBezTo>
                      <a:pt x="28743" y="122510"/>
                      <a:pt x="1426" y="95193"/>
                      <a:pt x="1426" y="61496"/>
                    </a:cubicBezTo>
                    <a:cubicBezTo>
                      <a:pt x="1426" y="27799"/>
                      <a:pt x="28743" y="482"/>
                      <a:pt x="62440" y="482"/>
                    </a:cubicBezTo>
                    <a:cubicBezTo>
                      <a:pt x="96137" y="482"/>
                      <a:pt x="123454" y="27799"/>
                      <a:pt x="123454" y="6149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10379198" y="3599839"/>
                <a:ext cx="36608" cy="36608"/>
              </a:xfrm>
              <a:custGeom>
                <a:avLst/>
                <a:gdLst/>
                <a:ahLst/>
                <a:cxnLst/>
                <a:rect l="l" t="t" r="r" b="b"/>
                <a:pathLst>
                  <a:path w="36608" h="36608">
                    <a:moveTo>
                      <a:pt x="38035" y="18786"/>
                    </a:moveTo>
                    <a:cubicBezTo>
                      <a:pt x="38035" y="28895"/>
                      <a:pt x="29839" y="37091"/>
                      <a:pt x="19730" y="37091"/>
                    </a:cubicBezTo>
                    <a:cubicBezTo>
                      <a:pt x="9621" y="37091"/>
                      <a:pt x="1426" y="28895"/>
                      <a:pt x="1426" y="18786"/>
                    </a:cubicBezTo>
                    <a:cubicBezTo>
                      <a:pt x="1426" y="8677"/>
                      <a:pt x="9621" y="482"/>
                      <a:pt x="19730" y="482"/>
                    </a:cubicBezTo>
                    <a:cubicBezTo>
                      <a:pt x="29839" y="482"/>
                      <a:pt x="38035" y="8677"/>
                      <a:pt x="38035" y="1878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3433645" y="1747871"/>
              <a:ext cx="5318879" cy="3988965"/>
            </a:xfrm>
            <a:custGeom>
              <a:avLst/>
              <a:gdLst/>
              <a:ahLst/>
              <a:cxnLst/>
              <a:rect l="l" t="t" r="r" b="b"/>
              <a:pathLst>
                <a:path w="8347967" h="6260670">
                  <a:moveTo>
                    <a:pt x="8188114" y="3"/>
                  </a:moveTo>
                  <a:cubicBezTo>
                    <a:pt x="8241806" y="3"/>
                    <a:pt x="8261941" y="6104"/>
                    <a:pt x="8282076" y="17087"/>
                  </a:cubicBezTo>
                  <a:cubicBezTo>
                    <a:pt x="8302820" y="28070"/>
                    <a:pt x="8319294" y="44543"/>
                    <a:pt x="8330887" y="65898"/>
                  </a:cubicBezTo>
                  <a:cubicBezTo>
                    <a:pt x="8341869" y="86643"/>
                    <a:pt x="8347971" y="106778"/>
                    <a:pt x="8347971" y="162911"/>
                  </a:cubicBezTo>
                  <a:lnTo>
                    <a:pt x="8347971" y="162911"/>
                  </a:lnTo>
                  <a:lnTo>
                    <a:pt x="8347971" y="6097766"/>
                  </a:lnTo>
                  <a:cubicBezTo>
                    <a:pt x="8347971" y="6153899"/>
                    <a:pt x="8341869" y="6174034"/>
                    <a:pt x="8330887" y="6194779"/>
                  </a:cubicBezTo>
                  <a:cubicBezTo>
                    <a:pt x="8319904" y="6215523"/>
                    <a:pt x="8303431" y="6231997"/>
                    <a:pt x="8282076" y="6243590"/>
                  </a:cubicBezTo>
                  <a:cubicBezTo>
                    <a:pt x="8261331" y="6254572"/>
                    <a:pt x="8241196" y="6260674"/>
                    <a:pt x="8185063" y="6260674"/>
                  </a:cubicBezTo>
                  <a:lnTo>
                    <a:pt x="8185063" y="6260674"/>
                  </a:lnTo>
                  <a:lnTo>
                    <a:pt x="162911" y="6260674"/>
                  </a:lnTo>
                  <a:cubicBezTo>
                    <a:pt x="106778" y="6260674"/>
                    <a:pt x="86643" y="6254572"/>
                    <a:pt x="65898" y="6243590"/>
                  </a:cubicBezTo>
                  <a:cubicBezTo>
                    <a:pt x="45154" y="6232607"/>
                    <a:pt x="28680" y="6216134"/>
                    <a:pt x="17087" y="6194779"/>
                  </a:cubicBezTo>
                  <a:cubicBezTo>
                    <a:pt x="6104" y="6174644"/>
                    <a:pt x="3" y="6154509"/>
                    <a:pt x="3" y="6100817"/>
                  </a:cubicBezTo>
                  <a:lnTo>
                    <a:pt x="3" y="6100817"/>
                  </a:lnTo>
                  <a:lnTo>
                    <a:pt x="3" y="159860"/>
                  </a:lnTo>
                  <a:cubicBezTo>
                    <a:pt x="3" y="106168"/>
                    <a:pt x="6104" y="86033"/>
                    <a:pt x="17087" y="65898"/>
                  </a:cubicBezTo>
                  <a:cubicBezTo>
                    <a:pt x="28070" y="45154"/>
                    <a:pt x="44543" y="28680"/>
                    <a:pt x="65898" y="17087"/>
                  </a:cubicBezTo>
                  <a:cubicBezTo>
                    <a:pt x="86643" y="6104"/>
                    <a:pt x="106168" y="3"/>
                    <a:pt x="159860" y="3"/>
                  </a:cubicBezTo>
                  <a:lnTo>
                    <a:pt x="159860" y="3"/>
                  </a:lnTo>
                  <a:lnTo>
                    <a:pt x="8188114" y="3"/>
                  </a:lnTo>
                  <a:close/>
                </a:path>
              </a:pathLst>
            </a:custGeom>
            <a:blipFill>
              <a:blip r:embed="rId2"/>
              <a:srcRect t="2275" b="2275"/>
              <a:stretch>
                <a:fillRect/>
              </a:stretch>
            </a:blipFill>
            <a:ln w="12196" cap="flat">
              <a:solidFill>
                <a:srgbClr val="26262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5880398" y="1952281"/>
            <a:ext cx="4109812" cy="3082210"/>
          </a:xfrm>
          <a:custGeom>
            <a:avLst/>
            <a:gdLst/>
            <a:ahLst/>
            <a:cxnLst/>
            <a:rect l="l" t="t" r="r" b="b"/>
            <a:pathLst>
              <a:path w="8347967" h="6260670">
                <a:moveTo>
                  <a:pt x="8188114" y="3"/>
                </a:moveTo>
                <a:cubicBezTo>
                  <a:pt x="8241806" y="3"/>
                  <a:pt x="8261941" y="6104"/>
                  <a:pt x="8282076" y="17087"/>
                </a:cubicBezTo>
                <a:cubicBezTo>
                  <a:pt x="8302820" y="28070"/>
                  <a:pt x="8319294" y="44543"/>
                  <a:pt x="8330887" y="65898"/>
                </a:cubicBezTo>
                <a:cubicBezTo>
                  <a:pt x="8341869" y="86643"/>
                  <a:pt x="8347971" y="106778"/>
                  <a:pt x="8347971" y="162911"/>
                </a:cubicBezTo>
                <a:lnTo>
                  <a:pt x="8347971" y="162911"/>
                </a:lnTo>
                <a:lnTo>
                  <a:pt x="8347971" y="6097766"/>
                </a:lnTo>
                <a:cubicBezTo>
                  <a:pt x="8347971" y="6153899"/>
                  <a:pt x="8341869" y="6174034"/>
                  <a:pt x="8330887" y="6194779"/>
                </a:cubicBezTo>
                <a:cubicBezTo>
                  <a:pt x="8319904" y="6215523"/>
                  <a:pt x="8303431" y="6231997"/>
                  <a:pt x="8282076" y="6243590"/>
                </a:cubicBezTo>
                <a:cubicBezTo>
                  <a:pt x="8261331" y="6254572"/>
                  <a:pt x="8241196" y="6260674"/>
                  <a:pt x="8185063" y="6260674"/>
                </a:cubicBezTo>
                <a:lnTo>
                  <a:pt x="8185063" y="6260674"/>
                </a:lnTo>
                <a:lnTo>
                  <a:pt x="162911" y="6260674"/>
                </a:lnTo>
                <a:cubicBezTo>
                  <a:pt x="106778" y="6260674"/>
                  <a:pt x="86643" y="6254572"/>
                  <a:pt x="65898" y="6243590"/>
                </a:cubicBezTo>
                <a:cubicBezTo>
                  <a:pt x="45154" y="6232607"/>
                  <a:pt x="28680" y="6216134"/>
                  <a:pt x="17087" y="6194779"/>
                </a:cubicBezTo>
                <a:cubicBezTo>
                  <a:pt x="6104" y="6174644"/>
                  <a:pt x="3" y="6154509"/>
                  <a:pt x="3" y="6100817"/>
                </a:cubicBezTo>
                <a:lnTo>
                  <a:pt x="3" y="6100817"/>
                </a:lnTo>
                <a:lnTo>
                  <a:pt x="3" y="159860"/>
                </a:lnTo>
                <a:cubicBezTo>
                  <a:pt x="3" y="106168"/>
                  <a:pt x="6104" y="86033"/>
                  <a:pt x="17087" y="65898"/>
                </a:cubicBezTo>
                <a:cubicBezTo>
                  <a:pt x="28070" y="45154"/>
                  <a:pt x="44543" y="28680"/>
                  <a:pt x="65898" y="17087"/>
                </a:cubicBezTo>
                <a:cubicBezTo>
                  <a:pt x="86643" y="6104"/>
                  <a:pt x="106168" y="3"/>
                  <a:pt x="159860" y="3"/>
                </a:cubicBezTo>
                <a:lnTo>
                  <a:pt x="159860" y="3"/>
                </a:lnTo>
                <a:lnTo>
                  <a:pt x="8188114" y="3"/>
                </a:lnTo>
                <a:close/>
              </a:path>
            </a:pathLst>
          </a:custGeom>
          <a:pattFill prst="pct5">
            <a:fgClr>
              <a:srgbClr val="E4E6EA"/>
            </a:fgClr>
            <a:bgClr>
              <a:srgbClr val="ADB5BF"/>
            </a:bgClr>
          </a:pattFill>
          <a:ln cap="flat" cmpd="sng">
            <a:prstDash val="solid"/>
          </a:ln>
        </p:spPr>
        <p:txBody>
          <a:bodyPr rot="0"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54378" y="3273266"/>
            <a:ext cx="3253906" cy="134652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Heightened trade tensions increase uncertainty. Monitor policy shifts.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854377" y="2338497"/>
            <a:ext cx="3253907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i="0" u="none" baseline="0">
                <a:solidFill>
                  <a:schemeClr val="accent1"/>
                </a:solidFill>
                <a:latin typeface="微软雅黑"/>
                <a:ea typeface="微软雅黑"/>
              </a:rPr>
              <a:t>US-China Trade Barriers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54377" y="5628155"/>
            <a:ext cx="452797" cy="452797"/>
          </a:xfrm>
          <a:prstGeom prst="ellipse">
            <a:avLst/>
          </a:prstGeom>
          <a:solidFill>
            <a:srgbClr val="000000">
              <a:lumMod val="65000"/>
              <a:lumOff val="35000"/>
            </a:srgbClr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 fontScale="92500" lnSpcReduction="20000"/>
          </a:bodyPr>
          <a:lstStyle/>
          <a:p>
            <a:pPr marL="0" algn="ctr"/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66675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Geopolitical Tensions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Lithium Price Volatility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1832200"/>
            <a:ext cx="12192000" cy="3600000"/>
          </a:xfrm>
          <a:prstGeom prst="rect">
            <a:avLst/>
          </a:prstGeom>
          <a:solidFill>
            <a:srgbClr val="FFFFFF">
              <a:lumMod val="95000"/>
            </a:srgbClr>
          </a:solidFill>
          <a:ln cap="sq"/>
        </p:spPr>
        <p:txBody>
          <a:bodyPr vert="horz" wrap="square" lIns="0" tIns="0" rIns="0" bIns="0" rtlCol="0" anchor="ctr"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1875155" y="2957649"/>
            <a:ext cx="7344000" cy="931409"/>
          </a:xfrm>
          <a:prstGeom prst="rect">
            <a:avLst/>
          </a:prstGeom>
          <a:noFill/>
          <a:ln cap="sq"/>
        </p:spPr>
        <p:txBody>
          <a:bodyPr vert="horz" wrap="square" lIns="0" tIns="0" rIns="0" bIns="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sz="1400" b="0" i="0" u="none" baseline="0">
                <a:ln w="12700"/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Lithium price volatility impacts battery production costs. Hedge with commodity futures.</a:t>
            </a:r>
            <a:endParaRPr lang="en-US" sz="1100"/>
          </a:p>
        </p:txBody>
      </p:sp>
      <p:grpSp>
        <p:nvGrpSpPr>
          <p:cNvPr id="5" name="Group 5"/>
          <p:cNvGrpSpPr/>
          <p:nvPr/>
        </p:nvGrpSpPr>
        <p:grpSpPr>
          <a:xfrm>
            <a:off x="989381" y="2235193"/>
            <a:ext cx="635174" cy="504074"/>
            <a:chOff x="989381" y="2235193"/>
            <a:chExt cx="635174" cy="504074"/>
          </a:xfrm>
        </p:grpSpPr>
        <p:sp>
          <p:nvSpPr>
            <p:cNvPr id="6" name="Freeform 6"/>
            <p:cNvSpPr/>
            <p:nvPr/>
          </p:nvSpPr>
          <p:spPr>
            <a:xfrm>
              <a:off x="1370485" y="2235193"/>
              <a:ext cx="254070" cy="504074"/>
            </a:xfrm>
            <a:custGeom>
              <a:avLst/>
              <a:gdLst/>
              <a:ahLst/>
              <a:cxnLst/>
              <a:rect l="l" t="t" r="r" b="b"/>
              <a:pathLst>
                <a:path w="190500" h="377952">
                  <a:moveTo>
                    <a:pt x="190500" y="377952"/>
                  </a:moveTo>
                  <a:lnTo>
                    <a:pt x="190500" y="187452"/>
                  </a:lnTo>
                  <a:lnTo>
                    <a:pt x="81820" y="187452"/>
                  </a:lnTo>
                  <a:cubicBezTo>
                    <a:pt x="83469" y="128608"/>
                    <a:pt x="131633" y="81753"/>
                    <a:pt x="190500" y="81725"/>
                  </a:cubicBezTo>
                  <a:lnTo>
                    <a:pt x="190500" y="0"/>
                  </a:lnTo>
                  <a:cubicBezTo>
                    <a:pt x="86469" y="-13"/>
                    <a:pt x="1665" y="83434"/>
                    <a:pt x="0" y="187452"/>
                  </a:cubicBezTo>
                  <a:lnTo>
                    <a:pt x="0" y="187452"/>
                  </a:lnTo>
                  <a:lnTo>
                    <a:pt x="0" y="377952"/>
                  </a:lnTo>
                  <a:close/>
                </a:path>
              </a:pathLst>
            </a:custGeom>
            <a:noFill/>
            <a:ln w="25400" cap="sq">
              <a:solidFill>
                <a:schemeClr val="accent1"/>
              </a:solidFill>
              <a:headEnd type="oval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" name="Freeform 7"/>
            <p:cNvSpPr/>
            <p:nvPr/>
          </p:nvSpPr>
          <p:spPr>
            <a:xfrm>
              <a:off x="989381" y="2235193"/>
              <a:ext cx="254070" cy="504074"/>
            </a:xfrm>
            <a:custGeom>
              <a:avLst/>
              <a:gdLst/>
              <a:ahLst/>
              <a:cxnLst/>
              <a:rect l="l" t="t" r="r" b="b"/>
              <a:pathLst>
                <a:path w="190500" h="377952">
                  <a:moveTo>
                    <a:pt x="190500" y="377952"/>
                  </a:moveTo>
                  <a:lnTo>
                    <a:pt x="190500" y="187452"/>
                  </a:lnTo>
                  <a:lnTo>
                    <a:pt x="81820" y="187452"/>
                  </a:lnTo>
                  <a:cubicBezTo>
                    <a:pt x="83469" y="128608"/>
                    <a:pt x="131633" y="81753"/>
                    <a:pt x="190500" y="81725"/>
                  </a:cubicBezTo>
                  <a:lnTo>
                    <a:pt x="190500" y="0"/>
                  </a:lnTo>
                  <a:cubicBezTo>
                    <a:pt x="86469" y="-13"/>
                    <a:pt x="1665" y="83434"/>
                    <a:pt x="0" y="187452"/>
                  </a:cubicBezTo>
                  <a:lnTo>
                    <a:pt x="0" y="187452"/>
                  </a:lnTo>
                  <a:lnTo>
                    <a:pt x="0" y="377952"/>
                  </a:lnTo>
                  <a:close/>
                </a:path>
              </a:pathLst>
            </a:custGeom>
            <a:noFill/>
            <a:ln w="25400" cap="sq">
              <a:solidFill>
                <a:schemeClr val="accent1"/>
              </a:solidFill>
              <a:headEnd type="oval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475" y="3493443"/>
            <a:ext cx="2003425" cy="1589919"/>
            <a:chOff x="9515475" y="3493443"/>
            <a:chExt cx="2003425" cy="1589919"/>
          </a:xfrm>
        </p:grpSpPr>
        <p:sp>
          <p:nvSpPr>
            <p:cNvPr id="9" name="Freeform 9"/>
            <p:cNvSpPr/>
            <p:nvPr/>
          </p:nvSpPr>
          <p:spPr>
            <a:xfrm>
              <a:off x="9515475" y="3493443"/>
              <a:ext cx="801370" cy="1589919"/>
            </a:xfrm>
            <a:custGeom>
              <a:avLst/>
              <a:gdLst/>
              <a:ahLst/>
              <a:cxnLst/>
              <a:rect l="l" t="t" r="r" b="b"/>
              <a:pathLst>
                <a:path w="190500" h="377952">
                  <a:moveTo>
                    <a:pt x="0" y="0"/>
                  </a:moveTo>
                  <a:lnTo>
                    <a:pt x="0" y="190500"/>
                  </a:lnTo>
                  <a:lnTo>
                    <a:pt x="108680" y="190500"/>
                  </a:lnTo>
                  <a:cubicBezTo>
                    <a:pt x="107031" y="249344"/>
                    <a:pt x="58867" y="296199"/>
                    <a:pt x="0" y="296228"/>
                  </a:cubicBezTo>
                  <a:lnTo>
                    <a:pt x="0" y="377952"/>
                  </a:lnTo>
                  <a:cubicBezTo>
                    <a:pt x="104031" y="377965"/>
                    <a:pt x="188835" y="294518"/>
                    <a:pt x="190500" y="190500"/>
                  </a:cubicBezTo>
                  <a:lnTo>
                    <a:pt x="190500" y="1905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FFFFFF">
                <a:alpha val="50000"/>
                <a:lumMod val="85000"/>
              </a:srgbClr>
            </a:solidFill>
            <a:ln cap="flat"/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0717530" y="3493443"/>
              <a:ext cx="801370" cy="1589919"/>
            </a:xfrm>
            <a:custGeom>
              <a:avLst/>
              <a:gdLst/>
              <a:ahLst/>
              <a:cxnLst/>
              <a:rect l="l" t="t" r="r" b="b"/>
              <a:pathLst>
                <a:path w="190500" h="377952">
                  <a:moveTo>
                    <a:pt x="0" y="0"/>
                  </a:moveTo>
                  <a:lnTo>
                    <a:pt x="0" y="190500"/>
                  </a:lnTo>
                  <a:lnTo>
                    <a:pt x="108680" y="190500"/>
                  </a:lnTo>
                  <a:cubicBezTo>
                    <a:pt x="107031" y="249344"/>
                    <a:pt x="58867" y="296199"/>
                    <a:pt x="0" y="296228"/>
                  </a:cubicBezTo>
                  <a:lnTo>
                    <a:pt x="0" y="377952"/>
                  </a:lnTo>
                  <a:cubicBezTo>
                    <a:pt x="104031" y="377965"/>
                    <a:pt x="188835" y="294518"/>
                    <a:pt x="190500" y="190500"/>
                  </a:cubicBezTo>
                  <a:lnTo>
                    <a:pt x="190500" y="1905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FFFFFF">
                <a:alpha val="50000"/>
                <a:lumMod val="85000"/>
              </a:srgbClr>
            </a:solidFill>
            <a:ln cap="flat"/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875155" y="2487230"/>
            <a:ext cx="734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algn="l">
              <a:defRPr/>
            </a:pPr>
            <a:r>
              <a:rPr lang="en-US" sz="1600" b="1" i="0" u="none" baseline="0">
                <a:ln w="12700"/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Lithium Price Fluctuations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959041" y="4382072"/>
            <a:ext cx="1583789" cy="1583789"/>
          </a:xfrm>
          <a:prstGeom prst="ellipse">
            <a:avLst/>
          </a:prstGeom>
          <a:solidFill>
            <a:srgbClr val="FFFFFF">
              <a:alpha val="20000"/>
              <a:lumMod val="7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6356195" y="0"/>
            <a:ext cx="5835805" cy="6237288"/>
          </a:xfrm>
          <a:custGeom>
            <a:avLst/>
            <a:gdLst/>
            <a:ahLst/>
            <a:cxnLst/>
            <a:rect l="l" t="t" r="r" b="b"/>
            <a:pathLst>
              <a:path w="5835805" h="6237288">
                <a:moveTo>
                  <a:pt x="262855" y="0"/>
                </a:moveTo>
                <a:lnTo>
                  <a:pt x="5835805" y="0"/>
                </a:lnTo>
                <a:lnTo>
                  <a:pt x="5835805" y="6095470"/>
                </a:lnTo>
                <a:lnTo>
                  <a:pt x="5634104" y="6142022"/>
                </a:lnTo>
                <a:cubicBezTo>
                  <a:pt x="5328856" y="6204485"/>
                  <a:pt x="5012803" y="6237288"/>
                  <a:pt x="4689089" y="6237288"/>
                </a:cubicBezTo>
                <a:cubicBezTo>
                  <a:pt x="2099377" y="6237288"/>
                  <a:pt x="0" y="4137911"/>
                  <a:pt x="0" y="1548199"/>
                </a:cubicBezTo>
                <a:cubicBezTo>
                  <a:pt x="0" y="1062628"/>
                  <a:pt x="73807" y="594296"/>
                  <a:pt x="210813" y="153808"/>
                </a:cubicBezTo>
                <a:close/>
              </a:path>
            </a:pathLst>
          </a:custGeom>
          <a:solidFill>
            <a:srgbClr val="000000">
              <a:alpha val="10000"/>
              <a:lumMod val="50000"/>
              <a:lumOff val="50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5743876" y="1818411"/>
            <a:ext cx="4392583" cy="3377296"/>
            <a:chOff x="3257153" y="1570990"/>
            <a:chExt cx="5684838" cy="4370863"/>
          </a:xfrm>
        </p:grpSpPr>
        <p:sp>
          <p:nvSpPr>
            <p:cNvPr id="5" name="Freeform 5"/>
            <p:cNvSpPr/>
            <p:nvPr/>
          </p:nvSpPr>
          <p:spPr>
            <a:xfrm>
              <a:off x="8926441" y="5409897"/>
              <a:ext cx="15550" cy="241025"/>
            </a:xfrm>
            <a:custGeom>
              <a:avLst/>
              <a:gdLst/>
              <a:ahLst/>
              <a:cxnLst/>
              <a:rect l="l" t="t" r="r" b="b"/>
              <a:pathLst>
                <a:path w="24405" h="378288">
                  <a:moveTo>
                    <a:pt x="25647" y="13192"/>
                  </a:moveTo>
                  <a:lnTo>
                    <a:pt x="25647" y="367074"/>
                  </a:lnTo>
                  <a:cubicBezTo>
                    <a:pt x="25647" y="373786"/>
                    <a:pt x="20155" y="379277"/>
                    <a:pt x="13444" y="379277"/>
                  </a:cubicBezTo>
                  <a:cubicBezTo>
                    <a:pt x="6732" y="379277"/>
                    <a:pt x="1241" y="373786"/>
                    <a:pt x="1241" y="367074"/>
                  </a:cubicBezTo>
                  <a:lnTo>
                    <a:pt x="1241" y="13192"/>
                  </a:lnTo>
                  <a:cubicBezTo>
                    <a:pt x="1241" y="6480"/>
                    <a:pt x="6732" y="989"/>
                    <a:pt x="13444" y="989"/>
                  </a:cubicBezTo>
                  <a:cubicBezTo>
                    <a:pt x="20155" y="989"/>
                    <a:pt x="25647" y="6480"/>
                    <a:pt x="25647" y="13192"/>
                  </a:cubicBezTo>
                  <a:close/>
                </a:path>
              </a:pathLst>
            </a:custGeom>
            <a:gradFill>
              <a:gsLst>
                <a:gs pos="0">
                  <a:srgbClr val="F0F0F0">
                    <a:lumMod val="25000"/>
                  </a:srgbClr>
                </a:gs>
                <a:gs pos="1000">
                  <a:srgbClr val="000000">
                    <a:lumMod val="75000"/>
                    <a:lumOff val="25000"/>
                  </a:srgbClr>
                </a:gs>
                <a:gs pos="2000">
                  <a:srgbClr val="F0F0F0">
                    <a:lumMod val="25000"/>
                  </a:srgbClr>
                </a:gs>
                <a:gs pos="21000">
                  <a:srgbClr val="FFFFFF">
                    <a:alpha val="0"/>
                    <a:lumMod val="95000"/>
                  </a:srgbClr>
                </a:gs>
                <a:gs pos="82000">
                  <a:srgbClr val="FFFFFF">
                    <a:alpha val="4000"/>
                    <a:lumMod val="95000"/>
                  </a:srgbClr>
                </a:gs>
                <a:gs pos="98000">
                  <a:srgbClr val="F0F0F0">
                    <a:lumMod val="25000"/>
                  </a:srgbClr>
                </a:gs>
                <a:gs pos="99000">
                  <a:srgbClr val="000000">
                    <a:lumMod val="75000"/>
                    <a:lumOff val="25000"/>
                  </a:srgbClr>
                </a:gs>
                <a:gs pos="100000">
                  <a:srgbClr val="000000">
                    <a:lumMod val="75000"/>
                    <a:lumOff val="25000"/>
                  </a:srgbClr>
                </a:gs>
              </a:gsLst>
              <a:lin ang="5400000"/>
            </a:gradFill>
            <a:ln cap="flat">
              <a:prstDash val="solid"/>
            </a:ln>
          </p:spPr>
          <p:txBody>
            <a:bodyPr vert="horz" lIns="91440" tIns="45720" rIns="91440" bIns="45720" anchor="ctr">
              <a:normAutofit fontScale="40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8075711" y="5926303"/>
              <a:ext cx="209924" cy="15550"/>
            </a:xfrm>
            <a:custGeom>
              <a:avLst/>
              <a:gdLst/>
              <a:ahLst/>
              <a:cxnLst/>
              <a:rect l="l" t="t" r="r" b="b"/>
              <a:pathLst>
                <a:path w="329476" h="24405">
                  <a:moveTo>
                    <a:pt x="13444" y="989"/>
                  </a:moveTo>
                  <a:lnTo>
                    <a:pt x="318515" y="989"/>
                  </a:lnTo>
                  <a:cubicBezTo>
                    <a:pt x="325227" y="989"/>
                    <a:pt x="330718" y="6480"/>
                    <a:pt x="330718" y="13192"/>
                  </a:cubicBezTo>
                  <a:cubicBezTo>
                    <a:pt x="330718" y="19903"/>
                    <a:pt x="325227" y="25395"/>
                    <a:pt x="318515" y="25395"/>
                  </a:cubicBezTo>
                  <a:lnTo>
                    <a:pt x="13444" y="25395"/>
                  </a:lnTo>
                  <a:cubicBezTo>
                    <a:pt x="6732" y="25395"/>
                    <a:pt x="1241" y="19903"/>
                    <a:pt x="1241" y="13192"/>
                  </a:cubicBezTo>
                  <a:cubicBezTo>
                    <a:pt x="1241" y="6480"/>
                    <a:pt x="6732" y="989"/>
                    <a:pt x="13444" y="989"/>
                  </a:cubicBezTo>
                  <a:close/>
                </a:path>
              </a:pathLst>
            </a:custGeom>
            <a:gradFill>
              <a:gsLst>
                <a:gs pos="0">
                  <a:srgbClr val="F0F0F0">
                    <a:lumMod val="25000"/>
                  </a:srgbClr>
                </a:gs>
                <a:gs pos="1000">
                  <a:srgbClr val="000000">
                    <a:lumMod val="75000"/>
                    <a:lumOff val="25000"/>
                  </a:srgbClr>
                </a:gs>
                <a:gs pos="2000">
                  <a:srgbClr val="F0F0F0">
                    <a:lumMod val="25000"/>
                  </a:srgbClr>
                </a:gs>
                <a:gs pos="21000">
                  <a:srgbClr val="FFFFFF">
                    <a:alpha val="0"/>
                    <a:lumMod val="95000"/>
                  </a:srgbClr>
                </a:gs>
                <a:gs pos="82000">
                  <a:srgbClr val="FFFFFF">
                    <a:alpha val="4000"/>
                    <a:lumMod val="95000"/>
                  </a:srgbClr>
                </a:gs>
                <a:gs pos="98000">
                  <a:srgbClr val="F0F0F0">
                    <a:lumMod val="25000"/>
                  </a:srgbClr>
                </a:gs>
                <a:gs pos="99000">
                  <a:srgbClr val="000000">
                    <a:lumMod val="75000"/>
                    <a:lumOff val="25000"/>
                  </a:srgbClr>
                </a:gs>
                <a:gs pos="100000">
                  <a:srgbClr val="000000">
                    <a:lumMod val="75000"/>
                    <a:lumOff val="25000"/>
                  </a:srgbClr>
                </a:gs>
              </a:gsLst>
            </a:gradFill>
            <a:ln cap="flat">
              <a:prstDash val="solid"/>
            </a:ln>
          </p:spPr>
          <p:txBody>
            <a:bodyPr rot="0" vert="horz" wrap="square" lIns="91440" tIns="45720" rIns="91440" bIns="45720" anchor="ctr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7" name="Freeform 7"/>
            <p:cNvSpPr/>
            <p:nvPr/>
          </p:nvSpPr>
          <p:spPr>
            <a:xfrm>
              <a:off x="8324511" y="5926303"/>
              <a:ext cx="209924" cy="15550"/>
            </a:xfrm>
            <a:custGeom>
              <a:avLst/>
              <a:gdLst/>
              <a:ahLst/>
              <a:cxnLst/>
              <a:rect l="l" t="t" r="r" b="b"/>
              <a:pathLst>
                <a:path w="329476" h="24405">
                  <a:moveTo>
                    <a:pt x="13444" y="989"/>
                  </a:moveTo>
                  <a:lnTo>
                    <a:pt x="318515" y="989"/>
                  </a:lnTo>
                  <a:cubicBezTo>
                    <a:pt x="325227" y="989"/>
                    <a:pt x="330718" y="6480"/>
                    <a:pt x="330718" y="13192"/>
                  </a:cubicBezTo>
                  <a:cubicBezTo>
                    <a:pt x="330718" y="19903"/>
                    <a:pt x="325227" y="25395"/>
                    <a:pt x="318515" y="25395"/>
                  </a:cubicBezTo>
                  <a:lnTo>
                    <a:pt x="13444" y="25395"/>
                  </a:lnTo>
                  <a:cubicBezTo>
                    <a:pt x="6732" y="25395"/>
                    <a:pt x="1241" y="19903"/>
                    <a:pt x="1241" y="13192"/>
                  </a:cubicBezTo>
                  <a:cubicBezTo>
                    <a:pt x="1241" y="6480"/>
                    <a:pt x="6732" y="989"/>
                    <a:pt x="13444" y="989"/>
                  </a:cubicBezTo>
                  <a:close/>
                </a:path>
              </a:pathLst>
            </a:custGeom>
            <a:gradFill>
              <a:gsLst>
                <a:gs pos="0">
                  <a:srgbClr val="F0F0F0">
                    <a:lumMod val="25000"/>
                  </a:srgbClr>
                </a:gs>
                <a:gs pos="1000">
                  <a:srgbClr val="000000">
                    <a:lumMod val="75000"/>
                    <a:lumOff val="25000"/>
                  </a:srgbClr>
                </a:gs>
                <a:gs pos="2000">
                  <a:srgbClr val="F0F0F0">
                    <a:lumMod val="25000"/>
                  </a:srgbClr>
                </a:gs>
                <a:gs pos="21000">
                  <a:srgbClr val="FFFFFF">
                    <a:alpha val="0"/>
                    <a:lumMod val="95000"/>
                  </a:srgbClr>
                </a:gs>
                <a:gs pos="82000">
                  <a:srgbClr val="FFFFFF">
                    <a:alpha val="4000"/>
                    <a:lumMod val="95000"/>
                  </a:srgbClr>
                </a:gs>
                <a:gs pos="98000">
                  <a:srgbClr val="F0F0F0">
                    <a:lumMod val="25000"/>
                  </a:srgbClr>
                </a:gs>
                <a:gs pos="99000">
                  <a:srgbClr val="000000">
                    <a:lumMod val="75000"/>
                    <a:lumOff val="25000"/>
                  </a:srgbClr>
                </a:gs>
                <a:gs pos="100000">
                  <a:srgbClr val="000000">
                    <a:lumMod val="75000"/>
                    <a:lumOff val="25000"/>
                  </a:srgbClr>
                </a:gs>
              </a:gsLst>
            </a:gradFill>
            <a:ln cap="flat">
              <a:prstDash val="solid"/>
            </a:ln>
          </p:spPr>
          <p:txBody>
            <a:bodyPr rot="0" vert="horz" wrap="square" lIns="91440" tIns="45720" rIns="91440" bIns="45720" anchor="ctr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8" name="Freeform 8"/>
            <p:cNvSpPr/>
            <p:nvPr/>
          </p:nvSpPr>
          <p:spPr>
            <a:xfrm>
              <a:off x="3262984" y="1576821"/>
              <a:ext cx="5660202" cy="4342340"/>
            </a:xfrm>
            <a:custGeom>
              <a:avLst/>
              <a:gdLst/>
              <a:ahLst/>
              <a:cxnLst/>
              <a:rect l="l" t="t" r="r" b="b"/>
              <a:pathLst>
                <a:path w="8883672" h="6815290">
                  <a:moveTo>
                    <a:pt x="500320" y="3"/>
                  </a:moveTo>
                  <a:lnTo>
                    <a:pt x="8383359" y="3"/>
                  </a:lnTo>
                  <a:cubicBezTo>
                    <a:pt x="8557249" y="3"/>
                    <a:pt x="8620704" y="18307"/>
                    <a:pt x="8684159" y="51865"/>
                  </a:cubicBezTo>
                  <a:cubicBezTo>
                    <a:pt x="8747613" y="86033"/>
                    <a:pt x="8797646" y="136065"/>
                    <a:pt x="8831813" y="199520"/>
                  </a:cubicBezTo>
                  <a:cubicBezTo>
                    <a:pt x="8865981" y="262974"/>
                    <a:pt x="8883675" y="326429"/>
                    <a:pt x="8883675" y="500320"/>
                  </a:cubicBezTo>
                  <a:lnTo>
                    <a:pt x="8883675" y="6314977"/>
                  </a:lnTo>
                  <a:cubicBezTo>
                    <a:pt x="8883675" y="6488867"/>
                    <a:pt x="8865371" y="6552322"/>
                    <a:pt x="8831813" y="6615777"/>
                  </a:cubicBezTo>
                  <a:cubicBezTo>
                    <a:pt x="8797646" y="6679231"/>
                    <a:pt x="8747613" y="6729263"/>
                    <a:pt x="8684159" y="6763431"/>
                  </a:cubicBezTo>
                  <a:cubicBezTo>
                    <a:pt x="8620704" y="6797599"/>
                    <a:pt x="8557249" y="6815293"/>
                    <a:pt x="8383359" y="6815293"/>
                  </a:cubicBezTo>
                  <a:lnTo>
                    <a:pt x="500320" y="6815293"/>
                  </a:lnTo>
                  <a:cubicBezTo>
                    <a:pt x="326429" y="6815293"/>
                    <a:pt x="262974" y="6796989"/>
                    <a:pt x="199520" y="6763431"/>
                  </a:cubicBezTo>
                  <a:cubicBezTo>
                    <a:pt x="136065" y="6729263"/>
                    <a:pt x="86033" y="6679231"/>
                    <a:pt x="51865" y="6615777"/>
                  </a:cubicBezTo>
                  <a:cubicBezTo>
                    <a:pt x="18307" y="6551712"/>
                    <a:pt x="3" y="6488867"/>
                    <a:pt x="3" y="6314977"/>
                  </a:cubicBezTo>
                  <a:lnTo>
                    <a:pt x="3" y="500320"/>
                  </a:lnTo>
                  <a:cubicBezTo>
                    <a:pt x="3" y="326429"/>
                    <a:pt x="18307" y="262974"/>
                    <a:pt x="51865" y="199520"/>
                  </a:cubicBezTo>
                  <a:cubicBezTo>
                    <a:pt x="85423" y="136065"/>
                    <a:pt x="136065" y="86033"/>
                    <a:pt x="199520" y="51865"/>
                  </a:cubicBezTo>
                  <a:cubicBezTo>
                    <a:pt x="262974" y="17697"/>
                    <a:pt x="326429" y="3"/>
                    <a:pt x="500320" y="3"/>
                  </a:cubicBezTo>
                  <a:close/>
                </a:path>
              </a:pathLst>
            </a:custGeom>
            <a:solidFill>
              <a:srgbClr val="0E0E0E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9" name="Freeform 9"/>
            <p:cNvSpPr/>
            <p:nvPr/>
          </p:nvSpPr>
          <p:spPr>
            <a:xfrm>
              <a:off x="3262984" y="1576821"/>
              <a:ext cx="5660202" cy="4342340"/>
            </a:xfrm>
            <a:custGeom>
              <a:avLst/>
              <a:gdLst/>
              <a:ahLst/>
              <a:cxnLst/>
              <a:rect l="l" t="t" r="r" b="b"/>
              <a:pathLst>
                <a:path w="8883672" h="6815290">
                  <a:moveTo>
                    <a:pt x="500320" y="3"/>
                  </a:moveTo>
                  <a:lnTo>
                    <a:pt x="8383359" y="3"/>
                  </a:lnTo>
                  <a:cubicBezTo>
                    <a:pt x="8557249" y="3"/>
                    <a:pt x="8620704" y="18307"/>
                    <a:pt x="8684159" y="51865"/>
                  </a:cubicBezTo>
                  <a:cubicBezTo>
                    <a:pt x="8747613" y="86033"/>
                    <a:pt x="8797646" y="136065"/>
                    <a:pt x="8831813" y="199520"/>
                  </a:cubicBezTo>
                  <a:cubicBezTo>
                    <a:pt x="8865981" y="262974"/>
                    <a:pt x="8883675" y="326429"/>
                    <a:pt x="8883675" y="500320"/>
                  </a:cubicBezTo>
                  <a:lnTo>
                    <a:pt x="8883675" y="6314977"/>
                  </a:lnTo>
                  <a:cubicBezTo>
                    <a:pt x="8883675" y="6488867"/>
                    <a:pt x="8865371" y="6552322"/>
                    <a:pt x="8831813" y="6615777"/>
                  </a:cubicBezTo>
                  <a:cubicBezTo>
                    <a:pt x="8797646" y="6679231"/>
                    <a:pt x="8747613" y="6729263"/>
                    <a:pt x="8684159" y="6763431"/>
                  </a:cubicBezTo>
                  <a:cubicBezTo>
                    <a:pt x="8620704" y="6797599"/>
                    <a:pt x="8557249" y="6815293"/>
                    <a:pt x="8383359" y="6815293"/>
                  </a:cubicBezTo>
                  <a:lnTo>
                    <a:pt x="500320" y="6815293"/>
                  </a:lnTo>
                  <a:cubicBezTo>
                    <a:pt x="326429" y="6815293"/>
                    <a:pt x="262974" y="6796989"/>
                    <a:pt x="199520" y="6763431"/>
                  </a:cubicBezTo>
                  <a:cubicBezTo>
                    <a:pt x="136065" y="6729263"/>
                    <a:pt x="86033" y="6679231"/>
                    <a:pt x="51865" y="6615777"/>
                  </a:cubicBezTo>
                  <a:cubicBezTo>
                    <a:pt x="18307" y="6551712"/>
                    <a:pt x="3" y="6488867"/>
                    <a:pt x="3" y="6314977"/>
                  </a:cubicBezTo>
                  <a:lnTo>
                    <a:pt x="3" y="500320"/>
                  </a:lnTo>
                  <a:cubicBezTo>
                    <a:pt x="3" y="326429"/>
                    <a:pt x="18307" y="262974"/>
                    <a:pt x="51865" y="199520"/>
                  </a:cubicBezTo>
                  <a:cubicBezTo>
                    <a:pt x="85423" y="136065"/>
                    <a:pt x="136065" y="86033"/>
                    <a:pt x="199520" y="51865"/>
                  </a:cubicBezTo>
                  <a:cubicBezTo>
                    <a:pt x="262974" y="17697"/>
                    <a:pt x="326429" y="3"/>
                    <a:pt x="500320" y="3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3257153" y="1570990"/>
              <a:ext cx="5671864" cy="4354002"/>
            </a:xfrm>
            <a:custGeom>
              <a:avLst/>
              <a:gdLst/>
              <a:ahLst/>
              <a:cxnLst/>
              <a:rect l="l" t="t" r="r" b="b"/>
              <a:pathLst>
                <a:path w="8901976" h="6833594">
                  <a:moveTo>
                    <a:pt x="8392511" y="3"/>
                  </a:moveTo>
                  <a:cubicBezTo>
                    <a:pt x="8569452" y="3"/>
                    <a:pt x="8632907" y="18917"/>
                    <a:pt x="8697582" y="53085"/>
                  </a:cubicBezTo>
                  <a:cubicBezTo>
                    <a:pt x="8762867" y="87863"/>
                    <a:pt x="8814119" y="139115"/>
                    <a:pt x="8848898" y="204401"/>
                  </a:cubicBezTo>
                  <a:cubicBezTo>
                    <a:pt x="8883675" y="269076"/>
                    <a:pt x="8901980" y="333141"/>
                    <a:pt x="8901980" y="509472"/>
                  </a:cubicBezTo>
                  <a:lnTo>
                    <a:pt x="8901980" y="509472"/>
                  </a:lnTo>
                  <a:lnTo>
                    <a:pt x="8901980" y="6324129"/>
                  </a:lnTo>
                  <a:cubicBezTo>
                    <a:pt x="8901980" y="6501070"/>
                    <a:pt x="8883065" y="6564525"/>
                    <a:pt x="8848898" y="6629200"/>
                  </a:cubicBezTo>
                  <a:cubicBezTo>
                    <a:pt x="8814119" y="6694485"/>
                    <a:pt x="8762867" y="6745737"/>
                    <a:pt x="8697582" y="6780515"/>
                  </a:cubicBezTo>
                  <a:cubicBezTo>
                    <a:pt x="8632907" y="6815293"/>
                    <a:pt x="8568842" y="6833598"/>
                    <a:pt x="8392511" y="6833598"/>
                  </a:cubicBezTo>
                  <a:lnTo>
                    <a:pt x="8392511" y="6833598"/>
                  </a:lnTo>
                  <a:lnTo>
                    <a:pt x="509472" y="6833598"/>
                  </a:lnTo>
                  <a:cubicBezTo>
                    <a:pt x="332531" y="6833598"/>
                    <a:pt x="269076" y="6814683"/>
                    <a:pt x="204401" y="6780515"/>
                  </a:cubicBezTo>
                  <a:cubicBezTo>
                    <a:pt x="139115" y="6745737"/>
                    <a:pt x="87863" y="6694485"/>
                    <a:pt x="53085" y="6629200"/>
                  </a:cubicBezTo>
                  <a:cubicBezTo>
                    <a:pt x="18917" y="6565135"/>
                    <a:pt x="3" y="6501680"/>
                    <a:pt x="3" y="6329010"/>
                  </a:cubicBezTo>
                  <a:lnTo>
                    <a:pt x="3" y="6329010"/>
                  </a:lnTo>
                  <a:lnTo>
                    <a:pt x="3" y="504591"/>
                  </a:lnTo>
                  <a:cubicBezTo>
                    <a:pt x="613" y="331920"/>
                    <a:pt x="18917" y="268466"/>
                    <a:pt x="53085" y="204401"/>
                  </a:cubicBezTo>
                  <a:cubicBezTo>
                    <a:pt x="87863" y="139115"/>
                    <a:pt x="139115" y="87863"/>
                    <a:pt x="204401" y="53085"/>
                  </a:cubicBezTo>
                  <a:cubicBezTo>
                    <a:pt x="268466" y="18917"/>
                    <a:pt x="331920" y="3"/>
                    <a:pt x="504591" y="3"/>
                  </a:cubicBezTo>
                  <a:lnTo>
                    <a:pt x="504591" y="3"/>
                  </a:lnTo>
                  <a:lnTo>
                    <a:pt x="8392511" y="3"/>
                  </a:lnTo>
                  <a:close/>
                </a:path>
              </a:pathLst>
            </a:custGeom>
            <a:noFill/>
            <a:ln w="18294" cap="flat">
              <a:solidFill>
                <a:srgbClr val="FFFFFF">
                  <a:alpha val="10000"/>
                </a:srgbClr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1" name="Freeform 11"/>
            <p:cNvSpPr/>
            <p:nvPr/>
          </p:nvSpPr>
          <p:spPr>
            <a:xfrm>
              <a:off x="3258708" y="1572933"/>
              <a:ext cx="5668365" cy="4350503"/>
            </a:xfrm>
            <a:custGeom>
              <a:avLst/>
              <a:gdLst/>
              <a:ahLst/>
              <a:cxnLst/>
              <a:rect l="l" t="t" r="r" b="b"/>
              <a:pathLst>
                <a:path w="8896485" h="6828102">
                  <a:moveTo>
                    <a:pt x="8394952" y="3"/>
                  </a:moveTo>
                  <a:cubicBezTo>
                    <a:pt x="8567012" y="613"/>
                    <a:pt x="8629857" y="18917"/>
                    <a:pt x="8693311" y="53085"/>
                  </a:cubicBezTo>
                  <a:cubicBezTo>
                    <a:pt x="8757986" y="87863"/>
                    <a:pt x="8808628" y="138505"/>
                    <a:pt x="8843406" y="203180"/>
                  </a:cubicBezTo>
                  <a:cubicBezTo>
                    <a:pt x="8877574" y="267245"/>
                    <a:pt x="8896488" y="331310"/>
                    <a:pt x="8896488" y="507031"/>
                  </a:cubicBezTo>
                  <a:lnTo>
                    <a:pt x="8896488" y="507031"/>
                  </a:lnTo>
                  <a:lnTo>
                    <a:pt x="8896488" y="6321078"/>
                  </a:lnTo>
                  <a:cubicBezTo>
                    <a:pt x="8896488" y="6496799"/>
                    <a:pt x="8878184" y="6560253"/>
                    <a:pt x="8843406" y="6624929"/>
                  </a:cubicBezTo>
                  <a:cubicBezTo>
                    <a:pt x="8808628" y="6689604"/>
                    <a:pt x="8757986" y="6740245"/>
                    <a:pt x="8693311" y="6775024"/>
                  </a:cubicBezTo>
                  <a:cubicBezTo>
                    <a:pt x="8629246" y="6809192"/>
                    <a:pt x="8565181" y="6828106"/>
                    <a:pt x="8389460" y="6828106"/>
                  </a:cubicBezTo>
                  <a:lnTo>
                    <a:pt x="8389460" y="6828106"/>
                  </a:lnTo>
                  <a:lnTo>
                    <a:pt x="507031" y="6828106"/>
                  </a:lnTo>
                  <a:cubicBezTo>
                    <a:pt x="331310" y="6828106"/>
                    <a:pt x="267855" y="6809802"/>
                    <a:pt x="203180" y="6775024"/>
                  </a:cubicBezTo>
                  <a:cubicBezTo>
                    <a:pt x="138505" y="6740245"/>
                    <a:pt x="87864" y="6689604"/>
                    <a:pt x="53085" y="6624929"/>
                  </a:cubicBezTo>
                  <a:cubicBezTo>
                    <a:pt x="18917" y="6561474"/>
                    <a:pt x="613" y="6498019"/>
                    <a:pt x="3" y="6326569"/>
                  </a:cubicBezTo>
                  <a:lnTo>
                    <a:pt x="3" y="6326569"/>
                  </a:lnTo>
                  <a:lnTo>
                    <a:pt x="613" y="506421"/>
                  </a:lnTo>
                  <a:cubicBezTo>
                    <a:pt x="613" y="330700"/>
                    <a:pt x="18917" y="267245"/>
                    <a:pt x="53696" y="202570"/>
                  </a:cubicBezTo>
                  <a:cubicBezTo>
                    <a:pt x="88474" y="137895"/>
                    <a:pt x="139115" y="87253"/>
                    <a:pt x="203791" y="52475"/>
                  </a:cubicBezTo>
                  <a:cubicBezTo>
                    <a:pt x="267245" y="18917"/>
                    <a:pt x="330090" y="613"/>
                    <a:pt x="502150" y="3"/>
                  </a:cubicBezTo>
                  <a:lnTo>
                    <a:pt x="502150" y="3"/>
                  </a:lnTo>
                  <a:lnTo>
                    <a:pt x="8394952" y="3"/>
                  </a:lnTo>
                  <a:close/>
                </a:path>
              </a:pathLst>
            </a:custGeom>
            <a:noFill/>
            <a:ln w="12196" cap="flat">
              <a:solidFill>
                <a:srgbClr val="28292A">
                  <a:alpha val="40000"/>
                </a:srgbClr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2" name="Freeform 12"/>
            <p:cNvSpPr/>
            <p:nvPr/>
          </p:nvSpPr>
          <p:spPr>
            <a:xfrm>
              <a:off x="3268427" y="1582652"/>
              <a:ext cx="5649317" cy="4331065"/>
            </a:xfrm>
            <a:custGeom>
              <a:avLst/>
              <a:gdLst/>
              <a:ahLst/>
              <a:cxnLst/>
              <a:rect l="l" t="t" r="r" b="b"/>
              <a:pathLst>
                <a:path w="8866588" h="6797595">
                  <a:moveTo>
                    <a:pt x="8379698" y="3"/>
                  </a:moveTo>
                  <a:cubicBezTo>
                    <a:pt x="8547487" y="613"/>
                    <a:pt x="8609112" y="17697"/>
                    <a:pt x="8671346" y="51255"/>
                  </a:cubicBezTo>
                  <a:cubicBezTo>
                    <a:pt x="8733581" y="84203"/>
                    <a:pt x="8781781" y="133014"/>
                    <a:pt x="8815339" y="195249"/>
                  </a:cubicBezTo>
                  <a:cubicBezTo>
                    <a:pt x="8848897" y="258093"/>
                    <a:pt x="8866591" y="320328"/>
                    <a:pt x="8866591" y="491778"/>
                  </a:cubicBezTo>
                  <a:lnTo>
                    <a:pt x="8866591" y="491778"/>
                  </a:lnTo>
                  <a:lnTo>
                    <a:pt x="8866591" y="6305824"/>
                  </a:lnTo>
                  <a:cubicBezTo>
                    <a:pt x="8866591" y="6477274"/>
                    <a:pt x="8848897" y="6539509"/>
                    <a:pt x="8815339" y="6602353"/>
                  </a:cubicBezTo>
                  <a:cubicBezTo>
                    <a:pt x="8782392" y="6664588"/>
                    <a:pt x="8733581" y="6712789"/>
                    <a:pt x="8671346" y="6746347"/>
                  </a:cubicBezTo>
                  <a:cubicBezTo>
                    <a:pt x="8608502" y="6779905"/>
                    <a:pt x="8546267" y="6797599"/>
                    <a:pt x="8374817" y="6797599"/>
                  </a:cubicBezTo>
                  <a:lnTo>
                    <a:pt x="8374817" y="6797599"/>
                  </a:lnTo>
                  <a:lnTo>
                    <a:pt x="491778" y="6797599"/>
                  </a:lnTo>
                  <a:cubicBezTo>
                    <a:pt x="320328" y="6797599"/>
                    <a:pt x="258093" y="6779905"/>
                    <a:pt x="195249" y="6746347"/>
                  </a:cubicBezTo>
                  <a:cubicBezTo>
                    <a:pt x="133014" y="6713400"/>
                    <a:pt x="84813" y="6664588"/>
                    <a:pt x="51255" y="6602353"/>
                  </a:cubicBezTo>
                  <a:cubicBezTo>
                    <a:pt x="18307" y="6540119"/>
                    <a:pt x="613" y="6478495"/>
                    <a:pt x="3" y="6311316"/>
                  </a:cubicBezTo>
                  <a:lnTo>
                    <a:pt x="3" y="6311316"/>
                  </a:lnTo>
                  <a:lnTo>
                    <a:pt x="3" y="486897"/>
                  </a:lnTo>
                  <a:cubicBezTo>
                    <a:pt x="613" y="319107"/>
                    <a:pt x="17697" y="257483"/>
                    <a:pt x="51255" y="195249"/>
                  </a:cubicBezTo>
                  <a:cubicBezTo>
                    <a:pt x="84203" y="133014"/>
                    <a:pt x="133014" y="84813"/>
                    <a:pt x="195249" y="51255"/>
                  </a:cubicBezTo>
                  <a:cubicBezTo>
                    <a:pt x="257483" y="18307"/>
                    <a:pt x="319107" y="613"/>
                    <a:pt x="486286" y="3"/>
                  </a:cubicBezTo>
                  <a:lnTo>
                    <a:pt x="486286" y="3"/>
                  </a:lnTo>
                  <a:lnTo>
                    <a:pt x="8379698" y="3"/>
                  </a:lnTo>
                  <a:close/>
                </a:path>
              </a:pathLst>
            </a:custGeom>
            <a:noFill/>
            <a:ln w="18294" cap="flat">
              <a:solidFill>
                <a:srgbClr val="9FA0A1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3262984" y="1576821"/>
              <a:ext cx="5660202" cy="4342340"/>
            </a:xfrm>
            <a:custGeom>
              <a:avLst/>
              <a:gdLst/>
              <a:ahLst/>
              <a:cxnLst/>
              <a:rect l="l" t="t" r="r" b="b"/>
              <a:pathLst>
                <a:path w="8883672" h="6815290">
                  <a:moveTo>
                    <a:pt x="500320" y="3"/>
                  </a:moveTo>
                  <a:lnTo>
                    <a:pt x="8383359" y="3"/>
                  </a:lnTo>
                  <a:cubicBezTo>
                    <a:pt x="8557249" y="3"/>
                    <a:pt x="8620704" y="18307"/>
                    <a:pt x="8684159" y="51865"/>
                  </a:cubicBezTo>
                  <a:cubicBezTo>
                    <a:pt x="8747613" y="86033"/>
                    <a:pt x="8797646" y="136065"/>
                    <a:pt x="8831813" y="199520"/>
                  </a:cubicBezTo>
                  <a:cubicBezTo>
                    <a:pt x="8865981" y="262974"/>
                    <a:pt x="8883675" y="326429"/>
                    <a:pt x="8883675" y="500320"/>
                  </a:cubicBezTo>
                  <a:lnTo>
                    <a:pt x="8883675" y="6314977"/>
                  </a:lnTo>
                  <a:cubicBezTo>
                    <a:pt x="8883675" y="6488867"/>
                    <a:pt x="8865371" y="6552322"/>
                    <a:pt x="8831813" y="6615777"/>
                  </a:cubicBezTo>
                  <a:cubicBezTo>
                    <a:pt x="8797646" y="6679231"/>
                    <a:pt x="8747613" y="6729263"/>
                    <a:pt x="8684159" y="6763431"/>
                  </a:cubicBezTo>
                  <a:cubicBezTo>
                    <a:pt x="8620704" y="6797599"/>
                    <a:pt x="8557249" y="6815293"/>
                    <a:pt x="8383359" y="6815293"/>
                  </a:cubicBezTo>
                  <a:lnTo>
                    <a:pt x="500320" y="6815293"/>
                  </a:lnTo>
                  <a:cubicBezTo>
                    <a:pt x="326429" y="6815293"/>
                    <a:pt x="262974" y="6796989"/>
                    <a:pt x="199520" y="6763431"/>
                  </a:cubicBezTo>
                  <a:cubicBezTo>
                    <a:pt x="136065" y="6729263"/>
                    <a:pt x="86033" y="6679231"/>
                    <a:pt x="51865" y="6615777"/>
                  </a:cubicBezTo>
                  <a:cubicBezTo>
                    <a:pt x="18307" y="6551712"/>
                    <a:pt x="3" y="6488867"/>
                    <a:pt x="3" y="6314977"/>
                  </a:cubicBezTo>
                  <a:lnTo>
                    <a:pt x="3" y="500320"/>
                  </a:lnTo>
                  <a:cubicBezTo>
                    <a:pt x="3" y="326429"/>
                    <a:pt x="18307" y="262974"/>
                    <a:pt x="51865" y="199520"/>
                  </a:cubicBezTo>
                  <a:cubicBezTo>
                    <a:pt x="85423" y="136065"/>
                    <a:pt x="136065" y="86033"/>
                    <a:pt x="199520" y="51865"/>
                  </a:cubicBezTo>
                  <a:cubicBezTo>
                    <a:pt x="262974" y="17697"/>
                    <a:pt x="326429" y="3"/>
                    <a:pt x="500320" y="3"/>
                  </a:cubicBezTo>
                  <a:close/>
                </a:path>
              </a:pathLst>
            </a:custGeom>
            <a:noFill/>
            <a:ln w="12196" cap="flat">
              <a:solidFill>
                <a:srgbClr val="F8F8F8">
                  <a:alpha val="50000"/>
                </a:srgbClr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794898" y="3438935"/>
              <a:ext cx="77750" cy="614225"/>
              <a:chOff x="10336488" y="2940886"/>
              <a:chExt cx="122028" cy="96402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0360894" y="3380188"/>
                <a:ext cx="73217" cy="73217"/>
              </a:xfrm>
              <a:custGeom>
                <a:avLst/>
                <a:gdLst/>
                <a:ahLst/>
                <a:cxnLst/>
                <a:rect l="l" t="t" r="r" b="b"/>
                <a:pathLst>
                  <a:path w="73217" h="73217">
                    <a:moveTo>
                      <a:pt x="74643" y="37091"/>
                    </a:moveTo>
                    <a:cubicBezTo>
                      <a:pt x="74643" y="57309"/>
                      <a:pt x="58253" y="73699"/>
                      <a:pt x="38035" y="73699"/>
                    </a:cubicBezTo>
                    <a:cubicBezTo>
                      <a:pt x="17816" y="73699"/>
                      <a:pt x="1426" y="57309"/>
                      <a:pt x="1426" y="37091"/>
                    </a:cubicBezTo>
                    <a:cubicBezTo>
                      <a:pt x="1426" y="16872"/>
                      <a:pt x="17816" y="482"/>
                      <a:pt x="38035" y="482"/>
                    </a:cubicBezTo>
                    <a:cubicBezTo>
                      <a:pt x="58253" y="482"/>
                      <a:pt x="74643" y="16872"/>
                      <a:pt x="74643" y="37091"/>
                    </a:cubicBezTo>
                    <a:close/>
                  </a:path>
                </a:pathLst>
              </a:custGeom>
              <a:solidFill>
                <a:srgbClr val="464646">
                  <a:alpha val="50000"/>
                </a:srgbClr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grpSp>
            <p:nvGrpSpPr>
              <p:cNvPr id="16" name="Group 16"/>
              <p:cNvGrpSpPr/>
              <p:nvPr/>
            </p:nvGrpSpPr>
            <p:grpSpPr>
              <a:xfrm>
                <a:off x="10376148" y="3395442"/>
                <a:ext cx="42709" cy="42709"/>
                <a:chOff x="10376148" y="3395442"/>
                <a:chExt cx="42709" cy="42709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10379198" y="3398492"/>
                  <a:ext cx="36608" cy="36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08" h="36608">
                      <a:moveTo>
                        <a:pt x="19730" y="482"/>
                      </a:moveTo>
                      <a:cubicBezTo>
                        <a:pt x="9358" y="482"/>
                        <a:pt x="1426" y="8414"/>
                        <a:pt x="1426" y="18786"/>
                      </a:cubicBezTo>
                      <a:lnTo>
                        <a:pt x="1426" y="18786"/>
                      </a:lnTo>
                      <a:cubicBezTo>
                        <a:pt x="1426" y="29159"/>
                        <a:pt x="9358" y="37091"/>
                        <a:pt x="19730" y="37091"/>
                      </a:cubicBezTo>
                      <a:lnTo>
                        <a:pt x="19730" y="37091"/>
                      </a:lnTo>
                      <a:cubicBezTo>
                        <a:pt x="30103" y="37091"/>
                        <a:pt x="38035" y="29159"/>
                        <a:pt x="38035" y="18786"/>
                      </a:cubicBezTo>
                      <a:lnTo>
                        <a:pt x="38035" y="18786"/>
                      </a:lnTo>
                      <a:cubicBezTo>
                        <a:pt x="38035" y="8414"/>
                        <a:pt x="30103" y="482"/>
                        <a:pt x="19730" y="482"/>
                      </a:cubicBezTo>
                      <a:lnTo>
                        <a:pt x="19730" y="482"/>
                      </a:lnTo>
                      <a:close/>
                    </a:path>
                  </a:pathLst>
                </a:custGeom>
                <a:solidFill>
                  <a:srgbClr val="0722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8" name="Freeform 18"/>
                <p:cNvSpPr/>
                <p:nvPr/>
              </p:nvSpPr>
              <p:spPr>
                <a:xfrm>
                  <a:off x="10379198" y="3398492"/>
                  <a:ext cx="36608" cy="36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08" h="36608">
                      <a:moveTo>
                        <a:pt x="19730" y="482"/>
                      </a:moveTo>
                      <a:cubicBezTo>
                        <a:pt x="9358" y="482"/>
                        <a:pt x="1426" y="8414"/>
                        <a:pt x="1426" y="18786"/>
                      </a:cubicBezTo>
                      <a:lnTo>
                        <a:pt x="1426" y="18786"/>
                      </a:lnTo>
                      <a:cubicBezTo>
                        <a:pt x="1426" y="29159"/>
                        <a:pt x="9358" y="37091"/>
                        <a:pt x="19730" y="37091"/>
                      </a:cubicBezTo>
                      <a:lnTo>
                        <a:pt x="19730" y="37091"/>
                      </a:lnTo>
                      <a:cubicBezTo>
                        <a:pt x="30103" y="37091"/>
                        <a:pt x="38035" y="29159"/>
                        <a:pt x="38035" y="18786"/>
                      </a:cubicBezTo>
                      <a:lnTo>
                        <a:pt x="38035" y="18786"/>
                      </a:lnTo>
                      <a:cubicBezTo>
                        <a:pt x="38035" y="8414"/>
                        <a:pt x="30103" y="482"/>
                        <a:pt x="19730" y="482"/>
                      </a:cubicBezTo>
                      <a:lnTo>
                        <a:pt x="19730" y="4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9" name="Freeform 19"/>
                <p:cNvSpPr/>
                <p:nvPr/>
              </p:nvSpPr>
              <p:spPr>
                <a:xfrm>
                  <a:off x="10376148" y="3395442"/>
                  <a:ext cx="42709" cy="42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09" h="42709">
                      <a:moveTo>
                        <a:pt x="22781" y="482"/>
                      </a:moveTo>
                      <a:cubicBezTo>
                        <a:pt x="28882" y="482"/>
                        <a:pt x="33764" y="2923"/>
                        <a:pt x="38035" y="6583"/>
                      </a:cubicBezTo>
                      <a:cubicBezTo>
                        <a:pt x="41695" y="10244"/>
                        <a:pt x="44136" y="15736"/>
                        <a:pt x="44136" y="21837"/>
                      </a:cubicBezTo>
                      <a:cubicBezTo>
                        <a:pt x="43526" y="27938"/>
                        <a:pt x="41085" y="33430"/>
                        <a:pt x="37424" y="37091"/>
                      </a:cubicBezTo>
                      <a:cubicBezTo>
                        <a:pt x="33764" y="40751"/>
                        <a:pt x="28272" y="43192"/>
                        <a:pt x="22781" y="43192"/>
                      </a:cubicBezTo>
                      <a:cubicBezTo>
                        <a:pt x="16680" y="42582"/>
                        <a:pt x="11188" y="40141"/>
                        <a:pt x="7527" y="36480"/>
                      </a:cubicBezTo>
                      <a:cubicBezTo>
                        <a:pt x="3867" y="32820"/>
                        <a:pt x="1426" y="27328"/>
                        <a:pt x="1426" y="21837"/>
                      </a:cubicBezTo>
                      <a:cubicBezTo>
                        <a:pt x="2036" y="15736"/>
                        <a:pt x="4477" y="10244"/>
                        <a:pt x="8138" y="6583"/>
                      </a:cubicBezTo>
                      <a:cubicBezTo>
                        <a:pt x="11798" y="2923"/>
                        <a:pt x="17290" y="482"/>
                        <a:pt x="22781" y="482"/>
                      </a:cubicBezTo>
                      <a:close/>
                    </a:path>
                  </a:pathLst>
                </a:custGeom>
                <a:noFill/>
                <a:ln w="6098" cap="flat">
                  <a:solidFill>
                    <a:srgbClr val="33333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sp>
            <p:nvSpPr>
              <p:cNvPr id="20" name="Freeform 20"/>
              <p:cNvSpPr/>
              <p:nvPr/>
            </p:nvSpPr>
            <p:spPr>
              <a:xfrm>
                <a:off x="10391401" y="3404594"/>
                <a:ext cx="12202" cy="12202"/>
              </a:xfrm>
              <a:custGeom>
                <a:avLst/>
                <a:gdLst/>
                <a:ahLst/>
                <a:cxnLst/>
                <a:rect l="l" t="t" r="r" b="b"/>
                <a:pathLst>
                  <a:path w="12202" h="12202">
                    <a:moveTo>
                      <a:pt x="13629" y="6583"/>
                    </a:moveTo>
                    <a:cubicBezTo>
                      <a:pt x="13629" y="9953"/>
                      <a:pt x="10897" y="12685"/>
                      <a:pt x="7527" y="12685"/>
                    </a:cubicBezTo>
                    <a:cubicBezTo>
                      <a:pt x="4158" y="12685"/>
                      <a:pt x="1426" y="9953"/>
                      <a:pt x="1426" y="6583"/>
                    </a:cubicBezTo>
                    <a:cubicBezTo>
                      <a:pt x="1426" y="3214"/>
                      <a:pt x="4158" y="482"/>
                      <a:pt x="7527" y="482"/>
                    </a:cubicBezTo>
                    <a:cubicBezTo>
                      <a:pt x="10897" y="482"/>
                      <a:pt x="13629" y="3214"/>
                      <a:pt x="13629" y="6583"/>
                    </a:cubicBezTo>
                    <a:close/>
                  </a:path>
                </a:pathLst>
              </a:custGeom>
              <a:solidFill>
                <a:srgbClr val="03DBF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10403604" y="3410695"/>
                <a:ext cx="6101" cy="12202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12202">
                    <a:moveTo>
                      <a:pt x="7527" y="6583"/>
                    </a:moveTo>
                    <a:cubicBezTo>
                      <a:pt x="7527" y="1702"/>
                      <a:pt x="2036" y="482"/>
                      <a:pt x="2036" y="482"/>
                    </a:cubicBezTo>
                    <a:cubicBezTo>
                      <a:pt x="2036" y="482"/>
                      <a:pt x="4477" y="3533"/>
                      <a:pt x="4477" y="6583"/>
                    </a:cubicBezTo>
                    <a:cubicBezTo>
                      <a:pt x="4477" y="9634"/>
                      <a:pt x="1426" y="12685"/>
                      <a:pt x="1426" y="12685"/>
                    </a:cubicBezTo>
                    <a:cubicBezTo>
                      <a:pt x="1426" y="12685"/>
                      <a:pt x="7527" y="11465"/>
                      <a:pt x="7527" y="6583"/>
                    </a:cubicBezTo>
                    <a:close/>
                  </a:path>
                </a:pathLst>
              </a:custGeom>
              <a:solidFill>
                <a:srgbClr val="14AAC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10385300" y="3416797"/>
                <a:ext cx="6101" cy="6101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01">
                    <a:moveTo>
                      <a:pt x="7527" y="3533"/>
                    </a:moveTo>
                    <a:cubicBezTo>
                      <a:pt x="7527" y="5218"/>
                      <a:pt x="6162" y="6583"/>
                      <a:pt x="4477" y="6583"/>
                    </a:cubicBezTo>
                    <a:cubicBezTo>
                      <a:pt x="2792" y="6583"/>
                      <a:pt x="1426" y="5218"/>
                      <a:pt x="1426" y="3533"/>
                    </a:cubicBezTo>
                    <a:cubicBezTo>
                      <a:pt x="1426" y="1848"/>
                      <a:pt x="2792" y="482"/>
                      <a:pt x="4477" y="482"/>
                    </a:cubicBezTo>
                    <a:cubicBezTo>
                      <a:pt x="6162" y="482"/>
                      <a:pt x="7527" y="1848"/>
                      <a:pt x="7527" y="3533"/>
                    </a:cubicBezTo>
                    <a:close/>
                  </a:path>
                </a:pathLst>
              </a:custGeom>
              <a:solidFill>
                <a:srgbClr val="30A4B9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10348691" y="2940886"/>
                <a:ext cx="97622" cy="97622"/>
              </a:xfrm>
              <a:custGeom>
                <a:avLst/>
                <a:gdLst/>
                <a:ahLst/>
                <a:cxnLst/>
                <a:rect l="l" t="t" r="r" b="b"/>
                <a:pathLst>
                  <a:path w="97622" h="97622">
                    <a:moveTo>
                      <a:pt x="99049" y="49293"/>
                    </a:moveTo>
                    <a:cubicBezTo>
                      <a:pt x="99049" y="76251"/>
                      <a:pt x="77195" y="98105"/>
                      <a:pt x="50237" y="98105"/>
                    </a:cubicBezTo>
                    <a:cubicBezTo>
                      <a:pt x="23280" y="98105"/>
                      <a:pt x="1426" y="76251"/>
                      <a:pt x="1426" y="49293"/>
                    </a:cubicBezTo>
                    <a:cubicBezTo>
                      <a:pt x="1426" y="22336"/>
                      <a:pt x="23280" y="482"/>
                      <a:pt x="50237" y="482"/>
                    </a:cubicBezTo>
                    <a:cubicBezTo>
                      <a:pt x="77195" y="482"/>
                      <a:pt x="99049" y="22336"/>
                      <a:pt x="99049" y="49293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10336488" y="3136131"/>
                <a:ext cx="122028" cy="122028"/>
              </a:xfrm>
              <a:custGeom>
                <a:avLst/>
                <a:gdLst/>
                <a:ahLst/>
                <a:cxnLst/>
                <a:rect l="l" t="t" r="r" b="b"/>
                <a:pathLst>
                  <a:path w="122028" h="122028">
                    <a:moveTo>
                      <a:pt x="123454" y="61496"/>
                    </a:moveTo>
                    <a:cubicBezTo>
                      <a:pt x="123454" y="95193"/>
                      <a:pt x="96137" y="122510"/>
                      <a:pt x="62440" y="122510"/>
                    </a:cubicBezTo>
                    <a:cubicBezTo>
                      <a:pt x="28743" y="122510"/>
                      <a:pt x="1426" y="95193"/>
                      <a:pt x="1426" y="61496"/>
                    </a:cubicBezTo>
                    <a:cubicBezTo>
                      <a:pt x="1426" y="27799"/>
                      <a:pt x="28743" y="482"/>
                      <a:pt x="62440" y="482"/>
                    </a:cubicBezTo>
                    <a:cubicBezTo>
                      <a:pt x="96137" y="482"/>
                      <a:pt x="123454" y="27799"/>
                      <a:pt x="123454" y="6149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10336488" y="3782882"/>
                <a:ext cx="122028" cy="122028"/>
              </a:xfrm>
              <a:custGeom>
                <a:avLst/>
                <a:gdLst/>
                <a:ahLst/>
                <a:cxnLst/>
                <a:rect l="l" t="t" r="r" b="b"/>
                <a:pathLst>
                  <a:path w="122028" h="122028">
                    <a:moveTo>
                      <a:pt x="123454" y="61496"/>
                    </a:moveTo>
                    <a:cubicBezTo>
                      <a:pt x="123454" y="95193"/>
                      <a:pt x="96137" y="122510"/>
                      <a:pt x="62440" y="122510"/>
                    </a:cubicBezTo>
                    <a:cubicBezTo>
                      <a:pt x="28743" y="122510"/>
                      <a:pt x="1426" y="95193"/>
                      <a:pt x="1426" y="61496"/>
                    </a:cubicBezTo>
                    <a:cubicBezTo>
                      <a:pt x="1426" y="27799"/>
                      <a:pt x="28743" y="482"/>
                      <a:pt x="62440" y="482"/>
                    </a:cubicBezTo>
                    <a:cubicBezTo>
                      <a:pt x="96137" y="482"/>
                      <a:pt x="123454" y="27799"/>
                      <a:pt x="123454" y="6149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10379198" y="3599839"/>
                <a:ext cx="36608" cy="36608"/>
              </a:xfrm>
              <a:custGeom>
                <a:avLst/>
                <a:gdLst/>
                <a:ahLst/>
                <a:cxnLst/>
                <a:rect l="l" t="t" r="r" b="b"/>
                <a:pathLst>
                  <a:path w="36608" h="36608">
                    <a:moveTo>
                      <a:pt x="38035" y="18786"/>
                    </a:moveTo>
                    <a:cubicBezTo>
                      <a:pt x="38035" y="28895"/>
                      <a:pt x="29839" y="37091"/>
                      <a:pt x="19730" y="37091"/>
                    </a:cubicBezTo>
                    <a:cubicBezTo>
                      <a:pt x="9621" y="37091"/>
                      <a:pt x="1426" y="28895"/>
                      <a:pt x="1426" y="18786"/>
                    </a:cubicBezTo>
                    <a:cubicBezTo>
                      <a:pt x="1426" y="8677"/>
                      <a:pt x="9621" y="482"/>
                      <a:pt x="19730" y="482"/>
                    </a:cubicBezTo>
                    <a:cubicBezTo>
                      <a:pt x="29839" y="482"/>
                      <a:pt x="38035" y="8677"/>
                      <a:pt x="38035" y="1878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3433645" y="1747871"/>
              <a:ext cx="5318879" cy="3988965"/>
            </a:xfrm>
            <a:custGeom>
              <a:avLst/>
              <a:gdLst/>
              <a:ahLst/>
              <a:cxnLst/>
              <a:rect l="l" t="t" r="r" b="b"/>
              <a:pathLst>
                <a:path w="8347967" h="6260670">
                  <a:moveTo>
                    <a:pt x="8188114" y="3"/>
                  </a:moveTo>
                  <a:cubicBezTo>
                    <a:pt x="8241806" y="3"/>
                    <a:pt x="8261941" y="6104"/>
                    <a:pt x="8282076" y="17087"/>
                  </a:cubicBezTo>
                  <a:cubicBezTo>
                    <a:pt x="8302820" y="28070"/>
                    <a:pt x="8319294" y="44543"/>
                    <a:pt x="8330887" y="65898"/>
                  </a:cubicBezTo>
                  <a:cubicBezTo>
                    <a:pt x="8341869" y="86643"/>
                    <a:pt x="8347971" y="106778"/>
                    <a:pt x="8347971" y="162911"/>
                  </a:cubicBezTo>
                  <a:lnTo>
                    <a:pt x="8347971" y="162911"/>
                  </a:lnTo>
                  <a:lnTo>
                    <a:pt x="8347971" y="6097766"/>
                  </a:lnTo>
                  <a:cubicBezTo>
                    <a:pt x="8347971" y="6153899"/>
                    <a:pt x="8341869" y="6174034"/>
                    <a:pt x="8330887" y="6194779"/>
                  </a:cubicBezTo>
                  <a:cubicBezTo>
                    <a:pt x="8319904" y="6215523"/>
                    <a:pt x="8303431" y="6231997"/>
                    <a:pt x="8282076" y="6243590"/>
                  </a:cubicBezTo>
                  <a:cubicBezTo>
                    <a:pt x="8261331" y="6254572"/>
                    <a:pt x="8241196" y="6260674"/>
                    <a:pt x="8185063" y="6260674"/>
                  </a:cubicBezTo>
                  <a:lnTo>
                    <a:pt x="8185063" y="6260674"/>
                  </a:lnTo>
                  <a:lnTo>
                    <a:pt x="162911" y="6260674"/>
                  </a:lnTo>
                  <a:cubicBezTo>
                    <a:pt x="106778" y="6260674"/>
                    <a:pt x="86643" y="6254572"/>
                    <a:pt x="65898" y="6243590"/>
                  </a:cubicBezTo>
                  <a:cubicBezTo>
                    <a:pt x="45154" y="6232607"/>
                    <a:pt x="28680" y="6216134"/>
                    <a:pt x="17087" y="6194779"/>
                  </a:cubicBezTo>
                  <a:cubicBezTo>
                    <a:pt x="6104" y="6174644"/>
                    <a:pt x="3" y="6154509"/>
                    <a:pt x="3" y="6100817"/>
                  </a:cubicBezTo>
                  <a:lnTo>
                    <a:pt x="3" y="6100817"/>
                  </a:lnTo>
                  <a:lnTo>
                    <a:pt x="3" y="159860"/>
                  </a:lnTo>
                  <a:cubicBezTo>
                    <a:pt x="3" y="106168"/>
                    <a:pt x="6104" y="86033"/>
                    <a:pt x="17087" y="65898"/>
                  </a:cubicBezTo>
                  <a:cubicBezTo>
                    <a:pt x="28070" y="45154"/>
                    <a:pt x="44543" y="28680"/>
                    <a:pt x="65898" y="17087"/>
                  </a:cubicBezTo>
                  <a:cubicBezTo>
                    <a:pt x="86643" y="6104"/>
                    <a:pt x="106168" y="3"/>
                    <a:pt x="159860" y="3"/>
                  </a:cubicBezTo>
                  <a:lnTo>
                    <a:pt x="159860" y="3"/>
                  </a:lnTo>
                  <a:lnTo>
                    <a:pt x="8188114" y="3"/>
                  </a:lnTo>
                  <a:close/>
                </a:path>
              </a:pathLst>
            </a:custGeom>
            <a:blipFill>
              <a:blip r:embed="rId2"/>
              <a:srcRect t="2275" b="2275"/>
              <a:stretch>
                <a:fillRect/>
              </a:stretch>
            </a:blipFill>
            <a:ln w="12196" cap="flat">
              <a:solidFill>
                <a:srgbClr val="26262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5880398" y="1952281"/>
            <a:ext cx="4109812" cy="3082210"/>
          </a:xfrm>
          <a:custGeom>
            <a:avLst/>
            <a:gdLst/>
            <a:ahLst/>
            <a:cxnLst/>
            <a:rect l="l" t="t" r="r" b="b"/>
            <a:pathLst>
              <a:path w="8347967" h="6260670">
                <a:moveTo>
                  <a:pt x="8188114" y="3"/>
                </a:moveTo>
                <a:cubicBezTo>
                  <a:pt x="8241806" y="3"/>
                  <a:pt x="8261941" y="6104"/>
                  <a:pt x="8282076" y="17087"/>
                </a:cubicBezTo>
                <a:cubicBezTo>
                  <a:pt x="8302820" y="28070"/>
                  <a:pt x="8319294" y="44543"/>
                  <a:pt x="8330887" y="65898"/>
                </a:cubicBezTo>
                <a:cubicBezTo>
                  <a:pt x="8341869" y="86643"/>
                  <a:pt x="8347971" y="106778"/>
                  <a:pt x="8347971" y="162911"/>
                </a:cubicBezTo>
                <a:lnTo>
                  <a:pt x="8347971" y="162911"/>
                </a:lnTo>
                <a:lnTo>
                  <a:pt x="8347971" y="6097766"/>
                </a:lnTo>
                <a:cubicBezTo>
                  <a:pt x="8347971" y="6153899"/>
                  <a:pt x="8341869" y="6174034"/>
                  <a:pt x="8330887" y="6194779"/>
                </a:cubicBezTo>
                <a:cubicBezTo>
                  <a:pt x="8319904" y="6215523"/>
                  <a:pt x="8303431" y="6231997"/>
                  <a:pt x="8282076" y="6243590"/>
                </a:cubicBezTo>
                <a:cubicBezTo>
                  <a:pt x="8261331" y="6254572"/>
                  <a:pt x="8241196" y="6260674"/>
                  <a:pt x="8185063" y="6260674"/>
                </a:cubicBezTo>
                <a:lnTo>
                  <a:pt x="8185063" y="6260674"/>
                </a:lnTo>
                <a:lnTo>
                  <a:pt x="162911" y="6260674"/>
                </a:lnTo>
                <a:cubicBezTo>
                  <a:pt x="106778" y="6260674"/>
                  <a:pt x="86643" y="6254572"/>
                  <a:pt x="65898" y="6243590"/>
                </a:cubicBezTo>
                <a:cubicBezTo>
                  <a:pt x="45154" y="6232607"/>
                  <a:pt x="28680" y="6216134"/>
                  <a:pt x="17087" y="6194779"/>
                </a:cubicBezTo>
                <a:cubicBezTo>
                  <a:pt x="6104" y="6174644"/>
                  <a:pt x="3" y="6154509"/>
                  <a:pt x="3" y="6100817"/>
                </a:cubicBezTo>
                <a:lnTo>
                  <a:pt x="3" y="6100817"/>
                </a:lnTo>
                <a:lnTo>
                  <a:pt x="3" y="159860"/>
                </a:lnTo>
                <a:cubicBezTo>
                  <a:pt x="3" y="106168"/>
                  <a:pt x="6104" y="86033"/>
                  <a:pt x="17087" y="65898"/>
                </a:cubicBezTo>
                <a:cubicBezTo>
                  <a:pt x="28070" y="45154"/>
                  <a:pt x="44543" y="28680"/>
                  <a:pt x="65898" y="17087"/>
                </a:cubicBezTo>
                <a:cubicBezTo>
                  <a:pt x="86643" y="6104"/>
                  <a:pt x="106168" y="3"/>
                  <a:pt x="159860" y="3"/>
                </a:cubicBezTo>
                <a:lnTo>
                  <a:pt x="159860" y="3"/>
                </a:lnTo>
                <a:lnTo>
                  <a:pt x="8188114" y="3"/>
                </a:lnTo>
                <a:close/>
              </a:path>
            </a:pathLst>
          </a:custGeom>
          <a:pattFill prst="pct5">
            <a:fgClr>
              <a:srgbClr val="E4E6EA"/>
            </a:fgClr>
            <a:bgClr>
              <a:srgbClr val="ADB5BF"/>
            </a:bgClr>
          </a:pattFill>
          <a:ln cap="flat" cmpd="sng">
            <a:prstDash val="solid"/>
          </a:ln>
        </p:spPr>
        <p:txBody>
          <a:bodyPr rot="0"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54378" y="3273266"/>
            <a:ext cx="3253906" cy="134652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Tesla’s brand loyalty offsetting bearish thesis. Mitigate with strategic monitoring of market sentiment.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854377" y="2338497"/>
            <a:ext cx="3253907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i="0" u="none" baseline="0">
                <a:solidFill>
                  <a:schemeClr val="accent1"/>
                </a:solidFill>
                <a:latin typeface="微软雅黑"/>
                <a:ea typeface="微软雅黑"/>
              </a:rPr>
              <a:t>Tesla Brand Power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54377" y="5628155"/>
            <a:ext cx="452797" cy="452797"/>
          </a:xfrm>
          <a:prstGeom prst="ellipse">
            <a:avLst/>
          </a:prstGeom>
          <a:solidFill>
            <a:srgbClr val="000000">
              <a:lumMod val="65000"/>
              <a:lumOff val="35000"/>
            </a:srgbClr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 fontScale="92500" lnSpcReduction="20000"/>
          </a:bodyPr>
          <a:lstStyle/>
          <a:p>
            <a:pPr marL="0" algn="ctr"/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66675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Brand Loyalty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Alternative Pairings &amp; 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07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26088" y="2767486"/>
            <a:ext cx="1906808" cy="1716124"/>
          </a:xfrm>
          <a:custGeom>
            <a:avLst/>
            <a:gdLst/>
            <a:ahLst/>
            <a:cxnLst/>
            <a:rect l="l" t="t" r="r" b="b"/>
            <a:pathLst>
              <a:path w="257" h="232">
                <a:moveTo>
                  <a:pt x="116" y="232"/>
                </a:moveTo>
                <a:cubicBezTo>
                  <a:pt x="121" y="232"/>
                  <a:pt x="124" y="229"/>
                  <a:pt x="124" y="224"/>
                </a:cubicBezTo>
                <a:cubicBezTo>
                  <a:pt x="124" y="220"/>
                  <a:pt x="121" y="216"/>
                  <a:pt x="116" y="216"/>
                </a:cubicBezTo>
                <a:cubicBezTo>
                  <a:pt x="61" y="216"/>
                  <a:pt x="16" y="171"/>
                  <a:pt x="16" y="116"/>
                </a:cubicBezTo>
                <a:cubicBezTo>
                  <a:pt x="16" y="61"/>
                  <a:pt x="61" y="16"/>
                  <a:pt x="116" y="16"/>
                </a:cubicBezTo>
                <a:cubicBezTo>
                  <a:pt x="171" y="16"/>
                  <a:pt x="216" y="61"/>
                  <a:pt x="216" y="116"/>
                </a:cubicBezTo>
                <a:cubicBezTo>
                  <a:pt x="216" y="117"/>
                  <a:pt x="217" y="134"/>
                  <a:pt x="212" y="150"/>
                </a:cubicBezTo>
                <a:cubicBezTo>
                  <a:pt x="204" y="132"/>
                  <a:pt x="204" y="132"/>
                  <a:pt x="204" y="132"/>
                </a:cubicBezTo>
                <a:cubicBezTo>
                  <a:pt x="202" y="128"/>
                  <a:pt x="198" y="126"/>
                  <a:pt x="194" y="127"/>
                </a:cubicBezTo>
                <a:cubicBezTo>
                  <a:pt x="189" y="129"/>
                  <a:pt x="187" y="134"/>
                  <a:pt x="189" y="138"/>
                </a:cubicBezTo>
                <a:cubicBezTo>
                  <a:pt x="204" y="174"/>
                  <a:pt x="204" y="174"/>
                  <a:pt x="204" y="174"/>
                </a:cubicBezTo>
                <a:cubicBezTo>
                  <a:pt x="204" y="174"/>
                  <a:pt x="204" y="174"/>
                  <a:pt x="204" y="175"/>
                </a:cubicBezTo>
                <a:cubicBezTo>
                  <a:pt x="204" y="175"/>
                  <a:pt x="204" y="175"/>
                  <a:pt x="204" y="175"/>
                </a:cubicBezTo>
                <a:cubicBezTo>
                  <a:pt x="204" y="175"/>
                  <a:pt x="204" y="175"/>
                  <a:pt x="205" y="176"/>
                </a:cubicBezTo>
                <a:cubicBezTo>
                  <a:pt x="205" y="176"/>
                  <a:pt x="205" y="176"/>
                  <a:pt x="205" y="176"/>
                </a:cubicBezTo>
                <a:cubicBezTo>
                  <a:pt x="205" y="177"/>
                  <a:pt x="206" y="177"/>
                  <a:pt x="206" y="177"/>
                </a:cubicBezTo>
                <a:cubicBezTo>
                  <a:pt x="206" y="177"/>
                  <a:pt x="207" y="178"/>
                  <a:pt x="207" y="178"/>
                </a:cubicBezTo>
                <a:cubicBezTo>
                  <a:pt x="207" y="178"/>
                  <a:pt x="207" y="178"/>
                  <a:pt x="208" y="178"/>
                </a:cubicBezTo>
                <a:cubicBezTo>
                  <a:pt x="208" y="178"/>
                  <a:pt x="208" y="179"/>
                  <a:pt x="209" y="179"/>
                </a:cubicBezTo>
                <a:cubicBezTo>
                  <a:pt x="209" y="179"/>
                  <a:pt x="209" y="179"/>
                  <a:pt x="210" y="179"/>
                </a:cubicBezTo>
                <a:cubicBezTo>
                  <a:pt x="210" y="179"/>
                  <a:pt x="210" y="179"/>
                  <a:pt x="210" y="179"/>
                </a:cubicBezTo>
                <a:cubicBezTo>
                  <a:pt x="211" y="179"/>
                  <a:pt x="211" y="179"/>
                  <a:pt x="211" y="179"/>
                </a:cubicBezTo>
                <a:cubicBezTo>
                  <a:pt x="211" y="179"/>
                  <a:pt x="211" y="179"/>
                  <a:pt x="211" y="179"/>
                </a:cubicBezTo>
                <a:cubicBezTo>
                  <a:pt x="211" y="179"/>
                  <a:pt x="212" y="179"/>
                  <a:pt x="212" y="179"/>
                </a:cubicBezTo>
                <a:cubicBezTo>
                  <a:pt x="212" y="179"/>
                  <a:pt x="213" y="179"/>
                  <a:pt x="213" y="179"/>
                </a:cubicBezTo>
                <a:cubicBezTo>
                  <a:pt x="213" y="179"/>
                  <a:pt x="214" y="179"/>
                  <a:pt x="214" y="179"/>
                </a:cubicBezTo>
                <a:cubicBezTo>
                  <a:pt x="214" y="178"/>
                  <a:pt x="215" y="178"/>
                  <a:pt x="215" y="178"/>
                </a:cubicBezTo>
                <a:cubicBezTo>
                  <a:pt x="215" y="178"/>
                  <a:pt x="215" y="178"/>
                  <a:pt x="215" y="178"/>
                </a:cubicBezTo>
                <a:cubicBezTo>
                  <a:pt x="252" y="157"/>
                  <a:pt x="252" y="157"/>
                  <a:pt x="252" y="157"/>
                </a:cubicBezTo>
                <a:cubicBezTo>
                  <a:pt x="256" y="154"/>
                  <a:pt x="257" y="149"/>
                  <a:pt x="255" y="146"/>
                </a:cubicBezTo>
                <a:cubicBezTo>
                  <a:pt x="253" y="142"/>
                  <a:pt x="248" y="140"/>
                  <a:pt x="244" y="143"/>
                </a:cubicBezTo>
                <a:cubicBezTo>
                  <a:pt x="228" y="152"/>
                  <a:pt x="228" y="152"/>
                  <a:pt x="228" y="152"/>
                </a:cubicBezTo>
                <a:cubicBezTo>
                  <a:pt x="233" y="134"/>
                  <a:pt x="232" y="117"/>
                  <a:pt x="232" y="116"/>
                </a:cubicBezTo>
                <a:cubicBezTo>
                  <a:pt x="232" y="52"/>
                  <a:pt x="180" y="0"/>
                  <a:pt x="116" y="0"/>
                </a:cubicBezTo>
                <a:cubicBezTo>
                  <a:pt x="52" y="0"/>
                  <a:pt x="0" y="52"/>
                  <a:pt x="0" y="116"/>
                </a:cubicBezTo>
                <a:cubicBezTo>
                  <a:pt x="0" y="180"/>
                  <a:pt x="52" y="232"/>
                  <a:pt x="116" y="232"/>
                </a:cubicBezTo>
                <a:close/>
              </a:path>
            </a:pathLst>
          </a:cu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10800000">
            <a:off x="4300326" y="1842343"/>
            <a:ext cx="2112784" cy="1775074"/>
          </a:xfrm>
          <a:custGeom>
            <a:avLst/>
            <a:gdLst/>
            <a:ahLst/>
            <a:cxnLst/>
            <a:rect l="l" t="t" r="r" b="b"/>
            <a:pathLst>
              <a:path w="2466521" h="2072270">
                <a:moveTo>
                  <a:pt x="370825" y="2072270"/>
                </a:moveTo>
                <a:lnTo>
                  <a:pt x="303147" y="2068853"/>
                </a:lnTo>
                <a:lnTo>
                  <a:pt x="284239" y="2066281"/>
                </a:lnTo>
                <a:cubicBezTo>
                  <a:pt x="184305" y="2038557"/>
                  <a:pt x="98017" y="1971400"/>
                  <a:pt x="47099" y="1877727"/>
                </a:cubicBezTo>
                <a:cubicBezTo>
                  <a:pt x="-20793" y="1752830"/>
                  <a:pt x="-14929" y="1600802"/>
                  <a:pt x="62381" y="1481505"/>
                </a:cubicBezTo>
                <a:cubicBezTo>
                  <a:pt x="101036" y="1421857"/>
                  <a:pt x="154456" y="1375169"/>
                  <a:pt x="215929" y="1344762"/>
                </a:cubicBezTo>
                <a:lnTo>
                  <a:pt x="307716" y="1313682"/>
                </a:lnTo>
                <a:lnTo>
                  <a:pt x="370825" y="1316868"/>
                </a:lnTo>
                <a:cubicBezTo>
                  <a:pt x="1065430" y="1316868"/>
                  <a:pt x="1636739" y="788972"/>
                  <a:pt x="1705439" y="112493"/>
                </a:cubicBezTo>
                <a:lnTo>
                  <a:pt x="1709142" y="39163"/>
                </a:lnTo>
                <a:lnTo>
                  <a:pt x="1718451" y="53001"/>
                </a:lnTo>
                <a:cubicBezTo>
                  <a:pt x="1746512" y="84662"/>
                  <a:pt x="1779046" y="112833"/>
                  <a:pt x="1815545" y="136486"/>
                </a:cubicBezTo>
                <a:cubicBezTo>
                  <a:pt x="1961542" y="231099"/>
                  <a:pt x="2147595" y="238275"/>
                  <a:pt x="2300446" y="155189"/>
                </a:cubicBezTo>
                <a:cubicBezTo>
                  <a:pt x="2338659" y="134418"/>
                  <a:pt x="2373266" y="108837"/>
                  <a:pt x="2403682" y="79431"/>
                </a:cubicBezTo>
                <a:lnTo>
                  <a:pt x="2466521" y="0"/>
                </a:lnTo>
                <a:lnTo>
                  <a:pt x="2456941" y="189728"/>
                </a:lnTo>
                <a:cubicBezTo>
                  <a:pt x="2349556" y="1247124"/>
                  <a:pt x="1456552" y="2072270"/>
                  <a:pt x="370825" y="2072270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 rot="10800000">
            <a:off x="6296841" y="1861421"/>
            <a:ext cx="1594833" cy="2055986"/>
          </a:xfrm>
          <a:custGeom>
            <a:avLst/>
            <a:gdLst/>
            <a:ahLst/>
            <a:cxnLst/>
            <a:rect l="l" t="t" r="r" b="b"/>
            <a:pathLst>
              <a:path w="1861852" h="2400216">
                <a:moveTo>
                  <a:pt x="1807547" y="2400216"/>
                </a:moveTo>
                <a:lnTo>
                  <a:pt x="1674335" y="2379885"/>
                </a:lnTo>
                <a:cubicBezTo>
                  <a:pt x="718794" y="2184353"/>
                  <a:pt x="0" y="1338891"/>
                  <a:pt x="0" y="325545"/>
                </a:cubicBezTo>
                <a:lnTo>
                  <a:pt x="1464" y="296556"/>
                </a:lnTo>
                <a:lnTo>
                  <a:pt x="3139" y="284239"/>
                </a:lnTo>
                <a:cubicBezTo>
                  <a:pt x="30863" y="184305"/>
                  <a:pt x="98020" y="98017"/>
                  <a:pt x="191693" y="47099"/>
                </a:cubicBezTo>
                <a:cubicBezTo>
                  <a:pt x="316590" y="-20793"/>
                  <a:pt x="468618" y="-14929"/>
                  <a:pt x="587915" y="62381"/>
                </a:cubicBezTo>
                <a:cubicBezTo>
                  <a:pt x="647564" y="101036"/>
                  <a:pt x="694251" y="154456"/>
                  <a:pt x="724658" y="215929"/>
                </a:cubicBezTo>
                <a:lnTo>
                  <a:pt x="756229" y="309165"/>
                </a:lnTo>
                <a:lnTo>
                  <a:pt x="755402" y="325545"/>
                </a:lnTo>
                <a:cubicBezTo>
                  <a:pt x="755402" y="973843"/>
                  <a:pt x="1215258" y="1514736"/>
                  <a:pt x="1826575" y="1639830"/>
                </a:cubicBezTo>
                <a:lnTo>
                  <a:pt x="1861852" y="1645214"/>
                </a:lnTo>
                <a:lnTo>
                  <a:pt x="1799125" y="1687413"/>
                </a:lnTo>
                <a:cubicBezTo>
                  <a:pt x="1767464" y="1715474"/>
                  <a:pt x="1739293" y="1748008"/>
                  <a:pt x="1715640" y="1784507"/>
                </a:cubicBezTo>
                <a:cubicBezTo>
                  <a:pt x="1621027" y="1930504"/>
                  <a:pt x="1613851" y="2116557"/>
                  <a:pt x="1696937" y="2269408"/>
                </a:cubicBezTo>
                <a:cubicBezTo>
                  <a:pt x="1717709" y="2307621"/>
                  <a:pt x="1743290" y="2342228"/>
                  <a:pt x="1772695" y="2372644"/>
                </a:cubicBezTo>
                <a:lnTo>
                  <a:pt x="1807547" y="2400216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 rot="10800000">
            <a:off x="4308164" y="3509481"/>
            <a:ext cx="1578547" cy="1902533"/>
          </a:xfrm>
          <a:custGeom>
            <a:avLst/>
            <a:gdLst/>
            <a:ahLst/>
            <a:cxnLst/>
            <a:rect l="l" t="t" r="r" b="b"/>
            <a:pathLst>
              <a:path w="1842839" h="2221070">
                <a:moveTo>
                  <a:pt x="1444238" y="2220782"/>
                </a:moveTo>
                <a:cubicBezTo>
                  <a:pt x="1375707" y="2218139"/>
                  <a:pt x="1307876" y="2197345"/>
                  <a:pt x="1248227" y="2158690"/>
                </a:cubicBezTo>
                <a:cubicBezTo>
                  <a:pt x="1188579" y="2120035"/>
                  <a:pt x="1141891" y="2066615"/>
                  <a:pt x="1111484" y="2005141"/>
                </a:cubicBezTo>
                <a:lnTo>
                  <a:pt x="1091568" y="1946324"/>
                </a:lnTo>
                <a:lnTo>
                  <a:pt x="1090906" y="1933225"/>
                </a:lnTo>
                <a:lnTo>
                  <a:pt x="1073259" y="1817593"/>
                </a:lnTo>
                <a:lnTo>
                  <a:pt x="1072426" y="1803275"/>
                </a:lnTo>
                <a:lnTo>
                  <a:pt x="1071057" y="1803169"/>
                </a:lnTo>
                <a:lnTo>
                  <a:pt x="1070577" y="1800023"/>
                </a:lnTo>
                <a:cubicBezTo>
                  <a:pt x="963354" y="1276037"/>
                  <a:pt x="550645" y="863328"/>
                  <a:pt x="26659" y="756105"/>
                </a:cubicBezTo>
                <a:lnTo>
                  <a:pt x="0" y="752036"/>
                </a:lnTo>
                <a:lnTo>
                  <a:pt x="71201" y="704136"/>
                </a:lnTo>
                <a:cubicBezTo>
                  <a:pt x="102862" y="676075"/>
                  <a:pt x="131033" y="643541"/>
                  <a:pt x="154686" y="607042"/>
                </a:cubicBezTo>
                <a:cubicBezTo>
                  <a:pt x="249299" y="461045"/>
                  <a:pt x="256475" y="274992"/>
                  <a:pt x="173389" y="122141"/>
                </a:cubicBezTo>
                <a:cubicBezTo>
                  <a:pt x="152618" y="83928"/>
                  <a:pt x="127037" y="49321"/>
                  <a:pt x="97631" y="18905"/>
                </a:cubicBezTo>
                <a:lnTo>
                  <a:pt x="73735" y="0"/>
                </a:lnTo>
                <a:lnTo>
                  <a:pt x="178899" y="16050"/>
                </a:lnTo>
                <a:cubicBezTo>
                  <a:pt x="1066187" y="197616"/>
                  <a:pt x="1749341" y="939580"/>
                  <a:pt x="1842408" y="1855990"/>
                </a:cubicBezTo>
                <a:lnTo>
                  <a:pt x="1842839" y="1864516"/>
                </a:lnTo>
                <a:lnTo>
                  <a:pt x="1833003" y="1936832"/>
                </a:lnTo>
                <a:cubicBezTo>
                  <a:pt x="1805279" y="2036766"/>
                  <a:pt x="1738122" y="2123054"/>
                  <a:pt x="1644449" y="2173972"/>
                </a:cubicBezTo>
                <a:cubicBezTo>
                  <a:pt x="1582001" y="2207918"/>
                  <a:pt x="1512769" y="2223425"/>
                  <a:pt x="1444238" y="2220782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 rot="10800000">
            <a:off x="5763184" y="3805353"/>
            <a:ext cx="2116163" cy="1629404"/>
          </a:xfrm>
          <a:custGeom>
            <a:avLst/>
            <a:gdLst/>
            <a:ahLst/>
            <a:cxnLst/>
            <a:rect l="l" t="t" r="r" b="b"/>
            <a:pathLst>
              <a:path w="2470467" h="1902212">
                <a:moveTo>
                  <a:pt x="756723" y="1902212"/>
                </a:moveTo>
                <a:lnTo>
                  <a:pt x="717833" y="1844405"/>
                </a:lnTo>
                <a:cubicBezTo>
                  <a:pt x="689772" y="1812744"/>
                  <a:pt x="657238" y="1784573"/>
                  <a:pt x="620739" y="1760920"/>
                </a:cubicBezTo>
                <a:cubicBezTo>
                  <a:pt x="474742" y="1666307"/>
                  <a:pt x="288689" y="1659131"/>
                  <a:pt x="135838" y="1742217"/>
                </a:cubicBezTo>
                <a:cubicBezTo>
                  <a:pt x="97625" y="1762989"/>
                  <a:pt x="63018" y="1788570"/>
                  <a:pt x="32602" y="1817975"/>
                </a:cubicBezTo>
                <a:lnTo>
                  <a:pt x="0" y="1859186"/>
                </a:lnTo>
                <a:lnTo>
                  <a:pt x="28211" y="1674335"/>
                </a:lnTo>
                <a:cubicBezTo>
                  <a:pt x="223744" y="718794"/>
                  <a:pt x="1069206" y="0"/>
                  <a:pt x="2082551" y="0"/>
                </a:cubicBezTo>
                <a:lnTo>
                  <a:pt x="2195875" y="5722"/>
                </a:lnTo>
                <a:lnTo>
                  <a:pt x="2280810" y="41993"/>
                </a:lnTo>
                <a:cubicBezTo>
                  <a:pt x="2339758" y="77045"/>
                  <a:pt x="2389424" y="127708"/>
                  <a:pt x="2423369" y="190157"/>
                </a:cubicBezTo>
                <a:cubicBezTo>
                  <a:pt x="2491261" y="315054"/>
                  <a:pt x="2485397" y="467082"/>
                  <a:pt x="2408087" y="586379"/>
                </a:cubicBezTo>
                <a:cubicBezTo>
                  <a:pt x="2350105" y="675852"/>
                  <a:pt x="2258900" y="736163"/>
                  <a:pt x="2157128" y="756107"/>
                </a:cubicBezTo>
                <a:lnTo>
                  <a:pt x="2128954" y="757745"/>
                </a:lnTo>
                <a:lnTo>
                  <a:pt x="2082551" y="755402"/>
                </a:lnTo>
                <a:cubicBezTo>
                  <a:pt x="1434253" y="755402"/>
                  <a:pt x="893360" y="1215258"/>
                  <a:pt x="768266" y="1826575"/>
                </a:cubicBezTo>
                <a:lnTo>
                  <a:pt x="756723" y="1902212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5800302" y="3319093"/>
            <a:ext cx="591396" cy="609685"/>
          </a:xfrm>
          <a:custGeom>
            <a:avLst/>
            <a:gdLst/>
            <a:ahLst/>
            <a:cxnLst/>
            <a:rect l="l" t="t" r="r" b="b"/>
            <a:pathLst>
              <a:path w="5499" h="5677">
                <a:moveTo>
                  <a:pt x="5363" y="3960"/>
                </a:moveTo>
                <a:cubicBezTo>
                  <a:pt x="5342" y="3930"/>
                  <a:pt x="5320" y="3902"/>
                  <a:pt x="5296" y="3876"/>
                </a:cubicBezTo>
                <a:cubicBezTo>
                  <a:pt x="5326" y="3832"/>
                  <a:pt x="5349" y="3782"/>
                  <a:pt x="5363" y="3729"/>
                </a:cubicBezTo>
                <a:cubicBezTo>
                  <a:pt x="5405" y="3570"/>
                  <a:pt x="5363" y="3403"/>
                  <a:pt x="5251" y="3283"/>
                </a:cubicBezTo>
                <a:cubicBezTo>
                  <a:pt x="5178" y="3205"/>
                  <a:pt x="5093" y="3143"/>
                  <a:pt x="4995" y="3096"/>
                </a:cubicBezTo>
                <a:cubicBezTo>
                  <a:pt x="4980" y="2847"/>
                  <a:pt x="4773" y="2649"/>
                  <a:pt x="4520" y="2649"/>
                </a:cubicBezTo>
                <a:cubicBezTo>
                  <a:pt x="4272" y="2649"/>
                  <a:pt x="4067" y="2841"/>
                  <a:pt x="4047" y="3085"/>
                </a:cubicBezTo>
                <a:cubicBezTo>
                  <a:pt x="4017" y="3098"/>
                  <a:pt x="3989" y="3112"/>
                  <a:pt x="3962" y="3128"/>
                </a:cubicBezTo>
                <a:lnTo>
                  <a:pt x="3673" y="3040"/>
                </a:lnTo>
                <a:cubicBezTo>
                  <a:pt x="3673" y="3040"/>
                  <a:pt x="3673" y="3041"/>
                  <a:pt x="3673" y="3041"/>
                </a:cubicBezTo>
                <a:lnTo>
                  <a:pt x="3133" y="2877"/>
                </a:lnTo>
                <a:cubicBezTo>
                  <a:pt x="3116" y="2825"/>
                  <a:pt x="3077" y="2779"/>
                  <a:pt x="3023" y="2741"/>
                </a:cubicBezTo>
                <a:cubicBezTo>
                  <a:pt x="3083" y="2675"/>
                  <a:pt x="3133" y="2608"/>
                  <a:pt x="3171" y="2553"/>
                </a:cubicBezTo>
                <a:cubicBezTo>
                  <a:pt x="3261" y="2421"/>
                  <a:pt x="3337" y="2280"/>
                  <a:pt x="3389" y="2144"/>
                </a:cubicBezTo>
                <a:cubicBezTo>
                  <a:pt x="3414" y="2087"/>
                  <a:pt x="3436" y="2029"/>
                  <a:pt x="3454" y="1972"/>
                </a:cubicBezTo>
                <a:cubicBezTo>
                  <a:pt x="3524" y="1914"/>
                  <a:pt x="3565" y="1826"/>
                  <a:pt x="3565" y="1734"/>
                </a:cubicBezTo>
                <a:lnTo>
                  <a:pt x="3565" y="1508"/>
                </a:lnTo>
                <a:cubicBezTo>
                  <a:pt x="3565" y="1443"/>
                  <a:pt x="3545" y="1380"/>
                  <a:pt x="3507" y="1328"/>
                </a:cubicBezTo>
                <a:lnTo>
                  <a:pt x="3507" y="1010"/>
                </a:lnTo>
                <a:cubicBezTo>
                  <a:pt x="3507" y="453"/>
                  <a:pt x="3054" y="0"/>
                  <a:pt x="2497" y="0"/>
                </a:cubicBezTo>
                <a:lnTo>
                  <a:pt x="2170" y="0"/>
                </a:lnTo>
                <a:cubicBezTo>
                  <a:pt x="1613" y="0"/>
                  <a:pt x="1160" y="453"/>
                  <a:pt x="1160" y="1010"/>
                </a:cubicBezTo>
                <a:lnTo>
                  <a:pt x="1160" y="1328"/>
                </a:lnTo>
                <a:cubicBezTo>
                  <a:pt x="1122" y="1380"/>
                  <a:pt x="1102" y="1444"/>
                  <a:pt x="1102" y="1508"/>
                </a:cubicBezTo>
                <a:lnTo>
                  <a:pt x="1102" y="1734"/>
                </a:lnTo>
                <a:cubicBezTo>
                  <a:pt x="1102" y="1826"/>
                  <a:pt x="1143" y="1914"/>
                  <a:pt x="1213" y="1972"/>
                </a:cubicBezTo>
                <a:cubicBezTo>
                  <a:pt x="1231" y="2029"/>
                  <a:pt x="1253" y="2087"/>
                  <a:pt x="1279" y="2144"/>
                </a:cubicBezTo>
                <a:cubicBezTo>
                  <a:pt x="1331" y="2280"/>
                  <a:pt x="1406" y="2421"/>
                  <a:pt x="1496" y="2552"/>
                </a:cubicBezTo>
                <a:cubicBezTo>
                  <a:pt x="1534" y="2608"/>
                  <a:pt x="1584" y="2674"/>
                  <a:pt x="1644" y="2740"/>
                </a:cubicBezTo>
                <a:cubicBezTo>
                  <a:pt x="1590" y="2779"/>
                  <a:pt x="1551" y="2825"/>
                  <a:pt x="1534" y="2877"/>
                </a:cubicBezTo>
                <a:lnTo>
                  <a:pt x="814" y="3095"/>
                </a:lnTo>
                <a:cubicBezTo>
                  <a:pt x="307" y="3241"/>
                  <a:pt x="3" y="5432"/>
                  <a:pt x="3" y="5432"/>
                </a:cubicBezTo>
                <a:lnTo>
                  <a:pt x="3" y="5432"/>
                </a:lnTo>
                <a:cubicBezTo>
                  <a:pt x="1" y="5442"/>
                  <a:pt x="0" y="5452"/>
                  <a:pt x="0" y="5462"/>
                </a:cubicBezTo>
                <a:cubicBezTo>
                  <a:pt x="0" y="5567"/>
                  <a:pt x="86" y="5653"/>
                  <a:pt x="191" y="5653"/>
                </a:cubicBezTo>
                <a:lnTo>
                  <a:pt x="4372" y="5653"/>
                </a:lnTo>
                <a:cubicBezTo>
                  <a:pt x="4418" y="5668"/>
                  <a:pt x="4468" y="5677"/>
                  <a:pt x="4520" y="5677"/>
                </a:cubicBezTo>
                <a:cubicBezTo>
                  <a:pt x="4783" y="5677"/>
                  <a:pt x="4996" y="5464"/>
                  <a:pt x="4996" y="5202"/>
                </a:cubicBezTo>
                <a:lnTo>
                  <a:pt x="4996" y="5161"/>
                </a:lnTo>
                <a:cubicBezTo>
                  <a:pt x="5091" y="5119"/>
                  <a:pt x="5175" y="5063"/>
                  <a:pt x="5248" y="4994"/>
                </a:cubicBezTo>
                <a:cubicBezTo>
                  <a:pt x="5412" y="4838"/>
                  <a:pt x="5499" y="4635"/>
                  <a:pt x="5499" y="4406"/>
                </a:cubicBezTo>
                <a:cubicBezTo>
                  <a:pt x="5499" y="4239"/>
                  <a:pt x="5453" y="4089"/>
                  <a:pt x="5363" y="3960"/>
                </a:cubicBezTo>
                <a:close/>
                <a:moveTo>
                  <a:pt x="2140" y="3663"/>
                </a:moveTo>
                <a:cubicBezTo>
                  <a:pt x="2137" y="3689"/>
                  <a:pt x="2118" y="3711"/>
                  <a:pt x="2093" y="3718"/>
                </a:cubicBezTo>
                <a:cubicBezTo>
                  <a:pt x="2087" y="3720"/>
                  <a:pt x="2081" y="3721"/>
                  <a:pt x="2075" y="3721"/>
                </a:cubicBezTo>
                <a:cubicBezTo>
                  <a:pt x="2055" y="3721"/>
                  <a:pt x="2036" y="3711"/>
                  <a:pt x="2024" y="3695"/>
                </a:cubicBezTo>
                <a:lnTo>
                  <a:pt x="1842" y="3454"/>
                </a:lnTo>
                <a:cubicBezTo>
                  <a:pt x="1833" y="3442"/>
                  <a:pt x="1829" y="3429"/>
                  <a:pt x="1829" y="3415"/>
                </a:cubicBezTo>
                <a:lnTo>
                  <a:pt x="1829" y="3028"/>
                </a:lnTo>
                <a:cubicBezTo>
                  <a:pt x="1829" y="3005"/>
                  <a:pt x="1841" y="2984"/>
                  <a:pt x="1860" y="2972"/>
                </a:cubicBezTo>
                <a:cubicBezTo>
                  <a:pt x="1880" y="2961"/>
                  <a:pt x="1904" y="2960"/>
                  <a:pt x="1924" y="2970"/>
                </a:cubicBezTo>
                <a:cubicBezTo>
                  <a:pt x="1977" y="2998"/>
                  <a:pt x="2030" y="3017"/>
                  <a:pt x="2081" y="3026"/>
                </a:cubicBezTo>
                <a:cubicBezTo>
                  <a:pt x="2112" y="3032"/>
                  <a:pt x="2135" y="3059"/>
                  <a:pt x="2135" y="3090"/>
                </a:cubicBezTo>
                <a:lnTo>
                  <a:pt x="2135" y="3252"/>
                </a:lnTo>
                <a:cubicBezTo>
                  <a:pt x="2144" y="3255"/>
                  <a:pt x="2152" y="3261"/>
                  <a:pt x="2159" y="3268"/>
                </a:cubicBezTo>
                <a:cubicBezTo>
                  <a:pt x="2171" y="3282"/>
                  <a:pt x="2177" y="3300"/>
                  <a:pt x="2175" y="3318"/>
                </a:cubicBezTo>
                <a:lnTo>
                  <a:pt x="2140" y="3663"/>
                </a:lnTo>
                <a:close/>
                <a:moveTo>
                  <a:pt x="2825" y="3454"/>
                </a:moveTo>
                <a:lnTo>
                  <a:pt x="2644" y="3695"/>
                </a:lnTo>
                <a:cubicBezTo>
                  <a:pt x="2631" y="3711"/>
                  <a:pt x="2612" y="3721"/>
                  <a:pt x="2592" y="3721"/>
                </a:cubicBezTo>
                <a:cubicBezTo>
                  <a:pt x="2586" y="3721"/>
                  <a:pt x="2580" y="3720"/>
                  <a:pt x="2574" y="3718"/>
                </a:cubicBezTo>
                <a:cubicBezTo>
                  <a:pt x="2549" y="3711"/>
                  <a:pt x="2530" y="3689"/>
                  <a:pt x="2527" y="3662"/>
                </a:cubicBezTo>
                <a:lnTo>
                  <a:pt x="2492" y="3318"/>
                </a:lnTo>
                <a:cubicBezTo>
                  <a:pt x="2490" y="3300"/>
                  <a:pt x="2496" y="3282"/>
                  <a:pt x="2508" y="3268"/>
                </a:cubicBezTo>
                <a:cubicBezTo>
                  <a:pt x="2515" y="3261"/>
                  <a:pt x="2523" y="3255"/>
                  <a:pt x="2533" y="3252"/>
                </a:cubicBezTo>
                <a:lnTo>
                  <a:pt x="2533" y="3090"/>
                </a:lnTo>
                <a:cubicBezTo>
                  <a:pt x="2533" y="3059"/>
                  <a:pt x="2555" y="3032"/>
                  <a:pt x="2586" y="3026"/>
                </a:cubicBezTo>
                <a:cubicBezTo>
                  <a:pt x="2637" y="3017"/>
                  <a:pt x="2690" y="2998"/>
                  <a:pt x="2743" y="2971"/>
                </a:cubicBezTo>
                <a:cubicBezTo>
                  <a:pt x="2763" y="2960"/>
                  <a:pt x="2787" y="2961"/>
                  <a:pt x="2807" y="2972"/>
                </a:cubicBezTo>
                <a:cubicBezTo>
                  <a:pt x="2826" y="2984"/>
                  <a:pt x="2838" y="3005"/>
                  <a:pt x="2838" y="3028"/>
                </a:cubicBezTo>
                <a:lnTo>
                  <a:pt x="2838" y="3415"/>
                </a:lnTo>
                <a:cubicBezTo>
                  <a:pt x="2838" y="3429"/>
                  <a:pt x="2834" y="3442"/>
                  <a:pt x="2825" y="3454"/>
                </a:cubicBezTo>
                <a:close/>
                <a:moveTo>
                  <a:pt x="2508" y="2684"/>
                </a:moveTo>
                <a:lnTo>
                  <a:pt x="2160" y="2684"/>
                </a:lnTo>
                <a:cubicBezTo>
                  <a:pt x="2083" y="2684"/>
                  <a:pt x="1934" y="2581"/>
                  <a:pt x="1776" y="2351"/>
                </a:cubicBezTo>
                <a:cubicBezTo>
                  <a:pt x="1651" y="2170"/>
                  <a:pt x="1564" y="1970"/>
                  <a:pt x="1544" y="1815"/>
                </a:cubicBezTo>
                <a:lnTo>
                  <a:pt x="1540" y="1788"/>
                </a:lnTo>
                <a:lnTo>
                  <a:pt x="1477" y="1747"/>
                </a:lnTo>
                <a:cubicBezTo>
                  <a:pt x="1459" y="1735"/>
                  <a:pt x="1448" y="1715"/>
                  <a:pt x="1448" y="1693"/>
                </a:cubicBezTo>
                <a:lnTo>
                  <a:pt x="1448" y="1586"/>
                </a:lnTo>
                <a:cubicBezTo>
                  <a:pt x="1448" y="1551"/>
                  <a:pt x="1477" y="1522"/>
                  <a:pt x="1513" y="1522"/>
                </a:cubicBezTo>
                <a:lnTo>
                  <a:pt x="1539" y="1522"/>
                </a:lnTo>
                <a:lnTo>
                  <a:pt x="1539" y="1406"/>
                </a:lnTo>
                <a:cubicBezTo>
                  <a:pt x="1539" y="1382"/>
                  <a:pt x="1553" y="1359"/>
                  <a:pt x="1575" y="1348"/>
                </a:cubicBezTo>
                <a:cubicBezTo>
                  <a:pt x="1664" y="1304"/>
                  <a:pt x="1841" y="1229"/>
                  <a:pt x="2024" y="1229"/>
                </a:cubicBezTo>
                <a:cubicBezTo>
                  <a:pt x="2170" y="1229"/>
                  <a:pt x="2292" y="1278"/>
                  <a:pt x="2384" y="1374"/>
                </a:cubicBezTo>
                <a:cubicBezTo>
                  <a:pt x="2500" y="1493"/>
                  <a:pt x="2633" y="1554"/>
                  <a:pt x="2781" y="1554"/>
                </a:cubicBezTo>
                <a:cubicBezTo>
                  <a:pt x="2864" y="1554"/>
                  <a:pt x="2950" y="1534"/>
                  <a:pt x="3037" y="1495"/>
                </a:cubicBezTo>
                <a:cubicBezTo>
                  <a:pt x="3057" y="1486"/>
                  <a:pt x="3080" y="1488"/>
                  <a:pt x="3098" y="1500"/>
                </a:cubicBezTo>
                <a:cubicBezTo>
                  <a:pt x="3107" y="1506"/>
                  <a:pt x="3114" y="1513"/>
                  <a:pt x="3119" y="1522"/>
                </a:cubicBezTo>
                <a:lnTo>
                  <a:pt x="3154" y="1522"/>
                </a:lnTo>
                <a:cubicBezTo>
                  <a:pt x="3190" y="1522"/>
                  <a:pt x="3219" y="1551"/>
                  <a:pt x="3219" y="1586"/>
                </a:cubicBezTo>
                <a:lnTo>
                  <a:pt x="3219" y="1693"/>
                </a:lnTo>
                <a:cubicBezTo>
                  <a:pt x="3219" y="1715"/>
                  <a:pt x="3208" y="1735"/>
                  <a:pt x="3190" y="1747"/>
                </a:cubicBezTo>
                <a:lnTo>
                  <a:pt x="3127" y="1788"/>
                </a:lnTo>
                <a:lnTo>
                  <a:pt x="3123" y="1815"/>
                </a:lnTo>
                <a:cubicBezTo>
                  <a:pt x="3103" y="1970"/>
                  <a:pt x="3016" y="2170"/>
                  <a:pt x="2891" y="2351"/>
                </a:cubicBezTo>
                <a:cubicBezTo>
                  <a:pt x="2733" y="2581"/>
                  <a:pt x="2584" y="2684"/>
                  <a:pt x="2508" y="2684"/>
                </a:cubicBezTo>
                <a:close/>
                <a:moveTo>
                  <a:pt x="5035" y="4769"/>
                </a:moveTo>
                <a:cubicBezTo>
                  <a:pt x="4947" y="4852"/>
                  <a:pt x="4830" y="4908"/>
                  <a:pt x="4686" y="4935"/>
                </a:cubicBezTo>
                <a:lnTo>
                  <a:pt x="4686" y="5202"/>
                </a:lnTo>
                <a:cubicBezTo>
                  <a:pt x="4686" y="5293"/>
                  <a:pt x="4612" y="5367"/>
                  <a:pt x="4520" y="5367"/>
                </a:cubicBezTo>
                <a:cubicBezTo>
                  <a:pt x="4429" y="5367"/>
                  <a:pt x="4355" y="5293"/>
                  <a:pt x="4355" y="5202"/>
                </a:cubicBezTo>
                <a:lnTo>
                  <a:pt x="4355" y="4944"/>
                </a:lnTo>
                <a:cubicBezTo>
                  <a:pt x="4144" y="4915"/>
                  <a:pt x="3987" y="4824"/>
                  <a:pt x="3887" y="4672"/>
                </a:cubicBezTo>
                <a:cubicBezTo>
                  <a:pt x="3857" y="4626"/>
                  <a:pt x="3851" y="4567"/>
                  <a:pt x="3873" y="4516"/>
                </a:cubicBezTo>
                <a:cubicBezTo>
                  <a:pt x="3895" y="4465"/>
                  <a:pt x="3941" y="4428"/>
                  <a:pt x="3995" y="4418"/>
                </a:cubicBezTo>
                <a:lnTo>
                  <a:pt x="4121" y="4395"/>
                </a:lnTo>
                <a:cubicBezTo>
                  <a:pt x="4185" y="4383"/>
                  <a:pt x="4250" y="4410"/>
                  <a:pt x="4287" y="4463"/>
                </a:cubicBezTo>
                <a:cubicBezTo>
                  <a:pt x="4334" y="4531"/>
                  <a:pt x="4414" y="4565"/>
                  <a:pt x="4524" y="4565"/>
                </a:cubicBezTo>
                <a:cubicBezTo>
                  <a:pt x="4693" y="4565"/>
                  <a:pt x="4693" y="4498"/>
                  <a:pt x="4693" y="4475"/>
                </a:cubicBezTo>
                <a:cubicBezTo>
                  <a:pt x="4693" y="4443"/>
                  <a:pt x="4681" y="4420"/>
                  <a:pt x="4656" y="4402"/>
                </a:cubicBezTo>
                <a:cubicBezTo>
                  <a:pt x="4629" y="4384"/>
                  <a:pt x="4581" y="4367"/>
                  <a:pt x="4512" y="4353"/>
                </a:cubicBezTo>
                <a:cubicBezTo>
                  <a:pt x="4237" y="4297"/>
                  <a:pt x="4059" y="4224"/>
                  <a:pt x="3985" y="4136"/>
                </a:cubicBezTo>
                <a:cubicBezTo>
                  <a:pt x="3909" y="4048"/>
                  <a:pt x="3872" y="3948"/>
                  <a:pt x="3872" y="3833"/>
                </a:cubicBezTo>
                <a:cubicBezTo>
                  <a:pt x="3872" y="3707"/>
                  <a:pt x="3914" y="3595"/>
                  <a:pt x="3995" y="3497"/>
                </a:cubicBezTo>
                <a:cubicBezTo>
                  <a:pt x="4074" y="3403"/>
                  <a:pt x="4195" y="3342"/>
                  <a:pt x="4355" y="3316"/>
                </a:cubicBezTo>
                <a:lnTo>
                  <a:pt x="4355" y="3124"/>
                </a:lnTo>
                <a:cubicBezTo>
                  <a:pt x="4355" y="3033"/>
                  <a:pt x="4429" y="2959"/>
                  <a:pt x="4520" y="2959"/>
                </a:cubicBezTo>
                <a:cubicBezTo>
                  <a:pt x="4612" y="2959"/>
                  <a:pt x="4686" y="3033"/>
                  <a:pt x="4686" y="3124"/>
                </a:cubicBezTo>
                <a:lnTo>
                  <a:pt x="4686" y="3319"/>
                </a:lnTo>
                <a:cubicBezTo>
                  <a:pt x="4829" y="3346"/>
                  <a:pt x="4940" y="3404"/>
                  <a:pt x="5024" y="3494"/>
                </a:cubicBezTo>
                <a:cubicBezTo>
                  <a:pt x="5063" y="3536"/>
                  <a:pt x="5078" y="3595"/>
                  <a:pt x="5064" y="3650"/>
                </a:cubicBezTo>
                <a:cubicBezTo>
                  <a:pt x="5049" y="3705"/>
                  <a:pt x="5007" y="3749"/>
                  <a:pt x="4953" y="3766"/>
                </a:cubicBezTo>
                <a:lnTo>
                  <a:pt x="4867" y="3793"/>
                </a:lnTo>
                <a:cubicBezTo>
                  <a:pt x="4805" y="3812"/>
                  <a:pt x="4737" y="3793"/>
                  <a:pt x="4693" y="3744"/>
                </a:cubicBezTo>
                <a:cubicBezTo>
                  <a:pt x="4650" y="3696"/>
                  <a:pt x="4586" y="3671"/>
                  <a:pt x="4503" y="3671"/>
                </a:cubicBezTo>
                <a:cubicBezTo>
                  <a:pt x="4436" y="3671"/>
                  <a:pt x="4356" y="3687"/>
                  <a:pt x="4356" y="3763"/>
                </a:cubicBezTo>
                <a:cubicBezTo>
                  <a:pt x="4356" y="3785"/>
                  <a:pt x="4364" y="3804"/>
                  <a:pt x="4379" y="3819"/>
                </a:cubicBezTo>
                <a:cubicBezTo>
                  <a:pt x="4396" y="3835"/>
                  <a:pt x="4444" y="3852"/>
                  <a:pt x="4521" y="3870"/>
                </a:cubicBezTo>
                <a:cubicBezTo>
                  <a:pt x="4701" y="3909"/>
                  <a:pt x="4832" y="3945"/>
                  <a:pt x="4910" y="3976"/>
                </a:cubicBezTo>
                <a:cubicBezTo>
                  <a:pt x="4990" y="4008"/>
                  <a:pt x="5057" y="4062"/>
                  <a:pt x="5110" y="4137"/>
                </a:cubicBezTo>
                <a:cubicBezTo>
                  <a:pt x="5162" y="4213"/>
                  <a:pt x="5189" y="4303"/>
                  <a:pt x="5189" y="4406"/>
                </a:cubicBezTo>
                <a:cubicBezTo>
                  <a:pt x="5189" y="4550"/>
                  <a:pt x="5137" y="4672"/>
                  <a:pt x="5035" y="476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5763114" y="1960149"/>
            <a:ext cx="611964" cy="4363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7279710" y="3405765"/>
            <a:ext cx="611964" cy="4363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4335917" y="3587183"/>
            <a:ext cx="611964" cy="4363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69924" y="1778348"/>
            <a:ext cx="3353436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Long BYD vs. Short Rivian (RIVN.US)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9924" y="2322642"/>
            <a:ext cx="3353436" cy="2316019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Rivian has cash burn and production delays.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68640" y="1778348"/>
            <a:ext cx="3351848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Long BYD vs. Short NIO (NIO.US)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68640" y="2322642"/>
            <a:ext cx="3351848" cy="2316019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NIO has premium valuation compared to BYD’s profitability.</a:t>
            </a:r>
          </a:p>
        </p:txBody>
      </p:sp>
      <p:sp>
        <p:nvSpPr>
          <p:cNvPr id="15" name="AutoShape 15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Alternative Pairings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93006" y="1650999"/>
            <a:ext cx="9805988" cy="4241801"/>
          </a:xfrm>
          <a:prstGeom prst="roundRect">
            <a:avLst>
              <a:gd name="adj" fmla="val 4784"/>
            </a:avLst>
          </a:prstGeom>
          <a:noFill/>
          <a:ln w="12700" cap="flat" cmpd="sng">
            <a:solidFill>
              <a:srgbClr val="FFFFFF">
                <a:lumMod val="75000"/>
              </a:srgbClr>
            </a:solidFill>
            <a:prstDash val="sysDash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864915" y="1142999"/>
            <a:ext cx="1277938" cy="1463675"/>
          </a:xfrm>
          <a:custGeom>
            <a:avLst/>
            <a:gdLst/>
            <a:ahLst/>
            <a:cxnLst/>
            <a:rect l="l" t="t" r="r" b="b"/>
            <a:pathLst>
              <a:path w="13408" h="15341">
                <a:moveTo>
                  <a:pt x="11023" y="2385"/>
                </a:moveTo>
                <a:cubicBezTo>
                  <a:pt x="13408" y="4770"/>
                  <a:pt x="13408" y="8637"/>
                  <a:pt x="11023" y="11022"/>
                </a:cubicBezTo>
                <a:cubicBezTo>
                  <a:pt x="9584" y="12462"/>
                  <a:pt x="8144" y="13902"/>
                  <a:pt x="6704" y="15341"/>
                </a:cubicBezTo>
                <a:cubicBezTo>
                  <a:pt x="5265" y="13902"/>
                  <a:pt x="3825" y="12462"/>
                  <a:pt x="2386" y="11022"/>
                </a:cubicBezTo>
                <a:cubicBezTo>
                  <a:pt x="0" y="8637"/>
                  <a:pt x="0" y="4770"/>
                  <a:pt x="2386" y="2385"/>
                </a:cubicBezTo>
                <a:cubicBezTo>
                  <a:pt x="4771" y="0"/>
                  <a:pt x="8638" y="0"/>
                  <a:pt x="11023" y="2385"/>
                </a:cubicBezTo>
              </a:path>
            </a:pathLst>
          </a:cu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027634" y="1328736"/>
            <a:ext cx="952500" cy="952500"/>
          </a:xfrm>
          <a:prstGeom prst="ellipse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2248233" y="1461293"/>
            <a:ext cx="511301" cy="687386"/>
          </a:xfrm>
          <a:custGeom>
            <a:avLst/>
            <a:gdLst/>
            <a:ahLst/>
            <a:cxnLst/>
            <a:rect l="l" t="t" r="r" b="b"/>
            <a:pathLst>
              <a:path w="4881" h="6573">
                <a:moveTo>
                  <a:pt x="1812" y="553"/>
                </a:moveTo>
                <a:lnTo>
                  <a:pt x="2721" y="28"/>
                </a:lnTo>
                <a:cubicBezTo>
                  <a:pt x="2769" y="0"/>
                  <a:pt x="2828" y="35"/>
                  <a:pt x="2828" y="89"/>
                </a:cubicBezTo>
                <a:lnTo>
                  <a:pt x="2828" y="377"/>
                </a:lnTo>
                <a:lnTo>
                  <a:pt x="3391" y="377"/>
                </a:lnTo>
                <a:cubicBezTo>
                  <a:pt x="4016" y="377"/>
                  <a:pt x="4525" y="887"/>
                  <a:pt x="4525" y="1512"/>
                </a:cubicBezTo>
                <a:lnTo>
                  <a:pt x="4051" y="1512"/>
                </a:lnTo>
                <a:cubicBezTo>
                  <a:pt x="4051" y="1148"/>
                  <a:pt x="3755" y="852"/>
                  <a:pt x="3391" y="852"/>
                </a:cubicBezTo>
                <a:lnTo>
                  <a:pt x="2828" y="852"/>
                </a:lnTo>
                <a:lnTo>
                  <a:pt x="2828" y="1140"/>
                </a:lnTo>
                <a:cubicBezTo>
                  <a:pt x="2828" y="1195"/>
                  <a:pt x="2769" y="1229"/>
                  <a:pt x="2721" y="1201"/>
                </a:cubicBezTo>
                <a:lnTo>
                  <a:pt x="1812" y="676"/>
                </a:lnTo>
                <a:cubicBezTo>
                  <a:pt x="1765" y="649"/>
                  <a:pt x="1765" y="580"/>
                  <a:pt x="1812" y="553"/>
                </a:cubicBezTo>
                <a:close/>
                <a:moveTo>
                  <a:pt x="3063" y="5897"/>
                </a:moveTo>
                <a:lnTo>
                  <a:pt x="2153" y="5372"/>
                </a:lnTo>
                <a:cubicBezTo>
                  <a:pt x="2105" y="5344"/>
                  <a:pt x="2047" y="5379"/>
                  <a:pt x="2047" y="5433"/>
                </a:cubicBezTo>
                <a:lnTo>
                  <a:pt x="2047" y="5721"/>
                </a:lnTo>
                <a:lnTo>
                  <a:pt x="1484" y="5721"/>
                </a:lnTo>
                <a:cubicBezTo>
                  <a:pt x="1120" y="5721"/>
                  <a:pt x="824" y="5425"/>
                  <a:pt x="824" y="5061"/>
                </a:cubicBezTo>
                <a:lnTo>
                  <a:pt x="349" y="5061"/>
                </a:lnTo>
                <a:cubicBezTo>
                  <a:pt x="349" y="5687"/>
                  <a:pt x="859" y="6196"/>
                  <a:pt x="1484" y="6196"/>
                </a:cubicBezTo>
                <a:lnTo>
                  <a:pt x="2047" y="6196"/>
                </a:lnTo>
                <a:lnTo>
                  <a:pt x="2047" y="6484"/>
                </a:lnTo>
                <a:cubicBezTo>
                  <a:pt x="2047" y="6539"/>
                  <a:pt x="2105" y="6573"/>
                  <a:pt x="2153" y="6545"/>
                </a:cubicBezTo>
                <a:lnTo>
                  <a:pt x="3063" y="6020"/>
                </a:lnTo>
                <a:cubicBezTo>
                  <a:pt x="3109" y="5993"/>
                  <a:pt x="3109" y="5924"/>
                  <a:pt x="3063" y="5897"/>
                </a:cubicBezTo>
                <a:close/>
                <a:moveTo>
                  <a:pt x="3788" y="3008"/>
                </a:moveTo>
                <a:cubicBezTo>
                  <a:pt x="3647" y="3008"/>
                  <a:pt x="3531" y="3123"/>
                  <a:pt x="3531" y="3265"/>
                </a:cubicBezTo>
                <a:cubicBezTo>
                  <a:pt x="3531" y="3407"/>
                  <a:pt x="3645" y="3523"/>
                  <a:pt x="3788" y="3523"/>
                </a:cubicBezTo>
                <a:cubicBezTo>
                  <a:pt x="3929" y="3523"/>
                  <a:pt x="4045" y="3408"/>
                  <a:pt x="4045" y="3265"/>
                </a:cubicBezTo>
                <a:cubicBezTo>
                  <a:pt x="4045" y="3123"/>
                  <a:pt x="3929" y="3008"/>
                  <a:pt x="3788" y="3008"/>
                </a:cubicBezTo>
                <a:close/>
                <a:moveTo>
                  <a:pt x="1092" y="3008"/>
                </a:moveTo>
                <a:cubicBezTo>
                  <a:pt x="951" y="3008"/>
                  <a:pt x="835" y="3123"/>
                  <a:pt x="835" y="3265"/>
                </a:cubicBezTo>
                <a:cubicBezTo>
                  <a:pt x="835" y="3407"/>
                  <a:pt x="949" y="3523"/>
                  <a:pt x="1092" y="3523"/>
                </a:cubicBezTo>
                <a:cubicBezTo>
                  <a:pt x="1233" y="3523"/>
                  <a:pt x="1349" y="3408"/>
                  <a:pt x="1349" y="3265"/>
                </a:cubicBezTo>
                <a:cubicBezTo>
                  <a:pt x="1349" y="3123"/>
                  <a:pt x="1233" y="3008"/>
                  <a:pt x="1092" y="3008"/>
                </a:cubicBezTo>
                <a:close/>
                <a:moveTo>
                  <a:pt x="4881" y="2177"/>
                </a:moveTo>
                <a:lnTo>
                  <a:pt x="4881" y="4353"/>
                </a:lnTo>
                <a:cubicBezTo>
                  <a:pt x="4881" y="4587"/>
                  <a:pt x="4692" y="4776"/>
                  <a:pt x="4459" y="4776"/>
                </a:cubicBezTo>
                <a:lnTo>
                  <a:pt x="423" y="4776"/>
                </a:lnTo>
                <a:cubicBezTo>
                  <a:pt x="189" y="4776"/>
                  <a:pt x="0" y="4587"/>
                  <a:pt x="0" y="4353"/>
                </a:cubicBezTo>
                <a:lnTo>
                  <a:pt x="0" y="2177"/>
                </a:lnTo>
                <a:cubicBezTo>
                  <a:pt x="0" y="1944"/>
                  <a:pt x="189" y="1755"/>
                  <a:pt x="423" y="1755"/>
                </a:cubicBezTo>
                <a:lnTo>
                  <a:pt x="4459" y="1755"/>
                </a:lnTo>
                <a:cubicBezTo>
                  <a:pt x="4691" y="1753"/>
                  <a:pt x="4881" y="1944"/>
                  <a:pt x="4881" y="2177"/>
                </a:cubicBezTo>
                <a:close/>
                <a:moveTo>
                  <a:pt x="4520" y="2635"/>
                </a:moveTo>
                <a:cubicBezTo>
                  <a:pt x="4487" y="2643"/>
                  <a:pt x="4451" y="2648"/>
                  <a:pt x="4415" y="2648"/>
                </a:cubicBezTo>
                <a:cubicBezTo>
                  <a:pt x="4179" y="2648"/>
                  <a:pt x="3987" y="2456"/>
                  <a:pt x="3987" y="2220"/>
                </a:cubicBezTo>
                <a:cubicBezTo>
                  <a:pt x="3987" y="2184"/>
                  <a:pt x="3991" y="2149"/>
                  <a:pt x="4000" y="2116"/>
                </a:cubicBezTo>
                <a:lnTo>
                  <a:pt x="856" y="2116"/>
                </a:lnTo>
                <a:cubicBezTo>
                  <a:pt x="861" y="2141"/>
                  <a:pt x="864" y="2168"/>
                  <a:pt x="864" y="2195"/>
                </a:cubicBezTo>
                <a:cubicBezTo>
                  <a:pt x="864" y="2431"/>
                  <a:pt x="672" y="2623"/>
                  <a:pt x="436" y="2623"/>
                </a:cubicBezTo>
                <a:cubicBezTo>
                  <a:pt x="411" y="2623"/>
                  <a:pt x="385" y="2620"/>
                  <a:pt x="361" y="2616"/>
                </a:cubicBezTo>
                <a:lnTo>
                  <a:pt x="361" y="3916"/>
                </a:lnTo>
                <a:cubicBezTo>
                  <a:pt x="385" y="3912"/>
                  <a:pt x="411" y="3909"/>
                  <a:pt x="436" y="3909"/>
                </a:cubicBezTo>
                <a:cubicBezTo>
                  <a:pt x="672" y="3909"/>
                  <a:pt x="864" y="4101"/>
                  <a:pt x="864" y="4337"/>
                </a:cubicBezTo>
                <a:cubicBezTo>
                  <a:pt x="864" y="4364"/>
                  <a:pt x="861" y="4391"/>
                  <a:pt x="856" y="4416"/>
                </a:cubicBezTo>
                <a:lnTo>
                  <a:pt x="3988" y="4416"/>
                </a:lnTo>
                <a:cubicBezTo>
                  <a:pt x="3985" y="4399"/>
                  <a:pt x="3984" y="4381"/>
                  <a:pt x="3984" y="4363"/>
                </a:cubicBezTo>
                <a:cubicBezTo>
                  <a:pt x="3984" y="4127"/>
                  <a:pt x="4176" y="3935"/>
                  <a:pt x="4412" y="3935"/>
                </a:cubicBezTo>
                <a:cubicBezTo>
                  <a:pt x="4448" y="3935"/>
                  <a:pt x="4484" y="3940"/>
                  <a:pt x="4517" y="3948"/>
                </a:cubicBezTo>
                <a:lnTo>
                  <a:pt x="4517" y="2635"/>
                </a:lnTo>
                <a:lnTo>
                  <a:pt x="4520" y="2635"/>
                </a:lnTo>
                <a:close/>
                <a:moveTo>
                  <a:pt x="3367" y="3265"/>
                </a:moveTo>
                <a:cubicBezTo>
                  <a:pt x="3367" y="3777"/>
                  <a:pt x="2952" y="4192"/>
                  <a:pt x="2440" y="4192"/>
                </a:cubicBezTo>
                <a:cubicBezTo>
                  <a:pt x="1928" y="4192"/>
                  <a:pt x="1513" y="3777"/>
                  <a:pt x="1513" y="3265"/>
                </a:cubicBezTo>
                <a:cubicBezTo>
                  <a:pt x="1513" y="2753"/>
                  <a:pt x="1928" y="2339"/>
                  <a:pt x="2440" y="2339"/>
                </a:cubicBezTo>
                <a:cubicBezTo>
                  <a:pt x="2952" y="2339"/>
                  <a:pt x="3367" y="2753"/>
                  <a:pt x="3367" y="3265"/>
                </a:cubicBezTo>
                <a:close/>
                <a:moveTo>
                  <a:pt x="2976" y="3265"/>
                </a:moveTo>
                <a:cubicBezTo>
                  <a:pt x="2976" y="2969"/>
                  <a:pt x="2735" y="2729"/>
                  <a:pt x="2440" y="2729"/>
                </a:cubicBezTo>
                <a:cubicBezTo>
                  <a:pt x="2144" y="2729"/>
                  <a:pt x="1904" y="2971"/>
                  <a:pt x="1904" y="3265"/>
                </a:cubicBezTo>
                <a:cubicBezTo>
                  <a:pt x="1904" y="3561"/>
                  <a:pt x="2145" y="3801"/>
                  <a:pt x="2440" y="3801"/>
                </a:cubicBezTo>
                <a:cubicBezTo>
                  <a:pt x="2736" y="3801"/>
                  <a:pt x="2976" y="3561"/>
                  <a:pt x="2976" y="3265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237059" y="2743897"/>
            <a:ext cx="253365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Trade Rationale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37059" y="3354818"/>
            <a:ext cx="2533650" cy="190119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BYD’s valuation discount and Tesla’s overextension create a spread trade. The pair trade is compelling due to BYD's undervaluation and Tesla's unsustainable valuation.</a:t>
            </a:r>
          </a:p>
        </p:txBody>
      </p:sp>
      <p:sp>
        <p:nvSpPr>
          <p:cNvPr id="8" name="Freeform 8"/>
          <p:cNvSpPr/>
          <p:nvPr/>
        </p:nvSpPr>
        <p:spPr>
          <a:xfrm>
            <a:off x="5457032" y="1142999"/>
            <a:ext cx="1277938" cy="1463675"/>
          </a:xfrm>
          <a:custGeom>
            <a:avLst/>
            <a:gdLst/>
            <a:ahLst/>
            <a:cxnLst/>
            <a:rect l="l" t="t" r="r" b="b"/>
            <a:pathLst>
              <a:path w="13408" h="15341">
                <a:moveTo>
                  <a:pt x="11023" y="2385"/>
                </a:moveTo>
                <a:cubicBezTo>
                  <a:pt x="13408" y="4770"/>
                  <a:pt x="13408" y="8637"/>
                  <a:pt x="11023" y="11022"/>
                </a:cubicBezTo>
                <a:cubicBezTo>
                  <a:pt x="9584" y="12462"/>
                  <a:pt x="8144" y="13902"/>
                  <a:pt x="6704" y="15341"/>
                </a:cubicBezTo>
                <a:cubicBezTo>
                  <a:pt x="5265" y="13902"/>
                  <a:pt x="3825" y="12462"/>
                  <a:pt x="2386" y="11022"/>
                </a:cubicBezTo>
                <a:cubicBezTo>
                  <a:pt x="0" y="8637"/>
                  <a:pt x="0" y="4770"/>
                  <a:pt x="2386" y="2385"/>
                </a:cubicBezTo>
                <a:cubicBezTo>
                  <a:pt x="4771" y="0"/>
                  <a:pt x="8638" y="0"/>
                  <a:pt x="11023" y="2385"/>
                </a:cubicBezTo>
              </a:path>
            </a:pathLst>
          </a:custGeom>
          <a:solidFill>
            <a:srgbClr val="FFFFFF"/>
          </a:solidFill>
          <a:ln w="15875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619751" y="1328736"/>
            <a:ext cx="952500" cy="952500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5798197" y="1530348"/>
            <a:ext cx="595608" cy="549276"/>
          </a:xfrm>
          <a:custGeom>
            <a:avLst/>
            <a:gdLst/>
            <a:ahLst/>
            <a:cxnLst/>
            <a:rect l="l" t="t" r="r" b="b"/>
            <a:pathLst>
              <a:path w="609156" h="561771">
                <a:moveTo>
                  <a:pt x="392435" y="452324"/>
                </a:moveTo>
                <a:lnTo>
                  <a:pt x="427863" y="452324"/>
                </a:lnTo>
                <a:cubicBezTo>
                  <a:pt x="432070" y="452324"/>
                  <a:pt x="435529" y="455685"/>
                  <a:pt x="435435" y="459885"/>
                </a:cubicBezTo>
                <a:lnTo>
                  <a:pt x="435435" y="474634"/>
                </a:lnTo>
                <a:lnTo>
                  <a:pt x="435435" y="539321"/>
                </a:lnTo>
                <a:lnTo>
                  <a:pt x="435435" y="553976"/>
                </a:lnTo>
                <a:cubicBezTo>
                  <a:pt x="435435" y="558270"/>
                  <a:pt x="432070" y="561630"/>
                  <a:pt x="427863" y="561630"/>
                </a:cubicBezTo>
                <a:lnTo>
                  <a:pt x="392435" y="561630"/>
                </a:lnTo>
                <a:cubicBezTo>
                  <a:pt x="388228" y="561630"/>
                  <a:pt x="384863" y="558270"/>
                  <a:pt x="384863" y="553976"/>
                </a:cubicBezTo>
                <a:lnTo>
                  <a:pt x="384863" y="539321"/>
                </a:lnTo>
                <a:lnTo>
                  <a:pt x="384863" y="474634"/>
                </a:lnTo>
                <a:lnTo>
                  <a:pt x="384863" y="459885"/>
                </a:lnTo>
                <a:cubicBezTo>
                  <a:pt x="384863" y="455685"/>
                  <a:pt x="388228" y="452324"/>
                  <a:pt x="392435" y="452324"/>
                </a:cubicBezTo>
                <a:close/>
                <a:moveTo>
                  <a:pt x="464152" y="409985"/>
                </a:moveTo>
                <a:lnTo>
                  <a:pt x="499488" y="409985"/>
                </a:lnTo>
                <a:cubicBezTo>
                  <a:pt x="503788" y="409985"/>
                  <a:pt x="507153" y="413348"/>
                  <a:pt x="507153" y="417551"/>
                </a:cubicBezTo>
                <a:lnTo>
                  <a:pt x="507153" y="474622"/>
                </a:lnTo>
                <a:lnTo>
                  <a:pt x="507153" y="496853"/>
                </a:lnTo>
                <a:lnTo>
                  <a:pt x="507153" y="553923"/>
                </a:lnTo>
                <a:cubicBezTo>
                  <a:pt x="507153" y="558127"/>
                  <a:pt x="503788" y="561489"/>
                  <a:pt x="499488" y="561489"/>
                </a:cubicBezTo>
                <a:lnTo>
                  <a:pt x="464152" y="561489"/>
                </a:lnTo>
                <a:cubicBezTo>
                  <a:pt x="459852" y="561489"/>
                  <a:pt x="456487" y="558127"/>
                  <a:pt x="456487" y="553923"/>
                </a:cubicBezTo>
                <a:lnTo>
                  <a:pt x="456487" y="496853"/>
                </a:lnTo>
                <a:lnTo>
                  <a:pt x="456487" y="474622"/>
                </a:lnTo>
                <a:lnTo>
                  <a:pt x="456487" y="417551"/>
                </a:lnTo>
                <a:cubicBezTo>
                  <a:pt x="456487" y="413348"/>
                  <a:pt x="459852" y="409985"/>
                  <a:pt x="464152" y="409985"/>
                </a:cubicBezTo>
                <a:close/>
                <a:moveTo>
                  <a:pt x="553539" y="277886"/>
                </a:moveTo>
                <a:cubicBezTo>
                  <a:pt x="555408" y="277886"/>
                  <a:pt x="557277" y="278727"/>
                  <a:pt x="558399" y="280594"/>
                </a:cubicBezTo>
                <a:lnTo>
                  <a:pt x="608220" y="360717"/>
                </a:lnTo>
                <a:cubicBezTo>
                  <a:pt x="610743" y="364546"/>
                  <a:pt x="607846" y="369495"/>
                  <a:pt x="603359" y="369402"/>
                </a:cubicBezTo>
                <a:lnTo>
                  <a:pt x="578776" y="369402"/>
                </a:lnTo>
                <a:lnTo>
                  <a:pt x="578776" y="429074"/>
                </a:lnTo>
                <a:lnTo>
                  <a:pt x="578776" y="432529"/>
                </a:lnTo>
                <a:lnTo>
                  <a:pt x="578776" y="554674"/>
                </a:lnTo>
                <a:cubicBezTo>
                  <a:pt x="578589" y="558690"/>
                  <a:pt x="575224" y="561771"/>
                  <a:pt x="571205" y="561771"/>
                </a:cubicBezTo>
                <a:lnTo>
                  <a:pt x="535779" y="561771"/>
                </a:lnTo>
                <a:cubicBezTo>
                  <a:pt x="531573" y="561771"/>
                  <a:pt x="528208" y="558409"/>
                  <a:pt x="528208" y="554207"/>
                </a:cubicBezTo>
                <a:lnTo>
                  <a:pt x="528208" y="369495"/>
                </a:lnTo>
                <a:lnTo>
                  <a:pt x="503625" y="369495"/>
                </a:lnTo>
                <a:cubicBezTo>
                  <a:pt x="499138" y="369495"/>
                  <a:pt x="496427" y="364546"/>
                  <a:pt x="498764" y="360717"/>
                </a:cubicBezTo>
                <a:lnTo>
                  <a:pt x="548678" y="280594"/>
                </a:lnTo>
                <a:cubicBezTo>
                  <a:pt x="549800" y="278727"/>
                  <a:pt x="551669" y="277886"/>
                  <a:pt x="553539" y="277886"/>
                </a:cubicBezTo>
                <a:close/>
                <a:moveTo>
                  <a:pt x="248743" y="0"/>
                </a:moveTo>
                <a:lnTo>
                  <a:pt x="260245" y="0"/>
                </a:lnTo>
                <a:lnTo>
                  <a:pt x="271654" y="0"/>
                </a:lnTo>
                <a:cubicBezTo>
                  <a:pt x="325049" y="0"/>
                  <a:pt x="368159" y="43234"/>
                  <a:pt x="368159" y="96367"/>
                </a:cubicBezTo>
                <a:lnTo>
                  <a:pt x="368159" y="203287"/>
                </a:lnTo>
                <a:cubicBezTo>
                  <a:pt x="368159" y="220002"/>
                  <a:pt x="359555" y="234849"/>
                  <a:pt x="346651" y="243440"/>
                </a:cubicBezTo>
                <a:lnTo>
                  <a:pt x="346651" y="346532"/>
                </a:lnTo>
                <a:cubicBezTo>
                  <a:pt x="346651" y="348399"/>
                  <a:pt x="347586" y="349987"/>
                  <a:pt x="349269" y="351014"/>
                </a:cubicBezTo>
                <a:cubicBezTo>
                  <a:pt x="359368" y="355869"/>
                  <a:pt x="396399" y="374545"/>
                  <a:pt x="440257" y="403493"/>
                </a:cubicBezTo>
                <a:cubicBezTo>
                  <a:pt x="437732" y="407602"/>
                  <a:pt x="436236" y="412457"/>
                  <a:pt x="436236" y="417687"/>
                </a:cubicBezTo>
                <a:lnTo>
                  <a:pt x="436236" y="433748"/>
                </a:lnTo>
                <a:cubicBezTo>
                  <a:pt x="433617" y="432908"/>
                  <a:pt x="430812" y="432441"/>
                  <a:pt x="427820" y="432441"/>
                </a:cubicBezTo>
                <a:lnTo>
                  <a:pt x="392378" y="432441"/>
                </a:lnTo>
                <a:cubicBezTo>
                  <a:pt x="377136" y="432441"/>
                  <a:pt x="364699" y="444767"/>
                  <a:pt x="364699" y="460081"/>
                </a:cubicBezTo>
                <a:lnTo>
                  <a:pt x="364699" y="474742"/>
                </a:lnTo>
                <a:lnTo>
                  <a:pt x="364699" y="539454"/>
                </a:lnTo>
                <a:lnTo>
                  <a:pt x="364699" y="554207"/>
                </a:lnTo>
                <a:cubicBezTo>
                  <a:pt x="364699" y="556822"/>
                  <a:pt x="365073" y="559250"/>
                  <a:pt x="365821" y="561771"/>
                </a:cubicBezTo>
                <a:lnTo>
                  <a:pt x="294471" y="561771"/>
                </a:lnTo>
                <a:lnTo>
                  <a:pt x="272215" y="459521"/>
                </a:lnTo>
                <a:cubicBezTo>
                  <a:pt x="317288" y="396676"/>
                  <a:pt x="268848" y="393688"/>
                  <a:pt x="260339" y="393595"/>
                </a:cubicBezTo>
                <a:cubicBezTo>
                  <a:pt x="251829" y="393688"/>
                  <a:pt x="203390" y="396676"/>
                  <a:pt x="248463" y="459521"/>
                </a:cubicBezTo>
                <a:lnTo>
                  <a:pt x="226207" y="561771"/>
                </a:lnTo>
                <a:lnTo>
                  <a:pt x="0" y="561771"/>
                </a:lnTo>
                <a:lnTo>
                  <a:pt x="0" y="488468"/>
                </a:lnTo>
                <a:cubicBezTo>
                  <a:pt x="0" y="472874"/>
                  <a:pt x="6826" y="458213"/>
                  <a:pt x="18796" y="448315"/>
                </a:cubicBezTo>
                <a:cubicBezTo>
                  <a:pt x="85190" y="393968"/>
                  <a:pt x="156633" y="357830"/>
                  <a:pt x="171221" y="350734"/>
                </a:cubicBezTo>
                <a:cubicBezTo>
                  <a:pt x="172811" y="349987"/>
                  <a:pt x="173840" y="348399"/>
                  <a:pt x="173840" y="346532"/>
                </a:cubicBezTo>
                <a:lnTo>
                  <a:pt x="173840" y="243440"/>
                </a:lnTo>
                <a:cubicBezTo>
                  <a:pt x="160841" y="234849"/>
                  <a:pt x="152238" y="220095"/>
                  <a:pt x="152238" y="203287"/>
                </a:cubicBezTo>
                <a:lnTo>
                  <a:pt x="152238" y="96367"/>
                </a:lnTo>
                <a:cubicBezTo>
                  <a:pt x="152238" y="43048"/>
                  <a:pt x="195534" y="0"/>
                  <a:pt x="248743" y="0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9049148" y="1142999"/>
            <a:ext cx="1277938" cy="1463675"/>
          </a:xfrm>
          <a:custGeom>
            <a:avLst/>
            <a:gdLst/>
            <a:ahLst/>
            <a:cxnLst/>
            <a:rect l="l" t="t" r="r" b="b"/>
            <a:pathLst>
              <a:path w="13408" h="15341">
                <a:moveTo>
                  <a:pt x="11023" y="2385"/>
                </a:moveTo>
                <a:cubicBezTo>
                  <a:pt x="13408" y="4770"/>
                  <a:pt x="13408" y="8637"/>
                  <a:pt x="11023" y="11022"/>
                </a:cubicBezTo>
                <a:cubicBezTo>
                  <a:pt x="9584" y="12462"/>
                  <a:pt x="8144" y="13902"/>
                  <a:pt x="6704" y="15341"/>
                </a:cubicBezTo>
                <a:cubicBezTo>
                  <a:pt x="5265" y="13902"/>
                  <a:pt x="3825" y="12462"/>
                  <a:pt x="2386" y="11022"/>
                </a:cubicBezTo>
                <a:cubicBezTo>
                  <a:pt x="0" y="8637"/>
                  <a:pt x="0" y="4770"/>
                  <a:pt x="2386" y="2385"/>
                </a:cubicBezTo>
                <a:cubicBezTo>
                  <a:pt x="4771" y="0"/>
                  <a:pt x="8638" y="0"/>
                  <a:pt x="11023" y="2385"/>
                </a:cubicBezTo>
              </a:path>
            </a:pathLst>
          </a:cu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211867" y="1328736"/>
            <a:ext cx="952500" cy="952500"/>
          </a:xfrm>
          <a:prstGeom prst="ellipse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9407671" y="1511300"/>
            <a:ext cx="560892" cy="587374"/>
          </a:xfrm>
          <a:custGeom>
            <a:avLst/>
            <a:gdLst/>
            <a:ahLst/>
            <a:cxnLst/>
            <a:rect l="l" t="t" r="r" b="b"/>
            <a:pathLst>
              <a:path w="560501" h="586963">
                <a:moveTo>
                  <a:pt x="446809" y="409068"/>
                </a:moveTo>
                <a:cubicBezTo>
                  <a:pt x="451079" y="409068"/>
                  <a:pt x="454547" y="412534"/>
                  <a:pt x="454547" y="416800"/>
                </a:cubicBezTo>
                <a:lnTo>
                  <a:pt x="454547" y="423021"/>
                </a:lnTo>
                <a:cubicBezTo>
                  <a:pt x="460329" y="423288"/>
                  <a:pt x="465043" y="423999"/>
                  <a:pt x="469046" y="425065"/>
                </a:cubicBezTo>
                <a:cubicBezTo>
                  <a:pt x="473849" y="426398"/>
                  <a:pt x="476784" y="431375"/>
                  <a:pt x="475539" y="436174"/>
                </a:cubicBezTo>
                <a:lnTo>
                  <a:pt x="475361" y="436797"/>
                </a:lnTo>
                <a:cubicBezTo>
                  <a:pt x="474827" y="439107"/>
                  <a:pt x="473315" y="440974"/>
                  <a:pt x="471269" y="442129"/>
                </a:cubicBezTo>
                <a:cubicBezTo>
                  <a:pt x="469224" y="443284"/>
                  <a:pt x="466822" y="443551"/>
                  <a:pt x="464510" y="442929"/>
                </a:cubicBezTo>
                <a:cubicBezTo>
                  <a:pt x="460685" y="441685"/>
                  <a:pt x="455971" y="440796"/>
                  <a:pt x="450100" y="440796"/>
                </a:cubicBezTo>
                <a:cubicBezTo>
                  <a:pt x="439782" y="440796"/>
                  <a:pt x="436491" y="445239"/>
                  <a:pt x="436491" y="449683"/>
                </a:cubicBezTo>
                <a:cubicBezTo>
                  <a:pt x="436491" y="454927"/>
                  <a:pt x="442006" y="458215"/>
                  <a:pt x="455526" y="463281"/>
                </a:cubicBezTo>
                <a:cubicBezTo>
                  <a:pt x="474472" y="469946"/>
                  <a:pt x="482032" y="478745"/>
                  <a:pt x="482032" y="492964"/>
                </a:cubicBezTo>
                <a:cubicBezTo>
                  <a:pt x="482032" y="507095"/>
                  <a:pt x="472070" y="519182"/>
                  <a:pt x="453747" y="522381"/>
                </a:cubicBezTo>
                <a:lnTo>
                  <a:pt x="453747" y="530735"/>
                </a:lnTo>
                <a:cubicBezTo>
                  <a:pt x="453747" y="535001"/>
                  <a:pt x="450278" y="538556"/>
                  <a:pt x="446009" y="538556"/>
                </a:cubicBezTo>
                <a:cubicBezTo>
                  <a:pt x="441650" y="538556"/>
                  <a:pt x="438270" y="535090"/>
                  <a:pt x="438270" y="530735"/>
                </a:cubicBezTo>
                <a:lnTo>
                  <a:pt x="438270" y="523448"/>
                </a:lnTo>
                <a:cubicBezTo>
                  <a:pt x="431777" y="523181"/>
                  <a:pt x="425373" y="521937"/>
                  <a:pt x="420036" y="520337"/>
                </a:cubicBezTo>
                <a:cubicBezTo>
                  <a:pt x="414966" y="518737"/>
                  <a:pt x="412031" y="513494"/>
                  <a:pt x="413365" y="508339"/>
                </a:cubicBezTo>
                <a:lnTo>
                  <a:pt x="413543" y="507806"/>
                </a:lnTo>
                <a:cubicBezTo>
                  <a:pt x="414077" y="505495"/>
                  <a:pt x="415589" y="503540"/>
                  <a:pt x="417724" y="502385"/>
                </a:cubicBezTo>
                <a:cubicBezTo>
                  <a:pt x="419858" y="501318"/>
                  <a:pt x="422260" y="501052"/>
                  <a:pt x="424572" y="501852"/>
                </a:cubicBezTo>
                <a:cubicBezTo>
                  <a:pt x="429820" y="503718"/>
                  <a:pt x="435869" y="505051"/>
                  <a:pt x="442362" y="505051"/>
                </a:cubicBezTo>
                <a:cubicBezTo>
                  <a:pt x="451345" y="505051"/>
                  <a:pt x="457572" y="501585"/>
                  <a:pt x="457572" y="495186"/>
                </a:cubicBezTo>
                <a:cubicBezTo>
                  <a:pt x="457572" y="489143"/>
                  <a:pt x="452502" y="485410"/>
                  <a:pt x="440761" y="481411"/>
                </a:cubicBezTo>
                <a:cubicBezTo>
                  <a:pt x="423772" y="475634"/>
                  <a:pt x="412209" y="467724"/>
                  <a:pt x="412209" y="452349"/>
                </a:cubicBezTo>
                <a:cubicBezTo>
                  <a:pt x="412209" y="438396"/>
                  <a:pt x="421993" y="427465"/>
                  <a:pt x="438982" y="424088"/>
                </a:cubicBezTo>
                <a:lnTo>
                  <a:pt x="438982" y="416800"/>
                </a:lnTo>
                <a:cubicBezTo>
                  <a:pt x="438982" y="412534"/>
                  <a:pt x="442451" y="409068"/>
                  <a:pt x="446809" y="409068"/>
                </a:cubicBezTo>
                <a:close/>
                <a:moveTo>
                  <a:pt x="447093" y="399133"/>
                </a:moveTo>
                <a:cubicBezTo>
                  <a:pt x="405967" y="399133"/>
                  <a:pt x="372407" y="432629"/>
                  <a:pt x="372407" y="473767"/>
                </a:cubicBezTo>
                <a:cubicBezTo>
                  <a:pt x="372407" y="514905"/>
                  <a:pt x="405967" y="548402"/>
                  <a:pt x="447093" y="548402"/>
                </a:cubicBezTo>
                <a:cubicBezTo>
                  <a:pt x="488308" y="548402"/>
                  <a:pt x="521867" y="514905"/>
                  <a:pt x="521867" y="473767"/>
                </a:cubicBezTo>
                <a:cubicBezTo>
                  <a:pt x="521867" y="432629"/>
                  <a:pt x="488308" y="399133"/>
                  <a:pt x="447093" y="399133"/>
                </a:cubicBezTo>
                <a:close/>
                <a:moveTo>
                  <a:pt x="165311" y="379995"/>
                </a:moveTo>
                <a:cubicBezTo>
                  <a:pt x="172698" y="379995"/>
                  <a:pt x="178927" y="385506"/>
                  <a:pt x="179728" y="392971"/>
                </a:cubicBezTo>
                <a:cubicBezTo>
                  <a:pt x="182042" y="414836"/>
                  <a:pt x="192721" y="434478"/>
                  <a:pt x="209808" y="448254"/>
                </a:cubicBezTo>
                <a:cubicBezTo>
                  <a:pt x="221644" y="457764"/>
                  <a:pt x="235528" y="463541"/>
                  <a:pt x="250212" y="465586"/>
                </a:cubicBezTo>
                <a:cubicBezTo>
                  <a:pt x="250212" y="465586"/>
                  <a:pt x="245050" y="447010"/>
                  <a:pt x="240778" y="433856"/>
                </a:cubicBezTo>
                <a:cubicBezTo>
                  <a:pt x="239977" y="431456"/>
                  <a:pt x="240155" y="428790"/>
                  <a:pt x="242024" y="427012"/>
                </a:cubicBezTo>
                <a:cubicBezTo>
                  <a:pt x="243982" y="425323"/>
                  <a:pt x="246830" y="425146"/>
                  <a:pt x="248966" y="426657"/>
                </a:cubicBezTo>
                <a:lnTo>
                  <a:pt x="316156" y="473851"/>
                </a:lnTo>
                <a:cubicBezTo>
                  <a:pt x="319538" y="476251"/>
                  <a:pt x="321496" y="480073"/>
                  <a:pt x="321407" y="484161"/>
                </a:cubicBezTo>
                <a:cubicBezTo>
                  <a:pt x="321229" y="488250"/>
                  <a:pt x="319004" y="491983"/>
                  <a:pt x="315622" y="494116"/>
                </a:cubicBezTo>
                <a:lnTo>
                  <a:pt x="245584" y="537133"/>
                </a:lnTo>
                <a:cubicBezTo>
                  <a:pt x="243448" y="538555"/>
                  <a:pt x="240511" y="538200"/>
                  <a:pt x="238731" y="536422"/>
                </a:cubicBezTo>
                <a:cubicBezTo>
                  <a:pt x="236862" y="534556"/>
                  <a:pt x="236862" y="531889"/>
                  <a:pt x="237841" y="529489"/>
                </a:cubicBezTo>
                <a:cubicBezTo>
                  <a:pt x="245940" y="509136"/>
                  <a:pt x="251013" y="495004"/>
                  <a:pt x="251013" y="495004"/>
                </a:cubicBezTo>
                <a:cubicBezTo>
                  <a:pt x="229387" y="492960"/>
                  <a:pt x="208918" y="484695"/>
                  <a:pt x="191653" y="470741"/>
                </a:cubicBezTo>
                <a:cubicBezTo>
                  <a:pt x="168515" y="452076"/>
                  <a:pt x="154009" y="425501"/>
                  <a:pt x="150894" y="395993"/>
                </a:cubicBezTo>
                <a:cubicBezTo>
                  <a:pt x="150093" y="387994"/>
                  <a:pt x="155878" y="380884"/>
                  <a:pt x="163798" y="380084"/>
                </a:cubicBezTo>
                <a:cubicBezTo>
                  <a:pt x="164332" y="379995"/>
                  <a:pt x="164866" y="379995"/>
                  <a:pt x="165311" y="379995"/>
                </a:cubicBezTo>
                <a:close/>
                <a:moveTo>
                  <a:pt x="447093" y="360660"/>
                </a:moveTo>
                <a:cubicBezTo>
                  <a:pt x="509672" y="360660"/>
                  <a:pt x="560501" y="411394"/>
                  <a:pt x="560501" y="473767"/>
                </a:cubicBezTo>
                <a:cubicBezTo>
                  <a:pt x="560501" y="536140"/>
                  <a:pt x="509672" y="586963"/>
                  <a:pt x="447093" y="586963"/>
                </a:cubicBezTo>
                <a:cubicBezTo>
                  <a:pt x="384603" y="586963"/>
                  <a:pt x="333774" y="536140"/>
                  <a:pt x="333774" y="473767"/>
                </a:cubicBezTo>
                <a:cubicBezTo>
                  <a:pt x="333774" y="411394"/>
                  <a:pt x="384603" y="360660"/>
                  <a:pt x="447093" y="360660"/>
                </a:cubicBezTo>
                <a:close/>
                <a:moveTo>
                  <a:pt x="99451" y="239217"/>
                </a:moveTo>
                <a:cubicBezTo>
                  <a:pt x="103101" y="239217"/>
                  <a:pt x="106128" y="242238"/>
                  <a:pt x="106128" y="245881"/>
                </a:cubicBezTo>
                <a:lnTo>
                  <a:pt x="106128" y="251213"/>
                </a:lnTo>
                <a:cubicBezTo>
                  <a:pt x="111024" y="251390"/>
                  <a:pt x="115119" y="252101"/>
                  <a:pt x="118502" y="252990"/>
                </a:cubicBezTo>
                <a:cubicBezTo>
                  <a:pt x="122685" y="254056"/>
                  <a:pt x="125178" y="258321"/>
                  <a:pt x="124110" y="262498"/>
                </a:cubicBezTo>
                <a:lnTo>
                  <a:pt x="123932" y="262942"/>
                </a:lnTo>
                <a:cubicBezTo>
                  <a:pt x="123398" y="264897"/>
                  <a:pt x="122151" y="266585"/>
                  <a:pt x="120371" y="267563"/>
                </a:cubicBezTo>
                <a:cubicBezTo>
                  <a:pt x="118680" y="268540"/>
                  <a:pt x="116632" y="268718"/>
                  <a:pt x="114674" y="268185"/>
                </a:cubicBezTo>
                <a:cubicBezTo>
                  <a:pt x="111380" y="267207"/>
                  <a:pt x="107285" y="266407"/>
                  <a:pt x="102300" y="266407"/>
                </a:cubicBezTo>
                <a:cubicBezTo>
                  <a:pt x="93487" y="266407"/>
                  <a:pt x="90639" y="270139"/>
                  <a:pt x="90639" y="273960"/>
                </a:cubicBezTo>
                <a:cubicBezTo>
                  <a:pt x="90639" y="278403"/>
                  <a:pt x="95357" y="281336"/>
                  <a:pt x="106929" y="285601"/>
                </a:cubicBezTo>
                <a:cubicBezTo>
                  <a:pt x="123131" y="291376"/>
                  <a:pt x="129629" y="298752"/>
                  <a:pt x="129629" y="311014"/>
                </a:cubicBezTo>
                <a:cubicBezTo>
                  <a:pt x="129629" y="323099"/>
                  <a:pt x="121083" y="333406"/>
                  <a:pt x="105416" y="336072"/>
                </a:cubicBezTo>
                <a:lnTo>
                  <a:pt x="105416" y="343270"/>
                </a:lnTo>
                <a:cubicBezTo>
                  <a:pt x="105416" y="346913"/>
                  <a:pt x="102478" y="349934"/>
                  <a:pt x="98828" y="349934"/>
                </a:cubicBezTo>
                <a:cubicBezTo>
                  <a:pt x="95090" y="349934"/>
                  <a:pt x="92152" y="346913"/>
                  <a:pt x="92152" y="343270"/>
                </a:cubicBezTo>
                <a:lnTo>
                  <a:pt x="92152" y="337049"/>
                </a:lnTo>
                <a:cubicBezTo>
                  <a:pt x="86544" y="336783"/>
                  <a:pt x="81113" y="335805"/>
                  <a:pt x="76573" y="334384"/>
                </a:cubicBezTo>
                <a:cubicBezTo>
                  <a:pt x="72212" y="333051"/>
                  <a:pt x="69719" y="328519"/>
                  <a:pt x="70876" y="324165"/>
                </a:cubicBezTo>
                <a:lnTo>
                  <a:pt x="70965" y="323632"/>
                </a:lnTo>
                <a:cubicBezTo>
                  <a:pt x="71499" y="321677"/>
                  <a:pt x="72835" y="319989"/>
                  <a:pt x="74615" y="319011"/>
                </a:cubicBezTo>
                <a:cubicBezTo>
                  <a:pt x="76395" y="318123"/>
                  <a:pt x="78532" y="317945"/>
                  <a:pt x="80401" y="318567"/>
                </a:cubicBezTo>
                <a:cubicBezTo>
                  <a:pt x="84941" y="320166"/>
                  <a:pt x="90193" y="321322"/>
                  <a:pt x="95713" y="321322"/>
                </a:cubicBezTo>
                <a:cubicBezTo>
                  <a:pt x="103368" y="321322"/>
                  <a:pt x="108709" y="318300"/>
                  <a:pt x="108709" y="312880"/>
                </a:cubicBezTo>
                <a:cubicBezTo>
                  <a:pt x="108709" y="307726"/>
                  <a:pt x="104348" y="304439"/>
                  <a:pt x="94288" y="301062"/>
                </a:cubicBezTo>
                <a:cubicBezTo>
                  <a:pt x="79778" y="296175"/>
                  <a:pt x="69897" y="289422"/>
                  <a:pt x="69897" y="276271"/>
                </a:cubicBezTo>
                <a:cubicBezTo>
                  <a:pt x="69897" y="264364"/>
                  <a:pt x="78265" y="254945"/>
                  <a:pt x="92775" y="252101"/>
                </a:cubicBezTo>
                <a:lnTo>
                  <a:pt x="92775" y="245881"/>
                </a:lnTo>
                <a:cubicBezTo>
                  <a:pt x="92775" y="242238"/>
                  <a:pt x="95802" y="239217"/>
                  <a:pt x="99451" y="239217"/>
                </a:cubicBezTo>
                <a:close/>
                <a:moveTo>
                  <a:pt x="99699" y="233523"/>
                </a:moveTo>
                <a:cubicBezTo>
                  <a:pt x="65962" y="233523"/>
                  <a:pt x="38634" y="260894"/>
                  <a:pt x="38634" y="294575"/>
                </a:cubicBezTo>
                <a:cubicBezTo>
                  <a:pt x="38634" y="328256"/>
                  <a:pt x="65962" y="355628"/>
                  <a:pt x="99699" y="355628"/>
                </a:cubicBezTo>
                <a:cubicBezTo>
                  <a:pt x="133437" y="355628"/>
                  <a:pt x="160854" y="328256"/>
                  <a:pt x="160854" y="294575"/>
                </a:cubicBezTo>
                <a:cubicBezTo>
                  <a:pt x="160854" y="260894"/>
                  <a:pt x="133437" y="233523"/>
                  <a:pt x="99699" y="233523"/>
                </a:cubicBezTo>
                <a:close/>
                <a:moveTo>
                  <a:pt x="99699" y="195043"/>
                </a:moveTo>
                <a:cubicBezTo>
                  <a:pt x="154712" y="195043"/>
                  <a:pt x="199488" y="239655"/>
                  <a:pt x="199488" y="294575"/>
                </a:cubicBezTo>
                <a:cubicBezTo>
                  <a:pt x="199488" y="349496"/>
                  <a:pt x="154712" y="394108"/>
                  <a:pt x="99699" y="394108"/>
                </a:cubicBezTo>
                <a:cubicBezTo>
                  <a:pt x="44776" y="394108"/>
                  <a:pt x="0" y="349496"/>
                  <a:pt x="0" y="294575"/>
                </a:cubicBezTo>
                <a:cubicBezTo>
                  <a:pt x="0" y="239655"/>
                  <a:pt x="44776" y="195043"/>
                  <a:pt x="99699" y="195043"/>
                </a:cubicBezTo>
                <a:close/>
                <a:moveTo>
                  <a:pt x="245584" y="50676"/>
                </a:moveTo>
                <a:lnTo>
                  <a:pt x="315622" y="93675"/>
                </a:lnTo>
                <a:cubicBezTo>
                  <a:pt x="319004" y="95807"/>
                  <a:pt x="321229" y="99538"/>
                  <a:pt x="321407" y="103625"/>
                </a:cubicBezTo>
                <a:cubicBezTo>
                  <a:pt x="321496" y="107711"/>
                  <a:pt x="319538" y="111531"/>
                  <a:pt x="316156" y="113930"/>
                </a:cubicBezTo>
                <a:lnTo>
                  <a:pt x="248966" y="161104"/>
                </a:lnTo>
                <a:cubicBezTo>
                  <a:pt x="246830" y="162614"/>
                  <a:pt x="243982" y="162437"/>
                  <a:pt x="242024" y="160749"/>
                </a:cubicBezTo>
                <a:cubicBezTo>
                  <a:pt x="240155" y="159061"/>
                  <a:pt x="239977" y="156396"/>
                  <a:pt x="240778" y="153908"/>
                </a:cubicBezTo>
                <a:cubicBezTo>
                  <a:pt x="245050" y="140760"/>
                  <a:pt x="250212" y="122192"/>
                  <a:pt x="250212" y="122192"/>
                </a:cubicBezTo>
                <a:cubicBezTo>
                  <a:pt x="235528" y="124236"/>
                  <a:pt x="221644" y="130010"/>
                  <a:pt x="209808" y="139516"/>
                </a:cubicBezTo>
                <a:cubicBezTo>
                  <a:pt x="192721" y="153286"/>
                  <a:pt x="182042" y="173009"/>
                  <a:pt x="179728" y="194863"/>
                </a:cubicBezTo>
                <a:cubicBezTo>
                  <a:pt x="178927" y="202237"/>
                  <a:pt x="172698" y="207745"/>
                  <a:pt x="165311" y="207745"/>
                </a:cubicBezTo>
                <a:cubicBezTo>
                  <a:pt x="164866" y="207745"/>
                  <a:pt x="164332" y="207745"/>
                  <a:pt x="163798" y="207656"/>
                </a:cubicBezTo>
                <a:cubicBezTo>
                  <a:pt x="155878" y="206856"/>
                  <a:pt x="150093" y="199749"/>
                  <a:pt x="150894" y="191754"/>
                </a:cubicBezTo>
                <a:cubicBezTo>
                  <a:pt x="154009" y="162259"/>
                  <a:pt x="168515" y="135696"/>
                  <a:pt x="191653" y="117040"/>
                </a:cubicBezTo>
                <a:cubicBezTo>
                  <a:pt x="208918" y="103092"/>
                  <a:pt x="229387" y="94830"/>
                  <a:pt x="251013" y="92786"/>
                </a:cubicBezTo>
                <a:cubicBezTo>
                  <a:pt x="251013" y="92786"/>
                  <a:pt x="245940" y="78661"/>
                  <a:pt x="237841" y="58317"/>
                </a:cubicBezTo>
                <a:cubicBezTo>
                  <a:pt x="236862" y="55918"/>
                  <a:pt x="236862" y="53253"/>
                  <a:pt x="238731" y="51387"/>
                </a:cubicBezTo>
                <a:cubicBezTo>
                  <a:pt x="240511" y="49610"/>
                  <a:pt x="243448" y="49255"/>
                  <a:pt x="245584" y="50676"/>
                </a:cubicBezTo>
                <a:close/>
                <a:moveTo>
                  <a:pt x="446809" y="48408"/>
                </a:moveTo>
                <a:cubicBezTo>
                  <a:pt x="451079" y="48408"/>
                  <a:pt x="454547" y="51874"/>
                  <a:pt x="454547" y="56140"/>
                </a:cubicBezTo>
                <a:lnTo>
                  <a:pt x="454547" y="62361"/>
                </a:lnTo>
                <a:cubicBezTo>
                  <a:pt x="460329" y="62628"/>
                  <a:pt x="465043" y="63427"/>
                  <a:pt x="469046" y="64494"/>
                </a:cubicBezTo>
                <a:cubicBezTo>
                  <a:pt x="473849" y="65738"/>
                  <a:pt x="476784" y="70715"/>
                  <a:pt x="475539" y="75603"/>
                </a:cubicBezTo>
                <a:lnTo>
                  <a:pt x="475272" y="76669"/>
                </a:lnTo>
                <a:cubicBezTo>
                  <a:pt x="474738" y="78891"/>
                  <a:pt x="473315" y="80669"/>
                  <a:pt x="471358" y="81735"/>
                </a:cubicBezTo>
                <a:cubicBezTo>
                  <a:pt x="469402" y="82802"/>
                  <a:pt x="467089" y="83068"/>
                  <a:pt x="465043" y="82446"/>
                </a:cubicBezTo>
                <a:cubicBezTo>
                  <a:pt x="461130" y="81202"/>
                  <a:pt x="456237" y="80136"/>
                  <a:pt x="450100" y="80136"/>
                </a:cubicBezTo>
                <a:cubicBezTo>
                  <a:pt x="439782" y="80136"/>
                  <a:pt x="436491" y="84579"/>
                  <a:pt x="436491" y="89023"/>
                </a:cubicBezTo>
                <a:cubicBezTo>
                  <a:pt x="436491" y="94266"/>
                  <a:pt x="442006" y="97555"/>
                  <a:pt x="455526" y="102709"/>
                </a:cubicBezTo>
                <a:cubicBezTo>
                  <a:pt x="474472" y="109375"/>
                  <a:pt x="482032" y="118084"/>
                  <a:pt x="482032" y="132393"/>
                </a:cubicBezTo>
                <a:cubicBezTo>
                  <a:pt x="482032" y="146435"/>
                  <a:pt x="472070" y="158522"/>
                  <a:pt x="453747" y="161721"/>
                </a:cubicBezTo>
                <a:lnTo>
                  <a:pt x="453747" y="170075"/>
                </a:lnTo>
                <a:cubicBezTo>
                  <a:pt x="453747" y="174430"/>
                  <a:pt x="450278" y="177896"/>
                  <a:pt x="446009" y="177896"/>
                </a:cubicBezTo>
                <a:cubicBezTo>
                  <a:pt x="441650" y="177896"/>
                  <a:pt x="438270" y="174430"/>
                  <a:pt x="438270" y="170164"/>
                </a:cubicBezTo>
                <a:lnTo>
                  <a:pt x="438270" y="162787"/>
                </a:lnTo>
                <a:cubicBezTo>
                  <a:pt x="431777" y="162521"/>
                  <a:pt x="425373" y="161365"/>
                  <a:pt x="420036" y="159677"/>
                </a:cubicBezTo>
                <a:cubicBezTo>
                  <a:pt x="414966" y="158077"/>
                  <a:pt x="412031" y="152834"/>
                  <a:pt x="413365" y="147679"/>
                </a:cubicBezTo>
                <a:lnTo>
                  <a:pt x="413543" y="147146"/>
                </a:lnTo>
                <a:cubicBezTo>
                  <a:pt x="414077" y="144835"/>
                  <a:pt x="415589" y="142880"/>
                  <a:pt x="417724" y="141725"/>
                </a:cubicBezTo>
                <a:cubicBezTo>
                  <a:pt x="419858" y="140658"/>
                  <a:pt x="422260" y="140480"/>
                  <a:pt x="424572" y="141191"/>
                </a:cubicBezTo>
                <a:cubicBezTo>
                  <a:pt x="429820" y="143147"/>
                  <a:pt x="435869" y="144391"/>
                  <a:pt x="442362" y="144391"/>
                </a:cubicBezTo>
                <a:cubicBezTo>
                  <a:pt x="451345" y="144391"/>
                  <a:pt x="457572" y="140925"/>
                  <a:pt x="457572" y="134526"/>
                </a:cubicBezTo>
                <a:cubicBezTo>
                  <a:pt x="457572" y="128571"/>
                  <a:pt x="452502" y="124750"/>
                  <a:pt x="440761" y="120751"/>
                </a:cubicBezTo>
                <a:cubicBezTo>
                  <a:pt x="423772" y="115063"/>
                  <a:pt x="412209" y="107153"/>
                  <a:pt x="412209" y="91689"/>
                </a:cubicBezTo>
                <a:cubicBezTo>
                  <a:pt x="412209" y="77736"/>
                  <a:pt x="421993" y="66805"/>
                  <a:pt x="438982" y="63516"/>
                </a:cubicBezTo>
                <a:lnTo>
                  <a:pt x="438982" y="56140"/>
                </a:lnTo>
                <a:cubicBezTo>
                  <a:pt x="438982" y="51874"/>
                  <a:pt x="442451" y="48408"/>
                  <a:pt x="446809" y="48408"/>
                </a:cubicBezTo>
                <a:close/>
                <a:moveTo>
                  <a:pt x="447093" y="38573"/>
                </a:moveTo>
                <a:cubicBezTo>
                  <a:pt x="405967" y="38573"/>
                  <a:pt x="372407" y="71992"/>
                  <a:pt x="372407" y="113142"/>
                </a:cubicBezTo>
                <a:cubicBezTo>
                  <a:pt x="372407" y="154382"/>
                  <a:pt x="405967" y="187801"/>
                  <a:pt x="447093" y="187801"/>
                </a:cubicBezTo>
                <a:cubicBezTo>
                  <a:pt x="488308" y="187801"/>
                  <a:pt x="521867" y="154382"/>
                  <a:pt x="521867" y="113142"/>
                </a:cubicBezTo>
                <a:cubicBezTo>
                  <a:pt x="521867" y="71992"/>
                  <a:pt x="488308" y="38573"/>
                  <a:pt x="447093" y="38573"/>
                </a:cubicBezTo>
                <a:close/>
                <a:moveTo>
                  <a:pt x="447093" y="0"/>
                </a:moveTo>
                <a:cubicBezTo>
                  <a:pt x="509672" y="0"/>
                  <a:pt x="560501" y="50750"/>
                  <a:pt x="560501" y="113231"/>
                </a:cubicBezTo>
                <a:cubicBezTo>
                  <a:pt x="560501" y="175624"/>
                  <a:pt x="509672" y="226374"/>
                  <a:pt x="447093" y="226374"/>
                </a:cubicBezTo>
                <a:cubicBezTo>
                  <a:pt x="384603" y="226374"/>
                  <a:pt x="333774" y="175624"/>
                  <a:pt x="333774" y="113231"/>
                </a:cubicBezTo>
                <a:cubicBezTo>
                  <a:pt x="333774" y="50750"/>
                  <a:pt x="384603" y="0"/>
                  <a:pt x="447093" y="0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4829175" y="2743897"/>
            <a:ext cx="253365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Target Spread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829175" y="3354818"/>
            <a:ext cx="2533650" cy="1669688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20% convergence in P/E ratios over 12 months is ideal. This potential convergence generates substantial returns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03916" y="2743897"/>
            <a:ext cx="253365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Monitoring Metrics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03916" y="3354818"/>
            <a:ext cx="2533650" cy="1669688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Monthly EV delivery data, policy updates, and margin trends. Adapt to market dynamics.</a:t>
            </a:r>
          </a:p>
        </p:txBody>
      </p:sp>
      <p:sp>
        <p:nvSpPr>
          <p:cNvPr id="18" name="AutoShape 18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Conclusion and Recommendations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0B529E24-BEE0-DE58-7E1D-2B7503A82808}"/>
              </a:ext>
            </a:extLst>
          </p:cNvPr>
          <p:cNvSpPr txBox="1">
            <a:spLocks/>
          </p:cNvSpPr>
          <p:nvPr/>
        </p:nvSpPr>
        <p:spPr>
          <a:xfrm>
            <a:off x="1295400" y="1219200"/>
            <a:ext cx="6377119" cy="480131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0000"/>
              </a:lnSpc>
            </a:pPr>
            <a:r>
              <a:rPr lang="en-US" sz="2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Thank you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BC3344B8-C8F4-B96E-54FB-BEAD341F02B2}"/>
              </a:ext>
            </a:extLst>
          </p:cNvPr>
          <p:cNvSpPr txBox="1">
            <a:spLocks/>
          </p:cNvSpPr>
          <p:nvPr/>
        </p:nvSpPr>
        <p:spPr>
          <a:xfrm>
            <a:off x="1371600" y="2133600"/>
            <a:ext cx="6377119" cy="480131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0000"/>
              </a:lnSpc>
            </a:pPr>
            <a:r>
              <a:rPr lang="en-US" sz="2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Team: </a:t>
            </a:r>
            <a:r>
              <a:rPr lang="en-US" sz="2800" b="1" dirty="0" err="1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AlphaStock</a:t>
            </a:r>
            <a:endParaRPr lang="en-US" sz="2800" b="1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F08300"/>
      </a:accent1>
      <a:accent2>
        <a:srgbClr val="66B3E1"/>
      </a:accent2>
      <a:accent3>
        <a:srgbClr val="1165A0"/>
      </a:accent3>
      <a:accent4>
        <a:srgbClr val="EBA417"/>
      </a:accent4>
      <a:accent5>
        <a:srgbClr val="2E9EDA"/>
      </a:accent5>
      <a:accent6>
        <a:srgbClr val="053675"/>
      </a:accent6>
      <a:hlink>
        <a:srgbClr val="4472C4"/>
      </a:hlink>
      <a:folHlink>
        <a:srgbClr val="BFBFB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1057</Words>
  <Application>Microsoft Office PowerPoint</Application>
  <PresentationFormat>宽屏</PresentationFormat>
  <Paragraphs>123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0" baseType="lpstr">
      <vt:lpstr>等线</vt:lpstr>
      <vt:lpstr>微软雅黑</vt:lpstr>
      <vt:lpstr>Arial</vt:lpstr>
      <vt:lpstr>Office Theme</vt:lpstr>
      <vt:lpstr>Pair Trade: Long BYD vs. Short Tesla</vt:lpstr>
      <vt:lpstr>PowerPoint 演示文稿</vt:lpstr>
      <vt:lpstr>Introduction</vt:lpstr>
      <vt:lpstr>Title Slide</vt:lpstr>
      <vt:lpstr>Executive Summary</vt:lpstr>
      <vt:lpstr>Industry and Company Overview</vt:lpstr>
      <vt:lpstr>Global EV Market Trends</vt:lpstr>
      <vt:lpstr>Company Overview - BYD</vt:lpstr>
      <vt:lpstr>Company Overview - Tesla</vt:lpstr>
      <vt:lpstr>Valuation Comparison</vt:lpstr>
      <vt:lpstr>Valuation Metrics</vt:lpstr>
      <vt:lpstr>Conclusion</vt:lpstr>
      <vt:lpstr>Fundamental Catalysts &amp; Risks</vt:lpstr>
      <vt:lpstr>BYD Catalysts</vt:lpstr>
      <vt:lpstr>Tesla Risks</vt:lpstr>
      <vt:lpstr>Technical Analysis</vt:lpstr>
      <vt:lpstr>PowerPoint 演示文稿</vt:lpstr>
      <vt:lpstr>Supporting Charts</vt:lpstr>
      <vt:lpstr>Risk Factors &amp; Mitigation</vt:lpstr>
      <vt:lpstr>PowerPoint 演示文稿</vt:lpstr>
      <vt:lpstr>Lithium Price Volatility</vt:lpstr>
      <vt:lpstr>PowerPoint 演示文稿</vt:lpstr>
      <vt:lpstr>Alternative Pairings &amp; Conclusion</vt:lpstr>
      <vt:lpstr>Alternative Pairings</vt:lpstr>
      <vt:lpstr>Conclusion and Recommendations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Leon F</cp:lastModifiedBy>
  <cp:revision>4</cp:revision>
  <dcterms:created xsi:type="dcterms:W3CDTF">2025-04-13T14:54:27Z</dcterms:created>
  <dcterms:modified xsi:type="dcterms:W3CDTF">2025-04-13T15:04:51Z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</Properties>
</file>