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handoutMasterIdLst>
    <p:handoutMasterId r:id="rId14"/>
  </p:handoutMasterIdLst>
  <p:sldIdLst>
    <p:sldId id="268" r:id="rId2"/>
    <p:sldId id="273" r:id="rId3"/>
    <p:sldId id="272" r:id="rId4"/>
    <p:sldId id="271" r:id="rId5"/>
    <p:sldId id="275" r:id="rId6"/>
    <p:sldId id="280" r:id="rId7"/>
    <p:sldId id="270" r:id="rId8"/>
    <p:sldId id="277" r:id="rId9"/>
    <p:sldId id="281" r:id="rId10"/>
    <p:sldId id="278" r:id="rId11"/>
    <p:sldId id="279" r:id="rId12"/>
  </p:sldIdLst>
  <p:sldSz cx="18288000" cy="10287000"/>
  <p:notesSz cx="6858000" cy="9144000"/>
  <p:embeddedFontLst>
    <p:embeddedFont>
      <p:font typeface="微软雅黑" panose="020B0503020204020204" pitchFamily="34" charset="-122"/>
      <p:regular r:id="rId15"/>
      <p:bold r:id="rId16"/>
    </p:embeddedFont>
    <p:embeddedFont>
      <p:font typeface="Book Antiqua" panose="02040602050305030304" pitchFamily="18" charset="0"/>
      <p:regular r:id="rId17"/>
      <p:bold r:id="rId18"/>
      <p:italic r:id="rId19"/>
      <p:boldItalic r:id="rId20"/>
    </p:embeddedFont>
    <p:embeddedFont>
      <p:font typeface="Cambria Math" panose="02040503050406030204" pitchFamily="18" charset="0"/>
      <p:regular r:id="rId21"/>
    </p:embeddedFont>
    <p:embeddedFont>
      <p:font typeface="Cormorant Garamond Bold Italics" panose="02010600030101010101" charset="0"/>
      <p:regular r:id="rId22"/>
    </p:embeddedFont>
    <p:embeddedFont>
      <p:font typeface="Garamond" panose="02020404030301010803" pitchFamily="18" charset="0"/>
      <p:regular r:id="rId23"/>
      <p:bold r:id="rId24"/>
      <p:italic r:id="rId25"/>
    </p:embeddedFont>
    <p:embeddedFont>
      <p:font typeface="等线" panose="02010600030101010101" pitchFamily="2" charset="-122"/>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5090" autoAdjust="0"/>
  </p:normalViewPr>
  <p:slideViewPr>
    <p:cSldViewPr>
      <p:cViewPr>
        <p:scale>
          <a:sx n="50" d="100"/>
          <a:sy n="50" d="100"/>
        </p:scale>
        <p:origin x="87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168"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CDDFBB0-732F-B21C-87DB-189976A39C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0F73EB8-00B8-4655-4621-F69F63E94E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7674D4-0DF1-42FE-856E-4760B0A68761}" type="datetimeFigureOut">
              <a:rPr lang="zh-CN" altLang="en-US" smtClean="0"/>
              <a:t>2025/5/3</a:t>
            </a:fld>
            <a:endParaRPr lang="zh-CN" altLang="en-US"/>
          </a:p>
        </p:txBody>
      </p:sp>
      <p:sp>
        <p:nvSpPr>
          <p:cNvPr id="4" name="页脚占位符 3">
            <a:extLst>
              <a:ext uri="{FF2B5EF4-FFF2-40B4-BE49-F238E27FC236}">
                <a16:creationId xmlns:a16="http://schemas.microsoft.com/office/drawing/2014/main" id="{D50B40D2-45AD-ACF8-792E-9BA82C7C7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1A4BABE2-8B4B-5733-E2A6-8C2AEA70CD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AEB3A8-1B71-4684-AC3F-CF9BE587ABC7}" type="slidenum">
              <a:rPr lang="zh-CN" altLang="en-US" smtClean="0"/>
              <a:t>‹#›</a:t>
            </a:fld>
            <a:endParaRPr lang="zh-CN" altLang="en-US"/>
          </a:p>
        </p:txBody>
      </p:sp>
    </p:spTree>
    <p:extLst>
      <p:ext uri="{BB962C8B-B14F-4D97-AF65-F5344CB8AC3E}">
        <p14:creationId xmlns:p14="http://schemas.microsoft.com/office/powerpoint/2010/main" val="3069720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9B4876-C816-4CD8-90B5-181FF05843F6}" type="datetimeFigureOut">
              <a:rPr lang="zh-CN" altLang="en-US" smtClean="0"/>
              <a:t>2025/5/2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41FFB1-CEDC-49C5-9753-C8F02407D0DC}" type="slidenum">
              <a:rPr lang="zh-CN" altLang="en-US" smtClean="0"/>
              <a:t>‹#›</a:t>
            </a:fld>
            <a:endParaRPr lang="zh-CN" altLang="en-US"/>
          </a:p>
        </p:txBody>
      </p:sp>
    </p:spTree>
    <p:extLst>
      <p:ext uri="{BB962C8B-B14F-4D97-AF65-F5344CB8AC3E}">
        <p14:creationId xmlns:p14="http://schemas.microsoft.com/office/powerpoint/2010/main" val="461795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41FFB1-CEDC-49C5-9753-C8F02407D0DC}" type="slidenum">
              <a:rPr lang="zh-CN" altLang="en-US" smtClean="0"/>
              <a:t>7</a:t>
            </a:fld>
            <a:endParaRPr lang="zh-CN" altLang="en-US"/>
          </a:p>
        </p:txBody>
      </p:sp>
    </p:spTree>
    <p:extLst>
      <p:ext uri="{BB962C8B-B14F-4D97-AF65-F5344CB8AC3E}">
        <p14:creationId xmlns:p14="http://schemas.microsoft.com/office/powerpoint/2010/main" val="39785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D5E65B4-753B-439C-9222-B55094B515D3}" type="slidenum">
              <a:rPr lang="zh-CN" altLang="en-US" smtClean="0"/>
              <a:t>8</a:t>
            </a:fld>
            <a:endParaRPr lang="zh-CN" altLang="en-US"/>
          </a:p>
        </p:txBody>
      </p:sp>
    </p:spTree>
    <p:extLst>
      <p:ext uri="{BB962C8B-B14F-4D97-AF65-F5344CB8AC3E}">
        <p14:creationId xmlns:p14="http://schemas.microsoft.com/office/powerpoint/2010/main" val="3672277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B881B-0CFF-D2CE-6AA8-852CAB5910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C2B649-B157-57B5-F373-E4C3B177BD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40218D-F472-0D30-EC12-7973040CBB1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100DDE4-6E36-9AF5-9E6D-F8CA6E5E38EE}"/>
              </a:ext>
            </a:extLst>
          </p:cNvPr>
          <p:cNvSpPr>
            <a:spLocks noGrp="1"/>
          </p:cNvSpPr>
          <p:nvPr>
            <p:ph type="sldNum" sz="quarter" idx="5"/>
          </p:nvPr>
        </p:nvSpPr>
        <p:spPr/>
        <p:txBody>
          <a:bodyPr/>
          <a:lstStyle/>
          <a:p>
            <a:fld id="{CD5E65B4-753B-439C-9222-B55094B515D3}" type="slidenum">
              <a:rPr lang="zh-CN" altLang="en-US" smtClean="0"/>
              <a:t>10</a:t>
            </a:fld>
            <a:endParaRPr lang="zh-CN" altLang="en-US"/>
          </a:p>
        </p:txBody>
      </p:sp>
    </p:spTree>
    <p:extLst>
      <p:ext uri="{BB962C8B-B14F-4D97-AF65-F5344CB8AC3E}">
        <p14:creationId xmlns:p14="http://schemas.microsoft.com/office/powerpoint/2010/main" val="3589278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D42E2-F96E-010C-4B0B-63E809E0B3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2325A4-07D4-4912-3756-9B6FCF7D93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C1D4FD-A734-2B70-E133-65A61431706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6E11088-0974-1889-88DB-E0877B179FB2}"/>
              </a:ext>
            </a:extLst>
          </p:cNvPr>
          <p:cNvSpPr>
            <a:spLocks noGrp="1"/>
          </p:cNvSpPr>
          <p:nvPr>
            <p:ph type="sldNum" sz="quarter" idx="5"/>
          </p:nvPr>
        </p:nvSpPr>
        <p:spPr/>
        <p:txBody>
          <a:bodyPr/>
          <a:lstStyle/>
          <a:p>
            <a:fld id="{CD5E65B4-753B-439C-9222-B55094B515D3}" type="slidenum">
              <a:rPr lang="zh-CN" altLang="en-US" smtClean="0"/>
              <a:t>11</a:t>
            </a:fld>
            <a:endParaRPr lang="zh-CN" altLang="en-US"/>
          </a:p>
        </p:txBody>
      </p:sp>
    </p:spTree>
    <p:extLst>
      <p:ext uri="{BB962C8B-B14F-4D97-AF65-F5344CB8AC3E}">
        <p14:creationId xmlns:p14="http://schemas.microsoft.com/office/powerpoint/2010/main" val="2683761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目录">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23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xml"/><Relationship Id="rId16"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10.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image" Target="../media/image11.png"/><Relationship Id="rId7" Type="http://schemas.openxmlformats.org/officeDocument/2006/relationships/image" Target="../media/image330.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320.png"/><Relationship Id="rId11"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360.png"/><Relationship Id="rId4" Type="http://schemas.openxmlformats.org/officeDocument/2006/relationships/image" Target="../media/image35.png"/><Relationship Id="rId9" Type="http://schemas.openxmlformats.org/officeDocument/2006/relationships/image" Target="../media/image350.png"/></Relationships>
</file>

<file path=ppt/slides/_rels/slide10.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0.png"/><Relationship Id="rId7" Type="http://schemas.openxmlformats.org/officeDocument/2006/relationships/hyperlink" Target="https://mba.tuck.dartmouth.edu/pages/faculty/ken.french/data_library.html"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9.png"/><Relationship Id="rId5" Type="http://schemas.openxmlformats.org/officeDocument/2006/relationships/image" Target="../media/image38.png"/><Relationship Id="rId10" Type="http://schemas.openxmlformats.org/officeDocument/2006/relationships/image" Target="../media/image48.png"/><Relationship Id="rId4" Type="http://schemas.openxmlformats.org/officeDocument/2006/relationships/image" Target="../media/image11.png"/><Relationship Id="rId9" Type="http://schemas.openxmlformats.org/officeDocument/2006/relationships/image" Target="../media/image47.png"/></Relationships>
</file>

<file path=ppt/slides/_rels/slide1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0.png"/><Relationship Id="rId7"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55.png"/><Relationship Id="rId4" Type="http://schemas.openxmlformats.org/officeDocument/2006/relationships/image" Target="../media/image11.png"/><Relationship Id="rId9"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1267A-F11D-3EA3-98A3-3B2B1E9DF9B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5E60339-B4BF-6972-E064-F0092FC7094F}"/>
              </a:ext>
            </a:extLst>
          </p:cNvPr>
          <p:cNvGrpSpPr/>
          <p:nvPr/>
        </p:nvGrpSpPr>
        <p:grpSpPr>
          <a:xfrm>
            <a:off x="0" y="1"/>
            <a:ext cx="18288000" cy="3392802"/>
            <a:chOff x="0" y="0"/>
            <a:chExt cx="4816593" cy="1079700"/>
          </a:xfrm>
        </p:grpSpPr>
        <p:sp>
          <p:nvSpPr>
            <p:cNvPr id="3" name="Freeform 3">
              <a:extLst>
                <a:ext uri="{FF2B5EF4-FFF2-40B4-BE49-F238E27FC236}">
                  <a16:creationId xmlns:a16="http://schemas.microsoft.com/office/drawing/2014/main" id="{D43997AB-87A2-6B11-6D66-90145345A551}"/>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zh-CN" altLang="en-US" dirty="0">
                <a:highlight>
                  <a:srgbClr val="FFFF00"/>
                </a:highlight>
              </a:endParaRPr>
            </a:p>
          </p:txBody>
        </p:sp>
        <p:sp>
          <p:nvSpPr>
            <p:cNvPr id="4" name="TextBox 4">
              <a:extLst>
                <a:ext uri="{FF2B5EF4-FFF2-40B4-BE49-F238E27FC236}">
                  <a16:creationId xmlns:a16="http://schemas.microsoft.com/office/drawing/2014/main" id="{7175DB23-0F7B-3C22-4D16-91C0356EB2FF}"/>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highlight>
                  <a:srgbClr val="FFFF00"/>
                </a:highlight>
              </a:endParaRPr>
            </a:p>
          </p:txBody>
        </p:sp>
      </p:grpSp>
      <p:sp>
        <p:nvSpPr>
          <p:cNvPr id="13" name="TextBox 13">
            <a:extLst>
              <a:ext uri="{FF2B5EF4-FFF2-40B4-BE49-F238E27FC236}">
                <a16:creationId xmlns:a16="http://schemas.microsoft.com/office/drawing/2014/main" id="{1C4E8E37-81A8-C0FB-5632-6CBF778C9FFB}"/>
              </a:ext>
            </a:extLst>
          </p:cNvPr>
          <p:cNvSpPr txBox="1"/>
          <p:nvPr/>
        </p:nvSpPr>
        <p:spPr>
          <a:xfrm>
            <a:off x="7696200" y="8191500"/>
            <a:ext cx="6492240" cy="408253"/>
          </a:xfrm>
          <a:prstGeom prst="rect">
            <a:avLst/>
          </a:prstGeom>
        </p:spPr>
        <p:txBody>
          <a:bodyPr wrap="square" lIns="0" tIns="0" rIns="0" bIns="0" rtlCol="0" anchor="t">
            <a:spAutoFit/>
          </a:bodyPr>
          <a:lstStyle/>
          <a:p>
            <a:pPr marL="0" lvl="0" indent="0" algn="ctr">
              <a:lnSpc>
                <a:spcPts val="3359"/>
              </a:lnSpc>
              <a:spcBef>
                <a:spcPct val="0"/>
              </a:spcBef>
            </a:pPr>
            <a:r>
              <a:rPr lang="en-US" altLang="zh-CN" sz="2400" dirty="0">
                <a:solidFill>
                  <a:srgbClr val="0F4662"/>
                </a:solidFill>
                <a:latin typeface="InterVariable"/>
                <a:ea typeface="Quicksand"/>
                <a:cs typeface="Quicksand"/>
                <a:sym typeface="Quicksand"/>
              </a:rPr>
              <a:t>Macalester College, USA ( May 2028 )</a:t>
            </a:r>
            <a:endParaRPr lang="en-US" sz="2400" dirty="0">
              <a:solidFill>
                <a:srgbClr val="0F4662"/>
              </a:solidFill>
              <a:latin typeface="InterVariable"/>
              <a:ea typeface="Quicksand"/>
              <a:cs typeface="Quicksand"/>
              <a:sym typeface="Quicksand"/>
            </a:endParaRPr>
          </a:p>
        </p:txBody>
      </p:sp>
      <p:sp>
        <p:nvSpPr>
          <p:cNvPr id="15" name="TextBox 15">
            <a:extLst>
              <a:ext uri="{FF2B5EF4-FFF2-40B4-BE49-F238E27FC236}">
                <a16:creationId xmlns:a16="http://schemas.microsoft.com/office/drawing/2014/main" id="{D4DE2AF3-708E-CDCC-6769-E1296BC979BF}"/>
              </a:ext>
            </a:extLst>
          </p:cNvPr>
          <p:cNvSpPr txBox="1"/>
          <p:nvPr/>
        </p:nvSpPr>
        <p:spPr>
          <a:xfrm>
            <a:off x="6545590" y="7391732"/>
            <a:ext cx="9250660" cy="408253"/>
          </a:xfrm>
          <a:prstGeom prst="rect">
            <a:avLst/>
          </a:prstGeom>
        </p:spPr>
        <p:txBody>
          <a:bodyPr wrap="square" lIns="0" tIns="0" rIns="0" bIns="0" rtlCol="0" anchor="t">
            <a:spAutoFit/>
          </a:bodyPr>
          <a:lstStyle/>
          <a:p>
            <a:pPr marL="0" lvl="0" indent="0" algn="ctr">
              <a:lnSpc>
                <a:spcPts val="3359"/>
              </a:lnSpc>
              <a:spcBef>
                <a:spcPct val="0"/>
              </a:spcBef>
            </a:pPr>
            <a:r>
              <a:rPr lang="en-US" sz="2400" dirty="0">
                <a:solidFill>
                  <a:srgbClr val="0F4662"/>
                </a:solidFill>
                <a:latin typeface="InterVariable"/>
                <a:ea typeface="Quicksand"/>
                <a:cs typeface="Quicksand"/>
                <a:sym typeface="Quicksand"/>
              </a:rPr>
              <a:t>The Chinese University of Hong Kong, Shenzhen (May 2027)</a:t>
            </a:r>
          </a:p>
        </p:txBody>
      </p:sp>
      <p:sp>
        <p:nvSpPr>
          <p:cNvPr id="16" name="TextBox 16">
            <a:extLst>
              <a:ext uri="{FF2B5EF4-FFF2-40B4-BE49-F238E27FC236}">
                <a16:creationId xmlns:a16="http://schemas.microsoft.com/office/drawing/2014/main" id="{C109C783-8D77-B2AA-C3EA-08FCE35CD591}"/>
              </a:ext>
            </a:extLst>
          </p:cNvPr>
          <p:cNvSpPr txBox="1"/>
          <p:nvPr/>
        </p:nvSpPr>
        <p:spPr>
          <a:xfrm>
            <a:off x="2057400" y="7331331"/>
            <a:ext cx="5017320" cy="469872"/>
          </a:xfrm>
          <a:prstGeom prst="rect">
            <a:avLst/>
          </a:prstGeom>
        </p:spPr>
        <p:txBody>
          <a:bodyPr lIns="0" tIns="0" rIns="0" bIns="0" rtlCol="0" anchor="t">
            <a:spAutoFit/>
          </a:bodyPr>
          <a:lstStyle/>
          <a:p>
            <a:pPr marL="0" lvl="0" indent="0" algn="ctr">
              <a:lnSpc>
                <a:spcPts val="3919"/>
              </a:lnSpc>
              <a:spcBef>
                <a:spcPct val="0"/>
              </a:spcBef>
            </a:pPr>
            <a:r>
              <a:rPr lang="en-US" sz="2799" b="1" dirty="0">
                <a:solidFill>
                  <a:srgbClr val="0F4662"/>
                </a:solidFill>
                <a:latin typeface="InterVariable"/>
                <a:ea typeface="Quicksand Bold"/>
                <a:cs typeface="Quicksand Bold"/>
                <a:sym typeface="Quicksand Bold"/>
              </a:rPr>
              <a:t>Mr. Wen </a:t>
            </a:r>
            <a:r>
              <a:rPr lang="en-US" altLang="zh-CN" sz="2799" b="1" dirty="0">
                <a:solidFill>
                  <a:srgbClr val="0F4662"/>
                </a:solidFill>
                <a:latin typeface="InterVariable"/>
                <a:ea typeface="Quicksand Bold"/>
                <a:cs typeface="Quicksand Bold"/>
                <a:sym typeface="Quicksand Bold"/>
              </a:rPr>
              <a:t>Jie (Menger)</a:t>
            </a:r>
            <a:endParaRPr lang="en-US" sz="2799" b="1" dirty="0">
              <a:solidFill>
                <a:srgbClr val="0F4662"/>
              </a:solidFill>
              <a:latin typeface="InterVariable"/>
              <a:ea typeface="Quicksand Bold"/>
              <a:cs typeface="Quicksand Bold"/>
              <a:sym typeface="Quicksand Bold"/>
            </a:endParaRPr>
          </a:p>
        </p:txBody>
      </p:sp>
      <p:sp>
        <p:nvSpPr>
          <p:cNvPr id="20" name="TextBox 16">
            <a:extLst>
              <a:ext uri="{FF2B5EF4-FFF2-40B4-BE49-F238E27FC236}">
                <a16:creationId xmlns:a16="http://schemas.microsoft.com/office/drawing/2014/main" id="{4D8D87E9-EFEB-36A7-0528-14AFF87BED61}"/>
              </a:ext>
            </a:extLst>
          </p:cNvPr>
          <p:cNvSpPr txBox="1"/>
          <p:nvPr/>
        </p:nvSpPr>
        <p:spPr>
          <a:xfrm>
            <a:off x="2514600" y="8104574"/>
            <a:ext cx="5017320" cy="469872"/>
          </a:xfrm>
          <a:prstGeom prst="rect">
            <a:avLst/>
          </a:prstGeom>
        </p:spPr>
        <p:txBody>
          <a:bodyPr lIns="0" tIns="0" rIns="0" bIns="0" rtlCol="0" anchor="t">
            <a:spAutoFit/>
          </a:bodyPr>
          <a:lstStyle/>
          <a:p>
            <a:pPr marL="0" lvl="0" indent="0" algn="ctr">
              <a:lnSpc>
                <a:spcPts val="3919"/>
              </a:lnSpc>
              <a:spcBef>
                <a:spcPct val="0"/>
              </a:spcBef>
            </a:pPr>
            <a:r>
              <a:rPr lang="en-US" sz="2799" b="1" dirty="0">
                <a:solidFill>
                  <a:srgbClr val="0F4662"/>
                </a:solidFill>
                <a:latin typeface="InterVariable"/>
                <a:ea typeface="Quicksand Bold"/>
                <a:cs typeface="Quicksand Bold"/>
                <a:sym typeface="Quicksand Bold"/>
              </a:rPr>
              <a:t>Mr. Fang </a:t>
            </a:r>
            <a:r>
              <a:rPr lang="en-US" altLang="zh-CN" sz="2799" b="1" dirty="0" err="1">
                <a:solidFill>
                  <a:srgbClr val="0F4662"/>
                </a:solidFill>
                <a:latin typeface="InterVariable"/>
                <a:ea typeface="Quicksand Bold"/>
                <a:cs typeface="Quicksand Bold"/>
                <a:sym typeface="Quicksand Bold"/>
              </a:rPr>
              <a:t>Mingxiang</a:t>
            </a:r>
            <a:r>
              <a:rPr lang="en-US" altLang="zh-CN" sz="2799" b="1" dirty="0">
                <a:solidFill>
                  <a:srgbClr val="0F4662"/>
                </a:solidFill>
                <a:latin typeface="InterVariable"/>
                <a:ea typeface="Quicksand Bold"/>
                <a:cs typeface="Quicksand Bold"/>
                <a:sym typeface="Quicksand Bold"/>
              </a:rPr>
              <a:t> (Jack)</a:t>
            </a:r>
            <a:endParaRPr lang="en-US" sz="2799" b="1" dirty="0">
              <a:solidFill>
                <a:srgbClr val="0F4662"/>
              </a:solidFill>
              <a:latin typeface="InterVariable"/>
              <a:ea typeface="Quicksand Bold"/>
              <a:cs typeface="Quicksand Bold"/>
              <a:sym typeface="Quicksand Bold"/>
            </a:endParaRPr>
          </a:p>
        </p:txBody>
      </p:sp>
      <p:sp>
        <p:nvSpPr>
          <p:cNvPr id="5" name="TextBox 2">
            <a:extLst>
              <a:ext uri="{FF2B5EF4-FFF2-40B4-BE49-F238E27FC236}">
                <a16:creationId xmlns:a16="http://schemas.microsoft.com/office/drawing/2014/main" id="{51C42722-CB0D-B162-41AA-5BC51C923F42}"/>
              </a:ext>
            </a:extLst>
          </p:cNvPr>
          <p:cNvSpPr txBox="1"/>
          <p:nvPr/>
        </p:nvSpPr>
        <p:spPr>
          <a:xfrm>
            <a:off x="1828800" y="-1217"/>
            <a:ext cx="15472000" cy="2698687"/>
          </a:xfrm>
          <a:prstGeom prst="rect">
            <a:avLst/>
          </a:prstGeom>
        </p:spPr>
        <p:txBody>
          <a:bodyPr wrap="square" lIns="0" tIns="0" rIns="0" bIns="0" rtlCol="0" anchor="t">
            <a:spAutoFit/>
          </a:bodyPr>
          <a:lstStyle/>
          <a:p>
            <a:pPr algn="ctr">
              <a:lnSpc>
                <a:spcPts val="26009"/>
              </a:lnSpc>
              <a:spcBef>
                <a:spcPct val="0"/>
              </a:spcBef>
            </a:pPr>
            <a:r>
              <a:rPr lang="en-US" sz="5500" b="1" dirty="0">
                <a:solidFill>
                  <a:srgbClr val="0F4662"/>
                </a:solidFill>
                <a:latin typeface="Garamond" panose="02020404030301010803" pitchFamily="18" charset="0"/>
                <a:ea typeface="Cormorant Garamond Bold Italics"/>
                <a:cs typeface="Cormorant Garamond Bold Italics"/>
                <a:sym typeface="Cormorant Garamond Bold Italics"/>
              </a:rPr>
              <a:t>2025 UBS Finance Challenge </a:t>
            </a:r>
            <a:r>
              <a:rPr lang="en-US" sz="4800" b="1" dirty="0">
                <a:solidFill>
                  <a:srgbClr val="0F4662"/>
                </a:solidFill>
                <a:latin typeface="Garamond" panose="02020404030301010803" pitchFamily="18" charset="0"/>
                <a:ea typeface="Cormorant Garamond Bold Italics"/>
                <a:cs typeface="Cormorant Garamond Bold Italics"/>
                <a:sym typeface="Cormorant Garamond Bold Italics"/>
              </a:rPr>
              <a:t>~ </a:t>
            </a:r>
            <a:r>
              <a:rPr lang="en-US" altLang="zh-CN" sz="4800" b="1" dirty="0">
                <a:solidFill>
                  <a:srgbClr val="0F4662"/>
                </a:solidFill>
                <a:latin typeface="Garamond" panose="02020404030301010803" pitchFamily="18" charset="0"/>
                <a:ea typeface="Cormorant Garamond Bold Italics"/>
                <a:cs typeface="Cormorant Garamond Bold Italics"/>
                <a:sym typeface="Cormorant Garamond Bold Italics"/>
              </a:rPr>
              <a:t>Pair Trade Stock Pitch</a:t>
            </a:r>
          </a:p>
        </p:txBody>
      </p:sp>
      <p:pic>
        <p:nvPicPr>
          <p:cNvPr id="9" name="图片 8">
            <a:extLst>
              <a:ext uri="{FF2B5EF4-FFF2-40B4-BE49-F238E27FC236}">
                <a16:creationId xmlns:a16="http://schemas.microsoft.com/office/drawing/2014/main" id="{FE5BBA07-6000-F1EB-A2D5-659512DFC670}"/>
              </a:ext>
            </a:extLst>
          </p:cNvPr>
          <p:cNvPicPr>
            <a:picLocks noChangeAspect="1"/>
          </p:cNvPicPr>
          <p:nvPr/>
        </p:nvPicPr>
        <p:blipFill>
          <a:blip r:embed="rId2"/>
          <a:stretch>
            <a:fillRect/>
          </a:stretch>
        </p:blipFill>
        <p:spPr>
          <a:xfrm>
            <a:off x="8313994" y="342900"/>
            <a:ext cx="1822246" cy="896661"/>
          </a:xfrm>
          <a:prstGeom prst="rect">
            <a:avLst/>
          </a:prstGeom>
        </p:spPr>
      </p:pic>
      <p:sp>
        <p:nvSpPr>
          <p:cNvPr id="10" name="TextBox 6">
            <a:extLst>
              <a:ext uri="{FF2B5EF4-FFF2-40B4-BE49-F238E27FC236}">
                <a16:creationId xmlns:a16="http://schemas.microsoft.com/office/drawing/2014/main" id="{47A31EF8-FE6F-08E3-A8DB-A6F430A075C8}"/>
              </a:ext>
            </a:extLst>
          </p:cNvPr>
          <p:cNvSpPr txBox="1"/>
          <p:nvPr/>
        </p:nvSpPr>
        <p:spPr>
          <a:xfrm>
            <a:off x="2702041" y="3701339"/>
            <a:ext cx="12812922" cy="1649169"/>
          </a:xfrm>
          <a:prstGeom prst="rect">
            <a:avLst/>
          </a:prstGeom>
        </p:spPr>
        <p:txBody>
          <a:bodyPr lIns="0" tIns="0" rIns="0" bIns="0" rtlCol="0" anchor="t">
            <a:spAutoFit/>
          </a:bodyPr>
          <a:lstStyle/>
          <a:p>
            <a:pPr marL="0" lvl="0" indent="0" algn="ctr">
              <a:lnSpc>
                <a:spcPts val="6844"/>
              </a:lnSpc>
              <a:spcBef>
                <a:spcPct val="0"/>
              </a:spcBef>
            </a:pPr>
            <a:r>
              <a:rPr lang="en-US" sz="4000" b="1" dirty="0">
                <a:solidFill>
                  <a:srgbClr val="0F4662"/>
                </a:solidFill>
                <a:latin typeface="InterVariable"/>
                <a:ea typeface="Quicksand"/>
                <a:cs typeface="Quicksand"/>
                <a:sym typeface="Quicksand"/>
              </a:rPr>
              <a:t>Region</a:t>
            </a:r>
            <a:r>
              <a:rPr lang="zh-CN" altLang="en-US" sz="4000" b="1" dirty="0">
                <a:solidFill>
                  <a:srgbClr val="0F4662"/>
                </a:solidFill>
                <a:latin typeface="InterVariable"/>
                <a:ea typeface="Quicksand"/>
                <a:cs typeface="Quicksand"/>
                <a:sym typeface="Quicksand"/>
              </a:rPr>
              <a:t>：</a:t>
            </a:r>
            <a:r>
              <a:rPr lang="en-US" sz="4000" dirty="0">
                <a:solidFill>
                  <a:srgbClr val="0F4662"/>
                </a:solidFill>
                <a:latin typeface="InterVariable"/>
                <a:ea typeface="Quicksand"/>
                <a:cs typeface="Quicksand"/>
                <a:sym typeface="Quicksand"/>
              </a:rPr>
              <a:t>Hong Kong Stock Market</a:t>
            </a:r>
          </a:p>
          <a:p>
            <a:pPr marL="0" lvl="0" indent="0" algn="ctr">
              <a:lnSpc>
                <a:spcPts val="6844"/>
              </a:lnSpc>
              <a:spcBef>
                <a:spcPct val="0"/>
              </a:spcBef>
            </a:pPr>
            <a:r>
              <a:rPr lang="en-US" sz="4000" b="1" dirty="0">
                <a:solidFill>
                  <a:srgbClr val="0F4662"/>
                </a:solidFill>
                <a:latin typeface="InterVariable"/>
                <a:ea typeface="Quicksand"/>
                <a:cs typeface="Quicksand"/>
                <a:sym typeface="Quicksand"/>
              </a:rPr>
              <a:t>Sector</a:t>
            </a:r>
            <a:r>
              <a:rPr lang="zh-CN" altLang="en-US" sz="4000" b="1" dirty="0">
                <a:solidFill>
                  <a:srgbClr val="0F4662"/>
                </a:solidFill>
                <a:latin typeface="InterVariable"/>
                <a:ea typeface="Quicksand"/>
                <a:cs typeface="Quicksand"/>
                <a:sym typeface="Quicksand"/>
              </a:rPr>
              <a:t>：</a:t>
            </a:r>
            <a:r>
              <a:rPr lang="en-US" sz="4000" dirty="0">
                <a:solidFill>
                  <a:srgbClr val="0F4662"/>
                </a:solidFill>
                <a:latin typeface="InterVariable"/>
                <a:ea typeface="Quicksand"/>
                <a:cs typeface="Quicksand"/>
                <a:sym typeface="Quicksand"/>
              </a:rPr>
              <a:t>Industrial ( Automobile)</a:t>
            </a:r>
          </a:p>
        </p:txBody>
      </p:sp>
      <p:sp>
        <p:nvSpPr>
          <p:cNvPr id="12" name="TextBox 8">
            <a:extLst>
              <a:ext uri="{FF2B5EF4-FFF2-40B4-BE49-F238E27FC236}">
                <a16:creationId xmlns:a16="http://schemas.microsoft.com/office/drawing/2014/main" id="{4EC3DF0A-020E-510D-351B-006BA885C631}"/>
              </a:ext>
            </a:extLst>
          </p:cNvPr>
          <p:cNvSpPr txBox="1"/>
          <p:nvPr/>
        </p:nvSpPr>
        <p:spPr>
          <a:xfrm>
            <a:off x="3286680" y="6376376"/>
            <a:ext cx="11643643" cy="529811"/>
          </a:xfrm>
          <a:prstGeom prst="rect">
            <a:avLst/>
          </a:prstGeom>
        </p:spPr>
        <p:txBody>
          <a:bodyPr lIns="0" tIns="0" rIns="0" bIns="0" rtlCol="0" anchor="t">
            <a:spAutoFit/>
          </a:bodyPr>
          <a:lstStyle/>
          <a:p>
            <a:pPr marL="0" lvl="0" indent="0" algn="ctr">
              <a:lnSpc>
                <a:spcPts val="4397"/>
              </a:lnSpc>
              <a:spcBef>
                <a:spcPct val="0"/>
              </a:spcBef>
            </a:pPr>
            <a:r>
              <a:rPr lang="en-US" sz="3141" i="1" dirty="0">
                <a:solidFill>
                  <a:srgbClr val="0F4662"/>
                </a:solidFill>
                <a:latin typeface="InterVariable"/>
                <a:ea typeface="Quicksand"/>
                <a:cs typeface="Quicksand"/>
                <a:sym typeface="Quicksand"/>
              </a:rPr>
              <a:t>Prepared by Team of </a:t>
            </a:r>
            <a:r>
              <a:rPr lang="en-US" sz="3141" b="1" i="1" dirty="0" err="1">
                <a:solidFill>
                  <a:srgbClr val="0F4662"/>
                </a:solidFill>
                <a:latin typeface="InterVariable"/>
                <a:ea typeface="Quicksand"/>
                <a:cs typeface="Quicksand"/>
                <a:sym typeface="Quicksand"/>
              </a:rPr>
              <a:t>AlphaStock</a:t>
            </a:r>
            <a:endParaRPr lang="en-US" sz="3141" b="1" i="1" dirty="0">
              <a:solidFill>
                <a:srgbClr val="0F4662"/>
              </a:solidFill>
              <a:latin typeface="InterVariable"/>
              <a:ea typeface="Quicksand"/>
              <a:cs typeface="Quicksand"/>
              <a:sym typeface="Quicksand"/>
            </a:endParaRPr>
          </a:p>
        </p:txBody>
      </p:sp>
    </p:spTree>
    <p:extLst>
      <p:ext uri="{BB962C8B-B14F-4D97-AF65-F5344CB8AC3E}">
        <p14:creationId xmlns:p14="http://schemas.microsoft.com/office/powerpoint/2010/main" val="68607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468643" y="1695450"/>
            <a:ext cx="10559322" cy="805647"/>
          </a:xfrm>
          <a:prstGeom prst="homePlate">
            <a:avLst/>
          </a:prstGeom>
          <a:noFill/>
          <a:ln w="12700" cap="flat" cmpd="sng">
            <a:solidFill>
              <a:srgbClr val="FFFFFF">
                <a:lumMod val="65000"/>
              </a:srgbClr>
            </a:solidFill>
            <a:prstDash val="solid"/>
          </a:ln>
        </p:spPr>
        <p:txBody>
          <a:bodyPr rot="0" vert="horz" wrap="square" lIns="1215000" tIns="68580" rIns="137160" bIns="68580" anchor="ctr">
            <a:prstTxWarp prst="textNoShape">
              <a:avLst/>
            </a:prstTxWarp>
            <a:noAutofit/>
          </a:bodyPr>
          <a:lstStyle/>
          <a:p>
            <a:pPr>
              <a:lnSpc>
                <a:spcPct val="120000"/>
              </a:lnSpc>
            </a:pPr>
            <a:r>
              <a:rPr lang="en-US" altLang="zh-CN" sz="2100" dirty="0">
                <a:solidFill>
                  <a:srgbClr val="000000"/>
                </a:solidFill>
                <a:latin typeface="微软雅黑"/>
                <a:ea typeface="微软雅黑"/>
              </a:rPr>
              <a:t>Summary of Rationale</a:t>
            </a:r>
            <a:endParaRPr lang="zh-CN" altLang="en-US" sz="2100" dirty="0">
              <a:solidFill>
                <a:srgbClr val="000000"/>
              </a:solidFill>
              <a:latin typeface="微软雅黑"/>
              <a:ea typeface="微软雅黑"/>
            </a:endParaRPr>
          </a:p>
        </p:txBody>
      </p:sp>
      <p:sp>
        <p:nvSpPr>
          <p:cNvPr id="3" name="AutoShape 3"/>
          <p:cNvSpPr/>
          <p:nvPr/>
        </p:nvSpPr>
        <p:spPr>
          <a:xfrm rot="19800000" flipH="1">
            <a:off x="3837947" y="1412059"/>
            <a:ext cx="1261395" cy="1087400"/>
          </a:xfrm>
          <a:prstGeom prst="triangle">
            <a:avLst/>
          </a:prstGeom>
          <a:solidFill>
            <a:schemeClr val="accent1"/>
          </a:solidFill>
        </p:spPr>
        <p:txBody>
          <a:bodyPr vert="horz" wrap="square" lIns="137160" tIns="68580" rIns="137160" bIns="68580" anchor="ctr">
            <a:normAutofit lnSpcReduction="10000"/>
          </a:bodyPr>
          <a:lstStyle/>
          <a:p>
            <a:pPr algn="ctr"/>
            <a:endParaRPr sz="2700"/>
          </a:p>
        </p:txBody>
      </p:sp>
      <p:sp>
        <p:nvSpPr>
          <p:cNvPr id="4" name="TextBox 4"/>
          <p:cNvSpPr txBox="1"/>
          <p:nvPr/>
        </p:nvSpPr>
        <p:spPr>
          <a:xfrm>
            <a:off x="4228110" y="1780136"/>
            <a:ext cx="705000" cy="646331"/>
          </a:xfrm>
          <a:prstGeom prst="rect">
            <a:avLst/>
          </a:prstGeom>
          <a:noFill/>
        </p:spPr>
        <p:txBody>
          <a:bodyPr vert="horz" wrap="square" lIns="137160" tIns="68580" rIns="137160" bIns="68580" rtlCol="0" anchor="ctr">
            <a:normAutofit/>
          </a:bodyPr>
          <a:lstStyle/>
          <a:p>
            <a:pPr algn="ctr">
              <a:defRPr/>
            </a:pPr>
            <a:r>
              <a:rPr lang="en-US" sz="3000" b="1">
                <a:solidFill>
                  <a:srgbClr val="FFFFFF"/>
                </a:solidFill>
                <a:latin typeface="Arial"/>
                <a:ea typeface="Arial"/>
              </a:rPr>
              <a:t>01</a:t>
            </a:r>
            <a:endParaRPr lang="en-US" sz="1650"/>
          </a:p>
        </p:txBody>
      </p:sp>
      <p:sp>
        <p:nvSpPr>
          <p:cNvPr id="5" name="AutoShape 5"/>
          <p:cNvSpPr/>
          <p:nvPr/>
        </p:nvSpPr>
        <p:spPr>
          <a:xfrm>
            <a:off x="4468643" y="2965608"/>
            <a:ext cx="10559322" cy="805647"/>
          </a:xfrm>
          <a:prstGeom prst="homePlate">
            <a:avLst/>
          </a:prstGeom>
          <a:noFill/>
          <a:ln w="12700" cap="flat" cmpd="sng">
            <a:solidFill>
              <a:srgbClr val="FFFFFF">
                <a:lumMod val="65000"/>
              </a:srgbClr>
            </a:solidFill>
            <a:prstDash val="solid"/>
          </a:ln>
        </p:spPr>
        <p:txBody>
          <a:bodyPr rot="0" vert="horz" wrap="square" lIns="1215000" tIns="68580" rIns="137160" bIns="68580" anchor="ctr">
            <a:prstTxWarp prst="textNoShape">
              <a:avLst/>
            </a:prstTxWarp>
            <a:noAutofit/>
          </a:bodyPr>
          <a:lstStyle/>
          <a:p>
            <a:pPr>
              <a:lnSpc>
                <a:spcPct val="120000"/>
              </a:lnSpc>
            </a:pPr>
            <a:r>
              <a:rPr lang="zh-CN" altLang="en-US" sz="2100">
                <a:solidFill>
                  <a:srgbClr val="000000"/>
                </a:solidFill>
                <a:latin typeface="微软雅黑"/>
                <a:ea typeface="微软雅黑"/>
              </a:rPr>
              <a:t>Industry and Company Overview</a:t>
            </a:r>
          </a:p>
        </p:txBody>
      </p:sp>
      <p:sp>
        <p:nvSpPr>
          <p:cNvPr id="6" name="AutoShape 6"/>
          <p:cNvSpPr/>
          <p:nvPr/>
        </p:nvSpPr>
        <p:spPr>
          <a:xfrm rot="19800000" flipH="1">
            <a:off x="3837947" y="2682217"/>
            <a:ext cx="1261395" cy="1087400"/>
          </a:xfrm>
          <a:prstGeom prst="triangle">
            <a:avLst/>
          </a:prstGeom>
          <a:solidFill>
            <a:schemeClr val="accent2"/>
          </a:solidFill>
        </p:spPr>
        <p:txBody>
          <a:bodyPr vert="horz" wrap="square" lIns="137160" tIns="68580" rIns="137160" bIns="68580" anchor="ctr">
            <a:normAutofit lnSpcReduction="10000"/>
          </a:bodyPr>
          <a:lstStyle/>
          <a:p>
            <a:pPr algn="ctr"/>
            <a:endParaRPr sz="2700"/>
          </a:p>
        </p:txBody>
      </p:sp>
      <p:sp>
        <p:nvSpPr>
          <p:cNvPr id="7" name="TextBox 7"/>
          <p:cNvSpPr txBox="1"/>
          <p:nvPr/>
        </p:nvSpPr>
        <p:spPr>
          <a:xfrm>
            <a:off x="4228110" y="3050296"/>
            <a:ext cx="705000" cy="646331"/>
          </a:xfrm>
          <a:prstGeom prst="rect">
            <a:avLst/>
          </a:prstGeom>
          <a:noFill/>
        </p:spPr>
        <p:txBody>
          <a:bodyPr vert="horz" wrap="square" lIns="137160" tIns="68580" rIns="137160" bIns="68580" rtlCol="0" anchor="ctr">
            <a:normAutofit/>
          </a:bodyPr>
          <a:lstStyle/>
          <a:p>
            <a:pPr algn="ctr">
              <a:defRPr/>
            </a:pPr>
            <a:r>
              <a:rPr lang="en-US" sz="3000" b="1">
                <a:solidFill>
                  <a:srgbClr val="FFFFFF"/>
                </a:solidFill>
                <a:latin typeface="Arial"/>
                <a:ea typeface="Arial"/>
              </a:rPr>
              <a:t>02</a:t>
            </a:r>
            <a:endParaRPr lang="en-US" sz="1650"/>
          </a:p>
        </p:txBody>
      </p:sp>
      <p:sp>
        <p:nvSpPr>
          <p:cNvPr id="8" name="AutoShape 8"/>
          <p:cNvSpPr/>
          <p:nvPr/>
        </p:nvSpPr>
        <p:spPr>
          <a:xfrm>
            <a:off x="4468643" y="4235766"/>
            <a:ext cx="10559322" cy="805647"/>
          </a:xfrm>
          <a:prstGeom prst="homePlate">
            <a:avLst/>
          </a:prstGeom>
          <a:noFill/>
          <a:ln w="12700" cap="flat" cmpd="sng">
            <a:solidFill>
              <a:srgbClr val="FFFFFF">
                <a:lumMod val="65000"/>
              </a:srgbClr>
            </a:solidFill>
            <a:prstDash val="solid"/>
          </a:ln>
        </p:spPr>
        <p:txBody>
          <a:bodyPr rot="0" vert="horz" wrap="square" lIns="1215000" tIns="68580" rIns="137160" bIns="68580" anchor="ctr">
            <a:prstTxWarp prst="textNoShape">
              <a:avLst/>
            </a:prstTxWarp>
            <a:noAutofit/>
          </a:bodyPr>
          <a:lstStyle/>
          <a:p>
            <a:pPr>
              <a:lnSpc>
                <a:spcPct val="120000"/>
              </a:lnSpc>
            </a:pPr>
            <a:r>
              <a:rPr lang="zh-CN" altLang="en-US" sz="2100">
                <a:solidFill>
                  <a:srgbClr val="000000"/>
                </a:solidFill>
                <a:latin typeface="微软雅黑"/>
                <a:ea typeface="微软雅黑"/>
              </a:rPr>
              <a:t>Valuation Comparison</a:t>
            </a:r>
          </a:p>
        </p:txBody>
      </p:sp>
      <p:sp>
        <p:nvSpPr>
          <p:cNvPr id="9" name="AutoShape 9"/>
          <p:cNvSpPr/>
          <p:nvPr/>
        </p:nvSpPr>
        <p:spPr>
          <a:xfrm rot="19800000" flipH="1">
            <a:off x="3837947" y="3952375"/>
            <a:ext cx="1261395" cy="1087400"/>
          </a:xfrm>
          <a:prstGeom prst="triangle">
            <a:avLst/>
          </a:prstGeom>
          <a:solidFill>
            <a:schemeClr val="accent1"/>
          </a:solidFill>
        </p:spPr>
        <p:txBody>
          <a:bodyPr vert="horz" wrap="square" lIns="137160" tIns="68580" rIns="137160" bIns="68580" anchor="ctr">
            <a:normAutofit lnSpcReduction="10000"/>
          </a:bodyPr>
          <a:lstStyle/>
          <a:p>
            <a:pPr algn="ctr"/>
            <a:endParaRPr sz="2700"/>
          </a:p>
        </p:txBody>
      </p:sp>
      <p:sp>
        <p:nvSpPr>
          <p:cNvPr id="10" name="TextBox 10"/>
          <p:cNvSpPr txBox="1"/>
          <p:nvPr/>
        </p:nvSpPr>
        <p:spPr>
          <a:xfrm>
            <a:off x="4228110" y="4320452"/>
            <a:ext cx="705000" cy="646331"/>
          </a:xfrm>
          <a:prstGeom prst="rect">
            <a:avLst/>
          </a:prstGeom>
          <a:noFill/>
        </p:spPr>
        <p:txBody>
          <a:bodyPr vert="horz" wrap="square" lIns="137160" tIns="68580" rIns="137160" bIns="68580" rtlCol="0" anchor="ctr">
            <a:normAutofit/>
          </a:bodyPr>
          <a:lstStyle/>
          <a:p>
            <a:pPr algn="ctr">
              <a:defRPr/>
            </a:pPr>
            <a:r>
              <a:rPr lang="en-US" sz="3000" b="1">
                <a:solidFill>
                  <a:srgbClr val="FFFFFF"/>
                </a:solidFill>
                <a:latin typeface="Arial"/>
                <a:ea typeface="Arial"/>
              </a:rPr>
              <a:t>03</a:t>
            </a:r>
            <a:endParaRPr lang="en-US" sz="1650"/>
          </a:p>
        </p:txBody>
      </p:sp>
      <p:sp>
        <p:nvSpPr>
          <p:cNvPr id="11" name="AutoShape 11"/>
          <p:cNvSpPr/>
          <p:nvPr/>
        </p:nvSpPr>
        <p:spPr>
          <a:xfrm>
            <a:off x="4468643" y="5505924"/>
            <a:ext cx="10559322" cy="805647"/>
          </a:xfrm>
          <a:prstGeom prst="homePlate">
            <a:avLst/>
          </a:prstGeom>
          <a:noFill/>
          <a:ln w="12700" cap="flat" cmpd="sng">
            <a:solidFill>
              <a:srgbClr val="FFFFFF">
                <a:lumMod val="65000"/>
              </a:srgbClr>
            </a:solidFill>
            <a:prstDash val="solid"/>
          </a:ln>
        </p:spPr>
        <p:txBody>
          <a:bodyPr rot="0" vert="horz" wrap="square" lIns="1215000" tIns="68580" rIns="137160" bIns="68580" anchor="ctr">
            <a:prstTxWarp prst="textNoShape">
              <a:avLst/>
            </a:prstTxWarp>
            <a:noAutofit/>
          </a:bodyPr>
          <a:lstStyle/>
          <a:p>
            <a:pPr>
              <a:lnSpc>
                <a:spcPct val="120000"/>
              </a:lnSpc>
            </a:pPr>
            <a:r>
              <a:rPr lang="zh-CN" altLang="en-US" sz="2100">
                <a:solidFill>
                  <a:srgbClr val="000000"/>
                </a:solidFill>
                <a:latin typeface="微软雅黑"/>
                <a:ea typeface="微软雅黑"/>
              </a:rPr>
              <a:t>Fundamental Catalysts &amp; Risks</a:t>
            </a:r>
          </a:p>
        </p:txBody>
      </p:sp>
      <p:sp>
        <p:nvSpPr>
          <p:cNvPr id="12" name="AutoShape 12"/>
          <p:cNvSpPr/>
          <p:nvPr/>
        </p:nvSpPr>
        <p:spPr>
          <a:xfrm rot="19800000" flipH="1">
            <a:off x="3837947" y="5222533"/>
            <a:ext cx="1261395" cy="1087400"/>
          </a:xfrm>
          <a:prstGeom prst="triangle">
            <a:avLst/>
          </a:prstGeom>
          <a:solidFill>
            <a:schemeClr val="accent2"/>
          </a:solidFill>
        </p:spPr>
        <p:txBody>
          <a:bodyPr vert="horz" wrap="square" lIns="137160" tIns="68580" rIns="137160" bIns="68580" anchor="ctr">
            <a:normAutofit lnSpcReduction="10000"/>
          </a:bodyPr>
          <a:lstStyle/>
          <a:p>
            <a:pPr algn="ctr"/>
            <a:endParaRPr sz="2700"/>
          </a:p>
        </p:txBody>
      </p:sp>
      <p:sp>
        <p:nvSpPr>
          <p:cNvPr id="13" name="TextBox 13"/>
          <p:cNvSpPr txBox="1"/>
          <p:nvPr/>
        </p:nvSpPr>
        <p:spPr>
          <a:xfrm>
            <a:off x="4228110" y="5590610"/>
            <a:ext cx="705000" cy="646331"/>
          </a:xfrm>
          <a:prstGeom prst="rect">
            <a:avLst/>
          </a:prstGeom>
          <a:noFill/>
        </p:spPr>
        <p:txBody>
          <a:bodyPr vert="horz" wrap="square" lIns="137160" tIns="68580" rIns="137160" bIns="68580" rtlCol="0" anchor="ctr">
            <a:normAutofit/>
          </a:bodyPr>
          <a:lstStyle/>
          <a:p>
            <a:pPr algn="ctr">
              <a:defRPr/>
            </a:pPr>
            <a:r>
              <a:rPr lang="en-US" sz="3000" b="1">
                <a:solidFill>
                  <a:srgbClr val="FFFFFF"/>
                </a:solidFill>
                <a:latin typeface="Arial"/>
                <a:ea typeface="Arial"/>
              </a:rPr>
              <a:t>04</a:t>
            </a:r>
            <a:endParaRPr lang="en-US" sz="1650"/>
          </a:p>
        </p:txBody>
      </p:sp>
      <p:sp>
        <p:nvSpPr>
          <p:cNvPr id="14" name="AutoShape 14"/>
          <p:cNvSpPr/>
          <p:nvPr/>
        </p:nvSpPr>
        <p:spPr>
          <a:xfrm>
            <a:off x="4468643" y="6776081"/>
            <a:ext cx="10559322" cy="805647"/>
          </a:xfrm>
          <a:prstGeom prst="homePlate">
            <a:avLst/>
          </a:prstGeom>
          <a:noFill/>
          <a:ln w="12700" cap="flat" cmpd="sng">
            <a:solidFill>
              <a:srgbClr val="FFFFFF">
                <a:lumMod val="65000"/>
              </a:srgbClr>
            </a:solidFill>
            <a:prstDash val="solid"/>
          </a:ln>
        </p:spPr>
        <p:txBody>
          <a:bodyPr rot="0" vert="horz" wrap="square" lIns="1215000" tIns="68580" rIns="137160" bIns="68580" anchor="ctr">
            <a:prstTxWarp prst="textNoShape">
              <a:avLst/>
            </a:prstTxWarp>
            <a:noAutofit/>
          </a:bodyPr>
          <a:lstStyle/>
          <a:p>
            <a:pPr>
              <a:lnSpc>
                <a:spcPct val="120000"/>
              </a:lnSpc>
            </a:pPr>
            <a:r>
              <a:rPr lang="zh-CN" altLang="en-US" sz="2100">
                <a:solidFill>
                  <a:srgbClr val="000000"/>
                </a:solidFill>
                <a:latin typeface="微软雅黑"/>
                <a:ea typeface="微软雅黑"/>
              </a:rPr>
              <a:t>Technical Analysis</a:t>
            </a:r>
          </a:p>
        </p:txBody>
      </p:sp>
      <p:sp>
        <p:nvSpPr>
          <p:cNvPr id="15" name="AutoShape 15"/>
          <p:cNvSpPr/>
          <p:nvPr/>
        </p:nvSpPr>
        <p:spPr>
          <a:xfrm rot="19800000" flipH="1">
            <a:off x="3837947" y="6492689"/>
            <a:ext cx="1261395" cy="1087400"/>
          </a:xfrm>
          <a:prstGeom prst="triangle">
            <a:avLst/>
          </a:prstGeom>
          <a:solidFill>
            <a:schemeClr val="accent1"/>
          </a:solidFill>
        </p:spPr>
        <p:txBody>
          <a:bodyPr vert="horz" wrap="square" lIns="137160" tIns="68580" rIns="137160" bIns="68580" anchor="ctr">
            <a:normAutofit lnSpcReduction="10000"/>
          </a:bodyPr>
          <a:lstStyle/>
          <a:p>
            <a:pPr algn="ctr"/>
            <a:endParaRPr sz="2700"/>
          </a:p>
        </p:txBody>
      </p:sp>
      <p:sp>
        <p:nvSpPr>
          <p:cNvPr id="16" name="TextBox 16"/>
          <p:cNvSpPr txBox="1"/>
          <p:nvPr/>
        </p:nvSpPr>
        <p:spPr>
          <a:xfrm>
            <a:off x="4228110" y="6860765"/>
            <a:ext cx="705000" cy="646331"/>
          </a:xfrm>
          <a:prstGeom prst="rect">
            <a:avLst/>
          </a:prstGeom>
          <a:noFill/>
        </p:spPr>
        <p:txBody>
          <a:bodyPr vert="horz" wrap="square" lIns="137160" tIns="68580" rIns="137160" bIns="68580" rtlCol="0" anchor="ctr">
            <a:normAutofit/>
          </a:bodyPr>
          <a:lstStyle/>
          <a:p>
            <a:pPr algn="ctr">
              <a:defRPr/>
            </a:pPr>
            <a:r>
              <a:rPr lang="en-US" sz="3000" b="1">
                <a:solidFill>
                  <a:srgbClr val="FFFFFF"/>
                </a:solidFill>
                <a:latin typeface="Arial"/>
                <a:ea typeface="Arial"/>
              </a:rPr>
              <a:t>05</a:t>
            </a:r>
            <a:endParaRPr lang="en-US" sz="1650"/>
          </a:p>
        </p:txBody>
      </p:sp>
      <p:sp>
        <p:nvSpPr>
          <p:cNvPr id="17" name="AutoShape 17"/>
          <p:cNvSpPr/>
          <p:nvPr/>
        </p:nvSpPr>
        <p:spPr>
          <a:xfrm>
            <a:off x="1217237" y="2065059"/>
            <a:ext cx="3066224" cy="553998"/>
          </a:xfrm>
          <a:prstGeom prst="rect">
            <a:avLst/>
          </a:prstGeom>
        </p:spPr>
        <p:txBody>
          <a:bodyPr vert="horz" wrap="square" lIns="137160" tIns="68580" rIns="137160" bIns="68580" anchor="t">
            <a:noAutofit/>
          </a:bodyPr>
          <a:lstStyle/>
          <a:p>
            <a:r>
              <a:rPr lang="zh-CN" altLang="en-US" sz="3600">
                <a:solidFill>
                  <a:srgbClr val="000000"/>
                </a:solidFill>
                <a:latin typeface="微软雅黑"/>
                <a:ea typeface="微软雅黑"/>
              </a:rPr>
              <a:t>Table of Contents</a:t>
            </a:r>
          </a:p>
        </p:txBody>
      </p:sp>
      <p:sp>
        <p:nvSpPr>
          <p:cNvPr id="18" name="AutoShape 18"/>
          <p:cNvSpPr/>
          <p:nvPr/>
        </p:nvSpPr>
        <p:spPr>
          <a:xfrm>
            <a:off x="4468643" y="8015787"/>
            <a:ext cx="10559322" cy="805647"/>
          </a:xfrm>
          <a:prstGeom prst="homePlate">
            <a:avLst/>
          </a:prstGeom>
          <a:noFill/>
          <a:ln w="12700" cap="flat" cmpd="sng">
            <a:solidFill>
              <a:srgbClr val="FFFFFF">
                <a:lumMod val="65000"/>
              </a:srgbClr>
            </a:solidFill>
            <a:prstDash val="solid"/>
          </a:ln>
        </p:spPr>
        <p:txBody>
          <a:bodyPr rot="0" vert="horz" wrap="square" lIns="1215000" tIns="68580" rIns="137160" bIns="68580" anchor="ctr">
            <a:prstTxWarp prst="textNoShape">
              <a:avLst/>
            </a:prstTxWarp>
            <a:noAutofit/>
          </a:bodyPr>
          <a:lstStyle/>
          <a:p>
            <a:pPr>
              <a:lnSpc>
                <a:spcPct val="120000"/>
              </a:lnSpc>
            </a:pPr>
            <a:r>
              <a:rPr lang="zh-CN" altLang="en-US" sz="2100">
                <a:solidFill>
                  <a:srgbClr val="000000"/>
                </a:solidFill>
                <a:latin typeface="微软雅黑"/>
                <a:ea typeface="微软雅黑"/>
              </a:rPr>
              <a:t>Risk Factors &amp; Mitigation</a:t>
            </a:r>
          </a:p>
        </p:txBody>
      </p:sp>
      <p:sp>
        <p:nvSpPr>
          <p:cNvPr id="19" name="AutoShape 19"/>
          <p:cNvSpPr/>
          <p:nvPr/>
        </p:nvSpPr>
        <p:spPr>
          <a:xfrm rot="19800000" flipH="1">
            <a:off x="3837947" y="7732396"/>
            <a:ext cx="1261395" cy="1087400"/>
          </a:xfrm>
          <a:prstGeom prst="triangle">
            <a:avLst/>
          </a:prstGeom>
          <a:solidFill>
            <a:schemeClr val="accent2"/>
          </a:solidFill>
        </p:spPr>
        <p:txBody>
          <a:bodyPr vert="horz" wrap="square" lIns="137160" tIns="68580" rIns="137160" bIns="68580" anchor="ctr">
            <a:normAutofit lnSpcReduction="10000"/>
          </a:bodyPr>
          <a:lstStyle/>
          <a:p>
            <a:pPr algn="ctr"/>
            <a:endParaRPr sz="2700"/>
          </a:p>
        </p:txBody>
      </p:sp>
      <p:sp>
        <p:nvSpPr>
          <p:cNvPr id="20" name="TextBox 20"/>
          <p:cNvSpPr txBox="1"/>
          <p:nvPr/>
        </p:nvSpPr>
        <p:spPr>
          <a:xfrm>
            <a:off x="4228110" y="8100473"/>
            <a:ext cx="705000" cy="646331"/>
          </a:xfrm>
          <a:prstGeom prst="rect">
            <a:avLst/>
          </a:prstGeom>
          <a:noFill/>
        </p:spPr>
        <p:txBody>
          <a:bodyPr vert="horz" wrap="square" lIns="137160" tIns="68580" rIns="137160" bIns="68580" rtlCol="0" anchor="ctr">
            <a:normAutofit/>
          </a:bodyPr>
          <a:lstStyle/>
          <a:p>
            <a:pPr algn="ctr">
              <a:defRPr/>
            </a:pPr>
            <a:r>
              <a:rPr lang="en-US" sz="3000" b="1">
                <a:solidFill>
                  <a:srgbClr val="FFFFFF"/>
                </a:solidFill>
                <a:latin typeface="Arial"/>
                <a:ea typeface="Arial"/>
              </a:rPr>
              <a:t>06</a:t>
            </a:r>
            <a:endParaRPr lang="en-US" sz="16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98F40-4011-F91E-6543-2699688EAFAD}"/>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D1F7111A-B640-4FD3-7409-BD0DC1EE1954}"/>
              </a:ext>
            </a:extLst>
          </p:cNvPr>
          <p:cNvSpPr txBox="1"/>
          <p:nvPr/>
        </p:nvSpPr>
        <p:spPr>
          <a:xfrm>
            <a:off x="929390" y="261897"/>
            <a:ext cx="17150843" cy="994247"/>
          </a:xfrm>
          <a:prstGeom prst="rect">
            <a:avLst/>
          </a:prstGeom>
        </p:spPr>
        <p:txBody>
          <a:bodyPr wrap="square" lIns="0" tIns="0" rIns="0" bIns="0" rtlCol="0" anchor="t">
            <a:spAutoFit/>
          </a:bodyPr>
          <a:lstStyle/>
          <a:p>
            <a:pPr marL="0" lvl="0" indent="0" algn="l">
              <a:lnSpc>
                <a:spcPts val="8959"/>
              </a:lnSpc>
              <a:spcBef>
                <a:spcPct val="0"/>
              </a:spcBef>
            </a:pPr>
            <a:r>
              <a:rPr lang="en-US" altLang="zh-CN" sz="4000" b="1" dirty="0">
                <a:solidFill>
                  <a:srgbClr val="0F4662"/>
                </a:solidFill>
                <a:latin typeface="InterVariable"/>
                <a:ea typeface="Cormorant Garamond Bold Italics"/>
                <a:cs typeface="Cormorant Garamond Bold Italics"/>
                <a:sym typeface="Cormorant Garamond Bold Italics"/>
              </a:rPr>
              <a:t>Summary of Rationale - </a:t>
            </a:r>
            <a:r>
              <a:rPr lang="en-US" sz="4000" b="1" dirty="0">
                <a:solidFill>
                  <a:srgbClr val="0F4662"/>
                </a:solidFill>
                <a:latin typeface="InterVariable"/>
                <a:ea typeface="Cormorant Garamond Bold Italics"/>
                <a:cs typeface="Cormorant Garamond Bold Italics"/>
                <a:sym typeface="Cormorant Garamond Bold Italics"/>
              </a:rPr>
              <a:t> </a:t>
            </a:r>
            <a:r>
              <a:rPr lang="en-US" sz="3200" b="1" dirty="0">
                <a:solidFill>
                  <a:srgbClr val="00B050"/>
                </a:solidFill>
                <a:latin typeface="InterVariable"/>
                <a:ea typeface="Cormorant Garamond Bold Italics"/>
                <a:cs typeface="Arial" panose="020B0604020202020204" pitchFamily="34" charset="0"/>
                <a:sym typeface="Cormorant Garamond Bold Italics"/>
              </a:rPr>
              <a:t>Long Tesla (Tsla.</a:t>
            </a:r>
            <a:r>
              <a:rPr lang="en-US" altLang="zh-CN" sz="3200" b="1" dirty="0">
                <a:solidFill>
                  <a:srgbClr val="00B050"/>
                </a:solidFill>
                <a:latin typeface="InterVariable"/>
                <a:ea typeface="Cormorant Garamond Bold Italics"/>
                <a:cs typeface="Arial" panose="020B0604020202020204" pitchFamily="34" charset="0"/>
                <a:sym typeface="Cormorant Garamond Bold Italics"/>
              </a:rPr>
              <a:t>US) </a:t>
            </a:r>
            <a:r>
              <a:rPr lang="en-US" altLang="zh-CN" sz="3200" b="1" dirty="0">
                <a:solidFill>
                  <a:srgbClr val="C00000"/>
                </a:solidFill>
                <a:latin typeface="InterVariable"/>
                <a:ea typeface="Cormorant Garamond Bold Italics"/>
                <a:cs typeface="Arial" panose="020B0604020202020204" pitchFamily="34" charset="0"/>
                <a:sym typeface="Cormorant Garamond Bold Italics"/>
              </a:rPr>
              <a:t>Short BYD (1211.HK)</a:t>
            </a:r>
            <a:endParaRPr lang="en-US" sz="3200" b="1" dirty="0">
              <a:solidFill>
                <a:srgbClr val="C00000"/>
              </a:solidFill>
              <a:latin typeface="InterVariable"/>
              <a:ea typeface="Cormorant Garamond Bold Italics"/>
              <a:cs typeface="Arial" panose="020B0604020202020204" pitchFamily="34" charset="0"/>
              <a:sym typeface="Cormorant Garamond Bold Italics"/>
            </a:endParaRPr>
          </a:p>
        </p:txBody>
      </p:sp>
      <p:sp>
        <p:nvSpPr>
          <p:cNvPr id="8" name="TextBox 8">
            <a:extLst>
              <a:ext uri="{FF2B5EF4-FFF2-40B4-BE49-F238E27FC236}">
                <a16:creationId xmlns:a16="http://schemas.microsoft.com/office/drawing/2014/main" id="{843E07C2-A020-50B9-B4AC-E7780EE97AF6}"/>
              </a:ext>
            </a:extLst>
          </p:cNvPr>
          <p:cNvSpPr txBox="1"/>
          <p:nvPr/>
        </p:nvSpPr>
        <p:spPr>
          <a:xfrm>
            <a:off x="685800" y="2247900"/>
            <a:ext cx="8185657" cy="2045560"/>
          </a:xfrm>
          <a:prstGeom prst="rect">
            <a:avLst/>
          </a:prstGeom>
        </p:spPr>
        <p:txBody>
          <a:bodyPr wrap="square" lIns="0" tIns="0" rIns="0" bIns="0" rtlCol="0" anchor="t">
            <a:spAutoFit/>
          </a:bodyPr>
          <a:lstStyle/>
          <a:p>
            <a:pPr marL="518160" lvl="1" indent="-259080" algn="l">
              <a:lnSpc>
                <a:spcPts val="4079"/>
              </a:lnSpc>
              <a:buFont typeface="Arial"/>
              <a:buChar char="•"/>
            </a:pPr>
            <a:r>
              <a:rPr lang="en-US" altLang="zh-CN" sz="2400" b="0" i="0" dirty="0">
                <a:effectLst/>
                <a:latin typeface="InterVariable"/>
              </a:rPr>
              <a:t>BYD and Tesla’s price spread is statistically robust and mean-reverting </a:t>
            </a:r>
            <a:r>
              <a:rPr lang="en-US" altLang="zh-CN" sz="2400" dirty="0">
                <a:latin typeface="InterVariable"/>
              </a:rPr>
              <a:t>based on past</a:t>
            </a:r>
            <a:r>
              <a:rPr lang="en-US" sz="2400" dirty="0">
                <a:solidFill>
                  <a:srgbClr val="0F4662"/>
                </a:solidFill>
                <a:latin typeface="InterVariable"/>
                <a:ea typeface="Quicksand"/>
                <a:cs typeface="Quicksand"/>
                <a:sym typeface="Quicksand"/>
              </a:rPr>
              <a:t> 5-year stock price trend</a:t>
            </a:r>
          </a:p>
          <a:p>
            <a:pPr marL="518160" lvl="1" indent="-259080" algn="l">
              <a:lnSpc>
                <a:spcPts val="4079"/>
              </a:lnSpc>
              <a:buFont typeface="Arial"/>
              <a:buChar char="•"/>
            </a:pPr>
            <a:r>
              <a:rPr lang="en-US" sz="2400" dirty="0">
                <a:solidFill>
                  <a:srgbClr val="0F4662"/>
                </a:solidFill>
                <a:latin typeface="InterVariable"/>
                <a:ea typeface="Quicksand"/>
                <a:cs typeface="Quicksand"/>
                <a:sym typeface="Quicksand"/>
              </a:rPr>
              <a:t>ARIMA model predicts the BYD-Tesla price spread will decrease from 0.039 to its average by mid-May 2025</a:t>
            </a:r>
          </a:p>
        </p:txBody>
      </p:sp>
      <p:sp>
        <p:nvSpPr>
          <p:cNvPr id="9" name="TextBox 9">
            <a:extLst>
              <a:ext uri="{FF2B5EF4-FFF2-40B4-BE49-F238E27FC236}">
                <a16:creationId xmlns:a16="http://schemas.microsoft.com/office/drawing/2014/main" id="{F851C4DA-7B72-3ED9-1AAE-35990DA3EF7C}"/>
              </a:ext>
            </a:extLst>
          </p:cNvPr>
          <p:cNvSpPr txBox="1"/>
          <p:nvPr/>
        </p:nvSpPr>
        <p:spPr>
          <a:xfrm>
            <a:off x="685801" y="4877942"/>
            <a:ext cx="7962900" cy="2052934"/>
          </a:xfrm>
          <a:prstGeom prst="rect">
            <a:avLst/>
          </a:prstGeom>
        </p:spPr>
        <p:txBody>
          <a:bodyPr wrap="square" lIns="0" tIns="0" rIns="0" bIns="0" rtlCol="0" anchor="t">
            <a:spAutoFit/>
          </a:bodyPr>
          <a:lstStyle/>
          <a:p>
            <a:pPr marL="518160" lvl="1" indent="-259080" algn="l">
              <a:lnSpc>
                <a:spcPts val="4079"/>
              </a:lnSpc>
              <a:buFont typeface="Arial"/>
              <a:buChar char="•"/>
            </a:pPr>
            <a:r>
              <a:rPr lang="en-US" sz="2400" dirty="0">
                <a:solidFill>
                  <a:srgbClr val="0F4662"/>
                </a:solidFill>
                <a:latin typeface="InterVariable"/>
                <a:ea typeface="Quicksand"/>
                <a:cs typeface="Quicksand"/>
                <a:sym typeface="Quicksand"/>
              </a:rPr>
              <a:t>Collaborate to generate innovative ideas for product positioning, pricing, and promotional campaigns.</a:t>
            </a:r>
          </a:p>
          <a:p>
            <a:pPr marL="518160" lvl="1" indent="-259080" algn="l">
              <a:lnSpc>
                <a:spcPts val="4079"/>
              </a:lnSpc>
              <a:buFont typeface="Arial"/>
              <a:buChar char="•"/>
            </a:pPr>
            <a:r>
              <a:rPr lang="en-US" sz="2400" dirty="0">
                <a:solidFill>
                  <a:srgbClr val="0F4662"/>
                </a:solidFill>
                <a:latin typeface="InterVariable"/>
                <a:ea typeface="Quicksand"/>
                <a:cs typeface="Quicksand"/>
                <a:sym typeface="Quicksand"/>
              </a:rPr>
              <a:t>Consider various channels such as online platforms, partnerships, and offline marketing.</a:t>
            </a:r>
          </a:p>
        </p:txBody>
      </p:sp>
      <p:sp>
        <p:nvSpPr>
          <p:cNvPr id="10" name="TextBox 10">
            <a:extLst>
              <a:ext uri="{FF2B5EF4-FFF2-40B4-BE49-F238E27FC236}">
                <a16:creationId xmlns:a16="http://schemas.microsoft.com/office/drawing/2014/main" id="{210D3AB2-B3A6-6E87-6460-855C46C99211}"/>
              </a:ext>
            </a:extLst>
          </p:cNvPr>
          <p:cNvSpPr txBox="1"/>
          <p:nvPr/>
        </p:nvSpPr>
        <p:spPr>
          <a:xfrm>
            <a:off x="685800" y="7507985"/>
            <a:ext cx="8185657" cy="2052934"/>
          </a:xfrm>
          <a:prstGeom prst="rect">
            <a:avLst/>
          </a:prstGeom>
        </p:spPr>
        <p:txBody>
          <a:bodyPr wrap="square" lIns="0" tIns="0" rIns="0" bIns="0" rtlCol="0" anchor="t">
            <a:spAutoFit/>
          </a:bodyPr>
          <a:lstStyle/>
          <a:p>
            <a:pPr marL="518160" lvl="1" indent="-259080" algn="l">
              <a:lnSpc>
                <a:spcPts val="4079"/>
              </a:lnSpc>
              <a:buFont typeface="Arial"/>
              <a:buChar char="•"/>
            </a:pPr>
            <a:r>
              <a:rPr lang="en-US" sz="2400" dirty="0">
                <a:solidFill>
                  <a:srgbClr val="0F4662"/>
                </a:solidFill>
                <a:latin typeface="InterVariable"/>
                <a:ea typeface="Quicksand"/>
                <a:cs typeface="Quicksand"/>
                <a:sym typeface="Quicksand"/>
              </a:rPr>
              <a:t>Pilot the proposed strategies on a smaller scale to assess their effectiveness.</a:t>
            </a:r>
          </a:p>
          <a:p>
            <a:pPr marL="518160" lvl="1" indent="-259080" algn="l">
              <a:lnSpc>
                <a:spcPts val="4079"/>
              </a:lnSpc>
              <a:buFont typeface="Arial"/>
              <a:buChar char="•"/>
            </a:pPr>
            <a:r>
              <a:rPr lang="en-US" sz="2400" dirty="0">
                <a:solidFill>
                  <a:srgbClr val="0F4662"/>
                </a:solidFill>
                <a:latin typeface="InterVariable"/>
                <a:ea typeface="Quicksand"/>
                <a:cs typeface="Quicksand"/>
                <a:sym typeface="Quicksand"/>
              </a:rPr>
              <a:t>Gather feedback, iterate, and refine the strategies based on initial results.</a:t>
            </a:r>
          </a:p>
        </p:txBody>
      </p:sp>
      <p:sp>
        <p:nvSpPr>
          <p:cNvPr id="11" name="TextBox 11">
            <a:extLst>
              <a:ext uri="{FF2B5EF4-FFF2-40B4-BE49-F238E27FC236}">
                <a16:creationId xmlns:a16="http://schemas.microsoft.com/office/drawing/2014/main" id="{F5C6A346-473D-6DAE-9573-A635B0EDD583}"/>
              </a:ext>
            </a:extLst>
          </p:cNvPr>
          <p:cNvSpPr txBox="1"/>
          <p:nvPr/>
        </p:nvSpPr>
        <p:spPr>
          <a:xfrm>
            <a:off x="914399" y="1748274"/>
            <a:ext cx="10527757" cy="469872"/>
          </a:xfrm>
          <a:prstGeom prst="rect">
            <a:avLst/>
          </a:prstGeom>
        </p:spPr>
        <p:txBody>
          <a:bodyPr lIns="0" tIns="0" rIns="0" bIns="0" rtlCol="0" anchor="t">
            <a:spAutoFit/>
          </a:bodyPr>
          <a:lstStyle/>
          <a:p>
            <a:pPr marL="457200" lvl="0" indent="-457200" algn="l">
              <a:lnSpc>
                <a:spcPts val="3919"/>
              </a:lnSpc>
              <a:spcBef>
                <a:spcPct val="0"/>
              </a:spcBef>
              <a:buFont typeface="Wingdings" panose="05000000000000000000" pitchFamily="2" charset="2"/>
              <a:buChar char="p"/>
            </a:pPr>
            <a:r>
              <a:rPr lang="en-US" sz="2799" b="1" dirty="0">
                <a:solidFill>
                  <a:srgbClr val="0F4662"/>
                </a:solidFill>
                <a:latin typeface="InterVariable"/>
                <a:ea typeface="Quicksand Bold"/>
                <a:cs typeface="Quicksand Bold"/>
                <a:sym typeface="Quicksand Bold"/>
              </a:rPr>
              <a:t>Quantitative Methodology</a:t>
            </a:r>
          </a:p>
        </p:txBody>
      </p:sp>
      <p:sp>
        <p:nvSpPr>
          <p:cNvPr id="12" name="TextBox 12">
            <a:extLst>
              <a:ext uri="{FF2B5EF4-FFF2-40B4-BE49-F238E27FC236}">
                <a16:creationId xmlns:a16="http://schemas.microsoft.com/office/drawing/2014/main" id="{C012CC31-9C46-8722-B87C-8E2BAA31E39A}"/>
              </a:ext>
            </a:extLst>
          </p:cNvPr>
          <p:cNvSpPr txBox="1"/>
          <p:nvPr/>
        </p:nvSpPr>
        <p:spPr>
          <a:xfrm>
            <a:off x="929390" y="4338033"/>
            <a:ext cx="10527757" cy="565150"/>
          </a:xfrm>
          <a:prstGeom prst="rect">
            <a:avLst/>
          </a:prstGeom>
        </p:spPr>
        <p:txBody>
          <a:bodyPr lIns="0" tIns="0" rIns="0" bIns="0" rtlCol="0" anchor="t">
            <a:spAutoFit/>
          </a:bodyPr>
          <a:lstStyle/>
          <a:p>
            <a:pPr marL="457200" lvl="0" indent="-457200" algn="l">
              <a:lnSpc>
                <a:spcPts val="4759"/>
              </a:lnSpc>
              <a:buFont typeface="Wingdings" panose="05000000000000000000" pitchFamily="2" charset="2"/>
              <a:buChar char="p"/>
            </a:pPr>
            <a:r>
              <a:rPr lang="en-US" sz="2799" b="1" dirty="0">
                <a:solidFill>
                  <a:srgbClr val="0F4662"/>
                </a:solidFill>
                <a:latin typeface="InterVariable"/>
                <a:ea typeface="Quicksand Bold"/>
                <a:cs typeface="Quicksand Bold"/>
                <a:sym typeface="Quicksand Bold"/>
              </a:rPr>
              <a:t>Business and Financial Analysis</a:t>
            </a:r>
          </a:p>
        </p:txBody>
      </p:sp>
      <p:sp>
        <p:nvSpPr>
          <p:cNvPr id="13" name="TextBox 13">
            <a:extLst>
              <a:ext uri="{FF2B5EF4-FFF2-40B4-BE49-F238E27FC236}">
                <a16:creationId xmlns:a16="http://schemas.microsoft.com/office/drawing/2014/main" id="{4408BD57-9739-335A-04B8-150E2C5AAF24}"/>
              </a:ext>
            </a:extLst>
          </p:cNvPr>
          <p:cNvSpPr txBox="1"/>
          <p:nvPr/>
        </p:nvSpPr>
        <p:spPr>
          <a:xfrm>
            <a:off x="914400" y="7015855"/>
            <a:ext cx="10527757" cy="565150"/>
          </a:xfrm>
          <a:prstGeom prst="rect">
            <a:avLst/>
          </a:prstGeom>
        </p:spPr>
        <p:txBody>
          <a:bodyPr wrap="square" lIns="0" tIns="0" rIns="0" bIns="0" rtlCol="0" anchor="t">
            <a:spAutoFit/>
          </a:bodyPr>
          <a:lstStyle/>
          <a:p>
            <a:pPr marL="457200" lvl="0" indent="-457200" algn="l">
              <a:lnSpc>
                <a:spcPts val="4759"/>
              </a:lnSpc>
              <a:buFont typeface="Wingdings" panose="05000000000000000000" pitchFamily="2" charset="2"/>
              <a:buChar char="p"/>
            </a:pPr>
            <a:r>
              <a:rPr lang="en-US" altLang="zh-CN" sz="2799" b="1" dirty="0">
                <a:solidFill>
                  <a:srgbClr val="0F4662"/>
                </a:solidFill>
                <a:latin typeface="InterVariable"/>
                <a:ea typeface="Quicksand Bold"/>
                <a:cs typeface="Quicksand Bold"/>
                <a:sym typeface="Quicksand Bold"/>
              </a:rPr>
              <a:t>Qualitative Assessment</a:t>
            </a:r>
          </a:p>
        </p:txBody>
      </p:sp>
      <p:pic>
        <p:nvPicPr>
          <p:cNvPr id="14" name="图片 13">
            <a:extLst>
              <a:ext uri="{FF2B5EF4-FFF2-40B4-BE49-F238E27FC236}">
                <a16:creationId xmlns:a16="http://schemas.microsoft.com/office/drawing/2014/main" id="{90FCA7B0-86BC-3BAF-F915-3E334B21201B}"/>
              </a:ext>
            </a:extLst>
          </p:cNvPr>
          <p:cNvPicPr>
            <a:picLocks noChangeAspect="1"/>
          </p:cNvPicPr>
          <p:nvPr/>
        </p:nvPicPr>
        <p:blipFill>
          <a:blip r:embed="rId2"/>
          <a:stretch>
            <a:fillRect/>
          </a:stretch>
        </p:blipFill>
        <p:spPr>
          <a:xfrm>
            <a:off x="8991600" y="1736849"/>
            <a:ext cx="9073643" cy="4494321"/>
          </a:xfrm>
          <a:prstGeom prst="rect">
            <a:avLst/>
          </a:prstGeom>
        </p:spPr>
      </p:pic>
      <p:grpSp>
        <p:nvGrpSpPr>
          <p:cNvPr id="15" name="组合 14">
            <a:extLst>
              <a:ext uri="{FF2B5EF4-FFF2-40B4-BE49-F238E27FC236}">
                <a16:creationId xmlns:a16="http://schemas.microsoft.com/office/drawing/2014/main" id="{CBB6A0CF-4372-5EA7-F747-4E6B39A0A20B}"/>
              </a:ext>
            </a:extLst>
          </p:cNvPr>
          <p:cNvGrpSpPr/>
          <p:nvPr/>
        </p:nvGrpSpPr>
        <p:grpSpPr>
          <a:xfrm>
            <a:off x="9791700" y="6496467"/>
            <a:ext cx="7848600" cy="3040343"/>
            <a:chOff x="10210800" y="4298776"/>
            <a:chExt cx="7630593" cy="3245024"/>
          </a:xfrm>
        </p:grpSpPr>
        <p:pic>
          <p:nvPicPr>
            <p:cNvPr id="16" name="图片 15">
              <a:extLst>
                <a:ext uri="{FF2B5EF4-FFF2-40B4-BE49-F238E27FC236}">
                  <a16:creationId xmlns:a16="http://schemas.microsoft.com/office/drawing/2014/main" id="{F6CBAFD6-19E6-D4DC-5AF9-EAD2999A53BB}"/>
                </a:ext>
              </a:extLst>
            </p:cNvPr>
            <p:cNvPicPr>
              <a:picLocks noChangeAspect="1"/>
            </p:cNvPicPr>
            <p:nvPr/>
          </p:nvPicPr>
          <p:blipFill>
            <a:blip r:embed="rId3"/>
            <a:stretch>
              <a:fillRect/>
            </a:stretch>
          </p:blipFill>
          <p:spPr>
            <a:xfrm>
              <a:off x="12022653" y="4343213"/>
              <a:ext cx="1448949" cy="639153"/>
            </a:xfrm>
            <a:prstGeom prst="rect">
              <a:avLst/>
            </a:prstGeom>
          </p:spPr>
        </p:pic>
        <p:pic>
          <p:nvPicPr>
            <p:cNvPr id="17" name="图片 16">
              <a:extLst>
                <a:ext uri="{FF2B5EF4-FFF2-40B4-BE49-F238E27FC236}">
                  <a16:creationId xmlns:a16="http://schemas.microsoft.com/office/drawing/2014/main" id="{97B0F030-98E7-4767-C50B-440E81425DCE}"/>
                </a:ext>
              </a:extLst>
            </p:cNvPr>
            <p:cNvPicPr>
              <a:picLocks noChangeAspect="1"/>
            </p:cNvPicPr>
            <p:nvPr/>
          </p:nvPicPr>
          <p:blipFill>
            <a:blip r:embed="rId4"/>
            <a:stretch>
              <a:fillRect/>
            </a:stretch>
          </p:blipFill>
          <p:spPr>
            <a:xfrm>
              <a:off x="13399583" y="4298776"/>
              <a:ext cx="1482309" cy="699682"/>
            </a:xfrm>
            <a:prstGeom prst="rect">
              <a:avLst/>
            </a:prstGeom>
          </p:spPr>
        </p:pic>
        <p:sp>
          <p:nvSpPr>
            <p:cNvPr id="18" name="TextBox 2">
              <a:extLst>
                <a:ext uri="{FF2B5EF4-FFF2-40B4-BE49-F238E27FC236}">
                  <a16:creationId xmlns:a16="http://schemas.microsoft.com/office/drawing/2014/main" id="{BA90E28C-FD4A-E4F5-23EA-1EE11D6CBE17}"/>
                </a:ext>
              </a:extLst>
            </p:cNvPr>
            <p:cNvSpPr txBox="1"/>
            <p:nvPr/>
          </p:nvSpPr>
          <p:spPr>
            <a:xfrm>
              <a:off x="15707793" y="4349747"/>
              <a:ext cx="2133600" cy="446917"/>
            </a:xfrm>
            <a:prstGeom prst="rect">
              <a:avLst/>
            </a:prstGeom>
          </p:spPr>
          <p:txBody>
            <a:bodyPr wrap="square" lIns="0" tIns="0" rIns="0" bIns="0" rtlCol="0" anchor="t">
              <a:spAutoFit/>
            </a:bodyPr>
            <a:lstStyle/>
            <a:p>
              <a:pPr marL="0" lvl="0" indent="0" algn="ctr">
                <a:lnSpc>
                  <a:spcPts val="4079"/>
                </a:lnSpc>
              </a:pPr>
              <a:r>
                <a:rPr lang="en-US" dirty="0">
                  <a:solidFill>
                    <a:srgbClr val="0F4662"/>
                  </a:solidFill>
                  <a:latin typeface="Arial" panose="020B0604020202020204" pitchFamily="34" charset="0"/>
                  <a:ea typeface="Quicksand"/>
                  <a:cs typeface="Arial" panose="020B0604020202020204" pitchFamily="34" charset="0"/>
                  <a:sym typeface="Quicksand"/>
                </a:rPr>
                <a:t>5-yr Growth %</a:t>
              </a:r>
            </a:p>
          </p:txBody>
        </p:sp>
        <p:pic>
          <p:nvPicPr>
            <p:cNvPr id="19" name="图片 18">
              <a:extLst>
                <a:ext uri="{FF2B5EF4-FFF2-40B4-BE49-F238E27FC236}">
                  <a16:creationId xmlns:a16="http://schemas.microsoft.com/office/drawing/2014/main" id="{6E7DA648-1D9E-41FE-FCCB-F1D095685080}"/>
                </a:ext>
              </a:extLst>
            </p:cNvPr>
            <p:cNvPicPr>
              <a:picLocks noChangeAspect="1"/>
            </p:cNvPicPr>
            <p:nvPr/>
          </p:nvPicPr>
          <p:blipFill>
            <a:blip r:embed="rId5"/>
            <a:stretch>
              <a:fillRect/>
            </a:stretch>
          </p:blipFill>
          <p:spPr>
            <a:xfrm>
              <a:off x="14711865" y="5067187"/>
              <a:ext cx="1387758" cy="2476613"/>
            </a:xfrm>
            <a:prstGeom prst="rect">
              <a:avLst/>
            </a:prstGeom>
          </p:spPr>
        </p:pic>
        <p:pic>
          <p:nvPicPr>
            <p:cNvPr id="20" name="图片 19">
              <a:extLst>
                <a:ext uri="{FF2B5EF4-FFF2-40B4-BE49-F238E27FC236}">
                  <a16:creationId xmlns:a16="http://schemas.microsoft.com/office/drawing/2014/main" id="{897DDD75-01B6-9DFB-5C10-A1C7F9F86211}"/>
                </a:ext>
              </a:extLst>
            </p:cNvPr>
            <p:cNvPicPr>
              <a:picLocks noChangeAspect="1"/>
            </p:cNvPicPr>
            <p:nvPr/>
          </p:nvPicPr>
          <p:blipFill>
            <a:blip r:embed="rId6"/>
            <a:stretch>
              <a:fillRect/>
            </a:stretch>
          </p:blipFill>
          <p:spPr>
            <a:xfrm>
              <a:off x="13586986" y="5130800"/>
              <a:ext cx="1152738" cy="2411232"/>
            </a:xfrm>
            <a:prstGeom prst="rect">
              <a:avLst/>
            </a:prstGeom>
          </p:spPr>
        </p:pic>
        <p:pic>
          <p:nvPicPr>
            <p:cNvPr id="21" name="图片 20">
              <a:extLst>
                <a:ext uri="{FF2B5EF4-FFF2-40B4-BE49-F238E27FC236}">
                  <a16:creationId xmlns:a16="http://schemas.microsoft.com/office/drawing/2014/main" id="{C25E3026-1A42-28EA-5544-4D9C541671E7}"/>
                </a:ext>
              </a:extLst>
            </p:cNvPr>
            <p:cNvPicPr>
              <a:picLocks noChangeAspect="1"/>
            </p:cNvPicPr>
            <p:nvPr/>
          </p:nvPicPr>
          <p:blipFill>
            <a:blip r:embed="rId7"/>
            <a:stretch>
              <a:fillRect/>
            </a:stretch>
          </p:blipFill>
          <p:spPr>
            <a:xfrm>
              <a:off x="10210800" y="5080000"/>
              <a:ext cx="2117802" cy="2462337"/>
            </a:xfrm>
            <a:prstGeom prst="rect">
              <a:avLst/>
            </a:prstGeom>
          </p:spPr>
        </p:pic>
        <p:pic>
          <p:nvPicPr>
            <p:cNvPr id="22" name="图片 21">
              <a:extLst>
                <a:ext uri="{FF2B5EF4-FFF2-40B4-BE49-F238E27FC236}">
                  <a16:creationId xmlns:a16="http://schemas.microsoft.com/office/drawing/2014/main" id="{180BA0CD-44E8-F7CB-50FE-840452F12484}"/>
                </a:ext>
              </a:extLst>
            </p:cNvPr>
            <p:cNvPicPr>
              <a:picLocks noChangeAspect="1"/>
            </p:cNvPicPr>
            <p:nvPr/>
          </p:nvPicPr>
          <p:blipFill>
            <a:blip r:embed="rId8"/>
            <a:stretch>
              <a:fillRect/>
            </a:stretch>
          </p:blipFill>
          <p:spPr>
            <a:xfrm>
              <a:off x="12328602" y="5156200"/>
              <a:ext cx="1143000" cy="2347889"/>
            </a:xfrm>
            <a:prstGeom prst="rect">
              <a:avLst/>
            </a:prstGeom>
          </p:spPr>
        </p:pic>
        <p:pic>
          <p:nvPicPr>
            <p:cNvPr id="23" name="图片 22">
              <a:extLst>
                <a:ext uri="{FF2B5EF4-FFF2-40B4-BE49-F238E27FC236}">
                  <a16:creationId xmlns:a16="http://schemas.microsoft.com/office/drawing/2014/main" id="{21D7AF95-8F5B-DA79-DB94-DFECCA5FB966}"/>
                </a:ext>
              </a:extLst>
            </p:cNvPr>
            <p:cNvPicPr>
              <a:picLocks noChangeAspect="1"/>
            </p:cNvPicPr>
            <p:nvPr/>
          </p:nvPicPr>
          <p:blipFill>
            <a:blip r:embed="rId9"/>
            <a:stretch>
              <a:fillRect/>
            </a:stretch>
          </p:blipFill>
          <p:spPr>
            <a:xfrm>
              <a:off x="16054087" y="5079822"/>
              <a:ext cx="1441013" cy="2425878"/>
            </a:xfrm>
            <a:prstGeom prst="rect">
              <a:avLst/>
            </a:prstGeom>
          </p:spPr>
        </p:pic>
      </p:grpSp>
      <p:cxnSp>
        <p:nvCxnSpPr>
          <p:cNvPr id="24" name="直接连接符 23">
            <a:extLst>
              <a:ext uri="{FF2B5EF4-FFF2-40B4-BE49-F238E27FC236}">
                <a16:creationId xmlns:a16="http://schemas.microsoft.com/office/drawing/2014/main" id="{E3213F53-C3F9-ABA8-8B14-F22919C17D92}"/>
              </a:ext>
            </a:extLst>
          </p:cNvPr>
          <p:cNvCxnSpPr>
            <a:cxnSpLocks/>
          </p:cNvCxnSpPr>
          <p:nvPr/>
        </p:nvCxnSpPr>
        <p:spPr>
          <a:xfrm>
            <a:off x="667785" y="1409700"/>
            <a:ext cx="17086815"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25" name="组合 24">
            <a:extLst>
              <a:ext uri="{FF2B5EF4-FFF2-40B4-BE49-F238E27FC236}">
                <a16:creationId xmlns:a16="http://schemas.microsoft.com/office/drawing/2014/main" id="{977870A5-8801-129F-DB1B-80B4B81D1C8B}"/>
              </a:ext>
            </a:extLst>
          </p:cNvPr>
          <p:cNvGrpSpPr/>
          <p:nvPr/>
        </p:nvGrpSpPr>
        <p:grpSpPr>
          <a:xfrm>
            <a:off x="15194131" y="360080"/>
            <a:ext cx="2484269" cy="897220"/>
            <a:chOff x="14949292" y="147595"/>
            <a:chExt cx="2484269" cy="897220"/>
          </a:xfrm>
        </p:grpSpPr>
        <p:pic>
          <p:nvPicPr>
            <p:cNvPr id="26" name="图片 25">
              <a:extLst>
                <a:ext uri="{FF2B5EF4-FFF2-40B4-BE49-F238E27FC236}">
                  <a16:creationId xmlns:a16="http://schemas.microsoft.com/office/drawing/2014/main" id="{056C7745-E8A5-D51E-3FE8-4729B1D9FA70}"/>
                </a:ext>
              </a:extLst>
            </p:cNvPr>
            <p:cNvPicPr>
              <a:picLocks noChangeAspect="1"/>
            </p:cNvPicPr>
            <p:nvPr/>
          </p:nvPicPr>
          <p:blipFill>
            <a:blip r:embed="rId10"/>
            <a:stretch>
              <a:fillRect/>
            </a:stretch>
          </p:blipFill>
          <p:spPr>
            <a:xfrm>
              <a:off x="14949292" y="147595"/>
              <a:ext cx="1472893" cy="863959"/>
            </a:xfrm>
            <a:prstGeom prst="rect">
              <a:avLst/>
            </a:prstGeom>
          </p:spPr>
        </p:pic>
        <p:pic>
          <p:nvPicPr>
            <p:cNvPr id="27" name="图片 26">
              <a:extLst>
                <a:ext uri="{FF2B5EF4-FFF2-40B4-BE49-F238E27FC236}">
                  <a16:creationId xmlns:a16="http://schemas.microsoft.com/office/drawing/2014/main" id="{9C8A814A-D6E7-5453-19A0-E66001A0F29F}"/>
                </a:ext>
              </a:extLst>
            </p:cNvPr>
            <p:cNvPicPr>
              <a:picLocks noChangeAspect="1"/>
            </p:cNvPicPr>
            <p:nvPr/>
          </p:nvPicPr>
          <p:blipFill>
            <a:blip r:embed="rId11"/>
            <a:stretch>
              <a:fillRect/>
            </a:stretch>
          </p:blipFill>
          <p:spPr>
            <a:xfrm>
              <a:off x="16585504" y="147595"/>
              <a:ext cx="848057" cy="897220"/>
            </a:xfrm>
            <a:prstGeom prst="rect">
              <a:avLst/>
            </a:prstGeom>
          </p:spPr>
        </p:pic>
      </p:grpSp>
    </p:spTree>
    <p:extLst>
      <p:ext uri="{BB962C8B-B14F-4D97-AF65-F5344CB8AC3E}">
        <p14:creationId xmlns:p14="http://schemas.microsoft.com/office/powerpoint/2010/main" val="1069750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EBD46-0897-11EF-05E3-87E4CC3CB2F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7A2C071-00BF-F05E-E520-9E42E9B8CEC3}"/>
              </a:ext>
            </a:extLst>
          </p:cNvPr>
          <p:cNvSpPr txBox="1"/>
          <p:nvPr/>
        </p:nvSpPr>
        <p:spPr>
          <a:xfrm>
            <a:off x="799030" y="2064934"/>
            <a:ext cx="17080210" cy="2578719"/>
          </a:xfrm>
          <a:prstGeom prst="rect">
            <a:avLst/>
          </a:prstGeom>
        </p:spPr>
        <p:txBody>
          <a:bodyPr wrap="square" lIns="0" tIns="0" rIns="0" bIns="0" rtlCol="0" anchor="t">
            <a:spAutoFit/>
          </a:bodyPr>
          <a:lstStyle/>
          <a:p>
            <a:pPr marL="342900" lvl="0" indent="-342900" algn="just">
              <a:lnSpc>
                <a:spcPts val="4079"/>
              </a:lnSpc>
              <a:buFont typeface="Wingdings" panose="05000000000000000000" pitchFamily="2" charset="2"/>
              <a:buChar char="l"/>
            </a:pPr>
            <a:r>
              <a:rPr lang="en-US" altLang="zh-CN" sz="2400" dirty="0">
                <a:solidFill>
                  <a:srgbClr val="0F4662"/>
                </a:solidFill>
                <a:latin typeface="InterVariable"/>
                <a:cs typeface="Arial" panose="020B0604020202020204" pitchFamily="34" charset="0"/>
              </a:rPr>
              <a:t>In 2024, the global electric vehicle (EV) market achieved </a:t>
            </a:r>
            <a:r>
              <a:rPr lang="en-US" altLang="zh-CN" sz="2400" b="1" dirty="0">
                <a:solidFill>
                  <a:srgbClr val="0F4662"/>
                </a:solidFill>
                <a:latin typeface="InterVariable"/>
                <a:cs typeface="Arial" panose="020B0604020202020204" pitchFamily="34" charset="0"/>
              </a:rPr>
              <a:t>25%</a:t>
            </a:r>
            <a:r>
              <a:rPr lang="en-US" altLang="zh-CN" sz="2400" dirty="0">
                <a:solidFill>
                  <a:srgbClr val="0F4662"/>
                </a:solidFill>
                <a:latin typeface="InterVariable"/>
                <a:cs typeface="Arial" panose="020B0604020202020204" pitchFamily="34" charset="0"/>
              </a:rPr>
              <a:t> growth to sales of </a:t>
            </a:r>
            <a:r>
              <a:rPr lang="en-US" altLang="zh-CN" sz="2400" b="1" dirty="0">
                <a:solidFill>
                  <a:srgbClr val="0F4662"/>
                </a:solidFill>
                <a:latin typeface="InterVariable"/>
                <a:cs typeface="Arial" panose="020B0604020202020204" pitchFamily="34" charset="0"/>
              </a:rPr>
              <a:t>17 million</a:t>
            </a:r>
            <a:r>
              <a:rPr lang="en-US" altLang="zh-CN" sz="2400" dirty="0">
                <a:solidFill>
                  <a:srgbClr val="0F4662"/>
                </a:solidFill>
                <a:latin typeface="InterVariable"/>
                <a:cs typeface="Arial" panose="020B0604020202020204" pitchFamily="34" charset="0"/>
              </a:rPr>
              <a:t> units (both BEVs and PHEVs) or </a:t>
            </a:r>
            <a:r>
              <a:rPr lang="en-US" altLang="zh-CN" sz="2400" b="1" dirty="0">
                <a:solidFill>
                  <a:srgbClr val="0F4662"/>
                </a:solidFill>
                <a:latin typeface="InterVariable"/>
                <a:cs typeface="Arial" panose="020B0604020202020204" pitchFamily="34" charset="0"/>
              </a:rPr>
              <a:t>$380 billion</a:t>
            </a:r>
            <a:r>
              <a:rPr lang="en-US" altLang="zh-CN" sz="2400" dirty="0">
                <a:solidFill>
                  <a:srgbClr val="0F4662"/>
                </a:solidFill>
                <a:latin typeface="InterVariable"/>
                <a:cs typeface="Arial" panose="020B0604020202020204" pitchFamily="34" charset="0"/>
              </a:rPr>
              <a:t> and</a:t>
            </a:r>
            <a:r>
              <a:rPr lang="zh-CN" altLang="en-US" sz="2400" dirty="0">
                <a:solidFill>
                  <a:srgbClr val="0F4662"/>
                </a:solidFill>
                <a:latin typeface="InterVariable"/>
                <a:cs typeface="Arial" panose="020B0604020202020204" pitchFamily="34" charset="0"/>
              </a:rPr>
              <a:t> </a:t>
            </a:r>
            <a:r>
              <a:rPr lang="en-US" altLang="zh-CN" sz="2400" dirty="0">
                <a:solidFill>
                  <a:srgbClr val="0F4662"/>
                </a:solidFill>
                <a:latin typeface="InterVariable"/>
                <a:cs typeface="Arial" panose="020B0604020202020204" pitchFamily="34" charset="0"/>
              </a:rPr>
              <a:t>expected</a:t>
            </a:r>
            <a:r>
              <a:rPr lang="zh-CN" altLang="en-US" sz="2400" dirty="0">
                <a:solidFill>
                  <a:srgbClr val="0F4662"/>
                </a:solidFill>
                <a:latin typeface="InterVariable"/>
                <a:cs typeface="Arial" panose="020B0604020202020204" pitchFamily="34" charset="0"/>
              </a:rPr>
              <a:t> </a:t>
            </a:r>
            <a:r>
              <a:rPr lang="en-US" altLang="zh-CN" sz="2400" dirty="0">
                <a:solidFill>
                  <a:srgbClr val="0F4662"/>
                </a:solidFill>
                <a:latin typeface="InterVariable"/>
                <a:cs typeface="Arial" panose="020B0604020202020204" pitchFamily="34" charset="0"/>
              </a:rPr>
              <a:t>to</a:t>
            </a:r>
            <a:r>
              <a:rPr lang="zh-CN" altLang="en-US" sz="2400" dirty="0">
                <a:solidFill>
                  <a:srgbClr val="0F4662"/>
                </a:solidFill>
                <a:latin typeface="InterVariable"/>
                <a:cs typeface="Arial" panose="020B0604020202020204" pitchFamily="34" charset="0"/>
              </a:rPr>
              <a:t> </a:t>
            </a:r>
            <a:r>
              <a:rPr lang="en-US" altLang="zh-CN" sz="2400" dirty="0">
                <a:solidFill>
                  <a:srgbClr val="0F4662"/>
                </a:solidFill>
                <a:latin typeface="InterVariable"/>
                <a:cs typeface="Arial" panose="020B0604020202020204" pitchFamily="34" charset="0"/>
              </a:rPr>
              <a:t>surpass</a:t>
            </a:r>
            <a:r>
              <a:rPr lang="en-US" altLang="zh-CN" sz="2400" b="1" dirty="0">
                <a:solidFill>
                  <a:srgbClr val="0F4662"/>
                </a:solidFill>
                <a:latin typeface="InterVariable"/>
                <a:cs typeface="Arial" panose="020B0604020202020204" pitchFamily="34" charset="0"/>
              </a:rPr>
              <a:t> 20 million</a:t>
            </a:r>
            <a:r>
              <a:rPr lang="en-US" altLang="zh-CN" sz="2400" dirty="0">
                <a:solidFill>
                  <a:srgbClr val="0F4662"/>
                </a:solidFill>
                <a:latin typeface="InterVariable"/>
                <a:cs typeface="Arial" panose="020B0604020202020204" pitchFamily="34" charset="0"/>
              </a:rPr>
              <a:t> units in 2025, approximately </a:t>
            </a:r>
            <a:r>
              <a:rPr lang="en-US" altLang="zh-CN" sz="2400" b="1" dirty="0">
                <a:solidFill>
                  <a:srgbClr val="0F4662"/>
                </a:solidFill>
                <a:latin typeface="InterVariable"/>
                <a:cs typeface="Arial" panose="020B0604020202020204" pitchFamily="34" charset="0"/>
              </a:rPr>
              <a:t>20% </a:t>
            </a:r>
            <a:r>
              <a:rPr lang="en-US" altLang="zh-CN" sz="2400" dirty="0">
                <a:solidFill>
                  <a:srgbClr val="0F4662"/>
                </a:solidFill>
                <a:latin typeface="InterVariable"/>
                <a:cs typeface="Arial" panose="020B0604020202020204" pitchFamily="34" charset="0"/>
              </a:rPr>
              <a:t>penetration of</a:t>
            </a:r>
            <a:r>
              <a:rPr lang="en-US" altLang="zh-CN" sz="2400" b="1" dirty="0">
                <a:solidFill>
                  <a:srgbClr val="0F4662"/>
                </a:solidFill>
                <a:latin typeface="InterVariable"/>
                <a:cs typeface="Arial" panose="020B0604020202020204" pitchFamily="34" charset="0"/>
              </a:rPr>
              <a:t> </a:t>
            </a:r>
            <a:r>
              <a:rPr lang="en-US" altLang="zh-CN" sz="2400" dirty="0">
                <a:solidFill>
                  <a:srgbClr val="0F4662"/>
                </a:solidFill>
                <a:latin typeface="InterVariable"/>
                <a:cs typeface="Arial" panose="020B0604020202020204" pitchFamily="34" charset="0"/>
              </a:rPr>
              <a:t>global car sales</a:t>
            </a:r>
          </a:p>
          <a:p>
            <a:pPr marL="342900" lvl="0" indent="-342900" algn="just">
              <a:lnSpc>
                <a:spcPts val="4079"/>
              </a:lnSpc>
              <a:buFont typeface="Wingdings" panose="05000000000000000000" pitchFamily="2" charset="2"/>
              <a:buChar char="l"/>
            </a:pPr>
            <a:r>
              <a:rPr lang="en-US" sz="2400" dirty="0">
                <a:solidFill>
                  <a:srgbClr val="0F4662"/>
                </a:solidFill>
                <a:latin typeface="InterVariable"/>
                <a:ea typeface="Quicksand"/>
                <a:cs typeface="Arial" panose="020B0604020202020204" pitchFamily="34" charset="0"/>
                <a:sym typeface="Quicksand"/>
              </a:rPr>
              <a:t>Top two leaders: </a:t>
            </a:r>
            <a:r>
              <a:rPr lang="en-US" sz="2400" b="1" dirty="0">
                <a:solidFill>
                  <a:srgbClr val="0F4662"/>
                </a:solidFill>
                <a:latin typeface="InterVariable"/>
                <a:ea typeface="Quicksand"/>
                <a:cs typeface="Arial" panose="020B0604020202020204" pitchFamily="34" charset="0"/>
                <a:sym typeface="Quicksand"/>
              </a:rPr>
              <a:t>BYD (22% of global market) </a:t>
            </a:r>
            <a:r>
              <a:rPr lang="en-US" sz="2400" dirty="0">
                <a:solidFill>
                  <a:srgbClr val="0F4662"/>
                </a:solidFill>
                <a:latin typeface="InterVariable"/>
                <a:ea typeface="Quicksand"/>
                <a:cs typeface="Arial" panose="020B0604020202020204" pitchFamily="34" charset="0"/>
                <a:sym typeface="Quicksand"/>
              </a:rPr>
              <a:t>with volume-driven strategy </a:t>
            </a:r>
            <a:r>
              <a:rPr lang="en-US" sz="2400" b="1" dirty="0">
                <a:solidFill>
                  <a:srgbClr val="C00000"/>
                </a:solidFill>
                <a:latin typeface="InterVariable"/>
                <a:ea typeface="Quicksand"/>
                <a:cs typeface="Arial" panose="020B0604020202020204" pitchFamily="34" charset="0"/>
                <a:sym typeface="Quicksand"/>
              </a:rPr>
              <a:t>vs</a:t>
            </a:r>
            <a:r>
              <a:rPr lang="en-US" sz="2400" dirty="0">
                <a:solidFill>
                  <a:srgbClr val="0F4662"/>
                </a:solidFill>
                <a:latin typeface="InterVariable"/>
                <a:ea typeface="Quicksand"/>
                <a:cs typeface="Arial" panose="020B0604020202020204" pitchFamily="34" charset="0"/>
                <a:sym typeface="Quicksand"/>
              </a:rPr>
              <a:t> </a:t>
            </a:r>
            <a:r>
              <a:rPr lang="en-US" sz="2400" b="1" dirty="0">
                <a:solidFill>
                  <a:srgbClr val="0F4662"/>
                </a:solidFill>
                <a:latin typeface="InterVariable"/>
                <a:ea typeface="Quicksand"/>
                <a:cs typeface="Arial" panose="020B0604020202020204" pitchFamily="34" charset="0"/>
                <a:sym typeface="Quicksand"/>
              </a:rPr>
              <a:t>Tesla (17% of global market)</a:t>
            </a:r>
            <a:r>
              <a:rPr lang="en-US" sz="2400" dirty="0">
                <a:solidFill>
                  <a:srgbClr val="0F4662"/>
                </a:solidFill>
                <a:latin typeface="InterVariable"/>
                <a:ea typeface="Quicksand"/>
                <a:cs typeface="Arial" panose="020B0604020202020204" pitchFamily="34" charset="0"/>
                <a:sym typeface="Quicksand"/>
              </a:rPr>
              <a:t> with platform economics</a:t>
            </a:r>
          </a:p>
          <a:p>
            <a:pPr marL="342900" lvl="0" indent="-342900" algn="just">
              <a:lnSpc>
                <a:spcPts val="4079"/>
              </a:lnSpc>
              <a:buFont typeface="Wingdings" panose="05000000000000000000" pitchFamily="2" charset="2"/>
              <a:buChar char="l"/>
            </a:pPr>
            <a:r>
              <a:rPr lang="en-US" altLang="zh-CN" sz="2400" dirty="0">
                <a:solidFill>
                  <a:srgbClr val="0F4662"/>
                </a:solidFill>
                <a:latin typeface="InterVariable"/>
                <a:ea typeface="Quicksand"/>
                <a:cs typeface="Arial" panose="020B0604020202020204" pitchFamily="34" charset="0"/>
                <a:sym typeface="Quicksand"/>
              </a:rPr>
              <a:t>EV sector</a:t>
            </a:r>
            <a:r>
              <a:rPr lang="en-US" sz="2400" dirty="0">
                <a:solidFill>
                  <a:srgbClr val="0F4662"/>
                </a:solidFill>
                <a:latin typeface="InterVariable"/>
                <a:ea typeface="Quicksand"/>
                <a:cs typeface="Arial" panose="020B0604020202020204" pitchFamily="34" charset="0"/>
                <a:sym typeface="Quicksand"/>
              </a:rPr>
              <a:t> has exhibited divergent price volatility in Hong Kong and NASDAQ market, reflecting distinct geopolitical, regulatory, and market structure dynamics. The 3-year average volatility of stock prices of EV indices in both markets is </a:t>
            </a:r>
            <a:r>
              <a:rPr lang="en-US" sz="2400" b="1" dirty="0">
                <a:solidFill>
                  <a:srgbClr val="0F4662"/>
                </a:solidFill>
                <a:latin typeface="InterVariable"/>
                <a:ea typeface="Quicksand"/>
                <a:cs typeface="Arial" panose="020B0604020202020204" pitchFamily="34" charset="0"/>
                <a:sym typeface="Quicksand"/>
              </a:rPr>
              <a:t>36%</a:t>
            </a:r>
            <a:r>
              <a:rPr lang="en-US" sz="2400" dirty="0">
                <a:solidFill>
                  <a:srgbClr val="0F4662"/>
                </a:solidFill>
                <a:latin typeface="InterVariable"/>
                <a:ea typeface="Quicksand"/>
                <a:cs typeface="Arial" panose="020B0604020202020204" pitchFamily="34" charset="0"/>
                <a:sym typeface="Quicksand"/>
              </a:rPr>
              <a:t> (HK) and </a:t>
            </a:r>
            <a:r>
              <a:rPr lang="en-US" sz="2400" b="1" dirty="0">
                <a:solidFill>
                  <a:srgbClr val="0F4662"/>
                </a:solidFill>
                <a:latin typeface="InterVariable"/>
                <a:ea typeface="Quicksand"/>
                <a:cs typeface="Arial" panose="020B0604020202020204" pitchFamily="34" charset="0"/>
                <a:sym typeface="Quicksand"/>
              </a:rPr>
              <a:t>29%</a:t>
            </a:r>
            <a:r>
              <a:rPr lang="en-US" sz="2400" dirty="0">
                <a:solidFill>
                  <a:srgbClr val="0F4662"/>
                </a:solidFill>
                <a:latin typeface="InterVariable"/>
                <a:ea typeface="Quicksand"/>
                <a:cs typeface="Arial" panose="020B0604020202020204" pitchFamily="34" charset="0"/>
                <a:sym typeface="Quicksand"/>
              </a:rPr>
              <a:t>(NASDAQ)</a:t>
            </a:r>
          </a:p>
        </p:txBody>
      </p:sp>
      <p:sp>
        <p:nvSpPr>
          <p:cNvPr id="6" name="TextBox 6">
            <a:extLst>
              <a:ext uri="{FF2B5EF4-FFF2-40B4-BE49-F238E27FC236}">
                <a16:creationId xmlns:a16="http://schemas.microsoft.com/office/drawing/2014/main" id="{43C90FDD-CC3A-4B81-1AD9-9C7670846D49}"/>
              </a:ext>
            </a:extLst>
          </p:cNvPr>
          <p:cNvSpPr txBox="1"/>
          <p:nvPr/>
        </p:nvSpPr>
        <p:spPr>
          <a:xfrm>
            <a:off x="641123" y="251301"/>
            <a:ext cx="15415056" cy="1009059"/>
          </a:xfrm>
          <a:prstGeom prst="rect">
            <a:avLst/>
          </a:prstGeom>
        </p:spPr>
        <p:txBody>
          <a:bodyPr wrap="square" lIns="0" tIns="0" rIns="0" bIns="0" rtlCol="0" anchor="t">
            <a:spAutoFit/>
          </a:bodyPr>
          <a:lstStyle/>
          <a:p>
            <a:pPr marL="0" lvl="0" indent="0" algn="l">
              <a:lnSpc>
                <a:spcPts val="8959"/>
              </a:lnSpc>
              <a:spcBef>
                <a:spcPct val="0"/>
              </a:spcBef>
            </a:pPr>
            <a:r>
              <a:rPr lang="en-US" sz="3500" b="1" dirty="0">
                <a:solidFill>
                  <a:srgbClr val="0F4662"/>
                </a:solidFill>
                <a:latin typeface="InterVariable"/>
                <a:sym typeface="Cormorant Garamond Bold Italics"/>
              </a:rPr>
              <a:t> </a:t>
            </a:r>
            <a:r>
              <a:rPr lang="en-US" sz="4000" b="1" dirty="0">
                <a:solidFill>
                  <a:srgbClr val="0F4662"/>
                </a:solidFill>
                <a:latin typeface="InterVariable"/>
                <a:sym typeface="Cormorant Garamond Bold Italics"/>
              </a:rPr>
              <a:t>EV </a:t>
            </a:r>
            <a:r>
              <a:rPr lang="en-US" altLang="zh-CN" sz="4000" b="1" dirty="0">
                <a:solidFill>
                  <a:srgbClr val="0F4662"/>
                </a:solidFill>
                <a:latin typeface="InterVariable"/>
                <a:sym typeface="Cormorant Garamond Bold Italics"/>
              </a:rPr>
              <a:t>Industry</a:t>
            </a:r>
            <a:r>
              <a:rPr lang="en-US" altLang="zh-CN" sz="3500" b="1" dirty="0">
                <a:solidFill>
                  <a:srgbClr val="0F4662"/>
                </a:solidFill>
                <a:latin typeface="InterVariable"/>
                <a:sym typeface="Cormorant Garamond Bold Italics"/>
              </a:rPr>
              <a:t> -</a:t>
            </a:r>
            <a:r>
              <a:rPr lang="en-US" sz="3500" b="1" dirty="0">
                <a:solidFill>
                  <a:srgbClr val="0F4662"/>
                </a:solidFill>
                <a:latin typeface="InterVariable"/>
                <a:sym typeface="Cormorant Garamond Bold Italics"/>
              </a:rPr>
              <a:t> </a:t>
            </a:r>
            <a:r>
              <a:rPr lang="en-US" altLang="zh-CN" sz="3200" b="1" dirty="0">
                <a:solidFill>
                  <a:srgbClr val="00B050"/>
                </a:solidFill>
                <a:latin typeface="InterVariable"/>
                <a:ea typeface="Cormorant Garamond Bold Italics"/>
                <a:cs typeface="Arial" panose="020B0604020202020204" pitchFamily="34" charset="0"/>
                <a:sym typeface="Cormorant Garamond Bold Italics"/>
              </a:rPr>
              <a:t>Long Tesla (Tsla.US) </a:t>
            </a:r>
            <a:r>
              <a:rPr lang="en-US" altLang="zh-CN" sz="3200" b="1" dirty="0">
                <a:solidFill>
                  <a:srgbClr val="C00000"/>
                </a:solidFill>
                <a:latin typeface="InterVariable"/>
                <a:ea typeface="Cormorant Garamond Bold Italics"/>
                <a:cs typeface="Arial" panose="020B0604020202020204" pitchFamily="34" charset="0"/>
                <a:sym typeface="Cormorant Garamond Bold Italics"/>
              </a:rPr>
              <a:t>Short BYD (1211.HK)</a:t>
            </a:r>
            <a:endParaRPr lang="en-US" sz="3200" b="1" dirty="0">
              <a:solidFill>
                <a:srgbClr val="0F4662"/>
              </a:solidFill>
              <a:latin typeface="InterVariable"/>
              <a:sym typeface="Cormorant Garamond Bold Italics"/>
            </a:endParaRPr>
          </a:p>
        </p:txBody>
      </p:sp>
      <p:grpSp>
        <p:nvGrpSpPr>
          <p:cNvPr id="33" name="组合 32">
            <a:extLst>
              <a:ext uri="{FF2B5EF4-FFF2-40B4-BE49-F238E27FC236}">
                <a16:creationId xmlns:a16="http://schemas.microsoft.com/office/drawing/2014/main" id="{FBB4DCE7-5AFA-4571-5D80-B0C6B6A0B14C}"/>
              </a:ext>
            </a:extLst>
          </p:cNvPr>
          <p:cNvGrpSpPr/>
          <p:nvPr/>
        </p:nvGrpSpPr>
        <p:grpSpPr>
          <a:xfrm>
            <a:off x="9448800" y="4811739"/>
            <a:ext cx="8430440" cy="5410200"/>
            <a:chOff x="8070486" y="1845868"/>
            <a:chExt cx="9775305" cy="5974157"/>
          </a:xfrm>
        </p:grpSpPr>
        <p:pic>
          <p:nvPicPr>
            <p:cNvPr id="10" name="图片 9">
              <a:extLst>
                <a:ext uri="{FF2B5EF4-FFF2-40B4-BE49-F238E27FC236}">
                  <a16:creationId xmlns:a16="http://schemas.microsoft.com/office/drawing/2014/main" id="{B1FBBFB6-4F88-FEB0-1F73-8372BBB95BA2}"/>
                </a:ext>
              </a:extLst>
            </p:cNvPr>
            <p:cNvPicPr>
              <a:picLocks noChangeAspect="1"/>
            </p:cNvPicPr>
            <p:nvPr/>
          </p:nvPicPr>
          <p:blipFill>
            <a:blip r:embed="rId2"/>
            <a:stretch>
              <a:fillRect/>
            </a:stretch>
          </p:blipFill>
          <p:spPr>
            <a:xfrm>
              <a:off x="8092191" y="2597344"/>
              <a:ext cx="9753600" cy="4457700"/>
            </a:xfrm>
            <a:prstGeom prst="rect">
              <a:avLst/>
            </a:prstGeom>
          </p:spPr>
        </p:pic>
        <p:sp>
          <p:nvSpPr>
            <p:cNvPr id="5" name="TextBox 2">
              <a:extLst>
                <a:ext uri="{FF2B5EF4-FFF2-40B4-BE49-F238E27FC236}">
                  <a16:creationId xmlns:a16="http://schemas.microsoft.com/office/drawing/2014/main" id="{4920EDA0-FBC2-ADF1-E05E-26B35737DE05}"/>
                </a:ext>
              </a:extLst>
            </p:cNvPr>
            <p:cNvSpPr txBox="1"/>
            <p:nvPr/>
          </p:nvSpPr>
          <p:spPr>
            <a:xfrm>
              <a:off x="12175761" y="2877197"/>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18%</a:t>
              </a:r>
            </a:p>
          </p:txBody>
        </p:sp>
        <p:sp>
          <p:nvSpPr>
            <p:cNvPr id="12" name="TextBox 2">
              <a:extLst>
                <a:ext uri="{FF2B5EF4-FFF2-40B4-BE49-F238E27FC236}">
                  <a16:creationId xmlns:a16="http://schemas.microsoft.com/office/drawing/2014/main" id="{C8768107-9D94-AE2E-30EB-42D251389733}"/>
                </a:ext>
              </a:extLst>
            </p:cNvPr>
            <p:cNvSpPr txBox="1"/>
            <p:nvPr/>
          </p:nvSpPr>
          <p:spPr>
            <a:xfrm>
              <a:off x="11547151" y="2866914"/>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14%</a:t>
              </a:r>
            </a:p>
          </p:txBody>
        </p:sp>
        <p:sp>
          <p:nvSpPr>
            <p:cNvPr id="14" name="TextBox 2">
              <a:extLst>
                <a:ext uri="{FF2B5EF4-FFF2-40B4-BE49-F238E27FC236}">
                  <a16:creationId xmlns:a16="http://schemas.microsoft.com/office/drawing/2014/main" id="{9FE38844-A11E-49E4-FD39-97998CD2BD17}"/>
                </a:ext>
              </a:extLst>
            </p:cNvPr>
            <p:cNvSpPr txBox="1"/>
            <p:nvPr/>
          </p:nvSpPr>
          <p:spPr>
            <a:xfrm>
              <a:off x="10918541" y="2877197"/>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8.9%</a:t>
              </a:r>
            </a:p>
          </p:txBody>
        </p:sp>
        <p:sp>
          <p:nvSpPr>
            <p:cNvPr id="19" name="TextBox 2">
              <a:extLst>
                <a:ext uri="{FF2B5EF4-FFF2-40B4-BE49-F238E27FC236}">
                  <a16:creationId xmlns:a16="http://schemas.microsoft.com/office/drawing/2014/main" id="{13E15526-5E37-654E-11D4-E6E1CE248EE7}"/>
                </a:ext>
              </a:extLst>
            </p:cNvPr>
            <p:cNvSpPr txBox="1"/>
            <p:nvPr/>
          </p:nvSpPr>
          <p:spPr>
            <a:xfrm>
              <a:off x="10918541" y="4988921"/>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16%</a:t>
              </a:r>
            </a:p>
          </p:txBody>
        </p:sp>
        <p:sp>
          <p:nvSpPr>
            <p:cNvPr id="20" name="TextBox 2">
              <a:extLst>
                <a:ext uri="{FF2B5EF4-FFF2-40B4-BE49-F238E27FC236}">
                  <a16:creationId xmlns:a16="http://schemas.microsoft.com/office/drawing/2014/main" id="{88546319-0617-F2F4-AD77-2787A28C227C}"/>
                </a:ext>
              </a:extLst>
            </p:cNvPr>
            <p:cNvSpPr txBox="1"/>
            <p:nvPr/>
          </p:nvSpPr>
          <p:spPr>
            <a:xfrm>
              <a:off x="11566161" y="4988921"/>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29%</a:t>
              </a:r>
            </a:p>
          </p:txBody>
        </p:sp>
        <p:sp>
          <p:nvSpPr>
            <p:cNvPr id="29" name="TextBox 2">
              <a:extLst>
                <a:ext uri="{FF2B5EF4-FFF2-40B4-BE49-F238E27FC236}">
                  <a16:creationId xmlns:a16="http://schemas.microsoft.com/office/drawing/2014/main" id="{5A6F1D95-CEC3-A24B-A173-7721314EA293}"/>
                </a:ext>
              </a:extLst>
            </p:cNvPr>
            <p:cNvSpPr txBox="1"/>
            <p:nvPr/>
          </p:nvSpPr>
          <p:spPr>
            <a:xfrm>
              <a:off x="12175761" y="4988921"/>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38%</a:t>
              </a:r>
            </a:p>
          </p:txBody>
        </p:sp>
        <p:sp>
          <p:nvSpPr>
            <p:cNvPr id="3" name="TextBox 2">
              <a:extLst>
                <a:ext uri="{FF2B5EF4-FFF2-40B4-BE49-F238E27FC236}">
                  <a16:creationId xmlns:a16="http://schemas.microsoft.com/office/drawing/2014/main" id="{CE5E8F14-4AF5-4E5B-0490-40DE55BEF21E}"/>
                </a:ext>
              </a:extLst>
            </p:cNvPr>
            <p:cNvSpPr txBox="1"/>
            <p:nvPr/>
          </p:nvSpPr>
          <p:spPr>
            <a:xfrm>
              <a:off x="15695327" y="2939942"/>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5%</a:t>
              </a:r>
            </a:p>
          </p:txBody>
        </p:sp>
        <p:sp>
          <p:nvSpPr>
            <p:cNvPr id="4" name="TextBox 2">
              <a:extLst>
                <a:ext uri="{FF2B5EF4-FFF2-40B4-BE49-F238E27FC236}">
                  <a16:creationId xmlns:a16="http://schemas.microsoft.com/office/drawing/2014/main" id="{8536D7C7-FE1F-45CD-36EE-0663B9AA8399}"/>
                </a:ext>
              </a:extLst>
            </p:cNvPr>
            <p:cNvSpPr txBox="1"/>
            <p:nvPr/>
          </p:nvSpPr>
          <p:spPr>
            <a:xfrm>
              <a:off x="16341506" y="2939942"/>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7%</a:t>
              </a:r>
            </a:p>
          </p:txBody>
        </p:sp>
        <p:sp>
          <p:nvSpPr>
            <p:cNvPr id="16" name="TextBox 2">
              <a:extLst>
                <a:ext uri="{FF2B5EF4-FFF2-40B4-BE49-F238E27FC236}">
                  <a16:creationId xmlns:a16="http://schemas.microsoft.com/office/drawing/2014/main" id="{C4EB9F9B-6E9D-07F9-057F-BC1E13CD8191}"/>
                </a:ext>
              </a:extLst>
            </p:cNvPr>
            <p:cNvSpPr txBox="1"/>
            <p:nvPr/>
          </p:nvSpPr>
          <p:spPr>
            <a:xfrm>
              <a:off x="17015520" y="2819400"/>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9.5%</a:t>
              </a:r>
            </a:p>
          </p:txBody>
        </p:sp>
        <p:sp>
          <p:nvSpPr>
            <p:cNvPr id="23" name="TextBox 2">
              <a:extLst>
                <a:ext uri="{FF2B5EF4-FFF2-40B4-BE49-F238E27FC236}">
                  <a16:creationId xmlns:a16="http://schemas.microsoft.com/office/drawing/2014/main" id="{4B2BDB04-4134-35A7-A976-8DC25D034397}"/>
                </a:ext>
              </a:extLst>
            </p:cNvPr>
            <p:cNvSpPr txBox="1"/>
            <p:nvPr/>
          </p:nvSpPr>
          <p:spPr>
            <a:xfrm>
              <a:off x="15731906" y="5212379"/>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17%</a:t>
              </a:r>
            </a:p>
          </p:txBody>
        </p:sp>
        <p:sp>
          <p:nvSpPr>
            <p:cNvPr id="24" name="TextBox 2">
              <a:extLst>
                <a:ext uri="{FF2B5EF4-FFF2-40B4-BE49-F238E27FC236}">
                  <a16:creationId xmlns:a16="http://schemas.microsoft.com/office/drawing/2014/main" id="{E375A31A-8F4D-1157-574F-59883E406B27}"/>
                </a:ext>
              </a:extLst>
            </p:cNvPr>
            <p:cNvSpPr txBox="1"/>
            <p:nvPr/>
          </p:nvSpPr>
          <p:spPr>
            <a:xfrm>
              <a:off x="16352396" y="5212379"/>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21%</a:t>
              </a:r>
            </a:p>
          </p:txBody>
        </p:sp>
        <p:sp>
          <p:nvSpPr>
            <p:cNvPr id="25" name="TextBox 2">
              <a:extLst>
                <a:ext uri="{FF2B5EF4-FFF2-40B4-BE49-F238E27FC236}">
                  <a16:creationId xmlns:a16="http://schemas.microsoft.com/office/drawing/2014/main" id="{D6A6FE25-C07A-8D47-5A1C-42D42AD2ECF3}"/>
                </a:ext>
              </a:extLst>
            </p:cNvPr>
            <p:cNvSpPr txBox="1"/>
            <p:nvPr/>
          </p:nvSpPr>
          <p:spPr>
            <a:xfrm>
              <a:off x="17015520" y="5170995"/>
              <a:ext cx="609600" cy="446917"/>
            </a:xfrm>
            <a:prstGeom prst="rect">
              <a:avLst/>
            </a:prstGeom>
          </p:spPr>
          <p:txBody>
            <a:bodyPr wrap="square" lIns="0" tIns="0" rIns="0" bIns="0" rtlCol="0" anchor="t">
              <a:spAutoFit/>
            </a:bodyPr>
            <a:lstStyle/>
            <a:p>
              <a:pPr marL="0" lvl="0" indent="0" algn="ctr">
                <a:lnSpc>
                  <a:spcPts val="4079"/>
                </a:lnSpc>
              </a:pPr>
              <a:r>
                <a:rPr lang="en-US" sz="1300" dirty="0">
                  <a:solidFill>
                    <a:srgbClr val="0F4662"/>
                  </a:solidFill>
                  <a:latin typeface="Arial" panose="020B0604020202020204" pitchFamily="34" charset="0"/>
                  <a:ea typeface="Quicksand"/>
                  <a:cs typeface="Arial" panose="020B0604020202020204" pitchFamily="34" charset="0"/>
                  <a:sym typeface="Quicksand"/>
                </a:rPr>
                <a:t>22%</a:t>
              </a:r>
            </a:p>
          </p:txBody>
        </p:sp>
        <p:pic>
          <p:nvPicPr>
            <p:cNvPr id="27" name="图片 26">
              <a:extLst>
                <a:ext uri="{FF2B5EF4-FFF2-40B4-BE49-F238E27FC236}">
                  <a16:creationId xmlns:a16="http://schemas.microsoft.com/office/drawing/2014/main" id="{CD65593A-EC62-9AD1-25AB-315373E4C53D}"/>
                </a:ext>
              </a:extLst>
            </p:cNvPr>
            <p:cNvPicPr>
              <a:picLocks noChangeAspect="1"/>
            </p:cNvPicPr>
            <p:nvPr/>
          </p:nvPicPr>
          <p:blipFill>
            <a:blip r:embed="rId3"/>
            <a:stretch>
              <a:fillRect/>
            </a:stretch>
          </p:blipFill>
          <p:spPr>
            <a:xfrm>
              <a:off x="8070486" y="1845868"/>
              <a:ext cx="4410075" cy="628650"/>
            </a:xfrm>
            <a:prstGeom prst="rect">
              <a:avLst/>
            </a:prstGeom>
          </p:spPr>
        </p:pic>
        <p:pic>
          <p:nvPicPr>
            <p:cNvPr id="30" name="图片 29">
              <a:extLst>
                <a:ext uri="{FF2B5EF4-FFF2-40B4-BE49-F238E27FC236}">
                  <a16:creationId xmlns:a16="http://schemas.microsoft.com/office/drawing/2014/main" id="{51020EF9-9347-C788-9F22-AA5ED53569D6}"/>
                </a:ext>
              </a:extLst>
            </p:cNvPr>
            <p:cNvPicPr>
              <a:picLocks noChangeAspect="1"/>
            </p:cNvPicPr>
            <p:nvPr/>
          </p:nvPicPr>
          <p:blipFill>
            <a:blip r:embed="rId4"/>
            <a:stretch>
              <a:fillRect/>
            </a:stretch>
          </p:blipFill>
          <p:spPr>
            <a:xfrm>
              <a:off x="13013961" y="7277100"/>
              <a:ext cx="4724400" cy="542925"/>
            </a:xfrm>
            <a:prstGeom prst="rect">
              <a:avLst/>
            </a:prstGeom>
          </p:spPr>
        </p:pic>
      </p:grpSp>
      <p:grpSp>
        <p:nvGrpSpPr>
          <p:cNvPr id="40" name="组合 39">
            <a:extLst>
              <a:ext uri="{FF2B5EF4-FFF2-40B4-BE49-F238E27FC236}">
                <a16:creationId xmlns:a16="http://schemas.microsoft.com/office/drawing/2014/main" id="{89CDA9B7-2E70-D63A-B0EA-46FA0AB2CFB0}"/>
              </a:ext>
            </a:extLst>
          </p:cNvPr>
          <p:cNvGrpSpPr/>
          <p:nvPr/>
        </p:nvGrpSpPr>
        <p:grpSpPr>
          <a:xfrm>
            <a:off x="799030" y="4929570"/>
            <a:ext cx="8430440" cy="4682247"/>
            <a:chOff x="685800" y="4514850"/>
            <a:chExt cx="8762186" cy="5229225"/>
          </a:xfrm>
        </p:grpSpPr>
        <p:pic>
          <p:nvPicPr>
            <p:cNvPr id="41" name="图片 40">
              <a:extLst>
                <a:ext uri="{FF2B5EF4-FFF2-40B4-BE49-F238E27FC236}">
                  <a16:creationId xmlns:a16="http://schemas.microsoft.com/office/drawing/2014/main" id="{A4E00DE2-5370-46AA-ACDE-183404C92034}"/>
                </a:ext>
              </a:extLst>
            </p:cNvPr>
            <p:cNvPicPr>
              <a:picLocks noChangeAspect="1"/>
            </p:cNvPicPr>
            <p:nvPr/>
          </p:nvPicPr>
          <p:blipFill>
            <a:blip r:embed="rId5"/>
            <a:stretch>
              <a:fillRect/>
            </a:stretch>
          </p:blipFill>
          <p:spPr>
            <a:xfrm>
              <a:off x="685800" y="5153025"/>
              <a:ext cx="8762186" cy="4100881"/>
            </a:xfrm>
            <a:prstGeom prst="rect">
              <a:avLst/>
            </a:prstGeom>
          </p:spPr>
        </p:pic>
        <p:pic>
          <p:nvPicPr>
            <p:cNvPr id="42" name="图片 41">
              <a:extLst>
                <a:ext uri="{FF2B5EF4-FFF2-40B4-BE49-F238E27FC236}">
                  <a16:creationId xmlns:a16="http://schemas.microsoft.com/office/drawing/2014/main" id="{8EBE8960-80D0-C740-D72A-FAE4DA8EE1B3}"/>
                </a:ext>
              </a:extLst>
            </p:cNvPr>
            <p:cNvPicPr>
              <a:picLocks noChangeAspect="1"/>
            </p:cNvPicPr>
            <p:nvPr/>
          </p:nvPicPr>
          <p:blipFill>
            <a:blip r:embed="rId6"/>
            <a:stretch>
              <a:fillRect/>
            </a:stretch>
          </p:blipFill>
          <p:spPr>
            <a:xfrm>
              <a:off x="685800" y="4514850"/>
              <a:ext cx="5257800" cy="628650"/>
            </a:xfrm>
            <a:prstGeom prst="rect">
              <a:avLst/>
            </a:prstGeom>
          </p:spPr>
        </p:pic>
        <p:pic>
          <p:nvPicPr>
            <p:cNvPr id="43" name="图片 42">
              <a:extLst>
                <a:ext uri="{FF2B5EF4-FFF2-40B4-BE49-F238E27FC236}">
                  <a16:creationId xmlns:a16="http://schemas.microsoft.com/office/drawing/2014/main" id="{E7553B90-5EA9-2CFC-101C-5E8DA11E5D51}"/>
                </a:ext>
              </a:extLst>
            </p:cNvPr>
            <p:cNvPicPr>
              <a:picLocks noChangeAspect="1"/>
            </p:cNvPicPr>
            <p:nvPr/>
          </p:nvPicPr>
          <p:blipFill>
            <a:blip r:embed="rId7"/>
            <a:stretch>
              <a:fillRect/>
            </a:stretch>
          </p:blipFill>
          <p:spPr>
            <a:xfrm>
              <a:off x="714531" y="9258300"/>
              <a:ext cx="4714875" cy="485775"/>
            </a:xfrm>
            <a:prstGeom prst="rect">
              <a:avLst/>
            </a:prstGeom>
          </p:spPr>
        </p:pic>
      </p:grpSp>
      <p:sp>
        <p:nvSpPr>
          <p:cNvPr id="44" name="TextBox 2">
            <a:extLst>
              <a:ext uri="{FF2B5EF4-FFF2-40B4-BE49-F238E27FC236}">
                <a16:creationId xmlns:a16="http://schemas.microsoft.com/office/drawing/2014/main" id="{4AEE16A6-F918-6ECF-89AE-5EB6C8441CB0}"/>
              </a:ext>
            </a:extLst>
          </p:cNvPr>
          <p:cNvSpPr txBox="1"/>
          <p:nvPr/>
        </p:nvSpPr>
        <p:spPr>
          <a:xfrm>
            <a:off x="799030" y="1545819"/>
            <a:ext cx="16078200" cy="489108"/>
          </a:xfrm>
          <a:prstGeom prst="rect">
            <a:avLst/>
          </a:prstGeom>
        </p:spPr>
        <p:txBody>
          <a:bodyPr wrap="square" lIns="0" tIns="0" rIns="0" bIns="0" rtlCol="0" anchor="t">
            <a:spAutoFit/>
          </a:bodyPr>
          <a:lstStyle/>
          <a:p>
            <a:pPr lvl="0">
              <a:lnSpc>
                <a:spcPts val="4079"/>
              </a:lnSpc>
            </a:pPr>
            <a:r>
              <a:rPr lang="en-US" altLang="zh-CN" sz="2800" b="1" i="0" dirty="0">
                <a:solidFill>
                  <a:srgbClr val="3A3A3A"/>
                </a:solidFill>
                <a:effectLst/>
                <a:latin typeface="InterVariable"/>
              </a:rPr>
              <a:t>Why Electric Vehicle </a:t>
            </a:r>
            <a:r>
              <a:rPr lang="en-US" altLang="zh-CN" sz="2800" b="1" dirty="0">
                <a:solidFill>
                  <a:srgbClr val="3A3A3A"/>
                </a:solidFill>
                <a:latin typeface="InterVariable"/>
              </a:rPr>
              <a:t>(EV)</a:t>
            </a:r>
            <a:r>
              <a:rPr lang="zh-CN" altLang="en-US" sz="2800" b="1" dirty="0">
                <a:solidFill>
                  <a:srgbClr val="3A3A3A"/>
                </a:solidFill>
                <a:latin typeface="InterVariable"/>
              </a:rPr>
              <a:t> </a:t>
            </a:r>
            <a:r>
              <a:rPr lang="en-US" altLang="zh-CN" sz="2800" b="1" i="0" dirty="0">
                <a:solidFill>
                  <a:srgbClr val="3A3A3A"/>
                </a:solidFill>
                <a:effectLst/>
                <a:latin typeface="InterVariable"/>
              </a:rPr>
              <a:t>Sector?</a:t>
            </a:r>
          </a:p>
        </p:txBody>
      </p:sp>
      <p:cxnSp>
        <p:nvCxnSpPr>
          <p:cNvPr id="45" name="直接连接符 44">
            <a:extLst>
              <a:ext uri="{FF2B5EF4-FFF2-40B4-BE49-F238E27FC236}">
                <a16:creationId xmlns:a16="http://schemas.microsoft.com/office/drawing/2014/main" id="{34817E95-3124-734E-E71C-07E33BF633A2}"/>
              </a:ext>
            </a:extLst>
          </p:cNvPr>
          <p:cNvCxnSpPr>
            <a:cxnSpLocks/>
          </p:cNvCxnSpPr>
          <p:nvPr/>
        </p:nvCxnSpPr>
        <p:spPr>
          <a:xfrm>
            <a:off x="667785" y="1409700"/>
            <a:ext cx="17086815"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46" name="组合 45">
            <a:extLst>
              <a:ext uri="{FF2B5EF4-FFF2-40B4-BE49-F238E27FC236}">
                <a16:creationId xmlns:a16="http://schemas.microsoft.com/office/drawing/2014/main" id="{EEF7BF89-3DAE-2EF6-469F-9502FB7F153F}"/>
              </a:ext>
            </a:extLst>
          </p:cNvPr>
          <p:cNvGrpSpPr/>
          <p:nvPr/>
        </p:nvGrpSpPr>
        <p:grpSpPr>
          <a:xfrm>
            <a:off x="15270331" y="360080"/>
            <a:ext cx="2484269" cy="897220"/>
            <a:chOff x="14949292" y="147595"/>
            <a:chExt cx="2484269" cy="897220"/>
          </a:xfrm>
        </p:grpSpPr>
        <p:pic>
          <p:nvPicPr>
            <p:cNvPr id="47" name="图片 46">
              <a:extLst>
                <a:ext uri="{FF2B5EF4-FFF2-40B4-BE49-F238E27FC236}">
                  <a16:creationId xmlns:a16="http://schemas.microsoft.com/office/drawing/2014/main" id="{221D1C61-7C96-D147-14C4-EFC9E4D8F718}"/>
                </a:ext>
              </a:extLst>
            </p:cNvPr>
            <p:cNvPicPr>
              <a:picLocks noChangeAspect="1"/>
            </p:cNvPicPr>
            <p:nvPr/>
          </p:nvPicPr>
          <p:blipFill>
            <a:blip r:embed="rId8"/>
            <a:stretch>
              <a:fillRect/>
            </a:stretch>
          </p:blipFill>
          <p:spPr>
            <a:xfrm>
              <a:off x="14949292" y="147595"/>
              <a:ext cx="1472893" cy="863959"/>
            </a:xfrm>
            <a:prstGeom prst="rect">
              <a:avLst/>
            </a:prstGeom>
          </p:spPr>
        </p:pic>
        <p:pic>
          <p:nvPicPr>
            <p:cNvPr id="48" name="图片 47">
              <a:extLst>
                <a:ext uri="{FF2B5EF4-FFF2-40B4-BE49-F238E27FC236}">
                  <a16:creationId xmlns:a16="http://schemas.microsoft.com/office/drawing/2014/main" id="{97B1CADA-FE89-E30D-9111-858E166C9A5F}"/>
                </a:ext>
              </a:extLst>
            </p:cNvPr>
            <p:cNvPicPr>
              <a:picLocks noChangeAspect="1"/>
            </p:cNvPicPr>
            <p:nvPr/>
          </p:nvPicPr>
          <p:blipFill>
            <a:blip r:embed="rId9"/>
            <a:stretch>
              <a:fillRect/>
            </a:stretch>
          </p:blipFill>
          <p:spPr>
            <a:xfrm>
              <a:off x="16585504" y="147595"/>
              <a:ext cx="848057" cy="897220"/>
            </a:xfrm>
            <a:prstGeom prst="rect">
              <a:avLst/>
            </a:prstGeom>
          </p:spPr>
        </p:pic>
      </p:grpSp>
    </p:spTree>
    <p:extLst>
      <p:ext uri="{BB962C8B-B14F-4D97-AF65-F5344CB8AC3E}">
        <p14:creationId xmlns:p14="http://schemas.microsoft.com/office/powerpoint/2010/main" val="2360737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57978-2A73-D845-E63B-17FEA16C5433}"/>
            </a:ext>
          </a:extLst>
        </p:cNvPr>
        <p:cNvGrpSpPr/>
        <p:nvPr/>
      </p:nvGrpSpPr>
      <p:grpSpPr>
        <a:xfrm>
          <a:off x="0" y="0"/>
          <a:ext cx="0" cy="0"/>
          <a:chOff x="0" y="0"/>
          <a:chExt cx="0" cy="0"/>
        </a:xfrm>
      </p:grpSpPr>
      <p:pic>
        <p:nvPicPr>
          <p:cNvPr id="37" name="图片 36">
            <a:extLst>
              <a:ext uri="{FF2B5EF4-FFF2-40B4-BE49-F238E27FC236}">
                <a16:creationId xmlns:a16="http://schemas.microsoft.com/office/drawing/2014/main" id="{7685E69B-C935-7CD9-8C03-29BEDC866756}"/>
              </a:ext>
            </a:extLst>
          </p:cNvPr>
          <p:cNvPicPr>
            <a:picLocks noChangeAspect="1"/>
          </p:cNvPicPr>
          <p:nvPr/>
        </p:nvPicPr>
        <p:blipFill>
          <a:blip r:embed="rId2"/>
          <a:stretch>
            <a:fillRect/>
          </a:stretch>
        </p:blipFill>
        <p:spPr>
          <a:xfrm>
            <a:off x="9448800" y="1607050"/>
            <a:ext cx="8492955" cy="3482111"/>
          </a:xfrm>
          <a:prstGeom prst="rect">
            <a:avLst/>
          </a:prstGeom>
        </p:spPr>
      </p:pic>
      <p:sp>
        <p:nvSpPr>
          <p:cNvPr id="2" name="TextBox 2">
            <a:extLst>
              <a:ext uri="{FF2B5EF4-FFF2-40B4-BE49-F238E27FC236}">
                <a16:creationId xmlns:a16="http://schemas.microsoft.com/office/drawing/2014/main" id="{B586B63B-3DDC-C3BD-D1EC-D4A31492DD64}"/>
              </a:ext>
            </a:extLst>
          </p:cNvPr>
          <p:cNvSpPr txBox="1"/>
          <p:nvPr/>
        </p:nvSpPr>
        <p:spPr>
          <a:xfrm>
            <a:off x="667785" y="1607050"/>
            <a:ext cx="8305801" cy="7836569"/>
          </a:xfrm>
          <a:prstGeom prst="rect">
            <a:avLst/>
          </a:prstGeom>
        </p:spPr>
        <p:txBody>
          <a:bodyPr wrap="square" lIns="0" tIns="0" rIns="0" bIns="0" rtlCol="0" anchor="t">
            <a:spAutoFit/>
          </a:bodyPr>
          <a:lstStyle/>
          <a:p>
            <a:pPr lvl="0">
              <a:lnSpc>
                <a:spcPts val="4079"/>
              </a:lnSpc>
            </a:pPr>
            <a:r>
              <a:rPr lang="en-US" altLang="zh-CN" sz="2800" b="1" dirty="0">
                <a:solidFill>
                  <a:srgbClr val="00B050"/>
                </a:solidFill>
                <a:latin typeface="InterVariable"/>
                <a:sym typeface="Quicksand"/>
              </a:rPr>
              <a:t>Why Long Tesla?</a:t>
            </a:r>
          </a:p>
          <a:p>
            <a:pPr marL="342900" lvl="0" indent="-342900" algn="just">
              <a:lnSpc>
                <a:spcPts val="4079"/>
              </a:lnSpc>
              <a:buFont typeface="Wingdings" panose="05000000000000000000" pitchFamily="2" charset="2"/>
              <a:buChar char="p"/>
            </a:pPr>
            <a:r>
              <a:rPr lang="en-US" altLang="zh-CN" sz="2600" b="1" dirty="0">
                <a:solidFill>
                  <a:srgbClr val="0F4662"/>
                </a:solidFill>
                <a:latin typeface="InterVariable"/>
                <a:cs typeface="Arial" panose="020B0604020202020204" pitchFamily="34" charset="0"/>
                <a:sym typeface="Quicksand"/>
              </a:rPr>
              <a:t>Historical Performance</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cs typeface="Arial" panose="020B0604020202020204" pitchFamily="34" charset="0"/>
                <a:sym typeface="Quicksand"/>
              </a:rPr>
              <a:t>4-yr CAGR of 33% in revenue and 79% in net profit, implying more profitable and faster bottom line growth than that of BYD</a:t>
            </a:r>
          </a:p>
          <a:p>
            <a:pPr marL="342900" indent="-342900" algn="just">
              <a:lnSpc>
                <a:spcPts val="4079"/>
              </a:lnSpc>
              <a:buFont typeface="Wingdings" panose="05000000000000000000" pitchFamily="2" charset="2"/>
              <a:buChar char="p"/>
            </a:pPr>
            <a:r>
              <a:rPr lang="en-US" altLang="zh-CN" sz="2600" b="1" dirty="0">
                <a:solidFill>
                  <a:srgbClr val="0F4662"/>
                </a:solidFill>
                <a:latin typeface="InterVariable"/>
                <a:cs typeface="Arial" panose="020B0604020202020204" pitchFamily="34" charset="0"/>
                <a:sym typeface="Quicksand"/>
              </a:rPr>
              <a:t>Valuation Adjustment C</a:t>
            </a:r>
            <a:r>
              <a:rPr lang="en-US" altLang="zh-CN" sz="2600" b="1" dirty="0">
                <a:solidFill>
                  <a:srgbClr val="0F4662"/>
                </a:solidFill>
                <a:latin typeface="InterVariable"/>
                <a:cs typeface="Arial" panose="020B0604020202020204" pitchFamily="34" charset="0"/>
              </a:rPr>
              <a:t>atalysts</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cs typeface="Arial" panose="020B0604020202020204" pitchFamily="34" charset="0"/>
              </a:rPr>
              <a:t>Full Self-Driving (FSD) Adoption will launch in Austin in June 2025, targeting $0.25/mile vs. Uber’s $1.50 could capture 5% of the US ride-hailing market by 2026, adding $4.2 billion in EBITDA</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cs typeface="Arial" panose="020B0604020202020204" pitchFamily="34" charset="0"/>
              </a:rPr>
              <a:t>Tesla’s energy storage (18% of total revenue) provides a hedge against automotive cyclicality for long-term upside</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cs typeface="Arial" panose="020B0604020202020204" pitchFamily="34" charset="0"/>
              </a:rPr>
              <a:t>Tesla’s pivot to AI and robotics leverages its software expertise to unlock higher-margin revenue streams, justifying its premium valuation</a:t>
            </a:r>
            <a:endParaRPr lang="en-US" altLang="zh-CN" sz="2400" dirty="0">
              <a:solidFill>
                <a:srgbClr val="0F4662"/>
              </a:solidFill>
              <a:latin typeface="InterVariable"/>
              <a:ea typeface="Quicksand"/>
              <a:cs typeface="Arial" panose="020B0604020202020204" pitchFamily="34" charset="0"/>
              <a:sym typeface="Quicksand"/>
            </a:endParaRPr>
          </a:p>
        </p:txBody>
      </p:sp>
      <p:pic>
        <p:nvPicPr>
          <p:cNvPr id="11" name="图片 10">
            <a:extLst>
              <a:ext uri="{FF2B5EF4-FFF2-40B4-BE49-F238E27FC236}">
                <a16:creationId xmlns:a16="http://schemas.microsoft.com/office/drawing/2014/main" id="{475695B5-C590-701C-5868-799EDC0A0EA4}"/>
              </a:ext>
            </a:extLst>
          </p:cNvPr>
          <p:cNvPicPr>
            <a:picLocks noChangeAspect="1"/>
          </p:cNvPicPr>
          <p:nvPr/>
        </p:nvPicPr>
        <p:blipFill>
          <a:blip r:embed="rId3"/>
          <a:stretch>
            <a:fillRect/>
          </a:stretch>
        </p:blipFill>
        <p:spPr>
          <a:xfrm>
            <a:off x="13256186" y="1686586"/>
            <a:ext cx="828823" cy="876870"/>
          </a:xfrm>
          <a:prstGeom prst="rect">
            <a:avLst/>
          </a:prstGeom>
        </p:spPr>
      </p:pic>
      <p:sp>
        <p:nvSpPr>
          <p:cNvPr id="7" name="TextBox 6">
            <a:extLst>
              <a:ext uri="{FF2B5EF4-FFF2-40B4-BE49-F238E27FC236}">
                <a16:creationId xmlns:a16="http://schemas.microsoft.com/office/drawing/2014/main" id="{82096838-2F6D-AB6F-82C7-8D2E5BA57ED5}"/>
              </a:ext>
            </a:extLst>
          </p:cNvPr>
          <p:cNvSpPr txBox="1"/>
          <p:nvPr/>
        </p:nvSpPr>
        <p:spPr>
          <a:xfrm>
            <a:off x="667785" y="131356"/>
            <a:ext cx="15415056" cy="1009059"/>
          </a:xfrm>
          <a:prstGeom prst="rect">
            <a:avLst/>
          </a:prstGeom>
        </p:spPr>
        <p:txBody>
          <a:bodyPr wrap="square" lIns="0" tIns="0" rIns="0" bIns="0" rtlCol="0" anchor="t">
            <a:spAutoFit/>
          </a:bodyPr>
          <a:lstStyle/>
          <a:p>
            <a:pPr marL="0" lvl="0" indent="0" algn="l">
              <a:lnSpc>
                <a:spcPts val="8959"/>
              </a:lnSpc>
              <a:spcBef>
                <a:spcPct val="0"/>
              </a:spcBef>
            </a:pPr>
            <a:r>
              <a:rPr lang="en-US" sz="4000" b="1" dirty="0">
                <a:solidFill>
                  <a:srgbClr val="0F4662"/>
                </a:solidFill>
                <a:latin typeface="InterVariable"/>
                <a:sym typeface="Cormorant Garamond Bold Italics"/>
              </a:rPr>
              <a:t>Business and Financial Analysis (1) - </a:t>
            </a:r>
            <a:r>
              <a:rPr lang="en-US" altLang="zh-CN" sz="3200" b="1" dirty="0">
                <a:solidFill>
                  <a:srgbClr val="00B050"/>
                </a:solidFill>
                <a:latin typeface="InterVariable"/>
                <a:ea typeface="Cormorant Garamond Bold Italics"/>
                <a:cs typeface="Arial" panose="020B0604020202020204" pitchFamily="34" charset="0"/>
                <a:sym typeface="Cormorant Garamond Bold Italics"/>
              </a:rPr>
              <a:t>Long Tesla (Tsla.US) </a:t>
            </a:r>
            <a:r>
              <a:rPr lang="en-US" altLang="zh-CN" sz="3200" b="1" dirty="0">
                <a:solidFill>
                  <a:srgbClr val="C00000"/>
                </a:solidFill>
                <a:latin typeface="InterVariable"/>
                <a:ea typeface="Cormorant Garamond Bold Italics"/>
                <a:cs typeface="Arial" panose="020B0604020202020204" pitchFamily="34" charset="0"/>
                <a:sym typeface="Cormorant Garamond Bold Italics"/>
              </a:rPr>
              <a:t>Short BYD (1211.HK)</a:t>
            </a:r>
            <a:endParaRPr lang="en-US" sz="3200" b="1" dirty="0">
              <a:solidFill>
                <a:srgbClr val="0F4662"/>
              </a:solidFill>
              <a:latin typeface="InterVariable"/>
              <a:sym typeface="Cormorant Garamond Bold Italics"/>
            </a:endParaRPr>
          </a:p>
        </p:txBody>
      </p:sp>
      <p:pic>
        <p:nvPicPr>
          <p:cNvPr id="8" name="图片 7">
            <a:extLst>
              <a:ext uri="{FF2B5EF4-FFF2-40B4-BE49-F238E27FC236}">
                <a16:creationId xmlns:a16="http://schemas.microsoft.com/office/drawing/2014/main" id="{F5BD9A6B-03E3-FDCD-0DF0-A11F68F2075D}"/>
              </a:ext>
            </a:extLst>
          </p:cNvPr>
          <p:cNvPicPr>
            <a:picLocks noChangeAspect="1"/>
          </p:cNvPicPr>
          <p:nvPr/>
        </p:nvPicPr>
        <p:blipFill>
          <a:blip r:embed="rId4"/>
          <a:stretch>
            <a:fillRect/>
          </a:stretch>
        </p:blipFill>
        <p:spPr>
          <a:xfrm>
            <a:off x="9296400" y="5905500"/>
            <a:ext cx="8848577" cy="3627916"/>
          </a:xfrm>
          <a:prstGeom prst="rect">
            <a:avLst/>
          </a:prstGeom>
        </p:spPr>
      </p:pic>
      <p:pic>
        <p:nvPicPr>
          <p:cNvPr id="13" name="图片 12">
            <a:extLst>
              <a:ext uri="{FF2B5EF4-FFF2-40B4-BE49-F238E27FC236}">
                <a16:creationId xmlns:a16="http://schemas.microsoft.com/office/drawing/2014/main" id="{75C6B0A2-CDE2-E11A-B9E9-5610A3F1BB3C}"/>
              </a:ext>
            </a:extLst>
          </p:cNvPr>
          <p:cNvPicPr>
            <a:picLocks noChangeAspect="1"/>
          </p:cNvPicPr>
          <p:nvPr/>
        </p:nvPicPr>
        <p:blipFill>
          <a:blip r:embed="rId5"/>
          <a:stretch>
            <a:fillRect/>
          </a:stretch>
        </p:blipFill>
        <p:spPr>
          <a:xfrm>
            <a:off x="12877800" y="6131181"/>
            <a:ext cx="1208485" cy="708864"/>
          </a:xfrm>
          <a:prstGeom prst="rect">
            <a:avLst/>
          </a:prstGeom>
        </p:spPr>
      </p:pic>
      <p:cxnSp>
        <p:nvCxnSpPr>
          <p:cNvPr id="18" name="直接连接符 17">
            <a:extLst>
              <a:ext uri="{FF2B5EF4-FFF2-40B4-BE49-F238E27FC236}">
                <a16:creationId xmlns:a16="http://schemas.microsoft.com/office/drawing/2014/main" id="{EFDEEE66-9C37-7465-0772-8E64FCC8FE8B}"/>
              </a:ext>
            </a:extLst>
          </p:cNvPr>
          <p:cNvCxnSpPr>
            <a:cxnSpLocks/>
          </p:cNvCxnSpPr>
          <p:nvPr/>
        </p:nvCxnSpPr>
        <p:spPr>
          <a:xfrm>
            <a:off x="667785" y="1409700"/>
            <a:ext cx="17086815"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863280C2-F5FE-8477-78BE-3C8741E9583E}"/>
              </a:ext>
            </a:extLst>
          </p:cNvPr>
          <p:cNvGrpSpPr/>
          <p:nvPr/>
        </p:nvGrpSpPr>
        <p:grpSpPr>
          <a:xfrm>
            <a:off x="15270331" y="283880"/>
            <a:ext cx="2484269" cy="897220"/>
            <a:chOff x="14949292" y="147595"/>
            <a:chExt cx="2484269" cy="897220"/>
          </a:xfrm>
        </p:grpSpPr>
        <p:pic>
          <p:nvPicPr>
            <p:cNvPr id="28" name="图片 27">
              <a:extLst>
                <a:ext uri="{FF2B5EF4-FFF2-40B4-BE49-F238E27FC236}">
                  <a16:creationId xmlns:a16="http://schemas.microsoft.com/office/drawing/2014/main" id="{2E6073F7-1DE0-0BDF-25FC-837F059E3279}"/>
                </a:ext>
              </a:extLst>
            </p:cNvPr>
            <p:cNvPicPr>
              <a:picLocks noChangeAspect="1"/>
            </p:cNvPicPr>
            <p:nvPr/>
          </p:nvPicPr>
          <p:blipFill>
            <a:blip r:embed="rId5"/>
            <a:stretch>
              <a:fillRect/>
            </a:stretch>
          </p:blipFill>
          <p:spPr>
            <a:xfrm>
              <a:off x="14949292" y="147595"/>
              <a:ext cx="1472893" cy="863959"/>
            </a:xfrm>
            <a:prstGeom prst="rect">
              <a:avLst/>
            </a:prstGeom>
          </p:spPr>
        </p:pic>
        <p:pic>
          <p:nvPicPr>
            <p:cNvPr id="31" name="图片 30">
              <a:extLst>
                <a:ext uri="{FF2B5EF4-FFF2-40B4-BE49-F238E27FC236}">
                  <a16:creationId xmlns:a16="http://schemas.microsoft.com/office/drawing/2014/main" id="{25D0C174-2C3B-6F8E-4A21-748EBC8CC251}"/>
                </a:ext>
              </a:extLst>
            </p:cNvPr>
            <p:cNvPicPr>
              <a:picLocks noChangeAspect="1"/>
            </p:cNvPicPr>
            <p:nvPr/>
          </p:nvPicPr>
          <p:blipFill>
            <a:blip r:embed="rId3"/>
            <a:stretch>
              <a:fillRect/>
            </a:stretch>
          </p:blipFill>
          <p:spPr>
            <a:xfrm>
              <a:off x="16585504" y="147595"/>
              <a:ext cx="848057" cy="897220"/>
            </a:xfrm>
            <a:prstGeom prst="rect">
              <a:avLst/>
            </a:prstGeom>
          </p:spPr>
        </p:pic>
      </p:grpSp>
    </p:spTree>
    <p:extLst>
      <p:ext uri="{BB962C8B-B14F-4D97-AF65-F5344CB8AC3E}">
        <p14:creationId xmlns:p14="http://schemas.microsoft.com/office/powerpoint/2010/main" val="2783580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C0744-0DEA-09AE-4890-5457C0200196}"/>
            </a:ext>
          </a:extLst>
        </p:cNvPr>
        <p:cNvGrpSpPr/>
        <p:nvPr/>
      </p:nvGrpSpPr>
      <p:grpSpPr>
        <a:xfrm>
          <a:off x="0" y="0"/>
          <a:ext cx="0" cy="0"/>
          <a:chOff x="0" y="0"/>
          <a:chExt cx="0" cy="0"/>
        </a:xfrm>
      </p:grpSpPr>
      <p:graphicFrame>
        <p:nvGraphicFramePr>
          <p:cNvPr id="8" name="表格 7">
            <a:extLst>
              <a:ext uri="{FF2B5EF4-FFF2-40B4-BE49-F238E27FC236}">
                <a16:creationId xmlns:a16="http://schemas.microsoft.com/office/drawing/2014/main" id="{72C50210-05D3-2F63-AA72-2C7BE17C9221}"/>
              </a:ext>
            </a:extLst>
          </p:cNvPr>
          <p:cNvGraphicFramePr>
            <a:graphicFrameLocks noGrp="1"/>
          </p:cNvGraphicFramePr>
          <p:nvPr>
            <p:extLst>
              <p:ext uri="{D42A27DB-BD31-4B8C-83A1-F6EECF244321}">
                <p14:modId xmlns:p14="http://schemas.microsoft.com/office/powerpoint/2010/main" val="2965992857"/>
              </p:ext>
            </p:extLst>
          </p:nvPr>
        </p:nvGraphicFramePr>
        <p:xfrm>
          <a:off x="10972800" y="2019300"/>
          <a:ext cx="6820588" cy="3760369"/>
        </p:xfrm>
        <a:graphic>
          <a:graphicData uri="http://schemas.openxmlformats.org/drawingml/2006/table">
            <a:tbl>
              <a:tblPr firstRow="1" bandRow="1">
                <a:tableStyleId>{5C22544A-7EE6-4342-B048-85BDC9FD1C3A}</a:tableStyleId>
              </a:tblPr>
              <a:tblGrid>
                <a:gridCol w="2987932">
                  <a:extLst>
                    <a:ext uri="{9D8B030D-6E8A-4147-A177-3AD203B41FA5}">
                      <a16:colId xmlns:a16="http://schemas.microsoft.com/office/drawing/2014/main" val="3269658166"/>
                    </a:ext>
                  </a:extLst>
                </a:gridCol>
                <a:gridCol w="1981200">
                  <a:extLst>
                    <a:ext uri="{9D8B030D-6E8A-4147-A177-3AD203B41FA5}">
                      <a16:colId xmlns:a16="http://schemas.microsoft.com/office/drawing/2014/main" val="862383372"/>
                    </a:ext>
                  </a:extLst>
                </a:gridCol>
                <a:gridCol w="1851456">
                  <a:extLst>
                    <a:ext uri="{9D8B030D-6E8A-4147-A177-3AD203B41FA5}">
                      <a16:colId xmlns:a16="http://schemas.microsoft.com/office/drawing/2014/main" val="2788339456"/>
                    </a:ext>
                  </a:extLst>
                </a:gridCol>
              </a:tblGrid>
              <a:tr h="497977">
                <a:tc>
                  <a:txBody>
                    <a:bodyPr/>
                    <a:lstStyle/>
                    <a:p>
                      <a:pPr algn="ctr"/>
                      <a:r>
                        <a:rPr lang="en-US" altLang="zh-CN" sz="2200" dirty="0"/>
                        <a:t>Valuation Indicator</a:t>
                      </a:r>
                      <a:endParaRPr lang="zh-CN" altLang="en-US" sz="2200" dirty="0"/>
                    </a:p>
                  </a:txBody>
                  <a:tcPr/>
                </a:tc>
                <a:tc>
                  <a:txBody>
                    <a:bodyPr/>
                    <a:lstStyle/>
                    <a:p>
                      <a:pPr algn="ctr"/>
                      <a:r>
                        <a:rPr lang="en-US" altLang="zh-CN" sz="2200" dirty="0"/>
                        <a:t>Tesla (Tsla.US)</a:t>
                      </a:r>
                      <a:endParaRPr lang="zh-CN" altLang="en-US" sz="2200" dirty="0"/>
                    </a:p>
                  </a:txBody>
                  <a:tcPr/>
                </a:tc>
                <a:tc>
                  <a:txBody>
                    <a:bodyPr/>
                    <a:lstStyle/>
                    <a:p>
                      <a:pPr algn="ctr"/>
                      <a:r>
                        <a:rPr lang="en-US" altLang="zh-CN" sz="2200" dirty="0"/>
                        <a:t>BYD (1211.HK)</a:t>
                      </a:r>
                      <a:endParaRPr lang="zh-CN" altLang="en-US" sz="2200" dirty="0"/>
                    </a:p>
                  </a:txBody>
                  <a:tcPr/>
                </a:tc>
                <a:extLst>
                  <a:ext uri="{0D108BD9-81ED-4DB2-BD59-A6C34878D82A}">
                    <a16:rowId xmlns:a16="http://schemas.microsoft.com/office/drawing/2014/main" val="2426134258"/>
                  </a:ext>
                </a:extLst>
              </a:tr>
              <a:tr h="466056">
                <a:tc>
                  <a:txBody>
                    <a:bodyPr/>
                    <a:lstStyle/>
                    <a:p>
                      <a:pPr algn="ctr"/>
                      <a:r>
                        <a:rPr lang="en-US" altLang="zh-CN" sz="2000" dirty="0"/>
                        <a:t>2025E Revenue Growth%</a:t>
                      </a:r>
                      <a:endParaRPr lang="zh-CN" altLang="en-US" sz="2000" dirty="0"/>
                    </a:p>
                  </a:txBody>
                  <a:tcPr/>
                </a:tc>
                <a:tc>
                  <a:txBody>
                    <a:bodyPr/>
                    <a:lstStyle/>
                    <a:p>
                      <a:pPr algn="ctr"/>
                      <a:r>
                        <a:rPr lang="en-US" altLang="zh-CN" sz="2000" dirty="0"/>
                        <a:t>12%</a:t>
                      </a:r>
                      <a:endParaRPr lang="zh-CN" altLang="en-US" sz="2000" dirty="0"/>
                    </a:p>
                  </a:txBody>
                  <a:tcPr/>
                </a:tc>
                <a:tc>
                  <a:txBody>
                    <a:bodyPr/>
                    <a:lstStyle/>
                    <a:p>
                      <a:pPr algn="ctr"/>
                      <a:r>
                        <a:rPr lang="en-US" altLang="zh-CN" sz="2000" dirty="0"/>
                        <a:t>30%</a:t>
                      </a:r>
                      <a:endParaRPr lang="zh-CN" altLang="en-US" sz="2000" dirty="0"/>
                    </a:p>
                  </a:txBody>
                  <a:tcPr/>
                </a:tc>
                <a:extLst>
                  <a:ext uri="{0D108BD9-81ED-4DB2-BD59-A6C34878D82A}">
                    <a16:rowId xmlns:a16="http://schemas.microsoft.com/office/drawing/2014/main" val="2101911477"/>
                  </a:ext>
                </a:extLst>
              </a:tr>
              <a:tr h="466056">
                <a:tc>
                  <a:txBody>
                    <a:bodyPr/>
                    <a:lstStyle/>
                    <a:p>
                      <a:pPr algn="ctr"/>
                      <a:r>
                        <a:rPr lang="en-US" altLang="zh-CN" sz="2000" dirty="0"/>
                        <a:t>2025E Net Margin</a:t>
                      </a:r>
                      <a:endParaRPr lang="zh-CN" altLang="en-US" sz="2000" dirty="0"/>
                    </a:p>
                  </a:txBody>
                  <a:tcPr/>
                </a:tc>
                <a:tc>
                  <a:txBody>
                    <a:bodyPr/>
                    <a:lstStyle/>
                    <a:p>
                      <a:pPr algn="ctr"/>
                      <a:r>
                        <a:rPr lang="en-US" altLang="zh-CN" sz="2000" dirty="0"/>
                        <a:t>8.2%</a:t>
                      </a:r>
                      <a:endParaRPr lang="zh-CN" altLang="en-US" sz="2000" dirty="0"/>
                    </a:p>
                  </a:txBody>
                  <a:tcPr/>
                </a:tc>
                <a:tc>
                  <a:txBody>
                    <a:bodyPr/>
                    <a:lstStyle/>
                    <a:p>
                      <a:pPr algn="ctr"/>
                      <a:r>
                        <a:rPr lang="en-US" altLang="zh-CN" sz="2000" dirty="0"/>
                        <a:t>5.1%</a:t>
                      </a:r>
                      <a:endParaRPr lang="zh-CN" altLang="en-US" sz="2000" dirty="0"/>
                    </a:p>
                  </a:txBody>
                  <a:tcPr/>
                </a:tc>
                <a:extLst>
                  <a:ext uri="{0D108BD9-81ED-4DB2-BD59-A6C34878D82A}">
                    <a16:rowId xmlns:a16="http://schemas.microsoft.com/office/drawing/2014/main" val="641995769"/>
                  </a:ext>
                </a:extLst>
              </a:tr>
              <a:tr h="466056">
                <a:tc>
                  <a:txBody>
                    <a:bodyPr/>
                    <a:lstStyle/>
                    <a:p>
                      <a:pPr algn="ctr"/>
                      <a:r>
                        <a:rPr lang="en-US" altLang="zh-CN" sz="2000" dirty="0"/>
                        <a:t>P/E(x) 2025E</a:t>
                      </a:r>
                      <a:endParaRPr lang="zh-CN" altLang="en-US" sz="2000" dirty="0"/>
                    </a:p>
                  </a:txBody>
                  <a:tcPr/>
                </a:tc>
                <a:tc>
                  <a:txBody>
                    <a:bodyPr/>
                    <a:lstStyle/>
                    <a:p>
                      <a:pPr algn="ctr"/>
                      <a:r>
                        <a:rPr lang="en-US" altLang="zh-CN" sz="2000" dirty="0"/>
                        <a:t>58x</a:t>
                      </a:r>
                      <a:endParaRPr lang="zh-CN" altLang="en-US" sz="2000" dirty="0"/>
                    </a:p>
                  </a:txBody>
                  <a:tcPr/>
                </a:tc>
                <a:tc>
                  <a:txBody>
                    <a:bodyPr/>
                    <a:lstStyle/>
                    <a:p>
                      <a:pPr algn="ctr"/>
                      <a:r>
                        <a:rPr lang="en-US" altLang="zh-CN" sz="2000" dirty="0"/>
                        <a:t>17x</a:t>
                      </a:r>
                      <a:endParaRPr lang="zh-CN" altLang="en-US" sz="2000" dirty="0"/>
                    </a:p>
                  </a:txBody>
                  <a:tcPr/>
                </a:tc>
                <a:extLst>
                  <a:ext uri="{0D108BD9-81ED-4DB2-BD59-A6C34878D82A}">
                    <a16:rowId xmlns:a16="http://schemas.microsoft.com/office/drawing/2014/main" val="2010604242"/>
                  </a:ext>
                </a:extLst>
              </a:tr>
              <a:tr h="466056">
                <a:tc>
                  <a:txBody>
                    <a:bodyPr/>
                    <a:lstStyle/>
                    <a:p>
                      <a:pPr algn="ctr"/>
                      <a:r>
                        <a:rPr lang="en-US" altLang="zh-CN" sz="2000" dirty="0"/>
                        <a:t>EV/EBITDA (x) 2025E</a:t>
                      </a:r>
                      <a:endParaRPr lang="zh-CN" altLang="en-US" sz="2000" dirty="0"/>
                    </a:p>
                  </a:txBody>
                  <a:tcPr/>
                </a:tc>
                <a:tc>
                  <a:txBody>
                    <a:bodyPr/>
                    <a:lstStyle/>
                    <a:p>
                      <a:pPr algn="ctr"/>
                      <a:r>
                        <a:rPr lang="en-US" altLang="zh-CN" sz="2000" dirty="0"/>
                        <a:t>34x</a:t>
                      </a:r>
                      <a:endParaRPr lang="zh-CN" altLang="en-US" sz="2000" dirty="0"/>
                    </a:p>
                  </a:txBody>
                  <a:tcPr/>
                </a:tc>
                <a:tc>
                  <a:txBody>
                    <a:bodyPr/>
                    <a:lstStyle/>
                    <a:p>
                      <a:pPr algn="ctr"/>
                      <a:r>
                        <a:rPr lang="en-US" altLang="zh-CN" sz="2000" dirty="0"/>
                        <a:t>9x</a:t>
                      </a:r>
                      <a:endParaRPr lang="zh-CN" altLang="en-US" sz="2000" dirty="0"/>
                    </a:p>
                  </a:txBody>
                  <a:tcPr/>
                </a:tc>
                <a:extLst>
                  <a:ext uri="{0D108BD9-81ED-4DB2-BD59-A6C34878D82A}">
                    <a16:rowId xmlns:a16="http://schemas.microsoft.com/office/drawing/2014/main" val="1314727686"/>
                  </a:ext>
                </a:extLst>
              </a:tr>
              <a:tr h="466056">
                <a:tc>
                  <a:txBody>
                    <a:bodyPr/>
                    <a:lstStyle/>
                    <a:p>
                      <a:pPr algn="ctr"/>
                      <a:r>
                        <a:rPr lang="en-US" altLang="zh-CN" sz="2000" dirty="0"/>
                        <a:t>R&amp;D % revenue </a:t>
                      </a:r>
                      <a:endParaRPr lang="zh-CN" altLang="en-US" sz="2000" dirty="0"/>
                    </a:p>
                  </a:txBody>
                  <a:tcPr/>
                </a:tc>
                <a:tc>
                  <a:txBody>
                    <a:bodyPr/>
                    <a:lstStyle/>
                    <a:p>
                      <a:pPr algn="ctr"/>
                      <a:r>
                        <a:rPr lang="en-US" altLang="zh-CN" sz="2000" dirty="0"/>
                        <a:t>14%</a:t>
                      </a:r>
                      <a:endParaRPr lang="zh-CN" altLang="en-US" sz="2000" dirty="0"/>
                    </a:p>
                  </a:txBody>
                  <a:tcPr/>
                </a:tc>
                <a:tc>
                  <a:txBody>
                    <a:bodyPr/>
                    <a:lstStyle/>
                    <a:p>
                      <a:pPr algn="ctr"/>
                      <a:r>
                        <a:rPr lang="en-US" altLang="zh-CN" sz="2000" dirty="0"/>
                        <a:t>2%</a:t>
                      </a:r>
                      <a:endParaRPr lang="zh-CN" altLang="en-US" sz="2000" dirty="0"/>
                    </a:p>
                  </a:txBody>
                  <a:tcPr/>
                </a:tc>
                <a:extLst>
                  <a:ext uri="{0D108BD9-81ED-4DB2-BD59-A6C34878D82A}">
                    <a16:rowId xmlns:a16="http://schemas.microsoft.com/office/drawing/2014/main" val="2730640174"/>
                  </a:ext>
                </a:extLst>
              </a:tr>
              <a:tr h="466056">
                <a:tc>
                  <a:txBody>
                    <a:bodyPr/>
                    <a:lstStyle/>
                    <a:p>
                      <a:pPr algn="ctr"/>
                      <a:r>
                        <a:rPr lang="en-US" altLang="zh-CN" sz="2000" kern="1200" dirty="0">
                          <a:solidFill>
                            <a:schemeClr val="dk1"/>
                          </a:solidFill>
                          <a:latin typeface="+mn-lt"/>
                          <a:ea typeface="+mn-ea"/>
                          <a:cs typeface="+mn-cs"/>
                        </a:rPr>
                        <a:t>3-yr Cum. Capex / FCF (1)</a:t>
                      </a:r>
                      <a:endParaRPr lang="zh-CN" altLang="en-US" sz="2000" kern="1200" dirty="0">
                        <a:solidFill>
                          <a:schemeClr val="dk1"/>
                        </a:solidFill>
                        <a:latin typeface="+mn-lt"/>
                        <a:ea typeface="+mn-ea"/>
                        <a:cs typeface="+mn-cs"/>
                      </a:endParaRPr>
                    </a:p>
                  </a:txBody>
                  <a:tcPr/>
                </a:tc>
                <a:tc>
                  <a:txBody>
                    <a:bodyPr/>
                    <a:lstStyle/>
                    <a:p>
                      <a:pPr algn="ctr"/>
                      <a:r>
                        <a:rPr lang="en-US" altLang="zh-CN" sz="2000" kern="1200" dirty="0">
                          <a:solidFill>
                            <a:schemeClr val="dk1"/>
                          </a:solidFill>
                          <a:latin typeface="+mn-lt"/>
                          <a:ea typeface="+mn-ea"/>
                          <a:cs typeface="+mn-cs"/>
                        </a:rPr>
                        <a:t>2.7x</a:t>
                      </a:r>
                      <a:endParaRPr lang="zh-CN" altLang="en-US" sz="2000" kern="1200" dirty="0">
                        <a:solidFill>
                          <a:schemeClr val="dk1"/>
                        </a:solidFill>
                        <a:latin typeface="+mn-lt"/>
                        <a:ea typeface="+mn-ea"/>
                        <a:cs typeface="+mn-cs"/>
                      </a:endParaRPr>
                    </a:p>
                  </a:txBody>
                  <a:tcPr/>
                </a:tc>
                <a:tc>
                  <a:txBody>
                    <a:bodyPr/>
                    <a:lstStyle/>
                    <a:p>
                      <a:pPr algn="ctr"/>
                      <a:r>
                        <a:rPr lang="en-US" altLang="zh-CN" sz="2000" kern="1200" dirty="0">
                          <a:solidFill>
                            <a:schemeClr val="dk1"/>
                          </a:solidFill>
                          <a:latin typeface="+mn-lt"/>
                          <a:ea typeface="+mn-ea"/>
                          <a:cs typeface="+mn-cs"/>
                        </a:rPr>
                        <a:t>3.2x</a:t>
                      </a:r>
                      <a:endParaRPr lang="zh-CN" altLang="en-US" sz="2000" kern="1200" dirty="0">
                        <a:solidFill>
                          <a:schemeClr val="dk1"/>
                        </a:solidFill>
                        <a:latin typeface="+mn-lt"/>
                        <a:ea typeface="+mn-ea"/>
                        <a:cs typeface="+mn-cs"/>
                      </a:endParaRPr>
                    </a:p>
                  </a:txBody>
                  <a:tcPr/>
                </a:tc>
                <a:extLst>
                  <a:ext uri="{0D108BD9-81ED-4DB2-BD59-A6C34878D82A}">
                    <a16:rowId xmlns:a16="http://schemas.microsoft.com/office/drawing/2014/main" val="2182226524"/>
                  </a:ext>
                </a:extLst>
              </a:tr>
              <a:tr h="466056">
                <a:tc>
                  <a:txBody>
                    <a:bodyPr/>
                    <a:lstStyle/>
                    <a:p>
                      <a:pPr algn="ctr"/>
                      <a:r>
                        <a:rPr lang="en-US" altLang="zh-CN" sz="2000" kern="1200" dirty="0">
                          <a:solidFill>
                            <a:schemeClr val="dk1"/>
                          </a:solidFill>
                          <a:latin typeface="+mn-lt"/>
                          <a:ea typeface="+mn-ea"/>
                          <a:cs typeface="+mn-cs"/>
                        </a:rPr>
                        <a:t>3-yr Cum. FCF / Delivery (1)</a:t>
                      </a:r>
                      <a:endParaRPr lang="zh-CN" altLang="en-US" sz="2000" kern="1200" dirty="0">
                        <a:solidFill>
                          <a:schemeClr val="dk1"/>
                        </a:solidFill>
                        <a:latin typeface="+mn-lt"/>
                        <a:ea typeface="+mn-ea"/>
                        <a:cs typeface="+mn-cs"/>
                      </a:endParaRPr>
                    </a:p>
                  </a:txBody>
                  <a:tcPr/>
                </a:tc>
                <a:tc>
                  <a:txBody>
                    <a:bodyPr/>
                    <a:lstStyle/>
                    <a:p>
                      <a:pPr algn="ctr"/>
                      <a:r>
                        <a:rPr lang="en-US" altLang="zh-CN" sz="2000" kern="1200" dirty="0">
                          <a:solidFill>
                            <a:schemeClr val="dk1"/>
                          </a:solidFill>
                          <a:latin typeface="+mn-lt"/>
                          <a:ea typeface="+mn-ea"/>
                          <a:cs typeface="+mn-cs"/>
                        </a:rPr>
                        <a:t>$5,872</a:t>
                      </a:r>
                      <a:endParaRPr lang="zh-CN" altLang="en-US" sz="2000" kern="1200" dirty="0">
                        <a:solidFill>
                          <a:schemeClr val="dk1"/>
                        </a:solidFill>
                        <a:latin typeface="+mn-lt"/>
                        <a:ea typeface="+mn-ea"/>
                        <a:cs typeface="+mn-cs"/>
                      </a:endParaRPr>
                    </a:p>
                  </a:txBody>
                  <a:tcPr/>
                </a:tc>
                <a:tc>
                  <a:txBody>
                    <a:bodyPr/>
                    <a:lstStyle/>
                    <a:p>
                      <a:pPr algn="ctr"/>
                      <a:r>
                        <a:rPr lang="en-US" altLang="zh-CN" sz="2000" kern="1200" dirty="0">
                          <a:solidFill>
                            <a:schemeClr val="dk1"/>
                          </a:solidFill>
                          <a:latin typeface="+mn-lt"/>
                          <a:ea typeface="+mn-ea"/>
                          <a:cs typeface="+mn-cs"/>
                        </a:rPr>
                        <a:t>$3,961</a:t>
                      </a:r>
                      <a:endParaRPr lang="zh-CN" altLang="en-US" sz="2000" kern="1200" dirty="0">
                        <a:solidFill>
                          <a:schemeClr val="dk1"/>
                        </a:solidFill>
                        <a:latin typeface="+mn-lt"/>
                        <a:ea typeface="+mn-ea"/>
                        <a:cs typeface="+mn-cs"/>
                      </a:endParaRPr>
                    </a:p>
                  </a:txBody>
                  <a:tcPr/>
                </a:tc>
                <a:extLst>
                  <a:ext uri="{0D108BD9-81ED-4DB2-BD59-A6C34878D82A}">
                    <a16:rowId xmlns:a16="http://schemas.microsoft.com/office/drawing/2014/main" val="2694688736"/>
                  </a:ext>
                </a:extLst>
              </a:tr>
            </a:tbl>
          </a:graphicData>
        </a:graphic>
      </p:graphicFrame>
      <p:sp>
        <p:nvSpPr>
          <p:cNvPr id="10" name="TextBox 2">
            <a:extLst>
              <a:ext uri="{FF2B5EF4-FFF2-40B4-BE49-F238E27FC236}">
                <a16:creationId xmlns:a16="http://schemas.microsoft.com/office/drawing/2014/main" id="{9579C976-F9A4-AC7C-3F77-022E90DA34E8}"/>
              </a:ext>
            </a:extLst>
          </p:cNvPr>
          <p:cNvSpPr txBox="1"/>
          <p:nvPr/>
        </p:nvSpPr>
        <p:spPr>
          <a:xfrm>
            <a:off x="685800" y="1638300"/>
            <a:ext cx="9753600" cy="7836569"/>
          </a:xfrm>
          <a:prstGeom prst="rect">
            <a:avLst/>
          </a:prstGeom>
        </p:spPr>
        <p:txBody>
          <a:bodyPr wrap="square" lIns="0" tIns="0" rIns="0" bIns="0" rtlCol="0" anchor="t">
            <a:spAutoFit/>
          </a:bodyPr>
          <a:lstStyle/>
          <a:p>
            <a:pPr lvl="0">
              <a:lnSpc>
                <a:spcPts val="4079"/>
              </a:lnSpc>
            </a:pPr>
            <a:r>
              <a:rPr lang="en-US" altLang="zh-CN" sz="2800" b="1" dirty="0">
                <a:solidFill>
                  <a:srgbClr val="C00000"/>
                </a:solidFill>
                <a:latin typeface="InterVariable"/>
                <a:ea typeface="Quicksand"/>
                <a:cs typeface="Arial" panose="020B0604020202020204" pitchFamily="34" charset="0"/>
                <a:sym typeface="Quicksand"/>
              </a:rPr>
              <a:t>Why Short BYD ?</a:t>
            </a:r>
          </a:p>
          <a:p>
            <a:pPr marL="342900" lvl="0" indent="-342900" algn="just">
              <a:lnSpc>
                <a:spcPts val="4079"/>
              </a:lnSpc>
              <a:buFont typeface="Wingdings" panose="05000000000000000000" pitchFamily="2" charset="2"/>
              <a:buChar char="p"/>
            </a:pPr>
            <a:r>
              <a:rPr lang="en-US" altLang="zh-CN" sz="2600" b="1" dirty="0">
                <a:solidFill>
                  <a:srgbClr val="0F4662"/>
                </a:solidFill>
                <a:latin typeface="InterVariable"/>
                <a:cs typeface="Arial" panose="020B0604020202020204" pitchFamily="34" charset="0"/>
                <a:sym typeface="Quicksand"/>
              </a:rPr>
              <a:t>Historical Performance</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cs typeface="Arial" panose="020B0604020202020204" pitchFamily="34" charset="0"/>
              </a:rPr>
              <a:t>BYD’s Free Cash Flow (FCF) margin declined from </a:t>
            </a:r>
            <a:r>
              <a:rPr lang="en-US" altLang="zh-CN" sz="2400" b="1" dirty="0">
                <a:solidFill>
                  <a:srgbClr val="0F4662"/>
                </a:solidFill>
                <a:latin typeface="InterVariable"/>
                <a:cs typeface="Arial" panose="020B0604020202020204" pitchFamily="34" charset="0"/>
              </a:rPr>
              <a:t>10.3% </a:t>
            </a:r>
            <a:r>
              <a:rPr lang="en-US" altLang="zh-CN" sz="2400" dirty="0">
                <a:solidFill>
                  <a:srgbClr val="0F4662"/>
                </a:solidFill>
                <a:latin typeface="InterVariable"/>
                <a:cs typeface="Arial" panose="020B0604020202020204" pitchFamily="34" charset="0"/>
              </a:rPr>
              <a:t>in 2022 to </a:t>
            </a:r>
            <a:r>
              <a:rPr lang="en-US" altLang="zh-CN" sz="2400" b="1" dirty="0">
                <a:solidFill>
                  <a:srgbClr val="0F4662"/>
                </a:solidFill>
                <a:latin typeface="InterVariable"/>
                <a:cs typeface="Arial" panose="020B0604020202020204" pitchFamily="34" charset="0"/>
              </a:rPr>
              <a:t>6.4%</a:t>
            </a:r>
            <a:r>
              <a:rPr lang="en-US" altLang="zh-CN" sz="2400" dirty="0">
                <a:solidFill>
                  <a:srgbClr val="0F4662"/>
                </a:solidFill>
                <a:latin typeface="InterVariable"/>
                <a:cs typeface="Arial" panose="020B0604020202020204" pitchFamily="34" charset="0"/>
              </a:rPr>
              <a:t> in 2024 despite higher volumes</a:t>
            </a:r>
          </a:p>
          <a:p>
            <a:pPr marL="342900" indent="-342900" algn="just">
              <a:lnSpc>
                <a:spcPts val="4079"/>
              </a:lnSpc>
              <a:buFont typeface="Wingdings" panose="05000000000000000000" pitchFamily="2" charset="2"/>
              <a:buChar char="p"/>
            </a:pPr>
            <a:r>
              <a:rPr lang="en-US" altLang="zh-CN" sz="2600" b="1" dirty="0">
                <a:solidFill>
                  <a:srgbClr val="0F4662"/>
                </a:solidFill>
                <a:latin typeface="InterVariable"/>
                <a:cs typeface="Arial" panose="020B0604020202020204" pitchFamily="34" charset="0"/>
                <a:sym typeface="Quicksand"/>
              </a:rPr>
              <a:t>Valuation Adjustment C</a:t>
            </a:r>
            <a:r>
              <a:rPr lang="en-US" altLang="zh-CN" sz="2600" b="1" dirty="0">
                <a:solidFill>
                  <a:srgbClr val="0F4662"/>
                </a:solidFill>
                <a:latin typeface="InterVariable"/>
                <a:cs typeface="Arial" panose="020B0604020202020204" pitchFamily="34" charset="0"/>
              </a:rPr>
              <a:t>atalysts</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cs typeface="Arial" panose="020B0604020202020204" pitchFamily="34" charset="0"/>
              </a:rPr>
              <a:t>BYD’s current low P/E multiples reflect market skepticism about sustaining margins amid price wars. </a:t>
            </a:r>
            <a:r>
              <a:rPr lang="en-US" altLang="zh-CN" sz="2400" b="1" dirty="0">
                <a:solidFill>
                  <a:srgbClr val="0F4662"/>
                </a:solidFill>
                <a:latin typeface="InterVariable"/>
                <a:cs typeface="Arial" panose="020B0604020202020204" pitchFamily="34" charset="0"/>
              </a:rPr>
              <a:t>10%</a:t>
            </a:r>
            <a:r>
              <a:rPr lang="en-US" altLang="zh-CN" sz="2400" dirty="0">
                <a:solidFill>
                  <a:srgbClr val="0F4662"/>
                </a:solidFill>
                <a:latin typeface="InterVariable"/>
                <a:cs typeface="Arial" panose="020B0604020202020204" pitchFamily="34" charset="0"/>
              </a:rPr>
              <a:t> decline in average selling price (ASP) would erase 2025E net income growth despite volume gains</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cs typeface="Arial" panose="020B0604020202020204" pitchFamily="34" charset="0"/>
              </a:rPr>
              <a:t>BYD’s lower R&amp;D capitalization </a:t>
            </a:r>
            <a:r>
              <a:rPr lang="en-US" altLang="zh-CN" sz="2400" b="1" dirty="0">
                <a:solidFill>
                  <a:srgbClr val="0F4662"/>
                </a:solidFill>
                <a:latin typeface="InterVariable"/>
                <a:cs typeface="Arial" panose="020B0604020202020204" pitchFamily="34" charset="0"/>
              </a:rPr>
              <a:t>(currently 2% vs. Tesla’ 14%)</a:t>
            </a:r>
            <a:r>
              <a:rPr lang="en-US" altLang="zh-CN" sz="2400" dirty="0">
                <a:solidFill>
                  <a:srgbClr val="0F4662"/>
                </a:solidFill>
                <a:latin typeface="InterVariable"/>
                <a:cs typeface="Arial" panose="020B0604020202020204" pitchFamily="34" charset="0"/>
              </a:rPr>
              <a:t>, eroding its value proposition and reliance on China government subsidies</a:t>
            </a:r>
            <a:r>
              <a:rPr lang="en-US" altLang="zh-CN" sz="2400" b="1" dirty="0">
                <a:solidFill>
                  <a:srgbClr val="0F4662"/>
                </a:solidFill>
                <a:latin typeface="InterVariable"/>
                <a:cs typeface="Arial" panose="020B0604020202020204" pitchFamily="34" charset="0"/>
              </a:rPr>
              <a:t> (12% of 2024 revenue)</a:t>
            </a:r>
            <a:r>
              <a:rPr lang="en-US" altLang="zh-CN" sz="2400" dirty="0">
                <a:solidFill>
                  <a:srgbClr val="0F4662"/>
                </a:solidFill>
                <a:latin typeface="InterVariable"/>
                <a:cs typeface="Arial" panose="020B0604020202020204" pitchFamily="34" charset="0"/>
              </a:rPr>
              <a:t> might not sustain in the future.</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cs typeface="Arial" panose="020B0604020202020204" pitchFamily="34" charset="0"/>
              </a:rPr>
              <a:t>Trade Barrier: EU imposed </a:t>
            </a:r>
            <a:r>
              <a:rPr lang="en-US" altLang="zh-CN" sz="2400" b="1" dirty="0">
                <a:solidFill>
                  <a:srgbClr val="0F4662"/>
                </a:solidFill>
                <a:latin typeface="InterVariable"/>
                <a:cs typeface="Arial" panose="020B0604020202020204" pitchFamily="34" charset="0"/>
              </a:rPr>
              <a:t>17–36% tariffs </a:t>
            </a:r>
            <a:r>
              <a:rPr lang="en-US" altLang="zh-CN" sz="2400" dirty="0">
                <a:solidFill>
                  <a:srgbClr val="0F4662"/>
                </a:solidFill>
                <a:latin typeface="InterVariable"/>
                <a:cs typeface="Arial" panose="020B0604020202020204" pitchFamily="34" charset="0"/>
              </a:rPr>
              <a:t>and the US hiking duties to </a:t>
            </a:r>
            <a:r>
              <a:rPr lang="en-US" altLang="zh-CN" sz="2400" b="1" dirty="0">
                <a:solidFill>
                  <a:srgbClr val="0F4662"/>
                </a:solidFill>
                <a:latin typeface="InterVariable"/>
                <a:cs typeface="Arial" panose="020B0604020202020204" pitchFamily="34" charset="0"/>
              </a:rPr>
              <a:t>145% </a:t>
            </a:r>
            <a:r>
              <a:rPr lang="en-US" altLang="zh-CN" sz="2400" dirty="0">
                <a:solidFill>
                  <a:srgbClr val="0F4662"/>
                </a:solidFill>
                <a:latin typeface="InterVariable"/>
                <a:cs typeface="Arial" panose="020B0604020202020204" pitchFamily="34" charset="0"/>
              </a:rPr>
              <a:t>will bring </a:t>
            </a:r>
            <a:r>
              <a:rPr lang="en-US" altLang="zh-CN" sz="2400" dirty="0">
                <a:solidFill>
                  <a:srgbClr val="0F4662"/>
                </a:solidFill>
                <a:latin typeface="InterVariable"/>
                <a:cs typeface="Arial" panose="020B0604020202020204" pitchFamily="34" charset="0"/>
                <a:sym typeface="Quicksand"/>
              </a:rPr>
              <a:t>geopolitical disruptions to BYD’s export-led growth</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cs typeface="Arial" panose="020B0604020202020204" pitchFamily="34" charset="0"/>
              </a:rPr>
              <a:t>BYD’s local production is time-consumed and the competition in China market is more fierce </a:t>
            </a:r>
          </a:p>
        </p:txBody>
      </p:sp>
      <p:sp>
        <p:nvSpPr>
          <p:cNvPr id="15" name="TextBox 2">
            <a:extLst>
              <a:ext uri="{FF2B5EF4-FFF2-40B4-BE49-F238E27FC236}">
                <a16:creationId xmlns:a16="http://schemas.microsoft.com/office/drawing/2014/main" id="{6BE0FB32-2368-8F9D-777B-75632D6932D3}"/>
              </a:ext>
            </a:extLst>
          </p:cNvPr>
          <p:cNvSpPr txBox="1"/>
          <p:nvPr/>
        </p:nvSpPr>
        <p:spPr>
          <a:xfrm>
            <a:off x="11201400" y="5779669"/>
            <a:ext cx="8305801" cy="462050"/>
          </a:xfrm>
          <a:prstGeom prst="rect">
            <a:avLst/>
          </a:prstGeom>
        </p:spPr>
        <p:txBody>
          <a:bodyPr wrap="square" lIns="0" tIns="0" rIns="0" bIns="0" rtlCol="0" anchor="t">
            <a:spAutoFit/>
          </a:bodyPr>
          <a:lstStyle/>
          <a:p>
            <a:pPr lvl="0">
              <a:lnSpc>
                <a:spcPts val="4079"/>
              </a:lnSpc>
            </a:pPr>
            <a:r>
              <a:rPr lang="en-US" altLang="zh-CN" i="1" dirty="0">
                <a:latin typeface="InterVariable"/>
                <a:sym typeface="Quicksand"/>
              </a:rPr>
              <a:t>[1] Cumulative Free Cash Flow for the years from 2022 to 2024</a:t>
            </a:r>
          </a:p>
        </p:txBody>
      </p:sp>
      <p:sp>
        <p:nvSpPr>
          <p:cNvPr id="13" name="TextBox 6">
            <a:extLst>
              <a:ext uri="{FF2B5EF4-FFF2-40B4-BE49-F238E27FC236}">
                <a16:creationId xmlns:a16="http://schemas.microsoft.com/office/drawing/2014/main" id="{59545A86-D847-9468-6E8B-EDA0528DD0A8}"/>
              </a:ext>
            </a:extLst>
          </p:cNvPr>
          <p:cNvSpPr txBox="1"/>
          <p:nvPr/>
        </p:nvSpPr>
        <p:spPr>
          <a:xfrm>
            <a:off x="667785" y="227960"/>
            <a:ext cx="15415056" cy="1009059"/>
          </a:xfrm>
          <a:prstGeom prst="rect">
            <a:avLst/>
          </a:prstGeom>
        </p:spPr>
        <p:txBody>
          <a:bodyPr wrap="square" lIns="0" tIns="0" rIns="0" bIns="0" rtlCol="0" anchor="t">
            <a:spAutoFit/>
          </a:bodyPr>
          <a:lstStyle/>
          <a:p>
            <a:pPr marL="0" lvl="0" indent="0" algn="l">
              <a:lnSpc>
                <a:spcPts val="8959"/>
              </a:lnSpc>
              <a:spcBef>
                <a:spcPct val="0"/>
              </a:spcBef>
            </a:pPr>
            <a:r>
              <a:rPr lang="en-US" sz="4000" b="1" dirty="0">
                <a:solidFill>
                  <a:srgbClr val="0F4662"/>
                </a:solidFill>
                <a:latin typeface="InterVariable"/>
                <a:sym typeface="Cormorant Garamond Bold Italics"/>
              </a:rPr>
              <a:t>Business and Financial Analysis (2) - </a:t>
            </a:r>
            <a:r>
              <a:rPr lang="en-US" altLang="zh-CN" sz="3200" b="1" dirty="0">
                <a:solidFill>
                  <a:srgbClr val="00B050"/>
                </a:solidFill>
                <a:latin typeface="InterVariable"/>
                <a:ea typeface="Cormorant Garamond Bold Italics"/>
                <a:cs typeface="Arial" panose="020B0604020202020204" pitchFamily="34" charset="0"/>
                <a:sym typeface="Cormorant Garamond Bold Italics"/>
              </a:rPr>
              <a:t>Long Tesla (Tsla.US) </a:t>
            </a:r>
            <a:r>
              <a:rPr lang="en-US" altLang="zh-CN" sz="3200" b="1" dirty="0">
                <a:solidFill>
                  <a:srgbClr val="C00000"/>
                </a:solidFill>
                <a:latin typeface="InterVariable"/>
                <a:ea typeface="Cormorant Garamond Bold Italics"/>
                <a:cs typeface="Arial" panose="020B0604020202020204" pitchFamily="34" charset="0"/>
                <a:sym typeface="Cormorant Garamond Bold Italics"/>
              </a:rPr>
              <a:t>Short BYD (1211.HK)</a:t>
            </a:r>
            <a:endParaRPr lang="en-US" sz="3200" b="1" dirty="0">
              <a:solidFill>
                <a:srgbClr val="0F4662"/>
              </a:solidFill>
              <a:latin typeface="InterVariable"/>
              <a:sym typeface="Cormorant Garamond Bold Italics"/>
            </a:endParaRPr>
          </a:p>
        </p:txBody>
      </p:sp>
      <p:cxnSp>
        <p:nvCxnSpPr>
          <p:cNvPr id="14" name="直接连接符 13">
            <a:extLst>
              <a:ext uri="{FF2B5EF4-FFF2-40B4-BE49-F238E27FC236}">
                <a16:creationId xmlns:a16="http://schemas.microsoft.com/office/drawing/2014/main" id="{C8D33134-827F-36BC-11BF-805B957C27D4}"/>
              </a:ext>
            </a:extLst>
          </p:cNvPr>
          <p:cNvCxnSpPr>
            <a:cxnSpLocks/>
          </p:cNvCxnSpPr>
          <p:nvPr/>
        </p:nvCxnSpPr>
        <p:spPr>
          <a:xfrm>
            <a:off x="667785" y="1409700"/>
            <a:ext cx="17086815"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18E6FBCD-769D-17C4-AC75-F0796C89E21E}"/>
              </a:ext>
            </a:extLst>
          </p:cNvPr>
          <p:cNvGrpSpPr/>
          <p:nvPr/>
        </p:nvGrpSpPr>
        <p:grpSpPr>
          <a:xfrm>
            <a:off x="15346531" y="283880"/>
            <a:ext cx="2484269" cy="897220"/>
            <a:chOff x="14949292" y="147595"/>
            <a:chExt cx="2484269" cy="897220"/>
          </a:xfrm>
        </p:grpSpPr>
        <p:pic>
          <p:nvPicPr>
            <p:cNvPr id="17" name="图片 16">
              <a:extLst>
                <a:ext uri="{FF2B5EF4-FFF2-40B4-BE49-F238E27FC236}">
                  <a16:creationId xmlns:a16="http://schemas.microsoft.com/office/drawing/2014/main" id="{8B4D7A81-FFE8-37BB-88F8-714347AFA54F}"/>
                </a:ext>
              </a:extLst>
            </p:cNvPr>
            <p:cNvPicPr>
              <a:picLocks noChangeAspect="1"/>
            </p:cNvPicPr>
            <p:nvPr/>
          </p:nvPicPr>
          <p:blipFill>
            <a:blip r:embed="rId2"/>
            <a:stretch>
              <a:fillRect/>
            </a:stretch>
          </p:blipFill>
          <p:spPr>
            <a:xfrm>
              <a:off x="14949292" y="147595"/>
              <a:ext cx="1472893" cy="863959"/>
            </a:xfrm>
            <a:prstGeom prst="rect">
              <a:avLst/>
            </a:prstGeom>
          </p:spPr>
        </p:pic>
        <p:pic>
          <p:nvPicPr>
            <p:cNvPr id="18" name="图片 17">
              <a:extLst>
                <a:ext uri="{FF2B5EF4-FFF2-40B4-BE49-F238E27FC236}">
                  <a16:creationId xmlns:a16="http://schemas.microsoft.com/office/drawing/2014/main" id="{E11E565F-8FD8-707B-1B27-5068B1834AA7}"/>
                </a:ext>
              </a:extLst>
            </p:cNvPr>
            <p:cNvPicPr>
              <a:picLocks noChangeAspect="1"/>
            </p:cNvPicPr>
            <p:nvPr/>
          </p:nvPicPr>
          <p:blipFill>
            <a:blip r:embed="rId3"/>
            <a:stretch>
              <a:fillRect/>
            </a:stretch>
          </p:blipFill>
          <p:spPr>
            <a:xfrm>
              <a:off x="16585504" y="147595"/>
              <a:ext cx="848057" cy="897220"/>
            </a:xfrm>
            <a:prstGeom prst="rect">
              <a:avLst/>
            </a:prstGeom>
          </p:spPr>
        </p:pic>
      </p:grpSp>
    </p:spTree>
    <p:extLst>
      <p:ext uri="{BB962C8B-B14F-4D97-AF65-F5344CB8AC3E}">
        <p14:creationId xmlns:p14="http://schemas.microsoft.com/office/powerpoint/2010/main" val="173744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E6272-179E-3BF4-DB5C-D3038A9A8E27}"/>
            </a:ext>
          </a:extLst>
        </p:cNvPr>
        <p:cNvGrpSpPr/>
        <p:nvPr/>
      </p:nvGrpSpPr>
      <p:grpSpPr>
        <a:xfrm>
          <a:off x="0" y="0"/>
          <a:ext cx="0" cy="0"/>
          <a:chOff x="0" y="0"/>
          <a:chExt cx="0" cy="0"/>
        </a:xfrm>
      </p:grpSpPr>
      <p:pic>
        <p:nvPicPr>
          <p:cNvPr id="48" name="图片 47">
            <a:extLst>
              <a:ext uri="{FF2B5EF4-FFF2-40B4-BE49-F238E27FC236}">
                <a16:creationId xmlns:a16="http://schemas.microsoft.com/office/drawing/2014/main" id="{695B0D55-694D-433E-32E6-96859F94E17C}"/>
              </a:ext>
            </a:extLst>
          </p:cNvPr>
          <p:cNvPicPr>
            <a:picLocks noChangeAspect="1"/>
          </p:cNvPicPr>
          <p:nvPr/>
        </p:nvPicPr>
        <p:blipFill>
          <a:blip r:embed="rId3"/>
          <a:stretch>
            <a:fillRect/>
          </a:stretch>
        </p:blipFill>
        <p:spPr>
          <a:xfrm>
            <a:off x="647057" y="1855527"/>
            <a:ext cx="4215323" cy="8173222"/>
          </a:xfrm>
          <a:prstGeom prst="rect">
            <a:avLst/>
          </a:prstGeom>
        </p:spPr>
      </p:pic>
      <p:sp>
        <p:nvSpPr>
          <p:cNvPr id="10" name="文本框 9">
            <a:extLst>
              <a:ext uri="{FF2B5EF4-FFF2-40B4-BE49-F238E27FC236}">
                <a16:creationId xmlns:a16="http://schemas.microsoft.com/office/drawing/2014/main" id="{E9DFD746-CAFE-8158-4FEC-50DFD5B40B0F}"/>
              </a:ext>
            </a:extLst>
          </p:cNvPr>
          <p:cNvSpPr txBox="1"/>
          <p:nvPr/>
        </p:nvSpPr>
        <p:spPr>
          <a:xfrm>
            <a:off x="6360058" y="2495530"/>
            <a:ext cx="3276600" cy="400110"/>
          </a:xfrm>
          <a:prstGeom prst="rect">
            <a:avLst/>
          </a:prstGeom>
          <a:noFill/>
        </p:spPr>
        <p:txBody>
          <a:bodyPr wrap="square">
            <a:spAutoFit/>
          </a:bodyPr>
          <a:lstStyle/>
          <a:p>
            <a:pPr algn="ctr"/>
            <a:r>
              <a:rPr lang="en-US" altLang="zh-CN" sz="2000" b="1" dirty="0">
                <a:solidFill>
                  <a:srgbClr val="0F4662"/>
                </a:solidFill>
                <a:latin typeface="InterVariable"/>
                <a:cs typeface="Times New Roman" panose="02020603050405020304" pitchFamily="18" charset="0"/>
              </a:rPr>
              <a:t>Mathematical Notes</a:t>
            </a:r>
            <a:endParaRPr lang="zh-CN" altLang="en-US" sz="2000" b="1" dirty="0">
              <a:solidFill>
                <a:srgbClr val="0F4662"/>
              </a:solidFill>
              <a:latin typeface="InterVariable"/>
              <a:cs typeface="Times New Roman" panose="02020603050405020304" pitchFamily="18" charset="0"/>
            </a:endParaRPr>
          </a:p>
        </p:txBody>
      </p:sp>
      <p:sp>
        <p:nvSpPr>
          <p:cNvPr id="12" name="文本框 11">
            <a:extLst>
              <a:ext uri="{FF2B5EF4-FFF2-40B4-BE49-F238E27FC236}">
                <a16:creationId xmlns:a16="http://schemas.microsoft.com/office/drawing/2014/main" id="{895AF973-2473-29DE-F56C-30CEB01A6577}"/>
              </a:ext>
            </a:extLst>
          </p:cNvPr>
          <p:cNvSpPr txBox="1"/>
          <p:nvPr/>
        </p:nvSpPr>
        <p:spPr>
          <a:xfrm>
            <a:off x="13018085" y="2440239"/>
            <a:ext cx="3276600" cy="400110"/>
          </a:xfrm>
          <a:prstGeom prst="rect">
            <a:avLst/>
          </a:prstGeom>
          <a:noFill/>
        </p:spPr>
        <p:txBody>
          <a:bodyPr wrap="square">
            <a:spAutoFit/>
          </a:bodyPr>
          <a:lstStyle/>
          <a:p>
            <a:pPr algn="ctr"/>
            <a:r>
              <a:rPr lang="en-US" altLang="zh-CN" sz="2000" b="1" dirty="0">
                <a:solidFill>
                  <a:srgbClr val="0F4662"/>
                </a:solidFill>
                <a:latin typeface="InterVariable"/>
                <a:cs typeface="Times New Roman" panose="02020603050405020304" pitchFamily="18" charset="0"/>
              </a:rPr>
              <a:t>Statistics Implication</a:t>
            </a:r>
            <a:endParaRPr lang="zh-CN" altLang="en-US" sz="2000" b="1" dirty="0">
              <a:solidFill>
                <a:srgbClr val="0F4662"/>
              </a:solidFill>
              <a:latin typeface="InterVariable"/>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8B4F3CDB-1C54-848A-053C-377B1D0E951D}"/>
                  </a:ext>
                </a:extLst>
              </p:cNvPr>
              <p:cNvSpPr txBox="1"/>
              <p:nvPr/>
            </p:nvSpPr>
            <p:spPr>
              <a:xfrm>
                <a:off x="5157118" y="3070524"/>
                <a:ext cx="5682480" cy="523220"/>
              </a:xfrm>
              <a:prstGeom prst="rect">
                <a:avLst/>
              </a:prstGeom>
              <a:solidFill>
                <a:schemeClr val="accent1">
                  <a:lumMod val="20000"/>
                  <a:lumOff val="80000"/>
                </a:schemeClr>
              </a:solidFill>
            </p:spPr>
            <p:txBody>
              <a:bodyPr wrap="square">
                <a:spAutoFit/>
              </a:bodyPr>
              <a:lstStyle/>
              <a:p>
                <a:r>
                  <a:rPr lang="en-US" altLang="zh-CN" sz="1400" dirty="0">
                    <a:solidFill>
                      <a:schemeClr val="accent5">
                        <a:lumMod val="50000"/>
                      </a:schemeClr>
                    </a:solidFill>
                    <a:latin typeface="InterVariable"/>
                    <a:cs typeface="Times New Roman" panose="02020603050405020304" pitchFamily="18" charset="0"/>
                  </a:rPr>
                  <a:t>The hedge ratio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𝛽</m:t>
                    </m:r>
                  </m:oMath>
                </a14:m>
                <a:r>
                  <a:rPr lang="en-US" altLang="zh-CN" sz="1400" dirty="0">
                    <a:solidFill>
                      <a:schemeClr val="accent5">
                        <a:lumMod val="50000"/>
                      </a:schemeClr>
                    </a:solidFill>
                    <a:latin typeface="InterVariable"/>
                    <a:cs typeface="Times New Roman" panose="02020603050405020304" pitchFamily="18" charset="0"/>
                  </a:rPr>
                  <a:t>) is computed using OLS regression on  log prices of BYD (</a:t>
                </a:r>
                <a14:m>
                  <m:oMath xmlns:m="http://schemas.openxmlformats.org/officeDocument/2006/math">
                    <m:sSub>
                      <m:sSubPr>
                        <m:ctrlPr>
                          <a:rPr lang="en-US" altLang="zh-CN" sz="1400" i="1" dirty="0" smtClean="0">
                            <a:solidFill>
                              <a:schemeClr val="accent5">
                                <a:lumMod val="50000"/>
                              </a:schemeClr>
                            </a:solidFill>
                            <a:latin typeface="InterVariable"/>
                            <a:cs typeface="Times New Roman" panose="02020603050405020304" pitchFamily="18" charset="0"/>
                          </a:rPr>
                        </m:ctrlPr>
                      </m:sSubPr>
                      <m:e>
                        <m:r>
                          <a:rPr lang="en-US" altLang="zh-CN" sz="1400" i="1" dirty="0" err="1" smtClean="0">
                            <a:solidFill>
                              <a:schemeClr val="accent5">
                                <a:lumMod val="50000"/>
                              </a:schemeClr>
                            </a:solidFill>
                            <a:latin typeface="InterVariable"/>
                            <a:cs typeface="Times New Roman" panose="02020603050405020304" pitchFamily="18" charset="0"/>
                          </a:rPr>
                          <m:t>𝑋</m:t>
                        </m:r>
                      </m:e>
                      <m:sub>
                        <m:r>
                          <a:rPr lang="en-US" altLang="zh-CN" sz="1400" i="1" dirty="0" err="1" smtClean="0">
                            <a:solidFill>
                              <a:schemeClr val="accent5">
                                <a:lumMod val="50000"/>
                              </a:schemeClr>
                            </a:solidFill>
                            <a:latin typeface="InterVariable"/>
                            <a:cs typeface="Times New Roman" panose="02020603050405020304" pitchFamily="18" charset="0"/>
                          </a:rPr>
                          <m:t>𝑡</m:t>
                        </m:r>
                      </m:sub>
                    </m:sSub>
                  </m:oMath>
                </a14:m>
                <a:r>
                  <a:rPr lang="en-US" altLang="zh-CN" sz="1400" dirty="0">
                    <a:solidFill>
                      <a:schemeClr val="accent5">
                        <a:lumMod val="50000"/>
                      </a:schemeClr>
                    </a:solidFill>
                    <a:latin typeface="InterVariable"/>
                    <a:cs typeface="Times New Roman" panose="02020603050405020304" pitchFamily="18" charset="0"/>
                  </a:rPr>
                  <a:t>) and Tesla (</a:t>
                </a:r>
                <a14:m>
                  <m:oMath xmlns:m="http://schemas.openxmlformats.org/officeDocument/2006/math">
                    <m:sSub>
                      <m:sSubPr>
                        <m:ctrlPr>
                          <a:rPr lang="en-US" altLang="zh-CN" sz="1400" i="1" dirty="0" smtClean="0">
                            <a:solidFill>
                              <a:schemeClr val="accent5">
                                <a:lumMod val="50000"/>
                              </a:schemeClr>
                            </a:solidFill>
                            <a:latin typeface="InterVariable"/>
                            <a:cs typeface="Times New Roman" panose="02020603050405020304" pitchFamily="18" charset="0"/>
                          </a:rPr>
                        </m:ctrlPr>
                      </m:sSubPr>
                      <m:e>
                        <m:r>
                          <a:rPr lang="en-US" altLang="zh-CN" sz="1400" i="1" dirty="0" err="1" smtClean="0">
                            <a:solidFill>
                              <a:schemeClr val="accent5">
                                <a:lumMod val="50000"/>
                              </a:schemeClr>
                            </a:solidFill>
                            <a:latin typeface="InterVariable"/>
                            <a:cs typeface="Times New Roman" panose="02020603050405020304" pitchFamily="18" charset="0"/>
                          </a:rPr>
                          <m:t>𝑌</m:t>
                        </m:r>
                      </m:e>
                      <m:sub>
                        <m:r>
                          <a:rPr lang="en-US" altLang="zh-CN" sz="1400" i="1" dirty="0" err="1" smtClean="0">
                            <a:solidFill>
                              <a:schemeClr val="accent5">
                                <a:lumMod val="50000"/>
                              </a:schemeClr>
                            </a:solidFill>
                            <a:latin typeface="InterVariable"/>
                            <a:cs typeface="Times New Roman" panose="02020603050405020304" pitchFamily="18" charset="0"/>
                          </a:rPr>
                          <m:t>𝑡</m:t>
                        </m:r>
                      </m:sub>
                    </m:sSub>
                  </m:oMath>
                </a14:m>
                <a:r>
                  <a:rPr lang="en-US" altLang="zh-CN" sz="1400" dirty="0">
                    <a:solidFill>
                      <a:schemeClr val="accent5">
                        <a:lumMod val="50000"/>
                      </a:schemeClr>
                    </a:solidFill>
                    <a:latin typeface="InterVariable"/>
                    <a:cs typeface="Times New Roman" panose="02020603050405020304" pitchFamily="18" charset="0"/>
                  </a:rPr>
                  <a:t>):</a:t>
                </a:r>
                <a14:m>
                  <m:oMath xmlns:m="http://schemas.openxmlformats.org/officeDocument/2006/math">
                    <m:r>
                      <a:rPr lang="en-US" altLang="zh-CN" sz="1400" b="0" i="0" dirty="0" smtClean="0">
                        <a:solidFill>
                          <a:schemeClr val="accent5">
                            <a:lumMod val="50000"/>
                          </a:schemeClr>
                        </a:solidFill>
                        <a:latin typeface="InterVariable"/>
                        <a:cs typeface="Times New Roman" panose="02020603050405020304" pitchFamily="18" charset="0"/>
                      </a:rPr>
                      <m:t>  </m:t>
                    </m:r>
                    <m:sSub>
                      <m:sSubPr>
                        <m:ctrlPr>
                          <a:rPr lang="en-US" altLang="zh-CN" sz="1400" i="1" dirty="0" smtClean="0">
                            <a:solidFill>
                              <a:schemeClr val="accent5">
                                <a:lumMod val="50000"/>
                              </a:schemeClr>
                            </a:solidFill>
                            <a:latin typeface="InterVariable"/>
                            <a:cs typeface="Times New Roman" panose="02020603050405020304" pitchFamily="18" charset="0"/>
                          </a:rPr>
                        </m:ctrlPr>
                      </m:sSubPr>
                      <m:e>
                        <m:r>
                          <a:rPr lang="en-US" altLang="zh-CN" sz="1400" i="1" dirty="0" err="1" smtClean="0">
                            <a:solidFill>
                              <a:schemeClr val="accent5">
                                <a:lumMod val="50000"/>
                              </a:schemeClr>
                            </a:solidFill>
                            <a:latin typeface="InterVariable"/>
                            <a:cs typeface="Times New Roman" panose="02020603050405020304" pitchFamily="18" charset="0"/>
                          </a:rPr>
                          <m:t>𝑋</m:t>
                        </m:r>
                      </m:e>
                      <m:sub>
                        <m:r>
                          <a:rPr lang="en-US" altLang="zh-CN" sz="1400" i="1" dirty="0" err="1" smtClean="0">
                            <a:solidFill>
                              <a:schemeClr val="accent5">
                                <a:lumMod val="50000"/>
                              </a:schemeClr>
                            </a:solidFill>
                            <a:latin typeface="InterVariable"/>
                            <a:cs typeface="Times New Roman" panose="02020603050405020304" pitchFamily="18" charset="0"/>
                          </a:rPr>
                          <m:t>𝑡</m:t>
                        </m:r>
                      </m:sub>
                    </m:sSub>
                    <m:r>
                      <a:rPr lang="en-US" altLang="zh-CN" sz="1400" i="1" dirty="0" smtClean="0">
                        <a:solidFill>
                          <a:schemeClr val="accent5">
                            <a:lumMod val="50000"/>
                          </a:schemeClr>
                        </a:solidFill>
                        <a:latin typeface="InterVariable"/>
                        <a:cs typeface="Times New Roman" panose="02020603050405020304" pitchFamily="18" charset="0"/>
                      </a:rPr>
                      <m:t>=</m:t>
                    </m:r>
                    <m:r>
                      <a:rPr lang="en-US" altLang="zh-CN" sz="1400" i="1" dirty="0" smtClean="0">
                        <a:solidFill>
                          <a:schemeClr val="accent5">
                            <a:lumMod val="50000"/>
                          </a:schemeClr>
                        </a:solidFill>
                        <a:latin typeface="InterVariable"/>
                        <a:cs typeface="Times New Roman" panose="02020603050405020304" pitchFamily="18" charset="0"/>
                      </a:rPr>
                      <m:t>𝛼</m:t>
                    </m:r>
                    <m:r>
                      <a:rPr lang="en-US" altLang="zh-CN" sz="1400" i="1" dirty="0" smtClean="0">
                        <a:solidFill>
                          <a:schemeClr val="accent5">
                            <a:lumMod val="50000"/>
                          </a:schemeClr>
                        </a:solidFill>
                        <a:latin typeface="InterVariable"/>
                        <a:cs typeface="Times New Roman" panose="02020603050405020304" pitchFamily="18" charset="0"/>
                      </a:rPr>
                      <m:t>+</m:t>
                    </m:r>
                    <m:r>
                      <a:rPr lang="en-US" altLang="zh-CN" sz="1400" i="1" dirty="0" smtClean="0">
                        <a:solidFill>
                          <a:schemeClr val="accent5">
                            <a:lumMod val="50000"/>
                          </a:schemeClr>
                        </a:solidFill>
                        <a:latin typeface="InterVariable"/>
                        <a:cs typeface="Times New Roman" panose="02020603050405020304" pitchFamily="18" charset="0"/>
                      </a:rPr>
                      <m:t>𝛽</m:t>
                    </m:r>
                    <m:sSub>
                      <m:sSubPr>
                        <m:ctrlPr>
                          <a:rPr lang="en-US" altLang="zh-CN" sz="1400" i="1" dirty="0" err="1" smtClean="0">
                            <a:solidFill>
                              <a:schemeClr val="accent5">
                                <a:lumMod val="50000"/>
                              </a:schemeClr>
                            </a:solidFill>
                            <a:latin typeface="InterVariable"/>
                            <a:cs typeface="Times New Roman" panose="02020603050405020304" pitchFamily="18" charset="0"/>
                          </a:rPr>
                        </m:ctrlPr>
                      </m:sSubPr>
                      <m:e>
                        <m:r>
                          <a:rPr lang="en-US" altLang="zh-CN" sz="1400" i="1" dirty="0" err="1" smtClean="0">
                            <a:solidFill>
                              <a:schemeClr val="accent5">
                                <a:lumMod val="50000"/>
                              </a:schemeClr>
                            </a:solidFill>
                            <a:latin typeface="InterVariable"/>
                            <a:cs typeface="Times New Roman" panose="02020603050405020304" pitchFamily="18" charset="0"/>
                          </a:rPr>
                          <m:t>𝑌</m:t>
                        </m:r>
                      </m:e>
                      <m:sub>
                        <m:r>
                          <a:rPr lang="en-US" altLang="zh-CN" sz="1400" i="1" dirty="0" err="1" smtClean="0">
                            <a:solidFill>
                              <a:schemeClr val="accent5">
                                <a:lumMod val="50000"/>
                              </a:schemeClr>
                            </a:solidFill>
                            <a:latin typeface="InterVariable"/>
                            <a:cs typeface="Times New Roman" panose="02020603050405020304" pitchFamily="18" charset="0"/>
                          </a:rPr>
                          <m:t>𝑡</m:t>
                        </m:r>
                      </m:sub>
                    </m:sSub>
                    <m:r>
                      <a:rPr lang="en-US" altLang="zh-CN" sz="1400" i="1" dirty="0" smtClean="0">
                        <a:solidFill>
                          <a:schemeClr val="accent5">
                            <a:lumMod val="50000"/>
                          </a:schemeClr>
                        </a:solidFill>
                        <a:latin typeface="InterVariable"/>
                        <a:cs typeface="Times New Roman" panose="02020603050405020304" pitchFamily="18" charset="0"/>
                      </a:rPr>
                      <m:t>+</m:t>
                    </m:r>
                    <m:sSub>
                      <m:sSubPr>
                        <m:ctrlPr>
                          <a:rPr lang="en-US" altLang="zh-CN" sz="1400" i="1" dirty="0" err="1" smtClean="0">
                            <a:solidFill>
                              <a:schemeClr val="accent5">
                                <a:lumMod val="50000"/>
                              </a:schemeClr>
                            </a:solidFill>
                            <a:latin typeface="InterVariable"/>
                            <a:cs typeface="Times New Roman" panose="02020603050405020304" pitchFamily="18" charset="0"/>
                          </a:rPr>
                        </m:ctrlPr>
                      </m:sSubPr>
                      <m:e>
                        <m:r>
                          <a:rPr lang="en-US" altLang="zh-CN" sz="1400" i="1" dirty="0" smtClean="0">
                            <a:solidFill>
                              <a:schemeClr val="accent5">
                                <a:lumMod val="50000"/>
                              </a:schemeClr>
                            </a:solidFill>
                            <a:latin typeface="InterVariable"/>
                            <a:cs typeface="Times New Roman" panose="02020603050405020304" pitchFamily="18" charset="0"/>
                          </a:rPr>
                          <m:t>𝜖</m:t>
                        </m:r>
                      </m:e>
                      <m:sub>
                        <m:r>
                          <a:rPr lang="en-US" altLang="zh-CN" sz="1400" i="1" dirty="0" err="1" smtClean="0">
                            <a:solidFill>
                              <a:schemeClr val="accent5">
                                <a:lumMod val="50000"/>
                              </a:schemeClr>
                            </a:solidFill>
                            <a:latin typeface="InterVariable"/>
                            <a:cs typeface="Times New Roman" panose="02020603050405020304" pitchFamily="18" charset="0"/>
                          </a:rPr>
                          <m:t>𝑡</m:t>
                        </m:r>
                      </m:sub>
                    </m:sSub>
                  </m:oMath>
                </a14:m>
                <a:endParaRPr lang="zh-CN" altLang="en-US" sz="1400" dirty="0">
                  <a:solidFill>
                    <a:schemeClr val="accent5">
                      <a:lumMod val="50000"/>
                    </a:schemeClr>
                  </a:solidFill>
                  <a:latin typeface="InterVariable"/>
                  <a:cs typeface="Times New Roman" panose="02020603050405020304" pitchFamily="18" charset="0"/>
                </a:endParaRPr>
              </a:p>
            </p:txBody>
          </p:sp>
        </mc:Choice>
        <mc:Fallback>
          <p:sp>
            <p:nvSpPr>
              <p:cNvPr id="13" name="文本框 12">
                <a:extLst>
                  <a:ext uri="{FF2B5EF4-FFF2-40B4-BE49-F238E27FC236}">
                    <a16:creationId xmlns:a16="http://schemas.microsoft.com/office/drawing/2014/main" id="{8B4F3CDB-1C54-848A-053C-377B1D0E951D}"/>
                  </a:ext>
                </a:extLst>
              </p:cNvPr>
              <p:cNvSpPr txBox="1">
                <a:spLocks noRot="1" noChangeAspect="1" noMove="1" noResize="1" noEditPoints="1" noAdjustHandles="1" noChangeArrowheads="1" noChangeShapeType="1" noTextEdit="1"/>
              </p:cNvSpPr>
              <p:nvPr/>
            </p:nvSpPr>
            <p:spPr>
              <a:xfrm>
                <a:off x="5157118" y="3070524"/>
                <a:ext cx="5682480" cy="523220"/>
              </a:xfrm>
              <a:prstGeom prst="rect">
                <a:avLst/>
              </a:prstGeom>
              <a:blipFill>
                <a:blip r:embed="rId4"/>
                <a:stretch>
                  <a:fillRect l="-322" t="-2326" b="-104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E0388E9E-CC9F-CA23-3CE4-E68BDD2F3DDB}"/>
                  </a:ext>
                </a:extLst>
              </p:cNvPr>
              <p:cNvSpPr txBox="1"/>
              <p:nvPr/>
            </p:nvSpPr>
            <p:spPr>
              <a:xfrm>
                <a:off x="11518873" y="3052003"/>
                <a:ext cx="6106829" cy="523220"/>
              </a:xfrm>
              <a:prstGeom prst="rect">
                <a:avLst/>
              </a:prstGeom>
              <a:solidFill>
                <a:schemeClr val="accent1">
                  <a:lumMod val="20000"/>
                  <a:lumOff val="80000"/>
                </a:schemeClr>
              </a:solidFill>
            </p:spPr>
            <p:txBody>
              <a:bodyPr wrap="square">
                <a:spAutoFit/>
              </a:bodyPr>
              <a:lstStyle/>
              <a:p>
                <a:pPr algn="just"/>
                <a:r>
                  <a:rPr lang="en-US" altLang="zh-CN" sz="1400" dirty="0">
                    <a:solidFill>
                      <a:schemeClr val="accent5">
                        <a:lumMod val="50000"/>
                      </a:schemeClr>
                    </a:solidFill>
                    <a:latin typeface="InterVariable"/>
                    <a:cs typeface="Times New Roman" panose="02020603050405020304" pitchFamily="18" charset="0"/>
                  </a:rPr>
                  <a:t>Here,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𝛽</m:t>
                    </m:r>
                    <m:r>
                      <a:rPr lang="en-US" altLang="zh-CN" sz="1400" i="1" dirty="0" smtClean="0">
                        <a:solidFill>
                          <a:schemeClr val="accent5">
                            <a:lumMod val="50000"/>
                          </a:schemeClr>
                        </a:solidFill>
                        <a:latin typeface="InterVariable"/>
                        <a:cs typeface="Times New Roman" panose="02020603050405020304" pitchFamily="18" charset="0"/>
                      </a:rPr>
                      <m:t>= 0.897</m:t>
                    </m:r>
                  </m:oMath>
                </a14:m>
                <a:r>
                  <a:rPr lang="en-US" altLang="zh-CN" sz="1400" dirty="0">
                    <a:solidFill>
                      <a:schemeClr val="accent5">
                        <a:lumMod val="50000"/>
                      </a:schemeClr>
                    </a:solidFill>
                    <a:latin typeface="InterVariable"/>
                    <a:cs typeface="Times New Roman" panose="02020603050405020304" pitchFamily="18" charset="0"/>
                  </a:rPr>
                  <a:t> indicates that for a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1%</m:t>
                    </m:r>
                  </m:oMath>
                </a14:m>
                <a:r>
                  <a:rPr lang="en-US" altLang="zh-CN" sz="1400" dirty="0">
                    <a:solidFill>
                      <a:schemeClr val="accent5">
                        <a:lumMod val="50000"/>
                      </a:schemeClr>
                    </a:solidFill>
                    <a:latin typeface="InterVariable"/>
                    <a:cs typeface="Times New Roman" panose="02020603050405020304" pitchFamily="18" charset="0"/>
                  </a:rPr>
                  <a:t> change in Tesla's log price, BYD's log price changes by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0.897%</m:t>
                    </m:r>
                  </m:oMath>
                </a14:m>
                <a:r>
                  <a:rPr lang="en-US" altLang="zh-CN" sz="1400" dirty="0">
                    <a:solidFill>
                      <a:schemeClr val="accent5">
                        <a:lumMod val="50000"/>
                      </a:schemeClr>
                    </a:solidFill>
                    <a:latin typeface="InterVariable"/>
                    <a:cs typeface="Times New Roman" panose="02020603050405020304" pitchFamily="18" charset="0"/>
                  </a:rPr>
                  <a:t>.,The spread is then: </a:t>
                </a:r>
                <a14:m>
                  <m:oMath xmlns:m="http://schemas.openxmlformats.org/officeDocument/2006/math">
                    <m:sSub>
                      <m:sSubPr>
                        <m:ctrlPr>
                          <a:rPr lang="en-US" altLang="zh-CN" sz="1400" i="1" dirty="0" smtClean="0">
                            <a:solidFill>
                              <a:schemeClr val="accent5">
                                <a:lumMod val="50000"/>
                              </a:schemeClr>
                            </a:solidFill>
                            <a:latin typeface="InterVariable"/>
                            <a:cs typeface="Times New Roman" panose="02020603050405020304" pitchFamily="18" charset="0"/>
                          </a:rPr>
                        </m:ctrlPr>
                      </m:sSubPr>
                      <m:e>
                        <m:r>
                          <a:rPr lang="en-US" altLang="zh-CN" sz="1400" i="1" dirty="0" err="1">
                            <a:solidFill>
                              <a:schemeClr val="accent5">
                                <a:lumMod val="50000"/>
                              </a:schemeClr>
                            </a:solidFill>
                            <a:latin typeface="InterVariable"/>
                            <a:cs typeface="Times New Roman" panose="02020603050405020304" pitchFamily="18" charset="0"/>
                          </a:rPr>
                          <m:t>𝑍</m:t>
                        </m:r>
                      </m:e>
                      <m:sub>
                        <m:r>
                          <a:rPr lang="en-US" altLang="zh-CN" sz="1400" i="1" dirty="0" err="1">
                            <a:solidFill>
                              <a:schemeClr val="accent5">
                                <a:lumMod val="50000"/>
                              </a:schemeClr>
                            </a:solidFill>
                            <a:latin typeface="InterVariable"/>
                            <a:cs typeface="Times New Roman" panose="02020603050405020304" pitchFamily="18" charset="0"/>
                          </a:rPr>
                          <m:t>𝑡</m:t>
                        </m:r>
                      </m:sub>
                    </m:sSub>
                    <m:r>
                      <a:rPr lang="en-US" altLang="zh-CN" sz="1400" i="1" dirty="0">
                        <a:solidFill>
                          <a:schemeClr val="accent5">
                            <a:lumMod val="50000"/>
                          </a:schemeClr>
                        </a:solidFill>
                        <a:latin typeface="InterVariable"/>
                        <a:cs typeface="Times New Roman" panose="02020603050405020304" pitchFamily="18" charset="0"/>
                      </a:rPr>
                      <m:t>=</m:t>
                    </m:r>
                    <m:sSub>
                      <m:sSubPr>
                        <m:ctrlPr>
                          <a:rPr lang="en-US" altLang="zh-CN" sz="1400" i="1" dirty="0" err="1">
                            <a:solidFill>
                              <a:schemeClr val="accent5">
                                <a:lumMod val="50000"/>
                              </a:schemeClr>
                            </a:solidFill>
                            <a:latin typeface="InterVariable"/>
                            <a:cs typeface="Times New Roman" panose="02020603050405020304" pitchFamily="18" charset="0"/>
                          </a:rPr>
                        </m:ctrlPr>
                      </m:sSubPr>
                      <m:e>
                        <m:r>
                          <a:rPr lang="en-US" altLang="zh-CN" sz="1400" i="1" dirty="0" err="1">
                            <a:solidFill>
                              <a:schemeClr val="accent5">
                                <a:lumMod val="50000"/>
                              </a:schemeClr>
                            </a:solidFill>
                            <a:latin typeface="InterVariable"/>
                            <a:cs typeface="Times New Roman" panose="02020603050405020304" pitchFamily="18" charset="0"/>
                          </a:rPr>
                          <m:t>𝑋</m:t>
                        </m:r>
                      </m:e>
                      <m:sub>
                        <m:r>
                          <a:rPr lang="en-US" altLang="zh-CN" sz="1400" i="1" dirty="0" err="1">
                            <a:solidFill>
                              <a:schemeClr val="accent5">
                                <a:lumMod val="50000"/>
                              </a:schemeClr>
                            </a:solidFill>
                            <a:latin typeface="InterVariable"/>
                            <a:cs typeface="Times New Roman" panose="02020603050405020304" pitchFamily="18" charset="0"/>
                          </a:rPr>
                          <m:t>𝑡</m:t>
                        </m:r>
                      </m:sub>
                    </m:sSub>
                    <m:r>
                      <a:rPr lang="en-US" altLang="zh-CN" sz="1400" i="1" dirty="0">
                        <a:solidFill>
                          <a:schemeClr val="accent5">
                            <a:lumMod val="50000"/>
                          </a:schemeClr>
                        </a:solidFill>
                        <a:latin typeface="InterVariable"/>
                        <a:cs typeface="Times New Roman" panose="02020603050405020304" pitchFamily="18" charset="0"/>
                      </a:rPr>
                      <m:t>−</m:t>
                    </m:r>
                    <m:r>
                      <a:rPr lang="en-US" altLang="zh-CN" sz="1400" i="1" dirty="0">
                        <a:solidFill>
                          <a:schemeClr val="accent5">
                            <a:lumMod val="50000"/>
                          </a:schemeClr>
                        </a:solidFill>
                        <a:latin typeface="InterVariable"/>
                        <a:cs typeface="Times New Roman" panose="02020603050405020304" pitchFamily="18" charset="0"/>
                      </a:rPr>
                      <m:t>𝛽</m:t>
                    </m:r>
                    <m:sSub>
                      <m:sSubPr>
                        <m:ctrlPr>
                          <a:rPr lang="en-US" altLang="zh-CN" sz="1400" i="1" dirty="0" err="1">
                            <a:solidFill>
                              <a:schemeClr val="accent5">
                                <a:lumMod val="50000"/>
                              </a:schemeClr>
                            </a:solidFill>
                            <a:latin typeface="InterVariable"/>
                            <a:cs typeface="Times New Roman" panose="02020603050405020304" pitchFamily="18" charset="0"/>
                          </a:rPr>
                        </m:ctrlPr>
                      </m:sSubPr>
                      <m:e>
                        <m:r>
                          <a:rPr lang="en-US" altLang="zh-CN" sz="1400" i="1" dirty="0" err="1">
                            <a:solidFill>
                              <a:schemeClr val="accent5">
                                <a:lumMod val="50000"/>
                              </a:schemeClr>
                            </a:solidFill>
                            <a:latin typeface="InterVariable"/>
                            <a:cs typeface="Times New Roman" panose="02020603050405020304" pitchFamily="18" charset="0"/>
                          </a:rPr>
                          <m:t>𝑌</m:t>
                        </m:r>
                      </m:e>
                      <m:sub>
                        <m:r>
                          <a:rPr lang="en-US" altLang="zh-CN" sz="1400" i="1" dirty="0" err="1">
                            <a:solidFill>
                              <a:schemeClr val="accent5">
                                <a:lumMod val="50000"/>
                              </a:schemeClr>
                            </a:solidFill>
                            <a:latin typeface="InterVariable"/>
                            <a:cs typeface="Times New Roman" panose="02020603050405020304" pitchFamily="18" charset="0"/>
                          </a:rPr>
                          <m:t>𝑡</m:t>
                        </m:r>
                      </m:sub>
                    </m:sSub>
                  </m:oMath>
                </a14:m>
                <a:endParaRPr lang="zh-CN" altLang="en-US" sz="1400" dirty="0">
                  <a:solidFill>
                    <a:schemeClr val="accent5">
                      <a:lumMod val="50000"/>
                    </a:schemeClr>
                  </a:solidFill>
                  <a:latin typeface="InterVariable"/>
                  <a:cs typeface="Times New Roman" panose="02020603050405020304" pitchFamily="18" charset="0"/>
                </a:endParaRPr>
              </a:p>
            </p:txBody>
          </p:sp>
        </mc:Choice>
        <mc:Fallback>
          <p:sp>
            <p:nvSpPr>
              <p:cNvPr id="14" name="文本框 13">
                <a:extLst>
                  <a:ext uri="{FF2B5EF4-FFF2-40B4-BE49-F238E27FC236}">
                    <a16:creationId xmlns:a16="http://schemas.microsoft.com/office/drawing/2014/main" id="{E0388E9E-CC9F-CA23-3CE4-E68BDD2F3DDB}"/>
                  </a:ext>
                </a:extLst>
              </p:cNvPr>
              <p:cNvSpPr txBox="1">
                <a:spLocks noRot="1" noChangeAspect="1" noMove="1" noResize="1" noEditPoints="1" noAdjustHandles="1" noChangeArrowheads="1" noChangeShapeType="1" noTextEdit="1"/>
              </p:cNvSpPr>
              <p:nvPr/>
            </p:nvSpPr>
            <p:spPr>
              <a:xfrm>
                <a:off x="11518873" y="3052003"/>
                <a:ext cx="6106829" cy="523220"/>
              </a:xfrm>
              <a:prstGeom prst="rect">
                <a:avLst/>
              </a:prstGeom>
              <a:blipFill>
                <a:blip r:embed="rId5"/>
                <a:stretch>
                  <a:fillRect l="-300" t="-2353" r="-400" b="-117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AA21F4ED-E098-0F18-7ECB-34334A500ED0}"/>
                  </a:ext>
                </a:extLst>
              </p:cNvPr>
              <p:cNvSpPr txBox="1"/>
              <p:nvPr/>
            </p:nvSpPr>
            <p:spPr>
              <a:xfrm>
                <a:off x="5058421" y="4107686"/>
                <a:ext cx="5895257" cy="1600438"/>
              </a:xfrm>
              <a:prstGeom prst="rect">
                <a:avLst/>
              </a:prstGeom>
              <a:solidFill>
                <a:schemeClr val="accent6">
                  <a:lumMod val="20000"/>
                  <a:lumOff val="80000"/>
                </a:schemeClr>
              </a:solidFill>
            </p:spPr>
            <p:txBody>
              <a:bodyPr wrap="square">
                <a:spAutoFit/>
              </a:bodyPr>
              <a:lstStyle/>
              <a:p>
                <a:pPr marL="182563" indent="-182563" algn="just">
                  <a:buFont typeface="+mj-lt"/>
                  <a:buAutoNum type="arabicPeriod"/>
                </a:pPr>
                <a:r>
                  <a:rPr lang="en-US" altLang="zh-CN" sz="1400" dirty="0">
                    <a:solidFill>
                      <a:schemeClr val="accent5">
                        <a:lumMod val="50000"/>
                      </a:schemeClr>
                    </a:solidFill>
                    <a:latin typeface="InterVariable"/>
                    <a:cs typeface="Times New Roman" panose="02020603050405020304" pitchFamily="18" charset="0"/>
                  </a:rPr>
                  <a:t>For two series </a:t>
                </a:r>
                <a14:m>
                  <m:oMath xmlns:m="http://schemas.openxmlformats.org/officeDocument/2006/math">
                    <m:sSub>
                      <m:sSubPr>
                        <m:ctrlPr>
                          <a:rPr lang="en-US" altLang="zh-CN" sz="1400" i="1" dirty="0" smtClean="0">
                            <a:solidFill>
                              <a:schemeClr val="accent5">
                                <a:lumMod val="50000"/>
                              </a:schemeClr>
                            </a:solidFill>
                            <a:latin typeface="InterVariable"/>
                            <a:cs typeface="Times New Roman" panose="02020603050405020304" pitchFamily="18" charset="0"/>
                          </a:rPr>
                        </m:ctrlPr>
                      </m:sSubPr>
                      <m:e>
                        <m:r>
                          <a:rPr lang="en-US" altLang="zh-CN" sz="1400" i="1" dirty="0" err="1">
                            <a:solidFill>
                              <a:schemeClr val="accent5">
                                <a:lumMod val="50000"/>
                              </a:schemeClr>
                            </a:solidFill>
                            <a:latin typeface="InterVariable"/>
                            <a:cs typeface="Times New Roman" panose="02020603050405020304" pitchFamily="18" charset="0"/>
                          </a:rPr>
                          <m:t>𝑋</m:t>
                        </m:r>
                      </m:e>
                      <m:sub>
                        <m:r>
                          <a:rPr lang="en-US" altLang="zh-CN" sz="1400" i="1" dirty="0" err="1">
                            <a:solidFill>
                              <a:schemeClr val="accent5">
                                <a:lumMod val="50000"/>
                              </a:schemeClr>
                            </a:solidFill>
                            <a:latin typeface="InterVariable"/>
                            <a:cs typeface="Times New Roman" panose="02020603050405020304" pitchFamily="18" charset="0"/>
                          </a:rPr>
                          <m:t>𝑡</m:t>
                        </m:r>
                      </m:sub>
                    </m:sSub>
                  </m:oMath>
                </a14:m>
                <a:r>
                  <a:rPr lang="en-US" altLang="zh-CN" sz="1400" dirty="0">
                    <a:solidFill>
                      <a:schemeClr val="accent5">
                        <a:lumMod val="50000"/>
                      </a:schemeClr>
                    </a:solidFill>
                    <a:latin typeface="InterVariable"/>
                    <a:cs typeface="Times New Roman" panose="02020603050405020304" pitchFamily="18" charset="0"/>
                  </a:rPr>
                  <a:t> (BYD) and </a:t>
                </a:r>
                <a14:m>
                  <m:oMath xmlns:m="http://schemas.openxmlformats.org/officeDocument/2006/math">
                    <m:sSub>
                      <m:sSubPr>
                        <m:ctrlPr>
                          <a:rPr lang="en-US" altLang="zh-CN" sz="1400" i="1" dirty="0" smtClean="0">
                            <a:solidFill>
                              <a:schemeClr val="accent5">
                                <a:lumMod val="50000"/>
                              </a:schemeClr>
                            </a:solidFill>
                            <a:latin typeface="InterVariable"/>
                            <a:cs typeface="Times New Roman" panose="02020603050405020304" pitchFamily="18" charset="0"/>
                          </a:rPr>
                        </m:ctrlPr>
                      </m:sSubPr>
                      <m:e>
                        <m:r>
                          <a:rPr lang="en-US" altLang="zh-CN" sz="1400" i="1" dirty="0" err="1">
                            <a:solidFill>
                              <a:schemeClr val="accent5">
                                <a:lumMod val="50000"/>
                              </a:schemeClr>
                            </a:solidFill>
                            <a:latin typeface="InterVariable"/>
                            <a:cs typeface="Times New Roman" panose="02020603050405020304" pitchFamily="18" charset="0"/>
                          </a:rPr>
                          <m:t>𝑌</m:t>
                        </m:r>
                      </m:e>
                      <m:sub>
                        <m:r>
                          <a:rPr lang="en-US" altLang="zh-CN" sz="1400" i="1" dirty="0" err="1">
                            <a:solidFill>
                              <a:schemeClr val="accent5">
                                <a:lumMod val="50000"/>
                              </a:schemeClr>
                            </a:solidFill>
                            <a:latin typeface="InterVariable"/>
                            <a:cs typeface="Times New Roman" panose="02020603050405020304" pitchFamily="18" charset="0"/>
                          </a:rPr>
                          <m:t>𝑡</m:t>
                        </m:r>
                      </m:sub>
                    </m:sSub>
                  </m:oMath>
                </a14:m>
                <a:r>
                  <a:rPr lang="en-US" altLang="zh-CN" sz="1400" dirty="0">
                    <a:solidFill>
                      <a:schemeClr val="accent5">
                        <a:lumMod val="50000"/>
                      </a:schemeClr>
                    </a:solidFill>
                    <a:latin typeface="InterVariable"/>
                    <a:cs typeface="Times New Roman" panose="02020603050405020304" pitchFamily="18" charset="0"/>
                  </a:rPr>
                  <a:t> (Tesla), cointegration implies there exists a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𝛽</m:t>
                    </m:r>
                  </m:oMath>
                </a14:m>
                <a:r>
                  <a:rPr lang="en-US" altLang="zh-CN" sz="1400" dirty="0">
                    <a:solidFill>
                      <a:schemeClr val="accent5">
                        <a:lumMod val="50000"/>
                      </a:schemeClr>
                    </a:solidFill>
                    <a:latin typeface="InterVariable"/>
                    <a:cs typeface="Times New Roman" panose="02020603050405020304" pitchFamily="18" charset="0"/>
                  </a:rPr>
                  <a:t> such that the spread </a:t>
                </a:r>
                <a14:m>
                  <m:oMath xmlns:m="http://schemas.openxmlformats.org/officeDocument/2006/math">
                    <m:sSub>
                      <m:sSubPr>
                        <m:ctrlPr>
                          <a:rPr lang="en-US" altLang="zh-CN" sz="1400" i="1" dirty="0" smtClean="0">
                            <a:solidFill>
                              <a:schemeClr val="accent5">
                                <a:lumMod val="50000"/>
                              </a:schemeClr>
                            </a:solidFill>
                            <a:latin typeface="InterVariable"/>
                            <a:cs typeface="Times New Roman" panose="02020603050405020304" pitchFamily="18" charset="0"/>
                          </a:rPr>
                        </m:ctrlPr>
                      </m:sSubPr>
                      <m:e>
                        <m:r>
                          <a:rPr lang="en-US" altLang="zh-CN" sz="1400" i="1" dirty="0" err="1">
                            <a:solidFill>
                              <a:schemeClr val="accent5">
                                <a:lumMod val="50000"/>
                              </a:schemeClr>
                            </a:solidFill>
                            <a:latin typeface="InterVariable"/>
                            <a:cs typeface="Times New Roman" panose="02020603050405020304" pitchFamily="18" charset="0"/>
                          </a:rPr>
                          <m:t>𝑍</m:t>
                        </m:r>
                      </m:e>
                      <m:sub>
                        <m:r>
                          <a:rPr lang="en-US" altLang="zh-CN" sz="1400" i="1" dirty="0" err="1">
                            <a:solidFill>
                              <a:schemeClr val="accent5">
                                <a:lumMod val="50000"/>
                              </a:schemeClr>
                            </a:solidFill>
                            <a:latin typeface="InterVariable"/>
                            <a:cs typeface="Times New Roman" panose="02020603050405020304" pitchFamily="18" charset="0"/>
                          </a:rPr>
                          <m:t>𝑡</m:t>
                        </m:r>
                      </m:sub>
                    </m:sSub>
                    <m:r>
                      <a:rPr lang="en-US" altLang="zh-CN" sz="1400" i="1" dirty="0">
                        <a:solidFill>
                          <a:schemeClr val="accent5">
                            <a:lumMod val="50000"/>
                          </a:schemeClr>
                        </a:solidFill>
                        <a:latin typeface="InterVariable"/>
                        <a:cs typeface="Times New Roman" panose="02020603050405020304" pitchFamily="18" charset="0"/>
                      </a:rPr>
                      <m:t>=</m:t>
                    </m:r>
                    <m:sSub>
                      <m:sSubPr>
                        <m:ctrlPr>
                          <a:rPr lang="en-US" altLang="zh-CN" sz="1400" i="1" dirty="0" err="1">
                            <a:solidFill>
                              <a:schemeClr val="accent5">
                                <a:lumMod val="50000"/>
                              </a:schemeClr>
                            </a:solidFill>
                            <a:latin typeface="InterVariable"/>
                            <a:cs typeface="Times New Roman" panose="02020603050405020304" pitchFamily="18" charset="0"/>
                          </a:rPr>
                        </m:ctrlPr>
                      </m:sSubPr>
                      <m:e>
                        <m:r>
                          <a:rPr lang="en-US" altLang="zh-CN" sz="1400" i="1" dirty="0" err="1">
                            <a:solidFill>
                              <a:schemeClr val="accent5">
                                <a:lumMod val="50000"/>
                              </a:schemeClr>
                            </a:solidFill>
                            <a:latin typeface="InterVariable"/>
                            <a:cs typeface="Times New Roman" panose="02020603050405020304" pitchFamily="18" charset="0"/>
                          </a:rPr>
                          <m:t>𝑋</m:t>
                        </m:r>
                      </m:e>
                      <m:sub>
                        <m:r>
                          <a:rPr lang="en-US" altLang="zh-CN" sz="1400" i="1" dirty="0" err="1">
                            <a:solidFill>
                              <a:schemeClr val="accent5">
                                <a:lumMod val="50000"/>
                              </a:schemeClr>
                            </a:solidFill>
                            <a:latin typeface="InterVariable"/>
                            <a:cs typeface="Times New Roman" panose="02020603050405020304" pitchFamily="18" charset="0"/>
                          </a:rPr>
                          <m:t>𝑡</m:t>
                        </m:r>
                      </m:sub>
                    </m:sSub>
                    <m:r>
                      <a:rPr lang="en-US" altLang="zh-CN" sz="1400" i="1" dirty="0">
                        <a:solidFill>
                          <a:schemeClr val="accent5">
                            <a:lumMod val="50000"/>
                          </a:schemeClr>
                        </a:solidFill>
                        <a:latin typeface="InterVariable"/>
                        <a:cs typeface="Times New Roman" panose="02020603050405020304" pitchFamily="18" charset="0"/>
                      </a:rPr>
                      <m:t>−</m:t>
                    </m:r>
                    <m:r>
                      <a:rPr lang="en-US" altLang="zh-CN" sz="1400" i="1" dirty="0">
                        <a:solidFill>
                          <a:schemeClr val="accent5">
                            <a:lumMod val="50000"/>
                          </a:schemeClr>
                        </a:solidFill>
                        <a:latin typeface="InterVariable"/>
                        <a:cs typeface="Times New Roman" panose="02020603050405020304" pitchFamily="18" charset="0"/>
                      </a:rPr>
                      <m:t>𝛽</m:t>
                    </m:r>
                    <m:sSub>
                      <m:sSubPr>
                        <m:ctrlPr>
                          <a:rPr lang="en-US" altLang="zh-CN" sz="1400" i="1" dirty="0" err="1">
                            <a:solidFill>
                              <a:schemeClr val="accent5">
                                <a:lumMod val="50000"/>
                              </a:schemeClr>
                            </a:solidFill>
                            <a:latin typeface="InterVariable"/>
                            <a:cs typeface="Times New Roman" panose="02020603050405020304" pitchFamily="18" charset="0"/>
                          </a:rPr>
                        </m:ctrlPr>
                      </m:sSubPr>
                      <m:e>
                        <m:r>
                          <a:rPr lang="en-US" altLang="zh-CN" sz="1400" i="1" dirty="0" err="1">
                            <a:solidFill>
                              <a:schemeClr val="accent5">
                                <a:lumMod val="50000"/>
                              </a:schemeClr>
                            </a:solidFill>
                            <a:latin typeface="InterVariable"/>
                            <a:cs typeface="Times New Roman" panose="02020603050405020304" pitchFamily="18" charset="0"/>
                          </a:rPr>
                          <m:t>𝑌</m:t>
                        </m:r>
                      </m:e>
                      <m:sub>
                        <m:r>
                          <a:rPr lang="en-US" altLang="zh-CN" sz="1400" i="1" dirty="0" err="1">
                            <a:solidFill>
                              <a:schemeClr val="accent5">
                                <a:lumMod val="50000"/>
                              </a:schemeClr>
                            </a:solidFill>
                            <a:latin typeface="InterVariable"/>
                            <a:cs typeface="Times New Roman" panose="02020603050405020304" pitchFamily="18" charset="0"/>
                          </a:rPr>
                          <m:t>𝑡</m:t>
                        </m:r>
                      </m:sub>
                    </m:sSub>
                  </m:oMath>
                </a14:m>
                <a:r>
                  <a:rPr lang="en-US" altLang="zh-CN" sz="1400" dirty="0">
                    <a:solidFill>
                      <a:schemeClr val="accent5">
                        <a:lumMod val="50000"/>
                      </a:schemeClr>
                    </a:solidFill>
                    <a:latin typeface="InterVariable"/>
                    <a:cs typeface="Times New Roman" panose="02020603050405020304" pitchFamily="18" charset="0"/>
                  </a:rPr>
                  <a:t> is stationary. The CADF test regresses </a:t>
                </a:r>
                <a14:m>
                  <m:oMath xmlns:m="http://schemas.openxmlformats.org/officeDocument/2006/math">
                    <m:sSub>
                      <m:sSubPr>
                        <m:ctrlPr>
                          <a:rPr lang="en-US" altLang="zh-CN" sz="1400" i="1" dirty="0" smtClean="0">
                            <a:solidFill>
                              <a:schemeClr val="accent5">
                                <a:lumMod val="50000"/>
                              </a:schemeClr>
                            </a:solidFill>
                            <a:latin typeface="InterVariable"/>
                            <a:cs typeface="Times New Roman" panose="02020603050405020304" pitchFamily="18" charset="0"/>
                          </a:rPr>
                        </m:ctrlPr>
                      </m:sSubPr>
                      <m:e>
                        <m:r>
                          <a:rPr lang="en-US" altLang="zh-CN" sz="1400" i="1" dirty="0" err="1">
                            <a:solidFill>
                              <a:schemeClr val="accent5">
                                <a:lumMod val="50000"/>
                              </a:schemeClr>
                            </a:solidFill>
                            <a:latin typeface="InterVariable"/>
                            <a:cs typeface="Times New Roman" panose="02020603050405020304" pitchFamily="18" charset="0"/>
                          </a:rPr>
                          <m:t>𝑋</m:t>
                        </m:r>
                      </m:e>
                      <m:sub>
                        <m:r>
                          <a:rPr lang="en-US" altLang="zh-CN" sz="1400" i="1" dirty="0" err="1">
                            <a:solidFill>
                              <a:schemeClr val="accent5">
                                <a:lumMod val="50000"/>
                              </a:schemeClr>
                            </a:solidFill>
                            <a:latin typeface="InterVariable"/>
                            <a:cs typeface="Times New Roman" panose="02020603050405020304" pitchFamily="18" charset="0"/>
                          </a:rPr>
                          <m:t>𝑡</m:t>
                        </m:r>
                      </m:sub>
                    </m:sSub>
                  </m:oMath>
                </a14:m>
                <a:r>
                  <a:rPr lang="en-US" altLang="zh-CN" sz="1400" dirty="0">
                    <a:solidFill>
                      <a:schemeClr val="accent5">
                        <a:lumMod val="50000"/>
                      </a:schemeClr>
                    </a:solidFill>
                    <a:latin typeface="InterVariable"/>
                    <a:cs typeface="Times New Roman" panose="02020603050405020304" pitchFamily="18" charset="0"/>
                  </a:rPr>
                  <a:t> on </a:t>
                </a:r>
                <a14:m>
                  <m:oMath xmlns:m="http://schemas.openxmlformats.org/officeDocument/2006/math">
                    <m:sSub>
                      <m:sSubPr>
                        <m:ctrlPr>
                          <a:rPr lang="en-US" altLang="zh-CN" sz="1400" i="1" dirty="0" smtClean="0">
                            <a:solidFill>
                              <a:schemeClr val="accent5">
                                <a:lumMod val="50000"/>
                              </a:schemeClr>
                            </a:solidFill>
                            <a:latin typeface="InterVariable"/>
                            <a:cs typeface="Times New Roman" panose="02020603050405020304" pitchFamily="18" charset="0"/>
                          </a:rPr>
                        </m:ctrlPr>
                      </m:sSubPr>
                      <m:e>
                        <m:r>
                          <a:rPr lang="en-US" altLang="zh-CN" sz="1400" i="1" dirty="0" err="1">
                            <a:solidFill>
                              <a:schemeClr val="accent5">
                                <a:lumMod val="50000"/>
                              </a:schemeClr>
                            </a:solidFill>
                            <a:latin typeface="InterVariable"/>
                            <a:cs typeface="Times New Roman" panose="02020603050405020304" pitchFamily="18" charset="0"/>
                          </a:rPr>
                          <m:t>𝑌</m:t>
                        </m:r>
                      </m:e>
                      <m:sub>
                        <m:r>
                          <a:rPr lang="en-US" altLang="zh-CN" sz="1400" i="1" dirty="0" err="1">
                            <a:solidFill>
                              <a:schemeClr val="accent5">
                                <a:lumMod val="50000"/>
                              </a:schemeClr>
                            </a:solidFill>
                            <a:latin typeface="InterVariable"/>
                            <a:cs typeface="Times New Roman" panose="02020603050405020304" pitchFamily="18" charset="0"/>
                          </a:rPr>
                          <m:t>𝑡</m:t>
                        </m:r>
                      </m:sub>
                    </m:sSub>
                  </m:oMath>
                </a14:m>
                <a:r>
                  <a:rPr lang="en-US" altLang="zh-CN" sz="1400" dirty="0">
                    <a:solidFill>
                      <a:schemeClr val="accent5">
                        <a:lumMod val="50000"/>
                      </a:schemeClr>
                    </a:solidFill>
                    <a:latin typeface="InterVariable"/>
                    <a:cs typeface="Times New Roman" panose="02020603050405020304" pitchFamily="18" charset="0"/>
                  </a:rPr>
                  <a:t> to estimate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𝛽</m:t>
                    </m:r>
                  </m:oMath>
                </a14:m>
                <a:r>
                  <a:rPr lang="en-US" altLang="zh-CN" sz="1400" dirty="0">
                    <a:solidFill>
                      <a:schemeClr val="accent5">
                        <a:lumMod val="50000"/>
                      </a:schemeClr>
                    </a:solidFill>
                    <a:latin typeface="InterVariable"/>
                    <a:cs typeface="Times New Roman" panose="02020603050405020304" pitchFamily="18" charset="0"/>
                  </a:rPr>
                  <a:t> (hedge ratio) and tests the stationarity of the residuals</a:t>
                </a:r>
              </a:p>
              <a:p>
                <a:pPr marL="182563" indent="-182563" algn="just">
                  <a:buFont typeface="+mj-lt"/>
                  <a:buAutoNum type="arabicPeriod"/>
                </a:pPr>
                <a:endParaRPr lang="en-US" altLang="zh-CN" sz="1400" dirty="0">
                  <a:solidFill>
                    <a:schemeClr val="accent5">
                      <a:lumMod val="50000"/>
                    </a:schemeClr>
                  </a:solidFill>
                  <a:latin typeface="InterVariable"/>
                  <a:cs typeface="Times New Roman" panose="02020603050405020304" pitchFamily="18" charset="0"/>
                </a:endParaRPr>
              </a:p>
              <a:p>
                <a:pPr marL="182563" indent="-182563" algn="just">
                  <a:buFont typeface="+mj-lt"/>
                  <a:buAutoNum type="arabicPeriod"/>
                </a:pPr>
                <a:r>
                  <a:rPr lang="en-US" altLang="zh-CN" sz="1400" dirty="0">
                    <a:solidFill>
                      <a:schemeClr val="accent5">
                        <a:lumMod val="50000"/>
                      </a:schemeClr>
                    </a:solidFill>
                    <a:latin typeface="InterVariable"/>
                    <a:cs typeface="Times New Roman" panose="02020603050405020304" pitchFamily="18" charset="0"/>
                  </a:rPr>
                  <a:t>. Applied to the spread </a:t>
                </a:r>
                <a14:m>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𝑍</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sz="1400" dirty="0">
                    <a:solidFill>
                      <a:schemeClr val="accent5">
                        <a:lumMod val="50000"/>
                      </a:schemeClr>
                    </a:solidFill>
                    <a:latin typeface="InterVariable"/>
                    <a:cs typeface="Times New Roman" panose="02020603050405020304" pitchFamily="18" charset="0"/>
                  </a:rPr>
                  <a:t>, this tests for stationarity. A stationary spread (p-value &lt;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0.05</m:t>
                    </m:r>
                  </m:oMath>
                </a14:m>
                <a:r>
                  <a:rPr lang="en-US" altLang="zh-CN" sz="1400" dirty="0">
                    <a:solidFill>
                      <a:schemeClr val="accent5">
                        <a:lumMod val="50000"/>
                      </a:schemeClr>
                    </a:solidFill>
                    <a:latin typeface="InterVariable"/>
                    <a:cs typeface="Times New Roman" panose="02020603050405020304" pitchFamily="18" charset="0"/>
                  </a:rPr>
                  <a:t>) suggests mean-reverting behavior, crucial for pairs trading. The test statistic is compared to critical values.</a:t>
                </a:r>
                <a:endParaRPr lang="zh-CN" altLang="en-US" sz="1400" dirty="0">
                  <a:solidFill>
                    <a:schemeClr val="accent5">
                      <a:lumMod val="50000"/>
                    </a:schemeClr>
                  </a:solidFill>
                  <a:latin typeface="InterVariable"/>
                  <a:cs typeface="Times New Roman" panose="02020603050405020304" pitchFamily="18" charset="0"/>
                </a:endParaRPr>
              </a:p>
            </p:txBody>
          </p:sp>
        </mc:Choice>
        <mc:Fallback>
          <p:sp>
            <p:nvSpPr>
              <p:cNvPr id="15" name="文本框 14">
                <a:extLst>
                  <a:ext uri="{FF2B5EF4-FFF2-40B4-BE49-F238E27FC236}">
                    <a16:creationId xmlns:a16="http://schemas.microsoft.com/office/drawing/2014/main" id="{AA21F4ED-E098-0F18-7ECB-34334A500ED0}"/>
                  </a:ext>
                </a:extLst>
              </p:cNvPr>
              <p:cNvSpPr txBox="1">
                <a:spLocks noRot="1" noChangeAspect="1" noMove="1" noResize="1" noEditPoints="1" noAdjustHandles="1" noChangeArrowheads="1" noChangeShapeType="1" noTextEdit="1"/>
              </p:cNvSpPr>
              <p:nvPr/>
            </p:nvSpPr>
            <p:spPr>
              <a:xfrm>
                <a:off x="5058421" y="4107686"/>
                <a:ext cx="5895257" cy="1600438"/>
              </a:xfrm>
              <a:prstGeom prst="rect">
                <a:avLst/>
              </a:prstGeom>
              <a:blipFill>
                <a:blip r:embed="rId6"/>
                <a:stretch>
                  <a:fillRect l="-414" t="-1145" r="-310" b="-30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75BBFDCB-6A80-D61A-D415-8E354DFBECA6}"/>
                  </a:ext>
                </a:extLst>
              </p:cNvPr>
              <p:cNvSpPr txBox="1"/>
              <p:nvPr/>
            </p:nvSpPr>
            <p:spPr>
              <a:xfrm>
                <a:off x="11534113" y="3847430"/>
                <a:ext cx="6106829" cy="2031325"/>
              </a:xfrm>
              <a:prstGeom prst="rect">
                <a:avLst/>
              </a:prstGeom>
              <a:solidFill>
                <a:schemeClr val="accent6">
                  <a:lumMod val="20000"/>
                  <a:lumOff val="80000"/>
                </a:schemeClr>
              </a:solidFill>
            </p:spPr>
            <p:txBody>
              <a:bodyPr wrap="square">
                <a:spAutoFit/>
              </a:bodyPr>
              <a:lstStyle/>
              <a:p>
                <a:pPr marL="182563" indent="-182563" algn="just">
                  <a:buFont typeface="+mj-lt"/>
                  <a:buAutoNum type="arabicPeriod"/>
                </a:pPr>
                <a:r>
                  <a:rPr lang="en-US" altLang="zh-CN" sz="1400" dirty="0">
                    <a:solidFill>
                      <a:schemeClr val="accent5">
                        <a:lumMod val="50000"/>
                      </a:schemeClr>
                    </a:solidFill>
                    <a:latin typeface="InterVariable"/>
                    <a:cs typeface="Times New Roman" panose="02020603050405020304" pitchFamily="18" charset="0"/>
                  </a:rPr>
                  <a:t>The test statistic (</a:t>
                </a:r>
                <a14:m>
                  <m:oMath xmlns:m="http://schemas.openxmlformats.org/officeDocument/2006/math">
                    <m:r>
                      <a:rPr lang="en-US" altLang="zh-CN" sz="1400" dirty="0">
                        <a:solidFill>
                          <a:schemeClr val="accent5">
                            <a:lumMod val="50000"/>
                          </a:schemeClr>
                        </a:solidFill>
                        <a:latin typeface="InterVariable"/>
                        <a:cs typeface="Times New Roman" panose="02020603050405020304" pitchFamily="18" charset="0"/>
                      </a:rPr>
                      <m:t>−3.273</m:t>
                    </m:r>
                  </m:oMath>
                </a14:m>
                <a:r>
                  <a:rPr lang="en-US" altLang="zh-CN" sz="1400" dirty="0">
                    <a:solidFill>
                      <a:schemeClr val="accent5">
                        <a:lumMod val="50000"/>
                      </a:schemeClr>
                    </a:solidFill>
                    <a:latin typeface="InterVariable"/>
                    <a:cs typeface="Times New Roman" panose="02020603050405020304" pitchFamily="18" charset="0"/>
                  </a:rPr>
                  <a:t>) is more negative than the </a:t>
                </a:r>
                <a14:m>
                  <m:oMath xmlns:m="http://schemas.openxmlformats.org/officeDocument/2006/math">
                    <m:r>
                      <a:rPr lang="en-US" altLang="zh-CN" sz="1400" dirty="0">
                        <a:solidFill>
                          <a:schemeClr val="accent5">
                            <a:lumMod val="50000"/>
                          </a:schemeClr>
                        </a:solidFill>
                        <a:latin typeface="InterVariable"/>
                        <a:cs typeface="Times New Roman" panose="02020603050405020304" pitchFamily="18" charset="0"/>
                      </a:rPr>
                      <m:t>10%</m:t>
                    </m:r>
                  </m:oMath>
                </a14:m>
                <a:r>
                  <a:rPr lang="en-US" altLang="zh-CN" sz="1400" dirty="0">
                    <a:solidFill>
                      <a:schemeClr val="accent5">
                        <a:lumMod val="50000"/>
                      </a:schemeClr>
                    </a:solidFill>
                    <a:latin typeface="InterVariable"/>
                    <a:cs typeface="Times New Roman" panose="02020603050405020304" pitchFamily="18" charset="0"/>
                  </a:rPr>
                  <a:t> critical value (</a:t>
                </a:r>
                <a14:m>
                  <m:oMath xmlns:m="http://schemas.openxmlformats.org/officeDocument/2006/math">
                    <m:r>
                      <a:rPr lang="en-US" altLang="zh-CN" sz="1400" dirty="0">
                        <a:solidFill>
                          <a:schemeClr val="accent5">
                            <a:lumMod val="50000"/>
                          </a:schemeClr>
                        </a:solidFill>
                        <a:latin typeface="InterVariable"/>
                        <a:cs typeface="Times New Roman" panose="02020603050405020304" pitchFamily="18" charset="0"/>
                      </a:rPr>
                      <m:t>−2.862</m:t>
                    </m:r>
                  </m:oMath>
                </a14:m>
                <a:r>
                  <a:rPr lang="en-US" altLang="zh-CN" sz="1400" dirty="0">
                    <a:solidFill>
                      <a:schemeClr val="accent5">
                        <a:lumMod val="50000"/>
                      </a:schemeClr>
                    </a:solidFill>
                    <a:latin typeface="InterVariable"/>
                    <a:cs typeface="Times New Roman" panose="02020603050405020304" pitchFamily="18" charset="0"/>
                  </a:rPr>
                  <a:t>) but less negative than the </a:t>
                </a:r>
                <a14:m>
                  <m:oMath xmlns:m="http://schemas.openxmlformats.org/officeDocument/2006/math">
                    <m:r>
                      <a:rPr lang="en-US" altLang="zh-CN" sz="1400" dirty="0">
                        <a:solidFill>
                          <a:schemeClr val="accent5">
                            <a:lumMod val="50000"/>
                          </a:schemeClr>
                        </a:solidFill>
                        <a:latin typeface="InterVariable"/>
                        <a:cs typeface="Times New Roman" panose="02020603050405020304" pitchFamily="18" charset="0"/>
                      </a:rPr>
                      <m:t>5%</m:t>
                    </m:r>
                  </m:oMath>
                </a14:m>
                <a:r>
                  <a:rPr lang="en-US" altLang="zh-CN" sz="1400" dirty="0">
                    <a:solidFill>
                      <a:schemeClr val="accent5">
                        <a:lumMod val="50000"/>
                      </a:schemeClr>
                    </a:solidFill>
                    <a:latin typeface="InterVariable"/>
                    <a:cs typeface="Times New Roman" panose="02020603050405020304" pitchFamily="18" charset="0"/>
                  </a:rPr>
                  <a:t> critical value (</a:t>
                </a:r>
                <a14:m>
                  <m:oMath xmlns:m="http://schemas.openxmlformats.org/officeDocument/2006/math">
                    <m:r>
                      <a:rPr lang="en-US" altLang="zh-CN" sz="1400" dirty="0">
                        <a:solidFill>
                          <a:schemeClr val="accent5">
                            <a:lumMod val="50000"/>
                          </a:schemeClr>
                        </a:solidFill>
                        <a:latin typeface="InterVariable"/>
                        <a:cs typeface="Times New Roman" panose="02020603050405020304" pitchFamily="18" charset="0"/>
                      </a:rPr>
                      <m:t>−3.339</m:t>
                    </m:r>
                  </m:oMath>
                </a14:m>
                <a:r>
                  <a:rPr lang="en-US" altLang="zh-CN" sz="1400" dirty="0">
                    <a:solidFill>
                      <a:schemeClr val="accent5">
                        <a:lumMod val="50000"/>
                      </a:schemeClr>
                    </a:solidFill>
                    <a:latin typeface="InterVariable"/>
                    <a:cs typeface="Times New Roman" panose="02020603050405020304" pitchFamily="18" charset="0"/>
                  </a:rPr>
                  <a:t>). The p-value (</a:t>
                </a:r>
                <a14:m>
                  <m:oMath xmlns:m="http://schemas.openxmlformats.org/officeDocument/2006/math">
                    <m:r>
                      <a:rPr lang="en-US" altLang="zh-CN" sz="1400" dirty="0">
                        <a:solidFill>
                          <a:schemeClr val="accent5">
                            <a:lumMod val="50000"/>
                          </a:schemeClr>
                        </a:solidFill>
                        <a:latin typeface="InterVariable"/>
                        <a:cs typeface="Times New Roman" panose="02020603050405020304" pitchFamily="18" charset="0"/>
                      </a:rPr>
                      <m:t>0.0585</m:t>
                    </m:r>
                  </m:oMath>
                </a14:m>
                <a:r>
                  <a:rPr lang="en-US" altLang="zh-CN" sz="1400" dirty="0">
                    <a:solidFill>
                      <a:schemeClr val="accent5">
                        <a:lumMod val="50000"/>
                      </a:schemeClr>
                    </a:solidFill>
                    <a:latin typeface="InterVariable"/>
                    <a:cs typeface="Times New Roman" panose="02020603050405020304" pitchFamily="18" charset="0"/>
                  </a:rPr>
                  <a:t>) is slightly above </a:t>
                </a:r>
                <a14:m>
                  <m:oMath xmlns:m="http://schemas.openxmlformats.org/officeDocument/2006/math">
                    <m:r>
                      <a:rPr lang="en-US" altLang="zh-CN" sz="1400" dirty="0">
                        <a:solidFill>
                          <a:schemeClr val="accent5">
                            <a:lumMod val="50000"/>
                          </a:schemeClr>
                        </a:solidFill>
                        <a:latin typeface="InterVariable"/>
                        <a:cs typeface="Times New Roman" panose="02020603050405020304" pitchFamily="18" charset="0"/>
                      </a:rPr>
                      <m:t>0.05</m:t>
                    </m:r>
                  </m:oMath>
                </a14:m>
                <a:r>
                  <a:rPr lang="en-US" altLang="zh-CN" sz="1400" dirty="0">
                    <a:solidFill>
                      <a:schemeClr val="accent5">
                        <a:lumMod val="50000"/>
                      </a:schemeClr>
                    </a:solidFill>
                    <a:latin typeface="InterVariable"/>
                    <a:cs typeface="Times New Roman" panose="02020603050405020304" pitchFamily="18" charset="0"/>
                  </a:rPr>
                  <a:t>, suggesting that it’s moderate evidence of cointegration between BYD and Tesla, meaning their prices have a stable long-term relationship, which is a prerequisite for pairs trading.</a:t>
                </a:r>
              </a:p>
              <a:p>
                <a:pPr marL="182563" indent="-182563" algn="just">
                  <a:buFont typeface="+mj-lt"/>
                  <a:buAutoNum type="arabicPeriod"/>
                </a:pPr>
                <a:endParaRPr lang="en-US" altLang="zh-CN" sz="1400" dirty="0">
                  <a:solidFill>
                    <a:schemeClr val="accent5">
                      <a:lumMod val="50000"/>
                    </a:schemeClr>
                  </a:solidFill>
                  <a:latin typeface="InterVariable"/>
                  <a:cs typeface="Times New Roman" panose="02020603050405020304" pitchFamily="18" charset="0"/>
                </a:endParaRPr>
              </a:p>
              <a:p>
                <a:pPr marL="182563" indent="-182563" algn="just">
                  <a:buFont typeface="+mj-lt"/>
                  <a:buAutoNum type="arabicPeriod"/>
                </a:pPr>
                <a:r>
                  <a:rPr lang="en-US" altLang="zh-CN" sz="1400" dirty="0">
                    <a:solidFill>
                      <a:schemeClr val="accent5">
                        <a:lumMod val="50000"/>
                      </a:schemeClr>
                    </a:solidFill>
                    <a:latin typeface="InterVariable"/>
                    <a:cs typeface="Times New Roman" panose="02020603050405020304" pitchFamily="18" charset="0"/>
                  </a:rPr>
                  <a:t>The ADF test on the spread (statistic = </a:t>
                </a:r>
                <a14:m>
                  <m:oMath xmlns:m="http://schemas.openxmlformats.org/officeDocument/2006/math">
                    <m:r>
                      <a:rPr lang="en-US" altLang="zh-CN" sz="1400" dirty="0">
                        <a:solidFill>
                          <a:schemeClr val="accent5">
                            <a:lumMod val="50000"/>
                          </a:schemeClr>
                        </a:solidFill>
                        <a:latin typeface="InterVariable"/>
                        <a:cs typeface="Times New Roman" panose="02020603050405020304" pitchFamily="18" charset="0"/>
                      </a:rPr>
                      <m:t>−3.270</m:t>
                    </m:r>
                  </m:oMath>
                </a14:m>
                <a:r>
                  <a:rPr lang="en-US" altLang="zh-CN" sz="1400" dirty="0">
                    <a:solidFill>
                      <a:schemeClr val="accent5">
                        <a:lumMod val="50000"/>
                      </a:schemeClr>
                    </a:solidFill>
                    <a:latin typeface="InterVariable"/>
                    <a:cs typeface="Times New Roman" panose="02020603050405020304" pitchFamily="18" charset="0"/>
                  </a:rPr>
                  <a:t>, p-value = </a:t>
                </a:r>
                <a14:m>
                  <m:oMath xmlns:m="http://schemas.openxmlformats.org/officeDocument/2006/math">
                    <m:r>
                      <a:rPr lang="en-US" altLang="zh-CN" sz="1400" dirty="0">
                        <a:solidFill>
                          <a:schemeClr val="accent5">
                            <a:lumMod val="50000"/>
                          </a:schemeClr>
                        </a:solidFill>
                        <a:latin typeface="InterVariable"/>
                        <a:cs typeface="Times New Roman" panose="02020603050405020304" pitchFamily="18" charset="0"/>
                      </a:rPr>
                      <m:t>0.0163</m:t>
                    </m:r>
                  </m:oMath>
                </a14:m>
                <a:r>
                  <a:rPr lang="en-US" altLang="zh-CN" sz="1400" dirty="0">
                    <a:solidFill>
                      <a:schemeClr val="accent5">
                        <a:lumMod val="50000"/>
                      </a:schemeClr>
                    </a:solidFill>
                    <a:latin typeface="InterVariable"/>
                    <a:cs typeface="Times New Roman" panose="02020603050405020304" pitchFamily="18" charset="0"/>
                  </a:rPr>
                  <a:t>) indicates the spread is stationary at the </a:t>
                </a:r>
                <a14:m>
                  <m:oMath xmlns:m="http://schemas.openxmlformats.org/officeDocument/2006/math">
                    <m:r>
                      <a:rPr lang="en-US" altLang="zh-CN" sz="1400" dirty="0">
                        <a:solidFill>
                          <a:schemeClr val="accent5">
                            <a:lumMod val="50000"/>
                          </a:schemeClr>
                        </a:solidFill>
                        <a:latin typeface="InterVariable"/>
                        <a:cs typeface="Times New Roman" panose="02020603050405020304" pitchFamily="18" charset="0"/>
                      </a:rPr>
                      <m:t>5%</m:t>
                    </m:r>
                  </m:oMath>
                </a14:m>
                <a:r>
                  <a:rPr lang="en-US" altLang="zh-CN" sz="1400" dirty="0">
                    <a:solidFill>
                      <a:schemeClr val="accent5">
                        <a:lumMod val="50000"/>
                      </a:schemeClr>
                    </a:solidFill>
                    <a:latin typeface="InterVariable"/>
                    <a:cs typeface="Times New Roman" panose="02020603050405020304" pitchFamily="18" charset="0"/>
                  </a:rPr>
                  <a:t> level (critical value = </a:t>
                </a:r>
                <a14:m>
                  <m:oMath xmlns:m="http://schemas.openxmlformats.org/officeDocument/2006/math">
                    <m:r>
                      <a:rPr lang="en-US" altLang="zh-CN" sz="1400" dirty="0">
                        <a:solidFill>
                          <a:schemeClr val="accent5">
                            <a:lumMod val="50000"/>
                          </a:schemeClr>
                        </a:solidFill>
                        <a:latin typeface="InterVariable"/>
                        <a:cs typeface="Times New Roman" panose="02020603050405020304" pitchFamily="18" charset="0"/>
                      </a:rPr>
                      <m:t>−2.863</m:t>
                    </m:r>
                  </m:oMath>
                </a14:m>
                <a:r>
                  <a:rPr lang="en-US" altLang="zh-CN" sz="1400" dirty="0">
                    <a:solidFill>
                      <a:schemeClr val="accent5">
                        <a:lumMod val="50000"/>
                      </a:schemeClr>
                    </a:solidFill>
                    <a:latin typeface="InterVariable"/>
                    <a:cs typeface="Times New Roman" panose="02020603050405020304" pitchFamily="18" charset="0"/>
                  </a:rPr>
                  <a:t>), confirming mean-reverting behavior suitable for pairs trading.</a:t>
                </a:r>
              </a:p>
            </p:txBody>
          </p:sp>
        </mc:Choice>
        <mc:Fallback>
          <p:sp>
            <p:nvSpPr>
              <p:cNvPr id="19" name="文本框 18">
                <a:extLst>
                  <a:ext uri="{FF2B5EF4-FFF2-40B4-BE49-F238E27FC236}">
                    <a16:creationId xmlns:a16="http://schemas.microsoft.com/office/drawing/2014/main" id="{75BBFDCB-6A80-D61A-D415-8E354DFBECA6}"/>
                  </a:ext>
                </a:extLst>
              </p:cNvPr>
              <p:cNvSpPr txBox="1">
                <a:spLocks noRot="1" noChangeAspect="1" noMove="1" noResize="1" noEditPoints="1" noAdjustHandles="1" noChangeArrowheads="1" noChangeShapeType="1" noTextEdit="1"/>
              </p:cNvSpPr>
              <p:nvPr/>
            </p:nvSpPr>
            <p:spPr>
              <a:xfrm>
                <a:off x="11534113" y="3847430"/>
                <a:ext cx="6106829" cy="2031325"/>
              </a:xfrm>
              <a:prstGeom prst="rect">
                <a:avLst/>
              </a:prstGeom>
              <a:blipFill>
                <a:blip r:embed="rId7"/>
                <a:stretch>
                  <a:fillRect l="-299" t="-901" r="-299" b="-240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文本框 26">
                <a:extLst>
                  <a:ext uri="{FF2B5EF4-FFF2-40B4-BE49-F238E27FC236}">
                    <a16:creationId xmlns:a16="http://schemas.microsoft.com/office/drawing/2014/main" id="{B1DC92DD-5EFD-ADA7-B863-2C63EB703AB4}"/>
                  </a:ext>
                </a:extLst>
              </p:cNvPr>
              <p:cNvSpPr txBox="1"/>
              <p:nvPr/>
            </p:nvSpPr>
            <p:spPr>
              <a:xfrm>
                <a:off x="5014542" y="6560039"/>
                <a:ext cx="5939136" cy="1031757"/>
              </a:xfrm>
              <a:prstGeom prst="rect">
                <a:avLst/>
              </a:prstGeom>
              <a:solidFill>
                <a:schemeClr val="accent1">
                  <a:lumMod val="20000"/>
                  <a:lumOff val="80000"/>
                </a:schemeClr>
              </a:solidFill>
            </p:spPr>
            <p:txBody>
              <a:bodyPr wrap="square">
                <a:spAutoFit/>
              </a:bodyPr>
              <a:lstStyle>
                <a:defPPr>
                  <a:defRPr lang="en-US"/>
                </a:defPPr>
                <a:lvl1pPr algn="just">
                  <a:defRPr sz="1400">
                    <a:solidFill>
                      <a:schemeClr val="accent5">
                        <a:lumMod val="50000"/>
                      </a:schemeClr>
                    </a:solidFill>
                    <a:latin typeface="InterVariable"/>
                    <a:cs typeface="Times New Roman" panose="02020603050405020304" pitchFamily="18" charset="0"/>
                  </a:defRPr>
                </a:lvl1pPr>
              </a:lstStyle>
              <a:p>
                <a:pPr/>
                <a14:m>
                  <m:oMathPara xmlns:m="http://schemas.openxmlformats.org/officeDocument/2006/math">
                    <m:oMathParaPr>
                      <m:jc m:val="centerGroup"/>
                    </m:oMathParaPr>
                    <m:oMath xmlns:m="http://schemas.openxmlformats.org/officeDocument/2006/math">
                      <m:r>
                        <a:rPr lang="en-US" altLang="zh-CN"/>
                        <m:t>𝑟</m:t>
                      </m:r>
                      <m:r>
                        <a:rPr lang="en-US" altLang="zh-CN"/>
                        <m:t>=</m:t>
                      </m:r>
                      <m:f>
                        <m:fPr>
                          <m:ctrlPr>
                            <a:rPr lang="en-US" altLang="zh-CN"/>
                          </m:ctrlPr>
                        </m:fPr>
                        <m:num>
                          <m:r>
                            <a:rPr lang="en-US" altLang="zh-CN"/>
                            <m:t>∑</m:t>
                          </m:r>
                          <m:d>
                            <m:dPr>
                              <m:ctrlPr>
                                <a:rPr lang="en-US" altLang="zh-CN"/>
                              </m:ctrlPr>
                            </m:dPr>
                            <m:e>
                              <m:sSub>
                                <m:sSubPr>
                                  <m:ctrlPr>
                                    <a:rPr lang="en-US" altLang="zh-CN"/>
                                  </m:ctrlPr>
                                </m:sSubPr>
                                <m:e>
                                  <m:r>
                                    <a:rPr lang="en-US" altLang="zh-CN"/>
                                    <m:t>𝑥</m:t>
                                  </m:r>
                                </m:e>
                                <m:sub>
                                  <m:r>
                                    <a:rPr lang="en-US" altLang="zh-CN"/>
                                    <m:t>𝑖</m:t>
                                  </m:r>
                                </m:sub>
                              </m:sSub>
                              <m:r>
                                <a:rPr lang="en-US" altLang="zh-CN"/>
                                <m:t>−</m:t>
                              </m:r>
                              <m:acc>
                                <m:accPr>
                                  <m:chr m:val="̅"/>
                                  <m:ctrlPr>
                                    <a:rPr lang="en-US" altLang="zh-CN"/>
                                  </m:ctrlPr>
                                </m:accPr>
                                <m:e>
                                  <m:r>
                                    <a:rPr lang="en-US" altLang="zh-CN"/>
                                    <m:t>𝑥</m:t>
                                  </m:r>
                                </m:e>
                              </m:acc>
                            </m:e>
                          </m:d>
                          <m:d>
                            <m:dPr>
                              <m:ctrlPr>
                                <a:rPr lang="en-US" altLang="zh-CN"/>
                              </m:ctrlPr>
                            </m:dPr>
                            <m:e>
                              <m:sSub>
                                <m:sSubPr>
                                  <m:ctrlPr>
                                    <a:rPr lang="en-US" altLang="zh-CN"/>
                                  </m:ctrlPr>
                                </m:sSubPr>
                                <m:e>
                                  <m:r>
                                    <a:rPr lang="en-US" altLang="zh-CN"/>
                                    <m:t>𝑦</m:t>
                                  </m:r>
                                </m:e>
                                <m:sub>
                                  <m:r>
                                    <a:rPr lang="en-US" altLang="zh-CN"/>
                                    <m:t>𝑖</m:t>
                                  </m:r>
                                </m:sub>
                              </m:sSub>
                              <m:r>
                                <a:rPr lang="en-US" altLang="zh-CN"/>
                                <m:t>− </m:t>
                              </m:r>
                              <m:acc>
                                <m:accPr>
                                  <m:chr m:val="̅"/>
                                  <m:ctrlPr>
                                    <a:rPr lang="en-US" altLang="zh-CN"/>
                                  </m:ctrlPr>
                                </m:accPr>
                                <m:e>
                                  <m:r>
                                    <a:rPr lang="en-US" altLang="zh-CN"/>
                                    <m:t>𝑦</m:t>
                                  </m:r>
                                </m:e>
                              </m:acc>
                            </m:e>
                          </m:d>
                        </m:num>
                        <m:den>
                          <m:rad>
                            <m:radPr>
                              <m:degHide m:val="on"/>
                              <m:ctrlPr>
                                <a:rPr lang="en-US" altLang="zh-CN"/>
                              </m:ctrlPr>
                            </m:radPr>
                            <m:deg/>
                            <m:e>
                              <m:r>
                                <a:rPr lang="en-US" altLang="zh-CN"/>
                                <m:t>∑</m:t>
                              </m:r>
                              <m:sSup>
                                <m:sSupPr>
                                  <m:ctrlPr>
                                    <a:rPr lang="en-US" altLang="zh-CN"/>
                                  </m:ctrlPr>
                                </m:sSupPr>
                                <m:e>
                                  <m:d>
                                    <m:dPr>
                                      <m:ctrlPr>
                                        <a:rPr lang="en-US" altLang="zh-CN"/>
                                      </m:ctrlPr>
                                    </m:dPr>
                                    <m:e>
                                      <m:sSub>
                                        <m:sSubPr>
                                          <m:ctrlPr>
                                            <a:rPr lang="en-US" altLang="zh-CN"/>
                                          </m:ctrlPr>
                                        </m:sSubPr>
                                        <m:e>
                                          <m:r>
                                            <a:rPr lang="en-US" altLang="zh-CN"/>
                                            <m:t>𝑥</m:t>
                                          </m:r>
                                        </m:e>
                                        <m:sub>
                                          <m:r>
                                            <a:rPr lang="en-US" altLang="zh-CN"/>
                                            <m:t>𝑖</m:t>
                                          </m:r>
                                        </m:sub>
                                      </m:sSub>
                                      <m:r>
                                        <a:rPr lang="en-US" altLang="zh-CN"/>
                                        <m:t>− </m:t>
                                      </m:r>
                                      <m:acc>
                                        <m:accPr>
                                          <m:chr m:val="̅"/>
                                          <m:ctrlPr>
                                            <a:rPr lang="en-US" altLang="zh-CN"/>
                                          </m:ctrlPr>
                                        </m:accPr>
                                        <m:e>
                                          <m:r>
                                            <a:rPr lang="en-US" altLang="zh-CN"/>
                                            <m:t>𝑥</m:t>
                                          </m:r>
                                        </m:e>
                                      </m:acc>
                                    </m:e>
                                  </m:d>
                                </m:e>
                                <m:sup>
                                  <m:r>
                                    <a:rPr lang="en-US" altLang="zh-CN"/>
                                    <m:t>2</m:t>
                                  </m:r>
                                </m:sup>
                              </m:sSup>
                              <m:r>
                                <a:rPr lang="en-US" altLang="zh-CN"/>
                                <m:t>∑</m:t>
                              </m:r>
                              <m:sSup>
                                <m:sSupPr>
                                  <m:ctrlPr>
                                    <a:rPr lang="en-US" altLang="zh-CN"/>
                                  </m:ctrlPr>
                                </m:sSupPr>
                                <m:e>
                                  <m:d>
                                    <m:dPr>
                                      <m:ctrlPr>
                                        <a:rPr lang="en-US" altLang="zh-CN"/>
                                      </m:ctrlPr>
                                    </m:dPr>
                                    <m:e>
                                      <m:sSub>
                                        <m:sSubPr>
                                          <m:ctrlPr>
                                            <a:rPr lang="en-US" altLang="zh-CN"/>
                                          </m:ctrlPr>
                                        </m:sSubPr>
                                        <m:e>
                                          <m:r>
                                            <a:rPr lang="en-US" altLang="zh-CN"/>
                                            <m:t>𝑦</m:t>
                                          </m:r>
                                        </m:e>
                                        <m:sub>
                                          <m:r>
                                            <a:rPr lang="en-US" altLang="zh-CN"/>
                                            <m:t>𝑖</m:t>
                                          </m:r>
                                        </m:sub>
                                      </m:sSub>
                                      <m:r>
                                        <a:rPr lang="en-US" altLang="zh-CN"/>
                                        <m:t>− </m:t>
                                      </m:r>
                                      <m:acc>
                                        <m:accPr>
                                          <m:chr m:val="̅"/>
                                          <m:ctrlPr>
                                            <a:rPr lang="en-US" altLang="zh-CN"/>
                                          </m:ctrlPr>
                                        </m:accPr>
                                        <m:e>
                                          <m:r>
                                            <a:rPr lang="en-US" altLang="zh-CN"/>
                                            <m:t>𝑦</m:t>
                                          </m:r>
                                        </m:e>
                                      </m:acc>
                                    </m:e>
                                  </m:d>
                                </m:e>
                                <m:sup>
                                  <m:r>
                                    <a:rPr lang="en-US" altLang="zh-CN"/>
                                    <m:t>2</m:t>
                                  </m:r>
                                </m:sup>
                              </m:sSup>
                            </m:e>
                          </m:rad>
                        </m:den>
                      </m:f>
                    </m:oMath>
                  </m:oMathPara>
                </a14:m>
                <a:endParaRPr lang="en-US" altLang="zh-CN" dirty="0"/>
              </a:p>
              <a:p>
                <a:r>
                  <a:rPr lang="en-US" altLang="zh-CN" dirty="0"/>
                  <a:t>Pearson Correlation measures the linear relationship between the two stocks’ log prices.</a:t>
                </a:r>
                <a:endParaRPr lang="zh-CN" altLang="en-US" dirty="0"/>
              </a:p>
            </p:txBody>
          </p:sp>
        </mc:Choice>
        <mc:Fallback>
          <p:sp>
            <p:nvSpPr>
              <p:cNvPr id="27" name="文本框 26">
                <a:extLst>
                  <a:ext uri="{FF2B5EF4-FFF2-40B4-BE49-F238E27FC236}">
                    <a16:creationId xmlns:a16="http://schemas.microsoft.com/office/drawing/2014/main" id="{B1DC92DD-5EFD-ADA7-B863-2C63EB703AB4}"/>
                  </a:ext>
                </a:extLst>
              </p:cNvPr>
              <p:cNvSpPr txBox="1">
                <a:spLocks noRot="1" noChangeAspect="1" noMove="1" noResize="1" noEditPoints="1" noAdjustHandles="1" noChangeArrowheads="1" noChangeShapeType="1" noTextEdit="1"/>
              </p:cNvSpPr>
              <p:nvPr/>
            </p:nvSpPr>
            <p:spPr>
              <a:xfrm>
                <a:off x="5014542" y="6560039"/>
                <a:ext cx="5939136" cy="1031757"/>
              </a:xfrm>
              <a:prstGeom prst="rect">
                <a:avLst/>
              </a:prstGeom>
              <a:blipFill>
                <a:blip r:embed="rId8"/>
                <a:stretch>
                  <a:fillRect l="-308" r="-308" b="-59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a:extLst>
                  <a:ext uri="{FF2B5EF4-FFF2-40B4-BE49-F238E27FC236}">
                    <a16:creationId xmlns:a16="http://schemas.microsoft.com/office/drawing/2014/main" id="{B1909292-F290-0F52-9844-948887B784E0}"/>
                  </a:ext>
                </a:extLst>
              </p:cNvPr>
              <p:cNvSpPr txBox="1"/>
              <p:nvPr/>
            </p:nvSpPr>
            <p:spPr>
              <a:xfrm>
                <a:off x="5014543" y="8200625"/>
                <a:ext cx="5939135" cy="738664"/>
              </a:xfrm>
              <a:prstGeom prst="rect">
                <a:avLst/>
              </a:prstGeom>
              <a:solidFill>
                <a:schemeClr val="accent6">
                  <a:lumMod val="20000"/>
                  <a:lumOff val="80000"/>
                </a:schemeClr>
              </a:solidFill>
            </p:spPr>
            <p:txBody>
              <a:bodyPr wrap="square">
                <a:spAutoFit/>
              </a:bodyPr>
              <a:lstStyle/>
              <a:p>
                <a:pPr algn="just"/>
                <a:r>
                  <a:rPr lang="en-US" altLang="zh-CN" sz="1400" dirty="0">
                    <a:solidFill>
                      <a:schemeClr val="accent5">
                        <a:lumMod val="50000"/>
                      </a:schemeClr>
                    </a:solidFill>
                    <a:latin typeface="InterVariable"/>
                    <a:cs typeface="Times New Roman" panose="02020603050405020304" pitchFamily="18" charset="0"/>
                  </a:rPr>
                  <a:t>The Hurst Exponent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𝐻</m:t>
                    </m:r>
                  </m:oMath>
                </a14:m>
                <a:r>
                  <a:rPr lang="en-US" altLang="zh-CN" sz="1400" dirty="0">
                    <a:solidFill>
                      <a:schemeClr val="accent5">
                        <a:lumMod val="50000"/>
                      </a:schemeClr>
                    </a:solidFill>
                    <a:latin typeface="InterVariable"/>
                    <a:cs typeface="Times New Roman" panose="02020603050405020304" pitchFamily="18" charset="0"/>
                  </a:rPr>
                  <a:t> measures the degree of long-term memory in a time series:</a:t>
                </a:r>
                <a14:m>
                  <m:oMath xmlns:m="http://schemas.openxmlformats.org/officeDocument/2006/math">
                    <m:r>
                      <a:rPr lang="en-US" altLang="zh-CN" sz="1400" b="0" i="0"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sz="1400" i="1" dirty="0">
                        <a:solidFill>
                          <a:schemeClr val="accent5">
                            <a:lumMod val="50000"/>
                          </a:schemeClr>
                        </a:solidFill>
                        <a:latin typeface="InterVariable"/>
                        <a:cs typeface="Times New Roman" panose="02020603050405020304" pitchFamily="18" charset="0"/>
                      </a:rPr>
                      <m:t>𝐻</m:t>
                    </m:r>
                    <m:r>
                      <a:rPr lang="en-US" altLang="zh-CN" sz="1400" i="1" dirty="0">
                        <a:solidFill>
                          <a:schemeClr val="accent5">
                            <a:lumMod val="50000"/>
                          </a:schemeClr>
                        </a:solidFill>
                        <a:latin typeface="InterVariable"/>
                        <a:cs typeface="Times New Roman" panose="02020603050405020304" pitchFamily="18" charset="0"/>
                      </a:rPr>
                      <m:t> &lt; 0.5</m:t>
                    </m:r>
                  </m:oMath>
                </a14:m>
                <a:r>
                  <a:rPr lang="en-US" altLang="zh-CN" sz="1400" dirty="0">
                    <a:solidFill>
                      <a:schemeClr val="accent5">
                        <a:lumMod val="50000"/>
                      </a:schemeClr>
                    </a:solidFill>
                    <a:latin typeface="InterVariable"/>
                    <a:cs typeface="Times New Roman" panose="02020603050405020304" pitchFamily="18" charset="0"/>
                  </a:rPr>
                  <a:t>: Mean-reverting series,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𝐻</m:t>
                    </m:r>
                    <m:r>
                      <a:rPr lang="en-US" altLang="zh-CN" sz="1400" i="1" dirty="0" smtClean="0">
                        <a:solidFill>
                          <a:schemeClr val="accent5">
                            <a:lumMod val="50000"/>
                          </a:schemeClr>
                        </a:solidFill>
                        <a:latin typeface="InterVariable"/>
                        <a:cs typeface="Times New Roman" panose="02020603050405020304" pitchFamily="18" charset="0"/>
                      </a:rPr>
                      <m:t> = 0.5</m:t>
                    </m:r>
                  </m:oMath>
                </a14:m>
                <a:r>
                  <a:rPr lang="en-US" altLang="zh-CN" sz="1400" dirty="0">
                    <a:solidFill>
                      <a:schemeClr val="accent5">
                        <a:lumMod val="50000"/>
                      </a:schemeClr>
                    </a:solidFill>
                    <a:latin typeface="InterVariable"/>
                    <a:cs typeface="Times New Roman" panose="02020603050405020304" pitchFamily="18" charset="0"/>
                  </a:rPr>
                  <a:t>: Random walk,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𝐻</m:t>
                    </m:r>
                    <m:r>
                      <a:rPr lang="en-US" altLang="zh-CN" sz="1400" i="1" dirty="0" smtClean="0">
                        <a:solidFill>
                          <a:schemeClr val="accent5">
                            <a:lumMod val="50000"/>
                          </a:schemeClr>
                        </a:solidFill>
                        <a:latin typeface="InterVariable"/>
                        <a:cs typeface="Times New Roman" panose="02020603050405020304" pitchFamily="18" charset="0"/>
                      </a:rPr>
                      <m:t> &gt; 0.5</m:t>
                    </m:r>
                  </m:oMath>
                </a14:m>
                <a:r>
                  <a:rPr lang="en-US" altLang="zh-CN" sz="1400" dirty="0">
                    <a:solidFill>
                      <a:schemeClr val="accent5">
                        <a:lumMod val="50000"/>
                      </a:schemeClr>
                    </a:solidFill>
                    <a:latin typeface="InterVariable"/>
                    <a:cs typeface="Times New Roman" panose="02020603050405020304" pitchFamily="18" charset="0"/>
                  </a:rPr>
                  <a:t>: Trending series</a:t>
                </a:r>
                <a:endParaRPr lang="zh-CN" altLang="en-US" sz="1400" dirty="0">
                  <a:solidFill>
                    <a:schemeClr val="accent5">
                      <a:lumMod val="50000"/>
                    </a:schemeClr>
                  </a:solidFill>
                  <a:latin typeface="InterVariable"/>
                  <a:cs typeface="Times New Roman" panose="02020603050405020304" pitchFamily="18" charset="0"/>
                </a:endParaRPr>
              </a:p>
            </p:txBody>
          </p:sp>
        </mc:Choice>
        <mc:Fallback>
          <p:sp>
            <p:nvSpPr>
              <p:cNvPr id="28" name="文本框 27">
                <a:extLst>
                  <a:ext uri="{FF2B5EF4-FFF2-40B4-BE49-F238E27FC236}">
                    <a16:creationId xmlns:a16="http://schemas.microsoft.com/office/drawing/2014/main" id="{B1909292-F290-0F52-9844-948887B784E0}"/>
                  </a:ext>
                </a:extLst>
              </p:cNvPr>
              <p:cNvSpPr txBox="1">
                <a:spLocks noRot="1" noChangeAspect="1" noMove="1" noResize="1" noEditPoints="1" noAdjustHandles="1" noChangeArrowheads="1" noChangeShapeType="1" noTextEdit="1"/>
              </p:cNvSpPr>
              <p:nvPr/>
            </p:nvSpPr>
            <p:spPr>
              <a:xfrm>
                <a:off x="5014543" y="8200625"/>
                <a:ext cx="5939135" cy="738664"/>
              </a:xfrm>
              <a:prstGeom prst="rect">
                <a:avLst/>
              </a:prstGeom>
              <a:blipFill>
                <a:blip r:embed="rId9"/>
                <a:stretch>
                  <a:fillRect l="-308" t="-1653" r="-308" b="-82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a:extLst>
                  <a:ext uri="{FF2B5EF4-FFF2-40B4-BE49-F238E27FC236}">
                    <a16:creationId xmlns:a16="http://schemas.microsoft.com/office/drawing/2014/main" id="{EA25D964-BED0-BC5B-31BA-349E8CF6FF6F}"/>
                  </a:ext>
                </a:extLst>
              </p:cNvPr>
              <p:cNvSpPr txBox="1"/>
              <p:nvPr/>
            </p:nvSpPr>
            <p:spPr>
              <a:xfrm>
                <a:off x="5014543" y="9125190"/>
                <a:ext cx="5939135" cy="844077"/>
              </a:xfrm>
              <a:prstGeom prst="rect">
                <a:avLst/>
              </a:prstGeom>
              <a:solidFill>
                <a:schemeClr val="accent1">
                  <a:lumMod val="20000"/>
                  <a:lumOff val="80000"/>
                </a:schemeClr>
              </a:solidFill>
            </p:spPr>
            <p:txBody>
              <a:bodyPr wrap="square">
                <a:spAutoFit/>
              </a:bodyPr>
              <a:lstStyle>
                <a:defPPr>
                  <a:defRPr lang="en-US"/>
                </a:defPPr>
                <a:lvl1pPr algn="just">
                  <a:defRPr sz="1400">
                    <a:solidFill>
                      <a:schemeClr val="accent5">
                        <a:lumMod val="50000"/>
                      </a:schemeClr>
                    </a:solidFill>
                    <a:latin typeface="InterVariable"/>
                    <a:cs typeface="Times New Roman" panose="02020603050405020304" pitchFamily="18" charset="0"/>
                  </a:defRPr>
                </a:lvl1pPr>
              </a:lstStyle>
              <a:p>
                <a:r>
                  <a:rPr lang="en-US" altLang="zh-CN" dirty="0"/>
                  <a:t>Half-Life of Mean Reversion measures how quickly the spread reverts to its mean. It’s derived from an OLS regression of the spread’s first difference (</a:t>
                </a:r>
                <a14:m>
                  <m:oMath xmlns:m="http://schemas.openxmlformats.org/officeDocument/2006/math">
                    <m:r>
                      <m:rPr>
                        <m:sty m:val="p"/>
                      </m:rPr>
                      <a:rPr lang="en-US" altLang="zh-CN" dirty="0"/>
                      <m:t>Δ</m:t>
                    </m:r>
                    <m:sSub>
                      <m:sSubPr>
                        <m:ctrlPr>
                          <a:rPr lang="en-US" altLang="zh-CN" dirty="0" err="1"/>
                        </m:ctrlPr>
                      </m:sSubPr>
                      <m:e>
                        <m:r>
                          <a:rPr lang="en-US" altLang="zh-CN" dirty="0" err="1"/>
                          <m:t>𝑍</m:t>
                        </m:r>
                      </m:e>
                      <m:sub>
                        <m:r>
                          <a:rPr lang="en-US" altLang="zh-CN" dirty="0" err="1"/>
                          <m:t>𝑡</m:t>
                        </m:r>
                      </m:sub>
                    </m:sSub>
                  </m:oMath>
                </a14:m>
                <a:r>
                  <a:rPr lang="en-US" altLang="zh-CN" dirty="0"/>
                  <a:t>) on its lagged value (</a:t>
                </a:r>
                <a14:m>
                  <m:oMath xmlns:m="http://schemas.openxmlformats.org/officeDocument/2006/math">
                    <m:sSub>
                      <m:sSubPr>
                        <m:ctrlPr>
                          <a:rPr lang="en-US" altLang="zh-CN" dirty="0"/>
                        </m:ctrlPr>
                      </m:sSubPr>
                      <m:e>
                        <m:r>
                          <a:rPr lang="en-US" altLang="zh-CN" dirty="0"/>
                          <m:t>𝑍</m:t>
                        </m:r>
                      </m:e>
                      <m:sub>
                        <m:r>
                          <a:rPr lang="en-US" altLang="zh-CN" dirty="0"/>
                          <m:t>𝑡</m:t>
                        </m:r>
                        <m:r>
                          <a:rPr lang="en-US" altLang="zh-CN" dirty="0"/>
                          <m:t>−1</m:t>
                        </m:r>
                      </m:sub>
                    </m:sSub>
                  </m:oMath>
                </a14:m>
                <a:r>
                  <a:rPr lang="en-US" altLang="zh-CN" dirty="0"/>
                  <a:t>): </a:t>
                </a:r>
                <a14:m>
                  <m:oMath xmlns:m="http://schemas.openxmlformats.org/officeDocument/2006/math">
                    <m:r>
                      <m:rPr>
                        <m:sty m:val="p"/>
                      </m:rPr>
                      <a:rPr lang="en-US" altLang="zh-CN" dirty="0"/>
                      <m:t>Δ</m:t>
                    </m:r>
                    <m:sSub>
                      <m:sSubPr>
                        <m:ctrlPr>
                          <a:rPr lang="en-US" altLang="zh-CN" dirty="0"/>
                        </m:ctrlPr>
                      </m:sSubPr>
                      <m:e>
                        <m:r>
                          <a:rPr lang="en-US" altLang="zh-CN" dirty="0"/>
                          <m:t>𝑍</m:t>
                        </m:r>
                      </m:e>
                      <m:sub>
                        <m:r>
                          <a:rPr lang="en-US" altLang="zh-CN" dirty="0"/>
                          <m:t>𝑡</m:t>
                        </m:r>
                      </m:sub>
                    </m:sSub>
                    <m:r>
                      <a:rPr lang="en-US" altLang="zh-CN" dirty="0"/>
                      <m:t>= </m:t>
                    </m:r>
                    <m:r>
                      <a:rPr lang="en-US" altLang="zh-CN" dirty="0"/>
                      <m:t>𝜆</m:t>
                    </m:r>
                    <m:sSub>
                      <m:sSubPr>
                        <m:ctrlPr>
                          <a:rPr lang="en-US" altLang="zh-CN" dirty="0"/>
                        </m:ctrlPr>
                      </m:sSubPr>
                      <m:e>
                        <m:r>
                          <a:rPr lang="en-US" altLang="zh-CN" dirty="0"/>
                          <m:t>𝑍</m:t>
                        </m:r>
                      </m:e>
                      <m:sub>
                        <m:d>
                          <m:dPr>
                            <m:begChr m:val="{"/>
                            <m:endChr m:val="}"/>
                            <m:ctrlPr>
                              <a:rPr lang="en-US" altLang="zh-CN" dirty="0"/>
                            </m:ctrlPr>
                          </m:dPr>
                          <m:e>
                            <m:r>
                              <a:rPr lang="en-US" altLang="zh-CN" dirty="0"/>
                              <m:t>𝑡</m:t>
                            </m:r>
                            <m:r>
                              <a:rPr lang="en-US" altLang="zh-CN" dirty="0"/>
                              <m:t>−1</m:t>
                            </m:r>
                          </m:e>
                        </m:d>
                      </m:sub>
                    </m:sSub>
                    <m:r>
                      <a:rPr lang="en-US" altLang="zh-CN" dirty="0"/>
                      <m:t>+ </m:t>
                    </m:r>
                    <m:sSub>
                      <m:sSubPr>
                        <m:ctrlPr>
                          <a:rPr lang="en-US" altLang="zh-CN" dirty="0"/>
                        </m:ctrlPr>
                      </m:sSubPr>
                      <m:e>
                        <m:r>
                          <a:rPr lang="en-US" altLang="zh-CN" dirty="0"/>
                          <m:t>𝜖</m:t>
                        </m:r>
                      </m:e>
                      <m:sub>
                        <m:r>
                          <a:rPr lang="en-US" altLang="zh-CN" dirty="0"/>
                          <m:t>𝑡</m:t>
                        </m:r>
                      </m:sub>
                    </m:sSub>
                  </m:oMath>
                </a14:m>
                <a:r>
                  <a:rPr lang="en-US" altLang="zh-CN" dirty="0"/>
                  <a:t>, and </a:t>
                </a:r>
                <a14:m>
                  <m:oMath xmlns:m="http://schemas.openxmlformats.org/officeDocument/2006/math">
                    <m:r>
                      <a:rPr lang="en-US" altLang="zh-CN" dirty="0"/>
                      <m:t>h𝑎𝑙𝑓</m:t>
                    </m:r>
                    <m:r>
                      <a:rPr lang="en-US" altLang="zh-CN" dirty="0"/>
                      <m:t>−</m:t>
                    </m:r>
                    <m:r>
                      <a:rPr lang="en-US" altLang="zh-CN" dirty="0"/>
                      <m:t>𝑙𝑖𝑓𝑒</m:t>
                    </m:r>
                    <m:r>
                      <a:rPr lang="en-US" altLang="zh-CN" dirty="0"/>
                      <m:t> = </m:t>
                    </m:r>
                    <m:f>
                      <m:fPr>
                        <m:ctrlPr>
                          <a:rPr lang="en-US" altLang="zh-CN"/>
                        </m:ctrlPr>
                      </m:fPr>
                      <m:num>
                        <m:r>
                          <a:rPr lang="en-US" altLang="zh-CN"/>
                          <m:t>𝑙𝑛</m:t>
                        </m:r>
                        <m:d>
                          <m:dPr>
                            <m:ctrlPr>
                              <a:rPr lang="en-US" altLang="zh-CN"/>
                            </m:ctrlPr>
                          </m:dPr>
                          <m:e>
                            <m:r>
                              <a:rPr lang="en-US" altLang="zh-CN"/>
                              <m:t>2</m:t>
                            </m:r>
                          </m:e>
                        </m:d>
                      </m:num>
                      <m:den>
                        <m:r>
                          <a:rPr lang="en-US" altLang="zh-CN"/>
                          <m:t>𝜆</m:t>
                        </m:r>
                      </m:den>
                    </m:f>
                  </m:oMath>
                </a14:m>
                <a:endParaRPr lang="zh-CN" altLang="en-US" dirty="0"/>
              </a:p>
            </p:txBody>
          </p:sp>
        </mc:Choice>
        <mc:Fallback>
          <p:sp>
            <p:nvSpPr>
              <p:cNvPr id="30" name="文本框 29">
                <a:extLst>
                  <a:ext uri="{FF2B5EF4-FFF2-40B4-BE49-F238E27FC236}">
                    <a16:creationId xmlns:a16="http://schemas.microsoft.com/office/drawing/2014/main" id="{EA25D964-BED0-BC5B-31BA-349E8CF6FF6F}"/>
                  </a:ext>
                </a:extLst>
              </p:cNvPr>
              <p:cNvSpPr txBox="1">
                <a:spLocks noRot="1" noChangeAspect="1" noMove="1" noResize="1" noEditPoints="1" noAdjustHandles="1" noChangeArrowheads="1" noChangeShapeType="1" noTextEdit="1"/>
              </p:cNvSpPr>
              <p:nvPr/>
            </p:nvSpPr>
            <p:spPr>
              <a:xfrm>
                <a:off x="5014543" y="9125190"/>
                <a:ext cx="5939135" cy="844077"/>
              </a:xfrm>
              <a:prstGeom prst="rect">
                <a:avLst/>
              </a:prstGeom>
              <a:blipFill>
                <a:blip r:embed="rId10"/>
                <a:stretch>
                  <a:fillRect l="-308" t="-1449" r="-308" b="-14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a:extLst>
                  <a:ext uri="{FF2B5EF4-FFF2-40B4-BE49-F238E27FC236}">
                    <a16:creationId xmlns:a16="http://schemas.microsoft.com/office/drawing/2014/main" id="{80CD2C0D-E48C-9303-861C-7BC08510CB95}"/>
                  </a:ext>
                </a:extLst>
              </p:cNvPr>
              <p:cNvSpPr txBox="1"/>
              <p:nvPr/>
            </p:nvSpPr>
            <p:spPr>
              <a:xfrm>
                <a:off x="11577641" y="6174903"/>
                <a:ext cx="6127082" cy="954107"/>
              </a:xfrm>
              <a:prstGeom prst="rect">
                <a:avLst/>
              </a:prstGeom>
              <a:solidFill>
                <a:schemeClr val="accent1">
                  <a:lumMod val="20000"/>
                  <a:lumOff val="80000"/>
                </a:schemeClr>
              </a:solidFill>
            </p:spPr>
            <p:txBody>
              <a:bodyPr wrap="square">
                <a:spAutoFit/>
              </a:bodyPr>
              <a:lstStyle>
                <a:defPPr>
                  <a:defRPr lang="en-US"/>
                </a:defPPr>
                <a:lvl1pPr algn="just">
                  <a:defRPr sz="1400">
                    <a:solidFill>
                      <a:schemeClr val="accent5">
                        <a:lumMod val="50000"/>
                      </a:schemeClr>
                    </a:solidFill>
                    <a:latin typeface="InterVariable"/>
                    <a:cs typeface="Times New Roman" panose="02020603050405020304" pitchFamily="18" charset="0"/>
                  </a:defRPr>
                </a:lvl1pPr>
              </a:lstStyle>
              <a:p>
                <a:r>
                  <a:rPr lang="en-US" altLang="zh-CN" dirty="0"/>
                  <a:t>The high correlation (</a:t>
                </a:r>
                <a14:m>
                  <m:oMath xmlns:m="http://schemas.openxmlformats.org/officeDocument/2006/math">
                    <m:r>
                      <a:rPr lang="en-US" altLang="zh-CN" dirty="0"/>
                      <m:t>0.8</m:t>
                    </m:r>
                    <m:r>
                      <a:rPr lang="en-US" altLang="zh-CN" dirty="0"/>
                      <m:t>6</m:t>
                    </m:r>
                    <m:r>
                      <a:rPr lang="en-US" altLang="zh-CN" dirty="0"/>
                      <m:t>6</m:t>
                    </m:r>
                  </m:oMath>
                </a14:m>
                <a:r>
                  <a:rPr lang="en-US" altLang="zh-CN" dirty="0"/>
                  <a:t>) between BYD and Tesla’s log prices indicates that the two stocks move together closely, which is expected for a cointegrated pair. This supports the rationale for pairs trading, as the spread captures deviations from this relationship.</a:t>
                </a:r>
                <a:endParaRPr lang="zh-CN" altLang="en-US" dirty="0"/>
              </a:p>
            </p:txBody>
          </p:sp>
        </mc:Choice>
        <mc:Fallback>
          <p:sp>
            <p:nvSpPr>
              <p:cNvPr id="31" name="文本框 30">
                <a:extLst>
                  <a:ext uri="{FF2B5EF4-FFF2-40B4-BE49-F238E27FC236}">
                    <a16:creationId xmlns:a16="http://schemas.microsoft.com/office/drawing/2014/main" id="{80CD2C0D-E48C-9303-861C-7BC08510CB95}"/>
                  </a:ext>
                </a:extLst>
              </p:cNvPr>
              <p:cNvSpPr txBox="1">
                <a:spLocks noRot="1" noChangeAspect="1" noMove="1" noResize="1" noEditPoints="1" noAdjustHandles="1" noChangeArrowheads="1" noChangeShapeType="1" noTextEdit="1"/>
              </p:cNvSpPr>
              <p:nvPr/>
            </p:nvSpPr>
            <p:spPr>
              <a:xfrm>
                <a:off x="11577641" y="6174903"/>
                <a:ext cx="6127082" cy="954107"/>
              </a:xfrm>
              <a:prstGeom prst="rect">
                <a:avLst/>
              </a:prstGeom>
              <a:blipFill>
                <a:blip r:embed="rId11"/>
                <a:stretch>
                  <a:fillRect l="-299" t="-1282" r="-299" b="-57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文本框 32">
                <a:extLst>
                  <a:ext uri="{FF2B5EF4-FFF2-40B4-BE49-F238E27FC236}">
                    <a16:creationId xmlns:a16="http://schemas.microsoft.com/office/drawing/2014/main" id="{D551F712-D886-2F0F-21D5-2C6AFFA35BEF}"/>
                  </a:ext>
                </a:extLst>
              </p:cNvPr>
              <p:cNvSpPr txBox="1"/>
              <p:nvPr/>
            </p:nvSpPr>
            <p:spPr>
              <a:xfrm>
                <a:off x="11633373" y="8169210"/>
                <a:ext cx="6056110" cy="738664"/>
              </a:xfrm>
              <a:prstGeom prst="rect">
                <a:avLst/>
              </a:prstGeom>
              <a:solidFill>
                <a:schemeClr val="accent6">
                  <a:lumMod val="20000"/>
                  <a:lumOff val="80000"/>
                </a:schemeClr>
              </a:solidFill>
            </p:spPr>
            <p:txBody>
              <a:bodyPr wrap="square">
                <a:spAutoFit/>
              </a:bodyPr>
              <a:lstStyle/>
              <a:p>
                <a:pPr algn="just"/>
                <a:r>
                  <a:rPr lang="en-US" altLang="zh-CN" sz="1400" dirty="0">
                    <a:solidFill>
                      <a:schemeClr val="accent5">
                        <a:lumMod val="50000"/>
                      </a:schemeClr>
                    </a:solidFill>
                    <a:latin typeface="InterVariable"/>
                    <a:cs typeface="Times New Roman" panose="02020603050405020304" pitchFamily="18" charset="0"/>
                  </a:rPr>
                  <a:t>The Hurst Exponent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0.426</m:t>
                    </m:r>
                  </m:oMath>
                </a14:m>
                <a:r>
                  <a:rPr lang="en-US" altLang="zh-CN" sz="1400" dirty="0">
                    <a:solidFill>
                      <a:schemeClr val="accent5">
                        <a:lumMod val="50000"/>
                      </a:schemeClr>
                    </a:solidFill>
                    <a:latin typeface="InterVariable"/>
                    <a:cs typeface="Times New Roman" panose="02020603050405020304" pitchFamily="18" charset="0"/>
                  </a:rPr>
                  <a:t>) is less than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0.5</m:t>
                    </m:r>
                  </m:oMath>
                </a14:m>
                <a:r>
                  <a:rPr lang="en-US" altLang="zh-CN" sz="1400" dirty="0">
                    <a:solidFill>
                      <a:schemeClr val="accent5">
                        <a:lumMod val="50000"/>
                      </a:schemeClr>
                    </a:solidFill>
                    <a:latin typeface="InterVariable"/>
                    <a:cs typeface="Times New Roman" panose="02020603050405020304" pitchFamily="18" charset="0"/>
                  </a:rPr>
                  <a:t>, indicating that the spread is mean-reverting. A value below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0.5</m:t>
                    </m:r>
                  </m:oMath>
                </a14:m>
                <a:r>
                  <a:rPr lang="en-US" altLang="zh-CN" sz="1400" dirty="0">
                    <a:solidFill>
                      <a:schemeClr val="accent5">
                        <a:lumMod val="50000"/>
                      </a:schemeClr>
                    </a:solidFill>
                    <a:latin typeface="InterVariable"/>
                    <a:cs typeface="Times New Roman" panose="02020603050405020304" pitchFamily="18" charset="0"/>
                  </a:rPr>
                  <a:t> confirms that the spread has a tendency to revert to its mean, which is ideal for pairs trading.</a:t>
                </a:r>
                <a:endParaRPr lang="zh-CN" altLang="en-US" sz="1400" dirty="0">
                  <a:solidFill>
                    <a:schemeClr val="accent5">
                      <a:lumMod val="50000"/>
                    </a:schemeClr>
                  </a:solidFill>
                  <a:latin typeface="InterVariable"/>
                  <a:cs typeface="Times New Roman" panose="02020603050405020304" pitchFamily="18" charset="0"/>
                </a:endParaRPr>
              </a:p>
            </p:txBody>
          </p:sp>
        </mc:Choice>
        <mc:Fallback>
          <p:sp>
            <p:nvSpPr>
              <p:cNvPr id="33" name="文本框 32">
                <a:extLst>
                  <a:ext uri="{FF2B5EF4-FFF2-40B4-BE49-F238E27FC236}">
                    <a16:creationId xmlns:a16="http://schemas.microsoft.com/office/drawing/2014/main" id="{D551F712-D886-2F0F-21D5-2C6AFFA35BEF}"/>
                  </a:ext>
                </a:extLst>
              </p:cNvPr>
              <p:cNvSpPr txBox="1">
                <a:spLocks noRot="1" noChangeAspect="1" noMove="1" noResize="1" noEditPoints="1" noAdjustHandles="1" noChangeArrowheads="1" noChangeShapeType="1" noTextEdit="1"/>
              </p:cNvSpPr>
              <p:nvPr/>
            </p:nvSpPr>
            <p:spPr>
              <a:xfrm>
                <a:off x="11633373" y="8169210"/>
                <a:ext cx="6056110" cy="738664"/>
              </a:xfrm>
              <a:prstGeom prst="rect">
                <a:avLst/>
              </a:prstGeom>
              <a:blipFill>
                <a:blip r:embed="rId12"/>
                <a:stretch>
                  <a:fillRect l="-302" t="-1653" r="-201" b="-82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a:extLst>
                  <a:ext uri="{FF2B5EF4-FFF2-40B4-BE49-F238E27FC236}">
                    <a16:creationId xmlns:a16="http://schemas.microsoft.com/office/drawing/2014/main" id="{44BB2CA6-C189-8AA8-B128-47E64BF09DA5}"/>
                  </a:ext>
                </a:extLst>
              </p:cNvPr>
              <p:cNvSpPr txBox="1"/>
              <p:nvPr/>
            </p:nvSpPr>
            <p:spPr>
              <a:xfrm>
                <a:off x="11562401" y="7261379"/>
                <a:ext cx="6127082" cy="738664"/>
              </a:xfrm>
              <a:prstGeom prst="rect">
                <a:avLst/>
              </a:prstGeom>
              <a:solidFill>
                <a:srgbClr val="FFFFCC"/>
              </a:solidFill>
            </p:spPr>
            <p:txBody>
              <a:bodyPr wrap="square">
                <a:spAutoFit/>
              </a:bodyPr>
              <a:lstStyle/>
              <a:p>
                <a:pPr algn="just"/>
                <a:r>
                  <a:rPr lang="en-US" altLang="zh-CN" sz="1400" dirty="0">
                    <a:solidFill>
                      <a:schemeClr val="accent5">
                        <a:lumMod val="50000"/>
                      </a:schemeClr>
                    </a:solidFill>
                    <a:latin typeface="InterVariable"/>
                    <a:cs typeface="Times New Roman" panose="02020603050405020304" pitchFamily="18" charset="0"/>
                  </a:rPr>
                  <a:t>The spread crosses its mean </a:t>
                </a:r>
                <a14:m>
                  <m:oMath xmlns:m="http://schemas.openxmlformats.org/officeDocument/2006/math">
                    <m:r>
                      <a:rPr lang="en-US" altLang="zh-CN" sz="1400" i="1" dirty="0" smtClean="0">
                        <a:solidFill>
                          <a:schemeClr val="accent5">
                            <a:lumMod val="50000"/>
                          </a:schemeClr>
                        </a:solidFill>
                        <a:latin typeface="InterVariable"/>
                        <a:cs typeface="Times New Roman" panose="02020603050405020304" pitchFamily="18" charset="0"/>
                      </a:rPr>
                      <m:t>75</m:t>
                    </m:r>
                  </m:oMath>
                </a14:m>
                <a:r>
                  <a:rPr lang="en-US" altLang="zh-CN" sz="1400" dirty="0">
                    <a:solidFill>
                      <a:schemeClr val="accent5">
                        <a:lumMod val="50000"/>
                      </a:schemeClr>
                    </a:solidFill>
                    <a:latin typeface="InterVariable"/>
                    <a:cs typeface="Times New Roman" panose="02020603050405020304" pitchFamily="18" charset="0"/>
                  </a:rPr>
                  <a:t> times over the period, indicating frequent mean reversion. This is a positive sign for pairs trading, as it suggests the spread oscillates around the mean regularly.</a:t>
                </a:r>
                <a:endParaRPr lang="zh-CN" altLang="en-US" sz="1400" dirty="0">
                  <a:solidFill>
                    <a:schemeClr val="accent5">
                      <a:lumMod val="50000"/>
                    </a:schemeClr>
                  </a:solidFill>
                  <a:latin typeface="InterVariable"/>
                  <a:cs typeface="Times New Roman" panose="02020603050405020304" pitchFamily="18" charset="0"/>
                </a:endParaRPr>
              </a:p>
            </p:txBody>
          </p:sp>
        </mc:Choice>
        <mc:Fallback>
          <p:sp>
            <p:nvSpPr>
              <p:cNvPr id="34" name="文本框 33">
                <a:extLst>
                  <a:ext uri="{FF2B5EF4-FFF2-40B4-BE49-F238E27FC236}">
                    <a16:creationId xmlns:a16="http://schemas.microsoft.com/office/drawing/2014/main" id="{44BB2CA6-C189-8AA8-B128-47E64BF09DA5}"/>
                  </a:ext>
                </a:extLst>
              </p:cNvPr>
              <p:cNvSpPr txBox="1">
                <a:spLocks noRot="1" noChangeAspect="1" noMove="1" noResize="1" noEditPoints="1" noAdjustHandles="1" noChangeArrowheads="1" noChangeShapeType="1" noTextEdit="1"/>
              </p:cNvSpPr>
              <p:nvPr/>
            </p:nvSpPr>
            <p:spPr>
              <a:xfrm>
                <a:off x="11562401" y="7261379"/>
                <a:ext cx="6127082" cy="738664"/>
              </a:xfrm>
              <a:prstGeom prst="rect">
                <a:avLst/>
              </a:prstGeom>
              <a:blipFill>
                <a:blip r:embed="rId13"/>
                <a:stretch>
                  <a:fillRect l="-299" t="-1653" r="-299" b="-82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文本框 34">
                <a:extLst>
                  <a:ext uri="{FF2B5EF4-FFF2-40B4-BE49-F238E27FC236}">
                    <a16:creationId xmlns:a16="http://schemas.microsoft.com/office/drawing/2014/main" id="{332CFDCC-4154-7443-343E-D32398153B59}"/>
                  </a:ext>
                </a:extLst>
              </p:cNvPr>
              <p:cNvSpPr txBox="1"/>
              <p:nvPr/>
            </p:nvSpPr>
            <p:spPr>
              <a:xfrm>
                <a:off x="11671829" y="9074642"/>
                <a:ext cx="5969113" cy="954107"/>
              </a:xfrm>
              <a:prstGeom prst="rect">
                <a:avLst/>
              </a:prstGeom>
              <a:solidFill>
                <a:schemeClr val="accent1">
                  <a:lumMod val="20000"/>
                  <a:lumOff val="80000"/>
                </a:schemeClr>
              </a:solidFill>
            </p:spPr>
            <p:txBody>
              <a:bodyPr wrap="square">
                <a:spAutoFit/>
              </a:bodyPr>
              <a:lstStyle>
                <a:defPPr>
                  <a:defRPr lang="en-US"/>
                </a:defPPr>
                <a:lvl1pPr algn="just">
                  <a:defRPr sz="1400">
                    <a:solidFill>
                      <a:schemeClr val="accent5">
                        <a:lumMod val="50000"/>
                      </a:schemeClr>
                    </a:solidFill>
                    <a:latin typeface="InterVariable"/>
                    <a:cs typeface="Times New Roman" panose="02020603050405020304" pitchFamily="18" charset="0"/>
                  </a:defRPr>
                </a:lvl1pPr>
              </a:lstStyle>
              <a:p>
                <a:r>
                  <a:rPr lang="en-US" altLang="zh-CN" dirty="0"/>
                  <a:t>The half-life of mean reversion is the time it takes for the spread to revert halfway back to its mean after a deviation. A half-life of </a:t>
                </a:r>
                <a14:m>
                  <m:oMath xmlns:m="http://schemas.openxmlformats.org/officeDocument/2006/math">
                    <m:r>
                      <a:rPr lang="en-US" altLang="zh-CN" dirty="0"/>
                      <m:t>51.6</m:t>
                    </m:r>
                  </m:oMath>
                </a14:m>
                <a:r>
                  <a:rPr lang="en-US" altLang="zh-CN" dirty="0"/>
                  <a:t> days suggests that the mean reversion process is relatively slow, which may require a longer holding period for trades to become profitable.</a:t>
                </a:r>
                <a:endParaRPr lang="zh-CN" altLang="en-US" dirty="0"/>
              </a:p>
            </p:txBody>
          </p:sp>
        </mc:Choice>
        <mc:Fallback>
          <p:sp>
            <p:nvSpPr>
              <p:cNvPr id="35" name="文本框 34">
                <a:extLst>
                  <a:ext uri="{FF2B5EF4-FFF2-40B4-BE49-F238E27FC236}">
                    <a16:creationId xmlns:a16="http://schemas.microsoft.com/office/drawing/2014/main" id="{332CFDCC-4154-7443-343E-D32398153B59}"/>
                  </a:ext>
                </a:extLst>
              </p:cNvPr>
              <p:cNvSpPr txBox="1">
                <a:spLocks noRot="1" noChangeAspect="1" noMove="1" noResize="1" noEditPoints="1" noAdjustHandles="1" noChangeArrowheads="1" noChangeShapeType="1" noTextEdit="1"/>
              </p:cNvSpPr>
              <p:nvPr/>
            </p:nvSpPr>
            <p:spPr>
              <a:xfrm>
                <a:off x="11671829" y="9074642"/>
                <a:ext cx="5969113" cy="954107"/>
              </a:xfrm>
              <a:prstGeom prst="rect">
                <a:avLst/>
              </a:prstGeom>
              <a:blipFill>
                <a:blip r:embed="rId14"/>
                <a:stretch>
                  <a:fillRect l="-306" t="-1282" r="-306" b="-5769"/>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B3C805BC-C844-059B-82EF-E0D4F947ED75}"/>
              </a:ext>
            </a:extLst>
          </p:cNvPr>
          <p:cNvSpPr txBox="1"/>
          <p:nvPr/>
        </p:nvSpPr>
        <p:spPr>
          <a:xfrm>
            <a:off x="7328881" y="1446316"/>
            <a:ext cx="8291318" cy="584775"/>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InterVariable"/>
                <a:cs typeface="Times New Roman" panose="02020603050405020304" pitchFamily="18" charset="0"/>
              </a:rPr>
              <a:t>Multiple statistics show BYD and Tesla stock prices move together, making them suitable for pairs trading as their price difference often returns to a predictable average.</a:t>
            </a:r>
            <a:endParaRPr lang="zh-CN" altLang="en-US" sz="1600" b="1" dirty="0">
              <a:solidFill>
                <a:schemeClr val="tx2">
                  <a:lumMod val="50000"/>
                </a:schemeClr>
              </a:solidFill>
              <a:latin typeface="InterVariable"/>
              <a:cs typeface="Times New Roman" panose="02020603050405020304" pitchFamily="18" charset="0"/>
            </a:endParaRPr>
          </a:p>
        </p:txBody>
      </p:sp>
      <p:sp>
        <p:nvSpPr>
          <p:cNvPr id="2" name="TextBox 6">
            <a:extLst>
              <a:ext uri="{FF2B5EF4-FFF2-40B4-BE49-F238E27FC236}">
                <a16:creationId xmlns:a16="http://schemas.microsoft.com/office/drawing/2014/main" id="{D285A439-F1BA-C0CF-9EE4-E6D33EE25442}"/>
              </a:ext>
            </a:extLst>
          </p:cNvPr>
          <p:cNvSpPr txBox="1"/>
          <p:nvPr/>
        </p:nvSpPr>
        <p:spPr>
          <a:xfrm>
            <a:off x="510132" y="-48974"/>
            <a:ext cx="15415056" cy="1009059"/>
          </a:xfrm>
          <a:prstGeom prst="rect">
            <a:avLst/>
          </a:prstGeom>
        </p:spPr>
        <p:txBody>
          <a:bodyPr wrap="square" lIns="0" tIns="0" rIns="0" bIns="0" rtlCol="0" anchor="t">
            <a:spAutoFit/>
          </a:bodyPr>
          <a:lstStyle/>
          <a:p>
            <a:pPr marL="0" lvl="0" indent="0" algn="l">
              <a:lnSpc>
                <a:spcPts val="8959"/>
              </a:lnSpc>
              <a:spcBef>
                <a:spcPct val="0"/>
              </a:spcBef>
            </a:pPr>
            <a:r>
              <a:rPr lang="en-US" altLang="zh-CN" sz="4000" b="1" dirty="0">
                <a:solidFill>
                  <a:srgbClr val="0F4662"/>
                </a:solidFill>
                <a:latin typeface="InterVariable"/>
              </a:rPr>
              <a:t>Quantitative Analysis (1) - </a:t>
            </a:r>
            <a:r>
              <a:rPr lang="en-US" altLang="zh-CN" sz="3200" b="1" i="1" dirty="0">
                <a:solidFill>
                  <a:srgbClr val="00B050"/>
                </a:solidFill>
                <a:latin typeface="InterVariable"/>
                <a:ea typeface="Cormorant Garamond Bold Italics"/>
                <a:cs typeface="Arial" panose="020B0604020202020204" pitchFamily="34" charset="0"/>
                <a:sym typeface="Cormorant Garamond Bold Italics"/>
              </a:rPr>
              <a:t>Long Tesla (Tsla.US) </a:t>
            </a:r>
            <a:r>
              <a:rPr lang="en-US" altLang="zh-CN" sz="3200" b="1" i="1" dirty="0">
                <a:solidFill>
                  <a:srgbClr val="C00000"/>
                </a:solidFill>
                <a:latin typeface="InterVariable"/>
                <a:ea typeface="Cormorant Garamond Bold Italics"/>
                <a:cs typeface="Arial" panose="020B0604020202020204" pitchFamily="34" charset="0"/>
                <a:sym typeface="Cormorant Garamond Bold Italics"/>
              </a:rPr>
              <a:t>Short BYD (1211.HK)</a:t>
            </a:r>
            <a:endParaRPr lang="en-US" sz="3200" b="1" i="1" dirty="0">
              <a:solidFill>
                <a:srgbClr val="0F4662"/>
              </a:solidFill>
              <a:latin typeface="Cormorant Garamond Bold Italics"/>
              <a:sym typeface="Cormorant Garamond Bold Italics"/>
            </a:endParaRPr>
          </a:p>
        </p:txBody>
      </p:sp>
      <p:cxnSp>
        <p:nvCxnSpPr>
          <p:cNvPr id="3" name="直接连接符 2">
            <a:extLst>
              <a:ext uri="{FF2B5EF4-FFF2-40B4-BE49-F238E27FC236}">
                <a16:creationId xmlns:a16="http://schemas.microsoft.com/office/drawing/2014/main" id="{8643BBE3-695A-DAD2-CD9D-DAAD86C78F23}"/>
              </a:ext>
            </a:extLst>
          </p:cNvPr>
          <p:cNvCxnSpPr>
            <a:cxnSpLocks/>
          </p:cNvCxnSpPr>
          <p:nvPr/>
        </p:nvCxnSpPr>
        <p:spPr>
          <a:xfrm>
            <a:off x="414561" y="1028700"/>
            <a:ext cx="17086815"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8519DD46-8C1B-F28E-5B4A-D8CF82D293C6}"/>
              </a:ext>
            </a:extLst>
          </p:cNvPr>
          <p:cNvGrpSpPr/>
          <p:nvPr/>
        </p:nvGrpSpPr>
        <p:grpSpPr>
          <a:xfrm>
            <a:off x="14949292" y="147595"/>
            <a:ext cx="2552084" cy="812489"/>
            <a:chOff x="14949292" y="147595"/>
            <a:chExt cx="2484269" cy="897220"/>
          </a:xfrm>
        </p:grpSpPr>
        <p:pic>
          <p:nvPicPr>
            <p:cNvPr id="7" name="图片 6">
              <a:extLst>
                <a:ext uri="{FF2B5EF4-FFF2-40B4-BE49-F238E27FC236}">
                  <a16:creationId xmlns:a16="http://schemas.microsoft.com/office/drawing/2014/main" id="{1D2394DE-E607-980C-1981-587C9C547CEE}"/>
                </a:ext>
              </a:extLst>
            </p:cNvPr>
            <p:cNvPicPr>
              <a:picLocks noChangeAspect="1"/>
            </p:cNvPicPr>
            <p:nvPr/>
          </p:nvPicPr>
          <p:blipFill>
            <a:blip r:embed="rId15"/>
            <a:stretch>
              <a:fillRect/>
            </a:stretch>
          </p:blipFill>
          <p:spPr>
            <a:xfrm>
              <a:off x="14949292" y="147595"/>
              <a:ext cx="1472893" cy="863959"/>
            </a:xfrm>
            <a:prstGeom prst="rect">
              <a:avLst/>
            </a:prstGeom>
          </p:spPr>
        </p:pic>
        <p:pic>
          <p:nvPicPr>
            <p:cNvPr id="17" name="图片 16">
              <a:extLst>
                <a:ext uri="{FF2B5EF4-FFF2-40B4-BE49-F238E27FC236}">
                  <a16:creationId xmlns:a16="http://schemas.microsoft.com/office/drawing/2014/main" id="{5126AEB1-8176-5783-A9CC-4A8324230179}"/>
                </a:ext>
              </a:extLst>
            </p:cNvPr>
            <p:cNvPicPr>
              <a:picLocks noChangeAspect="1"/>
            </p:cNvPicPr>
            <p:nvPr/>
          </p:nvPicPr>
          <p:blipFill>
            <a:blip r:embed="rId16"/>
            <a:stretch>
              <a:fillRect/>
            </a:stretch>
          </p:blipFill>
          <p:spPr>
            <a:xfrm>
              <a:off x="16585504" y="147595"/>
              <a:ext cx="848057" cy="897220"/>
            </a:xfrm>
            <a:prstGeom prst="rect">
              <a:avLst/>
            </a:prstGeom>
          </p:spPr>
        </p:pic>
      </p:grpSp>
      <p:sp>
        <p:nvSpPr>
          <p:cNvPr id="18" name="箭头: 右 17">
            <a:extLst>
              <a:ext uri="{FF2B5EF4-FFF2-40B4-BE49-F238E27FC236}">
                <a16:creationId xmlns:a16="http://schemas.microsoft.com/office/drawing/2014/main" id="{9ADF68DC-01A9-B5D9-606C-976039D9FC8B}"/>
              </a:ext>
            </a:extLst>
          </p:cNvPr>
          <p:cNvSpPr/>
          <p:nvPr/>
        </p:nvSpPr>
        <p:spPr>
          <a:xfrm>
            <a:off x="11039784" y="3175548"/>
            <a:ext cx="368701" cy="364091"/>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箭头: 右 21">
            <a:extLst>
              <a:ext uri="{FF2B5EF4-FFF2-40B4-BE49-F238E27FC236}">
                <a16:creationId xmlns:a16="http://schemas.microsoft.com/office/drawing/2014/main" id="{883206B8-A82B-348A-0B26-6128D6004648}"/>
              </a:ext>
            </a:extLst>
          </p:cNvPr>
          <p:cNvSpPr/>
          <p:nvPr/>
        </p:nvSpPr>
        <p:spPr>
          <a:xfrm>
            <a:off x="11088107" y="4779409"/>
            <a:ext cx="368701" cy="364091"/>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3011EB38-2928-96DF-9BC7-0E89E4D4DC2D}"/>
              </a:ext>
            </a:extLst>
          </p:cNvPr>
          <p:cNvSpPr/>
          <p:nvPr/>
        </p:nvSpPr>
        <p:spPr>
          <a:xfrm>
            <a:off x="11105840" y="6520843"/>
            <a:ext cx="368701" cy="364091"/>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右 24">
            <a:extLst>
              <a:ext uri="{FF2B5EF4-FFF2-40B4-BE49-F238E27FC236}">
                <a16:creationId xmlns:a16="http://schemas.microsoft.com/office/drawing/2014/main" id="{735CDE10-BD21-D205-6D61-6B41C71FA21E}"/>
              </a:ext>
            </a:extLst>
          </p:cNvPr>
          <p:cNvSpPr/>
          <p:nvPr/>
        </p:nvSpPr>
        <p:spPr>
          <a:xfrm>
            <a:off x="11108397" y="8378835"/>
            <a:ext cx="368701" cy="364091"/>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a:extLst>
              <a:ext uri="{FF2B5EF4-FFF2-40B4-BE49-F238E27FC236}">
                <a16:creationId xmlns:a16="http://schemas.microsoft.com/office/drawing/2014/main" id="{389F7398-FB55-86A9-3C34-3E1A65EC01DB}"/>
              </a:ext>
            </a:extLst>
          </p:cNvPr>
          <p:cNvSpPr/>
          <p:nvPr/>
        </p:nvSpPr>
        <p:spPr>
          <a:xfrm>
            <a:off x="11105839" y="9508496"/>
            <a:ext cx="368701" cy="364091"/>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E15D3A30-203A-0EF8-D5C5-115109C981EB}"/>
              </a:ext>
            </a:extLst>
          </p:cNvPr>
          <p:cNvSpPr/>
          <p:nvPr/>
        </p:nvSpPr>
        <p:spPr>
          <a:xfrm>
            <a:off x="3874137" y="2417495"/>
            <a:ext cx="533400" cy="319414"/>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FC4AA0EA-6B65-00A6-55C5-C5F234BE60D5}"/>
              </a:ext>
            </a:extLst>
          </p:cNvPr>
          <p:cNvSpPr/>
          <p:nvPr/>
        </p:nvSpPr>
        <p:spPr>
          <a:xfrm>
            <a:off x="3843657" y="7674119"/>
            <a:ext cx="533400" cy="319414"/>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DA7741B-9D01-D13C-B8F7-9AB9F4AE1334}"/>
              </a:ext>
            </a:extLst>
          </p:cNvPr>
          <p:cNvSpPr/>
          <p:nvPr/>
        </p:nvSpPr>
        <p:spPr>
          <a:xfrm>
            <a:off x="3889377" y="8378835"/>
            <a:ext cx="533400" cy="319414"/>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64B4E92A-1F9E-1D14-4928-6F4EC90C2A38}"/>
              </a:ext>
            </a:extLst>
          </p:cNvPr>
          <p:cNvSpPr/>
          <p:nvPr/>
        </p:nvSpPr>
        <p:spPr>
          <a:xfrm>
            <a:off x="3889377" y="7023763"/>
            <a:ext cx="533400" cy="319414"/>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c</a:t>
            </a:r>
            <a:endParaRPr lang="zh-CN" altLang="en-US" dirty="0"/>
          </a:p>
        </p:txBody>
      </p:sp>
      <p:sp>
        <p:nvSpPr>
          <p:cNvPr id="40" name="椭圆 39">
            <a:extLst>
              <a:ext uri="{FF2B5EF4-FFF2-40B4-BE49-F238E27FC236}">
                <a16:creationId xmlns:a16="http://schemas.microsoft.com/office/drawing/2014/main" id="{58935457-7303-0B10-7C0D-08A9A4D56D88}"/>
              </a:ext>
            </a:extLst>
          </p:cNvPr>
          <p:cNvSpPr/>
          <p:nvPr/>
        </p:nvSpPr>
        <p:spPr>
          <a:xfrm>
            <a:off x="3894911" y="9097957"/>
            <a:ext cx="533400" cy="319414"/>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B0F541D3-7471-A3DD-FADF-8068B4BFDDE7}"/>
              </a:ext>
            </a:extLst>
          </p:cNvPr>
          <p:cNvSpPr/>
          <p:nvPr/>
        </p:nvSpPr>
        <p:spPr>
          <a:xfrm>
            <a:off x="3505828" y="3088762"/>
            <a:ext cx="1290543" cy="2899343"/>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直接箭头连接符 51">
            <a:extLst>
              <a:ext uri="{FF2B5EF4-FFF2-40B4-BE49-F238E27FC236}">
                <a16:creationId xmlns:a16="http://schemas.microsoft.com/office/drawing/2014/main" id="{2203F00C-904C-DFB1-5A61-36C5FD6F3845}"/>
              </a:ext>
            </a:extLst>
          </p:cNvPr>
          <p:cNvCxnSpPr>
            <a:cxnSpLocks/>
            <a:stCxn id="37" idx="7"/>
          </p:cNvCxnSpPr>
          <p:nvPr/>
        </p:nvCxnSpPr>
        <p:spPr>
          <a:xfrm flipV="1">
            <a:off x="4298942" y="7720001"/>
            <a:ext cx="7228441" cy="895"/>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55" name="连接符: 肘形 54">
            <a:extLst>
              <a:ext uri="{FF2B5EF4-FFF2-40B4-BE49-F238E27FC236}">
                <a16:creationId xmlns:a16="http://schemas.microsoft.com/office/drawing/2014/main" id="{08167179-C35B-E0D4-7949-EEBD9B1B5FCE}"/>
              </a:ext>
            </a:extLst>
          </p:cNvPr>
          <p:cNvCxnSpPr>
            <a:cxnSpLocks/>
            <a:endCxn id="13" idx="1"/>
          </p:cNvCxnSpPr>
          <p:nvPr/>
        </p:nvCxnSpPr>
        <p:spPr>
          <a:xfrm>
            <a:off x="4422777" y="2608219"/>
            <a:ext cx="734341" cy="723915"/>
          </a:xfrm>
          <a:prstGeom prst="bentConnector3">
            <a:avLst>
              <a:gd name="adj1" fmla="val 50000"/>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66" name="文本框 65">
            <a:extLst>
              <a:ext uri="{FF2B5EF4-FFF2-40B4-BE49-F238E27FC236}">
                <a16:creationId xmlns:a16="http://schemas.microsoft.com/office/drawing/2014/main" id="{62F268E2-6A03-76CB-D0A8-395FF0B7606B}"/>
              </a:ext>
            </a:extLst>
          </p:cNvPr>
          <p:cNvSpPr txBox="1"/>
          <p:nvPr/>
        </p:nvSpPr>
        <p:spPr>
          <a:xfrm>
            <a:off x="486421" y="1211502"/>
            <a:ext cx="4572000" cy="400110"/>
          </a:xfrm>
          <a:prstGeom prst="rect">
            <a:avLst/>
          </a:prstGeom>
          <a:noFill/>
        </p:spPr>
        <p:txBody>
          <a:bodyPr wrap="square">
            <a:spAutoFit/>
          </a:bodyPr>
          <a:lstStyle/>
          <a:p>
            <a:pPr algn="ctr"/>
            <a:r>
              <a:rPr lang="en-US" altLang="zh-CN" sz="2000" b="1" dirty="0">
                <a:solidFill>
                  <a:srgbClr val="0F4662"/>
                </a:solidFill>
                <a:latin typeface="InterVariable"/>
                <a:cs typeface="Times New Roman" panose="02020603050405020304" pitchFamily="18" charset="0"/>
              </a:rPr>
              <a:t>Correlation and Cointegration Analysis</a:t>
            </a:r>
            <a:endParaRPr lang="zh-CN" altLang="en-US" sz="2000" b="1" dirty="0">
              <a:solidFill>
                <a:srgbClr val="0F4662"/>
              </a:solidFill>
              <a:latin typeface="InterVariable"/>
              <a:cs typeface="Times New Roman" panose="02020603050405020304" pitchFamily="18" charset="0"/>
            </a:endParaRPr>
          </a:p>
        </p:txBody>
      </p:sp>
    </p:spTree>
    <p:extLst>
      <p:ext uri="{BB962C8B-B14F-4D97-AF65-F5344CB8AC3E}">
        <p14:creationId xmlns:p14="http://schemas.microsoft.com/office/powerpoint/2010/main" val="706491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7670C-81F3-2834-DB52-88A667FEA675}"/>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4A2B637F-86FE-5A9B-0AD9-8CFCF4E2B162}"/>
              </a:ext>
            </a:extLst>
          </p:cNvPr>
          <p:cNvSpPr txBox="1"/>
          <p:nvPr/>
        </p:nvSpPr>
        <p:spPr>
          <a:xfrm>
            <a:off x="10972800" y="1229454"/>
            <a:ext cx="7315200" cy="949619"/>
          </a:xfrm>
          <a:prstGeom prst="rect">
            <a:avLst/>
          </a:prstGeom>
        </p:spPr>
        <p:txBody>
          <a:bodyPr wrap="square" lIns="0" tIns="0" rIns="0" bIns="0" rtlCol="0" anchor="t">
            <a:spAutoFit/>
          </a:bodyPr>
          <a:lstStyle/>
          <a:p>
            <a:pPr marL="0" lvl="0" indent="0" algn="l">
              <a:lnSpc>
                <a:spcPts val="8959"/>
              </a:lnSpc>
              <a:spcBef>
                <a:spcPct val="0"/>
              </a:spcBef>
            </a:pPr>
            <a:r>
              <a:rPr lang="en-US" altLang="zh-CN" sz="2400" b="1" i="1" dirty="0">
                <a:solidFill>
                  <a:srgbClr val="0F4662"/>
                </a:solidFill>
                <a:latin typeface="Cormorant Garamond Bold Italics"/>
              </a:rPr>
              <a:t>:</a:t>
            </a:r>
            <a:endParaRPr lang="en-US" sz="2400" b="1" i="1" dirty="0">
              <a:solidFill>
                <a:srgbClr val="0F4662"/>
              </a:solidFill>
              <a:latin typeface="Cormorant Garamond Bold Italics"/>
              <a:sym typeface="Cormorant Garamond Bold Italics"/>
            </a:endParaRPr>
          </a:p>
        </p:txBody>
      </p:sp>
      <p:grpSp>
        <p:nvGrpSpPr>
          <p:cNvPr id="7" name="组合 6">
            <a:extLst>
              <a:ext uri="{FF2B5EF4-FFF2-40B4-BE49-F238E27FC236}">
                <a16:creationId xmlns:a16="http://schemas.microsoft.com/office/drawing/2014/main" id="{759AB727-4F83-999B-7E38-664E115A586E}"/>
              </a:ext>
            </a:extLst>
          </p:cNvPr>
          <p:cNvGrpSpPr/>
          <p:nvPr/>
        </p:nvGrpSpPr>
        <p:grpSpPr>
          <a:xfrm>
            <a:off x="14949292" y="147595"/>
            <a:ext cx="2484269" cy="897220"/>
            <a:chOff x="14949292" y="147595"/>
            <a:chExt cx="2484269" cy="897220"/>
          </a:xfrm>
        </p:grpSpPr>
        <p:pic>
          <p:nvPicPr>
            <p:cNvPr id="9" name="图片 8">
              <a:extLst>
                <a:ext uri="{FF2B5EF4-FFF2-40B4-BE49-F238E27FC236}">
                  <a16:creationId xmlns:a16="http://schemas.microsoft.com/office/drawing/2014/main" id="{6DB2571F-BC06-9CCE-002F-0A9C684BBDD9}"/>
                </a:ext>
              </a:extLst>
            </p:cNvPr>
            <p:cNvPicPr>
              <a:picLocks noChangeAspect="1"/>
            </p:cNvPicPr>
            <p:nvPr/>
          </p:nvPicPr>
          <p:blipFill>
            <a:blip r:embed="rId3"/>
            <a:stretch>
              <a:fillRect/>
            </a:stretch>
          </p:blipFill>
          <p:spPr>
            <a:xfrm>
              <a:off x="14949292" y="147595"/>
              <a:ext cx="1472893" cy="863959"/>
            </a:xfrm>
            <a:prstGeom prst="rect">
              <a:avLst/>
            </a:prstGeom>
          </p:spPr>
        </p:pic>
        <p:pic>
          <p:nvPicPr>
            <p:cNvPr id="11" name="图片 10">
              <a:extLst>
                <a:ext uri="{FF2B5EF4-FFF2-40B4-BE49-F238E27FC236}">
                  <a16:creationId xmlns:a16="http://schemas.microsoft.com/office/drawing/2014/main" id="{3E2D1D55-249F-2A06-AC95-202E7BB2F694}"/>
                </a:ext>
              </a:extLst>
            </p:cNvPr>
            <p:cNvPicPr>
              <a:picLocks noChangeAspect="1"/>
            </p:cNvPicPr>
            <p:nvPr/>
          </p:nvPicPr>
          <p:blipFill>
            <a:blip r:embed="rId4"/>
            <a:stretch>
              <a:fillRect/>
            </a:stretch>
          </p:blipFill>
          <p:spPr>
            <a:xfrm>
              <a:off x="16585504" y="147595"/>
              <a:ext cx="848057" cy="897220"/>
            </a:xfrm>
            <a:prstGeom prst="rect">
              <a:avLst/>
            </a:prstGeom>
          </p:spPr>
        </p:pic>
      </p:grpSp>
      <p:pic>
        <p:nvPicPr>
          <p:cNvPr id="8" name="图片 7">
            <a:extLst>
              <a:ext uri="{FF2B5EF4-FFF2-40B4-BE49-F238E27FC236}">
                <a16:creationId xmlns:a16="http://schemas.microsoft.com/office/drawing/2014/main" id="{C7BEFFC5-208B-86DD-8DE1-392A2ED80952}"/>
              </a:ext>
            </a:extLst>
          </p:cNvPr>
          <p:cNvPicPr>
            <a:picLocks noChangeAspect="1"/>
          </p:cNvPicPr>
          <p:nvPr/>
        </p:nvPicPr>
        <p:blipFill>
          <a:blip r:embed="rId5"/>
          <a:stretch>
            <a:fillRect/>
          </a:stretch>
        </p:blipFill>
        <p:spPr>
          <a:xfrm>
            <a:off x="83102" y="1368872"/>
            <a:ext cx="10584898" cy="6231212"/>
          </a:xfrm>
          <a:prstGeom prst="rect">
            <a:avLst/>
          </a:prstGeom>
        </p:spPr>
      </p:pic>
      <p:sp>
        <p:nvSpPr>
          <p:cNvPr id="3" name="TextBox 6">
            <a:extLst>
              <a:ext uri="{FF2B5EF4-FFF2-40B4-BE49-F238E27FC236}">
                <a16:creationId xmlns:a16="http://schemas.microsoft.com/office/drawing/2014/main" id="{5FA8F70F-FB2B-8431-FE03-613F441B4883}"/>
              </a:ext>
            </a:extLst>
          </p:cNvPr>
          <p:cNvSpPr txBox="1"/>
          <p:nvPr/>
        </p:nvSpPr>
        <p:spPr>
          <a:xfrm>
            <a:off x="510132" y="-48974"/>
            <a:ext cx="15415056" cy="1009059"/>
          </a:xfrm>
          <a:prstGeom prst="rect">
            <a:avLst/>
          </a:prstGeom>
        </p:spPr>
        <p:txBody>
          <a:bodyPr wrap="square" lIns="0" tIns="0" rIns="0" bIns="0" rtlCol="0" anchor="t">
            <a:spAutoFit/>
          </a:bodyPr>
          <a:lstStyle/>
          <a:p>
            <a:pPr marL="0" lvl="0" indent="0" algn="l">
              <a:lnSpc>
                <a:spcPts val="8959"/>
              </a:lnSpc>
              <a:spcBef>
                <a:spcPct val="0"/>
              </a:spcBef>
            </a:pPr>
            <a:r>
              <a:rPr lang="en-US" altLang="zh-CN" sz="4000" b="1" dirty="0">
                <a:solidFill>
                  <a:srgbClr val="0F4662"/>
                </a:solidFill>
                <a:latin typeface="InterVariable"/>
              </a:rPr>
              <a:t>Quantitative Analysis (2) - </a:t>
            </a:r>
            <a:r>
              <a:rPr lang="en-US" altLang="zh-CN" sz="3200" b="1" i="1" dirty="0">
                <a:solidFill>
                  <a:srgbClr val="00B050"/>
                </a:solidFill>
                <a:latin typeface="InterVariable"/>
                <a:ea typeface="Cormorant Garamond Bold Italics"/>
                <a:cs typeface="Arial" panose="020B0604020202020204" pitchFamily="34" charset="0"/>
                <a:sym typeface="Cormorant Garamond Bold Italics"/>
              </a:rPr>
              <a:t>Long Tesla (Tsla.US) </a:t>
            </a:r>
            <a:r>
              <a:rPr lang="en-US" altLang="zh-CN" sz="3200" b="1" i="1" dirty="0">
                <a:solidFill>
                  <a:srgbClr val="C00000"/>
                </a:solidFill>
                <a:latin typeface="InterVariable"/>
                <a:ea typeface="Cormorant Garamond Bold Italics"/>
                <a:cs typeface="Arial" panose="020B0604020202020204" pitchFamily="34" charset="0"/>
                <a:sym typeface="Cormorant Garamond Bold Italics"/>
              </a:rPr>
              <a:t>Short BYD (1211.HK)</a:t>
            </a:r>
            <a:endParaRPr lang="en-US" sz="3200" b="1" i="1" dirty="0">
              <a:solidFill>
                <a:srgbClr val="0F4662"/>
              </a:solidFill>
              <a:latin typeface="Cormorant Garamond Bold Italics"/>
              <a:sym typeface="Cormorant Garamond Bold Italics"/>
            </a:endParaRPr>
          </a:p>
        </p:txBody>
      </p:sp>
      <p:cxnSp>
        <p:nvCxnSpPr>
          <p:cNvPr id="5" name="直接连接符 4">
            <a:extLst>
              <a:ext uri="{FF2B5EF4-FFF2-40B4-BE49-F238E27FC236}">
                <a16:creationId xmlns:a16="http://schemas.microsoft.com/office/drawing/2014/main" id="{F927136E-8E38-24B9-7C3F-50501F0C5CCE}"/>
              </a:ext>
            </a:extLst>
          </p:cNvPr>
          <p:cNvCxnSpPr>
            <a:cxnSpLocks/>
          </p:cNvCxnSpPr>
          <p:nvPr/>
        </p:nvCxnSpPr>
        <p:spPr>
          <a:xfrm>
            <a:off x="471735" y="1144724"/>
            <a:ext cx="17086815" cy="0"/>
          </a:xfrm>
          <a:prstGeom prst="line">
            <a:avLst/>
          </a:prstGeom>
          <a:ln w="2857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extBox 2">
                <a:extLst>
                  <a:ext uri="{FF2B5EF4-FFF2-40B4-BE49-F238E27FC236}">
                    <a16:creationId xmlns:a16="http://schemas.microsoft.com/office/drawing/2014/main" id="{375EE267-FF3B-0079-7876-C56FF60ECD1E}"/>
                  </a:ext>
                </a:extLst>
              </p:cNvPr>
              <p:cNvSpPr txBox="1"/>
              <p:nvPr/>
            </p:nvSpPr>
            <p:spPr>
              <a:xfrm>
                <a:off x="10439400" y="1461950"/>
                <a:ext cx="7119150" cy="8362354"/>
              </a:xfrm>
              <a:prstGeom prst="rect">
                <a:avLst/>
              </a:prstGeom>
            </p:spPr>
            <p:txBody>
              <a:bodyPr wrap="square" lIns="0" tIns="0" rIns="0" bIns="0" rtlCol="0" anchor="t">
                <a:spAutoFit/>
              </a:bodyPr>
              <a:lstStyle/>
              <a:p>
                <a:pPr marL="800100" lvl="1" indent="-342900" algn="just">
                  <a:lnSpc>
                    <a:spcPts val="4079"/>
                  </a:lnSpc>
                  <a:buFont typeface="Wingdings" panose="05000000000000000000" pitchFamily="2" charset="2"/>
                  <a:buChar char="l"/>
                </a:pPr>
                <a:r>
                  <a:rPr lang="en-US" altLang="zh-CN" sz="2400" b="1" i="1" u="sng" dirty="0">
                    <a:solidFill>
                      <a:schemeClr val="accent5">
                        <a:lumMod val="50000"/>
                      </a:schemeClr>
                    </a:solidFill>
                    <a:latin typeface="Cambria Math" panose="02040503050406030204" pitchFamily="18" charset="0"/>
                    <a:cs typeface="Times New Roman" panose="02020603050405020304" pitchFamily="18" charset="0"/>
                  </a:rPr>
                  <a:t>Spread </a:t>
                </a:r>
                <a:r>
                  <a:rPr lang="en-US" altLang="zh-CN" sz="2400" b="1" i="1" u="sng" dirty="0">
                    <a:solidFill>
                      <a:srgbClr val="0F4662"/>
                    </a:solidFill>
                    <a:latin typeface="InterVariable"/>
                  </a:rPr>
                  <a:t>= </a:t>
                </a:r>
                <a14:m>
                  <m:oMath xmlns:m="http://schemas.openxmlformats.org/officeDocument/2006/math">
                    <m:r>
                      <a:rPr lang="en-US" altLang="zh-CN" sz="2400" b="1" i="1" u="sng" dirty="0">
                        <a:solidFill>
                          <a:schemeClr val="accent5">
                            <a:lumMod val="50000"/>
                          </a:schemeClr>
                        </a:solidFill>
                        <a:latin typeface="Cambria Math" panose="02040503050406030204" pitchFamily="18" charset="0"/>
                        <a:cs typeface="Times New Roman" panose="02020603050405020304" pitchFamily="18" charset="0"/>
                        <a:sym typeface="Wingdings" panose="05000000000000000000" pitchFamily="2" charset="2"/>
                      </a:rPr>
                      <m:t> </m:t>
                    </m:r>
                    <m:r>
                      <a:rPr lang="en-US" altLang="zh-CN" sz="2400" b="1" i="1" u="sng" dirty="0">
                        <a:solidFill>
                          <a:schemeClr val="accent5">
                            <a:lumMod val="50000"/>
                          </a:schemeClr>
                        </a:solidFill>
                        <a:latin typeface="Cambria Math" panose="02040503050406030204" pitchFamily="18" charset="0"/>
                        <a:cs typeface="Times New Roman" panose="02020603050405020304" pitchFamily="18" charset="0"/>
                        <a:sym typeface="Wingdings" panose="05000000000000000000" pitchFamily="2" charset="2"/>
                      </a:rPr>
                      <m:t>𝑳</m:t>
                    </m:r>
                    <m:r>
                      <a:rPr lang="en-US" altLang="zh-CN" sz="2400" b="1" i="1" u="sng" dirty="0">
                        <a:solidFill>
                          <a:schemeClr val="accent5">
                            <a:lumMod val="50000"/>
                          </a:schemeClr>
                        </a:solidFill>
                        <a:latin typeface="Cambria Math" panose="02040503050406030204" pitchFamily="18" charset="0"/>
                        <a:cs typeface="Times New Roman" panose="02020603050405020304" pitchFamily="18" charset="0"/>
                        <a:sym typeface="Wingdings" panose="05000000000000000000" pitchFamily="2" charset="2"/>
                      </a:rPr>
                      <m:t>𝒏</m:t>
                    </m:r>
                    <m:r>
                      <a:rPr lang="en-US" altLang="zh-CN" sz="2400" b="1" i="1" u="sng" dirty="0">
                        <a:solidFill>
                          <a:schemeClr val="accent5">
                            <a:lumMod val="50000"/>
                          </a:schemeClr>
                        </a:solidFill>
                        <a:latin typeface="Cambria Math" panose="02040503050406030204" pitchFamily="18" charset="0"/>
                        <a:cs typeface="Times New Roman" panose="02020603050405020304" pitchFamily="18" charset="0"/>
                        <a:sym typeface="Wingdings" panose="05000000000000000000" pitchFamily="2" charset="2"/>
                      </a:rPr>
                      <m:t> </m:t>
                    </m:r>
                  </m:oMath>
                </a14:m>
                <a:r>
                  <a:rPr lang="en-US" altLang="zh-CN" sz="2400" b="1" i="1" u="sng" dirty="0">
                    <a:solidFill>
                      <a:srgbClr val="0F4662"/>
                    </a:solidFill>
                    <a:latin typeface="InterVariable"/>
                  </a:rPr>
                  <a:t>(Price</a:t>
                </a:r>
                <a:r>
                  <a:rPr lang="en-US" altLang="zh-CN" b="1" i="1" u="sng" dirty="0">
                    <a:solidFill>
                      <a:srgbClr val="0F4662"/>
                    </a:solidFill>
                    <a:latin typeface="InterVariable"/>
                  </a:rPr>
                  <a:t>[BYD]</a:t>
                </a:r>
                <a:r>
                  <a:rPr lang="en-US" altLang="zh-CN" sz="2400" b="1" i="1" u="sng" dirty="0">
                    <a:solidFill>
                      <a:srgbClr val="0F4662"/>
                    </a:solidFill>
                    <a:latin typeface="InterVariable"/>
                  </a:rPr>
                  <a:t> ) </a:t>
                </a:r>
                <a:r>
                  <a:rPr lang="zh-CN" altLang="en-US" sz="2400" b="1" i="1" u="sng" dirty="0">
                    <a:solidFill>
                      <a:srgbClr val="0F4662"/>
                    </a:solidFill>
                    <a:latin typeface="等线" panose="02010600030101010101" pitchFamily="2" charset="-122"/>
                    <a:ea typeface="等线" panose="02010600030101010101" pitchFamily="2" charset="-122"/>
                  </a:rPr>
                  <a:t>－</a:t>
                </a:r>
                <a:r>
                  <a:rPr lang="en-US" altLang="zh-CN" sz="2400" b="1" i="1" u="sng" dirty="0">
                    <a:solidFill>
                      <a:srgbClr val="0F4662"/>
                    </a:solidFill>
                    <a:latin typeface="InterVariable"/>
                  </a:rPr>
                  <a:t> </a:t>
                </a:r>
                <a14:m>
                  <m:oMath xmlns:m="http://schemas.openxmlformats.org/officeDocument/2006/math">
                    <m:r>
                      <a:rPr lang="en-US" altLang="zh-CN" sz="2400" b="1" i="1" u="sng" dirty="0" smtClean="0">
                        <a:solidFill>
                          <a:schemeClr val="accent5">
                            <a:lumMod val="50000"/>
                          </a:schemeClr>
                        </a:solidFill>
                        <a:latin typeface="Cambria Math" panose="02040503050406030204" pitchFamily="18" charset="0"/>
                        <a:cs typeface="Times New Roman" panose="02020603050405020304" pitchFamily="18" charset="0"/>
                      </a:rPr>
                      <m:t>𝜷</m:t>
                    </m:r>
                    <m:r>
                      <a:rPr lang="en-US" altLang="zh-CN" sz="2400" b="1" i="1" u="sng" dirty="0" smtClean="0">
                        <a:solidFill>
                          <a:schemeClr val="accent5">
                            <a:lumMod val="50000"/>
                          </a:schemeClr>
                        </a:solidFill>
                        <a:latin typeface="Cambria Math" panose="02040503050406030204" pitchFamily="18" charset="0"/>
                        <a:cs typeface="Times New Roman" panose="02020603050405020304" pitchFamily="18" charset="0"/>
                      </a:rPr>
                      <m:t>  </m:t>
                    </m:r>
                    <m:r>
                      <a:rPr lang="en-US" altLang="zh-CN" sz="2400" b="1" i="1" u="sng" dirty="0">
                        <a:solidFill>
                          <a:schemeClr val="accent5">
                            <a:lumMod val="50000"/>
                          </a:schemeClr>
                        </a:solidFill>
                        <a:latin typeface="Cambria Math" panose="02040503050406030204" pitchFamily="18" charset="0"/>
                        <a:cs typeface="Times New Roman" panose="02020603050405020304" pitchFamily="18" charset="0"/>
                        <a:sym typeface="Wingdings" panose="05000000000000000000" pitchFamily="2" charset="2"/>
                      </a:rPr>
                      <m:t>𝑳</m:t>
                    </m:r>
                    <m:r>
                      <a:rPr lang="en-US" altLang="zh-CN" sz="2400" b="1" i="1" u="sng" dirty="0" smtClean="0">
                        <a:solidFill>
                          <a:schemeClr val="accent5">
                            <a:lumMod val="50000"/>
                          </a:schemeClr>
                        </a:solidFill>
                        <a:latin typeface="Cambria Math" panose="02040503050406030204" pitchFamily="18" charset="0"/>
                        <a:cs typeface="Times New Roman" panose="02020603050405020304" pitchFamily="18" charset="0"/>
                        <a:sym typeface="Wingdings" panose="05000000000000000000" pitchFamily="2" charset="2"/>
                      </a:rPr>
                      <m:t>𝒏</m:t>
                    </m:r>
                  </m:oMath>
                </a14:m>
                <a:r>
                  <a:rPr lang="en-US" altLang="zh-CN" sz="2400" b="1" i="1" u="sng" dirty="0">
                    <a:solidFill>
                      <a:srgbClr val="0F4662"/>
                    </a:solidFill>
                    <a:latin typeface="InterVariable"/>
                  </a:rPr>
                  <a:t>(Price</a:t>
                </a:r>
                <a:r>
                  <a:rPr lang="en-US" altLang="zh-CN" b="1" i="1" u="sng" dirty="0">
                    <a:solidFill>
                      <a:srgbClr val="0F4662"/>
                    </a:solidFill>
                    <a:latin typeface="InterVariable"/>
                  </a:rPr>
                  <a:t>[Tesla]</a:t>
                </a:r>
                <a:r>
                  <a:rPr lang="en-US" altLang="zh-CN" sz="2400" b="1" i="1" u="sng" dirty="0">
                    <a:solidFill>
                      <a:srgbClr val="0F4662"/>
                    </a:solidFill>
                    <a:latin typeface="InterVariable"/>
                  </a:rPr>
                  <a:t>), </a:t>
                </a:r>
                <a14:m>
                  <m:oMath xmlns:m="http://schemas.openxmlformats.org/officeDocument/2006/math">
                    <m:r>
                      <a:rPr lang="en-US" altLang="zh-CN" sz="2400" dirty="0">
                        <a:solidFill>
                          <a:srgbClr val="0F4662"/>
                        </a:solidFill>
                        <a:latin typeface="InterVariable"/>
                      </a:rPr>
                      <m:t>𝜷</m:t>
                    </m:r>
                    <m:r>
                      <a:rPr lang="en-US" altLang="zh-CN" sz="2400" dirty="0">
                        <a:solidFill>
                          <a:srgbClr val="0F4662"/>
                        </a:solidFill>
                        <a:latin typeface="InterVariable"/>
                      </a:rPr>
                      <m:t> </m:t>
                    </m:r>
                    <m:r>
                      <m:rPr>
                        <m:sty m:val="p"/>
                      </m:rPr>
                      <a:rPr lang="en-US" altLang="zh-CN" sz="2400" dirty="0">
                        <a:solidFill>
                          <a:srgbClr val="0F4662"/>
                        </a:solidFill>
                        <a:latin typeface="InterVariable"/>
                      </a:rPr>
                      <m:t>represnts</m:t>
                    </m:r>
                  </m:oMath>
                </a14:m>
                <a:r>
                  <a:rPr lang="en-US" altLang="zh-CN" sz="2400" dirty="0">
                    <a:solidFill>
                      <a:srgbClr val="0F4662"/>
                    </a:solidFill>
                    <a:latin typeface="InterVariable"/>
                  </a:rPr>
                  <a:t> hedge ratio</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rPr>
                  <a:t>The BYD-Tesla stock price spread exhibits clear mean-reverting behavior, as it repeatedly returns to the historical mean after deviations. For example, after dipping to -1.2 in 2020, it quickly reverted to the mean, and after peaking in 2023, it declined toward the mean.</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rPr>
                  <a:t>The spread’s mean-reverting behavior and high percentage of time within the 2-SD band suggest that BYD-Tesla is good for pair stock trading. </a:t>
                </a:r>
              </a:p>
              <a:p>
                <a:pPr marL="800100" lvl="1" indent="-342900" algn="just">
                  <a:lnSpc>
                    <a:spcPts val="4079"/>
                  </a:lnSpc>
                  <a:buFont typeface="Wingdings" panose="05000000000000000000" pitchFamily="2" charset="2"/>
                  <a:buChar char="l"/>
                </a:pPr>
                <a:r>
                  <a:rPr lang="en-US" altLang="zh-CN" sz="2400" dirty="0">
                    <a:solidFill>
                      <a:srgbClr val="0F4662"/>
                    </a:solidFill>
                    <a:latin typeface="InterVariable"/>
                  </a:rPr>
                  <a:t>The price spread stays within a normal range 96% of the time and is expected to drop from </a:t>
                </a:r>
                <a:r>
                  <a:rPr lang="en-US" altLang="zh-CN" sz="2400" b="1" dirty="0">
                    <a:solidFill>
                      <a:srgbClr val="0F4662"/>
                    </a:solidFill>
                    <a:latin typeface="InterVariable"/>
                  </a:rPr>
                  <a:t>0.039 on April 17, 2025</a:t>
                </a:r>
                <a:r>
                  <a:rPr lang="en-US" altLang="zh-CN" sz="2400" dirty="0">
                    <a:solidFill>
                      <a:srgbClr val="0F4662"/>
                    </a:solidFill>
                    <a:latin typeface="InterVariable"/>
                  </a:rPr>
                  <a:t> to the historical mean by mid-May 2025, indicating a potential </a:t>
                </a:r>
                <a:r>
                  <a:rPr lang="en-US" altLang="zh-CN" sz="2400" b="1" dirty="0">
                    <a:solidFill>
                      <a:srgbClr val="0F4662"/>
                    </a:solidFill>
                    <a:latin typeface="InterVariable"/>
                  </a:rPr>
                  <a:t>opportunity (sell BYD and buy Tesla)</a:t>
                </a:r>
              </a:p>
            </p:txBody>
          </p:sp>
        </mc:Choice>
        <mc:Fallback>
          <p:sp>
            <p:nvSpPr>
              <p:cNvPr id="18" name="TextBox 2">
                <a:extLst>
                  <a:ext uri="{FF2B5EF4-FFF2-40B4-BE49-F238E27FC236}">
                    <a16:creationId xmlns:a16="http://schemas.microsoft.com/office/drawing/2014/main" id="{375EE267-FF3B-0079-7876-C56FF60ECD1E}"/>
                  </a:ext>
                </a:extLst>
              </p:cNvPr>
              <p:cNvSpPr txBox="1">
                <a:spLocks noRot="1" noChangeAspect="1" noMove="1" noResize="1" noEditPoints="1" noAdjustHandles="1" noChangeArrowheads="1" noChangeShapeType="1" noTextEdit="1"/>
              </p:cNvSpPr>
              <p:nvPr/>
            </p:nvSpPr>
            <p:spPr>
              <a:xfrm>
                <a:off x="10439400" y="1461950"/>
                <a:ext cx="7119150" cy="8362354"/>
              </a:xfrm>
              <a:prstGeom prst="rect">
                <a:avLst/>
              </a:prstGeom>
              <a:blipFill>
                <a:blip r:embed="rId6"/>
                <a:stretch>
                  <a:fillRect t="-73" r="-2656" b="-11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a:extLst>
                  <a:ext uri="{FF2B5EF4-FFF2-40B4-BE49-F238E27FC236}">
                    <a16:creationId xmlns:a16="http://schemas.microsoft.com/office/drawing/2014/main" id="{EE4F97A8-6FE1-888F-E897-C6129D6E0F95}"/>
                  </a:ext>
                </a:extLst>
              </p:cNvPr>
              <p:cNvSpPr txBox="1"/>
              <p:nvPr/>
            </p:nvSpPr>
            <p:spPr>
              <a:xfrm>
                <a:off x="510132" y="7577224"/>
                <a:ext cx="10188348" cy="2031325"/>
              </a:xfrm>
              <a:prstGeom prst="rect">
                <a:avLst/>
              </a:prstGeom>
              <a:solidFill>
                <a:schemeClr val="accent1">
                  <a:lumMod val="20000"/>
                  <a:lumOff val="80000"/>
                </a:schemeClr>
              </a:solidFill>
            </p:spPr>
            <p:txBody>
              <a:bodyPr wrap="square">
                <a:spAutoFit/>
              </a:bodyPr>
              <a:lstStyle/>
              <a:p>
                <a:r>
                  <a:rPr lang="en-US" altLang="zh-CN" dirty="0">
                    <a:solidFill>
                      <a:schemeClr val="accent5">
                        <a:lumMod val="50000"/>
                      </a:schemeClr>
                    </a:solidFill>
                    <a:latin typeface="InterVariable"/>
                    <a:cs typeface="Times New Roman" panose="02020603050405020304" pitchFamily="18" charset="0"/>
                  </a:rPr>
                  <a:t>Note:</a:t>
                </a:r>
              </a:p>
              <a:p>
                <a:pPr marL="342900" indent="-342900" algn="just">
                  <a:buAutoNum type="arabicParenBoth"/>
                </a:pPr>
                <a:r>
                  <a:rPr lang="en-US" altLang="zh-CN" dirty="0">
                    <a:solidFill>
                      <a:schemeClr val="accent5">
                        <a:lumMod val="50000"/>
                      </a:schemeClr>
                    </a:solidFill>
                    <a:latin typeface="InterVariable"/>
                    <a:cs typeface="Times New Roman" panose="02020603050405020304" pitchFamily="18" charset="0"/>
                  </a:rPr>
                  <a:t>The blue-line plot shows the normalized stock price spread between BYD and Tesla from March 31, 2020 to April 17, 2025, along with the historical mean and </a:t>
                </a:r>
                <a14:m>
                  <m:oMath xmlns:m="http://schemas.openxmlformats.org/officeDocument/2006/math">
                    <m:r>
                      <a:rPr lang="en-US" altLang="zh-CN" i="1" dirty="0" smtClean="0">
                        <a:solidFill>
                          <a:schemeClr val="accent5">
                            <a:lumMod val="50000"/>
                          </a:schemeClr>
                        </a:solidFill>
                        <a:latin typeface="InterVariable"/>
                        <a:cs typeface="Times New Roman" panose="02020603050405020304" pitchFamily="18" charset="0"/>
                      </a:rPr>
                      <m:t>±2</m:t>
                    </m:r>
                    <m:r>
                      <a:rPr lang="en-US" altLang="zh-CN" i="1" dirty="0" smtClean="0">
                        <a:solidFill>
                          <a:schemeClr val="accent5">
                            <a:lumMod val="50000"/>
                          </a:schemeClr>
                        </a:solidFill>
                        <a:latin typeface="InterVariable"/>
                        <a:cs typeface="Times New Roman" panose="02020603050405020304" pitchFamily="18" charset="0"/>
                      </a:rPr>
                      <m:t>𝜎</m:t>
                    </m:r>
                  </m:oMath>
                </a14:m>
                <a:r>
                  <a:rPr lang="en-US" altLang="zh-CN" dirty="0">
                    <a:solidFill>
                      <a:schemeClr val="accent5">
                        <a:lumMod val="50000"/>
                      </a:schemeClr>
                    </a:solidFill>
                    <a:latin typeface="InterVariable"/>
                    <a:cs typeface="Times New Roman" panose="02020603050405020304" pitchFamily="18" charset="0"/>
                  </a:rPr>
                  <a:t> bands</a:t>
                </a:r>
              </a:p>
              <a:p>
                <a:pPr marL="342900" indent="-342900" algn="just">
                  <a:buFontTx/>
                  <a:buAutoNum type="arabicParenBoth"/>
                </a:pPr>
                <a:r>
                  <a:rPr lang="en-US" altLang="zh-CN" dirty="0">
                    <a:solidFill>
                      <a:schemeClr val="accent5">
                        <a:lumMod val="50000"/>
                      </a:schemeClr>
                    </a:solidFill>
                    <a:latin typeface="InterVariable"/>
                    <a:cs typeface="Times New Roman" panose="02020603050405020304" pitchFamily="18" charset="0"/>
                  </a:rPr>
                  <a:t>The red-line plot forecasts 30-day downward trend of stock price spread between BYD and Tesla from the current value (0.039) on April 17 and will reach around −0.1 by mid-May 2025.</a:t>
                </a:r>
              </a:p>
              <a:p>
                <a:pPr marL="342900" indent="-342900" algn="just">
                  <a:buFontTx/>
                  <a:buAutoNum type="arabicParenBoth"/>
                </a:pPr>
                <a:r>
                  <a:rPr lang="en-US" altLang="zh-CN" dirty="0">
                    <a:solidFill>
                      <a:schemeClr val="accent5">
                        <a:lumMod val="50000"/>
                      </a:schemeClr>
                    </a:solidFill>
                    <a:latin typeface="InterVariable"/>
                    <a:cs typeface="Times New Roman" panose="02020603050405020304" pitchFamily="18" charset="0"/>
                  </a:rPr>
                  <a:t>The forecast remains within the ±2</a:t>
                </a:r>
                <a:r>
                  <a:rPr lang="zh-CN" altLang="en-US" dirty="0">
                    <a:solidFill>
                      <a:schemeClr val="accent5">
                        <a:lumMod val="50000"/>
                      </a:schemeClr>
                    </a:solidFill>
                    <a:latin typeface="InterVariable"/>
                    <a:cs typeface="Times New Roman" panose="02020603050405020304" pitchFamily="18" charset="0"/>
                  </a:rPr>
                  <a:t>𝜎 </a:t>
                </a:r>
                <a:r>
                  <a:rPr lang="en-US" altLang="zh-CN" dirty="0">
                    <a:solidFill>
                      <a:schemeClr val="accent5">
                        <a:lumMod val="50000"/>
                      </a:schemeClr>
                    </a:solidFill>
                    <a:latin typeface="InterVariable"/>
                    <a:cs typeface="Times New Roman" panose="02020603050405020304" pitchFamily="18" charset="0"/>
                  </a:rPr>
                  <a:t>band, indicating no extreme deviations are expected in the next 30 days.</a:t>
                </a:r>
              </a:p>
            </p:txBody>
          </p:sp>
        </mc:Choice>
        <mc:Fallback>
          <p:sp>
            <p:nvSpPr>
              <p:cNvPr id="21" name="文本框 20">
                <a:extLst>
                  <a:ext uri="{FF2B5EF4-FFF2-40B4-BE49-F238E27FC236}">
                    <a16:creationId xmlns:a16="http://schemas.microsoft.com/office/drawing/2014/main" id="{EE4F97A8-6FE1-888F-E897-C6129D6E0F95}"/>
                  </a:ext>
                </a:extLst>
              </p:cNvPr>
              <p:cNvSpPr txBox="1">
                <a:spLocks noRot="1" noChangeAspect="1" noMove="1" noResize="1" noEditPoints="1" noAdjustHandles="1" noChangeArrowheads="1" noChangeShapeType="1" noTextEdit="1"/>
              </p:cNvSpPr>
              <p:nvPr/>
            </p:nvSpPr>
            <p:spPr>
              <a:xfrm>
                <a:off x="510132" y="7577224"/>
                <a:ext cx="10188348" cy="2031325"/>
              </a:xfrm>
              <a:prstGeom prst="rect">
                <a:avLst/>
              </a:prstGeom>
              <a:blipFill>
                <a:blip r:embed="rId7"/>
                <a:stretch>
                  <a:fillRect l="-539" t="-1802" r="-479" b="-3904"/>
                </a:stretch>
              </a:blipFill>
            </p:spPr>
            <p:txBody>
              <a:bodyPr/>
              <a:lstStyle/>
              <a:p>
                <a:r>
                  <a:rPr lang="zh-CN" altLang="en-US">
                    <a:noFill/>
                  </a:rPr>
                  <a:t> </a:t>
                </a:r>
              </a:p>
            </p:txBody>
          </p:sp>
        </mc:Fallback>
      </mc:AlternateContent>
      <p:sp>
        <p:nvSpPr>
          <p:cNvPr id="27" name="TextBox 2">
            <a:extLst>
              <a:ext uri="{FF2B5EF4-FFF2-40B4-BE49-F238E27FC236}">
                <a16:creationId xmlns:a16="http://schemas.microsoft.com/office/drawing/2014/main" id="{FFE42B1B-5C71-C0A7-D876-EB61EAC1AD93}"/>
              </a:ext>
            </a:extLst>
          </p:cNvPr>
          <p:cNvSpPr txBox="1"/>
          <p:nvPr/>
        </p:nvSpPr>
        <p:spPr>
          <a:xfrm>
            <a:off x="8001000" y="1461950"/>
            <a:ext cx="7119150" cy="445122"/>
          </a:xfrm>
          <a:prstGeom prst="rect">
            <a:avLst/>
          </a:prstGeom>
        </p:spPr>
        <p:txBody>
          <a:bodyPr wrap="square" lIns="0" tIns="0" rIns="0" bIns="0" rtlCol="0" anchor="t">
            <a:spAutoFit/>
          </a:bodyPr>
          <a:lstStyle/>
          <a:p>
            <a:pPr lvl="1">
              <a:lnSpc>
                <a:spcPts val="4079"/>
              </a:lnSpc>
            </a:pPr>
            <a:r>
              <a:rPr lang="en-US" altLang="zh-CN" sz="1500" b="1" dirty="0">
                <a:solidFill>
                  <a:srgbClr val="C00000"/>
                </a:solidFill>
                <a:latin typeface="InterVariable"/>
              </a:rPr>
              <a:t>Value @ 04/17/25 = 0.039</a:t>
            </a:r>
          </a:p>
        </p:txBody>
      </p:sp>
    </p:spTree>
    <p:extLst>
      <p:ext uri="{BB962C8B-B14F-4D97-AF65-F5344CB8AC3E}">
        <p14:creationId xmlns:p14="http://schemas.microsoft.com/office/powerpoint/2010/main" val="3609455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1FACB-65B9-B6F8-B333-52D6E0F099BB}"/>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0D177DEC-2451-3093-97E4-A13316CA5B31}"/>
              </a:ext>
            </a:extLst>
          </p:cNvPr>
          <p:cNvSpPr txBox="1"/>
          <p:nvPr/>
        </p:nvSpPr>
        <p:spPr>
          <a:xfrm>
            <a:off x="381000" y="-38100"/>
            <a:ext cx="5867400" cy="2165657"/>
          </a:xfrm>
          <a:prstGeom prst="rect">
            <a:avLst/>
          </a:prstGeom>
        </p:spPr>
        <p:txBody>
          <a:bodyPr wrap="square" lIns="0" tIns="0" rIns="0" bIns="0" rtlCol="0" anchor="t">
            <a:spAutoFit/>
          </a:bodyPr>
          <a:lstStyle/>
          <a:p>
            <a:pPr marL="0" marR="0" lvl="0" indent="0" algn="l" defTabSz="914400" rtl="0" eaLnBrk="1" fontAlgn="auto" latinLnBrk="0" hangingPunct="1">
              <a:lnSpc>
                <a:spcPts val="8959"/>
              </a:lnSpc>
              <a:spcBef>
                <a:spcPct val="0"/>
              </a:spcBef>
              <a:spcAft>
                <a:spcPts val="0"/>
              </a:spcAft>
              <a:buClrTx/>
              <a:buSzTx/>
              <a:buFontTx/>
              <a:buNone/>
              <a:tabLst/>
              <a:defRPr/>
            </a:pPr>
            <a:r>
              <a:rPr lang="en-US" altLang="zh-CN" sz="4000" b="1" i="1" dirty="0">
                <a:solidFill>
                  <a:srgbClr val="0F4662"/>
                </a:solidFill>
                <a:latin typeface="Cormorant Garamond Bold Italics" panose="02010600030101010101" charset="0"/>
              </a:rPr>
              <a:t>Quantitative</a:t>
            </a:r>
            <a:r>
              <a:rPr lang="en-US" altLang="zh-CN" sz="4000" b="1" i="1" dirty="0">
                <a:solidFill>
                  <a:srgbClr val="0F4662"/>
                </a:solidFill>
                <a:latin typeface="Cormorant Garamond Bold Italics"/>
              </a:rPr>
              <a:t> Analysis</a:t>
            </a:r>
            <a:r>
              <a:rPr kumimoji="0" lang="en-US" altLang="zh-CN" sz="2400" b="1" i="1" u="none" strike="noStrike" kern="1200" cap="none" spc="0" normalizeH="0" baseline="0" noProof="0" dirty="0">
                <a:ln>
                  <a:noFill/>
                </a:ln>
                <a:solidFill>
                  <a:srgbClr val="0F4662"/>
                </a:solidFill>
                <a:effectLst/>
                <a:uLnTx/>
                <a:uFillTx/>
                <a:latin typeface="Cormorant Garamond Bold Italics"/>
                <a:ea typeface="宋体" panose="02010600030101010101" pitchFamily="2" charset="-122"/>
                <a:cs typeface="+mn-cs"/>
              </a:rPr>
              <a:t>: ARIMA Model</a:t>
            </a:r>
            <a:endParaRPr kumimoji="0" lang="en-US" altLang="zh-CN" sz="2400" b="1" i="1" u="none" strike="noStrike" kern="1200" cap="none" spc="0" normalizeH="0" baseline="0" noProof="0" dirty="0">
              <a:ln>
                <a:noFill/>
              </a:ln>
              <a:solidFill>
                <a:srgbClr val="0F4662"/>
              </a:solidFill>
              <a:effectLst/>
              <a:uLnTx/>
              <a:uFillTx/>
              <a:latin typeface="Cormorant Garamond Bold Italics"/>
              <a:ea typeface="+mn-ea"/>
              <a:cs typeface="+mn-cs"/>
              <a:sym typeface="Cormorant Garamond Bold Italics"/>
            </a:endParaRPr>
          </a:p>
          <a:p>
            <a:pPr marL="0" lvl="0" indent="0" algn="l">
              <a:lnSpc>
                <a:spcPts val="8959"/>
              </a:lnSpc>
              <a:spcBef>
                <a:spcPct val="0"/>
              </a:spcBef>
            </a:pPr>
            <a:endParaRPr lang="en-US" sz="4000" b="1" i="1" dirty="0">
              <a:solidFill>
                <a:srgbClr val="0F4662"/>
              </a:solidFill>
              <a:latin typeface="Cormorant Garamond Bold Italics"/>
              <a:sym typeface="Cormorant Garamond Bold Italics"/>
            </a:endParaRPr>
          </a:p>
        </p:txBody>
      </p:sp>
      <p:pic>
        <p:nvPicPr>
          <p:cNvPr id="9" name="图片 8">
            <a:extLst>
              <a:ext uri="{FF2B5EF4-FFF2-40B4-BE49-F238E27FC236}">
                <a16:creationId xmlns:a16="http://schemas.microsoft.com/office/drawing/2014/main" id="{B004E0EE-EFA6-6F20-C779-22C63DC86601}"/>
              </a:ext>
            </a:extLst>
          </p:cNvPr>
          <p:cNvPicPr>
            <a:picLocks noChangeAspect="1"/>
          </p:cNvPicPr>
          <p:nvPr/>
        </p:nvPicPr>
        <p:blipFill>
          <a:blip r:embed="rId2"/>
          <a:stretch>
            <a:fillRect/>
          </a:stretch>
        </p:blipFill>
        <p:spPr>
          <a:xfrm>
            <a:off x="14949292" y="147595"/>
            <a:ext cx="1724416" cy="1011495"/>
          </a:xfrm>
          <a:prstGeom prst="rect">
            <a:avLst/>
          </a:prstGeom>
        </p:spPr>
      </p:pic>
      <p:pic>
        <p:nvPicPr>
          <p:cNvPr id="11" name="图片 10">
            <a:extLst>
              <a:ext uri="{FF2B5EF4-FFF2-40B4-BE49-F238E27FC236}">
                <a16:creationId xmlns:a16="http://schemas.microsoft.com/office/drawing/2014/main" id="{D525755A-A78C-B0B6-6CA7-AFC6E705E9B7}"/>
              </a:ext>
            </a:extLst>
          </p:cNvPr>
          <p:cNvPicPr>
            <a:picLocks noChangeAspect="1"/>
          </p:cNvPicPr>
          <p:nvPr/>
        </p:nvPicPr>
        <p:blipFill>
          <a:blip r:embed="rId3"/>
          <a:stretch>
            <a:fillRect/>
          </a:stretch>
        </p:blipFill>
        <p:spPr>
          <a:xfrm>
            <a:off x="16916400" y="147595"/>
            <a:ext cx="1104169" cy="1168178"/>
          </a:xfrm>
          <a:prstGeom prst="rect">
            <a:avLst/>
          </a:prstGeom>
        </p:spPr>
      </p:pic>
      <p:pic>
        <p:nvPicPr>
          <p:cNvPr id="3" name="图片 2">
            <a:extLst>
              <a:ext uri="{FF2B5EF4-FFF2-40B4-BE49-F238E27FC236}">
                <a16:creationId xmlns:a16="http://schemas.microsoft.com/office/drawing/2014/main" id="{0ACC8CD9-0D30-1D10-1BEF-95CD8893C47C}"/>
              </a:ext>
            </a:extLst>
          </p:cNvPr>
          <p:cNvPicPr>
            <a:picLocks noChangeAspect="1"/>
          </p:cNvPicPr>
          <p:nvPr/>
        </p:nvPicPr>
        <p:blipFill>
          <a:blip r:embed="rId4"/>
          <a:stretch>
            <a:fillRect/>
          </a:stretch>
        </p:blipFill>
        <p:spPr>
          <a:xfrm>
            <a:off x="1901641" y="1139977"/>
            <a:ext cx="5416917" cy="3599129"/>
          </a:xfrm>
          <a:prstGeom prst="rect">
            <a:avLst/>
          </a:prstGeom>
        </p:spPr>
      </p:pic>
      <p:pic>
        <p:nvPicPr>
          <p:cNvPr id="7" name="图片 6">
            <a:extLst>
              <a:ext uri="{FF2B5EF4-FFF2-40B4-BE49-F238E27FC236}">
                <a16:creationId xmlns:a16="http://schemas.microsoft.com/office/drawing/2014/main" id="{6F2E72B7-40C0-3DB6-5DE9-CAD1E166428C}"/>
              </a:ext>
            </a:extLst>
          </p:cNvPr>
          <p:cNvPicPr>
            <a:picLocks noChangeAspect="1"/>
          </p:cNvPicPr>
          <p:nvPr/>
        </p:nvPicPr>
        <p:blipFill>
          <a:blip r:embed="rId5"/>
          <a:stretch>
            <a:fillRect/>
          </a:stretch>
        </p:blipFill>
        <p:spPr>
          <a:xfrm>
            <a:off x="9862946" y="1137433"/>
            <a:ext cx="6717934" cy="3599128"/>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E27A5E1-BACB-BB9D-7A72-FB8746A5E6F2}"/>
                  </a:ext>
                </a:extLst>
              </p:cNvPr>
              <p:cNvSpPr txBox="1"/>
              <p:nvPr/>
            </p:nvSpPr>
            <p:spPr>
              <a:xfrm>
                <a:off x="1447799" y="4762500"/>
                <a:ext cx="6324600" cy="1384546"/>
              </a:xfrm>
              <a:prstGeom prst="rect">
                <a:avLst/>
              </a:prstGeom>
              <a:solidFill>
                <a:schemeClr val="accent1">
                  <a:lumMod val="20000"/>
                  <a:lumOff val="80000"/>
                </a:schemeClr>
              </a:solidFill>
            </p:spPr>
            <p:txBody>
              <a:bodyPr wrap="square">
                <a:spAutoFit/>
              </a:bodyPr>
              <a:lstStyle/>
              <a:p>
                <a:r>
                  <a:rPr lang="en-US" altLang="zh-CN" sz="1600" b="1" dirty="0">
                    <a:solidFill>
                      <a:srgbClr val="0F4662"/>
                    </a:solidFill>
                    <a:latin typeface="Book Antiqua" panose="02040602050305030304" pitchFamily="18" charset="0"/>
                    <a:cs typeface="Times New Roman" panose="02020603050405020304" pitchFamily="18" charset="0"/>
                  </a:rPr>
                  <a:t>Autocorrelation</a:t>
                </a:r>
                <a:r>
                  <a:rPr lang="en-US" altLang="zh-CN" i="1" dirty="0">
                    <a:solidFill>
                      <a:schemeClr val="accent5">
                        <a:lumMod val="50000"/>
                      </a:schemeClr>
                    </a:solidFill>
                    <a:latin typeface="Cormorant Garamond Bold Italics" panose="02010600030101010101" charset="0"/>
                    <a:cs typeface="Times New Roman" panose="02020603050405020304" pitchFamily="18" charset="0"/>
                  </a:rPr>
                  <a:t>:</a:t>
                </a:r>
                <a:r>
                  <a:rPr lang="en-US" altLang="zh-CN" i="1" dirty="0">
                    <a:solidFill>
                      <a:schemeClr val="accent5">
                        <a:lumMod val="50000"/>
                      </a:schemeClr>
                    </a:solidFill>
                    <a:cs typeface="Times New Roman" panose="02020603050405020304" pitchFamily="18" charset="0"/>
                  </a:rPr>
                  <a:t>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𝜌</m:t>
                        </m:r>
                      </m:e>
                      <m:sub>
                        <m:r>
                          <a:rPr lang="en-US" altLang="zh-CN" i="1" dirty="0" err="1">
                            <a:solidFill>
                              <a:schemeClr val="accent5">
                                <a:lumMod val="50000"/>
                              </a:schemeClr>
                            </a:solidFill>
                            <a:latin typeface="Cambria Math" panose="02040503050406030204" pitchFamily="18" charset="0"/>
                            <a:cs typeface="Times New Roman" panose="02020603050405020304" pitchFamily="18" charset="0"/>
                          </a:rPr>
                          <m:t>𝑘</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b="0" i="1" dirty="0" smtClean="0">
                        <a:solidFill>
                          <a:schemeClr val="accent5">
                            <a:lumMod val="50000"/>
                          </a:schemeClr>
                        </a:solidFill>
                        <a:latin typeface="Cambria Math" panose="02040503050406030204" pitchFamily="18" charset="0"/>
                        <a:cs typeface="Times New Roman" panose="02020603050405020304" pitchFamily="18" charset="0"/>
                      </a:rPr>
                      <m:t> </m:t>
                    </m:r>
                    <m:f>
                      <m:fPr>
                        <m:ctrlPr>
                          <a:rPr lang="en-US" altLang="zh-CN" b="0" i="1" dirty="0" smtClean="0">
                            <a:solidFill>
                              <a:schemeClr val="accent5">
                                <a:lumMod val="50000"/>
                              </a:schemeClr>
                            </a:solidFill>
                            <a:latin typeface="Cambria Math" panose="02040503050406030204" pitchFamily="18" charset="0"/>
                            <a:cs typeface="Times New Roman" panose="02020603050405020304" pitchFamily="18" charset="0"/>
                          </a:rPr>
                        </m:ctrlPr>
                      </m:fPr>
                      <m:num>
                        <m:r>
                          <m:rPr>
                            <m:sty m:val="p"/>
                          </m:rPr>
                          <a:rPr lang="en-US" altLang="zh-CN" i="1" dirty="0">
                            <a:solidFill>
                              <a:schemeClr val="accent5">
                                <a:lumMod val="50000"/>
                              </a:schemeClr>
                            </a:solidFill>
                            <a:latin typeface="Cambria Math" panose="02040503050406030204" pitchFamily="18" charset="0"/>
                            <a:cs typeface="Times New Roman" panose="02020603050405020304" pitchFamily="18" charset="0"/>
                          </a:rPr>
                          <m:t>Co</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𝑣</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𝑘</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num>
                      <m:den>
                        <m:r>
                          <a:rPr lang="en-US" altLang="zh-CN" i="1" dirty="0">
                            <a:solidFill>
                              <a:schemeClr val="accent5">
                                <a:lumMod val="50000"/>
                              </a:schemeClr>
                            </a:solidFill>
                            <a:latin typeface="Cambria Math" panose="02040503050406030204" pitchFamily="18" charset="0"/>
                            <a:cs typeface="Times New Roman" panose="02020603050405020304" pitchFamily="18" charset="0"/>
                          </a:rPr>
                          <m:t>𝑉𝑎𝑟</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den>
                    </m:f>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oMath>
                </a14:m>
                <a:endParaRPr lang="en-US" altLang="zh-CN" i="1" dirty="0">
                  <a:solidFill>
                    <a:schemeClr val="accent5">
                      <a:lumMod val="50000"/>
                    </a:schemeClr>
                  </a:solidFill>
                  <a:cs typeface="Times New Roman" panose="02020603050405020304" pitchFamily="18" charset="0"/>
                </a:endParaRPr>
              </a:p>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Measures how the spread at time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𝑡</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correlates with its value at time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𝑘</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a:p>
                <a:r>
                  <a:rPr lang="en-US" altLang="zh-CN" sz="1600" b="1" dirty="0">
                    <a:solidFill>
                      <a:srgbClr val="0F4662"/>
                    </a:solidFill>
                    <a:latin typeface="Book Antiqua" panose="02040602050305030304" pitchFamily="18" charset="0"/>
                    <a:cs typeface="Times New Roman" panose="02020603050405020304" pitchFamily="18" charset="0"/>
                  </a:rPr>
                  <a:t>Partial Autocorrelation</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Measures the correlation between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and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𝑘</m:t>
                        </m:r>
                      </m:sub>
                    </m:sSub>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after removing the effects of all lags less than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𝑘</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endParaRPr lang="zh-CN" altLang="en-US"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2E27A5E1-BACB-BB9D-7A72-FB8746A5E6F2}"/>
                  </a:ext>
                </a:extLst>
              </p:cNvPr>
              <p:cNvSpPr txBox="1">
                <a:spLocks noRot="1" noChangeAspect="1" noMove="1" noResize="1" noEditPoints="1" noAdjustHandles="1" noChangeArrowheads="1" noChangeShapeType="1" noTextEdit="1"/>
              </p:cNvSpPr>
              <p:nvPr/>
            </p:nvSpPr>
            <p:spPr>
              <a:xfrm>
                <a:off x="1447799" y="4762500"/>
                <a:ext cx="6324600" cy="1384546"/>
              </a:xfrm>
              <a:prstGeom prst="rect">
                <a:avLst/>
              </a:prstGeom>
              <a:blipFill>
                <a:blip r:embed="rId6"/>
                <a:stretch>
                  <a:fillRect l="-771" r="-2408" b="-4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BF9FC76-7B1E-66AE-04F4-1D841C017BAD}"/>
                  </a:ext>
                </a:extLst>
              </p:cNvPr>
              <p:cNvSpPr txBox="1"/>
              <p:nvPr/>
            </p:nvSpPr>
            <p:spPr>
              <a:xfrm>
                <a:off x="8992813" y="5134224"/>
                <a:ext cx="8458200" cy="2660857"/>
              </a:xfrm>
              <a:prstGeom prst="rect">
                <a:avLst/>
              </a:prstGeom>
              <a:solidFill>
                <a:schemeClr val="accent1">
                  <a:lumMod val="20000"/>
                  <a:lumOff val="80000"/>
                </a:schemeClr>
              </a:solidFill>
            </p:spPr>
            <p:txBody>
              <a:bodyPr wrap="square">
                <a:spAutoFit/>
              </a:bodyPr>
              <a:lstStyle/>
              <a:p>
                <a:r>
                  <a:rPr lang="en-US" altLang="zh-CN" sz="1600" b="1" dirty="0">
                    <a:solidFill>
                      <a:srgbClr val="0F4662"/>
                    </a:solidFill>
                    <a:latin typeface="Book Antiqua" panose="02040602050305030304" pitchFamily="18" charset="0"/>
                    <a:cs typeface="Times New Roman" panose="02020603050405020304" pitchFamily="18" charset="0"/>
                  </a:rPr>
                  <a:t>ARIMA</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Model:</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ARIMA</a:t>
                </a:r>
                <a14:m>
                  <m:oMath xmlns:m="http://schemas.openxmlformats.org/officeDocument/2006/math">
                    <m:d>
                      <m:d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d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𝑝</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𝑑</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𝑞</m:t>
                        </m:r>
                      </m:e>
                    </m:d>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stands for Autoregressive Integrated Moving Average.</a:t>
                </a:r>
              </a:p>
              <a:p>
                <a:pPr marL="742950" lvl="1" indent="-285750">
                  <a:buFont typeface="Arial" panose="020B0604020202020204" pitchFamily="34" charset="0"/>
                  <a:buChar char="•"/>
                </a:pPr>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𝑝</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Order of the autoregressive (</a:t>
                </a:r>
                <a:r>
                  <a:rPr lang="en-US" altLang="zh-CN" sz="1600" b="1" dirty="0">
                    <a:solidFill>
                      <a:srgbClr val="0F4662"/>
                    </a:solidFill>
                    <a:latin typeface="Book Antiqua" panose="02040602050305030304" pitchFamily="18" charset="0"/>
                    <a:cs typeface="Times New Roman" panose="02020603050405020304" pitchFamily="18" charset="0"/>
                  </a:rPr>
                  <a:t>AR</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part: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err="1">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𝜙</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𝜙</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2</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−2</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 </m:t>
                    </m:r>
                    <m:sSub>
                      <m:sSubPr>
                        <m:ctrlPr>
                          <a:rPr lang="en-US" altLang="zh-CN" i="1" dirty="0" err="1">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𝜙</m:t>
                        </m:r>
                      </m:e>
                      <m:sub>
                        <m:r>
                          <a:rPr lang="en-US" altLang="zh-CN" i="1" dirty="0" err="1">
                            <a:solidFill>
                              <a:schemeClr val="accent5">
                                <a:lumMod val="50000"/>
                              </a:schemeClr>
                            </a:solidFill>
                            <a:latin typeface="Cambria Math" panose="02040503050406030204" pitchFamily="18" charset="0"/>
                            <a:cs typeface="Times New Roman" panose="02020603050405020304" pitchFamily="18" charset="0"/>
                          </a:rPr>
                          <m:t>𝑝</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𝑝</m:t>
                        </m:r>
                      </m:sub>
                    </m:sSub>
                  </m:oMath>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pPr marL="742950" lvl="1" indent="-285750">
                  <a:buFont typeface="Arial" panose="020B0604020202020204" pitchFamily="34" charset="0"/>
                  <a:buChar char="•"/>
                </a:pPr>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𝑑</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Degree of differencing to make the series stationary.</a:t>
                </a:r>
              </a:p>
              <a:p>
                <a:pPr marL="742950" lvl="1" indent="-285750">
                  <a:buFont typeface="Arial" panose="020B0604020202020204" pitchFamily="34" charset="0"/>
                  <a:buChar char="•"/>
                </a:pPr>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𝑞</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Order of the moving average (</a:t>
                </a:r>
                <a:r>
                  <a:rPr lang="en-US" altLang="zh-CN" sz="1600" b="1" dirty="0">
                    <a:solidFill>
                      <a:srgbClr val="0F4662"/>
                    </a:solidFill>
                    <a:latin typeface="Book Antiqua" panose="02040602050305030304" pitchFamily="18" charset="0"/>
                    <a:cs typeface="Times New Roman" panose="02020603050405020304" pitchFamily="18" charset="0"/>
                  </a:rPr>
                  <a:t>MA</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part: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𝜃</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𝜃</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2</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−2</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 </m:t>
                    </m:r>
                    <m:sSub>
                      <m:sSubPr>
                        <m:ctrlPr>
                          <a:rPr lang="en-US" altLang="zh-CN" i="1" dirty="0" err="1">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𝜃</m:t>
                        </m:r>
                      </m:e>
                      <m:sub>
                        <m:r>
                          <a:rPr lang="en-US" altLang="zh-CN" i="1" dirty="0" err="1">
                            <a:solidFill>
                              <a:schemeClr val="accent5">
                                <a:lumMod val="50000"/>
                              </a:schemeClr>
                            </a:solidFill>
                            <a:latin typeface="Cambria Math" panose="02040503050406030204" pitchFamily="18" charset="0"/>
                            <a:cs typeface="Times New Roman" panose="02020603050405020304" pitchFamily="18" charset="0"/>
                          </a:rPr>
                          <m:t>𝑞</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𝑞</m:t>
                        </m:r>
                      </m:sub>
                    </m:sSub>
                  </m:oMath>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full model is: </a:t>
                </a:r>
                <a14:m>
                  <m:oMath xmlns:m="http://schemas.openxmlformats.org/officeDocument/2006/math">
                    <m:sSup>
                      <m:sSup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pPr>
                      <m:e>
                        <m:r>
                          <m:rPr>
                            <m:sty m:val="p"/>
                          </m:rPr>
                          <a:rPr lang="en-US" altLang="zh-CN" i="0" dirty="0" smtClean="0">
                            <a:solidFill>
                              <a:schemeClr val="accent5">
                                <a:lumMod val="50000"/>
                              </a:schemeClr>
                            </a:solidFill>
                            <a:latin typeface="Cambria Math" panose="02040503050406030204" pitchFamily="18" charset="0"/>
                            <a:cs typeface="Times New Roman" panose="02020603050405020304" pitchFamily="18" charset="0"/>
                          </a:rPr>
                          <m:t>Δ</m:t>
                        </m:r>
                      </m:e>
                      <m:sup>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𝑑</m:t>
                        </m:r>
                      </m:sup>
                    </m:sSup>
                    <m:sSub>
                      <m:sSub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𝜙</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sSup>
                      <m:sSup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pPr>
                      <m:e>
                        <m:r>
                          <m:rPr>
                            <m:sty m:val="p"/>
                          </m:rPr>
                          <a:rPr lang="en-US" altLang="zh-CN" i="0" dirty="0" smtClean="0">
                            <a:solidFill>
                              <a:schemeClr val="accent5">
                                <a:lumMod val="50000"/>
                              </a:schemeClr>
                            </a:solidFill>
                            <a:latin typeface="Cambria Math" panose="02040503050406030204" pitchFamily="18" charset="0"/>
                            <a:cs typeface="Times New Roman" panose="02020603050405020304" pitchFamily="18" charset="0"/>
                          </a:rPr>
                          <m:t>Δ</m:t>
                        </m:r>
                      </m:e>
                      <m:sup>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𝑑</m:t>
                        </m:r>
                      </m:sup>
                    </m:sSup>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m:t>
                    </m:r>
                    <m:sSub>
                      <m:sSub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𝜙</m:t>
                        </m:r>
                      </m:e>
                      <m:sub>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𝑝</m:t>
                        </m:r>
                      </m:sub>
                    </m:sSub>
                    <m:sSup>
                      <m:sSup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pPr>
                      <m:e>
                        <m:r>
                          <m:rPr>
                            <m:sty m:val="p"/>
                          </m:rPr>
                          <a:rPr lang="en-US" altLang="zh-CN" i="0" dirty="0" smtClean="0">
                            <a:solidFill>
                              <a:schemeClr val="accent5">
                                <a:lumMod val="50000"/>
                              </a:schemeClr>
                            </a:solidFill>
                            <a:latin typeface="Cambria Math" panose="02040503050406030204" pitchFamily="18" charset="0"/>
                            <a:cs typeface="Times New Roman" panose="02020603050405020304" pitchFamily="18" charset="0"/>
                          </a:rPr>
                          <m:t>Δ</m:t>
                        </m:r>
                      </m:e>
                      <m:sup>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𝑑</m:t>
                        </m:r>
                      </m:sup>
                    </m:sSup>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𝑝</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𝜃</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m:t>
                    </m:r>
                    <m:sSub>
                      <m:sSub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𝜃</m:t>
                        </m:r>
                      </m:e>
                      <m:sub>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𝑞</m:t>
                        </m:r>
                      </m:sub>
                    </m:sSub>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𝑞</m:t>
                        </m:r>
                      </m:sub>
                    </m:sSub>
                  </m:oMath>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r>
                  <a:rPr lang="en-US" altLang="zh-CN" sz="1600" b="1" dirty="0">
                    <a:solidFill>
                      <a:srgbClr val="0F4662"/>
                    </a:solidFill>
                    <a:latin typeface="Book Antiqua" panose="02040602050305030304" pitchFamily="18" charset="0"/>
                    <a:cs typeface="Times New Roman" panose="02020603050405020304" pitchFamily="18" charset="0"/>
                  </a:rPr>
                  <a:t>AIC</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𝐴𝐼𝐶</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2</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𝑘</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− 2</m:t>
                    </m:r>
                    <m:r>
                      <m:rPr>
                        <m:sty m:val="p"/>
                      </m:r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ln</m:t>
                    </m:r>
                    <m:d>
                      <m:d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d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𝐿</m:t>
                        </m:r>
                      </m:e>
                    </m:d>
                  </m:oMath>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where </a:t>
                </a:r>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𝑘</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is the number of parameters, and </a:t>
                </a:r>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𝐿</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is the likelihood of the model.</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Lower AIC indicates a better model.</a:t>
                </a:r>
              </a:p>
            </p:txBody>
          </p:sp>
        </mc:Choice>
        <mc:Fallback xmlns="">
          <p:sp>
            <p:nvSpPr>
              <p:cNvPr id="16" name="文本框 15">
                <a:extLst>
                  <a:ext uri="{FF2B5EF4-FFF2-40B4-BE49-F238E27FC236}">
                    <a16:creationId xmlns:a16="http://schemas.microsoft.com/office/drawing/2014/main" id="{BBF9FC76-7B1E-66AE-04F4-1D841C017BAD}"/>
                  </a:ext>
                </a:extLst>
              </p:cNvPr>
              <p:cNvSpPr txBox="1">
                <a:spLocks noRot="1" noChangeAspect="1" noMove="1" noResize="1" noEditPoints="1" noAdjustHandles="1" noChangeArrowheads="1" noChangeShapeType="1" noTextEdit="1"/>
              </p:cNvSpPr>
              <p:nvPr/>
            </p:nvSpPr>
            <p:spPr>
              <a:xfrm>
                <a:off x="8992813" y="5134224"/>
                <a:ext cx="8458200" cy="2660857"/>
              </a:xfrm>
              <a:prstGeom prst="rect">
                <a:avLst/>
              </a:prstGeom>
              <a:blipFill>
                <a:blip r:embed="rId7"/>
                <a:stretch>
                  <a:fillRect l="-432" t="-1144" b="-27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45D5B2C-A9D1-B101-889A-5098573E272D}"/>
                  </a:ext>
                </a:extLst>
              </p:cNvPr>
              <p:cNvSpPr txBox="1"/>
              <p:nvPr/>
            </p:nvSpPr>
            <p:spPr>
              <a:xfrm>
                <a:off x="835914" y="6170440"/>
                <a:ext cx="3657600" cy="3416320"/>
              </a:xfrm>
              <a:prstGeom prst="rect">
                <a:avLst/>
              </a:prstGeom>
              <a:solidFill>
                <a:schemeClr val="accent1">
                  <a:lumMod val="20000"/>
                  <a:lumOff val="80000"/>
                </a:schemeClr>
              </a:solidFill>
            </p:spPr>
            <p:txBody>
              <a:bodyPr wrap="square">
                <a:spAutoFit/>
              </a:bodyPr>
              <a:lstStyle/>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a:t>
                </a:r>
                <a:r>
                  <a:rPr lang="en-US" altLang="zh-CN" sz="1600" b="1" dirty="0">
                    <a:solidFill>
                      <a:srgbClr val="0F4662"/>
                    </a:solidFill>
                    <a:latin typeface="Book Antiqua" panose="02040602050305030304" pitchFamily="18" charset="0"/>
                    <a:cs typeface="Times New Roman" panose="02020603050405020304" pitchFamily="18" charset="0"/>
                  </a:rPr>
                  <a:t>ACF</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plot shows a significant spike at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(close to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followed by a gradual decay as the lags increase. </a:t>
                </a:r>
              </a:p>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By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40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the autocorrelation is near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a:p>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This indicates that the spread exhibits strong serial correlation at short lags, which is typical for a mean-reverting process. The slow decay suggests persistence in the spread, but it eventually diminishes, supporting the idea of mean reversion over longer periods.</a:t>
                </a:r>
              </a:p>
            </p:txBody>
          </p:sp>
        </mc:Choice>
        <mc:Fallback xmlns="">
          <p:sp>
            <p:nvSpPr>
              <p:cNvPr id="18" name="文本框 17">
                <a:extLst>
                  <a:ext uri="{FF2B5EF4-FFF2-40B4-BE49-F238E27FC236}">
                    <a16:creationId xmlns:a16="http://schemas.microsoft.com/office/drawing/2014/main" id="{045D5B2C-A9D1-B101-889A-5098573E272D}"/>
                  </a:ext>
                </a:extLst>
              </p:cNvPr>
              <p:cNvSpPr txBox="1">
                <a:spLocks noRot="1" noChangeAspect="1" noMove="1" noResize="1" noEditPoints="1" noAdjustHandles="1" noChangeArrowheads="1" noChangeShapeType="1" noTextEdit="1"/>
              </p:cNvSpPr>
              <p:nvPr/>
            </p:nvSpPr>
            <p:spPr>
              <a:xfrm>
                <a:off x="835914" y="6170440"/>
                <a:ext cx="3657600" cy="3416320"/>
              </a:xfrm>
              <a:prstGeom prst="rect">
                <a:avLst/>
              </a:prstGeom>
              <a:blipFill>
                <a:blip r:embed="rId8"/>
                <a:stretch>
                  <a:fillRect l="-1333" t="-891" r="-2833" b="-1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8B33502-3F30-3BE1-6F61-A224B828711A}"/>
                  </a:ext>
                </a:extLst>
              </p:cNvPr>
              <p:cNvSpPr txBox="1"/>
              <p:nvPr/>
            </p:nvSpPr>
            <p:spPr>
              <a:xfrm>
                <a:off x="4724400" y="6170440"/>
                <a:ext cx="3657600" cy="3416320"/>
              </a:xfrm>
              <a:prstGeom prst="rect">
                <a:avLst/>
              </a:prstGeom>
              <a:solidFill>
                <a:schemeClr val="accent1">
                  <a:lumMod val="20000"/>
                  <a:lumOff val="80000"/>
                </a:schemeClr>
              </a:solidFill>
            </p:spPr>
            <p:txBody>
              <a:bodyPr wrap="square">
                <a:spAutoFit/>
              </a:bodyPr>
              <a:lstStyle/>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a:t>
                </a:r>
                <a:r>
                  <a:rPr lang="en-US" altLang="zh-CN" sz="1600" b="1" dirty="0">
                    <a:solidFill>
                      <a:srgbClr val="0F4662"/>
                    </a:solidFill>
                    <a:latin typeface="Book Antiqua" panose="02040602050305030304" pitchFamily="18" charset="0"/>
                    <a:cs typeface="Times New Roman" panose="02020603050405020304" pitchFamily="18" charset="0"/>
                  </a:rPr>
                  <a:t>PACF</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plot shows a significant spike at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(around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0.9</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and a smaller spike at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(around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After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the values drop close to zero and remain within the confidence interval.</a:t>
                </a:r>
              </a:p>
              <a:p>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significant spike at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and the near-zero values after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suggest that an AR(</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or AR(</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model might be appropriate for the spread. This informs the </a:t>
                </a:r>
                <a:r>
                  <a:rPr lang="en-US" altLang="zh-CN" sz="1600" b="1" dirty="0">
                    <a:solidFill>
                      <a:srgbClr val="0F4662"/>
                    </a:solidFill>
                    <a:latin typeface="Book Antiqua" panose="02040602050305030304" pitchFamily="18" charset="0"/>
                    <a:cs typeface="Times New Roman" panose="02020603050405020304" pitchFamily="18" charset="0"/>
                  </a:rPr>
                  <a:t>ARIMA</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model selection, where the autoregressive order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𝑝</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is likely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or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p:txBody>
          </p:sp>
        </mc:Choice>
        <mc:Fallback xmlns="">
          <p:sp>
            <p:nvSpPr>
              <p:cNvPr id="22" name="文本框 21">
                <a:extLst>
                  <a:ext uri="{FF2B5EF4-FFF2-40B4-BE49-F238E27FC236}">
                    <a16:creationId xmlns:a16="http://schemas.microsoft.com/office/drawing/2014/main" id="{48B33502-3F30-3BE1-6F61-A224B828711A}"/>
                  </a:ext>
                </a:extLst>
              </p:cNvPr>
              <p:cNvSpPr txBox="1">
                <a:spLocks noRot="1" noChangeAspect="1" noMove="1" noResize="1" noEditPoints="1" noAdjustHandles="1" noChangeArrowheads="1" noChangeShapeType="1" noTextEdit="1"/>
              </p:cNvSpPr>
              <p:nvPr/>
            </p:nvSpPr>
            <p:spPr>
              <a:xfrm>
                <a:off x="4724400" y="6170440"/>
                <a:ext cx="3657600" cy="3416320"/>
              </a:xfrm>
              <a:prstGeom prst="rect">
                <a:avLst/>
              </a:prstGeom>
              <a:blipFill>
                <a:blip r:embed="rId9"/>
                <a:stretch>
                  <a:fillRect l="-1333" t="-891" r="-1500" b="-19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ADA22F83-BBC7-FD28-806B-1D2B0B1CE1E4}"/>
                  </a:ext>
                </a:extLst>
              </p:cNvPr>
              <p:cNvSpPr txBox="1"/>
              <p:nvPr/>
            </p:nvSpPr>
            <p:spPr>
              <a:xfrm>
                <a:off x="1370387" y="9623905"/>
                <a:ext cx="6477001" cy="646331"/>
              </a:xfrm>
              <a:prstGeom prst="rect">
                <a:avLst/>
              </a:prstGeom>
              <a:solidFill>
                <a:schemeClr val="accent1">
                  <a:lumMod val="20000"/>
                  <a:lumOff val="80000"/>
                </a:schemeClr>
              </a:solidFill>
            </p:spPr>
            <p:txBody>
              <a:bodyPr wrap="square">
                <a:spAutoFit/>
              </a:bodyPr>
              <a:lstStyle/>
              <a:p>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a:t>
                </a:r>
                <a:r>
                  <a:rPr lang="en-US" altLang="zh-CN" sz="1600" b="1" dirty="0">
                    <a:solidFill>
                      <a:srgbClr val="0F4662"/>
                    </a:solidFill>
                    <a:latin typeface="Book Antiqua" panose="02040602050305030304" pitchFamily="18" charset="0"/>
                    <a:cs typeface="Times New Roman" panose="02020603050405020304" pitchFamily="18" charset="0"/>
                  </a:rPr>
                  <a:t>ACF</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and </a:t>
                </a:r>
                <a:r>
                  <a:rPr lang="en-US" altLang="zh-CN" sz="1600" b="1" dirty="0">
                    <a:solidFill>
                      <a:srgbClr val="0F4662"/>
                    </a:solidFill>
                    <a:latin typeface="Book Antiqua" panose="02040602050305030304" pitchFamily="18" charset="0"/>
                    <a:cs typeface="Times New Roman" panose="02020603050405020304" pitchFamily="18" charset="0"/>
                  </a:rPr>
                  <a:t>PACF</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plots confirm that the spread has a mean-reverting nature with a strong AR(</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component, which is promising for pairs trading.</a:t>
                </a:r>
                <a:endParaRPr lang="zh-CN" altLang="en-US"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24" name="文本框 23">
                <a:extLst>
                  <a:ext uri="{FF2B5EF4-FFF2-40B4-BE49-F238E27FC236}">
                    <a16:creationId xmlns:a16="http://schemas.microsoft.com/office/drawing/2014/main" id="{ADA22F83-BBC7-FD28-806B-1D2B0B1CE1E4}"/>
                  </a:ext>
                </a:extLst>
              </p:cNvPr>
              <p:cNvSpPr txBox="1">
                <a:spLocks noRot="1" noChangeAspect="1" noMove="1" noResize="1" noEditPoints="1" noAdjustHandles="1" noChangeArrowheads="1" noChangeShapeType="1" noTextEdit="1"/>
              </p:cNvSpPr>
              <p:nvPr/>
            </p:nvSpPr>
            <p:spPr>
              <a:xfrm>
                <a:off x="1370387" y="9623905"/>
                <a:ext cx="6477001" cy="646331"/>
              </a:xfrm>
              <a:prstGeom prst="rect">
                <a:avLst/>
              </a:prstGeom>
              <a:blipFill>
                <a:blip r:embed="rId10"/>
                <a:stretch>
                  <a:fillRect l="-847" t="-4717" r="-1412" b="-150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7BC6460E-BE6F-A9E4-206C-E236EDC1409E}"/>
                  </a:ext>
                </a:extLst>
              </p:cNvPr>
              <p:cNvSpPr txBox="1"/>
              <p:nvPr/>
            </p:nvSpPr>
            <p:spPr>
              <a:xfrm>
                <a:off x="9526213" y="8192744"/>
                <a:ext cx="7391400" cy="1754326"/>
              </a:xfrm>
              <a:prstGeom prst="rect">
                <a:avLst/>
              </a:prstGeom>
              <a:solidFill>
                <a:schemeClr val="accent1">
                  <a:lumMod val="20000"/>
                  <a:lumOff val="80000"/>
                </a:schemeClr>
              </a:solidFill>
            </p:spPr>
            <p:txBody>
              <a:bodyPr wrap="square">
                <a:spAutoFit/>
              </a:bodyPr>
              <a:lstStyle/>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a:t>
                </a:r>
                <a:r>
                  <a:rPr lang="en-US" altLang="zh-CN" sz="1600" b="1" dirty="0">
                    <a:solidFill>
                      <a:srgbClr val="0F4662"/>
                    </a:solidFill>
                    <a:latin typeface="Book Antiqua" panose="02040602050305030304" pitchFamily="18" charset="0"/>
                    <a:cs typeface="Times New Roman" panose="02020603050405020304" pitchFamily="18" charset="0"/>
                  </a:rPr>
                  <a:t>ARIMA</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model fails to capture the sharp dip and recovery in the actual spread. It predicts a smoother downward trend, missing the volatility observed in the actual data.</a:t>
                </a:r>
              </a:p>
              <a:p>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ARIMA</a:t>
                </a:r>
                <a14:m>
                  <m:oMath xmlns:m="http://schemas.openxmlformats.org/officeDocument/2006/math">
                    <m:d>
                      <m:d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d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5,0,3</m:t>
                        </m:r>
                      </m:e>
                    </m:d>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model provides a reasonable fit (as indicated by the low AIC/BIC), but it struggles to predict short-term volatility in the spread. This suggests that the model can capture the general trend.</a:t>
                </a:r>
                <a:endParaRPr lang="zh-CN" altLang="en-US"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25" name="文本框 24">
                <a:extLst>
                  <a:ext uri="{FF2B5EF4-FFF2-40B4-BE49-F238E27FC236}">
                    <a16:creationId xmlns:a16="http://schemas.microsoft.com/office/drawing/2014/main" id="{7BC6460E-BE6F-A9E4-206C-E236EDC1409E}"/>
                  </a:ext>
                </a:extLst>
              </p:cNvPr>
              <p:cNvSpPr txBox="1">
                <a:spLocks noRot="1" noChangeAspect="1" noMove="1" noResize="1" noEditPoints="1" noAdjustHandles="1" noChangeArrowheads="1" noChangeShapeType="1" noTextEdit="1"/>
              </p:cNvSpPr>
              <p:nvPr/>
            </p:nvSpPr>
            <p:spPr>
              <a:xfrm>
                <a:off x="9526213" y="8192744"/>
                <a:ext cx="7391400" cy="1754326"/>
              </a:xfrm>
              <a:prstGeom prst="rect">
                <a:avLst/>
              </a:prstGeom>
              <a:blipFill>
                <a:blip r:embed="rId11"/>
                <a:stretch>
                  <a:fillRect l="-743" t="-2083" r="-908" b="-451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D6605D20-21BD-479C-6E61-85E36E2562DD}"/>
              </a:ext>
            </a:extLst>
          </p:cNvPr>
          <p:cNvSpPr txBox="1"/>
          <p:nvPr/>
        </p:nvSpPr>
        <p:spPr>
          <a:xfrm>
            <a:off x="6400800" y="433812"/>
            <a:ext cx="6019800" cy="584775"/>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The mathematical basis and forecasting attempt of the ARIMA model, reflecting the accuracy in terms of the general trend.</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2563605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8A6E0-1CD6-F8D3-9383-55AF51BD5CF2}"/>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168E032-FAFC-A1EA-036B-D5CA02AA4BBF}"/>
              </a:ext>
            </a:extLst>
          </p:cNvPr>
          <p:cNvSpPr txBox="1"/>
          <p:nvPr/>
        </p:nvSpPr>
        <p:spPr>
          <a:xfrm>
            <a:off x="381000" y="-38100"/>
            <a:ext cx="7543800" cy="1011495"/>
          </a:xfrm>
          <a:prstGeom prst="rect">
            <a:avLst/>
          </a:prstGeom>
        </p:spPr>
        <p:txBody>
          <a:bodyPr wrap="square" lIns="0" tIns="0" rIns="0" bIns="0" rtlCol="0" anchor="t">
            <a:spAutoFit/>
          </a:bodyPr>
          <a:lstStyle/>
          <a:p>
            <a:pPr marL="0" lvl="0" indent="0" algn="l">
              <a:lnSpc>
                <a:spcPts val="8959"/>
              </a:lnSpc>
              <a:spcBef>
                <a:spcPct val="0"/>
              </a:spcBef>
            </a:pPr>
            <a:r>
              <a:rPr lang="en-US" altLang="zh-CN" sz="4000" b="1" i="1" dirty="0">
                <a:solidFill>
                  <a:srgbClr val="0F4662"/>
                </a:solidFill>
                <a:latin typeface="Cormorant Garamond Bold Italics" panose="02010600030101010101" charset="0"/>
              </a:rPr>
              <a:t>Quantitative</a:t>
            </a:r>
            <a:r>
              <a:rPr lang="en-US" altLang="zh-CN" sz="4000" b="1" i="1" dirty="0">
                <a:solidFill>
                  <a:srgbClr val="0F4662"/>
                </a:solidFill>
                <a:latin typeface="Cormorant Garamond Bold Italics"/>
              </a:rPr>
              <a:t> Analysis</a:t>
            </a:r>
            <a:r>
              <a:rPr lang="en-US" altLang="zh-CN" sz="2400" b="1" i="1" dirty="0">
                <a:solidFill>
                  <a:srgbClr val="0F4662"/>
                </a:solidFill>
                <a:latin typeface="Cormorant Garamond Bold Italics"/>
              </a:rPr>
              <a:t>: Market Impact on Share Price</a:t>
            </a:r>
            <a:endParaRPr lang="en-US" sz="2400" b="1" i="1" dirty="0">
              <a:solidFill>
                <a:srgbClr val="0F4662"/>
              </a:solidFill>
              <a:latin typeface="Cormorant Garamond Bold Italics"/>
              <a:sym typeface="Cormorant Garamond Bold Italics"/>
            </a:endParaRPr>
          </a:p>
        </p:txBody>
      </p:sp>
      <p:pic>
        <p:nvPicPr>
          <p:cNvPr id="9" name="图片 8">
            <a:extLst>
              <a:ext uri="{FF2B5EF4-FFF2-40B4-BE49-F238E27FC236}">
                <a16:creationId xmlns:a16="http://schemas.microsoft.com/office/drawing/2014/main" id="{01EC843B-B6E1-D657-FF9C-55F7776C43D1}"/>
              </a:ext>
            </a:extLst>
          </p:cNvPr>
          <p:cNvPicPr>
            <a:picLocks noChangeAspect="1"/>
          </p:cNvPicPr>
          <p:nvPr/>
        </p:nvPicPr>
        <p:blipFill>
          <a:blip r:embed="rId3"/>
          <a:stretch>
            <a:fillRect/>
          </a:stretch>
        </p:blipFill>
        <p:spPr>
          <a:xfrm>
            <a:off x="14949292" y="147595"/>
            <a:ext cx="1724416" cy="1011495"/>
          </a:xfrm>
          <a:prstGeom prst="rect">
            <a:avLst/>
          </a:prstGeom>
        </p:spPr>
      </p:pic>
      <p:pic>
        <p:nvPicPr>
          <p:cNvPr id="11" name="图片 10">
            <a:extLst>
              <a:ext uri="{FF2B5EF4-FFF2-40B4-BE49-F238E27FC236}">
                <a16:creationId xmlns:a16="http://schemas.microsoft.com/office/drawing/2014/main" id="{88A1A278-2456-094E-80AE-305081E13402}"/>
              </a:ext>
            </a:extLst>
          </p:cNvPr>
          <p:cNvPicPr>
            <a:picLocks noChangeAspect="1"/>
          </p:cNvPicPr>
          <p:nvPr/>
        </p:nvPicPr>
        <p:blipFill>
          <a:blip r:embed="rId4"/>
          <a:stretch>
            <a:fillRect/>
          </a:stretch>
        </p:blipFill>
        <p:spPr>
          <a:xfrm>
            <a:off x="16916400" y="147595"/>
            <a:ext cx="1104169" cy="1168178"/>
          </a:xfrm>
          <a:prstGeom prst="rect">
            <a:avLst/>
          </a:prstGeom>
        </p:spPr>
      </p:pic>
      <p:pic>
        <p:nvPicPr>
          <p:cNvPr id="8" name="图片 7">
            <a:extLst>
              <a:ext uri="{FF2B5EF4-FFF2-40B4-BE49-F238E27FC236}">
                <a16:creationId xmlns:a16="http://schemas.microsoft.com/office/drawing/2014/main" id="{A1EBE71C-5D82-3D4F-6903-484F8566AC8D}"/>
              </a:ext>
            </a:extLst>
          </p:cNvPr>
          <p:cNvPicPr>
            <a:picLocks noChangeAspect="1"/>
          </p:cNvPicPr>
          <p:nvPr/>
        </p:nvPicPr>
        <p:blipFill>
          <a:blip r:embed="rId5"/>
          <a:stretch>
            <a:fillRect/>
          </a:stretch>
        </p:blipFill>
        <p:spPr>
          <a:xfrm>
            <a:off x="4090692" y="1333500"/>
            <a:ext cx="3413197" cy="5176829"/>
          </a:xfrm>
          <a:prstGeom prst="rect">
            <a:avLst/>
          </a:prstGeom>
        </p:spPr>
      </p:pic>
      <p:pic>
        <p:nvPicPr>
          <p:cNvPr id="17" name="图片 16">
            <a:extLst>
              <a:ext uri="{FF2B5EF4-FFF2-40B4-BE49-F238E27FC236}">
                <a16:creationId xmlns:a16="http://schemas.microsoft.com/office/drawing/2014/main" id="{F0BE073A-A182-B677-6BA4-DC3DD71553EB}"/>
              </a:ext>
            </a:extLst>
          </p:cNvPr>
          <p:cNvPicPr>
            <a:picLocks noChangeAspect="1"/>
          </p:cNvPicPr>
          <p:nvPr/>
        </p:nvPicPr>
        <p:blipFill>
          <a:blip r:embed="rId6"/>
          <a:stretch>
            <a:fillRect/>
          </a:stretch>
        </p:blipFill>
        <p:spPr>
          <a:xfrm>
            <a:off x="7918117" y="1333500"/>
            <a:ext cx="4457337" cy="5176828"/>
          </a:xfrm>
          <a:prstGeom prst="rect">
            <a:avLst/>
          </a:prstGeom>
        </p:spPr>
      </p:pic>
      <p:sp>
        <p:nvSpPr>
          <p:cNvPr id="19" name="文本框 18">
            <a:extLst>
              <a:ext uri="{FF2B5EF4-FFF2-40B4-BE49-F238E27FC236}">
                <a16:creationId xmlns:a16="http://schemas.microsoft.com/office/drawing/2014/main" id="{CBA8DD9F-550F-F6A4-0460-CCA8ED466052}"/>
              </a:ext>
            </a:extLst>
          </p:cNvPr>
          <p:cNvSpPr txBox="1"/>
          <p:nvPr/>
        </p:nvSpPr>
        <p:spPr>
          <a:xfrm>
            <a:off x="533400" y="3191025"/>
            <a:ext cx="3300971" cy="1477328"/>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Independent Variables:</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book-to-market (B/M)</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earnings-price (E/P)</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cash earnings to price (CE/P)</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dividend yield (D/P)</a:t>
            </a:r>
          </a:p>
        </p:txBody>
      </p:sp>
      <p:sp>
        <p:nvSpPr>
          <p:cNvPr id="15" name="文本框 14">
            <a:extLst>
              <a:ext uri="{FF2B5EF4-FFF2-40B4-BE49-F238E27FC236}">
                <a16:creationId xmlns:a16="http://schemas.microsoft.com/office/drawing/2014/main" id="{F86371EF-927F-088A-67BE-0720ACD7CEA8}"/>
              </a:ext>
            </a:extLst>
          </p:cNvPr>
          <p:cNvSpPr txBox="1"/>
          <p:nvPr/>
        </p:nvSpPr>
        <p:spPr>
          <a:xfrm>
            <a:off x="12192000" y="3047950"/>
            <a:ext cx="5715000" cy="1754326"/>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Independent Variables:</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Market excess return (Mkt-RF).</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Size factor (SMB: Small Minus Big).</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Value factor (HML: High Minus Low).</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Profitability factor (RMW: Robust Minus Weak).</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Investment factor (CMA: Conservative Minus Aggressive).</a:t>
            </a:r>
          </a:p>
        </p:txBody>
      </p:sp>
      <p:sp>
        <p:nvSpPr>
          <p:cNvPr id="20" name="文本框 19">
            <a:extLst>
              <a:ext uri="{FF2B5EF4-FFF2-40B4-BE49-F238E27FC236}">
                <a16:creationId xmlns:a16="http://schemas.microsoft.com/office/drawing/2014/main" id="{DED9034E-03E6-C350-B757-8B6A7879A309}"/>
              </a:ext>
            </a:extLst>
          </p:cNvPr>
          <p:cNvSpPr txBox="1"/>
          <p:nvPr/>
        </p:nvSpPr>
        <p:spPr>
          <a:xfrm>
            <a:off x="979055" y="956514"/>
            <a:ext cx="7067665" cy="338554"/>
          </a:xfrm>
          <a:prstGeom prst="rect">
            <a:avLst/>
          </a:prstGeom>
          <a:solidFill>
            <a:srgbClr val="DCE6F2">
              <a:alpha val="34902"/>
            </a:srgbClr>
          </a:solidFill>
        </p:spPr>
        <p:txBody>
          <a:bodyPr wrap="square">
            <a:spAutoFit/>
          </a:bodyPr>
          <a:lstStyle/>
          <a:p>
            <a:r>
              <a:rPr lang="en-US" altLang="zh-CN" sz="1600" dirty="0">
                <a:solidFill>
                  <a:schemeClr val="accent5">
                    <a:lumMod val="50000"/>
                  </a:schemeClr>
                </a:solidFill>
                <a:latin typeface="Cormorant Garamond Bold Italics" panose="02010600030101010101" charset="0"/>
                <a:cs typeface="Times New Roman" panose="02020603050405020304" pitchFamily="18" charset="0"/>
              </a:rPr>
              <a:t>Due to the limitation of the </a:t>
            </a:r>
            <a:r>
              <a:rPr lang="en-US" altLang="zh-CN" sz="1600" dirty="0">
                <a:solidFill>
                  <a:schemeClr val="accent5">
                    <a:lumMod val="50000"/>
                  </a:schemeClr>
                </a:solidFill>
                <a:latin typeface="Cormorant Garamond Bold Italics" panose="02010600030101010101" charset="0"/>
                <a:cs typeface="Times New Roman" panose="02020603050405020304" pitchFamily="18" charset="0"/>
                <a:hlinkClick r:id="rId7"/>
              </a:rPr>
              <a:t>data source</a:t>
            </a:r>
            <a:r>
              <a:rPr lang="en-US" altLang="zh-CN" sz="1600" dirty="0">
                <a:solidFill>
                  <a:schemeClr val="accent5">
                    <a:lumMod val="50000"/>
                  </a:schemeClr>
                </a:solidFill>
                <a:latin typeface="Cormorant Garamond Bold Italics" panose="02010600030101010101" charset="0"/>
                <a:cs typeface="Times New Roman" panose="02020603050405020304" pitchFamily="18" charset="0"/>
              </a:rPr>
              <a:t>, only the following factors can be obtained separately.</a:t>
            </a:r>
            <a:endParaRPr lang="zh-CN" altLang="en-US" sz="1600" dirty="0">
              <a:solidFill>
                <a:schemeClr val="accent5">
                  <a:lumMod val="50000"/>
                </a:schemeClr>
              </a:solidFill>
              <a:latin typeface="Cormorant Garamond Bold Italics" panose="02010600030101010101" charset="0"/>
              <a:cs typeface="Times New Roman" panose="02020603050405020304" pitchFamily="18" charset="0"/>
            </a:endParaRPr>
          </a:p>
        </p:txBody>
      </p:sp>
      <p:sp>
        <p:nvSpPr>
          <p:cNvPr id="21" name="文本框 20">
            <a:extLst>
              <a:ext uri="{FF2B5EF4-FFF2-40B4-BE49-F238E27FC236}">
                <a16:creationId xmlns:a16="http://schemas.microsoft.com/office/drawing/2014/main" id="{45783721-5C42-08B6-0D57-4A1D1E840A46}"/>
              </a:ext>
            </a:extLst>
          </p:cNvPr>
          <p:cNvSpPr txBox="1"/>
          <p:nvPr/>
        </p:nvSpPr>
        <p:spPr>
          <a:xfrm>
            <a:off x="8289412" y="316185"/>
            <a:ext cx="5410200" cy="830997"/>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Market movements strongly influence Tesla’s returns (49.95% explained) more than BYD’s (18.15% explained), showing Tesla is more tied to market trends.</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D25F91F1-BBAD-931F-3A39-ED25E3A2A1C0}"/>
                  </a:ext>
                </a:extLst>
              </p:cNvPr>
              <p:cNvSpPr txBox="1"/>
              <p:nvPr/>
            </p:nvSpPr>
            <p:spPr>
              <a:xfrm>
                <a:off x="1037790" y="6558201"/>
                <a:ext cx="6466099" cy="646331"/>
              </a:xfrm>
              <a:prstGeom prst="rect">
                <a:avLst/>
              </a:prstGeom>
              <a:solidFill>
                <a:schemeClr val="accent1">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𝑅</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𝐵𝑌𝐷</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𝛼</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𝑀𝑘𝑡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𝐵𝐸</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𝑀𝐸</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_</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𝑓𝑎𝑐𝑡𝑜𝑟</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3</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𝐸</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𝑃</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_</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𝑓𝑎𝑐𝑡𝑜𝑟</m:t>
                      </m:r>
                    </m:oMath>
                  </m:oMathPara>
                </a14:m>
                <a:endParaRPr lang="en-US" altLang="zh-CN" i="1" dirty="0">
                  <a:solidFill>
                    <a:schemeClr val="accent5">
                      <a:lumMod val="50000"/>
                    </a:schemeClr>
                  </a:solidFill>
                  <a:latin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4</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b="0" i="1" dirty="0" smtClean="0">
                          <a:solidFill>
                            <a:schemeClr val="accent5">
                              <a:lumMod val="50000"/>
                            </a:schemeClr>
                          </a:solidFill>
                          <a:latin typeface="Cambria Math" panose="02040503050406030204" pitchFamily="18" charset="0"/>
                          <a:cs typeface="Times New Roman" panose="02020603050405020304" pitchFamily="18" charset="0"/>
                        </a:rPr>
                        <m:t>𝐶</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𝐸</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𝑃</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_</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𝑓𝑎𝑐𝑡𝑜𝑟</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5</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b="0" i="1" dirty="0" smtClean="0">
                          <a:solidFill>
                            <a:schemeClr val="accent5">
                              <a:lumMod val="50000"/>
                            </a:schemeClr>
                          </a:solidFill>
                          <a:latin typeface="Cambria Math" panose="02040503050406030204" pitchFamily="18" charset="0"/>
                          <a:cs typeface="Times New Roman" panose="02020603050405020304" pitchFamily="18" charset="0"/>
                        </a:rPr>
                        <m:t>𝑌𝑙𝑑</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_</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𝑓𝑎𝑐𝑡𝑜𝑟</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oMath>
                  </m:oMathPara>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D25F91F1-BBAD-931F-3A39-ED25E3A2A1C0}"/>
                  </a:ext>
                </a:extLst>
              </p:cNvPr>
              <p:cNvSpPr txBox="1">
                <a:spLocks noRot="1" noChangeAspect="1" noMove="1" noResize="1" noEditPoints="1" noAdjustHandles="1" noChangeArrowheads="1" noChangeShapeType="1" noTextEdit="1"/>
              </p:cNvSpPr>
              <p:nvPr/>
            </p:nvSpPr>
            <p:spPr>
              <a:xfrm>
                <a:off x="1037790" y="6558201"/>
                <a:ext cx="6466099" cy="646331"/>
              </a:xfrm>
              <a:prstGeom prst="rect">
                <a:avLst/>
              </a:prstGeom>
              <a:blipFill>
                <a:blip r:embed="rId8"/>
                <a:stretch>
                  <a:fillRect r="-94" b="-66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B9794B8-8A30-3BEB-6D77-76B62071E968}"/>
                  </a:ext>
                </a:extLst>
              </p:cNvPr>
              <p:cNvSpPr txBox="1"/>
              <p:nvPr/>
            </p:nvSpPr>
            <p:spPr>
              <a:xfrm>
                <a:off x="1255489" y="7249299"/>
                <a:ext cx="6248400" cy="2308324"/>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Intercept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𝛼</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0.0447</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(p-value: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0.0246</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significant at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level).</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Market Factor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0.8304</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(p-value: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0.0357</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significant).</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BYD’s returns are influenced by market movements</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Other factors (BE/ME, E/P, CE/P, Yield) have high p-values (&gt;</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indicating they are not statistically significant.</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They don’t strongly explain BYD’s returns.</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R-squared: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0.1815</m:t>
                    </m:r>
                  </m:oMath>
                </a14:m>
                <a:endParaRPr lang="en-US" altLang="zh-CN" i="1" dirty="0">
                  <a:solidFill>
                    <a:schemeClr val="accent5">
                      <a:lumMod val="50000"/>
                    </a:schemeClr>
                  </a:solidFill>
                  <a:latin typeface="Cambria Math" panose="02040503050406030204" pitchFamily="18" charset="0"/>
                  <a:cs typeface="Times New Roman" panose="02020603050405020304" pitchFamily="18" charset="0"/>
                </a:endParaRPr>
              </a:p>
              <a:p>
                <a:pPr marL="742950" lvl="1" indent="-285750">
                  <a:buFont typeface="Arial" panose="020B0604020202020204" pitchFamily="34" charset="0"/>
                  <a:buChar char="•"/>
                </a:pP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18.15%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of BYD’s return variance is explained by the model</a:t>
                </a:r>
              </a:p>
            </p:txBody>
          </p:sp>
        </mc:Choice>
        <mc:Fallback xmlns="">
          <p:sp>
            <p:nvSpPr>
              <p:cNvPr id="18" name="文本框 17">
                <a:extLst>
                  <a:ext uri="{FF2B5EF4-FFF2-40B4-BE49-F238E27FC236}">
                    <a16:creationId xmlns:a16="http://schemas.microsoft.com/office/drawing/2014/main" id="{1B9794B8-8A30-3BEB-6D77-76B62071E968}"/>
                  </a:ext>
                </a:extLst>
              </p:cNvPr>
              <p:cNvSpPr txBox="1">
                <a:spLocks noRot="1" noChangeAspect="1" noMove="1" noResize="1" noEditPoints="1" noAdjustHandles="1" noChangeArrowheads="1" noChangeShapeType="1" noTextEdit="1"/>
              </p:cNvSpPr>
              <p:nvPr/>
            </p:nvSpPr>
            <p:spPr>
              <a:xfrm>
                <a:off x="1255489" y="7249299"/>
                <a:ext cx="6248400" cy="2308324"/>
              </a:xfrm>
              <a:prstGeom prst="rect">
                <a:avLst/>
              </a:prstGeom>
              <a:blipFill>
                <a:blip r:embed="rId9"/>
                <a:stretch>
                  <a:fillRect l="-683" t="-1055" r="-1268" b="-34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1C4B4FEE-3B65-0971-117D-9C45664D2C7C}"/>
                  </a:ext>
                </a:extLst>
              </p:cNvPr>
              <p:cNvSpPr txBox="1"/>
              <p:nvPr/>
            </p:nvSpPr>
            <p:spPr>
              <a:xfrm>
                <a:off x="8506968" y="6558201"/>
                <a:ext cx="9109814" cy="391582"/>
              </a:xfrm>
              <a:prstGeom prst="rect">
                <a:avLst/>
              </a:prstGeom>
              <a:solidFill>
                <a:schemeClr val="accent1">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𝑅</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𝑇𝑒𝑠𝑙𝑎</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𝑅</m:t>
                          </m:r>
                        </m:e>
                        <m:sub>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𝑓</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𝛼</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d>
                        <m:d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d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𝑀𝑘𝑡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𝑅𝐹</m:t>
                          </m:r>
                        </m:e>
                      </m:d>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𝑆𝑀𝐵</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3</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𝐻𝑀𝐿</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4</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𝑅𝑀𝑊</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5</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𝐶𝑀𝐴</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oMath>
                  </m:oMathPara>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1C4B4FEE-3B65-0971-117D-9C45664D2C7C}"/>
                  </a:ext>
                </a:extLst>
              </p:cNvPr>
              <p:cNvSpPr txBox="1">
                <a:spLocks noRot="1" noChangeAspect="1" noMove="1" noResize="1" noEditPoints="1" noAdjustHandles="1" noChangeArrowheads="1" noChangeShapeType="1" noTextEdit="1"/>
              </p:cNvSpPr>
              <p:nvPr/>
            </p:nvSpPr>
            <p:spPr>
              <a:xfrm>
                <a:off x="8506968" y="6558201"/>
                <a:ext cx="9109814" cy="391582"/>
              </a:xfrm>
              <a:prstGeom prst="rect">
                <a:avLst/>
              </a:prstGeom>
              <a:blipFill>
                <a:blip r:embed="rId10"/>
                <a:stretch>
                  <a:fillRect b="-93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AAA3BD95-D4EC-FD15-211B-3A0F02D1EF13}"/>
                  </a:ext>
                </a:extLst>
              </p:cNvPr>
              <p:cNvSpPr txBox="1"/>
              <p:nvPr/>
            </p:nvSpPr>
            <p:spPr>
              <a:xfrm>
                <a:off x="8503920" y="7015401"/>
                <a:ext cx="5486400" cy="2585323"/>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Market Excess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2.1850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(p-value: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1.56</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𝑒</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Highly significant: showing Tesla’s sensitivity to market movements.</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It is more volatile than the market.</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Other factors (SMB, HML, RMW, CMA) are not significant (p-values &gt;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They don’t strongly explain BYD’s returns.</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R-squared: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0.4995</m:t>
                    </m:r>
                  </m:oMath>
                </a14:m>
                <a:endParaRPr lang="en-US" altLang="zh-CN" i="1" dirty="0">
                  <a:solidFill>
                    <a:schemeClr val="accent5">
                      <a:lumMod val="50000"/>
                    </a:schemeClr>
                  </a:solidFill>
                  <a:latin typeface="Cambria Math" panose="02040503050406030204" pitchFamily="18" charset="0"/>
                  <a:cs typeface="Times New Roman" panose="02020603050405020304" pitchFamily="18" charset="0"/>
                </a:endParaRPr>
              </a:p>
              <a:p>
                <a:pPr marL="742950" lvl="1" indent="-285750">
                  <a:buFont typeface="Arial" panose="020B0604020202020204" pitchFamily="34" charset="0"/>
                  <a:buChar char="•"/>
                </a:pP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49.95%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of Tesla’s excess return variance is explained.</a:t>
                </a:r>
              </a:p>
            </p:txBody>
          </p:sp>
        </mc:Choice>
        <mc:Fallback xmlns="">
          <p:sp>
            <p:nvSpPr>
              <p:cNvPr id="12" name="文本框 11">
                <a:extLst>
                  <a:ext uri="{FF2B5EF4-FFF2-40B4-BE49-F238E27FC236}">
                    <a16:creationId xmlns:a16="http://schemas.microsoft.com/office/drawing/2014/main" id="{AAA3BD95-D4EC-FD15-211B-3A0F02D1EF13}"/>
                  </a:ext>
                </a:extLst>
              </p:cNvPr>
              <p:cNvSpPr txBox="1">
                <a:spLocks noRot="1" noChangeAspect="1" noMove="1" noResize="1" noEditPoints="1" noAdjustHandles="1" noChangeArrowheads="1" noChangeShapeType="1" noTextEdit="1"/>
              </p:cNvSpPr>
              <p:nvPr/>
            </p:nvSpPr>
            <p:spPr>
              <a:xfrm>
                <a:off x="8503920" y="7015401"/>
                <a:ext cx="5486400" cy="2585323"/>
              </a:xfrm>
              <a:prstGeom prst="rect">
                <a:avLst/>
              </a:prstGeom>
              <a:blipFill>
                <a:blip r:embed="rId11"/>
                <a:stretch>
                  <a:fillRect l="-667" t="-1179" r="-778" b="-3066"/>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78689D1E-742B-9319-4E98-D488CA0B8A8F}"/>
              </a:ext>
            </a:extLst>
          </p:cNvPr>
          <p:cNvSpPr txBox="1"/>
          <p:nvPr/>
        </p:nvSpPr>
        <p:spPr>
          <a:xfrm>
            <a:off x="1585327" y="9666342"/>
            <a:ext cx="12922785" cy="584775"/>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The difference in market sensitivity means the price movements of the pair are driven by distinct factors, reducing the risk of both stocks moving in the same direction due to market-wide trends, which is ideal for pairs trading where profit from their relative price difference.</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1187483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69AF0-D68C-9D9A-3F04-2643EAF17190}"/>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01A69296-2F03-ED1C-556C-FCA009A2FD1F}"/>
              </a:ext>
            </a:extLst>
          </p:cNvPr>
          <p:cNvSpPr txBox="1"/>
          <p:nvPr/>
        </p:nvSpPr>
        <p:spPr>
          <a:xfrm>
            <a:off x="381000" y="-38100"/>
            <a:ext cx="6629400" cy="1011495"/>
          </a:xfrm>
          <a:prstGeom prst="rect">
            <a:avLst/>
          </a:prstGeom>
        </p:spPr>
        <p:txBody>
          <a:bodyPr wrap="square" lIns="0" tIns="0" rIns="0" bIns="0" rtlCol="0" anchor="t">
            <a:spAutoFit/>
          </a:bodyPr>
          <a:lstStyle/>
          <a:p>
            <a:pPr marL="0" lvl="0" indent="0" algn="l">
              <a:lnSpc>
                <a:spcPts val="8959"/>
              </a:lnSpc>
              <a:spcBef>
                <a:spcPct val="0"/>
              </a:spcBef>
            </a:pPr>
            <a:r>
              <a:rPr lang="en-US" altLang="zh-CN" sz="4000" b="1" i="1" dirty="0">
                <a:solidFill>
                  <a:srgbClr val="0F4662"/>
                </a:solidFill>
                <a:latin typeface="Cormorant Garamond Bold Italics" panose="02010600030101010101" charset="0"/>
              </a:rPr>
              <a:t>Quantitative</a:t>
            </a:r>
            <a:r>
              <a:rPr lang="en-US" altLang="zh-CN" sz="4000" b="1" i="1" dirty="0">
                <a:solidFill>
                  <a:srgbClr val="0F4662"/>
                </a:solidFill>
                <a:latin typeface="Cormorant Garamond Bold Italics"/>
              </a:rPr>
              <a:t> Analysis</a:t>
            </a:r>
            <a:r>
              <a:rPr lang="en-US" altLang="zh-CN" sz="2400" b="1" i="1" dirty="0">
                <a:solidFill>
                  <a:srgbClr val="0F4662"/>
                </a:solidFill>
                <a:latin typeface="Cormorant Garamond Bold Italics"/>
              </a:rPr>
              <a:t>: Market Beta Analysis</a:t>
            </a:r>
            <a:endParaRPr lang="en-US" sz="2400" b="1" i="1" dirty="0">
              <a:solidFill>
                <a:srgbClr val="0F4662"/>
              </a:solidFill>
              <a:latin typeface="Cormorant Garamond Bold Italics"/>
              <a:sym typeface="Cormorant Garamond Bold Italics"/>
            </a:endParaRPr>
          </a:p>
        </p:txBody>
      </p:sp>
      <p:pic>
        <p:nvPicPr>
          <p:cNvPr id="9" name="图片 8">
            <a:extLst>
              <a:ext uri="{FF2B5EF4-FFF2-40B4-BE49-F238E27FC236}">
                <a16:creationId xmlns:a16="http://schemas.microsoft.com/office/drawing/2014/main" id="{22A517B5-C52D-9777-A0EB-54FCC2FD3B0A}"/>
              </a:ext>
            </a:extLst>
          </p:cNvPr>
          <p:cNvPicPr>
            <a:picLocks noChangeAspect="1"/>
          </p:cNvPicPr>
          <p:nvPr/>
        </p:nvPicPr>
        <p:blipFill>
          <a:blip r:embed="rId3"/>
          <a:stretch>
            <a:fillRect/>
          </a:stretch>
        </p:blipFill>
        <p:spPr>
          <a:xfrm>
            <a:off x="14949292" y="147595"/>
            <a:ext cx="1724416" cy="1011495"/>
          </a:xfrm>
          <a:prstGeom prst="rect">
            <a:avLst/>
          </a:prstGeom>
        </p:spPr>
      </p:pic>
      <p:pic>
        <p:nvPicPr>
          <p:cNvPr id="11" name="图片 10">
            <a:extLst>
              <a:ext uri="{FF2B5EF4-FFF2-40B4-BE49-F238E27FC236}">
                <a16:creationId xmlns:a16="http://schemas.microsoft.com/office/drawing/2014/main" id="{49F2B61A-1A92-B9D9-B57D-8693F1D4B0B7}"/>
              </a:ext>
            </a:extLst>
          </p:cNvPr>
          <p:cNvPicPr>
            <a:picLocks noChangeAspect="1"/>
          </p:cNvPicPr>
          <p:nvPr/>
        </p:nvPicPr>
        <p:blipFill>
          <a:blip r:embed="rId4"/>
          <a:stretch>
            <a:fillRect/>
          </a:stretch>
        </p:blipFill>
        <p:spPr>
          <a:xfrm>
            <a:off x="16916400" y="147595"/>
            <a:ext cx="1104169" cy="1168178"/>
          </a:xfrm>
          <a:prstGeom prst="rect">
            <a:avLst/>
          </a:prstGeom>
        </p:spPr>
      </p:pic>
      <p:pic>
        <p:nvPicPr>
          <p:cNvPr id="3" name="图片 2">
            <a:extLst>
              <a:ext uri="{FF2B5EF4-FFF2-40B4-BE49-F238E27FC236}">
                <a16:creationId xmlns:a16="http://schemas.microsoft.com/office/drawing/2014/main" id="{FB447777-296F-2660-B372-9885663F6CF7}"/>
              </a:ext>
            </a:extLst>
          </p:cNvPr>
          <p:cNvPicPr>
            <a:picLocks noChangeAspect="1"/>
          </p:cNvPicPr>
          <p:nvPr/>
        </p:nvPicPr>
        <p:blipFill>
          <a:blip r:embed="rId5"/>
          <a:stretch>
            <a:fillRect/>
          </a:stretch>
        </p:blipFill>
        <p:spPr>
          <a:xfrm>
            <a:off x="936297" y="1562100"/>
            <a:ext cx="7245738" cy="4456812"/>
          </a:xfrm>
          <a:prstGeom prst="rect">
            <a:avLst/>
          </a:prstGeom>
        </p:spPr>
      </p:pic>
      <p:pic>
        <p:nvPicPr>
          <p:cNvPr id="5" name="图片 4">
            <a:extLst>
              <a:ext uri="{FF2B5EF4-FFF2-40B4-BE49-F238E27FC236}">
                <a16:creationId xmlns:a16="http://schemas.microsoft.com/office/drawing/2014/main" id="{38044EB8-9E08-4910-FE0F-138E476E3595}"/>
              </a:ext>
            </a:extLst>
          </p:cNvPr>
          <p:cNvPicPr>
            <a:picLocks noChangeAspect="1"/>
          </p:cNvPicPr>
          <p:nvPr/>
        </p:nvPicPr>
        <p:blipFill>
          <a:blip r:embed="rId6"/>
          <a:stretch>
            <a:fillRect/>
          </a:stretch>
        </p:blipFill>
        <p:spPr>
          <a:xfrm>
            <a:off x="936298" y="5829301"/>
            <a:ext cx="7245738" cy="4456812"/>
          </a:xfrm>
          <a:prstGeom prst="rect">
            <a:avLst/>
          </a:prstGeom>
        </p:spPr>
      </p:pic>
      <p:pic>
        <p:nvPicPr>
          <p:cNvPr id="10" name="图片 9">
            <a:extLst>
              <a:ext uri="{FF2B5EF4-FFF2-40B4-BE49-F238E27FC236}">
                <a16:creationId xmlns:a16="http://schemas.microsoft.com/office/drawing/2014/main" id="{B6CAC121-5B5A-D427-B4F4-1A3CD795C325}"/>
              </a:ext>
            </a:extLst>
          </p:cNvPr>
          <p:cNvPicPr>
            <a:picLocks noChangeAspect="1"/>
          </p:cNvPicPr>
          <p:nvPr/>
        </p:nvPicPr>
        <p:blipFill>
          <a:blip r:embed="rId7"/>
          <a:stretch>
            <a:fillRect/>
          </a:stretch>
        </p:blipFill>
        <p:spPr>
          <a:xfrm>
            <a:off x="9601200" y="1562101"/>
            <a:ext cx="7245738" cy="4456812"/>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782979CF-071B-26D2-4199-9E8CB01FAC9B}"/>
                  </a:ext>
                </a:extLst>
              </p:cNvPr>
              <p:cNvSpPr txBox="1"/>
              <p:nvPr/>
            </p:nvSpPr>
            <p:spPr>
              <a:xfrm>
                <a:off x="10049699" y="5649580"/>
                <a:ext cx="6348739" cy="369332"/>
              </a:xfrm>
              <a:prstGeom prst="rect">
                <a:avLst/>
              </a:prstGeom>
              <a:solidFill>
                <a:schemeClr val="accent1">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𝐵𝑌𝐷</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𝑇𝑒𝑠𝑙𝑎</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𝑆𝑝𝑟𝑒𝑎𝑑</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𝛼</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𝐻𝑆𝐼</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𝑁𝐴𝑆𝐷𝐴𝑄</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𝑆𝑝𝑟𝑒𝑎𝑑</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oMath>
                  </m:oMathPara>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782979CF-071B-26D2-4199-9E8CB01FAC9B}"/>
                  </a:ext>
                </a:extLst>
              </p:cNvPr>
              <p:cNvSpPr txBox="1">
                <a:spLocks noRot="1" noChangeAspect="1" noMove="1" noResize="1" noEditPoints="1" noAdjustHandles="1" noChangeArrowheads="1" noChangeShapeType="1" noTextEdit="1"/>
              </p:cNvSpPr>
              <p:nvPr/>
            </p:nvSpPr>
            <p:spPr>
              <a:xfrm>
                <a:off x="10049699" y="5649580"/>
                <a:ext cx="6348739" cy="369332"/>
              </a:xfrm>
              <a:prstGeom prst="rect">
                <a:avLst/>
              </a:prstGeom>
              <a:blipFill>
                <a:blip r:embed="rId8"/>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CD812B2-50F9-B668-B4B4-65ABA92241A7}"/>
                  </a:ext>
                </a:extLst>
              </p:cNvPr>
              <p:cNvSpPr txBox="1"/>
              <p:nvPr/>
            </p:nvSpPr>
            <p:spPr>
              <a:xfrm>
                <a:off x="10099869" y="6134100"/>
                <a:ext cx="6248400" cy="2308324"/>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1.4271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(p-value: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1.05</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𝑒</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−167</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significant)</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Measures how much the stock spread changes for a unit change in the market spread, capturing relative sensitivity.</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Indicates that the stock spread moves more than the market spread, amplifying market differences.</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R-squared: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0.3390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Indicates a strong relationship between the stock return spread and the market index spread.</a:t>
                </a:r>
              </a:p>
            </p:txBody>
          </p:sp>
        </mc:Choice>
        <mc:Fallback xmlns="">
          <p:sp>
            <p:nvSpPr>
              <p:cNvPr id="19" name="文本框 18">
                <a:extLst>
                  <a:ext uri="{FF2B5EF4-FFF2-40B4-BE49-F238E27FC236}">
                    <a16:creationId xmlns:a16="http://schemas.microsoft.com/office/drawing/2014/main" id="{0CD812B2-50F9-B668-B4B4-65ABA92241A7}"/>
                  </a:ext>
                </a:extLst>
              </p:cNvPr>
              <p:cNvSpPr txBox="1">
                <a:spLocks noRot="1" noChangeAspect="1" noMove="1" noResize="1" noEditPoints="1" noAdjustHandles="1" noChangeArrowheads="1" noChangeShapeType="1" noTextEdit="1"/>
              </p:cNvSpPr>
              <p:nvPr/>
            </p:nvSpPr>
            <p:spPr>
              <a:xfrm>
                <a:off x="10099869" y="6134100"/>
                <a:ext cx="6248400" cy="2308324"/>
              </a:xfrm>
              <a:prstGeom prst="rect">
                <a:avLst/>
              </a:prstGeom>
              <a:blipFill>
                <a:blip r:embed="rId9"/>
                <a:stretch>
                  <a:fillRect l="-683" t="-1055" b="-3166"/>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9FDABCD5-A9D9-780D-0E4B-8945576434B6}"/>
              </a:ext>
            </a:extLst>
          </p:cNvPr>
          <p:cNvSpPr txBox="1"/>
          <p:nvPr/>
        </p:nvSpPr>
        <p:spPr>
          <a:xfrm>
            <a:off x="7283572" y="316185"/>
            <a:ext cx="6340988" cy="830997"/>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Tesla’s returns are highly tied to the NASDAQ (50.66% explained), while BYD’s are less tied to the HSI (21.18% explained); their price difference follows market trends (33.9% explained).</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0905A1A-AD65-412F-6172-4E11FE8C7452}"/>
                  </a:ext>
                </a:extLst>
              </p:cNvPr>
              <p:cNvSpPr txBox="1"/>
              <p:nvPr/>
            </p:nvSpPr>
            <p:spPr>
              <a:xfrm>
                <a:off x="9785855" y="8724899"/>
                <a:ext cx="6876426" cy="1323439"/>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The above reveals the BYD-Tesla price spread is significantly tied to the HSI-NASDAQ market spread (beta </a:t>
                </a:r>
                <a14:m>
                  <m:oMath xmlns:m="http://schemas.openxmlformats.org/officeDocument/2006/math">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𝟏</m:t>
                    </m:r>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m:t>
                    </m:r>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𝟒𝟐𝟕𝟏</m:t>
                    </m:r>
                  </m:oMath>
                </a14:m>
                <a:r>
                  <a:rPr lang="en-US" altLang="zh-CN" sz="1600" b="1" dirty="0">
                    <a:solidFill>
                      <a:schemeClr val="tx2">
                        <a:lumMod val="50000"/>
                      </a:schemeClr>
                    </a:solidFill>
                    <a:latin typeface="Book Antiqua" panose="02040602050305030304" pitchFamily="18" charset="0"/>
                    <a:cs typeface="Times New Roman" panose="02020603050405020304" pitchFamily="18" charset="0"/>
                  </a:rPr>
                  <a:t>, </a:t>
                </a:r>
                <a14:m>
                  <m:oMath xmlns:m="http://schemas.openxmlformats.org/officeDocument/2006/math">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𝟑𝟑</m:t>
                    </m:r>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m:t>
                    </m:r>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𝟗</m:t>
                    </m:r>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m:t>
                    </m:r>
                  </m:oMath>
                </a14:m>
                <a:r>
                  <a:rPr lang="en-US" altLang="zh-CN" sz="1600" b="1" dirty="0">
                    <a:solidFill>
                      <a:schemeClr val="tx2">
                        <a:lumMod val="50000"/>
                      </a:schemeClr>
                    </a:solidFill>
                    <a:latin typeface="Book Antiqua" panose="02040602050305030304" pitchFamily="18" charset="0"/>
                    <a:cs typeface="Times New Roman" panose="02020603050405020304" pitchFamily="18" charset="0"/>
                  </a:rPr>
                  <a:t> explained). This strong relationship indicates the spread is predictable and influenced by market differences, making it easier to anticipate and trade when the spread deviates from its norm, a key requirement for pairs trading.</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C0905A1A-AD65-412F-6172-4E11FE8C7452}"/>
                  </a:ext>
                </a:extLst>
              </p:cNvPr>
              <p:cNvSpPr txBox="1">
                <a:spLocks noRot="1" noChangeAspect="1" noMove="1" noResize="1" noEditPoints="1" noAdjustHandles="1" noChangeArrowheads="1" noChangeShapeType="1" noTextEdit="1"/>
              </p:cNvSpPr>
              <p:nvPr/>
            </p:nvSpPr>
            <p:spPr>
              <a:xfrm>
                <a:off x="9785855" y="8724899"/>
                <a:ext cx="6876426" cy="1323439"/>
              </a:xfrm>
              <a:prstGeom prst="rect">
                <a:avLst/>
              </a:prstGeom>
              <a:blipFill>
                <a:blip r:embed="rId10"/>
                <a:stretch>
                  <a:fillRect l="-443" t="-1382" r="-1064" b="-50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23756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8539</TotalTime>
  <Words>2718</Words>
  <Application>Microsoft Office PowerPoint</Application>
  <PresentationFormat>自定义</PresentationFormat>
  <Paragraphs>194</Paragraphs>
  <Slides>11</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Times New Roman</vt:lpstr>
      <vt:lpstr>Calibri</vt:lpstr>
      <vt:lpstr>Garamond</vt:lpstr>
      <vt:lpstr>Book Antiqua</vt:lpstr>
      <vt:lpstr>Cormorant Garamond Bold Italics</vt:lpstr>
      <vt:lpstr>等线</vt:lpstr>
      <vt:lpstr>Arial</vt:lpstr>
      <vt:lpstr>Cambria Math</vt:lpstr>
      <vt:lpstr>Wingdings</vt:lpstr>
      <vt:lpstr>InterVariable</vt:lpstr>
      <vt:lpstr>微软雅黑</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Leon Fang</dc:creator>
  <cp:lastModifiedBy>Leon F</cp:lastModifiedBy>
  <cp:revision>52</cp:revision>
  <dcterms:created xsi:type="dcterms:W3CDTF">2006-08-16T00:00:00Z</dcterms:created>
  <dcterms:modified xsi:type="dcterms:W3CDTF">2025-05-03T12:23:21Z</dcterms:modified>
  <dc:identifier>DAGl1QXc6Vo</dc:identifier>
</cp:coreProperties>
</file>