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8" r:id="rId2"/>
    <p:sldId id="273" r:id="rId3"/>
    <p:sldId id="272" r:id="rId4"/>
    <p:sldId id="271" r:id="rId5"/>
    <p:sldId id="275" r:id="rId6"/>
    <p:sldId id="280" r:id="rId7"/>
    <p:sldId id="270" r:id="rId8"/>
    <p:sldId id="277" r:id="rId9"/>
    <p:sldId id="282" r:id="rId10"/>
  </p:sldIdLst>
  <p:sldSz cx="18288000" cy="10287000"/>
  <p:notesSz cx="6858000" cy="9144000"/>
  <p:embeddedFontLst>
    <p:embeddedFont>
      <p:font typeface="Book Antiqua" panose="02040602050305030304" pitchFamily="18" charset="0"/>
      <p:regular r:id="rId13"/>
      <p:bold r:id="rId14"/>
      <p:italic r:id="rId15"/>
      <p:boldItalic r:id="rId16"/>
    </p:embeddedFont>
    <p:embeddedFont>
      <p:font typeface="Cambria Math" panose="02040503050406030204" pitchFamily="18" charset="0"/>
      <p:regular r:id="rId17"/>
    </p:embeddedFont>
    <p:embeddedFont>
      <p:font typeface="Cormorant Garamond Bold Italics" panose="02010600030101010101" charset="0"/>
      <p:regular r:id="rId18"/>
    </p:embeddedFont>
    <p:embeddedFont>
      <p:font typeface="Garamond" panose="02020404030301010803" pitchFamily="18" charset="0"/>
      <p:regular r:id="rId19"/>
      <p:bold r:id="rId20"/>
      <p:italic r:id="rId21"/>
    </p:embeddedFont>
    <p:embeddedFont>
      <p:font typeface="微软雅黑" panose="020B0503020204020204" pitchFamily="34" charset="-122"/>
      <p:regular r:id="rId22"/>
      <p:bold r:id="rId23"/>
    </p:embeddedFont>
    <p:embeddedFont>
      <p:font typeface="等线" panose="02010600030101010101" pitchFamily="2" charset="-122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090" autoAdjust="0"/>
  </p:normalViewPr>
  <p:slideViewPr>
    <p:cSldViewPr>
      <p:cViewPr varScale="1">
        <p:scale>
          <a:sx n="70" d="100"/>
          <a:sy n="70" d="100"/>
        </p:scale>
        <p:origin x="2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3168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CDDFBB0-732F-B21C-87DB-189976A39C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F73EB8-00B8-4655-4621-F69F63E94E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674D4-0DF1-42FE-856E-4760B0A68761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0B40D2-45AD-ACF8-792E-9BA82C7C7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4BABE2-8B4B-5733-E2A6-8C2AEA70CD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EB3A8-1B71-4684-AC3F-CF9BE587A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720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B4876-C816-4CD8-90B5-181FF05843F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1FFB1-CEDC-49C5-9753-C8F02407D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795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1FFB1-CEDC-49C5-9753-C8F02407D0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5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E65B4-753B-439C-9222-B55094B515D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277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3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10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267A-F11D-3EA3-98A3-3B2B1E9D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E60339-B4BF-6972-E064-F0092FC7094F}"/>
              </a:ext>
            </a:extLst>
          </p:cNvPr>
          <p:cNvGrpSpPr/>
          <p:nvPr/>
        </p:nvGrpSpPr>
        <p:grpSpPr>
          <a:xfrm>
            <a:off x="0" y="1"/>
            <a:ext cx="18288000" cy="3392802"/>
            <a:chOff x="0" y="0"/>
            <a:chExt cx="4816593" cy="10797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3997AB-87A2-6B11-6D66-90145345A551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  <p:txBody>
            <a:bodyPr/>
            <a:lstStyle/>
            <a:p>
              <a:endParaRPr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175DB23-0F7B-3C22-4D16-91C0356EB2FF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>
                <a:highlight>
                  <a:srgbClr val="FFFF00"/>
                </a:highlight>
              </a:endParaRP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1C4E8E37-81A8-C0FB-5632-6CBF778C9FFB}"/>
              </a:ext>
            </a:extLst>
          </p:cNvPr>
          <p:cNvSpPr txBox="1"/>
          <p:nvPr/>
        </p:nvSpPr>
        <p:spPr>
          <a:xfrm>
            <a:off x="7696200" y="8191500"/>
            <a:ext cx="6492240" cy="408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Macalester College, USA ( May 2028 )</a:t>
            </a:r>
            <a:endParaRPr lang="en-US" sz="2400" dirty="0">
              <a:solidFill>
                <a:srgbClr val="0F4662"/>
              </a:solidFill>
              <a:latin typeface="InterVariable"/>
              <a:ea typeface="Quicksand"/>
              <a:cs typeface="Quicksand"/>
              <a:sym typeface="Quicksan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4DE2AF3-708E-CDCC-6769-E1296BC979BF}"/>
              </a:ext>
            </a:extLst>
          </p:cNvPr>
          <p:cNvSpPr txBox="1"/>
          <p:nvPr/>
        </p:nvSpPr>
        <p:spPr>
          <a:xfrm>
            <a:off x="6545590" y="7391732"/>
            <a:ext cx="9250660" cy="408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The Chinese University of Hong Kong, Shenzhen (May 2027)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109C783-8D77-B2AA-C3EA-08FCE35CD591}"/>
              </a:ext>
            </a:extLst>
          </p:cNvPr>
          <p:cNvSpPr txBox="1"/>
          <p:nvPr/>
        </p:nvSpPr>
        <p:spPr>
          <a:xfrm>
            <a:off x="2057400" y="7331331"/>
            <a:ext cx="5017320" cy="46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F4662"/>
                </a:solidFill>
                <a:latin typeface="InterVariable"/>
                <a:ea typeface="Quicksand Bold"/>
                <a:cs typeface="Quicksand Bold"/>
                <a:sym typeface="Quicksand Bold"/>
              </a:rPr>
              <a:t>Mr. Wen </a:t>
            </a:r>
            <a:r>
              <a:rPr lang="en-US" altLang="zh-CN" sz="2799" b="1" dirty="0">
                <a:solidFill>
                  <a:srgbClr val="0F4662"/>
                </a:solidFill>
                <a:latin typeface="InterVariable"/>
                <a:ea typeface="Quicksand Bold"/>
                <a:cs typeface="Quicksand Bold"/>
                <a:sym typeface="Quicksand Bold"/>
              </a:rPr>
              <a:t>Jie (Menger)</a:t>
            </a:r>
            <a:endParaRPr lang="en-US" sz="2799" b="1" dirty="0">
              <a:solidFill>
                <a:srgbClr val="0F4662"/>
              </a:solidFill>
              <a:latin typeface="InterVariable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4D8D87E9-EFEB-36A7-0528-14AFF87BED61}"/>
              </a:ext>
            </a:extLst>
          </p:cNvPr>
          <p:cNvSpPr txBox="1"/>
          <p:nvPr/>
        </p:nvSpPr>
        <p:spPr>
          <a:xfrm>
            <a:off x="2514600" y="8104574"/>
            <a:ext cx="5017320" cy="46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F4662"/>
                </a:solidFill>
                <a:latin typeface="InterVariable"/>
                <a:ea typeface="Quicksand Bold"/>
                <a:cs typeface="Quicksand Bold"/>
                <a:sym typeface="Quicksand Bold"/>
              </a:rPr>
              <a:t>Mr. Fang </a:t>
            </a:r>
            <a:r>
              <a:rPr lang="en-US" altLang="zh-CN" sz="2799" b="1" dirty="0" err="1">
                <a:solidFill>
                  <a:srgbClr val="0F4662"/>
                </a:solidFill>
                <a:latin typeface="InterVariable"/>
                <a:ea typeface="Quicksand Bold"/>
                <a:cs typeface="Quicksand Bold"/>
                <a:sym typeface="Quicksand Bold"/>
              </a:rPr>
              <a:t>Mingxiang</a:t>
            </a:r>
            <a:r>
              <a:rPr lang="en-US" altLang="zh-CN" sz="2799" b="1" dirty="0">
                <a:solidFill>
                  <a:srgbClr val="0F4662"/>
                </a:solidFill>
                <a:latin typeface="InterVariable"/>
                <a:ea typeface="Quicksand Bold"/>
                <a:cs typeface="Quicksand Bold"/>
                <a:sym typeface="Quicksand Bold"/>
              </a:rPr>
              <a:t> (Jack)</a:t>
            </a:r>
            <a:endParaRPr lang="en-US" sz="2799" b="1" dirty="0">
              <a:solidFill>
                <a:srgbClr val="0F4662"/>
              </a:solidFill>
              <a:latin typeface="InterVariable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1C42722-CB0D-B162-41AA-5BC51C923F42}"/>
              </a:ext>
            </a:extLst>
          </p:cNvPr>
          <p:cNvSpPr txBox="1"/>
          <p:nvPr/>
        </p:nvSpPr>
        <p:spPr>
          <a:xfrm>
            <a:off x="1828800" y="-1217"/>
            <a:ext cx="15472000" cy="2698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9"/>
              </a:lnSpc>
              <a:spcBef>
                <a:spcPct val="0"/>
              </a:spcBef>
            </a:pPr>
            <a:r>
              <a:rPr lang="en-US" sz="5500" b="1" dirty="0">
                <a:solidFill>
                  <a:srgbClr val="0F4662"/>
                </a:solidFill>
                <a:latin typeface="Garamond" panose="02020404030301010803" pitchFamily="18" charset="0"/>
                <a:ea typeface="Cormorant Garamond Bold Italics"/>
                <a:cs typeface="Cormorant Garamond Bold Italics"/>
                <a:sym typeface="Cormorant Garamond Bold Italics"/>
              </a:rPr>
              <a:t>2025 UBS Finance Challenge </a:t>
            </a:r>
            <a:r>
              <a:rPr lang="en-US" sz="4800" b="1" dirty="0">
                <a:solidFill>
                  <a:srgbClr val="0F4662"/>
                </a:solidFill>
                <a:latin typeface="Garamond" panose="02020404030301010803" pitchFamily="18" charset="0"/>
                <a:ea typeface="Cormorant Garamond Bold Italics"/>
                <a:cs typeface="Cormorant Garamond Bold Italics"/>
                <a:sym typeface="Cormorant Garamond Bold Italics"/>
              </a:rPr>
              <a:t>~ </a:t>
            </a:r>
            <a:r>
              <a:rPr lang="en-US" altLang="zh-CN" sz="4800" b="1" dirty="0">
                <a:solidFill>
                  <a:srgbClr val="0F4662"/>
                </a:solidFill>
                <a:latin typeface="Garamond" panose="02020404030301010803" pitchFamily="18" charset="0"/>
                <a:ea typeface="Cormorant Garamond Bold Italics"/>
                <a:cs typeface="Cormorant Garamond Bold Italics"/>
                <a:sym typeface="Cormorant Garamond Bold Italics"/>
              </a:rPr>
              <a:t>Pair Trade Stock Pitch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E5BBA07-6000-F1EB-A2D5-659512DFC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994" y="342900"/>
            <a:ext cx="1822246" cy="896661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47A31EF8-FE6F-08E3-A8DB-A6F430A075C8}"/>
              </a:ext>
            </a:extLst>
          </p:cNvPr>
          <p:cNvSpPr txBox="1"/>
          <p:nvPr/>
        </p:nvSpPr>
        <p:spPr>
          <a:xfrm>
            <a:off x="2702041" y="3701339"/>
            <a:ext cx="12812922" cy="164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Region</a:t>
            </a:r>
            <a:r>
              <a:rPr lang="zh-CN" altLang="en-US" sz="4000" b="1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：</a:t>
            </a:r>
            <a:r>
              <a:rPr lang="en-US" sz="4000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Hong Kong Stock Market</a:t>
            </a:r>
          </a:p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Sector</a:t>
            </a:r>
            <a:r>
              <a:rPr lang="zh-CN" altLang="en-US" sz="4000" b="1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：</a:t>
            </a:r>
            <a:r>
              <a:rPr lang="en-US" sz="4000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Industrial ( Automobile)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4EC3DF0A-020E-510D-351B-006BA885C631}"/>
              </a:ext>
            </a:extLst>
          </p:cNvPr>
          <p:cNvSpPr txBox="1"/>
          <p:nvPr/>
        </p:nvSpPr>
        <p:spPr>
          <a:xfrm>
            <a:off x="3286680" y="6376376"/>
            <a:ext cx="11643643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i="1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Prepared by Team of </a:t>
            </a:r>
            <a:r>
              <a:rPr lang="en-US" sz="3141" b="1" i="1" dirty="0" err="1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AlphaStock</a:t>
            </a:r>
            <a:endParaRPr lang="en-US" sz="3141" b="1" i="1" dirty="0">
              <a:solidFill>
                <a:srgbClr val="0F4662"/>
              </a:solidFill>
              <a:latin typeface="InterVariable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6860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68643" y="1695450"/>
            <a:ext cx="10559322" cy="805647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1215000" tIns="68580" rIns="137160" bIns="68580" anchor="ctr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100" dirty="0">
                <a:solidFill>
                  <a:srgbClr val="000000"/>
                </a:solidFill>
                <a:latin typeface="微软雅黑"/>
                <a:ea typeface="微软雅黑"/>
              </a:rPr>
              <a:t>Summary of Rationale</a:t>
            </a:r>
            <a:endParaRPr lang="zh-CN" altLang="en-US" sz="21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3" name="AutoShape 3"/>
          <p:cNvSpPr/>
          <p:nvPr/>
        </p:nvSpPr>
        <p:spPr>
          <a:xfrm rot="19800000" flipH="1">
            <a:off x="3837947" y="1412059"/>
            <a:ext cx="1261395" cy="1087400"/>
          </a:xfrm>
          <a:prstGeom prst="triangle">
            <a:avLst/>
          </a:prstGeom>
          <a:solidFill>
            <a:schemeClr val="accent1"/>
          </a:solidFill>
        </p:spPr>
        <p:txBody>
          <a:bodyPr vert="horz" wrap="square" lIns="137160" tIns="68580" rIns="137160" bIns="68580" anchor="ctr">
            <a:normAutofit lnSpcReduction="10000"/>
          </a:bodyPr>
          <a:lstStyle/>
          <a:p>
            <a:pPr algn="ctr"/>
            <a:endParaRPr sz="2700"/>
          </a:p>
        </p:txBody>
      </p:sp>
      <p:sp>
        <p:nvSpPr>
          <p:cNvPr id="4" name="TextBox 4"/>
          <p:cNvSpPr txBox="1"/>
          <p:nvPr/>
        </p:nvSpPr>
        <p:spPr>
          <a:xfrm>
            <a:off x="4228110" y="1780136"/>
            <a:ext cx="705000" cy="646331"/>
          </a:xfrm>
          <a:prstGeom prst="rect">
            <a:avLst/>
          </a:prstGeom>
          <a:noFill/>
        </p:spPr>
        <p:txBody>
          <a:bodyPr vert="horz" wrap="square" lIns="137160" tIns="68580" rIns="137160" bIns="68580" rtlCol="0" anchor="ctr">
            <a:normAutofit/>
          </a:bodyPr>
          <a:lstStyle/>
          <a:p>
            <a:pPr algn="ctr">
              <a:defRPr/>
            </a:pPr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650"/>
          </a:p>
        </p:txBody>
      </p:sp>
      <p:sp>
        <p:nvSpPr>
          <p:cNvPr id="5" name="AutoShape 5"/>
          <p:cNvSpPr/>
          <p:nvPr/>
        </p:nvSpPr>
        <p:spPr>
          <a:xfrm>
            <a:off x="4468643" y="2965608"/>
            <a:ext cx="10559322" cy="805647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1215000" tIns="68580" rIns="137160" bIns="68580" anchor="ctr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>
                <a:solidFill>
                  <a:srgbClr val="000000"/>
                </a:solidFill>
                <a:latin typeface="微软雅黑"/>
                <a:ea typeface="微软雅黑"/>
              </a:rPr>
              <a:t>Industry and Company Overview</a:t>
            </a:r>
          </a:p>
        </p:txBody>
      </p:sp>
      <p:sp>
        <p:nvSpPr>
          <p:cNvPr id="6" name="AutoShape 6"/>
          <p:cNvSpPr/>
          <p:nvPr/>
        </p:nvSpPr>
        <p:spPr>
          <a:xfrm rot="19800000" flipH="1">
            <a:off x="3837947" y="2682217"/>
            <a:ext cx="1261395" cy="1087400"/>
          </a:xfrm>
          <a:prstGeom prst="triangle">
            <a:avLst/>
          </a:prstGeom>
          <a:solidFill>
            <a:schemeClr val="accent2"/>
          </a:solidFill>
        </p:spPr>
        <p:txBody>
          <a:bodyPr vert="horz" wrap="square" lIns="137160" tIns="68580" rIns="137160" bIns="68580" anchor="ctr">
            <a:normAutofit lnSpcReduction="10000"/>
          </a:bodyPr>
          <a:lstStyle/>
          <a:p>
            <a:pPr algn="ctr"/>
            <a:endParaRPr sz="2700"/>
          </a:p>
        </p:txBody>
      </p:sp>
      <p:sp>
        <p:nvSpPr>
          <p:cNvPr id="7" name="TextBox 7"/>
          <p:cNvSpPr txBox="1"/>
          <p:nvPr/>
        </p:nvSpPr>
        <p:spPr>
          <a:xfrm>
            <a:off x="4228110" y="3050296"/>
            <a:ext cx="705000" cy="646331"/>
          </a:xfrm>
          <a:prstGeom prst="rect">
            <a:avLst/>
          </a:prstGeom>
          <a:noFill/>
        </p:spPr>
        <p:txBody>
          <a:bodyPr vert="horz" wrap="square" lIns="137160" tIns="68580" rIns="137160" bIns="68580" rtlCol="0" anchor="ctr">
            <a:normAutofit/>
          </a:bodyPr>
          <a:lstStyle/>
          <a:p>
            <a:pPr algn="ctr">
              <a:defRPr/>
            </a:pPr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650"/>
          </a:p>
        </p:txBody>
      </p:sp>
      <p:sp>
        <p:nvSpPr>
          <p:cNvPr id="8" name="AutoShape 8"/>
          <p:cNvSpPr/>
          <p:nvPr/>
        </p:nvSpPr>
        <p:spPr>
          <a:xfrm>
            <a:off x="4468643" y="4235766"/>
            <a:ext cx="10559322" cy="805647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1215000" tIns="68580" rIns="137160" bIns="68580" anchor="ctr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>
                <a:solidFill>
                  <a:srgbClr val="000000"/>
                </a:solidFill>
                <a:latin typeface="微软雅黑"/>
                <a:ea typeface="微软雅黑"/>
              </a:rPr>
              <a:t>Valuation Comparison</a:t>
            </a:r>
          </a:p>
        </p:txBody>
      </p:sp>
      <p:sp>
        <p:nvSpPr>
          <p:cNvPr id="9" name="AutoShape 9"/>
          <p:cNvSpPr/>
          <p:nvPr/>
        </p:nvSpPr>
        <p:spPr>
          <a:xfrm rot="19800000" flipH="1">
            <a:off x="3837947" y="3952375"/>
            <a:ext cx="1261395" cy="1087400"/>
          </a:xfrm>
          <a:prstGeom prst="triangle">
            <a:avLst/>
          </a:prstGeom>
          <a:solidFill>
            <a:schemeClr val="accent1"/>
          </a:solidFill>
        </p:spPr>
        <p:txBody>
          <a:bodyPr vert="horz" wrap="square" lIns="137160" tIns="68580" rIns="137160" bIns="68580" anchor="ctr">
            <a:normAutofit lnSpcReduction="10000"/>
          </a:bodyPr>
          <a:lstStyle/>
          <a:p>
            <a:pPr algn="ctr"/>
            <a:endParaRPr sz="2700"/>
          </a:p>
        </p:txBody>
      </p:sp>
      <p:sp>
        <p:nvSpPr>
          <p:cNvPr id="10" name="TextBox 10"/>
          <p:cNvSpPr txBox="1"/>
          <p:nvPr/>
        </p:nvSpPr>
        <p:spPr>
          <a:xfrm>
            <a:off x="4228110" y="4320452"/>
            <a:ext cx="705000" cy="646331"/>
          </a:xfrm>
          <a:prstGeom prst="rect">
            <a:avLst/>
          </a:prstGeom>
          <a:noFill/>
        </p:spPr>
        <p:txBody>
          <a:bodyPr vert="horz" wrap="square" lIns="137160" tIns="68580" rIns="137160" bIns="68580" rtlCol="0" anchor="ctr">
            <a:normAutofit/>
          </a:bodyPr>
          <a:lstStyle/>
          <a:p>
            <a:pPr algn="ctr">
              <a:defRPr/>
            </a:pPr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650"/>
          </a:p>
        </p:txBody>
      </p:sp>
      <p:sp>
        <p:nvSpPr>
          <p:cNvPr id="11" name="AutoShape 11"/>
          <p:cNvSpPr/>
          <p:nvPr/>
        </p:nvSpPr>
        <p:spPr>
          <a:xfrm>
            <a:off x="4468643" y="5505924"/>
            <a:ext cx="10559322" cy="805647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1215000" tIns="68580" rIns="137160" bIns="68580" anchor="ctr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>
                <a:solidFill>
                  <a:srgbClr val="000000"/>
                </a:solidFill>
                <a:latin typeface="微软雅黑"/>
                <a:ea typeface="微软雅黑"/>
              </a:rPr>
              <a:t>Fundamental Catalysts &amp; Risks</a:t>
            </a:r>
          </a:p>
        </p:txBody>
      </p:sp>
      <p:sp>
        <p:nvSpPr>
          <p:cNvPr id="12" name="AutoShape 12"/>
          <p:cNvSpPr/>
          <p:nvPr/>
        </p:nvSpPr>
        <p:spPr>
          <a:xfrm rot="19800000" flipH="1">
            <a:off x="3837947" y="5222533"/>
            <a:ext cx="1261395" cy="1087400"/>
          </a:xfrm>
          <a:prstGeom prst="triangle">
            <a:avLst/>
          </a:prstGeom>
          <a:solidFill>
            <a:schemeClr val="accent2"/>
          </a:solidFill>
        </p:spPr>
        <p:txBody>
          <a:bodyPr vert="horz" wrap="square" lIns="137160" tIns="68580" rIns="137160" bIns="68580" anchor="ctr">
            <a:normAutofit lnSpcReduction="10000"/>
          </a:bodyPr>
          <a:lstStyle/>
          <a:p>
            <a:pPr algn="ctr"/>
            <a:endParaRPr sz="2700"/>
          </a:p>
        </p:txBody>
      </p:sp>
      <p:sp>
        <p:nvSpPr>
          <p:cNvPr id="13" name="TextBox 13"/>
          <p:cNvSpPr txBox="1"/>
          <p:nvPr/>
        </p:nvSpPr>
        <p:spPr>
          <a:xfrm>
            <a:off x="4228110" y="5590610"/>
            <a:ext cx="705000" cy="646331"/>
          </a:xfrm>
          <a:prstGeom prst="rect">
            <a:avLst/>
          </a:prstGeom>
          <a:noFill/>
        </p:spPr>
        <p:txBody>
          <a:bodyPr vert="horz" wrap="square" lIns="137160" tIns="68580" rIns="137160" bIns="68580" rtlCol="0" anchor="ctr">
            <a:normAutofit/>
          </a:bodyPr>
          <a:lstStyle/>
          <a:p>
            <a:pPr algn="ctr">
              <a:defRPr/>
            </a:pPr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650"/>
          </a:p>
        </p:txBody>
      </p:sp>
      <p:sp>
        <p:nvSpPr>
          <p:cNvPr id="14" name="AutoShape 14"/>
          <p:cNvSpPr/>
          <p:nvPr/>
        </p:nvSpPr>
        <p:spPr>
          <a:xfrm>
            <a:off x="4468643" y="6776081"/>
            <a:ext cx="10559322" cy="805647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1215000" tIns="68580" rIns="137160" bIns="68580" anchor="ctr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>
                <a:solidFill>
                  <a:srgbClr val="000000"/>
                </a:solidFill>
                <a:latin typeface="微软雅黑"/>
                <a:ea typeface="微软雅黑"/>
              </a:rPr>
              <a:t>Technical Analysis</a:t>
            </a:r>
          </a:p>
        </p:txBody>
      </p:sp>
      <p:sp>
        <p:nvSpPr>
          <p:cNvPr id="15" name="AutoShape 15"/>
          <p:cNvSpPr/>
          <p:nvPr/>
        </p:nvSpPr>
        <p:spPr>
          <a:xfrm rot="19800000" flipH="1">
            <a:off x="3837947" y="6492689"/>
            <a:ext cx="1261395" cy="1087400"/>
          </a:xfrm>
          <a:prstGeom prst="triangle">
            <a:avLst/>
          </a:prstGeom>
          <a:solidFill>
            <a:schemeClr val="accent1"/>
          </a:solidFill>
        </p:spPr>
        <p:txBody>
          <a:bodyPr vert="horz" wrap="square" lIns="137160" tIns="68580" rIns="137160" bIns="68580" anchor="ctr">
            <a:normAutofit lnSpcReduction="10000"/>
          </a:bodyPr>
          <a:lstStyle/>
          <a:p>
            <a:pPr algn="ctr"/>
            <a:endParaRPr sz="2700"/>
          </a:p>
        </p:txBody>
      </p:sp>
      <p:sp>
        <p:nvSpPr>
          <p:cNvPr id="16" name="TextBox 16"/>
          <p:cNvSpPr txBox="1"/>
          <p:nvPr/>
        </p:nvSpPr>
        <p:spPr>
          <a:xfrm>
            <a:off x="4228110" y="6860765"/>
            <a:ext cx="705000" cy="646331"/>
          </a:xfrm>
          <a:prstGeom prst="rect">
            <a:avLst/>
          </a:prstGeom>
          <a:noFill/>
        </p:spPr>
        <p:txBody>
          <a:bodyPr vert="horz" wrap="square" lIns="137160" tIns="68580" rIns="137160" bIns="68580" rtlCol="0" anchor="ctr">
            <a:normAutofit/>
          </a:bodyPr>
          <a:lstStyle/>
          <a:p>
            <a:pPr algn="ctr">
              <a:defRPr/>
            </a:pPr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650"/>
          </a:p>
        </p:txBody>
      </p:sp>
      <p:sp>
        <p:nvSpPr>
          <p:cNvPr id="17" name="AutoShape 17"/>
          <p:cNvSpPr/>
          <p:nvPr/>
        </p:nvSpPr>
        <p:spPr>
          <a:xfrm>
            <a:off x="1217237" y="2065059"/>
            <a:ext cx="3066224" cy="553998"/>
          </a:xfrm>
          <a:prstGeom prst="rect">
            <a:avLst/>
          </a:prstGeom>
        </p:spPr>
        <p:txBody>
          <a:bodyPr vert="horz" wrap="square" lIns="137160" tIns="68580" rIns="137160" bIns="68580" anchor="t">
            <a:noAutofit/>
          </a:bodyPr>
          <a:lstStyle/>
          <a:p>
            <a:r>
              <a:rPr lang="zh-CN" altLang="en-US" sz="3600">
                <a:solidFill>
                  <a:srgbClr val="000000"/>
                </a:solidFill>
                <a:latin typeface="微软雅黑"/>
                <a:ea typeface="微软雅黑"/>
              </a:rPr>
              <a:t>Table of Contents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468643" y="8015787"/>
            <a:ext cx="10559322" cy="805647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vert="horz" wrap="square" lIns="1215000" tIns="68580" rIns="137160" bIns="68580" anchor="ctr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>
                <a:solidFill>
                  <a:srgbClr val="000000"/>
                </a:solidFill>
                <a:latin typeface="微软雅黑"/>
                <a:ea typeface="微软雅黑"/>
              </a:rPr>
              <a:t>Risk Factors &amp; Mitigation</a:t>
            </a:r>
          </a:p>
        </p:txBody>
      </p:sp>
      <p:sp>
        <p:nvSpPr>
          <p:cNvPr id="19" name="AutoShape 19"/>
          <p:cNvSpPr/>
          <p:nvPr/>
        </p:nvSpPr>
        <p:spPr>
          <a:xfrm rot="19800000" flipH="1">
            <a:off x="3837947" y="7732396"/>
            <a:ext cx="1261395" cy="1087400"/>
          </a:xfrm>
          <a:prstGeom prst="triangle">
            <a:avLst/>
          </a:prstGeom>
          <a:solidFill>
            <a:schemeClr val="accent2"/>
          </a:solidFill>
        </p:spPr>
        <p:txBody>
          <a:bodyPr vert="horz" wrap="square" lIns="137160" tIns="68580" rIns="137160" bIns="68580" anchor="ctr">
            <a:normAutofit lnSpcReduction="10000"/>
          </a:bodyPr>
          <a:lstStyle/>
          <a:p>
            <a:pPr algn="ctr"/>
            <a:endParaRPr sz="2700"/>
          </a:p>
        </p:txBody>
      </p:sp>
      <p:sp>
        <p:nvSpPr>
          <p:cNvPr id="20" name="TextBox 20"/>
          <p:cNvSpPr txBox="1"/>
          <p:nvPr/>
        </p:nvSpPr>
        <p:spPr>
          <a:xfrm>
            <a:off x="4228110" y="8100473"/>
            <a:ext cx="705000" cy="646331"/>
          </a:xfrm>
          <a:prstGeom prst="rect">
            <a:avLst/>
          </a:prstGeom>
          <a:noFill/>
        </p:spPr>
        <p:txBody>
          <a:bodyPr vert="horz" wrap="square" lIns="137160" tIns="68580" rIns="137160" bIns="68580" rtlCol="0" anchor="ctr">
            <a:normAutofit/>
          </a:bodyPr>
          <a:lstStyle/>
          <a:p>
            <a:pPr algn="ctr">
              <a:defRPr/>
            </a:pPr>
            <a:r>
              <a:rPr lang="en-US" sz="3000" b="1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6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98F40-4011-F91E-6543-2699688E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D1F7111A-B640-4FD3-7409-BD0DC1EE1954}"/>
              </a:ext>
            </a:extLst>
          </p:cNvPr>
          <p:cNvSpPr txBox="1"/>
          <p:nvPr/>
        </p:nvSpPr>
        <p:spPr>
          <a:xfrm>
            <a:off x="929390" y="261897"/>
            <a:ext cx="17150843" cy="994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000" b="1" dirty="0">
                <a:solidFill>
                  <a:srgbClr val="0F4662"/>
                </a:solidFill>
                <a:latin typeface="InterVariable"/>
                <a:ea typeface="Cormorant Garamond Bold Italics"/>
                <a:cs typeface="Cormorant Garamond Bold Italics"/>
                <a:sym typeface="Cormorant Garamond Bold Italics"/>
              </a:rPr>
              <a:t>Summary of Rationale - </a:t>
            </a:r>
            <a:r>
              <a:rPr lang="en-US" sz="4000" b="1" dirty="0">
                <a:solidFill>
                  <a:srgbClr val="0F4662"/>
                </a:solidFill>
                <a:latin typeface="InterVariable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sz="3200" b="1" dirty="0">
                <a:solidFill>
                  <a:srgbClr val="00B05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Long Tesla (Tsla.</a:t>
            </a:r>
            <a:r>
              <a:rPr lang="en-US" altLang="zh-CN" sz="3200" b="1" dirty="0">
                <a:solidFill>
                  <a:srgbClr val="00B05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US) </a:t>
            </a:r>
            <a:r>
              <a:rPr lang="en-US" altLang="zh-CN" sz="3200" b="1" dirty="0">
                <a:solidFill>
                  <a:srgbClr val="C0000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Short BYD (1211.HK)</a:t>
            </a:r>
            <a:endParaRPr lang="en-US" sz="3200" b="1" dirty="0">
              <a:solidFill>
                <a:srgbClr val="C00000"/>
              </a:solidFill>
              <a:latin typeface="InterVariable"/>
              <a:ea typeface="Cormorant Garamond Bold Italics"/>
              <a:cs typeface="Arial" panose="020B0604020202020204" pitchFamily="34" charset="0"/>
              <a:sym typeface="Cormorant Garamond Bold Italic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43E07C2-A020-50B9-B4AC-E7780EE97AF6}"/>
              </a:ext>
            </a:extLst>
          </p:cNvPr>
          <p:cNvSpPr txBox="1"/>
          <p:nvPr/>
        </p:nvSpPr>
        <p:spPr>
          <a:xfrm>
            <a:off x="685800" y="2247900"/>
            <a:ext cx="8185657" cy="2045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altLang="zh-CN" sz="2400" b="0" i="0" dirty="0">
                <a:effectLst/>
                <a:latin typeface="InterVariable"/>
              </a:rPr>
              <a:t>BYD and Tesla’s price spread is statistically robust and mean-reverting </a:t>
            </a:r>
            <a:r>
              <a:rPr lang="en-US" altLang="zh-CN" sz="2400" dirty="0">
                <a:latin typeface="InterVariable"/>
              </a:rPr>
              <a:t>based on past</a:t>
            </a: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 5-year stock price trend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ARIMA model predicts the BYD-Tesla price spread will decrease from 0.039 to its average by mid-May 2025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851C4DA-7B72-3ED9-1AAE-35990DA3EF7C}"/>
              </a:ext>
            </a:extLst>
          </p:cNvPr>
          <p:cNvSpPr txBox="1"/>
          <p:nvPr/>
        </p:nvSpPr>
        <p:spPr>
          <a:xfrm>
            <a:off x="685801" y="4877942"/>
            <a:ext cx="7962900" cy="2052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Collaborate to generate innovative ideas for product positioning, pricing, and promotional campaigns.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Consider various channels such as online platforms, partnerships, and offline marketing.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10D3AB2-B3A6-6E87-6460-855C46C99211}"/>
              </a:ext>
            </a:extLst>
          </p:cNvPr>
          <p:cNvSpPr txBox="1"/>
          <p:nvPr/>
        </p:nvSpPr>
        <p:spPr>
          <a:xfrm>
            <a:off x="685800" y="7507985"/>
            <a:ext cx="8185657" cy="2052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Pilot the proposed strategies on a smaller scale to assess their effectiveness.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Quicksand"/>
                <a:sym typeface="Quicksand"/>
              </a:rPr>
              <a:t>Gather feedback, iterate, and refine the strategies based on initial results.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5C6A346-473D-6DAE-9573-A635B0EDD583}"/>
              </a:ext>
            </a:extLst>
          </p:cNvPr>
          <p:cNvSpPr txBox="1"/>
          <p:nvPr/>
        </p:nvSpPr>
        <p:spPr>
          <a:xfrm>
            <a:off x="914399" y="1748274"/>
            <a:ext cx="10527757" cy="46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en-US" sz="2799" b="1" dirty="0">
                <a:solidFill>
                  <a:srgbClr val="0F4662"/>
                </a:solidFill>
                <a:latin typeface="InterVariable"/>
                <a:ea typeface="Quicksand Bold"/>
                <a:cs typeface="Quicksand Bold"/>
                <a:sym typeface="Quicksand Bold"/>
              </a:rPr>
              <a:t>Quantitative Methodology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012CC31-9C46-8722-B87C-8E2BAA31E39A}"/>
              </a:ext>
            </a:extLst>
          </p:cNvPr>
          <p:cNvSpPr txBox="1"/>
          <p:nvPr/>
        </p:nvSpPr>
        <p:spPr>
          <a:xfrm>
            <a:off x="929390" y="4338033"/>
            <a:ext cx="1052775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4759"/>
              </a:lnSpc>
              <a:buFont typeface="Wingdings" panose="05000000000000000000" pitchFamily="2" charset="2"/>
              <a:buChar char="p"/>
            </a:pPr>
            <a:r>
              <a:rPr lang="en-US" sz="2799" b="1" dirty="0">
                <a:solidFill>
                  <a:srgbClr val="0F4662"/>
                </a:solidFill>
                <a:latin typeface="InterVariable"/>
                <a:ea typeface="Quicksand Bold"/>
                <a:cs typeface="Quicksand Bold"/>
                <a:sym typeface="Quicksand Bold"/>
              </a:rPr>
              <a:t>Business and Financial Analysis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408BD57-9739-335A-04B8-150E2C5AAF24}"/>
              </a:ext>
            </a:extLst>
          </p:cNvPr>
          <p:cNvSpPr txBox="1"/>
          <p:nvPr/>
        </p:nvSpPr>
        <p:spPr>
          <a:xfrm>
            <a:off x="914400" y="7015855"/>
            <a:ext cx="10527757" cy="565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ts val="4759"/>
              </a:lnSpc>
              <a:buFont typeface="Wingdings" panose="05000000000000000000" pitchFamily="2" charset="2"/>
              <a:buChar char="p"/>
            </a:pPr>
            <a:r>
              <a:rPr lang="en-US" altLang="zh-CN" sz="2799" b="1" dirty="0">
                <a:solidFill>
                  <a:srgbClr val="0F4662"/>
                </a:solidFill>
                <a:latin typeface="InterVariable"/>
                <a:ea typeface="Quicksand Bold"/>
                <a:cs typeface="Quicksand Bold"/>
                <a:sym typeface="Quicksand Bold"/>
              </a:rPr>
              <a:t>Qualitative Assessment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0FCA7B0-86BC-3BAF-F915-3E334B212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0" y="1736849"/>
            <a:ext cx="9073643" cy="4494321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CBB6A0CF-4372-5EA7-F747-4E6B39A0A20B}"/>
              </a:ext>
            </a:extLst>
          </p:cNvPr>
          <p:cNvGrpSpPr/>
          <p:nvPr/>
        </p:nvGrpSpPr>
        <p:grpSpPr>
          <a:xfrm>
            <a:off x="9791700" y="6496467"/>
            <a:ext cx="7848600" cy="3040343"/>
            <a:chOff x="10210800" y="4298776"/>
            <a:chExt cx="7630593" cy="3245024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F6CBAFD6-19E6-D4DC-5AF9-EAD2999A5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22653" y="4343213"/>
              <a:ext cx="1448949" cy="639153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97B0F030-98E7-4767-C50B-440E81425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399583" y="4298776"/>
              <a:ext cx="1482309" cy="699682"/>
            </a:xfrm>
            <a:prstGeom prst="rect">
              <a:avLst/>
            </a:prstGeom>
          </p:spPr>
        </p:pic>
        <p:sp>
          <p:nvSpPr>
            <p:cNvPr id="18" name="TextBox 2">
              <a:extLst>
                <a:ext uri="{FF2B5EF4-FFF2-40B4-BE49-F238E27FC236}">
                  <a16:creationId xmlns:a16="http://schemas.microsoft.com/office/drawing/2014/main" id="{BA90E28C-FD4A-E4F5-23EA-1EE11D6CBE17}"/>
                </a:ext>
              </a:extLst>
            </p:cNvPr>
            <p:cNvSpPr txBox="1"/>
            <p:nvPr/>
          </p:nvSpPr>
          <p:spPr>
            <a:xfrm>
              <a:off x="15707793" y="4349747"/>
              <a:ext cx="2133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5-yr Growth %</a:t>
              </a:r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E7DA648-1D9E-41FE-FCCB-F1D095685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711865" y="5067187"/>
              <a:ext cx="1387758" cy="2476613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897DDD75-01B6-9DFB-5C10-A1C7F9F86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86986" y="5130800"/>
              <a:ext cx="1152738" cy="2411232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C25E3026-1A42-28EA-5544-4D9C54167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10800" y="5080000"/>
              <a:ext cx="2117802" cy="2462337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80BA0CD-44E8-F7CB-50FE-840452F12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328602" y="5156200"/>
              <a:ext cx="1143000" cy="2347889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21D7AF95-8F5B-DA79-DB94-DFECCA5FB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054087" y="5079822"/>
              <a:ext cx="1441013" cy="2425878"/>
            </a:xfrm>
            <a:prstGeom prst="rect">
              <a:avLst/>
            </a:prstGeom>
          </p:spPr>
        </p:pic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3213F53-C3F9-ABA8-8B14-F22919C17D92}"/>
              </a:ext>
            </a:extLst>
          </p:cNvPr>
          <p:cNvCxnSpPr>
            <a:cxnSpLocks/>
          </p:cNvCxnSpPr>
          <p:nvPr/>
        </p:nvCxnSpPr>
        <p:spPr>
          <a:xfrm>
            <a:off x="667785" y="1409700"/>
            <a:ext cx="1708681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77870A5-8801-129F-DB1B-80B4B81D1C8B}"/>
              </a:ext>
            </a:extLst>
          </p:cNvPr>
          <p:cNvGrpSpPr/>
          <p:nvPr/>
        </p:nvGrpSpPr>
        <p:grpSpPr>
          <a:xfrm>
            <a:off x="15194131" y="360080"/>
            <a:ext cx="2484269" cy="897220"/>
            <a:chOff x="14949292" y="147595"/>
            <a:chExt cx="2484269" cy="897220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056C7745-E8A5-D51E-3FE8-4729B1D9F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949292" y="147595"/>
              <a:ext cx="1472893" cy="863959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9C8A814A-D6E7-5453-19A0-E66001A0F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585504" y="147595"/>
              <a:ext cx="848057" cy="897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975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BD46-0897-11EF-05E3-87E4CC3C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7A2C071-00BF-F05E-E520-9E42E9B8CEC3}"/>
              </a:ext>
            </a:extLst>
          </p:cNvPr>
          <p:cNvSpPr txBox="1"/>
          <p:nvPr/>
        </p:nvSpPr>
        <p:spPr>
          <a:xfrm>
            <a:off x="799030" y="2064934"/>
            <a:ext cx="17080210" cy="2578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In 2024, the global electric vehicle (EV) market achieved 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25%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growth to sales of 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17 million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units (both BEVs and PHEVs) or 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$380 billion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and</a:t>
            </a:r>
            <a:r>
              <a:rPr lang="zh-CN" altLang="en-US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expected</a:t>
            </a:r>
            <a:r>
              <a:rPr lang="zh-CN" altLang="en-US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to</a:t>
            </a:r>
            <a:r>
              <a:rPr lang="zh-CN" altLang="en-US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surpass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20 million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units in 2025, approximately 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20% 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penetration of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global car sales</a:t>
            </a:r>
          </a:p>
          <a:p>
            <a:pPr marL="342900" lvl="0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Top two leaders: </a:t>
            </a:r>
            <a:r>
              <a:rPr lang="en-US" sz="2400" b="1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BYD (22% of global market) </a:t>
            </a: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with volume-driven strategy </a:t>
            </a:r>
            <a:r>
              <a:rPr lang="en-US" sz="2400" b="1" dirty="0">
                <a:solidFill>
                  <a:srgbClr val="C00000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vs</a:t>
            </a: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 </a:t>
            </a:r>
            <a:r>
              <a:rPr lang="en-US" sz="2400" b="1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Tesla (17% of global market)</a:t>
            </a: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 with platform economics</a:t>
            </a:r>
          </a:p>
          <a:p>
            <a:pPr marL="342900" lvl="0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EV sector</a:t>
            </a: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 has exhibited divergent price volatility in Hong Kong and NASDAQ market, reflecting distinct geopolitical, regulatory, and market structure dynamics. The 3-year average volatility of stock prices of EV indices in both markets is </a:t>
            </a:r>
            <a:r>
              <a:rPr lang="en-US" sz="2400" b="1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36%</a:t>
            </a: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 (HK) and </a:t>
            </a:r>
            <a:r>
              <a:rPr lang="en-US" sz="2400" b="1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29%</a:t>
            </a:r>
            <a:r>
              <a:rPr lang="en-US" sz="2400" dirty="0">
                <a:solidFill>
                  <a:srgbClr val="0F4662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(NASDAQ)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3C90FDD-CC3A-4B81-1AD9-9C7670846D49}"/>
              </a:ext>
            </a:extLst>
          </p:cNvPr>
          <p:cNvSpPr txBox="1"/>
          <p:nvPr/>
        </p:nvSpPr>
        <p:spPr>
          <a:xfrm>
            <a:off x="641123" y="251301"/>
            <a:ext cx="15415056" cy="100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F4662"/>
                </a:solidFill>
                <a:latin typeface="InterVariable"/>
                <a:sym typeface="Cormorant Garamond Bold Italics"/>
              </a:rPr>
              <a:t> </a:t>
            </a:r>
            <a:r>
              <a:rPr lang="en-US" sz="4000" b="1" dirty="0">
                <a:solidFill>
                  <a:srgbClr val="0F4662"/>
                </a:solidFill>
                <a:latin typeface="InterVariable"/>
                <a:sym typeface="Cormorant Garamond Bold Italics"/>
              </a:rPr>
              <a:t>EV </a:t>
            </a:r>
            <a:r>
              <a:rPr lang="en-US" altLang="zh-CN" sz="4000" b="1" dirty="0">
                <a:solidFill>
                  <a:srgbClr val="0F4662"/>
                </a:solidFill>
                <a:latin typeface="InterVariable"/>
                <a:sym typeface="Cormorant Garamond Bold Italics"/>
              </a:rPr>
              <a:t>Industry</a:t>
            </a:r>
            <a:r>
              <a:rPr lang="en-US" altLang="zh-CN" sz="3500" b="1" dirty="0">
                <a:solidFill>
                  <a:srgbClr val="0F4662"/>
                </a:solidFill>
                <a:latin typeface="InterVariable"/>
                <a:sym typeface="Cormorant Garamond Bold Italics"/>
              </a:rPr>
              <a:t> -</a:t>
            </a:r>
            <a:r>
              <a:rPr lang="en-US" sz="3500" b="1" dirty="0">
                <a:solidFill>
                  <a:srgbClr val="0F4662"/>
                </a:solidFill>
                <a:latin typeface="InterVariable"/>
                <a:sym typeface="Cormorant Garamond Bold Italics"/>
              </a:rPr>
              <a:t> </a:t>
            </a:r>
            <a:r>
              <a:rPr lang="en-US" altLang="zh-CN" sz="3200" b="1" dirty="0">
                <a:solidFill>
                  <a:srgbClr val="00B05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Long Tesla (Tsla.US) </a:t>
            </a:r>
            <a:r>
              <a:rPr lang="en-US" altLang="zh-CN" sz="3200" b="1" dirty="0">
                <a:solidFill>
                  <a:srgbClr val="C0000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Short BYD (1211.HK)</a:t>
            </a:r>
            <a:endParaRPr lang="en-US" sz="3200" b="1" dirty="0">
              <a:solidFill>
                <a:srgbClr val="0F4662"/>
              </a:solidFill>
              <a:latin typeface="InterVariable"/>
              <a:sym typeface="Cormorant Garamond Bold Italics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BB4DCE7-5AFA-4571-5D80-B0C6B6A0B14C}"/>
              </a:ext>
            </a:extLst>
          </p:cNvPr>
          <p:cNvGrpSpPr/>
          <p:nvPr/>
        </p:nvGrpSpPr>
        <p:grpSpPr>
          <a:xfrm>
            <a:off x="9448800" y="4811739"/>
            <a:ext cx="8430440" cy="5410200"/>
            <a:chOff x="8070486" y="1845868"/>
            <a:chExt cx="9775305" cy="597415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1FBBFB6-4F88-FEB0-1F73-8372BBB95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92191" y="2597344"/>
              <a:ext cx="9753600" cy="4457700"/>
            </a:xfrm>
            <a:prstGeom prst="rect">
              <a:avLst/>
            </a:prstGeom>
          </p:spPr>
        </p:pic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4920EDA0-FBC2-ADF1-E05E-26B35737DE05}"/>
                </a:ext>
              </a:extLst>
            </p:cNvPr>
            <p:cNvSpPr txBox="1"/>
            <p:nvPr/>
          </p:nvSpPr>
          <p:spPr>
            <a:xfrm>
              <a:off x="12175761" y="2877197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18%</a:t>
              </a:r>
            </a:p>
          </p:txBody>
        </p:sp>
        <p:sp>
          <p:nvSpPr>
            <p:cNvPr id="12" name="TextBox 2">
              <a:extLst>
                <a:ext uri="{FF2B5EF4-FFF2-40B4-BE49-F238E27FC236}">
                  <a16:creationId xmlns:a16="http://schemas.microsoft.com/office/drawing/2014/main" id="{C8768107-9D94-AE2E-30EB-42D251389733}"/>
                </a:ext>
              </a:extLst>
            </p:cNvPr>
            <p:cNvSpPr txBox="1"/>
            <p:nvPr/>
          </p:nvSpPr>
          <p:spPr>
            <a:xfrm>
              <a:off x="11547151" y="2866914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14%</a:t>
              </a:r>
            </a:p>
          </p:txBody>
        </p:sp>
        <p:sp>
          <p:nvSpPr>
            <p:cNvPr id="14" name="TextBox 2">
              <a:extLst>
                <a:ext uri="{FF2B5EF4-FFF2-40B4-BE49-F238E27FC236}">
                  <a16:creationId xmlns:a16="http://schemas.microsoft.com/office/drawing/2014/main" id="{9FE38844-A11E-49E4-FD39-97998CD2BD17}"/>
                </a:ext>
              </a:extLst>
            </p:cNvPr>
            <p:cNvSpPr txBox="1"/>
            <p:nvPr/>
          </p:nvSpPr>
          <p:spPr>
            <a:xfrm>
              <a:off x="10918541" y="2877197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8.9%</a:t>
              </a:r>
            </a:p>
          </p:txBody>
        </p:sp>
        <p:sp>
          <p:nvSpPr>
            <p:cNvPr id="19" name="TextBox 2">
              <a:extLst>
                <a:ext uri="{FF2B5EF4-FFF2-40B4-BE49-F238E27FC236}">
                  <a16:creationId xmlns:a16="http://schemas.microsoft.com/office/drawing/2014/main" id="{13E15526-5E37-654E-11D4-E6E1CE248EE7}"/>
                </a:ext>
              </a:extLst>
            </p:cNvPr>
            <p:cNvSpPr txBox="1"/>
            <p:nvPr/>
          </p:nvSpPr>
          <p:spPr>
            <a:xfrm>
              <a:off x="10918541" y="4988921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16%</a:t>
              </a:r>
            </a:p>
          </p:txBody>
        </p:sp>
        <p:sp>
          <p:nvSpPr>
            <p:cNvPr id="20" name="TextBox 2">
              <a:extLst>
                <a:ext uri="{FF2B5EF4-FFF2-40B4-BE49-F238E27FC236}">
                  <a16:creationId xmlns:a16="http://schemas.microsoft.com/office/drawing/2014/main" id="{88546319-0617-F2F4-AD77-2787A28C227C}"/>
                </a:ext>
              </a:extLst>
            </p:cNvPr>
            <p:cNvSpPr txBox="1"/>
            <p:nvPr/>
          </p:nvSpPr>
          <p:spPr>
            <a:xfrm>
              <a:off x="11566161" y="4988921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29%</a:t>
              </a:r>
            </a:p>
          </p:txBody>
        </p:sp>
        <p:sp>
          <p:nvSpPr>
            <p:cNvPr id="29" name="TextBox 2">
              <a:extLst>
                <a:ext uri="{FF2B5EF4-FFF2-40B4-BE49-F238E27FC236}">
                  <a16:creationId xmlns:a16="http://schemas.microsoft.com/office/drawing/2014/main" id="{5A6F1D95-CEC3-A24B-A173-7721314EA293}"/>
                </a:ext>
              </a:extLst>
            </p:cNvPr>
            <p:cNvSpPr txBox="1"/>
            <p:nvPr/>
          </p:nvSpPr>
          <p:spPr>
            <a:xfrm>
              <a:off x="12175761" y="4988921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38%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E5E8F14-4AF5-4E5B-0490-40DE55BEF21E}"/>
                </a:ext>
              </a:extLst>
            </p:cNvPr>
            <p:cNvSpPr txBox="1"/>
            <p:nvPr/>
          </p:nvSpPr>
          <p:spPr>
            <a:xfrm>
              <a:off x="15695327" y="2939942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5%</a:t>
              </a:r>
            </a:p>
          </p:txBody>
        </p:sp>
        <p:sp>
          <p:nvSpPr>
            <p:cNvPr id="4" name="TextBox 2">
              <a:extLst>
                <a:ext uri="{FF2B5EF4-FFF2-40B4-BE49-F238E27FC236}">
                  <a16:creationId xmlns:a16="http://schemas.microsoft.com/office/drawing/2014/main" id="{8536D7C7-FE1F-45CD-36EE-0663B9AA8399}"/>
                </a:ext>
              </a:extLst>
            </p:cNvPr>
            <p:cNvSpPr txBox="1"/>
            <p:nvPr/>
          </p:nvSpPr>
          <p:spPr>
            <a:xfrm>
              <a:off x="16341506" y="2939942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7%</a:t>
              </a:r>
            </a:p>
          </p:txBody>
        </p:sp>
        <p:sp>
          <p:nvSpPr>
            <p:cNvPr id="16" name="TextBox 2">
              <a:extLst>
                <a:ext uri="{FF2B5EF4-FFF2-40B4-BE49-F238E27FC236}">
                  <a16:creationId xmlns:a16="http://schemas.microsoft.com/office/drawing/2014/main" id="{C4EB9F9B-6E9D-07F9-057F-BC1E13CD8191}"/>
                </a:ext>
              </a:extLst>
            </p:cNvPr>
            <p:cNvSpPr txBox="1"/>
            <p:nvPr/>
          </p:nvSpPr>
          <p:spPr>
            <a:xfrm>
              <a:off x="17015520" y="2819400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9.5%</a:t>
              </a:r>
            </a:p>
          </p:txBody>
        </p:sp>
        <p:sp>
          <p:nvSpPr>
            <p:cNvPr id="23" name="TextBox 2">
              <a:extLst>
                <a:ext uri="{FF2B5EF4-FFF2-40B4-BE49-F238E27FC236}">
                  <a16:creationId xmlns:a16="http://schemas.microsoft.com/office/drawing/2014/main" id="{4B2BDB04-4134-35A7-A976-8DC25D034397}"/>
                </a:ext>
              </a:extLst>
            </p:cNvPr>
            <p:cNvSpPr txBox="1"/>
            <p:nvPr/>
          </p:nvSpPr>
          <p:spPr>
            <a:xfrm>
              <a:off x="15731906" y="5212379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17%</a:t>
              </a: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E375A31A-8F4D-1157-574F-59883E406B27}"/>
                </a:ext>
              </a:extLst>
            </p:cNvPr>
            <p:cNvSpPr txBox="1"/>
            <p:nvPr/>
          </p:nvSpPr>
          <p:spPr>
            <a:xfrm>
              <a:off x="16352396" y="5212379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21%</a:t>
              </a:r>
            </a:p>
          </p:txBody>
        </p:sp>
        <p:sp>
          <p:nvSpPr>
            <p:cNvPr id="25" name="TextBox 2">
              <a:extLst>
                <a:ext uri="{FF2B5EF4-FFF2-40B4-BE49-F238E27FC236}">
                  <a16:creationId xmlns:a16="http://schemas.microsoft.com/office/drawing/2014/main" id="{D6A6FE25-C07A-8D47-5A1C-42D42AD2ECF3}"/>
                </a:ext>
              </a:extLst>
            </p:cNvPr>
            <p:cNvSpPr txBox="1"/>
            <p:nvPr/>
          </p:nvSpPr>
          <p:spPr>
            <a:xfrm>
              <a:off x="17015520" y="5170995"/>
              <a:ext cx="609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sz="1300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22%</a:t>
              </a: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CD65593A-EC62-9AD1-25AB-315373E4C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70486" y="1845868"/>
              <a:ext cx="4410075" cy="628650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51020EF9-9347-C788-9F22-AA5ED5356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13961" y="7277100"/>
              <a:ext cx="4724400" cy="542925"/>
            </a:xfrm>
            <a:prstGeom prst="rect">
              <a:avLst/>
            </a:prstGeom>
          </p:spPr>
        </p:pic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9CDA9B7-2E70-D63A-B0EA-46FA0AB2CFB0}"/>
              </a:ext>
            </a:extLst>
          </p:cNvPr>
          <p:cNvGrpSpPr/>
          <p:nvPr/>
        </p:nvGrpSpPr>
        <p:grpSpPr>
          <a:xfrm>
            <a:off x="799030" y="4929570"/>
            <a:ext cx="8430440" cy="4682247"/>
            <a:chOff x="685800" y="4514850"/>
            <a:chExt cx="8762186" cy="5229225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A4E00DE2-5370-46AA-ACDE-183404C92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" y="5153025"/>
              <a:ext cx="8762186" cy="4100881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8EBE8960-80D0-C740-D72A-FAE4DA8EE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5800" y="4514850"/>
              <a:ext cx="5257800" cy="628650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E7553B90-5EA9-2CFC-101C-5E8DA11E5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4531" y="9258300"/>
              <a:ext cx="4714875" cy="485775"/>
            </a:xfrm>
            <a:prstGeom prst="rect">
              <a:avLst/>
            </a:prstGeom>
          </p:spPr>
        </p:pic>
      </p:grpSp>
      <p:sp>
        <p:nvSpPr>
          <p:cNvPr id="44" name="TextBox 2">
            <a:extLst>
              <a:ext uri="{FF2B5EF4-FFF2-40B4-BE49-F238E27FC236}">
                <a16:creationId xmlns:a16="http://schemas.microsoft.com/office/drawing/2014/main" id="{4AEE16A6-F918-6ECF-89AE-5EB6C8441CB0}"/>
              </a:ext>
            </a:extLst>
          </p:cNvPr>
          <p:cNvSpPr txBox="1"/>
          <p:nvPr/>
        </p:nvSpPr>
        <p:spPr>
          <a:xfrm>
            <a:off x="799030" y="1545819"/>
            <a:ext cx="16078200" cy="489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079"/>
              </a:lnSpc>
            </a:pPr>
            <a:r>
              <a:rPr lang="en-US" altLang="zh-CN" sz="2800" b="1" i="0" dirty="0">
                <a:solidFill>
                  <a:srgbClr val="3A3A3A"/>
                </a:solidFill>
                <a:effectLst/>
                <a:latin typeface="InterVariable"/>
              </a:rPr>
              <a:t>Why Electric Vehicle </a:t>
            </a:r>
            <a:r>
              <a:rPr lang="en-US" altLang="zh-CN" sz="2800" b="1" dirty="0">
                <a:solidFill>
                  <a:srgbClr val="3A3A3A"/>
                </a:solidFill>
                <a:latin typeface="InterVariable"/>
              </a:rPr>
              <a:t>(EV)</a:t>
            </a:r>
            <a:r>
              <a:rPr lang="zh-CN" altLang="en-US" sz="2800" b="1" dirty="0">
                <a:solidFill>
                  <a:srgbClr val="3A3A3A"/>
                </a:solidFill>
                <a:latin typeface="InterVariable"/>
              </a:rPr>
              <a:t> </a:t>
            </a:r>
            <a:r>
              <a:rPr lang="en-US" altLang="zh-CN" sz="2800" b="1" i="0" dirty="0">
                <a:solidFill>
                  <a:srgbClr val="3A3A3A"/>
                </a:solidFill>
                <a:effectLst/>
                <a:latin typeface="InterVariable"/>
              </a:rPr>
              <a:t>Sector?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4817E95-3124-734E-E71C-07E33BF633A2}"/>
              </a:ext>
            </a:extLst>
          </p:cNvPr>
          <p:cNvCxnSpPr>
            <a:cxnSpLocks/>
          </p:cNvCxnSpPr>
          <p:nvPr/>
        </p:nvCxnSpPr>
        <p:spPr>
          <a:xfrm>
            <a:off x="667785" y="1409700"/>
            <a:ext cx="1708681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EF7BF89-3DAE-2EF6-469F-9502FB7F153F}"/>
              </a:ext>
            </a:extLst>
          </p:cNvPr>
          <p:cNvGrpSpPr/>
          <p:nvPr/>
        </p:nvGrpSpPr>
        <p:grpSpPr>
          <a:xfrm>
            <a:off x="15270331" y="360080"/>
            <a:ext cx="2484269" cy="897220"/>
            <a:chOff x="14949292" y="147595"/>
            <a:chExt cx="2484269" cy="897220"/>
          </a:xfrm>
        </p:grpSpPr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221D1C61-7C96-D147-14C4-EFC9E4D8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49292" y="147595"/>
              <a:ext cx="1472893" cy="863959"/>
            </a:xfrm>
            <a:prstGeom prst="rect">
              <a:avLst/>
            </a:prstGeom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97B1CADA-FE89-E30D-9111-858E166C9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585504" y="147595"/>
              <a:ext cx="848057" cy="897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0737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7978-2A73-D845-E63B-17FEA16C5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id="{7685E69B-C935-7CD9-8C03-29BEDC866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1607050"/>
            <a:ext cx="8492955" cy="3482111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B586B63B-3DDC-C3BD-D1EC-D4A31492DD64}"/>
              </a:ext>
            </a:extLst>
          </p:cNvPr>
          <p:cNvSpPr txBox="1"/>
          <p:nvPr/>
        </p:nvSpPr>
        <p:spPr>
          <a:xfrm>
            <a:off x="667785" y="1607050"/>
            <a:ext cx="8305801" cy="7836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079"/>
              </a:lnSpc>
            </a:pPr>
            <a:r>
              <a:rPr lang="en-US" altLang="zh-CN" sz="2800" b="1" dirty="0">
                <a:solidFill>
                  <a:srgbClr val="00B050"/>
                </a:solidFill>
                <a:latin typeface="InterVariable"/>
                <a:sym typeface="Quicksand"/>
              </a:rPr>
              <a:t>Why Long Tesla?</a:t>
            </a:r>
          </a:p>
          <a:p>
            <a:pPr marL="342900" lvl="0" indent="-342900" algn="just">
              <a:lnSpc>
                <a:spcPts val="4079"/>
              </a:lnSpc>
              <a:buFont typeface="Wingdings" panose="05000000000000000000" pitchFamily="2" charset="2"/>
              <a:buChar char="p"/>
            </a:pPr>
            <a:r>
              <a:rPr lang="en-US" altLang="zh-CN" sz="26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  <a:sym typeface="Quicksand"/>
              </a:rPr>
              <a:t>Historical Performance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  <a:sym typeface="Quicksand"/>
              </a:rPr>
              <a:t>4-yr CAGR of 33% in revenue and 79% in net profit, implying more profitable and faster bottom line growth than that of BYD</a:t>
            </a:r>
          </a:p>
          <a:p>
            <a:pPr marL="342900" indent="-342900" algn="just">
              <a:lnSpc>
                <a:spcPts val="4079"/>
              </a:lnSpc>
              <a:buFont typeface="Wingdings" panose="05000000000000000000" pitchFamily="2" charset="2"/>
              <a:buChar char="p"/>
            </a:pPr>
            <a:r>
              <a:rPr lang="en-US" altLang="zh-CN" sz="26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  <a:sym typeface="Quicksand"/>
              </a:rPr>
              <a:t>Valuation Adjustment C</a:t>
            </a:r>
            <a:r>
              <a:rPr lang="en-US" altLang="zh-CN" sz="26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atalysts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Full Self-Driving (FSD) Adoption will launch in Austin in June 2025, targeting $0.25/mile vs. Uber’s $1.50 could capture 5% of the US ride-hailing market by 2026, adding $4.2 billion in EBITDA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Tesla’s energy storage (18% of total revenue) provides a hedge against automotive cyclicality for long-term upside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Tesla’s pivot to AI and robotics leverages its software expertise to unlock higher-margin revenue streams, justifying its premium valuation</a:t>
            </a:r>
            <a:endParaRPr lang="en-US" altLang="zh-CN" sz="2400" dirty="0">
              <a:solidFill>
                <a:srgbClr val="0F4662"/>
              </a:solidFill>
              <a:latin typeface="InterVariable"/>
              <a:ea typeface="Quicksand"/>
              <a:cs typeface="Arial" panose="020B0604020202020204" pitchFamily="34" charset="0"/>
              <a:sym typeface="Quicksand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75695B5-C590-701C-5868-799EDC0A0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6186" y="1686586"/>
            <a:ext cx="828823" cy="8768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096838-2F6D-AB6F-82C7-8D2E5BA57ED5}"/>
              </a:ext>
            </a:extLst>
          </p:cNvPr>
          <p:cNvSpPr txBox="1"/>
          <p:nvPr/>
        </p:nvSpPr>
        <p:spPr>
          <a:xfrm>
            <a:off x="667785" y="131356"/>
            <a:ext cx="15415056" cy="100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F4662"/>
                </a:solidFill>
                <a:latin typeface="InterVariable"/>
                <a:sym typeface="Cormorant Garamond Bold Italics"/>
              </a:rPr>
              <a:t>Business and Financial Analysis (1) - </a:t>
            </a:r>
            <a:r>
              <a:rPr lang="en-US" altLang="zh-CN" sz="3200" b="1" dirty="0">
                <a:solidFill>
                  <a:srgbClr val="00B05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Long Tesla (Tsla.US) </a:t>
            </a:r>
            <a:r>
              <a:rPr lang="en-US" altLang="zh-CN" sz="3200" b="1" dirty="0">
                <a:solidFill>
                  <a:srgbClr val="C0000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Short BYD (1211.HK)</a:t>
            </a:r>
            <a:endParaRPr lang="en-US" sz="3200" b="1" dirty="0">
              <a:solidFill>
                <a:srgbClr val="0F4662"/>
              </a:solidFill>
              <a:latin typeface="InterVariable"/>
              <a:sym typeface="Cormorant Garamond Bold Itali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BD9A6B-03E3-FDCD-0DF0-A11F68F20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5905500"/>
            <a:ext cx="8848577" cy="362791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5C6B0A2-CDE2-E11A-B9E9-5610A3F1B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7800" y="6131181"/>
            <a:ext cx="1208485" cy="708864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FDEEE66-9C37-7465-0772-8E64FCC8FE8B}"/>
              </a:ext>
            </a:extLst>
          </p:cNvPr>
          <p:cNvCxnSpPr>
            <a:cxnSpLocks/>
          </p:cNvCxnSpPr>
          <p:nvPr/>
        </p:nvCxnSpPr>
        <p:spPr>
          <a:xfrm>
            <a:off x="667785" y="1409700"/>
            <a:ext cx="1708681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63280C2-F5FE-8477-78BE-3C8741E9583E}"/>
              </a:ext>
            </a:extLst>
          </p:cNvPr>
          <p:cNvGrpSpPr/>
          <p:nvPr/>
        </p:nvGrpSpPr>
        <p:grpSpPr>
          <a:xfrm>
            <a:off x="15270331" y="283880"/>
            <a:ext cx="2484269" cy="897220"/>
            <a:chOff x="14949292" y="147595"/>
            <a:chExt cx="2484269" cy="897220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2E6073F7-1DE0-0BDF-25FC-837F059E3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49292" y="147595"/>
              <a:ext cx="1472893" cy="863959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25D0C174-2C3B-6F8E-4A21-748EBC8CC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85504" y="147595"/>
              <a:ext cx="848057" cy="897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3580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C0744-0DEA-09AE-4890-5457C020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2C50210-05D3-2F63-AA72-2C7BE17C9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992857"/>
              </p:ext>
            </p:extLst>
          </p:nvPr>
        </p:nvGraphicFramePr>
        <p:xfrm>
          <a:off x="10972800" y="2019300"/>
          <a:ext cx="6820588" cy="3760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7932">
                  <a:extLst>
                    <a:ext uri="{9D8B030D-6E8A-4147-A177-3AD203B41FA5}">
                      <a16:colId xmlns:a16="http://schemas.microsoft.com/office/drawing/2014/main" val="326965816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862383372"/>
                    </a:ext>
                  </a:extLst>
                </a:gridCol>
                <a:gridCol w="1851456">
                  <a:extLst>
                    <a:ext uri="{9D8B030D-6E8A-4147-A177-3AD203B41FA5}">
                      <a16:colId xmlns:a16="http://schemas.microsoft.com/office/drawing/2014/main" val="2788339456"/>
                    </a:ext>
                  </a:extLst>
                </a:gridCol>
              </a:tblGrid>
              <a:tr h="4979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/>
                        <a:t>Valuation Indicator</a:t>
                      </a:r>
                      <a:endParaRPr lang="zh-CN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/>
                        <a:t>Tesla (Tsla.US)</a:t>
                      </a:r>
                      <a:endParaRPr lang="zh-CN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/>
                        <a:t>BYD (1211.HK)</a:t>
                      </a:r>
                      <a:endParaRPr lang="zh-CN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134258"/>
                  </a:ext>
                </a:extLst>
              </a:tr>
              <a:tr h="466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2025E Revenue Growth%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12%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30%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911477"/>
                  </a:ext>
                </a:extLst>
              </a:tr>
              <a:tr h="466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2025E Net Margin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8.2%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5.1%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995769"/>
                  </a:ext>
                </a:extLst>
              </a:tr>
              <a:tr h="466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P/E(x) 2025E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58x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17x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604242"/>
                  </a:ext>
                </a:extLst>
              </a:tr>
              <a:tr h="466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EV/EBITDA (x) 2025E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34x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9x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727686"/>
                  </a:ext>
                </a:extLst>
              </a:tr>
              <a:tr h="466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R&amp;D % revenue 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14%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2%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640174"/>
                  </a:ext>
                </a:extLst>
              </a:tr>
              <a:tr h="466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3-yr Cum. Capex / FCF (1)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2.7x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3.2x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226524"/>
                  </a:ext>
                </a:extLst>
              </a:tr>
              <a:tr h="466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3-yr Cum. FCF / Delivery (1)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$5,872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$3,961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688736"/>
                  </a:ext>
                </a:extLst>
              </a:tr>
            </a:tbl>
          </a:graphicData>
        </a:graphic>
      </p:graphicFrame>
      <p:sp>
        <p:nvSpPr>
          <p:cNvPr id="10" name="TextBox 2">
            <a:extLst>
              <a:ext uri="{FF2B5EF4-FFF2-40B4-BE49-F238E27FC236}">
                <a16:creationId xmlns:a16="http://schemas.microsoft.com/office/drawing/2014/main" id="{9579C976-F9A4-AC7C-3F77-022E90DA34E8}"/>
              </a:ext>
            </a:extLst>
          </p:cNvPr>
          <p:cNvSpPr txBox="1"/>
          <p:nvPr/>
        </p:nvSpPr>
        <p:spPr>
          <a:xfrm>
            <a:off x="685800" y="1638300"/>
            <a:ext cx="9753600" cy="7836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079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InterVariable"/>
                <a:ea typeface="Quicksand"/>
                <a:cs typeface="Arial" panose="020B0604020202020204" pitchFamily="34" charset="0"/>
                <a:sym typeface="Quicksand"/>
              </a:rPr>
              <a:t>Why Short BYD ?</a:t>
            </a:r>
          </a:p>
          <a:p>
            <a:pPr marL="342900" lvl="0" indent="-342900" algn="just">
              <a:lnSpc>
                <a:spcPts val="4079"/>
              </a:lnSpc>
              <a:buFont typeface="Wingdings" panose="05000000000000000000" pitchFamily="2" charset="2"/>
              <a:buChar char="p"/>
            </a:pPr>
            <a:r>
              <a:rPr lang="en-US" altLang="zh-CN" sz="26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  <a:sym typeface="Quicksand"/>
              </a:rPr>
              <a:t>Historical Performance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BYD’s Free Cash Flow (FCF) margin declined from 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10.3% 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in 2022 to 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6.4%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in 2024 despite higher volumes</a:t>
            </a:r>
          </a:p>
          <a:p>
            <a:pPr marL="342900" indent="-342900" algn="just">
              <a:lnSpc>
                <a:spcPts val="4079"/>
              </a:lnSpc>
              <a:buFont typeface="Wingdings" panose="05000000000000000000" pitchFamily="2" charset="2"/>
              <a:buChar char="p"/>
            </a:pPr>
            <a:r>
              <a:rPr lang="en-US" altLang="zh-CN" sz="26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  <a:sym typeface="Quicksand"/>
              </a:rPr>
              <a:t>Valuation Adjustment C</a:t>
            </a:r>
            <a:r>
              <a:rPr lang="en-US" altLang="zh-CN" sz="26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atalysts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BYD’s current low P/E multiples reflect market skepticism about sustaining margins amid price wars. 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10%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decline in average selling price (ASP) would erase 2025E net income growth despite volume gains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BYD’s lower R&amp;D capitalization 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(currently 2% vs. Tesla’ 14%)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, eroding its value proposition and reliance on China government subsidies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(12% of 2024 revenue)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 might not sustain in the future.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Trade Barrier: EU imposed 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17–36% tariffs 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and the US hiking duties to </a:t>
            </a:r>
            <a:r>
              <a:rPr lang="en-US" altLang="zh-CN" sz="2400" b="1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145% 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will bring </a:t>
            </a: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  <a:sym typeface="Quicksand"/>
              </a:rPr>
              <a:t>geopolitical disruptions to BYD’s export-led growth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  <a:cs typeface="Arial" panose="020B0604020202020204" pitchFamily="34" charset="0"/>
              </a:rPr>
              <a:t>BYD’s local production is time-consumed and the competition in China market is more fierce 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6BE0FB32-2368-8F9D-777B-75632D6932D3}"/>
              </a:ext>
            </a:extLst>
          </p:cNvPr>
          <p:cNvSpPr txBox="1"/>
          <p:nvPr/>
        </p:nvSpPr>
        <p:spPr>
          <a:xfrm>
            <a:off x="11201400" y="5779669"/>
            <a:ext cx="8305801" cy="462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079"/>
              </a:lnSpc>
            </a:pPr>
            <a:r>
              <a:rPr lang="en-US" altLang="zh-CN" i="1" dirty="0">
                <a:latin typeface="InterVariable"/>
                <a:sym typeface="Quicksand"/>
              </a:rPr>
              <a:t>[1] Cumulative Free Cash Flow for the years from 2022 to 2024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59545A86-D847-9468-6E8B-EDA0528DD0A8}"/>
              </a:ext>
            </a:extLst>
          </p:cNvPr>
          <p:cNvSpPr txBox="1"/>
          <p:nvPr/>
        </p:nvSpPr>
        <p:spPr>
          <a:xfrm>
            <a:off x="667785" y="227960"/>
            <a:ext cx="15415056" cy="100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F4662"/>
                </a:solidFill>
                <a:latin typeface="InterVariable"/>
                <a:sym typeface="Cormorant Garamond Bold Italics"/>
              </a:rPr>
              <a:t>Business and Financial Analysis (2) - </a:t>
            </a:r>
            <a:r>
              <a:rPr lang="en-US" altLang="zh-CN" sz="3200" b="1" dirty="0">
                <a:solidFill>
                  <a:srgbClr val="00B05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Long Tesla (Tsla.US) </a:t>
            </a:r>
            <a:r>
              <a:rPr lang="en-US" altLang="zh-CN" sz="3200" b="1" dirty="0">
                <a:solidFill>
                  <a:srgbClr val="C0000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Short BYD (1211.HK)</a:t>
            </a:r>
            <a:endParaRPr lang="en-US" sz="3200" b="1" dirty="0">
              <a:solidFill>
                <a:srgbClr val="0F4662"/>
              </a:solidFill>
              <a:latin typeface="InterVariable"/>
              <a:sym typeface="Cormorant Garamond Bold Itali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8D33134-827F-36BC-11BF-805B957C27D4}"/>
              </a:ext>
            </a:extLst>
          </p:cNvPr>
          <p:cNvCxnSpPr>
            <a:cxnSpLocks/>
          </p:cNvCxnSpPr>
          <p:nvPr/>
        </p:nvCxnSpPr>
        <p:spPr>
          <a:xfrm>
            <a:off x="667785" y="1409700"/>
            <a:ext cx="1708681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8E6FBCD-769D-17C4-AC75-F0796C89E21E}"/>
              </a:ext>
            </a:extLst>
          </p:cNvPr>
          <p:cNvGrpSpPr/>
          <p:nvPr/>
        </p:nvGrpSpPr>
        <p:grpSpPr>
          <a:xfrm>
            <a:off x="15346531" y="283880"/>
            <a:ext cx="2484269" cy="897220"/>
            <a:chOff x="14949292" y="147595"/>
            <a:chExt cx="2484269" cy="897220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8B4D7A81-FFE8-37BB-88F8-714347AFA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49292" y="147595"/>
              <a:ext cx="1472893" cy="863959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E11E565F-8FD8-707B-1B27-5068B1834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85504" y="147595"/>
              <a:ext cx="848057" cy="897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74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E6272-179E-3BF4-DB5C-D3038A9A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695B0D55-694D-433E-32E6-96859F94E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57" y="1855527"/>
            <a:ext cx="4215323" cy="817322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9DFD746-CAFE-8158-4FEC-50DFD5B40B0F}"/>
              </a:ext>
            </a:extLst>
          </p:cNvPr>
          <p:cNvSpPr txBox="1"/>
          <p:nvPr/>
        </p:nvSpPr>
        <p:spPr>
          <a:xfrm>
            <a:off x="6360058" y="2495530"/>
            <a:ext cx="327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F4662"/>
                </a:solidFill>
                <a:latin typeface="InterVariable"/>
                <a:cs typeface="Times New Roman" panose="02020603050405020304" pitchFamily="18" charset="0"/>
              </a:rPr>
              <a:t>Mathematical Notes</a:t>
            </a:r>
            <a:endParaRPr lang="zh-CN" altLang="en-US" sz="2000" b="1" dirty="0">
              <a:solidFill>
                <a:srgbClr val="0F4662"/>
              </a:solidFill>
              <a:latin typeface="InterVariable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5AF973-2473-29DE-F56C-30CEB01A6577}"/>
              </a:ext>
            </a:extLst>
          </p:cNvPr>
          <p:cNvSpPr txBox="1"/>
          <p:nvPr/>
        </p:nvSpPr>
        <p:spPr>
          <a:xfrm>
            <a:off x="13018085" y="2440239"/>
            <a:ext cx="327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F4662"/>
                </a:solidFill>
                <a:latin typeface="InterVariable"/>
                <a:cs typeface="Times New Roman" panose="02020603050405020304" pitchFamily="18" charset="0"/>
              </a:rPr>
              <a:t>Statistics Implication</a:t>
            </a:r>
            <a:endParaRPr lang="zh-CN" altLang="en-US" sz="2000" b="1" dirty="0">
              <a:solidFill>
                <a:srgbClr val="0F4662"/>
              </a:solidFill>
              <a:latin typeface="InterVariable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4F3CDB-1C54-848A-053C-377B1D0E951D}"/>
                  </a:ext>
                </a:extLst>
              </p:cNvPr>
              <p:cNvSpPr txBox="1"/>
              <p:nvPr/>
            </p:nvSpPr>
            <p:spPr>
              <a:xfrm>
                <a:off x="5157118" y="3070524"/>
                <a:ext cx="568248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The hedge ratio 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 is computed using OLS regression on  log prices of BYD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 and Tesla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):</a:t>
                </a:r>
                <a14:m>
                  <m:oMath xmlns:m="http://schemas.openxmlformats.org/officeDocument/2006/math">
                    <m:r>
                      <a:rPr lang="en-US" altLang="zh-CN" sz="1400" b="0" i="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InterVariable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4F3CDB-1C54-848A-053C-377B1D0E9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118" y="3070524"/>
                <a:ext cx="5682480" cy="523220"/>
              </a:xfrm>
              <a:prstGeom prst="rect">
                <a:avLst/>
              </a:prstGeom>
              <a:blipFill>
                <a:blip r:embed="rId4"/>
                <a:stretch>
                  <a:fillRect l="-322" t="-2326" b="-104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0388E9E-CC9F-CA23-3CE4-E68BDD2F3DDB}"/>
                  </a:ext>
                </a:extLst>
              </p:cNvPr>
              <p:cNvSpPr txBox="1"/>
              <p:nvPr/>
            </p:nvSpPr>
            <p:spPr>
              <a:xfrm>
                <a:off x="11518873" y="3052003"/>
                <a:ext cx="6106829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Here,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0.897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indicates that for a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change in Tesla's log price, BYD's log price changes by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0.897%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.,The spread is then: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InterVariable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0388E9E-CC9F-CA23-3CE4-E68BDD2F3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8873" y="3052003"/>
                <a:ext cx="6106829" cy="523220"/>
              </a:xfrm>
              <a:prstGeom prst="rect">
                <a:avLst/>
              </a:prstGeom>
              <a:blipFill>
                <a:blip r:embed="rId5"/>
                <a:stretch>
                  <a:fillRect l="-300" t="-2353" r="-400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A21F4ED-E098-0F18-7ECB-34334A500ED0}"/>
                  </a:ext>
                </a:extLst>
              </p:cNvPr>
              <p:cNvSpPr txBox="1"/>
              <p:nvPr/>
            </p:nvSpPr>
            <p:spPr>
              <a:xfrm>
                <a:off x="5058421" y="4107686"/>
                <a:ext cx="5895257" cy="160043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182563" indent="-182563" algn="just">
                  <a:buFont typeface="+mj-lt"/>
                  <a:buAutoNum type="arabicPeriod"/>
                </a:pPr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For two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(BYD)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(Tesla), cointegration implies there exists a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such that the spread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is stationary. The CADF test regresses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(hedge ratio) and tests the stationarity of the residuals</a:t>
                </a:r>
              </a:p>
              <a:p>
                <a:pPr marL="182563" indent="-182563" algn="just">
                  <a:buFont typeface="+mj-lt"/>
                  <a:buAutoNum type="arabicPeriod"/>
                </a:pPr>
                <a:endParaRPr lang="en-US" altLang="zh-CN" sz="1400" dirty="0">
                  <a:solidFill>
                    <a:schemeClr val="accent5">
                      <a:lumMod val="50000"/>
                    </a:schemeClr>
                  </a:solidFill>
                  <a:latin typeface="InterVariable"/>
                  <a:cs typeface="Times New Roman" panose="02020603050405020304" pitchFamily="18" charset="0"/>
                </a:endParaRPr>
              </a:p>
              <a:p>
                <a:pPr marL="182563" indent="-182563" algn="just">
                  <a:buFont typeface="+mj-lt"/>
                  <a:buAutoNum type="arabicPeriod"/>
                </a:pPr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Applied to the spread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, this tests for stationarity. A stationary spread (p-value &lt;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 suggests mean-reverting behavior, crucial for pairs trading. The test statistic is compared to critical values.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InterVariable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A21F4ED-E098-0F18-7ECB-34334A500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421" y="4107686"/>
                <a:ext cx="5895257" cy="1600438"/>
              </a:xfrm>
              <a:prstGeom prst="rect">
                <a:avLst/>
              </a:prstGeom>
              <a:blipFill>
                <a:blip r:embed="rId6"/>
                <a:stretch>
                  <a:fillRect l="-414" t="-1145" r="-310" b="-3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5BBFDCB-6A80-D61A-D415-8E354DFBECA6}"/>
                  </a:ext>
                </a:extLst>
              </p:cNvPr>
              <p:cNvSpPr txBox="1"/>
              <p:nvPr/>
            </p:nvSpPr>
            <p:spPr>
              <a:xfrm>
                <a:off x="11534113" y="3847430"/>
                <a:ext cx="6106829" cy="2031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182563" indent="-182563" algn="just">
                  <a:buFont typeface="+mj-lt"/>
                  <a:buAutoNum type="arabicPeriod"/>
                </a:pPr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The test statistic (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−3.273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 is more negative than the 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critical value (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−2.862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 but less negative than the 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critical value (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−3.339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). The p-value (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0.0585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 is slightly above 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, suggesting that it’s moderate evidence of cointegration between BYD and Tesla, meaning their prices have a stable long-term relationship, which is a prerequisite for pairs trading.</a:t>
                </a:r>
              </a:p>
              <a:p>
                <a:pPr marL="182563" indent="-182563" algn="just">
                  <a:buFont typeface="+mj-lt"/>
                  <a:buAutoNum type="arabicPeriod"/>
                </a:pPr>
                <a:endParaRPr lang="en-US" altLang="zh-CN" sz="1400" dirty="0">
                  <a:solidFill>
                    <a:schemeClr val="accent5">
                      <a:lumMod val="50000"/>
                    </a:schemeClr>
                  </a:solidFill>
                  <a:latin typeface="InterVariable"/>
                  <a:cs typeface="Times New Roman" panose="02020603050405020304" pitchFamily="18" charset="0"/>
                </a:endParaRPr>
              </a:p>
              <a:p>
                <a:pPr marL="182563" indent="-182563" algn="just">
                  <a:buFont typeface="+mj-lt"/>
                  <a:buAutoNum type="arabicPeriod"/>
                </a:pPr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The ADF test on the spread (statistic = 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−3.270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, p-value = 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0.0163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 indicates the spread is stationary at the 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level (critical value = </a:t>
                </a:r>
                <a14:m>
                  <m:oMath xmlns:m="http://schemas.openxmlformats.org/officeDocument/2006/math">
                    <m:r>
                      <a:rPr lang="en-US" altLang="zh-CN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−2.863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), confirming mean-reverting behavior suitable for pairs trading.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5BBFDCB-6A80-D61A-D415-8E354DFBE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4113" y="3847430"/>
                <a:ext cx="6106829" cy="2031325"/>
              </a:xfrm>
              <a:prstGeom prst="rect">
                <a:avLst/>
              </a:prstGeom>
              <a:blipFill>
                <a:blip r:embed="rId7"/>
                <a:stretch>
                  <a:fillRect l="-299" t="-901" r="-299" b="-24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1DC92DD-5EFD-ADA7-B863-2C63EB703AB4}"/>
                  </a:ext>
                </a:extLst>
              </p:cNvPr>
              <p:cNvSpPr txBox="1"/>
              <p:nvPr/>
            </p:nvSpPr>
            <p:spPr>
              <a:xfrm>
                <a:off x="5014542" y="6362700"/>
                <a:ext cx="5939136" cy="103175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defRPr sz="140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Pearson Correlation measures the linear relationship between the two stocks’ log prices.</a:t>
                </a:r>
                <a:endParaRPr lang="zh-CN" altLang="en-US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1DC92DD-5EFD-ADA7-B863-2C63EB703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542" y="6362700"/>
                <a:ext cx="5939136" cy="1031757"/>
              </a:xfrm>
              <a:prstGeom prst="rect">
                <a:avLst/>
              </a:prstGeom>
              <a:blipFill>
                <a:blip r:embed="rId8"/>
                <a:stretch>
                  <a:fillRect l="-308" r="-308" b="-53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1909292-F290-0F52-9844-948887B784E0}"/>
                  </a:ext>
                </a:extLst>
              </p:cNvPr>
              <p:cNvSpPr txBox="1"/>
              <p:nvPr/>
            </p:nvSpPr>
            <p:spPr>
              <a:xfrm>
                <a:off x="5014543" y="8200625"/>
                <a:ext cx="5939135" cy="73866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The Hurst Exponent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measures the degree of long-term memory in a time series:</a:t>
                </a:r>
                <a14:m>
                  <m:oMath xmlns:m="http://schemas.openxmlformats.org/officeDocument/2006/math">
                    <m:r>
                      <a:rPr lang="en-US" altLang="zh-CN" sz="1400" b="0" i="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&lt; 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: Mean-reverting series,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: Random walk,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&gt; 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: Trending series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InterVariable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1909292-F290-0F52-9844-948887B78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543" y="8200625"/>
                <a:ext cx="5939135" cy="738664"/>
              </a:xfrm>
              <a:prstGeom prst="rect">
                <a:avLst/>
              </a:prstGeom>
              <a:blipFill>
                <a:blip r:embed="rId9"/>
                <a:stretch>
                  <a:fillRect l="-308" t="-1653" r="-308" b="-8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25D964-BED0-BC5B-31BA-349E8CF6FF6F}"/>
                  </a:ext>
                </a:extLst>
              </p:cNvPr>
              <p:cNvSpPr txBox="1"/>
              <p:nvPr/>
            </p:nvSpPr>
            <p:spPr>
              <a:xfrm>
                <a:off x="5014543" y="9125190"/>
                <a:ext cx="5939135" cy="8440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defRPr sz="140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Half-Life of Mean Reversion measures how quickly the spread reverts to its mean. It’s derived from an OLS regression of the spread’s first difference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 err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) on its lagged value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/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, and 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h𝑎𝑙𝑓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𝑙𝑖𝑓𝑒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𝑙𝑛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25D964-BED0-BC5B-31BA-349E8CF6F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543" y="9125190"/>
                <a:ext cx="5939135" cy="844077"/>
              </a:xfrm>
              <a:prstGeom prst="rect">
                <a:avLst/>
              </a:prstGeom>
              <a:blipFill>
                <a:blip r:embed="rId10"/>
                <a:stretch>
                  <a:fillRect l="-308" t="-1449" r="-308" b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0CD2C0D-E48C-9303-861C-7BC08510CB95}"/>
                  </a:ext>
                </a:extLst>
              </p:cNvPr>
              <p:cNvSpPr txBox="1"/>
              <p:nvPr/>
            </p:nvSpPr>
            <p:spPr>
              <a:xfrm>
                <a:off x="11577641" y="6174903"/>
                <a:ext cx="6127082" cy="95410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defRPr sz="140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The high correlation (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0.866</m:t>
                    </m:r>
                  </m:oMath>
                </a14:m>
                <a:r>
                  <a:rPr lang="en-US" altLang="zh-CN" dirty="0"/>
                  <a:t>) between BYD and Tesla’s log prices indicates that the two stocks move together closely, which is expected for a cointegrated pair. This supports the rationale for pairs trading, as the spread captures deviations from this relationship.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0CD2C0D-E48C-9303-861C-7BC08510C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7641" y="6174903"/>
                <a:ext cx="6127082" cy="954107"/>
              </a:xfrm>
              <a:prstGeom prst="rect">
                <a:avLst/>
              </a:prstGeom>
              <a:blipFill>
                <a:blip r:embed="rId11"/>
                <a:stretch>
                  <a:fillRect l="-299" t="-1282" r="-299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551F712-D886-2F0F-21D5-2C6AFFA35BEF}"/>
                  </a:ext>
                </a:extLst>
              </p:cNvPr>
              <p:cNvSpPr txBox="1"/>
              <p:nvPr/>
            </p:nvSpPr>
            <p:spPr>
              <a:xfrm>
                <a:off x="11633373" y="8169210"/>
                <a:ext cx="6056110" cy="73866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The Hurst Exponent 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0.426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 is less than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, indicating that the spread is mean-reverting. A value below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confirms that the spread has a tendency to revert to its mean, which is ideal for pairs trading.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InterVariable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551F712-D886-2F0F-21D5-2C6AFFA35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3373" y="8169210"/>
                <a:ext cx="6056110" cy="738664"/>
              </a:xfrm>
              <a:prstGeom prst="rect">
                <a:avLst/>
              </a:prstGeom>
              <a:blipFill>
                <a:blip r:embed="rId12"/>
                <a:stretch>
                  <a:fillRect l="-302" t="-1653" r="-201" b="-8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BB2CA6-C189-8AA8-B128-47E64BF09DA5}"/>
                  </a:ext>
                </a:extLst>
              </p:cNvPr>
              <p:cNvSpPr txBox="1"/>
              <p:nvPr/>
            </p:nvSpPr>
            <p:spPr>
              <a:xfrm>
                <a:off x="11562401" y="7261379"/>
                <a:ext cx="6127082" cy="738664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The spread crosses its mean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times over the period, indicating frequent mean reversion. This is a positive sign for pairs trading, as it suggests the spread oscillates around the mean regularly.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InterVariable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BB2CA6-C189-8AA8-B128-47E64BF09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401" y="7261379"/>
                <a:ext cx="6127082" cy="738664"/>
              </a:xfrm>
              <a:prstGeom prst="rect">
                <a:avLst/>
              </a:prstGeom>
              <a:blipFill>
                <a:blip r:embed="rId13"/>
                <a:stretch>
                  <a:fillRect l="-299" t="-1653" r="-299" b="-8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32CFDCC-4154-7443-343E-D32398153B59}"/>
                  </a:ext>
                </a:extLst>
              </p:cNvPr>
              <p:cNvSpPr txBox="1"/>
              <p:nvPr/>
            </p:nvSpPr>
            <p:spPr>
              <a:xfrm>
                <a:off x="11671829" y="9074642"/>
                <a:ext cx="5969113" cy="95410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defRPr sz="140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The half-life of mean reversion is the time it takes for the spread to revert halfway back to its mean after a deviation. A half-life of 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51.6</m:t>
                    </m:r>
                  </m:oMath>
                </a14:m>
                <a:r>
                  <a:rPr lang="en-US" altLang="zh-CN" dirty="0"/>
                  <a:t> days suggests that the mean reversion process is relatively slow, which may require a longer holding period for trades to become profitable.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32CFDCC-4154-7443-343E-D32398153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1829" y="9074642"/>
                <a:ext cx="5969113" cy="954107"/>
              </a:xfrm>
              <a:prstGeom prst="rect">
                <a:avLst/>
              </a:prstGeom>
              <a:blipFill>
                <a:blip r:embed="rId14"/>
                <a:stretch>
                  <a:fillRect l="-306" t="-1282" r="-306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B3C805BC-C844-059B-82EF-E0D4F947ED75}"/>
              </a:ext>
            </a:extLst>
          </p:cNvPr>
          <p:cNvSpPr txBox="1"/>
          <p:nvPr/>
        </p:nvSpPr>
        <p:spPr>
          <a:xfrm>
            <a:off x="7328881" y="1446316"/>
            <a:ext cx="8291318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tx2">
                    <a:lumMod val="50000"/>
                  </a:schemeClr>
                </a:solidFill>
                <a:latin typeface="InterVariable"/>
                <a:cs typeface="Times New Roman" panose="02020603050405020304" pitchFamily="18" charset="0"/>
              </a:rPr>
              <a:t>Multiple statistics show BYD and Tesla stock prices move together, making them suitable for pairs trading as their price difference often returns to a predictable average.</a:t>
            </a:r>
            <a:endParaRPr lang="zh-CN" altLang="en-US" sz="1600" b="1" dirty="0">
              <a:solidFill>
                <a:schemeClr val="tx2">
                  <a:lumMod val="50000"/>
                </a:schemeClr>
              </a:solidFill>
              <a:latin typeface="InterVariable"/>
              <a:cs typeface="Times New Roman" panose="02020603050405020304" pitchFamily="18" charset="0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D285A439-F1BA-C0CF-9EE4-E6D33EE25442}"/>
              </a:ext>
            </a:extLst>
          </p:cNvPr>
          <p:cNvSpPr txBox="1"/>
          <p:nvPr/>
        </p:nvSpPr>
        <p:spPr>
          <a:xfrm>
            <a:off x="510132" y="-48974"/>
            <a:ext cx="15415056" cy="100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000" b="1" dirty="0">
                <a:solidFill>
                  <a:srgbClr val="0F4662"/>
                </a:solidFill>
                <a:latin typeface="InterVariable"/>
              </a:rPr>
              <a:t>Quantitative Analysis (1) - </a:t>
            </a:r>
            <a:r>
              <a:rPr lang="en-US" altLang="zh-CN" sz="3200" b="1" i="1" dirty="0">
                <a:solidFill>
                  <a:srgbClr val="00B05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Long Tesla (Tsla.US) </a:t>
            </a:r>
            <a:r>
              <a:rPr lang="en-US" altLang="zh-CN" sz="3200" b="1" i="1" dirty="0">
                <a:solidFill>
                  <a:srgbClr val="C0000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Short BYD (1211.HK)</a:t>
            </a:r>
            <a:endParaRPr lang="en-US" sz="32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643BBE3-695A-DAD2-CD9D-DAAD86C78F23}"/>
              </a:ext>
            </a:extLst>
          </p:cNvPr>
          <p:cNvCxnSpPr>
            <a:cxnSpLocks/>
          </p:cNvCxnSpPr>
          <p:nvPr/>
        </p:nvCxnSpPr>
        <p:spPr>
          <a:xfrm>
            <a:off x="414561" y="1028700"/>
            <a:ext cx="1708681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8519DD46-8C1B-F28E-5B4A-D8CF82D293C6}"/>
              </a:ext>
            </a:extLst>
          </p:cNvPr>
          <p:cNvGrpSpPr/>
          <p:nvPr/>
        </p:nvGrpSpPr>
        <p:grpSpPr>
          <a:xfrm>
            <a:off x="14949292" y="147595"/>
            <a:ext cx="2552084" cy="812489"/>
            <a:chOff x="14949292" y="147595"/>
            <a:chExt cx="2484269" cy="89722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D2394DE-E607-980C-1981-587C9C547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949292" y="147595"/>
              <a:ext cx="1472893" cy="863959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5126AEB1-8176-5783-A9CC-4A8324230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6585504" y="147595"/>
              <a:ext cx="848057" cy="897220"/>
            </a:xfrm>
            <a:prstGeom prst="rect">
              <a:avLst/>
            </a:prstGeom>
          </p:spPr>
        </p:pic>
      </p:grpSp>
      <p:sp>
        <p:nvSpPr>
          <p:cNvPr id="18" name="箭头: 右 17">
            <a:extLst>
              <a:ext uri="{FF2B5EF4-FFF2-40B4-BE49-F238E27FC236}">
                <a16:creationId xmlns:a16="http://schemas.microsoft.com/office/drawing/2014/main" id="{9ADF68DC-01A9-B5D9-606C-976039D9FC8B}"/>
              </a:ext>
            </a:extLst>
          </p:cNvPr>
          <p:cNvSpPr/>
          <p:nvPr/>
        </p:nvSpPr>
        <p:spPr>
          <a:xfrm>
            <a:off x="11039784" y="3175548"/>
            <a:ext cx="368701" cy="36409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883206B8-A82B-348A-0B26-6128D6004648}"/>
              </a:ext>
            </a:extLst>
          </p:cNvPr>
          <p:cNvSpPr/>
          <p:nvPr/>
        </p:nvSpPr>
        <p:spPr>
          <a:xfrm>
            <a:off x="11088107" y="4779409"/>
            <a:ext cx="368701" cy="36409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3011EB38-2928-96DF-9BC7-0E89E4D4DC2D}"/>
              </a:ext>
            </a:extLst>
          </p:cNvPr>
          <p:cNvSpPr/>
          <p:nvPr/>
        </p:nvSpPr>
        <p:spPr>
          <a:xfrm>
            <a:off x="11105840" y="6520843"/>
            <a:ext cx="368701" cy="36409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735CDE10-BD21-D205-6D61-6B41C71FA21E}"/>
              </a:ext>
            </a:extLst>
          </p:cNvPr>
          <p:cNvSpPr/>
          <p:nvPr/>
        </p:nvSpPr>
        <p:spPr>
          <a:xfrm>
            <a:off x="11108397" y="8378835"/>
            <a:ext cx="368701" cy="36409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389F7398-FB55-86A9-3C34-3E1A65EC01DB}"/>
              </a:ext>
            </a:extLst>
          </p:cNvPr>
          <p:cNvSpPr/>
          <p:nvPr/>
        </p:nvSpPr>
        <p:spPr>
          <a:xfrm>
            <a:off x="11105839" y="9508496"/>
            <a:ext cx="368701" cy="36409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E15D3A30-203A-0EF8-D5C5-115109C981EB}"/>
              </a:ext>
            </a:extLst>
          </p:cNvPr>
          <p:cNvSpPr/>
          <p:nvPr/>
        </p:nvSpPr>
        <p:spPr>
          <a:xfrm>
            <a:off x="3874137" y="2417495"/>
            <a:ext cx="533400" cy="31941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C4AA0EA-6B65-00A6-55C5-C5F234BE60D5}"/>
              </a:ext>
            </a:extLst>
          </p:cNvPr>
          <p:cNvSpPr/>
          <p:nvPr/>
        </p:nvSpPr>
        <p:spPr>
          <a:xfrm>
            <a:off x="3843657" y="7674119"/>
            <a:ext cx="533400" cy="31941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2DA7741B-9D01-D13C-B8F7-9AB9F4AE1334}"/>
              </a:ext>
            </a:extLst>
          </p:cNvPr>
          <p:cNvSpPr/>
          <p:nvPr/>
        </p:nvSpPr>
        <p:spPr>
          <a:xfrm>
            <a:off x="3889377" y="8378835"/>
            <a:ext cx="533400" cy="31941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64B4E92A-1F9E-1D14-4928-6F4EC90C2A38}"/>
              </a:ext>
            </a:extLst>
          </p:cNvPr>
          <p:cNvSpPr/>
          <p:nvPr/>
        </p:nvSpPr>
        <p:spPr>
          <a:xfrm>
            <a:off x="3889377" y="7023763"/>
            <a:ext cx="533400" cy="31941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58935457-7303-0B10-7C0D-08A9A4D56D88}"/>
              </a:ext>
            </a:extLst>
          </p:cNvPr>
          <p:cNvSpPr/>
          <p:nvPr/>
        </p:nvSpPr>
        <p:spPr>
          <a:xfrm>
            <a:off x="3894911" y="9097957"/>
            <a:ext cx="533400" cy="31941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B0F541D3-7471-A3DD-FADF-8068B4BFDDE7}"/>
              </a:ext>
            </a:extLst>
          </p:cNvPr>
          <p:cNvSpPr/>
          <p:nvPr/>
        </p:nvSpPr>
        <p:spPr>
          <a:xfrm>
            <a:off x="3505828" y="3088762"/>
            <a:ext cx="1290543" cy="289934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2203F00C-904C-DFB1-5A61-36C5FD6F3845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4298942" y="7720001"/>
            <a:ext cx="7228441" cy="8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08167179-C35B-E0D4-7949-EEBD9B1B5FCE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422777" y="2608219"/>
            <a:ext cx="734341" cy="72391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62F268E2-6A03-76CB-D0A8-395FF0B7606B}"/>
              </a:ext>
            </a:extLst>
          </p:cNvPr>
          <p:cNvSpPr txBox="1"/>
          <p:nvPr/>
        </p:nvSpPr>
        <p:spPr>
          <a:xfrm>
            <a:off x="486421" y="121150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F4662"/>
                </a:solidFill>
                <a:latin typeface="InterVariable"/>
                <a:cs typeface="Times New Roman" panose="02020603050405020304" pitchFamily="18" charset="0"/>
              </a:rPr>
              <a:t>Correlation and Cointegration Analysis</a:t>
            </a:r>
            <a:endParaRPr lang="zh-CN" altLang="en-US" sz="2000" b="1" dirty="0">
              <a:solidFill>
                <a:srgbClr val="0F4662"/>
              </a:solidFill>
              <a:latin typeface="InterVariable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491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670C-81F3-2834-DB52-88A667FE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759AB727-4F83-999B-7E38-664E115A586E}"/>
              </a:ext>
            </a:extLst>
          </p:cNvPr>
          <p:cNvGrpSpPr/>
          <p:nvPr/>
        </p:nvGrpSpPr>
        <p:grpSpPr>
          <a:xfrm>
            <a:off x="14949292" y="147595"/>
            <a:ext cx="2484269" cy="897220"/>
            <a:chOff x="14949292" y="147595"/>
            <a:chExt cx="2484269" cy="89722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DB2571F-BC06-9CCE-002F-0A9C684BB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49292" y="147595"/>
              <a:ext cx="1472893" cy="863959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E2D1D55-249F-2A06-AC95-202E7BB2F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585504" y="147595"/>
              <a:ext cx="848057" cy="897220"/>
            </a:xfrm>
            <a:prstGeom prst="rect">
              <a:avLst/>
            </a:prstGeom>
          </p:spPr>
        </p:pic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C7BEFFC5-208B-86DD-8DE1-392A2ED80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02" y="1368872"/>
            <a:ext cx="10584898" cy="6231212"/>
          </a:xfrm>
          <a:prstGeom prst="rect">
            <a:avLst/>
          </a:prstGeom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5FA8F70F-FB2B-8431-FE03-613F441B4883}"/>
              </a:ext>
            </a:extLst>
          </p:cNvPr>
          <p:cNvSpPr txBox="1"/>
          <p:nvPr/>
        </p:nvSpPr>
        <p:spPr>
          <a:xfrm>
            <a:off x="510132" y="-48974"/>
            <a:ext cx="15415056" cy="100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000" b="1" dirty="0">
                <a:solidFill>
                  <a:srgbClr val="0F4662"/>
                </a:solidFill>
                <a:latin typeface="InterVariable"/>
              </a:rPr>
              <a:t>Quantitative Analysis (2) - </a:t>
            </a:r>
            <a:r>
              <a:rPr lang="en-US" altLang="zh-CN" sz="3200" b="1" i="1" dirty="0">
                <a:solidFill>
                  <a:srgbClr val="00B05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Long Tesla (Tsla.US) </a:t>
            </a:r>
            <a:r>
              <a:rPr lang="en-US" altLang="zh-CN" sz="3200" b="1" i="1" dirty="0">
                <a:solidFill>
                  <a:srgbClr val="C0000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Short BYD (1211.HK)</a:t>
            </a:r>
            <a:endParaRPr lang="en-US" sz="32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927136E-8E38-24B9-7C3F-50501F0C5CCE}"/>
              </a:ext>
            </a:extLst>
          </p:cNvPr>
          <p:cNvCxnSpPr>
            <a:cxnSpLocks/>
          </p:cNvCxnSpPr>
          <p:nvPr/>
        </p:nvCxnSpPr>
        <p:spPr>
          <a:xfrm>
            <a:off x="471735" y="1144724"/>
            <a:ext cx="1708681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2">
                <a:extLst>
                  <a:ext uri="{FF2B5EF4-FFF2-40B4-BE49-F238E27FC236}">
                    <a16:creationId xmlns:a16="http://schemas.microsoft.com/office/drawing/2014/main" id="{375EE267-FF3B-0079-7876-C56FF60ECD1E}"/>
                  </a:ext>
                </a:extLst>
              </p:cNvPr>
              <p:cNvSpPr txBox="1"/>
              <p:nvPr/>
            </p:nvSpPr>
            <p:spPr>
              <a:xfrm>
                <a:off x="10439400" y="1485900"/>
                <a:ext cx="7119150" cy="83623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800100" lvl="1" indent="-342900">
                  <a:lnSpc>
                    <a:spcPts val="4079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400" b="1" i="1" u="sng" dirty="0">
                    <a:solidFill>
                      <a:schemeClr val="accent5">
                        <a:lumMod val="50000"/>
                      </a:schemeClr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Spread  </a:t>
                </a:r>
                <a:r>
                  <a:rPr lang="en-US" altLang="zh-CN" sz="2400" b="1" i="1" u="sng" dirty="0">
                    <a:solidFill>
                      <a:srgbClr val="0F4662"/>
                    </a:solidFill>
                    <a:latin typeface="InterVariable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2400" b="1" i="1" u="sng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CN" sz="2400" b="1" i="1" u="sng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𝒍</m:t>
                    </m:r>
                    <m:r>
                      <a:rPr lang="en-US" altLang="zh-CN" sz="2400" b="1" i="1" u="sng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𝒏</m:t>
                    </m:r>
                    <m:r>
                      <a:rPr lang="en-US" altLang="zh-CN" sz="2400" b="1" i="1" u="sng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sz="2400" b="1" i="1" u="sng" dirty="0">
                    <a:solidFill>
                      <a:srgbClr val="0F4662"/>
                    </a:solidFill>
                    <a:latin typeface="InterVariable"/>
                  </a:rPr>
                  <a:t>(Price</a:t>
                </a:r>
                <a:r>
                  <a:rPr lang="en-US" altLang="zh-CN" b="1" i="1" u="sng" dirty="0">
                    <a:solidFill>
                      <a:srgbClr val="0F4662"/>
                    </a:solidFill>
                    <a:latin typeface="InterVariable"/>
                  </a:rPr>
                  <a:t>[BYD]</a:t>
                </a:r>
                <a:r>
                  <a:rPr lang="en-US" altLang="zh-CN" sz="2400" b="1" i="1" u="sng" dirty="0">
                    <a:solidFill>
                      <a:srgbClr val="0F4662"/>
                    </a:solidFill>
                    <a:latin typeface="InterVariable"/>
                  </a:rPr>
                  <a:t>) </a:t>
                </a:r>
                <a:r>
                  <a:rPr lang="zh-CN" altLang="en-US" sz="2400" b="1" i="1" u="sng" dirty="0">
                    <a:solidFill>
                      <a:srgbClr val="0F4662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－</a:t>
                </a:r>
                <a:r>
                  <a:rPr lang="en-US" altLang="zh-CN" sz="2400" b="1" i="1" u="sng" dirty="0">
                    <a:solidFill>
                      <a:srgbClr val="0F4662"/>
                    </a:solidFill>
                    <a:latin typeface="InterVariable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u="sng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  <m:r>
                      <a:rPr lang="en-US" altLang="zh-CN" sz="2400" b="1" i="1" u="sng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altLang="zh-CN" sz="2400" b="1" i="1" u="sng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𝒍𝒏</m:t>
                    </m:r>
                  </m:oMath>
                </a14:m>
                <a:r>
                  <a:rPr lang="en-US" altLang="zh-CN" sz="2400" b="1" i="1" u="sng" dirty="0">
                    <a:solidFill>
                      <a:srgbClr val="0F4662"/>
                    </a:solidFill>
                    <a:latin typeface="InterVariable"/>
                  </a:rPr>
                  <a:t>(Price</a:t>
                </a:r>
                <a:r>
                  <a:rPr lang="en-US" altLang="zh-CN" b="1" i="1" u="sng" dirty="0">
                    <a:solidFill>
                      <a:srgbClr val="0F4662"/>
                    </a:solidFill>
                    <a:latin typeface="InterVariable"/>
                  </a:rPr>
                  <a:t>[Tesla]</a:t>
                </a:r>
                <a:r>
                  <a:rPr lang="en-US" altLang="zh-CN" sz="2400" b="1" i="1" u="sng" dirty="0">
                    <a:solidFill>
                      <a:srgbClr val="0F4662"/>
                    </a:solidFill>
                    <a:latin typeface="InterVariable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F4662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zh-CN" sz="2400" dirty="0">
                        <a:solidFill>
                          <a:srgbClr val="0F466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dirty="0">
                        <a:solidFill>
                          <a:srgbClr val="0F4662"/>
                        </a:solidFill>
                        <a:latin typeface="Cambria Math" panose="02040503050406030204" pitchFamily="18" charset="0"/>
                      </a:rPr>
                      <m:t>represnts</m:t>
                    </m:r>
                  </m:oMath>
                </a14:m>
                <a:r>
                  <a:rPr lang="en-US" altLang="zh-CN" sz="2400" dirty="0">
                    <a:solidFill>
                      <a:srgbClr val="0F4662"/>
                    </a:solidFill>
                    <a:latin typeface="InterVariable"/>
                  </a:rPr>
                  <a:t> hedge ratio</a:t>
                </a:r>
              </a:p>
              <a:p>
                <a:pPr marL="800100" lvl="1" indent="-342900" algn="just">
                  <a:lnSpc>
                    <a:spcPts val="4079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400" dirty="0">
                    <a:solidFill>
                      <a:srgbClr val="0F4662"/>
                    </a:solidFill>
                    <a:latin typeface="InterVariable"/>
                  </a:rPr>
                  <a:t>The BYD-Tesla stock price spread exhibits clear mean-reverting behavior, as it repeatedly returns to the historical mean after deviations. For example, after dipping to -1.2 in 2020, it quickly reverted to the mean, and after peaking in 2023, it declined toward the mean.</a:t>
                </a:r>
              </a:p>
              <a:p>
                <a:pPr marL="800100" lvl="1" indent="-342900" algn="just">
                  <a:lnSpc>
                    <a:spcPts val="4079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400" dirty="0">
                    <a:solidFill>
                      <a:srgbClr val="0F4662"/>
                    </a:solidFill>
                    <a:latin typeface="InterVariable"/>
                  </a:rPr>
                  <a:t>The spread’s mean-reverting behavior and high percentage of time within the 2-SD band suggest that BYD-Tesla is good for pair stock trading. </a:t>
                </a:r>
              </a:p>
              <a:p>
                <a:pPr marL="800100" lvl="1" indent="-342900" algn="just">
                  <a:lnSpc>
                    <a:spcPts val="4079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400" dirty="0">
                    <a:solidFill>
                      <a:srgbClr val="0F4662"/>
                    </a:solidFill>
                    <a:latin typeface="InterVariable"/>
                  </a:rPr>
                  <a:t>The price spread stays within a normal range 96% of the time and is expected to drop from </a:t>
                </a:r>
                <a:r>
                  <a:rPr lang="en-US" altLang="zh-CN" sz="2400" b="1" dirty="0">
                    <a:solidFill>
                      <a:srgbClr val="0F4662"/>
                    </a:solidFill>
                    <a:latin typeface="InterVariable"/>
                  </a:rPr>
                  <a:t>0.039 on April 17, 2025</a:t>
                </a:r>
                <a:r>
                  <a:rPr lang="en-US" altLang="zh-CN" sz="2400" dirty="0">
                    <a:solidFill>
                      <a:srgbClr val="0F4662"/>
                    </a:solidFill>
                    <a:latin typeface="InterVariable"/>
                  </a:rPr>
                  <a:t> to the historical mean by mid-May 2025, indicating a potential </a:t>
                </a:r>
                <a:r>
                  <a:rPr lang="en-US" altLang="zh-CN" sz="2400" b="1" dirty="0">
                    <a:solidFill>
                      <a:srgbClr val="0F4662"/>
                    </a:solidFill>
                    <a:latin typeface="InterVariable"/>
                  </a:rPr>
                  <a:t>opportunity (sell BYD and buy Tesla)</a:t>
                </a:r>
              </a:p>
            </p:txBody>
          </p:sp>
        </mc:Choice>
        <mc:Fallback>
          <p:sp>
            <p:nvSpPr>
              <p:cNvPr id="18" name="TextBox 2">
                <a:extLst>
                  <a:ext uri="{FF2B5EF4-FFF2-40B4-BE49-F238E27FC236}">
                    <a16:creationId xmlns:a16="http://schemas.microsoft.com/office/drawing/2014/main" id="{375EE267-FF3B-0079-7876-C56FF60EC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9400" y="1485900"/>
                <a:ext cx="7119150" cy="8362354"/>
              </a:xfrm>
              <a:prstGeom prst="rect">
                <a:avLst/>
              </a:prstGeom>
              <a:blipFill>
                <a:blip r:embed="rId6"/>
                <a:stretch>
                  <a:fillRect t="-73" r="-2656" b="-1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E4F97A8-6FE1-888F-E897-C6129D6E0F95}"/>
                  </a:ext>
                </a:extLst>
              </p:cNvPr>
              <p:cNvSpPr txBox="1"/>
              <p:nvPr/>
            </p:nvSpPr>
            <p:spPr>
              <a:xfrm>
                <a:off x="510132" y="7577224"/>
                <a:ext cx="10188348" cy="203132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Note:</a:t>
                </a:r>
              </a:p>
              <a:p>
                <a:pPr marL="342900" indent="-342900" algn="just">
                  <a:buAutoNum type="arabicParenBoth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The blue-line plot shows the normalized stock price spread between BYD and Tesla from March 31, 2020 to April 17, 2025, along with the historical mean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bands</a:t>
                </a:r>
              </a:p>
              <a:p>
                <a:pPr marL="342900" indent="-342900" algn="just">
                  <a:buFontTx/>
                  <a:buAutoNum type="arabicParenBoth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The red-line plot (using</a:t>
                </a:r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ARIMA</a:t>
                </a:r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model) forecasts 30-day downward trend of stock price spread between BYD and Tesla from the current value (0.039) on April 17 and will reach around −0.1 by mid-May 2025.</a:t>
                </a:r>
              </a:p>
              <a:p>
                <a:pPr marL="342900" indent="-342900" algn="just">
                  <a:buFontTx/>
                  <a:buAutoNum type="arabicParenBoth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The forecast remains within the ±2</a:t>
                </a:r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𝜎 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band, indicating no extreme deviations are expected in the next 30 days.</a:t>
                </a: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E4F97A8-6FE1-888F-E897-C6129D6E0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32" y="7577224"/>
                <a:ext cx="10188348" cy="2031325"/>
              </a:xfrm>
              <a:prstGeom prst="rect">
                <a:avLst/>
              </a:prstGeom>
              <a:blipFill>
                <a:blip r:embed="rId7"/>
                <a:stretch>
                  <a:fillRect l="-539" t="-1802" r="-479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">
            <a:extLst>
              <a:ext uri="{FF2B5EF4-FFF2-40B4-BE49-F238E27FC236}">
                <a16:creationId xmlns:a16="http://schemas.microsoft.com/office/drawing/2014/main" id="{FFE42B1B-5C71-C0A7-D876-EB61EAC1AD93}"/>
              </a:ext>
            </a:extLst>
          </p:cNvPr>
          <p:cNvSpPr txBox="1"/>
          <p:nvPr/>
        </p:nvSpPr>
        <p:spPr>
          <a:xfrm>
            <a:off x="8001000" y="1461950"/>
            <a:ext cx="7119150" cy="445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4079"/>
              </a:lnSpc>
            </a:pPr>
            <a:r>
              <a:rPr lang="en-US" altLang="zh-CN" sz="1500" b="1" dirty="0">
                <a:solidFill>
                  <a:srgbClr val="C00000"/>
                </a:solidFill>
                <a:latin typeface="InterVariable"/>
              </a:rPr>
              <a:t>Value @ 04/17/25 = 0.039</a:t>
            </a:r>
          </a:p>
        </p:txBody>
      </p:sp>
    </p:spTree>
    <p:extLst>
      <p:ext uri="{BB962C8B-B14F-4D97-AF65-F5344CB8AC3E}">
        <p14:creationId xmlns:p14="http://schemas.microsoft.com/office/powerpoint/2010/main" val="360945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B6CA8A0-21D9-89FD-93FF-327738608522}"/>
              </a:ext>
            </a:extLst>
          </p:cNvPr>
          <p:cNvGrpSpPr/>
          <p:nvPr/>
        </p:nvGrpSpPr>
        <p:grpSpPr>
          <a:xfrm>
            <a:off x="14949292" y="147595"/>
            <a:ext cx="2484269" cy="897220"/>
            <a:chOff x="14949292" y="147595"/>
            <a:chExt cx="2484269" cy="89722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1F09CEB-65C9-A6EE-1A1E-63168F7CE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49292" y="147595"/>
              <a:ext cx="1472893" cy="863959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D99F08D-AF1B-9176-99B6-128527AA6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85504" y="147595"/>
              <a:ext cx="848057" cy="897220"/>
            </a:xfrm>
            <a:prstGeom prst="rect">
              <a:avLst/>
            </a:prstGeom>
          </p:spPr>
        </p:pic>
      </p:grpSp>
      <p:sp>
        <p:nvSpPr>
          <p:cNvPr id="5" name="TextBox 6">
            <a:extLst>
              <a:ext uri="{FF2B5EF4-FFF2-40B4-BE49-F238E27FC236}">
                <a16:creationId xmlns:a16="http://schemas.microsoft.com/office/drawing/2014/main" id="{09957110-3E7B-E83F-76CF-A711634D8338}"/>
              </a:ext>
            </a:extLst>
          </p:cNvPr>
          <p:cNvSpPr txBox="1"/>
          <p:nvPr/>
        </p:nvSpPr>
        <p:spPr>
          <a:xfrm>
            <a:off x="510132" y="-48974"/>
            <a:ext cx="15415056" cy="100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000" b="1" dirty="0">
                <a:solidFill>
                  <a:srgbClr val="0F4662"/>
                </a:solidFill>
                <a:latin typeface="InterVariable"/>
              </a:rPr>
              <a:t>Quantitative Analysis (3) - </a:t>
            </a:r>
            <a:r>
              <a:rPr lang="en-US" altLang="zh-CN" sz="3200" b="1" i="1" dirty="0">
                <a:solidFill>
                  <a:srgbClr val="00B05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Long Tesla (Tsla.US) </a:t>
            </a:r>
            <a:r>
              <a:rPr lang="en-US" altLang="zh-CN" sz="3200" b="1" i="1" dirty="0">
                <a:solidFill>
                  <a:srgbClr val="C00000"/>
                </a:solidFill>
                <a:latin typeface="InterVariable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Short BYD (1211.HK)</a:t>
            </a:r>
            <a:endParaRPr lang="en-US" sz="32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12996D1-E589-7B29-B74E-3D38087B7E24}"/>
              </a:ext>
            </a:extLst>
          </p:cNvPr>
          <p:cNvCxnSpPr>
            <a:cxnSpLocks/>
          </p:cNvCxnSpPr>
          <p:nvPr/>
        </p:nvCxnSpPr>
        <p:spPr>
          <a:xfrm>
            <a:off x="471735" y="1144724"/>
            <a:ext cx="1708681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F6B8BD10-7A9F-D3EF-DFED-66DE6EB7E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181100"/>
            <a:ext cx="6705600" cy="5538916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3DECA4D5-817B-C2E8-3C32-3CB4412F4244}"/>
              </a:ext>
            </a:extLst>
          </p:cNvPr>
          <p:cNvSpPr txBox="1"/>
          <p:nvPr/>
        </p:nvSpPr>
        <p:spPr>
          <a:xfrm>
            <a:off x="8763376" y="1638300"/>
            <a:ext cx="8943512" cy="7836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</a:rPr>
              <a:t>The intercept implies that there is no reliable evidence of a consistent outperformance of BYD over Tesla (or vice versa) independent of the market spread, reinforcing that the relationship is primarily driven by the independent variable rather than a constant effect.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</a:rPr>
              <a:t>The beta coefficient suggests that the market spread is a key driver of the relative performance between BYD and Tesla, with Tesla’s returns being more responsive to NASDAQ movements relative to BYD’s sensitivity to HIS (Based on additional regression results).</a:t>
            </a:r>
          </a:p>
          <a:p>
            <a:pPr marL="800100" lvl="1" indent="-342900" algn="just">
              <a:lnSpc>
                <a:spcPts val="4079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F4662"/>
                </a:solidFill>
                <a:latin typeface="InterVariable"/>
              </a:rPr>
              <a:t>The R-squared of 0.3390 implies that while the HSI-NASDAQ market spread is a useful predictor for the BYD-Tesla return spread, it only explains about a third of the variation. The model provides a meaningful starting point for understanding relative performance but should not be relied upon exclusively.</a:t>
            </a:r>
            <a:endParaRPr lang="en-US" altLang="zh-CN" sz="2400" b="1" dirty="0">
              <a:solidFill>
                <a:srgbClr val="0F4662"/>
              </a:solidFill>
              <a:latin typeface="InterVariabl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C710C38-D7E3-54FC-7C3C-6494C5E08212}"/>
                  </a:ext>
                </a:extLst>
              </p:cNvPr>
              <p:cNvSpPr txBox="1"/>
              <p:nvPr/>
            </p:nvSpPr>
            <p:spPr>
              <a:xfrm>
                <a:off x="419100" y="6362700"/>
                <a:ext cx="8382000" cy="369331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Note:</a:t>
                </a:r>
              </a:p>
              <a:p>
                <a:pPr algn="ctr"/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𝑩𝒀𝑫−𝑻𝒆𝒔𝒍𝒂 𝑺𝒑𝒓𝒆𝒂𝒅 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= </a:t>
                </a:r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𝜶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+ </a:t>
                </a:r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𝜷⋅𝑯𝑺𝑰−𝑵𝑨𝑺𝑫𝑨𝑸 𝑺𝒑𝒓𝒆𝒂𝒅 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+ </a:t>
                </a:r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𝝐</a:t>
                </a:r>
              </a:p>
              <a:p>
                <a:pPr marL="342900" indent="-342900" algn="just">
                  <a:buAutoNum type="arabicParenBoth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Coefficient Estimates: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Intercept 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): 0.0008, the expected BYD-Tesla spread when the market spread is zero. (p-value exceeds 0.05, not statistically significant)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Beta 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): 1.4271, a 1% change in the HSI-NASDAQ market spread is associated with a 1.4271% change in the BYD-Tesla spread, suggesting a leveraged response. (p-value is extremely small, confirming high statistical significance)</a:t>
                </a:r>
              </a:p>
              <a:p>
                <a:pPr marL="342900" indent="-342900" algn="just">
                  <a:buAutoNum type="arabicParenBoth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Model Fit: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R-squared: 0.3390, 33.9% of the variance in the BYD-Tesla spread is explained by the HSI-NASDAQ spread.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InterVariable"/>
                    <a:cs typeface="Times New Roman" panose="02020603050405020304" pitchFamily="18" charset="0"/>
                  </a:rPr>
                  <a:t>This moderate value reflects a partial but meaningful relationship, typical in financial return models where multiple factors influence outcomes.</a:t>
                </a: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C710C38-D7E3-54FC-7C3C-6494C5E08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6362700"/>
                <a:ext cx="8382000" cy="3693319"/>
              </a:xfrm>
              <a:prstGeom prst="rect">
                <a:avLst/>
              </a:prstGeom>
              <a:blipFill>
                <a:blip r:embed="rId5"/>
                <a:stretch>
                  <a:fillRect l="-655" t="-990" r="-582" b="-1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9687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8614</TotalTime>
  <Words>1941</Words>
  <Application>Microsoft Office PowerPoint</Application>
  <PresentationFormat>自定义</PresentationFormat>
  <Paragraphs>137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微软雅黑</vt:lpstr>
      <vt:lpstr>等线</vt:lpstr>
      <vt:lpstr>InterVariable</vt:lpstr>
      <vt:lpstr>Arial</vt:lpstr>
      <vt:lpstr>Garamond</vt:lpstr>
      <vt:lpstr>Book Antiqua</vt:lpstr>
      <vt:lpstr>Calibri</vt:lpstr>
      <vt:lpstr>Cormorant Garamond Bold Italics</vt:lpstr>
      <vt:lpstr>Wingdings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 Fang</dc:creator>
  <cp:lastModifiedBy>Menger Gilmour</cp:lastModifiedBy>
  <cp:revision>55</cp:revision>
  <dcterms:created xsi:type="dcterms:W3CDTF">2006-08-16T00:00:00Z</dcterms:created>
  <dcterms:modified xsi:type="dcterms:W3CDTF">2025-05-03T15:27:26Z</dcterms:modified>
  <dc:identifier>DAGl1QXc6Vo</dc:identifier>
</cp:coreProperties>
</file>