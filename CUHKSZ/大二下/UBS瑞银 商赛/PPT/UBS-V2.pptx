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68" r:id="rId2"/>
    <p:sldId id="258" r:id="rId3"/>
    <p:sldId id="269" r:id="rId4"/>
    <p:sldId id="270" r:id="rId5"/>
    <p:sldId id="271" r:id="rId6"/>
    <p:sldId id="272" r:id="rId7"/>
    <p:sldId id="273" r:id="rId8"/>
    <p:sldId id="274" r:id="rId9"/>
    <p:sldId id="275" r:id="rId10"/>
  </p:sldIdLst>
  <p:sldSz cx="18288000" cy="10287000"/>
  <p:notesSz cx="6858000" cy="9144000"/>
  <p:embeddedFontLst>
    <p:embeddedFont>
      <p:font typeface="Book Antiqua" panose="02040602050305030304" pitchFamily="18" charset="0"/>
      <p:regular r:id="rId12"/>
      <p:bold r:id="rId13"/>
      <p:italic r:id="rId14"/>
      <p:boldItalic r:id="rId15"/>
    </p:embeddedFont>
    <p:embeddedFont>
      <p:font typeface="Cambria Math" panose="02040503050406030204" pitchFamily="18" charset="0"/>
      <p:regular r:id="rId16"/>
    </p:embeddedFont>
    <p:embeddedFont>
      <p:font typeface="Cormorant Garamond Bold Italics" panose="02010600030101010101" charset="0"/>
      <p:regular r:id="rId17"/>
    </p:embeddedFont>
    <p:embeddedFont>
      <p:font typeface="Garamond" panose="02020404030301010803" pitchFamily="18" charset="0"/>
      <p:regular r:id="rId18"/>
      <p:bold r:id="rId19"/>
      <p:italic r:id="rId20"/>
    </p:embeddedFont>
    <p:embeddedFont>
      <p:font typeface="Quicksand" panose="02010600030101010101" charset="0"/>
      <p:regular r:id="rId21"/>
    </p:embeddedFont>
    <p:embeddedFont>
      <p:font typeface="Quicksand Bold" panose="02010600030101010101" charset="0"/>
      <p:regular r:id="rId22"/>
    </p:embeddedFont>
    <p:embeddedFont>
      <p:font typeface="等线" panose="02010600030101010101" pitchFamily="2" charset="-122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5EA"/>
    <a:srgbClr val="0F4662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22" autoAdjust="0"/>
  </p:normalViewPr>
  <p:slideViewPr>
    <p:cSldViewPr>
      <p:cViewPr varScale="1">
        <p:scale>
          <a:sx n="70" d="100"/>
          <a:sy n="70" d="100"/>
        </p:scale>
        <p:origin x="188" y="1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F08F5-DDCF-446E-A690-52A1266DEB4C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E65B4-753B-439C-9222-B55094B51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6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E65B4-753B-439C-9222-B55094B515D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12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881B-0CFF-D2CE-6AA8-852CAB59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C2B649-B157-57B5-F373-E4C3B177B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40218D-F472-0D30-EC12-7973040CB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00DDE4-6E36-9AF5-9E6D-F8CA6E5E3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E65B4-753B-439C-9222-B55094B515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278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C018-CEA8-C2F6-FFA8-9B433BCE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8790B0-C001-218A-A685-31D70C459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558C80-6AF3-1A46-2802-992C138BD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4DE9B1-0D5C-519B-136C-2F428D63C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E65B4-753B-439C-9222-B55094B515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97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42E2-F96E-010C-4B0B-63E809E0B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2325A4-07D4-4912-3756-9B6FCF7D9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C1D4FD-A734-2B70-E133-65A614317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E11088-0974-1889-88DB-E0877B179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E65B4-753B-439C-9222-B55094B515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761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4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3.png"/><Relationship Id="rId9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3.png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2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3.png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1267A-F11D-3EA3-98A3-3B2B1E9D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E60339-B4BF-6972-E064-F0092FC7094F}"/>
              </a:ext>
            </a:extLst>
          </p:cNvPr>
          <p:cNvGrpSpPr/>
          <p:nvPr/>
        </p:nvGrpSpPr>
        <p:grpSpPr>
          <a:xfrm>
            <a:off x="0" y="1"/>
            <a:ext cx="18288000" cy="3392802"/>
            <a:chOff x="0" y="0"/>
            <a:chExt cx="4816593" cy="10797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3997AB-87A2-6B11-6D66-90145345A551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  <p:txBody>
            <a:bodyPr/>
            <a:lstStyle/>
            <a:p>
              <a:endParaRPr lang="zh-CN" altLang="en-US">
                <a:highlight>
                  <a:srgbClr val="FFFF00"/>
                </a:highlight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175DB23-0F7B-3C22-4D16-91C0356EB2FF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>
                <a:highlight>
                  <a:srgbClr val="FFFF00"/>
                </a:highlight>
              </a:endParaRP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1C4E8E37-81A8-C0FB-5632-6CBF778C9FFB}"/>
              </a:ext>
            </a:extLst>
          </p:cNvPr>
          <p:cNvSpPr txBox="1"/>
          <p:nvPr/>
        </p:nvSpPr>
        <p:spPr>
          <a:xfrm>
            <a:off x="7696200" y="8191500"/>
            <a:ext cx="6492240" cy="4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Macalester College, USA (May 2028)</a:t>
            </a:r>
            <a:endParaRPr lang="en-US" sz="2400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4DE2AF3-708E-CDCC-6769-E1296BC979BF}"/>
              </a:ext>
            </a:extLst>
          </p:cNvPr>
          <p:cNvSpPr txBox="1"/>
          <p:nvPr/>
        </p:nvSpPr>
        <p:spPr>
          <a:xfrm>
            <a:off x="6545590" y="7391732"/>
            <a:ext cx="9250660" cy="4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Chinese University of Hong Kong, Shenzhen (May 2027)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109C783-8D77-B2AA-C3EA-08FCE35CD591}"/>
              </a:ext>
            </a:extLst>
          </p:cNvPr>
          <p:cNvSpPr txBox="1"/>
          <p:nvPr/>
        </p:nvSpPr>
        <p:spPr>
          <a:xfrm>
            <a:off x="2057400" y="7331331"/>
            <a:ext cx="5017320" cy="46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Mr. Wen </a:t>
            </a:r>
            <a:r>
              <a:rPr lang="en-US" altLang="zh-CN" sz="279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Jie (Menger)</a:t>
            </a:r>
            <a:endParaRPr lang="en-US" sz="2799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4D8D87E9-EFEB-36A7-0528-14AFF87BED61}"/>
              </a:ext>
            </a:extLst>
          </p:cNvPr>
          <p:cNvSpPr txBox="1"/>
          <p:nvPr/>
        </p:nvSpPr>
        <p:spPr>
          <a:xfrm>
            <a:off x="2514600" y="8104574"/>
            <a:ext cx="5017320" cy="46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Mr. Fang </a:t>
            </a:r>
            <a:r>
              <a:rPr lang="en-US" altLang="zh-CN" sz="2799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Mingxiang</a:t>
            </a:r>
            <a:r>
              <a:rPr lang="en-US" altLang="zh-CN" sz="2799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(Jack)</a:t>
            </a:r>
            <a:endParaRPr lang="en-US" sz="2799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1C42722-CB0D-B162-41AA-5BC51C923F42}"/>
              </a:ext>
            </a:extLst>
          </p:cNvPr>
          <p:cNvSpPr txBox="1"/>
          <p:nvPr/>
        </p:nvSpPr>
        <p:spPr>
          <a:xfrm>
            <a:off x="1828800" y="-244444"/>
            <a:ext cx="15472000" cy="2698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9"/>
              </a:lnSpc>
              <a:spcBef>
                <a:spcPct val="0"/>
              </a:spcBef>
            </a:pPr>
            <a:r>
              <a:rPr lang="en-US" sz="5500" b="1" dirty="0">
                <a:solidFill>
                  <a:srgbClr val="0F4662"/>
                </a:solidFill>
                <a:latin typeface="Garamond" panose="02020404030301010803" pitchFamily="18" charset="0"/>
                <a:sym typeface="Cormorant Garamond Bold Italics"/>
              </a:rPr>
              <a:t>2025</a:t>
            </a:r>
            <a:r>
              <a:rPr lang="en-US" sz="55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 UBS Finance Challenge </a:t>
            </a:r>
            <a:r>
              <a:rPr lang="en-US" sz="48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~ </a:t>
            </a:r>
            <a:r>
              <a:rPr lang="en-US" altLang="zh-CN" sz="4800" b="1" dirty="0">
                <a:solidFill>
                  <a:srgbClr val="0F4662"/>
                </a:solidFill>
                <a:latin typeface="Garamond" panose="02020404030301010803" pitchFamily="18" charset="0"/>
                <a:ea typeface="Cormorant Garamond Bold Italics"/>
                <a:cs typeface="Cormorant Garamond Bold Italics"/>
                <a:sym typeface="Cormorant Garamond Bold Italics"/>
              </a:rPr>
              <a:t>Pair Trade Stock Pitch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E5BBA07-6000-F1EB-A2D5-659512DF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994" y="342900"/>
            <a:ext cx="1822246" cy="896661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47A31EF8-FE6F-08E3-A8DB-A6F430A075C8}"/>
              </a:ext>
            </a:extLst>
          </p:cNvPr>
          <p:cNvSpPr txBox="1"/>
          <p:nvPr/>
        </p:nvSpPr>
        <p:spPr>
          <a:xfrm>
            <a:off x="2702041" y="3701339"/>
            <a:ext cx="12812922" cy="164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Region</a:t>
            </a:r>
            <a:r>
              <a:rPr lang="zh-CN" altLang="en-US" sz="40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：</a:t>
            </a:r>
            <a:r>
              <a:rPr lang="en-US" sz="40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Hong Kong Stock Market</a:t>
            </a:r>
          </a:p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Sector</a:t>
            </a:r>
            <a:r>
              <a:rPr lang="zh-CN" altLang="en-US" sz="4000" b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：</a:t>
            </a:r>
            <a:r>
              <a:rPr lang="en-US" sz="40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Industrial ( Automobile)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4EC3DF0A-020E-510D-351B-006BA885C631}"/>
              </a:ext>
            </a:extLst>
          </p:cNvPr>
          <p:cNvSpPr txBox="1"/>
          <p:nvPr/>
        </p:nvSpPr>
        <p:spPr>
          <a:xfrm>
            <a:off x="3322176" y="5923361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i="1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Prepared by Team of </a:t>
            </a:r>
            <a:r>
              <a:rPr lang="en-US" sz="3141" b="1" i="1" dirty="0" err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AlphaStock</a:t>
            </a:r>
            <a:endParaRPr lang="en-US" sz="3141" b="1" i="1" dirty="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68607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1790700"/>
            <a:ext cx="8839200" cy="2576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</a:pPr>
            <a:r>
              <a:rPr lang="en-US" sz="2400" dirty="0">
                <a:solidFill>
                  <a:srgbClr val="0F4662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Nearly one in five cars sold in 2023 was electric</a:t>
            </a:r>
            <a:r>
              <a:rPr lang="en-US" altLang="zh-CN" sz="2400" b="0" i="0" dirty="0">
                <a:solidFill>
                  <a:srgbClr val="3A3A3A"/>
                </a:solidFill>
                <a:effectLst/>
                <a:latin typeface="-apple-system"/>
              </a:rPr>
              <a:t> </a:t>
            </a:r>
          </a:p>
          <a:p>
            <a:pPr marL="0" lvl="0" indent="0" algn="ctr">
              <a:lnSpc>
                <a:spcPts val="4079"/>
              </a:lnSpc>
            </a:pPr>
            <a:r>
              <a:rPr lang="en-US" altLang="zh-CN" sz="2400" b="0" i="0" dirty="0">
                <a:solidFill>
                  <a:srgbClr val="3A3A3A"/>
                </a:solidFill>
                <a:effectLst/>
                <a:latin typeface="-apple-system"/>
              </a:rPr>
              <a:t>BYD has over 30 industrial parks in China, the United States, Canada, Japan, Brazil, Hungary, and India. Its new energy vehicle footprint now covers 6 continents, over 70 countries and regions, and more than 400 cities</a:t>
            </a:r>
            <a:endParaRPr lang="en-US" sz="2400" dirty="0">
              <a:solidFill>
                <a:srgbClr val="0F4662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38200" y="-38100"/>
            <a:ext cx="13677900" cy="1011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i="1" dirty="0">
                <a:solidFill>
                  <a:srgbClr val="0F4662"/>
                </a:solidFill>
                <a:latin typeface="Cormorant Garamond Bold Italics"/>
              </a:rPr>
              <a:t>Overview of the EV Market and Pair Trade Concept and Key Assumption</a:t>
            </a:r>
            <a:endParaRPr lang="en-US" sz="40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EFE273-D3F5-589A-F49B-7C11C85B0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292" y="1475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35373C-6583-CE44-80BE-0D0083870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0" y="147595"/>
            <a:ext cx="1104169" cy="116817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F2BB909-416B-C288-43A7-B6BEF50AB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998" y="2781300"/>
            <a:ext cx="7828571" cy="544761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E0A5283-7F07-54E8-AB99-9C1018FBB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158" y="2186570"/>
            <a:ext cx="581025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F206-79D1-EA48-DAA2-E477687D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E10DE5B-981F-A7DC-4F20-ED90780B0BEC}"/>
              </a:ext>
            </a:extLst>
          </p:cNvPr>
          <p:cNvSpPr txBox="1"/>
          <p:nvPr/>
        </p:nvSpPr>
        <p:spPr>
          <a:xfrm>
            <a:off x="914400" y="-38100"/>
            <a:ext cx="13677900" cy="1018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200" b="1" i="1" dirty="0">
                <a:solidFill>
                  <a:srgbClr val="0F4662"/>
                </a:solidFill>
                <a:latin typeface="Cormorant Garamond Bold Italics"/>
              </a:rPr>
              <a:t>Past Five-year Trend of Pair Stock Prices vs. Index</a:t>
            </a:r>
            <a:endParaRPr lang="en-US" sz="42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505040E-2216-E24C-5C74-71CDBB9F6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292" y="17768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01627CB-BA62-DE63-FF9E-31F25A323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0" y="177685"/>
            <a:ext cx="1104169" cy="11681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57BE1C0-AEA3-86D7-102B-A80C592ED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8100"/>
            <a:ext cx="9073643" cy="4494321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6672A573-86CC-4D2C-B6AE-C28E2A93A92A}"/>
              </a:ext>
            </a:extLst>
          </p:cNvPr>
          <p:cNvGrpSpPr/>
          <p:nvPr/>
        </p:nvGrpSpPr>
        <p:grpSpPr>
          <a:xfrm>
            <a:off x="9753600" y="4381500"/>
            <a:ext cx="7924800" cy="3435524"/>
            <a:chOff x="10210800" y="4298776"/>
            <a:chExt cx="7630593" cy="3245024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B67198DF-D1A4-4F82-AD99-BE91E7F32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22653" y="4343213"/>
              <a:ext cx="1448949" cy="639153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053E5F95-D0F3-7E32-D7E1-5B795E79A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99583" y="4298776"/>
              <a:ext cx="1482309" cy="699682"/>
            </a:xfrm>
            <a:prstGeom prst="rect">
              <a:avLst/>
            </a:prstGeom>
          </p:spPr>
        </p:pic>
        <p:sp>
          <p:nvSpPr>
            <p:cNvPr id="26" name="TextBox 2">
              <a:extLst>
                <a:ext uri="{FF2B5EF4-FFF2-40B4-BE49-F238E27FC236}">
                  <a16:creationId xmlns:a16="http://schemas.microsoft.com/office/drawing/2014/main" id="{EB436348-4F32-C4B7-75E2-46B9FCF81BB9}"/>
                </a:ext>
              </a:extLst>
            </p:cNvPr>
            <p:cNvSpPr txBox="1"/>
            <p:nvPr/>
          </p:nvSpPr>
          <p:spPr>
            <a:xfrm>
              <a:off x="15707793" y="4349747"/>
              <a:ext cx="2133600" cy="4469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9"/>
                </a:lnSpc>
              </a:pPr>
              <a:r>
                <a:rPr lang="en-US" dirty="0">
                  <a:solidFill>
                    <a:srgbClr val="0F4662"/>
                  </a:solidFill>
                  <a:latin typeface="Arial" panose="020B0604020202020204" pitchFamily="34" charset="0"/>
                  <a:ea typeface="Quicksand"/>
                  <a:cs typeface="Arial" panose="020B0604020202020204" pitchFamily="34" charset="0"/>
                  <a:sym typeface="Quicksand"/>
                </a:rPr>
                <a:t>5-yr Growth %</a:t>
              </a: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8F4DA08C-EF3A-261E-517A-CCDAB028A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11865" y="5067187"/>
              <a:ext cx="1387758" cy="2476613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806C9DD1-E135-54E7-25DD-021891ADC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586986" y="5130800"/>
              <a:ext cx="1152738" cy="2411232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9D22CCA4-0A4D-B951-0AEC-D1EC1B02E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10800" y="5080000"/>
              <a:ext cx="2117802" cy="2462337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567DF6F8-0AD2-E0C3-0636-836600ECC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328602" y="5156200"/>
              <a:ext cx="1143000" cy="2347889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480E4108-6275-54AB-93BE-042693241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054087" y="5079822"/>
              <a:ext cx="1441013" cy="2425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4227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E6272-179E-3BF4-DB5C-D3038A9A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EDD096E-CF9A-D6C4-D9F8-EF8AAABE676C}"/>
                  </a:ext>
                </a:extLst>
              </p:cNvPr>
              <p:cNvSpPr txBox="1"/>
              <p:nvPr/>
            </p:nvSpPr>
            <p:spPr>
              <a:xfrm>
                <a:off x="838200" y="-38100"/>
                <a:ext cx="14325600" cy="10114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8959"/>
                  </a:lnSpc>
                  <a:spcBef>
                    <a:spcPct val="0"/>
                  </a:spcBef>
                </a:pPr>
                <a:r>
                  <a:rPr lang="en-US" altLang="zh-CN" sz="4000" b="1" i="1" dirty="0">
                    <a:solidFill>
                      <a:srgbClr val="0F4662"/>
                    </a:solidFill>
                    <a:latin typeface="Cormorant Garamond Bold Italics" panose="02010600030101010101" charset="0"/>
                  </a:rPr>
                  <a:t>Quantitative</a:t>
                </a:r>
                <a:r>
                  <a:rPr lang="en-US" altLang="zh-CN" sz="4000" b="1" i="1" dirty="0">
                    <a:solidFill>
                      <a:srgbClr val="0F4662"/>
                    </a:solidFill>
                    <a:latin typeface="Cormorant Garamond Bold Italics"/>
                  </a:rPr>
                  <a:t> Analysis</a:t>
                </a:r>
                <a:r>
                  <a:rPr lang="en-US" altLang="zh-CN" sz="2000" b="1" i="1" dirty="0">
                    <a:solidFill>
                      <a:srgbClr val="0F4662"/>
                    </a:solidFill>
                    <a:latin typeface="Cormorant Garamond Bold Italics"/>
                  </a:rPr>
                  <a:t>: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1" i="1" dirty="0" smtClean="0">
                        <a:solidFill>
                          <a:srgbClr val="0F4662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zh-CN" altLang="en-US" sz="2000" b="1" i="1" dirty="0" smtClean="0">
                        <a:solidFill>
                          <a:srgbClr val="0F4662"/>
                        </a:solidFill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altLang="zh-CN" sz="2000" b="1" i="1" dirty="0">
                    <a:solidFill>
                      <a:srgbClr val="0F4662"/>
                    </a:solidFill>
                    <a:latin typeface="Cormorant Garamond Bold Italics"/>
                  </a:rPr>
                  <a:t>prices to stabilizes variance, convert to returns, ensure stationarity, handle multiplicative effects</a:t>
                </a:r>
                <a:endParaRPr lang="en-US" sz="2000" b="1" i="1" dirty="0">
                  <a:solidFill>
                    <a:srgbClr val="0F4662"/>
                  </a:solidFill>
                  <a:latin typeface="Cormorant Garamond Bold Italics"/>
                  <a:sym typeface="Cormorant Garamond Bold Italics"/>
                </a:endParaRPr>
              </a:p>
            </p:txBody>
          </p:sp>
        </mc:Choice>
        <mc:Fallback xmlns=""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EDD096E-CF9A-D6C4-D9F8-EF8AAABE6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-38100"/>
                <a:ext cx="14325600" cy="1011495"/>
              </a:xfrm>
              <a:prstGeom prst="rect">
                <a:avLst/>
              </a:prstGeom>
              <a:blipFill>
                <a:blip r:embed="rId2"/>
                <a:stretch>
                  <a:fillRect l="-2170" b="-29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9F1E65E3-D5AA-4C65-AA63-9FF252C13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9292" y="1475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66D30D4-A082-5151-1FED-D1A73C1B9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147595"/>
            <a:ext cx="1104169" cy="116817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F8D7A4C-38C9-9059-FFBE-F3D8CF7A9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92" y="1298037"/>
            <a:ext cx="5544008" cy="898896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9DFD746-CAFE-8158-4FEC-50DFD5B40B0F}"/>
              </a:ext>
            </a:extLst>
          </p:cNvPr>
          <p:cNvSpPr txBox="1"/>
          <p:nvPr/>
        </p:nvSpPr>
        <p:spPr>
          <a:xfrm>
            <a:off x="7353878" y="1235290"/>
            <a:ext cx="3276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F4662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Mathematical Explanation</a:t>
            </a:r>
            <a:endParaRPr lang="zh-CN" altLang="en-US" sz="1600" b="1" dirty="0">
              <a:solidFill>
                <a:srgbClr val="0F4662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5AF973-2473-29DE-F56C-30CEB01A6577}"/>
              </a:ext>
            </a:extLst>
          </p:cNvPr>
          <p:cNvSpPr txBox="1"/>
          <p:nvPr/>
        </p:nvSpPr>
        <p:spPr>
          <a:xfrm>
            <a:off x="13971557" y="1235290"/>
            <a:ext cx="23427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0F4662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Realistic Meaning</a:t>
            </a:r>
            <a:endParaRPr lang="zh-CN" altLang="en-US" sz="1600" b="1" dirty="0">
              <a:solidFill>
                <a:srgbClr val="0F4662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4F3CDB-1C54-848A-053C-377B1D0E951D}"/>
                  </a:ext>
                </a:extLst>
              </p:cNvPr>
              <p:cNvSpPr txBox="1"/>
              <p:nvPr/>
            </p:nvSpPr>
            <p:spPr>
              <a:xfrm>
                <a:off x="6681413" y="1884422"/>
                <a:ext cx="4621530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hedge ratio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is computed using OLS regression on the log prices of BYD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and Tesla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):</a:t>
                </a:r>
                <a:endParaRPr lang="en-US" altLang="zh-CN" sz="1400" i="1" dirty="0">
                  <a:solidFill>
                    <a:schemeClr val="accent5">
                      <a:lumMod val="50000"/>
                    </a:schemeClr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1400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altLang="zh-CN" sz="1400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1400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400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1400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4F3CDB-1C54-848A-053C-377B1D0E9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413" y="1884422"/>
                <a:ext cx="4621530" cy="738664"/>
              </a:xfrm>
              <a:prstGeom prst="rect">
                <a:avLst/>
              </a:prstGeom>
              <a:blipFill>
                <a:blip r:embed="rId6"/>
                <a:stretch>
                  <a:fillRect t="-1653" b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0388E9E-CC9F-CA23-3CE4-E68BDD2F3DDB}"/>
                  </a:ext>
                </a:extLst>
              </p:cNvPr>
              <p:cNvSpPr txBox="1"/>
              <p:nvPr/>
            </p:nvSpPr>
            <p:spPr>
              <a:xfrm>
                <a:off x="13187572" y="1685607"/>
                <a:ext cx="4006074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0.897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indicates that for a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change in Tesla's log price, BYD's log price changes by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0.897%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spread is then: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0388E9E-CC9F-CA23-3CE4-E68BDD2F3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7572" y="1685607"/>
                <a:ext cx="4006074" cy="738664"/>
              </a:xfrm>
              <a:prstGeom prst="rect">
                <a:avLst/>
              </a:prstGeom>
              <a:blipFill>
                <a:blip r:embed="rId7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A21F4ED-E098-0F18-7ECB-34334A500ED0}"/>
                  </a:ext>
                </a:extLst>
              </p:cNvPr>
              <p:cNvSpPr txBox="1"/>
              <p:nvPr/>
            </p:nvSpPr>
            <p:spPr>
              <a:xfrm>
                <a:off x="6326891" y="2849252"/>
                <a:ext cx="5320665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For two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(BYD)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(Tesla), cointegration implies there exists a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such that the spread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sSub>
                      <m:sSubPr>
                        <m:ctrlP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is stationary. The CADF test regresses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(hedge ratio) and tests the stationarity of the residuals.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A21F4ED-E098-0F18-7ECB-34334A500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891" y="2849252"/>
                <a:ext cx="5320665" cy="738664"/>
              </a:xfrm>
              <a:prstGeom prst="rect">
                <a:avLst/>
              </a:prstGeom>
              <a:blipFill>
                <a:blip r:embed="rId8"/>
                <a:stretch>
                  <a:fillRect t="-820" b="-7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5BBFDCB-6A80-D61A-D415-8E354DFBECA6}"/>
                  </a:ext>
                </a:extLst>
              </p:cNvPr>
              <p:cNvSpPr txBox="1"/>
              <p:nvPr/>
            </p:nvSpPr>
            <p:spPr>
              <a:xfrm>
                <a:off x="12605526" y="2633808"/>
                <a:ext cx="5074826" cy="116955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test statistic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−3.273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is more negative than the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critical value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−2.862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but less negative than the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critical value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−3.339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). The p-value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0.0585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is slightly above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suggesting that it’s moderate evidence of cointegration between BYD and Tesla, meaning their prices have a stable long-term relationship, which is a prerequisite for pairs trading.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5BBFDCB-6A80-D61A-D415-8E354DFBE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5526" y="2633808"/>
                <a:ext cx="5074826" cy="1169551"/>
              </a:xfrm>
              <a:prstGeom prst="rect">
                <a:avLst/>
              </a:prstGeom>
              <a:blipFill>
                <a:blip r:embed="rId9"/>
                <a:stretch>
                  <a:fillRect l="-361" t="-1042" r="-1202"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991A0C8-4D0C-0E33-8722-8E142FCE16A2}"/>
                  </a:ext>
                </a:extLst>
              </p:cNvPr>
              <p:cNvSpPr txBox="1"/>
              <p:nvPr/>
            </p:nvSpPr>
            <p:spPr>
              <a:xfrm>
                <a:off x="6455549" y="4129611"/>
                <a:ext cx="5063346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Applied to the spread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this tests for stationarity. A stationary spread (p-value &lt;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suggests mean-reverting behavior, crucial for pairs trading. The test statistic is compared to critical values.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991A0C8-4D0C-0E33-8722-8E142FCE1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549" y="4129611"/>
                <a:ext cx="5063346" cy="738664"/>
              </a:xfrm>
              <a:prstGeom prst="rect">
                <a:avLst/>
              </a:prstGeom>
              <a:blipFill>
                <a:blip r:embed="rId10"/>
                <a:stretch>
                  <a:fillRect t="-820" b="-7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4E4689B-179E-CC01-EDA3-B0167546C79E}"/>
                  </a:ext>
                </a:extLst>
              </p:cNvPr>
              <p:cNvSpPr txBox="1"/>
              <p:nvPr/>
            </p:nvSpPr>
            <p:spPr>
              <a:xfrm>
                <a:off x="12727446" y="4094427"/>
                <a:ext cx="4926330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ADF test on the spread (statistic =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−3.270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p-value =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0.0163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indicates the spread is stationary at the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level (critical value =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−2.863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), confirming mean-reverting behavior suitable for pairs trading.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4E4689B-179E-CC01-EDA3-B0167546C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7446" y="4094427"/>
                <a:ext cx="4926330" cy="738664"/>
              </a:xfrm>
              <a:prstGeom prst="rect">
                <a:avLst/>
              </a:prstGeom>
              <a:blipFill>
                <a:blip r:embed="rId11"/>
                <a:stretch>
                  <a:fillRect t="-1653" r="-866" b="-7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1DC92DD-5EFD-ADA7-B863-2C63EB703AB4}"/>
                  </a:ext>
                </a:extLst>
              </p:cNvPr>
              <p:cNvSpPr txBox="1"/>
              <p:nvPr/>
            </p:nvSpPr>
            <p:spPr>
              <a:xfrm>
                <a:off x="6121200" y="5509893"/>
                <a:ext cx="5732043" cy="8163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zh-CN" sz="1400" b="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∑</m:t>
                          </m:r>
                          <m:d>
                            <m:dPr>
                              <m:ctrlPr>
                                <a:rPr lang="en-US" altLang="zh-CN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1400" b="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CN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40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140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400" i="1" smtClean="0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400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altLang="zh-CN" sz="1400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400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400" i="1">
                                  <a:solidFill>
                                    <a:schemeClr val="accent5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US" altLang="zh-CN" sz="1400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4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solidFill>
                                            <a:schemeClr val="accent5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1400" i="1">
                                              <a:solidFill>
                                                <a:schemeClr val="accent5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400" i="1">
                                      <a:solidFill>
                                        <a:schemeClr val="accent5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Pearson Correlation measures the linear relationship between the two stocks’ log prices.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1DC92DD-5EFD-ADA7-B863-2C63EB703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00" y="5509893"/>
                <a:ext cx="5732043" cy="816314"/>
              </a:xfrm>
              <a:prstGeom prst="rect">
                <a:avLst/>
              </a:prstGeom>
              <a:blipFill>
                <a:blip r:embed="rId12"/>
                <a:stretch>
                  <a:fillRect l="-532" r="-638" b="-5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1909292-F290-0F52-9844-948887B784E0}"/>
                  </a:ext>
                </a:extLst>
              </p:cNvPr>
              <p:cNvSpPr txBox="1"/>
              <p:nvPr/>
            </p:nvSpPr>
            <p:spPr>
              <a:xfrm>
                <a:off x="6267119" y="7160922"/>
                <a:ext cx="5440206" cy="95410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Hurst Exponent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measures the degree of long-term memory in a time series: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400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&lt; 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Mean-reverting series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Random walk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&gt; 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Trending series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1909292-F290-0F52-9844-948887B78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119" y="7160922"/>
                <a:ext cx="5440206" cy="954107"/>
              </a:xfrm>
              <a:prstGeom prst="rect">
                <a:avLst/>
              </a:prstGeom>
              <a:blipFill>
                <a:blip r:embed="rId13"/>
                <a:stretch>
                  <a:fillRect t="-1282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25D964-BED0-BC5B-31BA-349E8CF6FF6F}"/>
                  </a:ext>
                </a:extLst>
              </p:cNvPr>
              <p:cNvSpPr txBox="1"/>
              <p:nvPr/>
            </p:nvSpPr>
            <p:spPr>
              <a:xfrm>
                <a:off x="6334698" y="8227317"/>
                <a:ext cx="5305048" cy="84420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Half-Life of Mean Reversion measures how quickly the spread reverts to its mean. It’s derived from an OLS regression of the spread’s first difference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i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1400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on its lagged value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i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altLang="zh-CN" sz="1400" i="1" dirty="0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 dirty="0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400" i="1" dirty="0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140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h𝑎𝑙𝑓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𝑙𝑖𝑓𝑒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140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40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altLang="zh-CN" sz="1400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US" altLang="zh-CN" sz="140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25D964-BED0-BC5B-31BA-349E8CF6F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698" y="8227317"/>
                <a:ext cx="5305048" cy="844205"/>
              </a:xfrm>
              <a:prstGeom prst="rect">
                <a:avLst/>
              </a:prstGeom>
              <a:blipFill>
                <a:blip r:embed="rId14"/>
                <a:stretch>
                  <a:fillRect l="-115" t="-1449" r="-115" b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0CD2C0D-E48C-9303-861C-7BC08510CB95}"/>
                  </a:ext>
                </a:extLst>
              </p:cNvPr>
              <p:cNvSpPr txBox="1"/>
              <p:nvPr/>
            </p:nvSpPr>
            <p:spPr>
              <a:xfrm>
                <a:off x="12879846" y="5372100"/>
                <a:ext cx="4621530" cy="95410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high correlation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0.806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between BYD and Tesla’s log prices indicates that the two stocks move together closely, which is expected for a cointegrated pair. This supports the rationale for pairs trading, as the spread captures deviations from this relationship.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0CD2C0D-E48C-9303-861C-7BC08510C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9846" y="5372100"/>
                <a:ext cx="4621530" cy="954107"/>
              </a:xfrm>
              <a:prstGeom prst="rect">
                <a:avLst/>
              </a:prstGeom>
              <a:blipFill>
                <a:blip r:embed="rId15"/>
                <a:stretch>
                  <a:fillRect t="-637" r="-923" b="-5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551F712-D886-2F0F-21D5-2C6AFFA35BEF}"/>
                  </a:ext>
                </a:extLst>
              </p:cNvPr>
              <p:cNvSpPr txBox="1"/>
              <p:nvPr/>
            </p:nvSpPr>
            <p:spPr>
              <a:xfrm>
                <a:off x="12418607" y="7376365"/>
                <a:ext cx="5544008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Hurst Exponent 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0.426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is less than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indicating that the spread is mean-reverting (as opposed to trending, where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&gt; 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). A value below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confirms that the spread has a tendency to revert to its mean, which is ideal for pairs trading.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551F712-D886-2F0F-21D5-2C6AFFA35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8607" y="7376365"/>
                <a:ext cx="5544008" cy="738664"/>
              </a:xfrm>
              <a:prstGeom prst="rect">
                <a:avLst/>
              </a:prstGeom>
              <a:blipFill>
                <a:blip r:embed="rId16"/>
                <a:stretch>
                  <a:fillRect l="-549" t="-1653" r="-549" b="-8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BB2CA6-C189-8AA8-B128-47E64BF09DA5}"/>
                  </a:ext>
                </a:extLst>
              </p:cNvPr>
              <p:cNvSpPr txBox="1"/>
              <p:nvPr/>
            </p:nvSpPr>
            <p:spPr>
              <a:xfrm>
                <a:off x="12879846" y="6481018"/>
                <a:ext cx="4621530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spread crosses its mean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75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times over the period, indicating frequent mean reversion. This is a positive sign for pairs trading, as it suggests the spread oscillates around the mean regularly.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BB2CA6-C189-8AA8-B128-47E64BF09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9846" y="6481018"/>
                <a:ext cx="4621530" cy="738664"/>
              </a:xfrm>
              <a:prstGeom prst="rect">
                <a:avLst/>
              </a:prstGeom>
              <a:blipFill>
                <a:blip r:embed="rId17"/>
                <a:stretch>
                  <a:fillRect t="-1653" b="-8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32CFDCC-4154-7443-343E-D32398153B59}"/>
                  </a:ext>
                </a:extLst>
              </p:cNvPr>
              <p:cNvSpPr txBox="1"/>
              <p:nvPr/>
            </p:nvSpPr>
            <p:spPr>
              <a:xfrm>
                <a:off x="12822609" y="8194576"/>
                <a:ext cx="4736003" cy="95410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half-life of mean reversion is the time it takes for the spread to revert halfway back to its mean after a deviation. A half-life of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51.6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days suggests that the mean reversion process is relatively slow, which may require a longer holding period for trades to become profitable.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32CFDCC-4154-7443-343E-D32398153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2609" y="8194576"/>
                <a:ext cx="4736003" cy="954107"/>
              </a:xfrm>
              <a:prstGeom prst="rect">
                <a:avLst/>
              </a:prstGeom>
              <a:blipFill>
                <a:blip r:embed="rId18"/>
                <a:stretch>
                  <a:fillRect t="-637" r="-644" b="-5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F54F00D-3236-51FD-BADA-9E0C8B4799DE}"/>
                  </a:ext>
                </a:extLst>
              </p:cNvPr>
              <p:cNvSpPr txBox="1"/>
              <p:nvPr/>
            </p:nvSpPr>
            <p:spPr>
              <a:xfrm>
                <a:off x="12822608" y="9248452"/>
                <a:ext cx="4736003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spread is within the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band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96%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of the time, which is close to the expected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95%</m:t>
                    </m:r>
                  </m:oMath>
                </a14:m>
                <a:r>
                  <a:rPr lang="en-US" altLang="zh-CN" sz="1400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under a normal distribution. This further supports the stationarity of the spread and its suitability for pairs trading.</a:t>
                </a:r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F54F00D-3236-51FD-BADA-9E0C8B479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2608" y="9248452"/>
                <a:ext cx="4736003" cy="738664"/>
              </a:xfrm>
              <a:prstGeom prst="rect">
                <a:avLst/>
              </a:prstGeom>
              <a:blipFill>
                <a:blip r:embed="rId19"/>
                <a:stretch>
                  <a:fillRect l="-129" t="-1653" r="-772" b="-8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49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FACB-65B9-B6F8-B333-52D6E0F0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D177DEC-2451-3093-97E4-A13316CA5B31}"/>
              </a:ext>
            </a:extLst>
          </p:cNvPr>
          <p:cNvSpPr txBox="1"/>
          <p:nvPr/>
        </p:nvSpPr>
        <p:spPr>
          <a:xfrm>
            <a:off x="838200" y="-38100"/>
            <a:ext cx="13677900" cy="2165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95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i="1" dirty="0">
                <a:solidFill>
                  <a:srgbClr val="0F4662"/>
                </a:solidFill>
                <a:latin typeface="Cormorant Garamond Bold Italics" panose="02010600030101010101" charset="0"/>
              </a:rPr>
              <a:t>Quantitative</a:t>
            </a:r>
            <a:r>
              <a:rPr lang="en-US" altLang="zh-CN" sz="4000" b="1" i="1" dirty="0">
                <a:solidFill>
                  <a:srgbClr val="0F4662"/>
                </a:solidFill>
                <a:latin typeface="Cormorant Garamond Bold Italics"/>
              </a:rPr>
              <a:t> Analysis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F4662"/>
                </a:solidFill>
                <a:effectLst/>
                <a:uLnTx/>
                <a:uFillTx/>
                <a:latin typeface="Cormorant Garamond Bold Italics"/>
                <a:ea typeface="宋体" panose="02010600030101010101" pitchFamily="2" charset="-122"/>
                <a:cs typeface="+mn-cs"/>
              </a:rPr>
              <a:t>: ARIMA Model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rgbClr val="0F4662"/>
              </a:solidFill>
              <a:effectLst/>
              <a:uLnTx/>
              <a:uFillTx/>
              <a:latin typeface="Cormorant Garamond Bold Italics"/>
              <a:ea typeface="+mn-ea"/>
              <a:cs typeface="+mn-cs"/>
              <a:sym typeface="Cormorant Garamond Bold Italics"/>
            </a:endParaRPr>
          </a:p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endParaRPr lang="en-US" sz="40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004E0EE-EFA6-6F20-C779-22C63DC86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292" y="1475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25755A-A78C-B0B6-6CA7-AFC6E705E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0" y="147595"/>
            <a:ext cx="1104169" cy="11681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ACC8CD9-0D30-1D10-1BEF-95CD8893C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641" y="1139977"/>
            <a:ext cx="5416917" cy="35991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2E72B7-40C0-3DB6-5DE9-CAD1E1664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2946" y="1137433"/>
            <a:ext cx="6717934" cy="35991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E27A5E1-BACB-BB9D-7A72-FB8746A5E6F2}"/>
                  </a:ext>
                </a:extLst>
              </p:cNvPr>
              <p:cNvSpPr txBox="1"/>
              <p:nvPr/>
            </p:nvSpPr>
            <p:spPr>
              <a:xfrm>
                <a:off x="1447799" y="4762500"/>
                <a:ext cx="6324600" cy="138454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Autocorrelation</a:t>
                </a:r>
                <a:r>
                  <a:rPr lang="en-US" altLang="zh-CN" i="1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i="1" dirty="0">
                    <a:solidFill>
                      <a:schemeClr val="accent5">
                        <a:lumMod val="50000"/>
                      </a:schemeClr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b="0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𝑉𝑎𝑟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accent5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zh-CN" i="1" dirty="0">
                  <a:solidFill>
                    <a:schemeClr val="accent5">
                      <a:lumMod val="50000"/>
                    </a:schemeClr>
                  </a:solidFill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Measures how the spread at time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correlates with its value at time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Partial Autocorrelation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Measures the correlation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after removing the effects of all lags less than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.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E27A5E1-BACB-BB9D-7A72-FB8746A5E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799" y="4762500"/>
                <a:ext cx="6324600" cy="1384546"/>
              </a:xfrm>
              <a:prstGeom prst="rect">
                <a:avLst/>
              </a:prstGeom>
              <a:blipFill>
                <a:blip r:embed="rId6"/>
                <a:stretch>
                  <a:fillRect l="-771" r="-2408" b="-4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BF9FC76-7B1E-66AE-04F4-1D841C017BAD}"/>
                  </a:ext>
                </a:extLst>
              </p:cNvPr>
              <p:cNvSpPr txBox="1"/>
              <p:nvPr/>
            </p:nvSpPr>
            <p:spPr>
              <a:xfrm>
                <a:off x="8992813" y="5134224"/>
                <a:ext cx="8458200" cy="266085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ARIMA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Model: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ARIMA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stands for Autoregressive Integrated Moving Average.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Order of the autoregressive (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AR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part: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⋯+ </m:t>
                    </m:r>
                    <m:sSub>
                      <m:sSubPr>
                        <m:ctrlPr>
                          <a:rPr lang="en-US" altLang="zh-CN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Degree of differencing to make the series stationary.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Order of the moving average (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MA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part: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⋯+ </m:t>
                    </m:r>
                    <m:sSub>
                      <m:sSubPr>
                        <m:ctrlPr>
                          <a:rPr lang="en-US" altLang="zh-CN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 err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full model 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⋯+ </m:t>
                    </m:r>
                    <m:sSub>
                      <m:sSubPr>
                        <m:ctrlP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⋯+ </m:t>
                    </m:r>
                    <m:sSub>
                      <m:sSubPr>
                        <m:ctrlP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 dirty="0" err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AIC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𝐴𝐼𝐶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2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− 2</m:t>
                    </m:r>
                    <m:r>
                      <m:rPr>
                        <m:sty m:val="p"/>
                      </m:rP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ln</m:t>
                    </m:r>
                    <m:d>
                      <m:d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is the number of parameters,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is the likelihood of the model.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Lower AIC indicates a better model.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BF9FC76-7B1E-66AE-04F4-1D841C017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2813" y="5134224"/>
                <a:ext cx="8458200" cy="2660857"/>
              </a:xfrm>
              <a:prstGeom prst="rect">
                <a:avLst/>
              </a:prstGeom>
              <a:blipFill>
                <a:blip r:embed="rId7"/>
                <a:stretch>
                  <a:fillRect l="-432" t="-1144" b="-2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45D5B2C-A9D1-B101-889A-5098573E272D}"/>
                  </a:ext>
                </a:extLst>
              </p:cNvPr>
              <p:cNvSpPr txBox="1"/>
              <p:nvPr/>
            </p:nvSpPr>
            <p:spPr>
              <a:xfrm>
                <a:off x="835914" y="6170440"/>
                <a:ext cx="3657600" cy="34163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ACF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plot shows a significant spike at lag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(close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1.0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), followed by a gradual decay as the lags increase. </a:t>
                </a:r>
              </a:p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By lag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40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the autocorrelation is near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This indicates that the spread exhibits strong serial correlation at short lags, which is typical for a mean-reverting process. The slow decay suggests persistence in the spread, but it eventually diminishes, supporting the idea of mean reversion over longer periods.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45D5B2C-A9D1-B101-889A-5098573E2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14" y="6170440"/>
                <a:ext cx="3657600" cy="3416320"/>
              </a:xfrm>
              <a:prstGeom prst="rect">
                <a:avLst/>
              </a:prstGeom>
              <a:blipFill>
                <a:blip r:embed="rId8"/>
                <a:stretch>
                  <a:fillRect l="-1333" t="-891" r="-2833" b="-1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8B33502-3F30-3BE1-6F61-A224B828711A}"/>
                  </a:ext>
                </a:extLst>
              </p:cNvPr>
              <p:cNvSpPr txBox="1"/>
              <p:nvPr/>
            </p:nvSpPr>
            <p:spPr>
              <a:xfrm>
                <a:off x="4724400" y="6170440"/>
                <a:ext cx="3657600" cy="34163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PACF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plot shows a significant spike at lag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(around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0.9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and a smaller spike at lag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(around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). After lag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the values drop close to zero and remain within the confidence interval.</a:t>
                </a:r>
              </a:p>
              <a:p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significant spike at lag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and the near-zero values after lag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suggest that an AR(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or AR(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model might be appropriate for the spread. This informs the 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ARIMA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model selection, where the autoregressive order 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is likely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8B33502-3F30-3BE1-6F61-A224B8287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6170440"/>
                <a:ext cx="3657600" cy="3416320"/>
              </a:xfrm>
              <a:prstGeom prst="rect">
                <a:avLst/>
              </a:prstGeom>
              <a:blipFill>
                <a:blip r:embed="rId9"/>
                <a:stretch>
                  <a:fillRect l="-1333" t="-891" r="-1500"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DA22F83-BBC7-FD28-806B-1D2B0B1CE1E4}"/>
                  </a:ext>
                </a:extLst>
              </p:cNvPr>
              <p:cNvSpPr txBox="1"/>
              <p:nvPr/>
            </p:nvSpPr>
            <p:spPr>
              <a:xfrm>
                <a:off x="1370387" y="9623905"/>
                <a:ext cx="6477001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ACF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PACF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plots confirm that the spread has a mean-reverting nature with a strong AR(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component, which is promising for pairs trading.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DA22F83-BBC7-FD28-806B-1D2B0B1CE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387" y="9623905"/>
                <a:ext cx="6477001" cy="646331"/>
              </a:xfrm>
              <a:prstGeom prst="rect">
                <a:avLst/>
              </a:prstGeom>
              <a:blipFill>
                <a:blip r:embed="rId10"/>
                <a:stretch>
                  <a:fillRect l="-847" t="-4717" r="-1412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BC6460E-BE6F-A9E4-206C-E236EDC1409E}"/>
                  </a:ext>
                </a:extLst>
              </p:cNvPr>
              <p:cNvSpPr txBox="1"/>
              <p:nvPr/>
            </p:nvSpPr>
            <p:spPr>
              <a:xfrm>
                <a:off x="9526213" y="8192744"/>
                <a:ext cx="7391400" cy="175432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ARIMA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model fails to capture the sharp dip and recovery in the actual spread. It predicts a smoother downward trend, missing the volatility observed in the actual data.</a:t>
                </a:r>
              </a:p>
              <a:p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ARIMA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5,0,3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model provides a reasonable fit (as indicated by the low AIC/BIC), but it struggles to predict short-term volatility in the spread. This suggests that the model can capture the general trend.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7BC6460E-BE6F-A9E4-206C-E236EDC14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213" y="8192744"/>
                <a:ext cx="7391400" cy="1754326"/>
              </a:xfrm>
              <a:prstGeom prst="rect">
                <a:avLst/>
              </a:prstGeom>
              <a:blipFill>
                <a:blip r:embed="rId11"/>
                <a:stretch>
                  <a:fillRect l="-743" t="-2083" r="-908" b="-4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60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670C-81F3-2834-DB52-88A667FE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A2B637F-86FE-5A9B-0AD9-8CFCF4E2B162}"/>
              </a:ext>
            </a:extLst>
          </p:cNvPr>
          <p:cNvSpPr txBox="1"/>
          <p:nvPr/>
        </p:nvSpPr>
        <p:spPr>
          <a:xfrm>
            <a:off x="838200" y="-38100"/>
            <a:ext cx="13677900" cy="1011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i="1" dirty="0">
                <a:solidFill>
                  <a:srgbClr val="0F4662"/>
                </a:solidFill>
                <a:latin typeface="Cormorant Garamond Bold Italics" panose="02010600030101010101" charset="0"/>
              </a:rPr>
              <a:t>Quantitative</a:t>
            </a:r>
            <a:r>
              <a:rPr lang="en-US" altLang="zh-CN" sz="4000" b="1" i="1" dirty="0">
                <a:solidFill>
                  <a:srgbClr val="0F4662"/>
                </a:solidFill>
                <a:latin typeface="Cormorant Garamond Bold Italics"/>
              </a:rPr>
              <a:t> Analysis</a:t>
            </a:r>
            <a:r>
              <a:rPr lang="en-US" altLang="zh-CN" sz="2400" b="1" i="1" dirty="0">
                <a:solidFill>
                  <a:srgbClr val="0F4662"/>
                </a:solidFill>
                <a:latin typeface="Cormorant Garamond Bold Italics"/>
              </a:rPr>
              <a:t>: Spread Analysis </a:t>
            </a:r>
            <a:r>
              <a:rPr lang="en-US" altLang="zh-CN" sz="2400" i="1" dirty="0">
                <a:solidFill>
                  <a:srgbClr val="0F46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altLang="zh-CN" sz="2400" b="1" i="1" dirty="0">
                <a:solidFill>
                  <a:srgbClr val="0F4662"/>
                </a:solidFill>
                <a:latin typeface="Cormorant Garamond Bold Italics"/>
              </a:rPr>
              <a:t> Forecast</a:t>
            </a:r>
            <a:endParaRPr lang="en-US" sz="24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DB2571F-BC06-9CCE-002F-0A9C684BB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9292" y="1475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E2D1D55-249F-2A06-AC95-202E7BB2F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147595"/>
            <a:ext cx="1104169" cy="116817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182E040-2CAE-EF92-1853-A332FF3B4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45" y="1105552"/>
            <a:ext cx="8260310" cy="41182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7BEFFC5-208B-86DD-8DE1-392A2ED80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844" y="1104900"/>
            <a:ext cx="6996684" cy="4118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F95B69F-6814-2BD9-518A-3F458A56FCA3}"/>
                  </a:ext>
                </a:extLst>
              </p:cNvPr>
              <p:cNvSpPr txBox="1"/>
              <p:nvPr/>
            </p:nvSpPr>
            <p:spPr>
              <a:xfrm>
                <a:off x="914400" y="5220352"/>
                <a:ext cx="7391400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plot shows the normalized spread between BYD and Tesla from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𝑀𝑎𝑟𝑐h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31, 2020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𝐴𝑝𝑟𝑖𝑙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17, 2025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along with the historical mean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bands.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F95B69F-6814-2BD9-518A-3F458A56F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20352"/>
                <a:ext cx="7391400" cy="646331"/>
              </a:xfrm>
              <a:prstGeom prst="rect">
                <a:avLst/>
              </a:prstGeom>
              <a:blipFill>
                <a:blip r:embed="rId7"/>
                <a:stretch>
                  <a:fillRect l="-660" t="-3774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A1AF872-68AE-3C82-F134-CCBBBB511F4D}"/>
                  </a:ext>
                </a:extLst>
              </p:cNvPr>
              <p:cNvSpPr txBox="1"/>
              <p:nvPr/>
            </p:nvSpPr>
            <p:spPr>
              <a:xfrm>
                <a:off x="381000" y="5951206"/>
                <a:ext cx="8839200" cy="313932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Spread Behavior: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spread fluctuates around the historical mean (around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for most of the period, with notable deviations in mid-2020 (dipping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−1.2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), early 2023 and early 2025 (peaking at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</m:t>
                    </m:r>
                    <m:r>
                      <a:rPr lang="en-US" altLang="zh-CN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spread spends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96.0%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of the time within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historical band (as per the metrics table), which aligns with expectations for a stationary series under a normal distribution.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current value of the spread 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𝐴𝑝𝑟𝑖𝑙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17, 2025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is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0.039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slightly above the historical mean but well within the 2-SD band.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Mean Reversion: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spread exhibits clear mean-reverting behavior, as it repeatedly returns to the historical mean after deviations. For example, after dipping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−1.2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in 2020, it quickly reverts back to the mean, and after peaking in 2023, it declines toward the mean by 2023.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A1AF872-68AE-3C82-F134-CCBBBB511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951206"/>
                <a:ext cx="8839200" cy="3139321"/>
              </a:xfrm>
              <a:prstGeom prst="rect">
                <a:avLst/>
              </a:prstGeom>
              <a:blipFill>
                <a:blip r:embed="rId8"/>
                <a:stretch>
                  <a:fillRect l="-483" t="-971" r="-1724" b="-2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51974B93-127C-6C93-70B9-13ABB17CAC80}"/>
              </a:ext>
            </a:extLst>
          </p:cNvPr>
          <p:cNvSpPr txBox="1"/>
          <p:nvPr/>
        </p:nvSpPr>
        <p:spPr>
          <a:xfrm>
            <a:off x="471735" y="9186672"/>
            <a:ext cx="8657729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F4662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Implication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: The spread’s mean-reverting behavior and high percentage of time within the 2-SD band suggest that it is a good candidate for pairs trading. The current value (above +2σ) is a significant deviations from the mean typically signal entry points and an immediate trading opportunity!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latin typeface="Cormorant Garamond Bold Italics" panose="02010600030101010101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B7428AA-29B1-6E78-DFEF-B09AF65ED8C5}"/>
                  </a:ext>
                </a:extLst>
              </p:cNvPr>
              <p:cNvSpPr txBox="1"/>
              <p:nvPr/>
            </p:nvSpPr>
            <p:spPr>
              <a:xfrm>
                <a:off x="9527171" y="5737077"/>
                <a:ext cx="7694029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plot shows the historical spread with a 30-day forecast starting from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𝐴𝑝𝑟𝑖𝑙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17, 2025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.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B7428AA-29B1-6E78-DFEF-B09AF65ED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7171" y="5737077"/>
                <a:ext cx="7694029" cy="369332"/>
              </a:xfrm>
              <a:prstGeom prst="rect">
                <a:avLst/>
              </a:prstGeom>
              <a:blipFill>
                <a:blip r:embed="rId9"/>
                <a:stretch>
                  <a:fillRect l="-713" t="-6557" r="-1189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E54BA3C-B774-E2D7-99B1-7FD888466B04}"/>
                  </a:ext>
                </a:extLst>
              </p:cNvPr>
              <p:cNvSpPr txBox="1"/>
              <p:nvPr/>
            </p:nvSpPr>
            <p:spPr>
              <a:xfrm>
                <a:off x="10326185" y="6591300"/>
                <a:ext cx="6096000" cy="147732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Forecasted Spread: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forecast (in red) starts at the current value 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0.039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 and trends downward, reaching around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−0.1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by mid-May 2025.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 forecast remains within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band, indicating no extreme deviations are expected in the next 30 days.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E54BA3C-B774-E2D7-99B1-7FD888466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185" y="6591300"/>
                <a:ext cx="6096000" cy="1477328"/>
              </a:xfrm>
              <a:prstGeom prst="rect">
                <a:avLst/>
              </a:prstGeom>
              <a:blipFill>
                <a:blip r:embed="rId10"/>
                <a:stretch>
                  <a:fillRect l="-700" t="-2058" b="-5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C60AEE19-90F2-DE44-ADAE-986668D62A8B}"/>
              </a:ext>
            </a:extLst>
          </p:cNvPr>
          <p:cNvSpPr txBox="1"/>
          <p:nvPr/>
        </p:nvSpPr>
        <p:spPr>
          <a:xfrm>
            <a:off x="10162866" y="8553519"/>
            <a:ext cx="6422638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F4662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Implication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: The forecast predicts a downward trend over the next 30 days (April 18 to May 29, 2025), approaching the historical mean. This suggests a potential opportunity to </a:t>
            </a:r>
            <a:r>
              <a:rPr lang="en-US" altLang="zh-CN" sz="1600" b="1" dirty="0">
                <a:solidFill>
                  <a:srgbClr val="0F4662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short the spread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 (sell BYD, buy Tesla) if it continues to revert based on the ARIMA model!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latin typeface="Cormorant Garamond Bold Italics" panose="02010600030101010101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0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A6E0-1CD6-F8D3-9383-55AF51BD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F168E032-FAFC-A1EA-036B-D5CA02AA4BBF}"/>
              </a:ext>
            </a:extLst>
          </p:cNvPr>
          <p:cNvSpPr txBox="1"/>
          <p:nvPr/>
        </p:nvSpPr>
        <p:spPr>
          <a:xfrm>
            <a:off x="838200" y="-38100"/>
            <a:ext cx="13677900" cy="1011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i="1" dirty="0">
                <a:solidFill>
                  <a:srgbClr val="0F4662"/>
                </a:solidFill>
                <a:latin typeface="Cormorant Garamond Bold Italics" panose="02010600030101010101" charset="0"/>
              </a:rPr>
              <a:t>Quantitative</a:t>
            </a:r>
            <a:r>
              <a:rPr lang="en-US" altLang="zh-CN" sz="4000" b="1" i="1" dirty="0">
                <a:solidFill>
                  <a:srgbClr val="0F4662"/>
                </a:solidFill>
                <a:latin typeface="Cormorant Garamond Bold Italics"/>
              </a:rPr>
              <a:t> Analysis</a:t>
            </a:r>
            <a:r>
              <a:rPr lang="en-US" altLang="zh-CN" sz="2400" b="1" i="1" dirty="0">
                <a:solidFill>
                  <a:srgbClr val="0F4662"/>
                </a:solidFill>
                <a:latin typeface="Cormorant Garamond Bold Italics"/>
              </a:rPr>
              <a:t>: Market (Hang Seng Index) Impact on BYD's Share Price</a:t>
            </a:r>
            <a:endParaRPr lang="en-US" sz="24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1EC843B-B6E1-D657-FF9C-55F7776C4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9292" y="1475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8A1A278-2456-094E-80AE-305081E13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147595"/>
            <a:ext cx="1104169" cy="11681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ECC888E-3278-C2AC-AF6E-C5FAF8C80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62101"/>
            <a:ext cx="7245737" cy="44568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F053BB-EE35-7716-A387-0A21054C3F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1562100"/>
            <a:ext cx="8756737" cy="51768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25F91F1-BBAD-931F-3A39-ED25E3A2A1C0}"/>
                  </a:ext>
                </a:extLst>
              </p:cNvPr>
              <p:cNvSpPr txBox="1"/>
              <p:nvPr/>
            </p:nvSpPr>
            <p:spPr>
              <a:xfrm>
                <a:off x="7419322" y="6868517"/>
                <a:ext cx="1083449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𝐵𝑌𝐷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𝑀𝑘𝑡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𝐵𝐸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𝑀𝐸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𝑓𝑎𝑐𝑡𝑜𝑟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zh-CN" b="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𝑓𝑎𝑐𝑡𝑜𝑟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b="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𝑓𝑎𝑐𝑡𝑜𝑟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b="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𝑌𝑙𝑑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𝑓𝑎𝑐𝑡𝑜𝑟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</m:oMath>
                  </m:oMathPara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25F91F1-BBAD-931F-3A39-ED25E3A2A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322" y="6868517"/>
                <a:ext cx="10834492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B9794B8-8A30-3BEB-6D77-76B62071E968}"/>
                  </a:ext>
                </a:extLst>
              </p:cNvPr>
              <p:cNvSpPr txBox="1"/>
              <p:nvPr/>
            </p:nvSpPr>
            <p:spPr>
              <a:xfrm>
                <a:off x="9712368" y="7559576"/>
                <a:ext cx="6248400" cy="230832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Intercept 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0.0447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(p-value: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0.0246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significant at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5%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level).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Market Factor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0.8304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(p-value: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0.0357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significant).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BYD’s returns are influenced by market movements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Other factors (BE/ME, E/P, CE/P, Yield) have high p-values (&gt;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), indicating they are not statistically significant.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They don’t strongly explain BYD’s returns.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R-squared: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0.1815</m:t>
                    </m:r>
                  </m:oMath>
                </a14:m>
                <a:endParaRPr lang="en-US" altLang="zh-CN" i="1" dirty="0">
                  <a:solidFill>
                    <a:schemeClr val="accent5">
                      <a:lumMod val="50000"/>
                    </a:schemeClr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18.15%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of BYD’s return variance is explained by the model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B9794B8-8A30-3BEB-6D77-76B62071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2368" y="7559576"/>
                <a:ext cx="6248400" cy="2308324"/>
              </a:xfrm>
              <a:prstGeom prst="rect">
                <a:avLst/>
              </a:prstGeom>
              <a:blipFill>
                <a:blip r:embed="rId8"/>
                <a:stretch>
                  <a:fillRect l="-585" t="-1055" r="-1366" b="-3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65926B7-62A8-FCA2-4A83-2EE636E3660A}"/>
                  </a:ext>
                </a:extLst>
              </p:cNvPr>
              <p:cNvSpPr txBox="1"/>
              <p:nvPr/>
            </p:nvSpPr>
            <p:spPr>
              <a:xfrm>
                <a:off x="2493500" y="6868517"/>
                <a:ext cx="302073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𝐵𝑌𝐷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𝑚𝑎𝑟𝑘𝑒𝑡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</m:oMath>
                  </m:oMathPara>
                </a14:m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65926B7-62A8-FCA2-4A83-2EE636E36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500" y="6868517"/>
                <a:ext cx="3020735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87900D9-735B-1A68-A898-B88C5D086A3D}"/>
                  </a:ext>
                </a:extLst>
              </p:cNvPr>
              <p:cNvSpPr txBox="1"/>
              <p:nvPr/>
            </p:nvSpPr>
            <p:spPr>
              <a:xfrm>
                <a:off x="1108267" y="7559576"/>
                <a:ext cx="5791200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0.9969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(p-value: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0.0002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significant)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Close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indicating BYD moves in line with the HSI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R-squared: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0.3538</m:t>
                    </m:r>
                  </m:oMath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CAPM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model captures more of the relationship.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87900D9-735B-1A68-A898-B88C5D086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267" y="7559576"/>
                <a:ext cx="5791200" cy="1200329"/>
              </a:xfrm>
              <a:prstGeom prst="rect">
                <a:avLst/>
              </a:prstGeom>
              <a:blipFill>
                <a:blip r:embed="rId10"/>
                <a:stretch>
                  <a:fillRect l="-737" t="-2030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483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6BEBE-C116-AC80-8313-04F551E5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AF6F037-A34B-105A-0AF6-A4D66D81DFB0}"/>
              </a:ext>
            </a:extLst>
          </p:cNvPr>
          <p:cNvSpPr txBox="1"/>
          <p:nvPr/>
        </p:nvSpPr>
        <p:spPr>
          <a:xfrm>
            <a:off x="838200" y="-38100"/>
            <a:ext cx="13677900" cy="1011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i="1" dirty="0">
                <a:solidFill>
                  <a:srgbClr val="0F4662"/>
                </a:solidFill>
                <a:latin typeface="Cormorant Garamond Bold Italics" panose="02010600030101010101" charset="0"/>
              </a:rPr>
              <a:t>Quantitative</a:t>
            </a:r>
            <a:r>
              <a:rPr lang="en-US" altLang="zh-CN" sz="4000" b="1" i="1" dirty="0">
                <a:solidFill>
                  <a:srgbClr val="0F4662"/>
                </a:solidFill>
                <a:latin typeface="Cormorant Garamond Bold Italics"/>
              </a:rPr>
              <a:t> Analysis</a:t>
            </a:r>
            <a:r>
              <a:rPr lang="en-US" altLang="zh-CN" sz="2400" b="1" i="1" dirty="0">
                <a:solidFill>
                  <a:srgbClr val="0F4662"/>
                </a:solidFill>
                <a:latin typeface="Cormorant Garamond Bold Italics"/>
              </a:rPr>
              <a:t>: Market (Nasdaq) Impact on Tesla's Stock Price</a:t>
            </a:r>
            <a:endParaRPr lang="en-US" sz="24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6E084B6-ED2D-AE5C-86E3-F18AE1088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9292" y="1475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316D58-DEB6-226D-76F7-6D2F568EB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147595"/>
            <a:ext cx="1104169" cy="11681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7FE0D5A-7D8A-8B80-D766-79E89E08387A}"/>
                  </a:ext>
                </a:extLst>
              </p:cNvPr>
              <p:cNvSpPr txBox="1"/>
              <p:nvPr/>
            </p:nvSpPr>
            <p:spPr>
              <a:xfrm>
                <a:off x="8281661" y="6896099"/>
                <a:ext cx="9109814" cy="39158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𝑇𝑒𝑠𝑙𝑎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altLang="zh-CN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 dirty="0" err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𝑀𝑘𝑡</m:t>
                          </m:r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𝑅𝐹</m:t>
                          </m:r>
                        </m:e>
                      </m:d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𝑆𝑀𝐵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𝐻𝑀𝐿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𝑅𝑀𝑊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𝐶𝑀𝐴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</m:oMath>
                  </m:oMathPara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7FE0D5A-7D8A-8B80-D766-79E89E083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661" y="6896099"/>
                <a:ext cx="9109814" cy="391582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7142AEE-1AA7-9389-A1F0-C109F6F9511F}"/>
                  </a:ext>
                </a:extLst>
              </p:cNvPr>
              <p:cNvSpPr txBox="1"/>
              <p:nvPr/>
            </p:nvSpPr>
            <p:spPr>
              <a:xfrm>
                <a:off x="12777216" y="7374312"/>
                <a:ext cx="5486400" cy="28623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Market Excess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2.1850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(p-value: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1.56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−05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Highly significant: showing Tesla’s sensitivity to market movements.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It is more volatile than the market.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Other factors (SMB, HML, RMW, CMA) are not significant (p-values &gt;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They don’t strongly explain BYD’s returns.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R-squared: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0.4995</m:t>
                    </m:r>
                  </m:oMath>
                </a14:m>
                <a:endParaRPr lang="en-US" altLang="zh-CN" i="1" dirty="0">
                  <a:solidFill>
                    <a:schemeClr val="accent5">
                      <a:lumMod val="50000"/>
                    </a:schemeClr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49.95%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of Tesla’s excess return variance is explained.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1600" b="1" dirty="0">
                    <a:solidFill>
                      <a:srgbClr val="0F4662"/>
                    </a:solidFill>
                    <a:latin typeface="Book Antiqua" panose="02040602050305030304" pitchFamily="18" charset="0"/>
                    <a:cs typeface="Times New Roman" panose="02020603050405020304" pitchFamily="18" charset="0"/>
                  </a:rPr>
                  <a:t>APT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model captures more of the relationship.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7142AEE-1AA7-9389-A1F0-C109F6F95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7216" y="7374312"/>
                <a:ext cx="5486400" cy="2862322"/>
              </a:xfrm>
              <a:prstGeom prst="rect">
                <a:avLst/>
              </a:prstGeom>
              <a:blipFill>
                <a:blip r:embed="rId6"/>
                <a:stretch>
                  <a:fillRect l="-667" t="-1066" r="-778" b="-2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DEF1D5AF-65C0-2096-10EC-4E534B3846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1562100"/>
            <a:ext cx="8756737" cy="51768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8C65EDB-0BCB-5D8A-70EC-78EDFF717A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262" y="1562100"/>
            <a:ext cx="7245738" cy="445681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B52552D-D067-CA1F-87B5-98EB7A215AAB}"/>
              </a:ext>
            </a:extLst>
          </p:cNvPr>
          <p:cNvSpPr txBox="1"/>
          <p:nvPr/>
        </p:nvSpPr>
        <p:spPr>
          <a:xfrm>
            <a:off x="7010400" y="7789810"/>
            <a:ext cx="571500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Independent 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Market excess return (Mkt-RF).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Size factor (SMB: Small Minus Big).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Value factor (HML: High Minus Low).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Profitability factor (RMW: Robust Minus Weak).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latin typeface="Cormorant Garamond Bold Italics" panose="02010600030101010101" charset="0"/>
                <a:cs typeface="Times New Roman" panose="02020603050405020304" pitchFamily="18" charset="0"/>
              </a:rPr>
              <a:t>Investment factor (CMA: Conservative Minus Aggressive).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0F57161-4BF1-BBAC-94CC-E7FF7D8E3D8C}"/>
                  </a:ext>
                </a:extLst>
              </p:cNvPr>
              <p:cNvSpPr txBox="1"/>
              <p:nvPr/>
            </p:nvSpPr>
            <p:spPr>
              <a:xfrm>
                <a:off x="2424245" y="6896099"/>
                <a:ext cx="3145772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𝑇𝑒𝑠𝑙𝑎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𝑚𝑎𝑟𝑘𝑒𝑡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altLang="zh-CN" i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</m:oMath>
                  </m:oMathPara>
                </a14:m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0F57161-4BF1-BBAC-94CC-E7FF7D8E3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245" y="6896099"/>
                <a:ext cx="3145772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71C2C53-906B-1493-B2D7-F0BDBCA02660}"/>
                  </a:ext>
                </a:extLst>
              </p:cNvPr>
              <p:cNvSpPr txBox="1"/>
              <p:nvPr/>
            </p:nvSpPr>
            <p:spPr>
              <a:xfrm>
                <a:off x="1101531" y="8205308"/>
                <a:ext cx="5791200" cy="12003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=1.7344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(p-value: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1.40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−213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significant)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Close 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: indicating BYD moves in line with the HSI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R-squared: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0.4106</m:t>
                    </m:r>
                  </m:oMath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1.06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of Tesla’s excess return variance is explained.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71C2C53-906B-1493-B2D7-F0BDBCA02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531" y="8205308"/>
                <a:ext cx="5791200" cy="1200329"/>
              </a:xfrm>
              <a:prstGeom prst="rect">
                <a:avLst/>
              </a:prstGeom>
              <a:blipFill>
                <a:blip r:embed="rId10"/>
                <a:stretch>
                  <a:fillRect l="-737" t="-2030" b="-7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58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9AF0-D68C-9D9A-3F04-2643EAF17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1A69296-2F03-ED1C-556C-FCA009A2FD1F}"/>
              </a:ext>
            </a:extLst>
          </p:cNvPr>
          <p:cNvSpPr txBox="1"/>
          <p:nvPr/>
        </p:nvSpPr>
        <p:spPr>
          <a:xfrm>
            <a:off x="838200" y="-38100"/>
            <a:ext cx="13677900" cy="1011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altLang="zh-CN" sz="4000" b="1" i="1" dirty="0">
                <a:solidFill>
                  <a:srgbClr val="0F4662"/>
                </a:solidFill>
                <a:latin typeface="Cormorant Garamond Bold Italics" panose="02010600030101010101" charset="0"/>
              </a:rPr>
              <a:t>Quantitative</a:t>
            </a:r>
            <a:r>
              <a:rPr lang="en-US" altLang="zh-CN" sz="4000" b="1" i="1" dirty="0">
                <a:solidFill>
                  <a:srgbClr val="0F4662"/>
                </a:solidFill>
                <a:latin typeface="Cormorant Garamond Bold Italics"/>
              </a:rPr>
              <a:t> Analysis</a:t>
            </a:r>
            <a:r>
              <a:rPr lang="en-US" altLang="zh-CN" sz="2400" b="1" i="1" dirty="0">
                <a:solidFill>
                  <a:srgbClr val="0F4662"/>
                </a:solidFill>
                <a:latin typeface="Cormorant Garamond Bold Italics"/>
              </a:rPr>
              <a:t>: Market Beta Analysis</a:t>
            </a:r>
            <a:endParaRPr lang="en-US" sz="2400" b="1" i="1" dirty="0">
              <a:solidFill>
                <a:srgbClr val="0F4662"/>
              </a:solidFill>
              <a:latin typeface="Cormorant Garamond Bold Italics"/>
              <a:sym typeface="Cormorant Garamond Bold Itali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2A517B5-C52D-9777-A0EB-54FCC2FD3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9292" y="147595"/>
            <a:ext cx="1724416" cy="1011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9F2B61A-1A92-B9D9-B57D-8693F1D4B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0" y="147595"/>
            <a:ext cx="1104169" cy="116817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B447777-296F-2660-B372-9885663F6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63" y="1562100"/>
            <a:ext cx="7245738" cy="44568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8044EB8-9E08-4910-FE0F-138E476E3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264" y="5829301"/>
            <a:ext cx="7245738" cy="44568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6CAC121-5B5A-D427-B4F4-1A3CD795C3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699" y="1562101"/>
            <a:ext cx="7245738" cy="44568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82979CF-071B-26D2-4199-9E8CB01FAC9B}"/>
                  </a:ext>
                </a:extLst>
              </p:cNvPr>
              <p:cNvSpPr txBox="1"/>
              <p:nvPr/>
            </p:nvSpPr>
            <p:spPr>
              <a:xfrm>
                <a:off x="9662198" y="5753100"/>
                <a:ext cx="6348739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𝐵𝑌𝐷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𝑇𝑒𝑠𝑙𝑎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𝑆𝑝𝑟𝑒𝑎𝑑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𝐻𝑆𝐼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𝑁𝐴𝑆𝐷𝐴𝑄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𝑆𝑝𝑟𝑒𝑎𝑑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altLang="zh-CN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</m:oMath>
                  </m:oMathPara>
                </a14:m>
                <a:endParaRPr lang="en-US" altLang="zh-CN" dirty="0">
                  <a:solidFill>
                    <a:schemeClr val="accent5">
                      <a:lumMod val="50000"/>
                    </a:schemeClr>
                  </a:solidFill>
                  <a:latin typeface="Cormorant Garamond Bold Italics" panose="02010600030101010101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82979CF-071B-26D2-4199-9E8CB01FA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198" y="5753100"/>
                <a:ext cx="6348739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D812B2-50F9-B668-B4B4-65ABA92241A7}"/>
                  </a:ext>
                </a:extLst>
              </p:cNvPr>
              <p:cNvSpPr txBox="1"/>
              <p:nvPr/>
            </p:nvSpPr>
            <p:spPr>
              <a:xfrm>
                <a:off x="9712368" y="6378475"/>
                <a:ext cx="6248400" cy="230832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1.4271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 (p-value: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1.05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−167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, significant)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Measures how much the stock spread changes for a unit change in the market spread, capturing relative sensitivity.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Indicates that the stock spread moves more than the market spread, amplifying market differences.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R-squared: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0.3390</m:t>
                    </m:r>
                  </m:oMath>
                </a14:m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  <a:latin typeface="Cormorant Garamond Bold Italics" panose="02010600030101010101" charset="0"/>
                    <a:cs typeface="Times New Roman" panose="02020603050405020304" pitchFamily="18" charset="0"/>
                  </a:rPr>
                  <a:t>Indicates a strong relationship between the stock return spread and the market index spread.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CD812B2-50F9-B668-B4B4-65ABA9224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2368" y="6378475"/>
                <a:ext cx="6248400" cy="2308324"/>
              </a:xfrm>
              <a:prstGeom prst="rect">
                <a:avLst/>
              </a:prstGeom>
              <a:blipFill>
                <a:blip r:embed="rId9"/>
                <a:stretch>
                  <a:fillRect l="-585" t="-1055" b="-3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756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2077</Words>
  <Application>Microsoft Office PowerPoint</Application>
  <PresentationFormat>自定义</PresentationFormat>
  <Paragraphs>120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Garamond</vt:lpstr>
      <vt:lpstr>Quicksand</vt:lpstr>
      <vt:lpstr>Calibri</vt:lpstr>
      <vt:lpstr>Times New Roman</vt:lpstr>
      <vt:lpstr>Cambria Math</vt:lpstr>
      <vt:lpstr>等线</vt:lpstr>
      <vt:lpstr>Arial</vt:lpstr>
      <vt:lpstr>Cormorant Garamond Bold Italics</vt:lpstr>
      <vt:lpstr>Quicksand Bold</vt:lpstr>
      <vt:lpstr>-apple-system</vt:lpstr>
      <vt:lpstr>Book Antiqua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Menger Gilmour</dc:creator>
  <cp:lastModifiedBy>Menger Gilmour</cp:lastModifiedBy>
  <cp:revision>31</cp:revision>
  <dcterms:created xsi:type="dcterms:W3CDTF">2006-08-16T00:00:00Z</dcterms:created>
  <dcterms:modified xsi:type="dcterms:W3CDTF">2025-05-01T15:32:56Z</dcterms:modified>
  <dc:identifier>DAGl1QXc6Vo</dc:identifier>
</cp:coreProperties>
</file>