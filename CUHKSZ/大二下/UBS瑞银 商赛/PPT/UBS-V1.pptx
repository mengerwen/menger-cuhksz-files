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8" r:id="rId2"/>
    <p:sldId id="258" r:id="rId3"/>
    <p:sldId id="269" r:id="rId4"/>
  </p:sldIdLst>
  <p:sldSz cx="18288000" cy="10287000"/>
  <p:notesSz cx="6858000" cy="9144000"/>
  <p:embeddedFontLst>
    <p:embeddedFont>
      <p:font typeface="Cormorant Garamond Bold Italics" panose="02010600030101010101" charset="0"/>
      <p:regular r:id="rId5"/>
    </p:embeddedFont>
    <p:embeddedFont>
      <p:font typeface="Garamond" panose="02020404030301010803" pitchFamily="18" charset="0"/>
      <p:regular r:id="rId6"/>
      <p:bold r:id="rId7"/>
      <p:italic r:id="rId8"/>
    </p:embeddedFont>
    <p:embeddedFont>
      <p:font typeface="Quicksand" panose="02010600030101010101" charset="0"/>
      <p:regular r:id="rId9"/>
    </p:embeddedFont>
    <p:embeddedFont>
      <p:font typeface="Quicksand Bold" panose="02010600030101010101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267A-F11D-3EA3-98A3-3B2B1E9D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E60339-B4BF-6972-E064-F0092FC7094F}"/>
              </a:ext>
            </a:extLst>
          </p:cNvPr>
          <p:cNvGrpSpPr/>
          <p:nvPr/>
        </p:nvGrpSpPr>
        <p:grpSpPr>
          <a:xfrm>
            <a:off x="0" y="1"/>
            <a:ext cx="18288000" cy="3392802"/>
            <a:chOff x="0" y="0"/>
            <a:chExt cx="4816593" cy="10797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3997AB-87A2-6B11-6D66-90145345A551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  <p:txBody>
            <a:bodyPr/>
            <a:lstStyle/>
            <a:p>
              <a:endParaRPr lang="zh-CN" altLang="en-US">
                <a:highlight>
                  <a:srgbClr val="FFFF00"/>
                </a:highlight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175DB23-0F7B-3C22-4D16-91C0356EB2FF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>
                <a:highlight>
                  <a:srgbClr val="FFFF00"/>
                </a:highlight>
              </a:endParaRP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1C4E8E37-81A8-C0FB-5632-6CBF778C9FFB}"/>
              </a:ext>
            </a:extLst>
          </p:cNvPr>
          <p:cNvSpPr txBox="1"/>
          <p:nvPr/>
        </p:nvSpPr>
        <p:spPr>
          <a:xfrm>
            <a:off x="7696200" y="8191500"/>
            <a:ext cx="6492240" cy="4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Macalester College, USA ( May 2028 )</a:t>
            </a:r>
            <a:endParaRPr lang="en-US" sz="24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4DE2AF3-708E-CDCC-6769-E1296BC979BF}"/>
              </a:ext>
            </a:extLst>
          </p:cNvPr>
          <p:cNvSpPr txBox="1"/>
          <p:nvPr/>
        </p:nvSpPr>
        <p:spPr>
          <a:xfrm>
            <a:off x="6545590" y="7391732"/>
            <a:ext cx="9250660" cy="4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Chinese University of Hong Kong, Shenzhen (May 2027)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109C783-8D77-B2AA-C3EA-08FCE35CD591}"/>
              </a:ext>
            </a:extLst>
          </p:cNvPr>
          <p:cNvSpPr txBox="1"/>
          <p:nvPr/>
        </p:nvSpPr>
        <p:spPr>
          <a:xfrm>
            <a:off x="2057400" y="7331331"/>
            <a:ext cx="5017320" cy="46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Mr. Wen </a:t>
            </a:r>
            <a:r>
              <a:rPr lang="en-US" altLang="zh-CN" sz="279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Jie (Menger)</a:t>
            </a:r>
            <a:endParaRPr lang="en-US" sz="2799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4D8D87E9-EFEB-36A7-0528-14AFF87BED61}"/>
              </a:ext>
            </a:extLst>
          </p:cNvPr>
          <p:cNvSpPr txBox="1"/>
          <p:nvPr/>
        </p:nvSpPr>
        <p:spPr>
          <a:xfrm>
            <a:off x="2514600" y="8104574"/>
            <a:ext cx="5017320" cy="46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Mr. Fang </a:t>
            </a:r>
            <a:r>
              <a:rPr lang="en-US" altLang="zh-CN" sz="2799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Mingxiang</a:t>
            </a:r>
            <a:r>
              <a:rPr lang="en-US" altLang="zh-CN" sz="279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(Jack)</a:t>
            </a:r>
            <a:endParaRPr lang="en-US" sz="2799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1C42722-CB0D-B162-41AA-5BC51C923F42}"/>
              </a:ext>
            </a:extLst>
          </p:cNvPr>
          <p:cNvSpPr txBox="1"/>
          <p:nvPr/>
        </p:nvSpPr>
        <p:spPr>
          <a:xfrm>
            <a:off x="1828800" y="-244444"/>
            <a:ext cx="15472000" cy="2698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9"/>
              </a:lnSpc>
              <a:spcBef>
                <a:spcPct val="0"/>
              </a:spcBef>
            </a:pPr>
            <a:r>
              <a:rPr lang="en-US" sz="55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2025 UBS Finance Challenge </a:t>
            </a:r>
            <a:r>
              <a:rPr lang="en-US" sz="48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~ </a:t>
            </a:r>
            <a:r>
              <a:rPr lang="en-US" altLang="zh-CN" sz="48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Pair Trade Stock Pitch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E5BBA07-6000-F1EB-A2D5-659512DF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994" y="342900"/>
            <a:ext cx="1822246" cy="896661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47A31EF8-FE6F-08E3-A8DB-A6F430A075C8}"/>
              </a:ext>
            </a:extLst>
          </p:cNvPr>
          <p:cNvSpPr txBox="1"/>
          <p:nvPr/>
        </p:nvSpPr>
        <p:spPr>
          <a:xfrm>
            <a:off x="2702041" y="3701339"/>
            <a:ext cx="12812922" cy="164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Region</a:t>
            </a:r>
            <a:r>
              <a:rPr lang="zh-CN" altLang="en-US" sz="40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：</a:t>
            </a:r>
            <a:r>
              <a:rPr lang="en-US" sz="40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Hong Kong Stock Market</a:t>
            </a:r>
          </a:p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Sector</a:t>
            </a:r>
            <a:r>
              <a:rPr lang="zh-CN" altLang="en-US" sz="40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：</a:t>
            </a:r>
            <a:r>
              <a:rPr lang="en-US" sz="40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Industrial ( Automobile)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4EC3DF0A-020E-510D-351B-006BA885C631}"/>
              </a:ext>
            </a:extLst>
          </p:cNvPr>
          <p:cNvSpPr txBox="1"/>
          <p:nvPr/>
        </p:nvSpPr>
        <p:spPr>
          <a:xfrm>
            <a:off x="3322176" y="5923361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i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Prepared by Team of </a:t>
            </a:r>
            <a:r>
              <a:rPr lang="en-US" sz="3141" b="1" i="1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AlphaStock</a:t>
            </a:r>
            <a:endParaRPr lang="en-US" sz="3141" b="1" i="1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6860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1790700"/>
            <a:ext cx="8839200" cy="2576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</a:pPr>
            <a:r>
              <a:rPr lang="en-US" sz="2400" dirty="0">
                <a:solidFill>
                  <a:srgbClr val="0F4662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Nearly one in five cars sold in 2023 was electric</a:t>
            </a:r>
            <a:r>
              <a:rPr lang="en-US" altLang="zh-CN" sz="2400" b="0" i="0" dirty="0">
                <a:solidFill>
                  <a:srgbClr val="3A3A3A"/>
                </a:solidFill>
                <a:effectLst/>
                <a:latin typeface="-apple-system"/>
              </a:rPr>
              <a:t> </a:t>
            </a:r>
          </a:p>
          <a:p>
            <a:pPr marL="0" lvl="0" indent="0" algn="ctr">
              <a:lnSpc>
                <a:spcPts val="4079"/>
              </a:lnSpc>
            </a:pPr>
            <a:r>
              <a:rPr lang="en-US" altLang="zh-CN" sz="2400" b="0" i="0" dirty="0">
                <a:solidFill>
                  <a:srgbClr val="3A3A3A"/>
                </a:solidFill>
                <a:effectLst/>
                <a:latin typeface="-apple-system"/>
              </a:rPr>
              <a:t>BYD has over 30 industrial parks in China, the United States, Canada, Japan, Brazil, Hungary, and India. Its new energy vehicle footprint now covers 6 continents, over 70 countries and regions, and more than 400 cities</a:t>
            </a:r>
            <a:endParaRPr lang="en-US" sz="2400" dirty="0">
              <a:solidFill>
                <a:srgbClr val="0F4662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8200" y="266700"/>
            <a:ext cx="13677900" cy="1011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i="1" dirty="0">
                <a:solidFill>
                  <a:srgbClr val="0F4662"/>
                </a:solidFill>
                <a:latin typeface="Cormorant Garamond Bold Italics"/>
              </a:rPr>
              <a:t>Overview of the EV Market and Pair Trade Concept and Key Assumption</a:t>
            </a:r>
            <a:endParaRPr lang="en-US" sz="40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EFE273-D3F5-589A-F49B-7C11C85B0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292" y="4523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35373C-6583-CE44-80BE-0D0083870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0" y="452395"/>
            <a:ext cx="1104169" cy="116817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F2BB909-416B-C288-43A7-B6BEF50AB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998" y="2781300"/>
            <a:ext cx="7828571" cy="544761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E0A5283-7F07-54E8-AB99-9C1018FBB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158" y="2186570"/>
            <a:ext cx="581025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F206-79D1-EA48-DAA2-E477687D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E10DE5B-981F-A7DC-4F20-ED90780B0BEC}"/>
              </a:ext>
            </a:extLst>
          </p:cNvPr>
          <p:cNvSpPr txBox="1"/>
          <p:nvPr/>
        </p:nvSpPr>
        <p:spPr>
          <a:xfrm>
            <a:off x="914400" y="236610"/>
            <a:ext cx="13677900" cy="1018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200" b="1" i="1" dirty="0">
                <a:solidFill>
                  <a:srgbClr val="0F4662"/>
                </a:solidFill>
                <a:latin typeface="Cormorant Garamond Bold Italics"/>
              </a:rPr>
              <a:t>Past Five-year Trend of Pair Stock Prices vs. Index</a:t>
            </a:r>
            <a:endParaRPr lang="en-US" sz="42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505040E-2216-E24C-5C74-71CDBB9F6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292" y="4523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01627CB-BA62-DE63-FF9E-31F25A323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0" y="452395"/>
            <a:ext cx="1104169" cy="11681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57BE1C0-AEA3-86D7-102B-A80C592ED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8100"/>
            <a:ext cx="9073643" cy="4494321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6672A573-86CC-4D2C-B6AE-C28E2A93A92A}"/>
              </a:ext>
            </a:extLst>
          </p:cNvPr>
          <p:cNvGrpSpPr/>
          <p:nvPr/>
        </p:nvGrpSpPr>
        <p:grpSpPr>
          <a:xfrm>
            <a:off x="9753600" y="4381500"/>
            <a:ext cx="7924800" cy="3435524"/>
            <a:chOff x="10210800" y="4298776"/>
            <a:chExt cx="7630593" cy="3245024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67198DF-D1A4-4F82-AD99-BE91E7F32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22653" y="4343213"/>
              <a:ext cx="1448949" cy="639153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053E5F95-D0F3-7E32-D7E1-5B795E79A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99583" y="4298776"/>
              <a:ext cx="1482309" cy="699682"/>
            </a:xfrm>
            <a:prstGeom prst="rect">
              <a:avLst/>
            </a:prstGeom>
          </p:spPr>
        </p:pic>
        <p:sp>
          <p:nvSpPr>
            <p:cNvPr id="26" name="TextBox 2">
              <a:extLst>
                <a:ext uri="{FF2B5EF4-FFF2-40B4-BE49-F238E27FC236}">
                  <a16:creationId xmlns:a16="http://schemas.microsoft.com/office/drawing/2014/main" id="{EB436348-4F32-C4B7-75E2-46B9FCF81BB9}"/>
                </a:ext>
              </a:extLst>
            </p:cNvPr>
            <p:cNvSpPr txBox="1"/>
            <p:nvPr/>
          </p:nvSpPr>
          <p:spPr>
            <a:xfrm>
              <a:off x="15707793" y="4349747"/>
              <a:ext cx="2133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5-yr Growth %</a:t>
              </a: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8F4DA08C-EF3A-261E-517A-CCDAB028A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11865" y="5067187"/>
              <a:ext cx="1387758" cy="2476613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806C9DD1-E135-54E7-25DD-021891ADC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586986" y="5130800"/>
              <a:ext cx="1152738" cy="2411232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9D22CCA4-0A4D-B951-0AEC-D1EC1B02E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10800" y="5080000"/>
              <a:ext cx="2117802" cy="2462337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567DF6F8-0AD2-E0C3-0636-836600ECC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328602" y="5156200"/>
              <a:ext cx="1143000" cy="2347889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480E4108-6275-54AB-93BE-042693241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054087" y="5079822"/>
              <a:ext cx="1441013" cy="2425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422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4382</TotalTime>
  <Words>140</Words>
  <Application>Microsoft Office PowerPoint</Application>
  <PresentationFormat>自定义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Calibri</vt:lpstr>
      <vt:lpstr>Quicksand</vt:lpstr>
      <vt:lpstr>Garamond</vt:lpstr>
      <vt:lpstr>Quicksand Bold</vt:lpstr>
      <vt:lpstr>-apple-system</vt:lpstr>
      <vt:lpstr>Cormorant Garamond Bold Italics</vt:lpstr>
      <vt:lpstr>Arial</vt:lpstr>
      <vt:lpstr>Office Theme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Leon F</cp:lastModifiedBy>
  <cp:revision>14</cp:revision>
  <dcterms:created xsi:type="dcterms:W3CDTF">2006-08-16T00:00:00Z</dcterms:created>
  <dcterms:modified xsi:type="dcterms:W3CDTF">2025-04-30T14:57:25Z</dcterms:modified>
  <dc:identifier>DAGl1QXc6Vo</dc:identifier>
</cp:coreProperties>
</file>