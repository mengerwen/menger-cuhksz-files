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68" r:id="rId2"/>
    <p:sldId id="258" r:id="rId3"/>
    <p:sldId id="269" r:id="rId4"/>
    <p:sldId id="270" r:id="rId5"/>
    <p:sldId id="271" r:id="rId6"/>
    <p:sldId id="272" r:id="rId7"/>
    <p:sldId id="273" r:id="rId8"/>
    <p:sldId id="275" r:id="rId9"/>
  </p:sldIdLst>
  <p:sldSz cx="18288000" cy="10287000"/>
  <p:notesSz cx="6858000" cy="9144000"/>
  <p:embeddedFontLst>
    <p:embeddedFont>
      <p:font typeface="Book Antiqua" panose="02040602050305030304" pitchFamily="18" charset="0"/>
      <p:regular r:id="rId11"/>
      <p:bold r:id="rId12"/>
      <p:italic r:id="rId13"/>
      <p:boldItalic r:id="rId14"/>
    </p:embeddedFont>
    <p:embeddedFont>
      <p:font typeface="Cambria Math" panose="02040503050406030204" pitchFamily="18" charset="0"/>
      <p:regular r:id="rId15"/>
    </p:embeddedFont>
    <p:embeddedFont>
      <p:font typeface="Cormorant Garamond Bold Italics" panose="02010600030101010101" charset="0"/>
      <p:regular r:id="rId16"/>
    </p:embeddedFont>
    <p:embeddedFont>
      <p:font typeface="Garamond" panose="02020404030301010803" pitchFamily="18" charset="0"/>
      <p:regular r:id="rId17"/>
      <p:bold r:id="rId18"/>
      <p:italic r:id="rId19"/>
    </p:embeddedFont>
    <p:embeddedFont>
      <p:font typeface="Quicksand" panose="02010600030101010101" charset="0"/>
      <p:regular r:id="rId20"/>
    </p:embeddedFont>
    <p:embeddedFont>
      <p:font typeface="Quicksand Bold" panose="02010600030101010101" charset="0"/>
      <p:regular r:id="rId21"/>
    </p:embeddedFont>
    <p:embeddedFont>
      <p:font typeface="等线" panose="02010600030101010101" pitchFamily="2" charset="-122"/>
      <p:regular r:id="rId22"/>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E6F2"/>
    <a:srgbClr val="DBE5EA"/>
    <a:srgbClr val="0F4662"/>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22" autoAdjust="0"/>
  </p:normalViewPr>
  <p:slideViewPr>
    <p:cSldViewPr>
      <p:cViewPr varScale="1">
        <p:scale>
          <a:sx n="70" d="100"/>
          <a:sy n="70" d="100"/>
        </p:scale>
        <p:origin x="188"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3F08F5-DDCF-446E-A690-52A1266DEB4C}" type="datetimeFigureOut">
              <a:rPr lang="zh-CN" altLang="en-US" smtClean="0"/>
              <a:t>2025/5/1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D5E65B4-753B-439C-9222-B55094B515D3}" type="slidenum">
              <a:rPr lang="zh-CN" altLang="en-US" smtClean="0"/>
              <a:t>‹#›</a:t>
            </a:fld>
            <a:endParaRPr lang="zh-CN" altLang="en-US"/>
          </a:p>
        </p:txBody>
      </p:sp>
    </p:spTree>
    <p:extLst>
      <p:ext uri="{BB962C8B-B14F-4D97-AF65-F5344CB8AC3E}">
        <p14:creationId xmlns:p14="http://schemas.microsoft.com/office/powerpoint/2010/main" val="1497967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D5E65B4-753B-439C-9222-B55094B515D3}" type="slidenum">
              <a:rPr lang="zh-CN" altLang="en-US" smtClean="0"/>
              <a:t>6</a:t>
            </a:fld>
            <a:endParaRPr lang="zh-CN" altLang="en-US"/>
          </a:p>
        </p:txBody>
      </p:sp>
    </p:spTree>
    <p:extLst>
      <p:ext uri="{BB962C8B-B14F-4D97-AF65-F5344CB8AC3E}">
        <p14:creationId xmlns:p14="http://schemas.microsoft.com/office/powerpoint/2010/main" val="3449120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B881B-0CFF-D2CE-6AA8-852CAB59107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C2B649-B157-57B5-F373-E4C3B177BD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40218D-F472-0D30-EC12-7973040CBB1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8100DDE4-6E36-9AF5-9E6D-F8CA6E5E38EE}"/>
              </a:ext>
            </a:extLst>
          </p:cNvPr>
          <p:cNvSpPr>
            <a:spLocks noGrp="1"/>
          </p:cNvSpPr>
          <p:nvPr>
            <p:ph type="sldNum" sz="quarter" idx="5"/>
          </p:nvPr>
        </p:nvSpPr>
        <p:spPr/>
        <p:txBody>
          <a:bodyPr/>
          <a:lstStyle/>
          <a:p>
            <a:fld id="{CD5E65B4-753B-439C-9222-B55094B515D3}" type="slidenum">
              <a:rPr lang="zh-CN" altLang="en-US" smtClean="0"/>
              <a:t>7</a:t>
            </a:fld>
            <a:endParaRPr lang="zh-CN" altLang="en-US"/>
          </a:p>
        </p:txBody>
      </p:sp>
    </p:spTree>
    <p:extLst>
      <p:ext uri="{BB962C8B-B14F-4D97-AF65-F5344CB8AC3E}">
        <p14:creationId xmlns:p14="http://schemas.microsoft.com/office/powerpoint/2010/main" val="35892781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D42E2-F96E-010C-4B0B-63E809E0B3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2325A4-07D4-4912-3756-9B6FCF7D93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C1D4FD-A734-2B70-E133-65A614317065}"/>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6E11088-0974-1889-88DB-E0877B179FB2}"/>
              </a:ext>
            </a:extLst>
          </p:cNvPr>
          <p:cNvSpPr>
            <a:spLocks noGrp="1"/>
          </p:cNvSpPr>
          <p:nvPr>
            <p:ph type="sldNum" sz="quarter" idx="5"/>
          </p:nvPr>
        </p:nvSpPr>
        <p:spPr/>
        <p:txBody>
          <a:bodyPr/>
          <a:lstStyle/>
          <a:p>
            <a:fld id="{CD5E65B4-753B-439C-9222-B55094B515D3}" type="slidenum">
              <a:rPr lang="zh-CN" altLang="en-US" smtClean="0"/>
              <a:t>8</a:t>
            </a:fld>
            <a:endParaRPr lang="zh-CN" altLang="en-US"/>
          </a:p>
        </p:txBody>
      </p:sp>
    </p:spTree>
    <p:extLst>
      <p:ext uri="{BB962C8B-B14F-4D97-AF65-F5344CB8AC3E}">
        <p14:creationId xmlns:p14="http://schemas.microsoft.com/office/powerpoint/2010/main" val="26837617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3.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2.png"/><Relationship Id="rId16" Type="http://schemas.openxmlformats.org/officeDocument/2006/relationships/image" Target="../media/image26.png"/><Relationship Id="rId20"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5.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png"/><Relationship Id="rId7"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6.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2.png"/><Relationship Id="rId7" Type="http://schemas.openxmlformats.org/officeDocument/2006/relationships/image" Target="../media/image4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10" Type="http://schemas.openxmlformats.org/officeDocument/2006/relationships/image" Target="../media/image43.png"/><Relationship Id="rId4" Type="http://schemas.openxmlformats.org/officeDocument/2006/relationships/image" Target="../media/image3.png"/><Relationship Id="rId9" Type="http://schemas.openxmlformats.org/officeDocument/2006/relationships/image" Target="../media/image42.png"/></Relationships>
</file>

<file path=ppt/slides/_rels/slide7.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png"/><Relationship Id="rId7" Type="http://schemas.openxmlformats.org/officeDocument/2006/relationships/hyperlink" Target="https://mba.tuck.dartmouth.edu/pages/faculty/ken.french/data_library.html"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5.png"/><Relationship Id="rId11" Type="http://schemas.openxmlformats.org/officeDocument/2006/relationships/image" Target="../media/image49.png"/><Relationship Id="rId5" Type="http://schemas.openxmlformats.org/officeDocument/2006/relationships/image" Target="../media/image44.png"/><Relationship Id="rId10" Type="http://schemas.openxmlformats.org/officeDocument/2006/relationships/image" Target="../media/image48.png"/><Relationship Id="rId4" Type="http://schemas.openxmlformats.org/officeDocument/2006/relationships/image" Target="../media/image3.png"/><Relationship Id="rId9"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png"/><Relationship Id="rId7" Type="http://schemas.openxmlformats.org/officeDocument/2006/relationships/image" Target="../media/image5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10" Type="http://schemas.openxmlformats.org/officeDocument/2006/relationships/image" Target="../media/image55.png"/><Relationship Id="rId4" Type="http://schemas.openxmlformats.org/officeDocument/2006/relationships/image" Target="../media/image3.png"/><Relationship Id="rId9"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1267A-F11D-3EA3-98A3-3B2B1E9DF9B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5E60339-B4BF-6972-E064-F0092FC7094F}"/>
              </a:ext>
            </a:extLst>
          </p:cNvPr>
          <p:cNvGrpSpPr/>
          <p:nvPr/>
        </p:nvGrpSpPr>
        <p:grpSpPr>
          <a:xfrm>
            <a:off x="0" y="1"/>
            <a:ext cx="18288000" cy="3392802"/>
            <a:chOff x="0" y="0"/>
            <a:chExt cx="4816593" cy="1079700"/>
          </a:xfrm>
        </p:grpSpPr>
        <p:sp>
          <p:nvSpPr>
            <p:cNvPr id="3" name="Freeform 3">
              <a:extLst>
                <a:ext uri="{FF2B5EF4-FFF2-40B4-BE49-F238E27FC236}">
                  <a16:creationId xmlns:a16="http://schemas.microsoft.com/office/drawing/2014/main" id="{D43997AB-87A2-6B11-6D66-90145345A551}"/>
                </a:ext>
              </a:extLst>
            </p:cNvPr>
            <p:cNvSpPr/>
            <p:nvPr/>
          </p:nvSpPr>
          <p:spPr>
            <a:xfrm>
              <a:off x="0" y="0"/>
              <a:ext cx="4816592" cy="1079700"/>
            </a:xfrm>
            <a:custGeom>
              <a:avLst/>
              <a:gdLst/>
              <a:ahLst/>
              <a:cxnLst/>
              <a:rect l="l" t="t" r="r" b="b"/>
              <a:pathLst>
                <a:path w="4816592" h="1079700">
                  <a:moveTo>
                    <a:pt x="0" y="0"/>
                  </a:moveTo>
                  <a:lnTo>
                    <a:pt x="4816592" y="0"/>
                  </a:lnTo>
                  <a:lnTo>
                    <a:pt x="4816592" y="1079700"/>
                  </a:lnTo>
                  <a:lnTo>
                    <a:pt x="0" y="1079700"/>
                  </a:lnTo>
                  <a:close/>
                </a:path>
              </a:pathLst>
            </a:custGeom>
            <a:solidFill>
              <a:srgbClr val="DBE5EA"/>
            </a:solidFill>
          </p:spPr>
          <p:txBody>
            <a:bodyPr/>
            <a:lstStyle/>
            <a:p>
              <a:endParaRPr lang="zh-CN" altLang="en-US">
                <a:highlight>
                  <a:srgbClr val="FFFF00"/>
                </a:highlight>
              </a:endParaRPr>
            </a:p>
          </p:txBody>
        </p:sp>
        <p:sp>
          <p:nvSpPr>
            <p:cNvPr id="4" name="TextBox 4">
              <a:extLst>
                <a:ext uri="{FF2B5EF4-FFF2-40B4-BE49-F238E27FC236}">
                  <a16:creationId xmlns:a16="http://schemas.microsoft.com/office/drawing/2014/main" id="{7175DB23-0F7B-3C22-4D16-91C0356EB2FF}"/>
                </a:ext>
              </a:extLst>
            </p:cNvPr>
            <p:cNvSpPr txBox="1"/>
            <p:nvPr/>
          </p:nvSpPr>
          <p:spPr>
            <a:xfrm>
              <a:off x="0" y="-47625"/>
              <a:ext cx="4816593" cy="1127325"/>
            </a:xfrm>
            <a:prstGeom prst="rect">
              <a:avLst/>
            </a:prstGeom>
          </p:spPr>
          <p:txBody>
            <a:bodyPr lIns="50800" tIns="50800" rIns="50800" bIns="50800" rtlCol="0" anchor="ctr"/>
            <a:lstStyle/>
            <a:p>
              <a:pPr algn="ctr">
                <a:lnSpc>
                  <a:spcPts val="3693"/>
                </a:lnSpc>
              </a:pPr>
              <a:endParaRPr>
                <a:highlight>
                  <a:srgbClr val="FFFF00"/>
                </a:highlight>
              </a:endParaRPr>
            </a:p>
          </p:txBody>
        </p:sp>
      </p:grpSp>
      <p:sp>
        <p:nvSpPr>
          <p:cNvPr id="13" name="TextBox 13">
            <a:extLst>
              <a:ext uri="{FF2B5EF4-FFF2-40B4-BE49-F238E27FC236}">
                <a16:creationId xmlns:a16="http://schemas.microsoft.com/office/drawing/2014/main" id="{1C4E8E37-81A8-C0FB-5632-6CBF778C9FFB}"/>
              </a:ext>
            </a:extLst>
          </p:cNvPr>
          <p:cNvSpPr txBox="1"/>
          <p:nvPr/>
        </p:nvSpPr>
        <p:spPr>
          <a:xfrm>
            <a:off x="7696200" y="8191500"/>
            <a:ext cx="6492240" cy="400879"/>
          </a:xfrm>
          <a:prstGeom prst="rect">
            <a:avLst/>
          </a:prstGeom>
        </p:spPr>
        <p:txBody>
          <a:bodyPr wrap="square" lIns="0" tIns="0" rIns="0" bIns="0" rtlCol="0" anchor="t">
            <a:spAutoFit/>
          </a:bodyPr>
          <a:lstStyle/>
          <a:p>
            <a:pPr marL="0" lvl="0" indent="0" algn="ctr">
              <a:lnSpc>
                <a:spcPts val="3359"/>
              </a:lnSpc>
              <a:spcBef>
                <a:spcPct val="0"/>
              </a:spcBef>
            </a:pPr>
            <a:r>
              <a:rPr lang="en-US" altLang="zh-CN" sz="2400" dirty="0">
                <a:solidFill>
                  <a:srgbClr val="0F4662"/>
                </a:solidFill>
                <a:latin typeface="Quicksand"/>
                <a:ea typeface="Quicksand"/>
                <a:cs typeface="Quicksand"/>
                <a:sym typeface="Quicksand"/>
              </a:rPr>
              <a:t>Macalester College, USA (May 2028)</a:t>
            </a:r>
            <a:endParaRPr lang="en-US" sz="2400" dirty="0">
              <a:solidFill>
                <a:srgbClr val="0F4662"/>
              </a:solidFill>
              <a:latin typeface="Quicksand"/>
              <a:ea typeface="Quicksand"/>
              <a:cs typeface="Quicksand"/>
              <a:sym typeface="Quicksand"/>
            </a:endParaRPr>
          </a:p>
        </p:txBody>
      </p:sp>
      <p:sp>
        <p:nvSpPr>
          <p:cNvPr id="15" name="TextBox 15">
            <a:extLst>
              <a:ext uri="{FF2B5EF4-FFF2-40B4-BE49-F238E27FC236}">
                <a16:creationId xmlns:a16="http://schemas.microsoft.com/office/drawing/2014/main" id="{D4DE2AF3-708E-CDCC-6769-E1296BC979BF}"/>
              </a:ext>
            </a:extLst>
          </p:cNvPr>
          <p:cNvSpPr txBox="1"/>
          <p:nvPr/>
        </p:nvSpPr>
        <p:spPr>
          <a:xfrm>
            <a:off x="6545590" y="7391732"/>
            <a:ext cx="9250660" cy="400879"/>
          </a:xfrm>
          <a:prstGeom prst="rect">
            <a:avLst/>
          </a:prstGeom>
        </p:spPr>
        <p:txBody>
          <a:bodyPr wrap="square" lIns="0" tIns="0" rIns="0" bIns="0" rtlCol="0" anchor="t">
            <a:spAutoFit/>
          </a:bodyPr>
          <a:lstStyle/>
          <a:p>
            <a:pPr marL="0" lvl="0" indent="0" algn="ctr">
              <a:lnSpc>
                <a:spcPts val="3359"/>
              </a:lnSpc>
              <a:spcBef>
                <a:spcPct val="0"/>
              </a:spcBef>
            </a:pPr>
            <a:r>
              <a:rPr lang="en-US" sz="2400" dirty="0">
                <a:solidFill>
                  <a:srgbClr val="0F4662"/>
                </a:solidFill>
                <a:latin typeface="Quicksand"/>
                <a:ea typeface="Quicksand"/>
                <a:cs typeface="Quicksand"/>
                <a:sym typeface="Quicksand"/>
              </a:rPr>
              <a:t>The Chinese University of Hong Kong, Shenzhen (May 2027)</a:t>
            </a:r>
          </a:p>
        </p:txBody>
      </p:sp>
      <p:sp>
        <p:nvSpPr>
          <p:cNvPr id="16" name="TextBox 16">
            <a:extLst>
              <a:ext uri="{FF2B5EF4-FFF2-40B4-BE49-F238E27FC236}">
                <a16:creationId xmlns:a16="http://schemas.microsoft.com/office/drawing/2014/main" id="{C109C783-8D77-B2AA-C3EA-08FCE35CD591}"/>
              </a:ext>
            </a:extLst>
          </p:cNvPr>
          <p:cNvSpPr txBox="1"/>
          <p:nvPr/>
        </p:nvSpPr>
        <p:spPr>
          <a:xfrm>
            <a:off x="2057400" y="7331331"/>
            <a:ext cx="5017320" cy="461280"/>
          </a:xfrm>
          <a:prstGeom prst="rect">
            <a:avLst/>
          </a:prstGeom>
        </p:spPr>
        <p:txBody>
          <a:bodyPr lIns="0" tIns="0" rIns="0" bIns="0" rtlCol="0" anchor="t">
            <a:spAutoFit/>
          </a:bodyPr>
          <a:lstStyle/>
          <a:p>
            <a:pPr marL="0" lvl="0" indent="0" algn="ctr">
              <a:lnSpc>
                <a:spcPts val="3919"/>
              </a:lnSpc>
              <a:spcBef>
                <a:spcPct val="0"/>
              </a:spcBef>
            </a:pPr>
            <a:r>
              <a:rPr lang="en-US" sz="2799" b="1" dirty="0">
                <a:solidFill>
                  <a:srgbClr val="0F4662"/>
                </a:solidFill>
                <a:latin typeface="Quicksand Bold"/>
                <a:ea typeface="Quicksand Bold"/>
                <a:cs typeface="Quicksand Bold"/>
                <a:sym typeface="Quicksand Bold"/>
              </a:rPr>
              <a:t>Mr. Wen </a:t>
            </a:r>
            <a:r>
              <a:rPr lang="en-US" altLang="zh-CN" sz="2799" b="1" dirty="0">
                <a:solidFill>
                  <a:srgbClr val="0F4662"/>
                </a:solidFill>
                <a:latin typeface="Quicksand Bold"/>
                <a:ea typeface="Quicksand Bold"/>
                <a:cs typeface="Quicksand Bold"/>
                <a:sym typeface="Quicksand Bold"/>
              </a:rPr>
              <a:t>Jie (Menger)</a:t>
            </a:r>
            <a:endParaRPr lang="en-US" sz="2799" b="1" dirty="0">
              <a:solidFill>
                <a:srgbClr val="0F4662"/>
              </a:solidFill>
              <a:latin typeface="Quicksand Bold"/>
              <a:ea typeface="Quicksand Bold"/>
              <a:cs typeface="Quicksand Bold"/>
              <a:sym typeface="Quicksand Bold"/>
            </a:endParaRPr>
          </a:p>
        </p:txBody>
      </p:sp>
      <p:sp>
        <p:nvSpPr>
          <p:cNvPr id="20" name="TextBox 16">
            <a:extLst>
              <a:ext uri="{FF2B5EF4-FFF2-40B4-BE49-F238E27FC236}">
                <a16:creationId xmlns:a16="http://schemas.microsoft.com/office/drawing/2014/main" id="{4D8D87E9-EFEB-36A7-0528-14AFF87BED61}"/>
              </a:ext>
            </a:extLst>
          </p:cNvPr>
          <p:cNvSpPr txBox="1"/>
          <p:nvPr/>
        </p:nvSpPr>
        <p:spPr>
          <a:xfrm>
            <a:off x="2514600" y="8104574"/>
            <a:ext cx="5017320" cy="461280"/>
          </a:xfrm>
          <a:prstGeom prst="rect">
            <a:avLst/>
          </a:prstGeom>
        </p:spPr>
        <p:txBody>
          <a:bodyPr lIns="0" tIns="0" rIns="0" bIns="0" rtlCol="0" anchor="t">
            <a:spAutoFit/>
          </a:bodyPr>
          <a:lstStyle/>
          <a:p>
            <a:pPr marL="0" lvl="0" indent="0" algn="ctr">
              <a:lnSpc>
                <a:spcPts val="3919"/>
              </a:lnSpc>
              <a:spcBef>
                <a:spcPct val="0"/>
              </a:spcBef>
            </a:pPr>
            <a:r>
              <a:rPr lang="en-US" sz="2799" b="1" dirty="0">
                <a:solidFill>
                  <a:srgbClr val="0F4662"/>
                </a:solidFill>
                <a:latin typeface="Quicksand Bold"/>
                <a:ea typeface="Quicksand Bold"/>
                <a:cs typeface="Quicksand Bold"/>
                <a:sym typeface="Quicksand Bold"/>
              </a:rPr>
              <a:t>Mr. Fang </a:t>
            </a:r>
            <a:r>
              <a:rPr lang="en-US" altLang="zh-CN" sz="2799" b="1" dirty="0" err="1">
                <a:solidFill>
                  <a:srgbClr val="0F4662"/>
                </a:solidFill>
                <a:latin typeface="Quicksand Bold"/>
                <a:ea typeface="Quicksand Bold"/>
                <a:cs typeface="Quicksand Bold"/>
                <a:sym typeface="Quicksand Bold"/>
              </a:rPr>
              <a:t>Mingxiang</a:t>
            </a:r>
            <a:r>
              <a:rPr lang="en-US" altLang="zh-CN" sz="2799" b="1" dirty="0">
                <a:solidFill>
                  <a:srgbClr val="0F4662"/>
                </a:solidFill>
                <a:latin typeface="Quicksand Bold"/>
                <a:ea typeface="Quicksand Bold"/>
                <a:cs typeface="Quicksand Bold"/>
                <a:sym typeface="Quicksand Bold"/>
              </a:rPr>
              <a:t> (Jack)</a:t>
            </a:r>
            <a:endParaRPr lang="en-US" sz="2799" b="1" dirty="0">
              <a:solidFill>
                <a:srgbClr val="0F4662"/>
              </a:solidFill>
              <a:latin typeface="Quicksand Bold"/>
              <a:ea typeface="Quicksand Bold"/>
              <a:cs typeface="Quicksand Bold"/>
              <a:sym typeface="Quicksand Bold"/>
            </a:endParaRPr>
          </a:p>
        </p:txBody>
      </p:sp>
      <p:sp>
        <p:nvSpPr>
          <p:cNvPr id="5" name="TextBox 2">
            <a:extLst>
              <a:ext uri="{FF2B5EF4-FFF2-40B4-BE49-F238E27FC236}">
                <a16:creationId xmlns:a16="http://schemas.microsoft.com/office/drawing/2014/main" id="{51C42722-CB0D-B162-41AA-5BC51C923F42}"/>
              </a:ext>
            </a:extLst>
          </p:cNvPr>
          <p:cNvSpPr txBox="1"/>
          <p:nvPr/>
        </p:nvSpPr>
        <p:spPr>
          <a:xfrm>
            <a:off x="1828800" y="-244444"/>
            <a:ext cx="15472000" cy="2698687"/>
          </a:xfrm>
          <a:prstGeom prst="rect">
            <a:avLst/>
          </a:prstGeom>
        </p:spPr>
        <p:txBody>
          <a:bodyPr wrap="square" lIns="0" tIns="0" rIns="0" bIns="0" rtlCol="0" anchor="t">
            <a:spAutoFit/>
          </a:bodyPr>
          <a:lstStyle/>
          <a:p>
            <a:pPr algn="ctr">
              <a:lnSpc>
                <a:spcPts val="26009"/>
              </a:lnSpc>
              <a:spcBef>
                <a:spcPct val="0"/>
              </a:spcBef>
            </a:pPr>
            <a:r>
              <a:rPr lang="en-US" sz="5500" b="1" dirty="0">
                <a:solidFill>
                  <a:srgbClr val="0F4662"/>
                </a:solidFill>
                <a:latin typeface="Garamond" panose="02020404030301010803" pitchFamily="18" charset="0"/>
                <a:sym typeface="Cormorant Garamond Bold Italics"/>
              </a:rPr>
              <a:t>2025</a:t>
            </a:r>
            <a:r>
              <a:rPr lang="en-US" sz="5500" b="1" dirty="0">
                <a:solidFill>
                  <a:srgbClr val="0F4662"/>
                </a:solidFill>
                <a:latin typeface="Garamond" panose="02020404030301010803" pitchFamily="18" charset="0"/>
                <a:ea typeface="Cormorant Garamond Bold Italics"/>
                <a:cs typeface="Cormorant Garamond Bold Italics"/>
                <a:sym typeface="Cormorant Garamond Bold Italics"/>
              </a:rPr>
              <a:t> UBS Finance Challenge </a:t>
            </a:r>
            <a:r>
              <a:rPr lang="en-US" sz="4800" b="1" dirty="0">
                <a:solidFill>
                  <a:srgbClr val="0F4662"/>
                </a:solidFill>
                <a:latin typeface="Garamond" panose="02020404030301010803" pitchFamily="18" charset="0"/>
                <a:ea typeface="Cormorant Garamond Bold Italics"/>
                <a:cs typeface="Cormorant Garamond Bold Italics"/>
                <a:sym typeface="Cormorant Garamond Bold Italics"/>
              </a:rPr>
              <a:t>~ </a:t>
            </a:r>
            <a:r>
              <a:rPr lang="en-US" altLang="zh-CN" sz="4800" b="1" dirty="0">
                <a:solidFill>
                  <a:srgbClr val="0F4662"/>
                </a:solidFill>
                <a:latin typeface="Garamond" panose="02020404030301010803" pitchFamily="18" charset="0"/>
                <a:ea typeface="Cormorant Garamond Bold Italics"/>
                <a:cs typeface="Cormorant Garamond Bold Italics"/>
                <a:sym typeface="Cormorant Garamond Bold Italics"/>
              </a:rPr>
              <a:t>Pair Trade Stock Pitch</a:t>
            </a:r>
          </a:p>
        </p:txBody>
      </p:sp>
      <p:pic>
        <p:nvPicPr>
          <p:cNvPr id="9" name="图片 8">
            <a:extLst>
              <a:ext uri="{FF2B5EF4-FFF2-40B4-BE49-F238E27FC236}">
                <a16:creationId xmlns:a16="http://schemas.microsoft.com/office/drawing/2014/main" id="{FE5BBA07-6000-F1EB-A2D5-659512DFC670}"/>
              </a:ext>
            </a:extLst>
          </p:cNvPr>
          <p:cNvPicPr>
            <a:picLocks noChangeAspect="1"/>
          </p:cNvPicPr>
          <p:nvPr/>
        </p:nvPicPr>
        <p:blipFill>
          <a:blip r:embed="rId2"/>
          <a:stretch>
            <a:fillRect/>
          </a:stretch>
        </p:blipFill>
        <p:spPr>
          <a:xfrm>
            <a:off x="8313994" y="342900"/>
            <a:ext cx="1822246" cy="896661"/>
          </a:xfrm>
          <a:prstGeom prst="rect">
            <a:avLst/>
          </a:prstGeom>
        </p:spPr>
      </p:pic>
      <p:sp>
        <p:nvSpPr>
          <p:cNvPr id="10" name="TextBox 6">
            <a:extLst>
              <a:ext uri="{FF2B5EF4-FFF2-40B4-BE49-F238E27FC236}">
                <a16:creationId xmlns:a16="http://schemas.microsoft.com/office/drawing/2014/main" id="{47A31EF8-FE6F-08E3-A8DB-A6F430A075C8}"/>
              </a:ext>
            </a:extLst>
          </p:cNvPr>
          <p:cNvSpPr txBox="1"/>
          <p:nvPr/>
        </p:nvSpPr>
        <p:spPr>
          <a:xfrm>
            <a:off x="2702041" y="3701339"/>
            <a:ext cx="12812922" cy="1649169"/>
          </a:xfrm>
          <a:prstGeom prst="rect">
            <a:avLst/>
          </a:prstGeom>
        </p:spPr>
        <p:txBody>
          <a:bodyPr lIns="0" tIns="0" rIns="0" bIns="0" rtlCol="0" anchor="t">
            <a:spAutoFit/>
          </a:bodyPr>
          <a:lstStyle/>
          <a:p>
            <a:pPr marL="0" lvl="0" indent="0" algn="ctr">
              <a:lnSpc>
                <a:spcPts val="6844"/>
              </a:lnSpc>
              <a:spcBef>
                <a:spcPct val="0"/>
              </a:spcBef>
            </a:pPr>
            <a:r>
              <a:rPr lang="en-US" sz="4000" b="1" dirty="0">
                <a:solidFill>
                  <a:srgbClr val="0F4662"/>
                </a:solidFill>
                <a:latin typeface="Quicksand"/>
                <a:ea typeface="Quicksand"/>
                <a:cs typeface="Quicksand"/>
                <a:sym typeface="Quicksand"/>
              </a:rPr>
              <a:t>Region</a:t>
            </a:r>
            <a:r>
              <a:rPr lang="zh-CN" altLang="en-US" sz="4000" b="1" dirty="0">
                <a:solidFill>
                  <a:srgbClr val="0F4662"/>
                </a:solidFill>
                <a:latin typeface="Quicksand"/>
                <a:ea typeface="Quicksand"/>
                <a:cs typeface="Quicksand"/>
                <a:sym typeface="Quicksand"/>
              </a:rPr>
              <a:t>：</a:t>
            </a:r>
            <a:r>
              <a:rPr lang="en-US" sz="4000" dirty="0">
                <a:solidFill>
                  <a:srgbClr val="0F4662"/>
                </a:solidFill>
                <a:latin typeface="Quicksand"/>
                <a:ea typeface="Quicksand"/>
                <a:cs typeface="Quicksand"/>
                <a:sym typeface="Quicksand"/>
              </a:rPr>
              <a:t>Hong Kong Stock Market</a:t>
            </a:r>
          </a:p>
          <a:p>
            <a:pPr marL="0" lvl="0" indent="0" algn="ctr">
              <a:lnSpc>
                <a:spcPts val="6844"/>
              </a:lnSpc>
              <a:spcBef>
                <a:spcPct val="0"/>
              </a:spcBef>
            </a:pPr>
            <a:r>
              <a:rPr lang="en-US" sz="4000" b="1" dirty="0">
                <a:solidFill>
                  <a:srgbClr val="0F4662"/>
                </a:solidFill>
                <a:latin typeface="Quicksand"/>
                <a:ea typeface="Quicksand"/>
                <a:cs typeface="Quicksand"/>
                <a:sym typeface="Quicksand"/>
              </a:rPr>
              <a:t>Sector</a:t>
            </a:r>
            <a:r>
              <a:rPr lang="zh-CN" altLang="en-US" sz="4000" b="1" dirty="0">
                <a:solidFill>
                  <a:srgbClr val="0F4662"/>
                </a:solidFill>
                <a:latin typeface="Quicksand"/>
                <a:ea typeface="Quicksand"/>
                <a:cs typeface="Quicksand"/>
                <a:sym typeface="Quicksand"/>
              </a:rPr>
              <a:t>：</a:t>
            </a:r>
            <a:r>
              <a:rPr lang="en-US" sz="4000" dirty="0">
                <a:solidFill>
                  <a:srgbClr val="0F4662"/>
                </a:solidFill>
                <a:latin typeface="Quicksand"/>
                <a:ea typeface="Quicksand"/>
                <a:cs typeface="Quicksand"/>
                <a:sym typeface="Quicksand"/>
              </a:rPr>
              <a:t>Industrial ( Automobile)</a:t>
            </a:r>
          </a:p>
        </p:txBody>
      </p:sp>
      <p:sp>
        <p:nvSpPr>
          <p:cNvPr id="12" name="TextBox 8">
            <a:extLst>
              <a:ext uri="{FF2B5EF4-FFF2-40B4-BE49-F238E27FC236}">
                <a16:creationId xmlns:a16="http://schemas.microsoft.com/office/drawing/2014/main" id="{4EC3DF0A-020E-510D-351B-006BA885C631}"/>
              </a:ext>
            </a:extLst>
          </p:cNvPr>
          <p:cNvSpPr txBox="1"/>
          <p:nvPr/>
        </p:nvSpPr>
        <p:spPr>
          <a:xfrm>
            <a:off x="3322176" y="5923361"/>
            <a:ext cx="11643643" cy="529811"/>
          </a:xfrm>
          <a:prstGeom prst="rect">
            <a:avLst/>
          </a:prstGeom>
        </p:spPr>
        <p:txBody>
          <a:bodyPr lIns="0" tIns="0" rIns="0" bIns="0" rtlCol="0" anchor="t">
            <a:spAutoFit/>
          </a:bodyPr>
          <a:lstStyle/>
          <a:p>
            <a:pPr marL="0" lvl="0" indent="0" algn="ctr">
              <a:lnSpc>
                <a:spcPts val="4397"/>
              </a:lnSpc>
              <a:spcBef>
                <a:spcPct val="0"/>
              </a:spcBef>
            </a:pPr>
            <a:r>
              <a:rPr lang="en-US" sz="3141" i="1" dirty="0">
                <a:solidFill>
                  <a:srgbClr val="0F4662"/>
                </a:solidFill>
                <a:latin typeface="Quicksand"/>
                <a:ea typeface="Quicksand"/>
                <a:cs typeface="Quicksand"/>
                <a:sym typeface="Quicksand"/>
              </a:rPr>
              <a:t>Prepared by Team of </a:t>
            </a:r>
            <a:r>
              <a:rPr lang="en-US" sz="3141" b="1" i="1" dirty="0" err="1">
                <a:solidFill>
                  <a:srgbClr val="0F4662"/>
                </a:solidFill>
                <a:latin typeface="Quicksand"/>
                <a:ea typeface="Quicksand"/>
                <a:cs typeface="Quicksand"/>
                <a:sym typeface="Quicksand"/>
              </a:rPr>
              <a:t>AlphaStock</a:t>
            </a:r>
            <a:endParaRPr lang="en-US" sz="3141" b="1" i="1" dirty="0">
              <a:solidFill>
                <a:srgbClr val="0F4662"/>
              </a:solidFill>
              <a:latin typeface="Quicksand"/>
              <a:ea typeface="Quicksand"/>
              <a:cs typeface="Quicksand"/>
              <a:sym typeface="Quicksand"/>
            </a:endParaRPr>
          </a:p>
        </p:txBody>
      </p:sp>
    </p:spTree>
    <p:extLst>
      <p:ext uri="{BB962C8B-B14F-4D97-AF65-F5344CB8AC3E}">
        <p14:creationId xmlns:p14="http://schemas.microsoft.com/office/powerpoint/2010/main" val="686072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8F8"/>
        </a:solidFill>
        <a:effectLst/>
      </p:bgPr>
    </p:bg>
    <p:spTree>
      <p:nvGrpSpPr>
        <p:cNvPr id="1" name=""/>
        <p:cNvGrpSpPr/>
        <p:nvPr/>
      </p:nvGrpSpPr>
      <p:grpSpPr>
        <a:xfrm>
          <a:off x="0" y="0"/>
          <a:ext cx="0" cy="0"/>
          <a:chOff x="0" y="0"/>
          <a:chExt cx="0" cy="0"/>
        </a:xfrm>
      </p:grpSpPr>
      <p:sp>
        <p:nvSpPr>
          <p:cNvPr id="2" name="TextBox 2"/>
          <p:cNvSpPr txBox="1"/>
          <p:nvPr/>
        </p:nvSpPr>
        <p:spPr>
          <a:xfrm>
            <a:off x="914400" y="1790700"/>
            <a:ext cx="8839200" cy="2576346"/>
          </a:xfrm>
          <a:prstGeom prst="rect">
            <a:avLst/>
          </a:prstGeom>
        </p:spPr>
        <p:txBody>
          <a:bodyPr wrap="square" lIns="0" tIns="0" rIns="0" bIns="0" rtlCol="0" anchor="t">
            <a:spAutoFit/>
          </a:bodyPr>
          <a:lstStyle/>
          <a:p>
            <a:pPr marL="0" lvl="0" indent="0" algn="ctr">
              <a:lnSpc>
                <a:spcPts val="4079"/>
              </a:lnSpc>
            </a:pPr>
            <a:r>
              <a:rPr lang="en-US" sz="2400" dirty="0">
                <a:solidFill>
                  <a:srgbClr val="0F4662"/>
                </a:solidFill>
                <a:latin typeface="Arial" panose="020B0604020202020204" pitchFamily="34" charset="0"/>
                <a:ea typeface="Quicksand"/>
                <a:cs typeface="Arial" panose="020B0604020202020204" pitchFamily="34" charset="0"/>
                <a:sym typeface="Quicksand"/>
              </a:rPr>
              <a:t>Nearly one in five cars sold in 2023 was electric</a:t>
            </a:r>
            <a:r>
              <a:rPr lang="en-US" altLang="zh-CN" sz="2400" b="0" i="0" dirty="0">
                <a:solidFill>
                  <a:srgbClr val="3A3A3A"/>
                </a:solidFill>
                <a:effectLst/>
                <a:latin typeface="-apple-system"/>
              </a:rPr>
              <a:t> </a:t>
            </a:r>
          </a:p>
          <a:p>
            <a:pPr marL="0" lvl="0" indent="0" algn="ctr">
              <a:lnSpc>
                <a:spcPts val="4079"/>
              </a:lnSpc>
            </a:pPr>
            <a:r>
              <a:rPr lang="en-US" altLang="zh-CN" sz="2400" b="0" i="0" dirty="0">
                <a:solidFill>
                  <a:srgbClr val="3A3A3A"/>
                </a:solidFill>
                <a:effectLst/>
                <a:latin typeface="-apple-system"/>
              </a:rPr>
              <a:t>BYD has over 30 industrial parks in China, the United States, Canada, Japan, Brazil, Hungary, and India. Its new energy vehicle footprint now covers 6 continents, over 70 countries and regions, and more than 400 cities</a:t>
            </a:r>
            <a:endParaRPr lang="en-US" sz="2400" dirty="0">
              <a:solidFill>
                <a:srgbClr val="0F4662"/>
              </a:solidFill>
              <a:latin typeface="Arial" panose="020B0604020202020204" pitchFamily="34" charset="0"/>
              <a:ea typeface="Quicksand"/>
              <a:cs typeface="Arial" panose="020B0604020202020204" pitchFamily="34" charset="0"/>
              <a:sym typeface="Quicksand"/>
            </a:endParaRPr>
          </a:p>
        </p:txBody>
      </p:sp>
      <p:sp>
        <p:nvSpPr>
          <p:cNvPr id="6" name="TextBox 6"/>
          <p:cNvSpPr txBox="1"/>
          <p:nvPr/>
        </p:nvSpPr>
        <p:spPr>
          <a:xfrm>
            <a:off x="381000" y="-38100"/>
            <a:ext cx="136779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a:rPr>
              <a:t>Overview of the EV Market and Pair Trade Concept and Key Assumption</a:t>
            </a:r>
            <a:endParaRPr lang="en-US" sz="40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EAEFE273-D3F5-589A-F49B-7C11C85B0124}"/>
              </a:ext>
            </a:extLst>
          </p:cNvPr>
          <p:cNvPicPr>
            <a:picLocks noChangeAspect="1"/>
          </p:cNvPicPr>
          <p:nvPr/>
        </p:nvPicPr>
        <p:blipFill>
          <a:blip r:embed="rId2"/>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CF35373C-6583-CE44-80BE-0D008387052D}"/>
              </a:ext>
            </a:extLst>
          </p:cNvPr>
          <p:cNvPicPr>
            <a:picLocks noChangeAspect="1"/>
          </p:cNvPicPr>
          <p:nvPr/>
        </p:nvPicPr>
        <p:blipFill>
          <a:blip r:embed="rId3"/>
          <a:stretch>
            <a:fillRect/>
          </a:stretch>
        </p:blipFill>
        <p:spPr>
          <a:xfrm>
            <a:off x="16916400" y="147595"/>
            <a:ext cx="1104169" cy="1168178"/>
          </a:xfrm>
          <a:prstGeom prst="rect">
            <a:avLst/>
          </a:prstGeom>
        </p:spPr>
      </p:pic>
      <p:pic>
        <p:nvPicPr>
          <p:cNvPr id="22" name="图片 21">
            <a:extLst>
              <a:ext uri="{FF2B5EF4-FFF2-40B4-BE49-F238E27FC236}">
                <a16:creationId xmlns:a16="http://schemas.microsoft.com/office/drawing/2014/main" id="{9F2BB909-416B-C288-43A7-B6BEF50AB31D}"/>
              </a:ext>
            </a:extLst>
          </p:cNvPr>
          <p:cNvPicPr>
            <a:picLocks noChangeAspect="1"/>
          </p:cNvPicPr>
          <p:nvPr/>
        </p:nvPicPr>
        <p:blipFill>
          <a:blip r:embed="rId4"/>
          <a:stretch>
            <a:fillRect/>
          </a:stretch>
        </p:blipFill>
        <p:spPr>
          <a:xfrm>
            <a:off x="10191998" y="2781300"/>
            <a:ext cx="7828571" cy="5447619"/>
          </a:xfrm>
          <a:prstGeom prst="rect">
            <a:avLst/>
          </a:prstGeom>
        </p:spPr>
      </p:pic>
      <p:pic>
        <p:nvPicPr>
          <p:cNvPr id="24" name="图片 23">
            <a:extLst>
              <a:ext uri="{FF2B5EF4-FFF2-40B4-BE49-F238E27FC236}">
                <a16:creationId xmlns:a16="http://schemas.microsoft.com/office/drawing/2014/main" id="{4E0A5283-7F07-54E8-AB99-9C1018FBBEC5}"/>
              </a:ext>
            </a:extLst>
          </p:cNvPr>
          <p:cNvPicPr>
            <a:picLocks noChangeAspect="1"/>
          </p:cNvPicPr>
          <p:nvPr/>
        </p:nvPicPr>
        <p:blipFill>
          <a:blip r:embed="rId5"/>
          <a:stretch>
            <a:fillRect/>
          </a:stretch>
        </p:blipFill>
        <p:spPr>
          <a:xfrm>
            <a:off x="11201158" y="2186570"/>
            <a:ext cx="5810250" cy="39052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0F206-79D1-EA48-DAA2-E477687D6BFF}"/>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6E10DE5B-981F-A7DC-4F20-ED90780B0BEC}"/>
              </a:ext>
            </a:extLst>
          </p:cNvPr>
          <p:cNvSpPr txBox="1"/>
          <p:nvPr/>
        </p:nvSpPr>
        <p:spPr>
          <a:xfrm>
            <a:off x="457200" y="-38100"/>
            <a:ext cx="13677900" cy="1018805"/>
          </a:xfrm>
          <a:prstGeom prst="rect">
            <a:avLst/>
          </a:prstGeom>
        </p:spPr>
        <p:txBody>
          <a:bodyPr wrap="square" lIns="0" tIns="0" rIns="0" bIns="0" rtlCol="0" anchor="t">
            <a:spAutoFit/>
          </a:bodyPr>
          <a:lstStyle/>
          <a:p>
            <a:pPr marL="0" lvl="0" indent="0" algn="l">
              <a:lnSpc>
                <a:spcPts val="8959"/>
              </a:lnSpc>
              <a:spcBef>
                <a:spcPct val="0"/>
              </a:spcBef>
            </a:pPr>
            <a:r>
              <a:rPr lang="en-US" altLang="zh-CN" sz="4200" b="1" i="1" dirty="0">
                <a:solidFill>
                  <a:srgbClr val="0F4662"/>
                </a:solidFill>
                <a:latin typeface="Cormorant Garamond Bold Italics"/>
              </a:rPr>
              <a:t>Past Five-year Trend of Pair Stock Prices vs. Index</a:t>
            </a:r>
            <a:endParaRPr lang="en-US" sz="42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3505040E-2216-E24C-5C74-71CDBB9F651A}"/>
              </a:ext>
            </a:extLst>
          </p:cNvPr>
          <p:cNvPicPr>
            <a:picLocks noChangeAspect="1"/>
          </p:cNvPicPr>
          <p:nvPr/>
        </p:nvPicPr>
        <p:blipFill>
          <a:blip r:embed="rId2"/>
          <a:stretch>
            <a:fillRect/>
          </a:stretch>
        </p:blipFill>
        <p:spPr>
          <a:xfrm>
            <a:off x="14949292" y="177685"/>
            <a:ext cx="1724416" cy="1011495"/>
          </a:xfrm>
          <a:prstGeom prst="rect">
            <a:avLst/>
          </a:prstGeom>
        </p:spPr>
      </p:pic>
      <p:pic>
        <p:nvPicPr>
          <p:cNvPr id="11" name="图片 10">
            <a:extLst>
              <a:ext uri="{FF2B5EF4-FFF2-40B4-BE49-F238E27FC236}">
                <a16:creationId xmlns:a16="http://schemas.microsoft.com/office/drawing/2014/main" id="{B01627CB-BA62-DE63-FF9E-31F25A323903}"/>
              </a:ext>
            </a:extLst>
          </p:cNvPr>
          <p:cNvPicPr>
            <a:picLocks noChangeAspect="1"/>
          </p:cNvPicPr>
          <p:nvPr/>
        </p:nvPicPr>
        <p:blipFill>
          <a:blip r:embed="rId3"/>
          <a:stretch>
            <a:fillRect/>
          </a:stretch>
        </p:blipFill>
        <p:spPr>
          <a:xfrm>
            <a:off x="16916400" y="177685"/>
            <a:ext cx="1104169" cy="1168178"/>
          </a:xfrm>
          <a:prstGeom prst="rect">
            <a:avLst/>
          </a:prstGeom>
        </p:spPr>
      </p:pic>
      <p:pic>
        <p:nvPicPr>
          <p:cNvPr id="7" name="图片 6">
            <a:extLst>
              <a:ext uri="{FF2B5EF4-FFF2-40B4-BE49-F238E27FC236}">
                <a16:creationId xmlns:a16="http://schemas.microsoft.com/office/drawing/2014/main" id="{357BE1C0-AEA3-86D7-102B-A80C592ED2DB}"/>
              </a:ext>
            </a:extLst>
          </p:cNvPr>
          <p:cNvPicPr>
            <a:picLocks noChangeAspect="1"/>
          </p:cNvPicPr>
          <p:nvPr/>
        </p:nvPicPr>
        <p:blipFill>
          <a:blip r:embed="rId4"/>
          <a:stretch>
            <a:fillRect/>
          </a:stretch>
        </p:blipFill>
        <p:spPr>
          <a:xfrm>
            <a:off x="457200" y="3848100"/>
            <a:ext cx="9073643" cy="4494321"/>
          </a:xfrm>
          <a:prstGeom prst="rect">
            <a:avLst/>
          </a:prstGeom>
        </p:spPr>
      </p:pic>
      <p:grpSp>
        <p:nvGrpSpPr>
          <p:cNvPr id="39" name="组合 38">
            <a:extLst>
              <a:ext uri="{FF2B5EF4-FFF2-40B4-BE49-F238E27FC236}">
                <a16:creationId xmlns:a16="http://schemas.microsoft.com/office/drawing/2014/main" id="{6672A573-86CC-4D2C-B6AE-C28E2A93A92A}"/>
              </a:ext>
            </a:extLst>
          </p:cNvPr>
          <p:cNvGrpSpPr/>
          <p:nvPr/>
        </p:nvGrpSpPr>
        <p:grpSpPr>
          <a:xfrm>
            <a:off x="9753600" y="4381500"/>
            <a:ext cx="7924800" cy="3435524"/>
            <a:chOff x="10210800" y="4298776"/>
            <a:chExt cx="7630593" cy="3245024"/>
          </a:xfrm>
        </p:grpSpPr>
        <p:pic>
          <p:nvPicPr>
            <p:cNvPr id="13" name="图片 12">
              <a:extLst>
                <a:ext uri="{FF2B5EF4-FFF2-40B4-BE49-F238E27FC236}">
                  <a16:creationId xmlns:a16="http://schemas.microsoft.com/office/drawing/2014/main" id="{B67198DF-D1A4-4F82-AD99-BE91E7F3277A}"/>
                </a:ext>
              </a:extLst>
            </p:cNvPr>
            <p:cNvPicPr>
              <a:picLocks noChangeAspect="1"/>
            </p:cNvPicPr>
            <p:nvPr/>
          </p:nvPicPr>
          <p:blipFill>
            <a:blip r:embed="rId5"/>
            <a:stretch>
              <a:fillRect/>
            </a:stretch>
          </p:blipFill>
          <p:spPr>
            <a:xfrm>
              <a:off x="12022653" y="4343213"/>
              <a:ext cx="1448949" cy="639153"/>
            </a:xfrm>
            <a:prstGeom prst="rect">
              <a:avLst/>
            </a:prstGeom>
          </p:spPr>
        </p:pic>
        <p:pic>
          <p:nvPicPr>
            <p:cNvPr id="24" name="图片 23">
              <a:extLst>
                <a:ext uri="{FF2B5EF4-FFF2-40B4-BE49-F238E27FC236}">
                  <a16:creationId xmlns:a16="http://schemas.microsoft.com/office/drawing/2014/main" id="{053E5F95-D0F3-7E32-D7E1-5B795E79A0F6}"/>
                </a:ext>
              </a:extLst>
            </p:cNvPr>
            <p:cNvPicPr>
              <a:picLocks noChangeAspect="1"/>
            </p:cNvPicPr>
            <p:nvPr/>
          </p:nvPicPr>
          <p:blipFill>
            <a:blip r:embed="rId6"/>
            <a:stretch>
              <a:fillRect/>
            </a:stretch>
          </p:blipFill>
          <p:spPr>
            <a:xfrm>
              <a:off x="13399583" y="4298776"/>
              <a:ext cx="1482309" cy="699682"/>
            </a:xfrm>
            <a:prstGeom prst="rect">
              <a:avLst/>
            </a:prstGeom>
          </p:spPr>
        </p:pic>
        <p:sp>
          <p:nvSpPr>
            <p:cNvPr id="26" name="TextBox 2">
              <a:extLst>
                <a:ext uri="{FF2B5EF4-FFF2-40B4-BE49-F238E27FC236}">
                  <a16:creationId xmlns:a16="http://schemas.microsoft.com/office/drawing/2014/main" id="{EB436348-4F32-C4B7-75E2-46B9FCF81BB9}"/>
                </a:ext>
              </a:extLst>
            </p:cNvPr>
            <p:cNvSpPr txBox="1"/>
            <p:nvPr/>
          </p:nvSpPr>
          <p:spPr>
            <a:xfrm>
              <a:off x="15707793" y="4349747"/>
              <a:ext cx="2133600" cy="446917"/>
            </a:xfrm>
            <a:prstGeom prst="rect">
              <a:avLst/>
            </a:prstGeom>
          </p:spPr>
          <p:txBody>
            <a:bodyPr wrap="square" lIns="0" tIns="0" rIns="0" bIns="0" rtlCol="0" anchor="t">
              <a:spAutoFit/>
            </a:bodyPr>
            <a:lstStyle/>
            <a:p>
              <a:pPr marL="0" lvl="0" indent="0" algn="ctr">
                <a:lnSpc>
                  <a:spcPts val="4079"/>
                </a:lnSpc>
              </a:pPr>
              <a:r>
                <a:rPr lang="en-US" dirty="0">
                  <a:solidFill>
                    <a:srgbClr val="0F4662"/>
                  </a:solidFill>
                  <a:latin typeface="Arial" panose="020B0604020202020204" pitchFamily="34" charset="0"/>
                  <a:ea typeface="Quicksand"/>
                  <a:cs typeface="Arial" panose="020B0604020202020204" pitchFamily="34" charset="0"/>
                  <a:sym typeface="Quicksand"/>
                </a:rPr>
                <a:t>5-yr Growth %</a:t>
              </a:r>
            </a:p>
          </p:txBody>
        </p:sp>
        <p:pic>
          <p:nvPicPr>
            <p:cNvPr id="28" name="图片 27">
              <a:extLst>
                <a:ext uri="{FF2B5EF4-FFF2-40B4-BE49-F238E27FC236}">
                  <a16:creationId xmlns:a16="http://schemas.microsoft.com/office/drawing/2014/main" id="{8F4DA08C-EF3A-261E-517A-CCDAB028A3EE}"/>
                </a:ext>
              </a:extLst>
            </p:cNvPr>
            <p:cNvPicPr>
              <a:picLocks noChangeAspect="1"/>
            </p:cNvPicPr>
            <p:nvPr/>
          </p:nvPicPr>
          <p:blipFill>
            <a:blip r:embed="rId7"/>
            <a:stretch>
              <a:fillRect/>
            </a:stretch>
          </p:blipFill>
          <p:spPr>
            <a:xfrm>
              <a:off x="14711865" y="5067187"/>
              <a:ext cx="1387758" cy="2476613"/>
            </a:xfrm>
            <a:prstGeom prst="rect">
              <a:avLst/>
            </a:prstGeom>
          </p:spPr>
        </p:pic>
        <p:pic>
          <p:nvPicPr>
            <p:cNvPr id="30" name="图片 29">
              <a:extLst>
                <a:ext uri="{FF2B5EF4-FFF2-40B4-BE49-F238E27FC236}">
                  <a16:creationId xmlns:a16="http://schemas.microsoft.com/office/drawing/2014/main" id="{806C9DD1-E135-54E7-25DD-021891ADCF73}"/>
                </a:ext>
              </a:extLst>
            </p:cNvPr>
            <p:cNvPicPr>
              <a:picLocks noChangeAspect="1"/>
            </p:cNvPicPr>
            <p:nvPr/>
          </p:nvPicPr>
          <p:blipFill>
            <a:blip r:embed="rId8"/>
            <a:stretch>
              <a:fillRect/>
            </a:stretch>
          </p:blipFill>
          <p:spPr>
            <a:xfrm>
              <a:off x="13586986" y="5130800"/>
              <a:ext cx="1152738" cy="2411232"/>
            </a:xfrm>
            <a:prstGeom prst="rect">
              <a:avLst/>
            </a:prstGeom>
          </p:spPr>
        </p:pic>
        <p:pic>
          <p:nvPicPr>
            <p:cNvPr id="32" name="图片 31">
              <a:extLst>
                <a:ext uri="{FF2B5EF4-FFF2-40B4-BE49-F238E27FC236}">
                  <a16:creationId xmlns:a16="http://schemas.microsoft.com/office/drawing/2014/main" id="{9D22CCA4-0A4D-B951-0AEC-D1EC1B02E404}"/>
                </a:ext>
              </a:extLst>
            </p:cNvPr>
            <p:cNvPicPr>
              <a:picLocks noChangeAspect="1"/>
            </p:cNvPicPr>
            <p:nvPr/>
          </p:nvPicPr>
          <p:blipFill>
            <a:blip r:embed="rId9"/>
            <a:stretch>
              <a:fillRect/>
            </a:stretch>
          </p:blipFill>
          <p:spPr>
            <a:xfrm>
              <a:off x="10210800" y="5080000"/>
              <a:ext cx="2117802" cy="2462337"/>
            </a:xfrm>
            <a:prstGeom prst="rect">
              <a:avLst/>
            </a:prstGeom>
          </p:spPr>
        </p:pic>
        <p:pic>
          <p:nvPicPr>
            <p:cNvPr id="34" name="图片 33">
              <a:extLst>
                <a:ext uri="{FF2B5EF4-FFF2-40B4-BE49-F238E27FC236}">
                  <a16:creationId xmlns:a16="http://schemas.microsoft.com/office/drawing/2014/main" id="{567DF6F8-0AD2-E0C3-0636-836600ECC83A}"/>
                </a:ext>
              </a:extLst>
            </p:cNvPr>
            <p:cNvPicPr>
              <a:picLocks noChangeAspect="1"/>
            </p:cNvPicPr>
            <p:nvPr/>
          </p:nvPicPr>
          <p:blipFill>
            <a:blip r:embed="rId10"/>
            <a:stretch>
              <a:fillRect/>
            </a:stretch>
          </p:blipFill>
          <p:spPr>
            <a:xfrm>
              <a:off x="12328602" y="5156200"/>
              <a:ext cx="1143000" cy="2347889"/>
            </a:xfrm>
            <a:prstGeom prst="rect">
              <a:avLst/>
            </a:prstGeom>
          </p:spPr>
        </p:pic>
        <p:pic>
          <p:nvPicPr>
            <p:cNvPr id="38" name="图片 37">
              <a:extLst>
                <a:ext uri="{FF2B5EF4-FFF2-40B4-BE49-F238E27FC236}">
                  <a16:creationId xmlns:a16="http://schemas.microsoft.com/office/drawing/2014/main" id="{480E4108-6275-54AB-93BE-042693241EAD}"/>
                </a:ext>
              </a:extLst>
            </p:cNvPr>
            <p:cNvPicPr>
              <a:picLocks noChangeAspect="1"/>
            </p:cNvPicPr>
            <p:nvPr/>
          </p:nvPicPr>
          <p:blipFill>
            <a:blip r:embed="rId11"/>
            <a:stretch>
              <a:fillRect/>
            </a:stretch>
          </p:blipFill>
          <p:spPr>
            <a:xfrm>
              <a:off x="16054087" y="5079822"/>
              <a:ext cx="1441013" cy="2425878"/>
            </a:xfrm>
            <a:prstGeom prst="rect">
              <a:avLst/>
            </a:prstGeom>
          </p:spPr>
        </p:pic>
      </p:grpSp>
    </p:spTree>
    <p:extLst>
      <p:ext uri="{BB962C8B-B14F-4D97-AF65-F5344CB8AC3E}">
        <p14:creationId xmlns:p14="http://schemas.microsoft.com/office/powerpoint/2010/main" val="2894227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E6272-179E-3BF4-DB5C-D3038A9A8E27}"/>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3EDD096E-CF9A-D6C4-D9F8-EF8AAABE676C}"/>
              </a:ext>
            </a:extLst>
          </p:cNvPr>
          <p:cNvSpPr txBox="1"/>
          <p:nvPr/>
        </p:nvSpPr>
        <p:spPr>
          <a:xfrm>
            <a:off x="381000" y="-38100"/>
            <a:ext cx="41148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endParaRPr lang="en-US" sz="20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9F1E65E3-D5AA-4C65-AA63-9FF252C138F8}"/>
              </a:ext>
            </a:extLst>
          </p:cNvPr>
          <p:cNvPicPr>
            <a:picLocks noChangeAspect="1"/>
          </p:cNvPicPr>
          <p:nvPr/>
        </p:nvPicPr>
        <p:blipFill>
          <a:blip r:embed="rId2"/>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066D30D4-A082-5151-1FED-D1A73C1B961E}"/>
              </a:ext>
            </a:extLst>
          </p:cNvPr>
          <p:cNvPicPr>
            <a:picLocks noChangeAspect="1"/>
          </p:cNvPicPr>
          <p:nvPr/>
        </p:nvPicPr>
        <p:blipFill>
          <a:blip r:embed="rId3"/>
          <a:stretch>
            <a:fillRect/>
          </a:stretch>
        </p:blipFill>
        <p:spPr>
          <a:xfrm>
            <a:off x="16916400" y="147595"/>
            <a:ext cx="1104169" cy="1168178"/>
          </a:xfrm>
          <a:prstGeom prst="rect">
            <a:avLst/>
          </a:prstGeom>
        </p:spPr>
      </p:pic>
      <p:pic>
        <p:nvPicPr>
          <p:cNvPr id="4" name="图片 3">
            <a:extLst>
              <a:ext uri="{FF2B5EF4-FFF2-40B4-BE49-F238E27FC236}">
                <a16:creationId xmlns:a16="http://schemas.microsoft.com/office/drawing/2014/main" id="{6F8D7A4C-38C9-9059-FFBE-F3D8CF7A9E25}"/>
              </a:ext>
            </a:extLst>
          </p:cNvPr>
          <p:cNvPicPr>
            <a:picLocks noChangeAspect="1"/>
          </p:cNvPicPr>
          <p:nvPr/>
        </p:nvPicPr>
        <p:blipFill>
          <a:blip r:embed="rId4"/>
          <a:stretch>
            <a:fillRect/>
          </a:stretch>
        </p:blipFill>
        <p:spPr>
          <a:xfrm>
            <a:off x="170992" y="1298037"/>
            <a:ext cx="5544008" cy="8988963"/>
          </a:xfrm>
          <a:prstGeom prst="rect">
            <a:avLst/>
          </a:prstGeom>
        </p:spPr>
      </p:pic>
      <p:sp>
        <p:nvSpPr>
          <p:cNvPr id="10" name="文本框 9">
            <a:extLst>
              <a:ext uri="{FF2B5EF4-FFF2-40B4-BE49-F238E27FC236}">
                <a16:creationId xmlns:a16="http://schemas.microsoft.com/office/drawing/2014/main" id="{E9DFD746-CAFE-8158-4FEC-50DFD5B40B0F}"/>
              </a:ext>
            </a:extLst>
          </p:cNvPr>
          <p:cNvSpPr txBox="1"/>
          <p:nvPr/>
        </p:nvSpPr>
        <p:spPr>
          <a:xfrm>
            <a:off x="7353878" y="1299746"/>
            <a:ext cx="3276600" cy="338554"/>
          </a:xfrm>
          <a:prstGeom prst="rect">
            <a:avLst/>
          </a:prstGeom>
          <a:noFill/>
        </p:spPr>
        <p:txBody>
          <a:bodyPr wrap="square">
            <a:spAutoFit/>
          </a:bodyPr>
          <a:lstStyle/>
          <a:p>
            <a:pPr algn="ctr"/>
            <a:r>
              <a:rPr lang="en-US" altLang="zh-CN" sz="1600" b="1" dirty="0">
                <a:solidFill>
                  <a:srgbClr val="0F4662"/>
                </a:solidFill>
                <a:latin typeface="Book Antiqua" panose="02040602050305030304" pitchFamily="18" charset="0"/>
                <a:cs typeface="Times New Roman" panose="02020603050405020304" pitchFamily="18" charset="0"/>
              </a:rPr>
              <a:t>Mathematical Explanation</a:t>
            </a:r>
            <a:endParaRPr lang="zh-CN" altLang="en-US" sz="1600" b="1" dirty="0">
              <a:solidFill>
                <a:srgbClr val="0F4662"/>
              </a:solidFill>
              <a:latin typeface="Book Antiqua" panose="0204060205030503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895AF973-2473-29DE-F56C-30CEB01A6577}"/>
              </a:ext>
            </a:extLst>
          </p:cNvPr>
          <p:cNvSpPr txBox="1"/>
          <p:nvPr/>
        </p:nvSpPr>
        <p:spPr>
          <a:xfrm>
            <a:off x="13971557" y="1299746"/>
            <a:ext cx="2342764" cy="338554"/>
          </a:xfrm>
          <a:prstGeom prst="rect">
            <a:avLst/>
          </a:prstGeom>
          <a:noFill/>
        </p:spPr>
        <p:txBody>
          <a:bodyPr wrap="square">
            <a:spAutoFit/>
          </a:bodyPr>
          <a:lstStyle/>
          <a:p>
            <a:pPr algn="ctr"/>
            <a:r>
              <a:rPr lang="en-US" altLang="zh-CN" sz="1600" b="1" dirty="0">
                <a:solidFill>
                  <a:srgbClr val="0F4662"/>
                </a:solidFill>
                <a:latin typeface="Book Antiqua" panose="02040602050305030304" pitchFamily="18" charset="0"/>
                <a:cs typeface="Times New Roman" panose="02020603050405020304" pitchFamily="18" charset="0"/>
              </a:rPr>
              <a:t>Realistic Meaning</a:t>
            </a:r>
            <a:endParaRPr lang="zh-CN" altLang="en-US" sz="1600" b="1" dirty="0">
              <a:solidFill>
                <a:srgbClr val="0F4662"/>
              </a:solidFill>
              <a:latin typeface="Book Antiqua" panose="0204060205030503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B4F3CDB-1C54-848A-053C-377B1D0E951D}"/>
                  </a:ext>
                </a:extLst>
              </p:cNvPr>
              <p:cNvSpPr txBox="1"/>
              <p:nvPr/>
            </p:nvSpPr>
            <p:spPr>
              <a:xfrm>
                <a:off x="6681413" y="1884422"/>
                <a:ext cx="4621530"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hedge ratio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𝛽</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is computed using OLS regression on the log prices of BYD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and Tesla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a:t>
                </a:r>
                <a:endParaRPr lang="en-US" altLang="zh-CN" sz="1400" i="1" dirty="0">
                  <a:solidFill>
                    <a:schemeClr val="accent5">
                      <a:lumMod val="50000"/>
                    </a:schemeClr>
                  </a:solidFill>
                  <a:latin typeface="Cambria Math" panose="02040503050406030204" pitchFamily="18" charset="0"/>
                  <a:cs typeface="Times New Roman" panose="020206030504050203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𝛽</m:t>
                      </m:r>
                      <m:sSub>
                        <m:sSubPr>
                          <m:ctrlP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oMath>
                  </m:oMathPara>
                </a14:m>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8B4F3CDB-1C54-848A-053C-377B1D0E951D}"/>
                  </a:ext>
                </a:extLst>
              </p:cNvPr>
              <p:cNvSpPr txBox="1">
                <a:spLocks noRot="1" noChangeAspect="1" noMove="1" noResize="1" noEditPoints="1" noAdjustHandles="1" noChangeArrowheads="1" noChangeShapeType="1" noTextEdit="1"/>
              </p:cNvSpPr>
              <p:nvPr/>
            </p:nvSpPr>
            <p:spPr>
              <a:xfrm>
                <a:off x="6681413" y="1884422"/>
                <a:ext cx="4621530" cy="738664"/>
              </a:xfrm>
              <a:prstGeom prst="rect">
                <a:avLst/>
              </a:prstGeom>
              <a:blipFill>
                <a:blip r:embed="rId6"/>
                <a:stretch>
                  <a:fillRect t="-1653" b="-24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E0388E9E-CC9F-CA23-3CE4-E68BDD2F3DDB}"/>
                  </a:ext>
                </a:extLst>
              </p:cNvPr>
              <p:cNvSpPr txBox="1"/>
              <p:nvPr/>
            </p:nvSpPr>
            <p:spPr>
              <a:xfrm>
                <a:off x="13187572" y="1685607"/>
                <a:ext cx="4006074"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Here,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𝛽</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0.897</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indicates that for a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change in Tesla's log price, BYD's log price changes by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0.897%</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a:t>
                </a:r>
              </a:p>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spread is then: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𝛽</m:t>
                    </m:r>
                    <m:sSub>
                      <m:sSubPr>
                        <m:ctrlP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4" name="文本框 13">
                <a:extLst>
                  <a:ext uri="{FF2B5EF4-FFF2-40B4-BE49-F238E27FC236}">
                    <a16:creationId xmlns:a16="http://schemas.microsoft.com/office/drawing/2014/main" id="{E0388E9E-CC9F-CA23-3CE4-E68BDD2F3DDB}"/>
                  </a:ext>
                </a:extLst>
              </p:cNvPr>
              <p:cNvSpPr txBox="1">
                <a:spLocks noRot="1" noChangeAspect="1" noMove="1" noResize="1" noEditPoints="1" noAdjustHandles="1" noChangeArrowheads="1" noChangeShapeType="1" noTextEdit="1"/>
              </p:cNvSpPr>
              <p:nvPr/>
            </p:nvSpPr>
            <p:spPr>
              <a:xfrm>
                <a:off x="13187572" y="1685607"/>
                <a:ext cx="4006074" cy="738664"/>
              </a:xfrm>
              <a:prstGeom prst="rect">
                <a:avLst/>
              </a:prstGeom>
              <a:blipFill>
                <a:blip r:embed="rId7"/>
                <a:stretch>
                  <a:fillRect t="-1653" b="-74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A21F4ED-E098-0F18-7ECB-34334A500ED0}"/>
                  </a:ext>
                </a:extLst>
              </p:cNvPr>
              <p:cNvSpPr txBox="1"/>
              <p:nvPr/>
            </p:nvSpPr>
            <p:spPr>
              <a:xfrm>
                <a:off x="6326891" y="2849252"/>
                <a:ext cx="5320665"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For two series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(BYD) and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(Tesla), cointegration implies there exists a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𝛽</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such that the spread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𝛽</m:t>
                    </m:r>
                    <m:sSub>
                      <m:sSubPr>
                        <m:ctrlP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is stationary. The CADF test regresses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𝑋</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on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𝑌</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to estimate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𝛽</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(hedge ratio) and tests the stationarity of the residuals.</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AA21F4ED-E098-0F18-7ECB-34334A500ED0}"/>
                  </a:ext>
                </a:extLst>
              </p:cNvPr>
              <p:cNvSpPr txBox="1">
                <a:spLocks noRot="1" noChangeAspect="1" noMove="1" noResize="1" noEditPoints="1" noAdjustHandles="1" noChangeArrowheads="1" noChangeShapeType="1" noTextEdit="1"/>
              </p:cNvSpPr>
              <p:nvPr/>
            </p:nvSpPr>
            <p:spPr>
              <a:xfrm>
                <a:off x="6326891" y="2849252"/>
                <a:ext cx="5320665" cy="738664"/>
              </a:xfrm>
              <a:prstGeom prst="rect">
                <a:avLst/>
              </a:prstGeom>
              <a:blipFill>
                <a:blip r:embed="rId8"/>
                <a:stretch>
                  <a:fillRect t="-820" b="-7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5BBFDCB-6A80-D61A-D415-8E354DFBECA6}"/>
                  </a:ext>
                </a:extLst>
              </p:cNvPr>
              <p:cNvSpPr txBox="1"/>
              <p:nvPr/>
            </p:nvSpPr>
            <p:spPr>
              <a:xfrm>
                <a:off x="12605526" y="2633808"/>
                <a:ext cx="5074826" cy="1169551"/>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test statistic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−3.273</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is more negative than the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10%</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critical value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−2.862</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but less negative than the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critical value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−3.339</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The p-value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0.0585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is slightly above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suggesting that it’s moderate evidence of cointegration between BYD and Tesla, meaning their prices have a stable long-term relationship, which is a prerequisite for pairs trading.</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9" name="文本框 18">
                <a:extLst>
                  <a:ext uri="{FF2B5EF4-FFF2-40B4-BE49-F238E27FC236}">
                    <a16:creationId xmlns:a16="http://schemas.microsoft.com/office/drawing/2014/main" id="{75BBFDCB-6A80-D61A-D415-8E354DFBECA6}"/>
                  </a:ext>
                </a:extLst>
              </p:cNvPr>
              <p:cNvSpPr txBox="1">
                <a:spLocks noRot="1" noChangeAspect="1" noMove="1" noResize="1" noEditPoints="1" noAdjustHandles="1" noChangeArrowheads="1" noChangeShapeType="1" noTextEdit="1"/>
              </p:cNvSpPr>
              <p:nvPr/>
            </p:nvSpPr>
            <p:spPr>
              <a:xfrm>
                <a:off x="12605526" y="2633808"/>
                <a:ext cx="5074826" cy="1169551"/>
              </a:xfrm>
              <a:prstGeom prst="rect">
                <a:avLst/>
              </a:prstGeom>
              <a:blipFill>
                <a:blip r:embed="rId9"/>
                <a:stretch>
                  <a:fillRect l="-361" t="-1042" r="-1202" b="-4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991A0C8-4D0C-0E33-8722-8E142FCE16A2}"/>
                  </a:ext>
                </a:extLst>
              </p:cNvPr>
              <p:cNvSpPr txBox="1"/>
              <p:nvPr/>
            </p:nvSpPr>
            <p:spPr>
              <a:xfrm>
                <a:off x="6455549" y="4129611"/>
                <a:ext cx="5063346"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Applied to the spread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this tests for stationarity. A stationary spread (p-value &lt;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suggests mean-reverting behavior, crucial for pairs trading. The test statistic is compared to critical values.</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0" name="文本框 19">
                <a:extLst>
                  <a:ext uri="{FF2B5EF4-FFF2-40B4-BE49-F238E27FC236}">
                    <a16:creationId xmlns:a16="http://schemas.microsoft.com/office/drawing/2014/main" id="{7991A0C8-4D0C-0E33-8722-8E142FCE16A2}"/>
                  </a:ext>
                </a:extLst>
              </p:cNvPr>
              <p:cNvSpPr txBox="1">
                <a:spLocks noRot="1" noChangeAspect="1" noMove="1" noResize="1" noEditPoints="1" noAdjustHandles="1" noChangeArrowheads="1" noChangeShapeType="1" noTextEdit="1"/>
              </p:cNvSpPr>
              <p:nvPr/>
            </p:nvSpPr>
            <p:spPr>
              <a:xfrm>
                <a:off x="6455549" y="4129611"/>
                <a:ext cx="5063346" cy="738664"/>
              </a:xfrm>
              <a:prstGeom prst="rect">
                <a:avLst/>
              </a:prstGeom>
              <a:blipFill>
                <a:blip r:embed="rId10"/>
                <a:stretch>
                  <a:fillRect t="-820" b="-73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94E4689B-179E-CC01-EDA3-B0167546C79E}"/>
                  </a:ext>
                </a:extLst>
              </p:cNvPr>
              <p:cNvSpPr txBox="1"/>
              <p:nvPr/>
            </p:nvSpPr>
            <p:spPr>
              <a:xfrm>
                <a:off x="12727446" y="4094427"/>
                <a:ext cx="4926330"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ADF test on the spread (statistic =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−3.270</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p-value =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0.0163</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indicates the spread is stationary at the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level (critical value =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−2.863</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confirming mean-reverting behavior suitable for pairs trading.</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1" name="文本框 20">
                <a:extLst>
                  <a:ext uri="{FF2B5EF4-FFF2-40B4-BE49-F238E27FC236}">
                    <a16:creationId xmlns:a16="http://schemas.microsoft.com/office/drawing/2014/main" id="{94E4689B-179E-CC01-EDA3-B0167546C79E}"/>
                  </a:ext>
                </a:extLst>
              </p:cNvPr>
              <p:cNvSpPr txBox="1">
                <a:spLocks noRot="1" noChangeAspect="1" noMove="1" noResize="1" noEditPoints="1" noAdjustHandles="1" noChangeArrowheads="1" noChangeShapeType="1" noTextEdit="1"/>
              </p:cNvSpPr>
              <p:nvPr/>
            </p:nvSpPr>
            <p:spPr>
              <a:xfrm>
                <a:off x="12727446" y="4094427"/>
                <a:ext cx="4926330" cy="738664"/>
              </a:xfrm>
              <a:prstGeom prst="rect">
                <a:avLst/>
              </a:prstGeom>
              <a:blipFill>
                <a:blip r:embed="rId11"/>
                <a:stretch>
                  <a:fillRect t="-1653" r="-866" b="-74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B1DC92DD-5EFD-ADA7-B863-2C63EB703AB4}"/>
                  </a:ext>
                </a:extLst>
              </p:cNvPr>
              <p:cNvSpPr txBox="1"/>
              <p:nvPr/>
            </p:nvSpPr>
            <p:spPr>
              <a:xfrm>
                <a:off x="6121200" y="5509893"/>
                <a:ext cx="5732043" cy="816314"/>
              </a:xfrm>
              <a:prstGeom prst="rect">
                <a:avLst/>
              </a:prstGeom>
              <a:solidFill>
                <a:schemeClr val="accent1">
                  <a:lumMod val="20000"/>
                  <a:lumOff val="80000"/>
                </a:schemeClr>
              </a:solid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altLang="zh-CN" sz="1400" b="0" i="1" smtClean="0">
                          <a:solidFill>
                            <a:schemeClr val="accent5">
                              <a:lumMod val="50000"/>
                            </a:schemeClr>
                          </a:solidFill>
                          <a:latin typeface="Cambria Math" panose="02040503050406030204" pitchFamily="18" charset="0"/>
                          <a:cs typeface="Times New Roman" panose="02020603050405020304" pitchFamily="18" charset="0"/>
                        </a:rPr>
                        <m:t>𝑟</m:t>
                      </m:r>
                      <m:r>
                        <a:rPr lang="en-US" altLang="zh-CN" sz="1400" b="0" i="1" smtClean="0">
                          <a:solidFill>
                            <a:schemeClr val="accent5">
                              <a:lumMod val="50000"/>
                            </a:schemeClr>
                          </a:solidFill>
                          <a:latin typeface="Cambria Math" panose="02040503050406030204" pitchFamily="18" charset="0"/>
                          <a:cs typeface="Times New Roman" panose="02020603050405020304" pitchFamily="18" charset="0"/>
                        </a:rPr>
                        <m:t>=</m:t>
                      </m:r>
                      <m:f>
                        <m:f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fPr>
                        <m:num>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m:t>
                          </m:r>
                          <m:d>
                            <m:d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dPr>
                            <m:e>
                              <m:sSub>
                                <m:sSub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𝑥</m:t>
                                  </m:r>
                                </m:e>
                                <m:sub>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m:t>
                              </m:r>
                              <m:acc>
                                <m:accPr>
                                  <m:chr m:val="̅"/>
                                  <m:ctrlPr>
                                    <a:rPr lang="en-US" altLang="zh-CN" sz="1400" b="0" i="1" smtClean="0">
                                      <a:solidFill>
                                        <a:schemeClr val="accent5">
                                          <a:lumMod val="50000"/>
                                        </a:schemeClr>
                                      </a:solidFill>
                                      <a:latin typeface="Cambria Math" panose="02040503050406030204" pitchFamily="18" charset="0"/>
                                      <a:cs typeface="Times New Roman" panose="02020603050405020304" pitchFamily="18" charset="0"/>
                                    </a:rPr>
                                  </m:ctrlPr>
                                </m:accPr>
                                <m:e>
                                  <m:r>
                                    <a:rPr lang="en-US" altLang="zh-CN" sz="1400" b="0" i="1" smtClean="0">
                                      <a:solidFill>
                                        <a:schemeClr val="accent5">
                                          <a:lumMod val="50000"/>
                                        </a:schemeClr>
                                      </a:solidFill>
                                      <a:latin typeface="Cambria Math" panose="02040503050406030204" pitchFamily="18" charset="0"/>
                                      <a:cs typeface="Times New Roman" panose="02020603050405020304" pitchFamily="18" charset="0"/>
                                    </a:rPr>
                                    <m:t>𝑥</m:t>
                                  </m:r>
                                </m:e>
                              </m:acc>
                            </m:e>
                          </m:d>
                          <m:d>
                            <m:d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dPr>
                            <m:e>
                              <m:sSub>
                                <m:sSub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 </m:t>
                              </m:r>
                              <m:acc>
                                <m:accPr>
                                  <m:chr m:val="̅"/>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accPr>
                                <m:e>
                                  <m:r>
                                    <a:rPr lang="en-US" altLang="zh-CN" sz="1400" b="0" i="1" smtClean="0">
                                      <a:solidFill>
                                        <a:schemeClr val="accent5">
                                          <a:lumMod val="50000"/>
                                        </a:schemeClr>
                                      </a:solidFill>
                                      <a:latin typeface="Cambria Math" panose="02040503050406030204" pitchFamily="18" charset="0"/>
                                      <a:cs typeface="Times New Roman" panose="02020603050405020304" pitchFamily="18" charset="0"/>
                                    </a:rPr>
                                    <m:t>𝑦</m:t>
                                  </m:r>
                                </m:e>
                              </m:acc>
                            </m:e>
                          </m:d>
                        </m:num>
                        <m:den>
                          <m:rad>
                            <m:radPr>
                              <m:degHide m:val="on"/>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radPr>
                            <m:deg/>
                            <m:e>
                              <m:r>
                                <a:rPr lang="en-US" altLang="zh-CN" sz="1400" i="1">
                                  <a:solidFill>
                                    <a:schemeClr val="accent5">
                                      <a:lumMod val="50000"/>
                                    </a:schemeClr>
                                  </a:solidFill>
                                  <a:latin typeface="Cambria Math" panose="02040503050406030204" pitchFamily="18" charset="0"/>
                                  <a:cs typeface="Times New Roman" panose="02020603050405020304" pitchFamily="18" charset="0"/>
                                </a:rPr>
                                <m:t>∑</m:t>
                              </m:r>
                              <m:sSup>
                                <m:sSup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sSupPr>
                                <m:e>
                                  <m:d>
                                    <m:d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dPr>
                                    <m:e>
                                      <m:sSub>
                                        <m:sSub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a:solidFill>
                                                <a:schemeClr val="accent5">
                                                  <a:lumMod val="50000"/>
                                                </a:schemeClr>
                                              </a:solidFill>
                                              <a:latin typeface="Cambria Math" panose="02040503050406030204" pitchFamily="18" charset="0"/>
                                              <a:cs typeface="Times New Roman" panose="02020603050405020304" pitchFamily="18" charset="0"/>
                                            </a:rPr>
                                            <m:t>𝑥</m:t>
                                          </m:r>
                                        </m:e>
                                        <m:sub>
                                          <m:r>
                                            <a:rPr lang="en-US" altLang="zh-CN" sz="1400" i="1">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CN" sz="1400" i="1">
                                          <a:solidFill>
                                            <a:schemeClr val="accent5">
                                              <a:lumMod val="50000"/>
                                            </a:schemeClr>
                                          </a:solidFill>
                                          <a:latin typeface="Cambria Math" panose="02040503050406030204" pitchFamily="18" charset="0"/>
                                          <a:cs typeface="Times New Roman" panose="02020603050405020304" pitchFamily="18" charset="0"/>
                                        </a:rPr>
                                        <m:t>− </m:t>
                                      </m:r>
                                      <m:acc>
                                        <m:accPr>
                                          <m:chr m:val="̅"/>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accPr>
                                        <m:e>
                                          <m:r>
                                            <a:rPr lang="en-US" altLang="zh-CN" sz="1400" i="1">
                                              <a:solidFill>
                                                <a:schemeClr val="accent5">
                                                  <a:lumMod val="50000"/>
                                                </a:schemeClr>
                                              </a:solidFill>
                                              <a:latin typeface="Cambria Math" panose="02040503050406030204" pitchFamily="18" charset="0"/>
                                              <a:cs typeface="Times New Roman" panose="02020603050405020304" pitchFamily="18" charset="0"/>
                                            </a:rPr>
                                            <m:t>𝑥</m:t>
                                          </m:r>
                                        </m:e>
                                      </m:acc>
                                    </m:e>
                                  </m:d>
                                </m:e>
                                <m:sup>
                                  <m:r>
                                    <a:rPr lang="en-US" altLang="zh-CN" sz="1400" i="1">
                                      <a:solidFill>
                                        <a:schemeClr val="accent5">
                                          <a:lumMod val="50000"/>
                                        </a:schemeClr>
                                      </a:solidFill>
                                      <a:latin typeface="Cambria Math" panose="02040503050406030204" pitchFamily="18" charset="0"/>
                                      <a:cs typeface="Times New Roman" panose="02020603050405020304" pitchFamily="18" charset="0"/>
                                    </a:rPr>
                                    <m:t>2</m:t>
                                  </m:r>
                                </m:sup>
                              </m:sSup>
                              <m:r>
                                <a:rPr lang="en-US" altLang="zh-CN" sz="1400" i="1">
                                  <a:solidFill>
                                    <a:schemeClr val="accent5">
                                      <a:lumMod val="50000"/>
                                    </a:schemeClr>
                                  </a:solidFill>
                                  <a:latin typeface="Cambria Math" panose="02040503050406030204" pitchFamily="18" charset="0"/>
                                  <a:cs typeface="Times New Roman" panose="02020603050405020304" pitchFamily="18" charset="0"/>
                                </a:rPr>
                                <m:t>∑</m:t>
                              </m:r>
                              <m:sSup>
                                <m:sSup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sSupPr>
                                <m:e>
                                  <m:d>
                                    <m:d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dPr>
                                    <m:e>
                                      <m:sSub>
                                        <m:sSub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sz="1400" i="1">
                                              <a:solidFill>
                                                <a:schemeClr val="accent5">
                                                  <a:lumMod val="50000"/>
                                                </a:schemeClr>
                                              </a:solidFill>
                                              <a:latin typeface="Cambria Math" panose="02040503050406030204" pitchFamily="18" charset="0"/>
                                              <a:cs typeface="Times New Roman" panose="02020603050405020304" pitchFamily="18" charset="0"/>
                                            </a:rPr>
                                            <m:t>𝑖</m:t>
                                          </m:r>
                                        </m:sub>
                                      </m:sSub>
                                      <m:r>
                                        <a:rPr lang="en-US" altLang="zh-CN" sz="1400" i="1">
                                          <a:solidFill>
                                            <a:schemeClr val="accent5">
                                              <a:lumMod val="50000"/>
                                            </a:schemeClr>
                                          </a:solidFill>
                                          <a:latin typeface="Cambria Math" panose="02040503050406030204" pitchFamily="18" charset="0"/>
                                          <a:cs typeface="Times New Roman" panose="02020603050405020304" pitchFamily="18" charset="0"/>
                                        </a:rPr>
                                        <m:t>− </m:t>
                                      </m:r>
                                      <m:acc>
                                        <m:accPr>
                                          <m:chr m:val="̅"/>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accPr>
                                        <m:e>
                                          <m:r>
                                            <a:rPr lang="en-US" altLang="zh-CN" sz="1400" i="1">
                                              <a:solidFill>
                                                <a:schemeClr val="accent5">
                                                  <a:lumMod val="50000"/>
                                                </a:schemeClr>
                                              </a:solidFill>
                                              <a:latin typeface="Cambria Math" panose="02040503050406030204" pitchFamily="18" charset="0"/>
                                              <a:cs typeface="Times New Roman" panose="02020603050405020304" pitchFamily="18" charset="0"/>
                                            </a:rPr>
                                            <m:t>𝑦</m:t>
                                          </m:r>
                                        </m:e>
                                      </m:acc>
                                    </m:e>
                                  </m:d>
                                </m:e>
                                <m:sup>
                                  <m:r>
                                    <a:rPr lang="en-US" altLang="zh-CN" sz="1400" i="1">
                                      <a:solidFill>
                                        <a:schemeClr val="accent5">
                                          <a:lumMod val="50000"/>
                                        </a:schemeClr>
                                      </a:solidFill>
                                      <a:latin typeface="Cambria Math" panose="02040503050406030204" pitchFamily="18" charset="0"/>
                                      <a:cs typeface="Times New Roman" panose="02020603050405020304" pitchFamily="18" charset="0"/>
                                    </a:rPr>
                                    <m:t>2</m:t>
                                  </m:r>
                                </m:sup>
                              </m:sSup>
                            </m:e>
                          </m:rad>
                        </m:den>
                      </m:f>
                    </m:oMath>
                  </m:oMathPara>
                </a14:m>
                <a:endParaRPr lang="en-US" altLang="zh-CN" sz="1400" dirty="0">
                  <a:solidFill>
                    <a:schemeClr val="accent5">
                      <a:lumMod val="50000"/>
                    </a:schemeClr>
                  </a:solidFill>
                  <a:latin typeface="Cormorant Garamond Bold Italics" panose="02010600030101010101" charset="0"/>
                  <a:cs typeface="Times New Roman" panose="02020603050405020304" pitchFamily="18" charset="0"/>
                </a:endParaRPr>
              </a:p>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Pearson Correlation measures the linear relationship between the two stocks’ log prices.</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7" name="文本框 26">
                <a:extLst>
                  <a:ext uri="{FF2B5EF4-FFF2-40B4-BE49-F238E27FC236}">
                    <a16:creationId xmlns:a16="http://schemas.microsoft.com/office/drawing/2014/main" id="{B1DC92DD-5EFD-ADA7-B863-2C63EB703AB4}"/>
                  </a:ext>
                </a:extLst>
              </p:cNvPr>
              <p:cNvSpPr txBox="1">
                <a:spLocks noRot="1" noChangeAspect="1" noMove="1" noResize="1" noEditPoints="1" noAdjustHandles="1" noChangeArrowheads="1" noChangeShapeType="1" noTextEdit="1"/>
              </p:cNvSpPr>
              <p:nvPr/>
            </p:nvSpPr>
            <p:spPr>
              <a:xfrm>
                <a:off x="6121200" y="5509893"/>
                <a:ext cx="5732043" cy="816314"/>
              </a:xfrm>
              <a:prstGeom prst="rect">
                <a:avLst/>
              </a:prstGeom>
              <a:blipFill>
                <a:blip r:embed="rId12"/>
                <a:stretch>
                  <a:fillRect l="-532" r="-638" b="-59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B1909292-F290-0F52-9844-948887B784E0}"/>
                  </a:ext>
                </a:extLst>
              </p:cNvPr>
              <p:cNvSpPr txBox="1"/>
              <p:nvPr/>
            </p:nvSpPr>
            <p:spPr>
              <a:xfrm>
                <a:off x="6267119" y="7160922"/>
                <a:ext cx="5440206" cy="954107"/>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Hurst Exponent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𝐻</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measures the degree of long-term memory in a time series:</a:t>
                </a:r>
              </a:p>
              <a:p>
                <a:pPr algn="ctr"/>
                <a14:m>
                  <m:oMath xmlns:m="http://schemas.openxmlformats.org/officeDocument/2006/math">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𝐻</m:t>
                    </m:r>
                    <m:r>
                      <a:rPr lang="en-US" altLang="zh-CN" sz="1400" i="1" dirty="0">
                        <a:solidFill>
                          <a:schemeClr val="accent5">
                            <a:lumMod val="50000"/>
                          </a:schemeClr>
                        </a:solidFill>
                        <a:latin typeface="Cambria Math" panose="02040503050406030204" pitchFamily="18" charset="0"/>
                        <a:cs typeface="Times New Roman" panose="02020603050405020304" pitchFamily="18" charset="0"/>
                      </a:rPr>
                      <m:t> &lt; 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Mean-reverting series</a:t>
                </a:r>
              </a:p>
              <a:p>
                <a:pPr algn="ct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𝐻</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 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Random walk</a:t>
                </a:r>
              </a:p>
              <a:p>
                <a:pPr algn="ct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𝐻</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&gt; 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Trending series</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8" name="文本框 27">
                <a:extLst>
                  <a:ext uri="{FF2B5EF4-FFF2-40B4-BE49-F238E27FC236}">
                    <a16:creationId xmlns:a16="http://schemas.microsoft.com/office/drawing/2014/main" id="{B1909292-F290-0F52-9844-948887B784E0}"/>
                  </a:ext>
                </a:extLst>
              </p:cNvPr>
              <p:cNvSpPr txBox="1">
                <a:spLocks noRot="1" noChangeAspect="1" noMove="1" noResize="1" noEditPoints="1" noAdjustHandles="1" noChangeArrowheads="1" noChangeShapeType="1" noTextEdit="1"/>
              </p:cNvSpPr>
              <p:nvPr/>
            </p:nvSpPr>
            <p:spPr>
              <a:xfrm>
                <a:off x="6267119" y="7160922"/>
                <a:ext cx="5440206" cy="954107"/>
              </a:xfrm>
              <a:prstGeom prst="rect">
                <a:avLst/>
              </a:prstGeom>
              <a:blipFill>
                <a:blip r:embed="rId13"/>
                <a:stretch>
                  <a:fillRect t="-1282" b="-576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EA25D964-BED0-BC5B-31BA-349E8CF6FF6F}"/>
                  </a:ext>
                </a:extLst>
              </p:cNvPr>
              <p:cNvSpPr txBox="1"/>
              <p:nvPr/>
            </p:nvSpPr>
            <p:spPr>
              <a:xfrm>
                <a:off x="6334698" y="8227317"/>
                <a:ext cx="5305048" cy="844205"/>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Half-Life of Mean Reversion measures how quickly the spread reverts to its mean. It’s derived from an OLS regression of the spread’s first difference (</a:t>
                </a:r>
                <a14:m>
                  <m:oMath xmlns:m="http://schemas.openxmlformats.org/officeDocument/2006/math">
                    <m:r>
                      <m:rPr>
                        <m:sty m:val="p"/>
                      </m:rPr>
                      <a:rPr lang="en-US" altLang="zh-CN" sz="1400" i="0" dirty="0" smtClean="0">
                        <a:solidFill>
                          <a:schemeClr val="accent5">
                            <a:lumMod val="50000"/>
                          </a:schemeClr>
                        </a:solidFill>
                        <a:latin typeface="Cambria Math" panose="02040503050406030204" pitchFamily="18" charset="0"/>
                        <a:cs typeface="Times New Roman" panose="02020603050405020304" pitchFamily="18" charset="0"/>
                      </a:rPr>
                      <m:t>Δ</m:t>
                    </m:r>
                    <m:sSub>
                      <m:sSubPr>
                        <m:ctrlPr>
                          <a:rPr lang="en-US" altLang="zh-CN" sz="1400"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err="1">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on its lagged value (</a:t>
                </a:r>
                <a14:m>
                  <m:oMath xmlns:m="http://schemas.openxmlformats.org/officeDocument/2006/math">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𝑡</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−1</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m:rPr>
                        <m:sty m:val="p"/>
                      </m:rPr>
                      <a:rPr lang="en-US" altLang="zh-CN" sz="1400" i="0" dirty="0" smtClean="0">
                        <a:solidFill>
                          <a:schemeClr val="accent5">
                            <a:lumMod val="50000"/>
                          </a:schemeClr>
                        </a:solidFill>
                        <a:latin typeface="Cambria Math" panose="02040503050406030204" pitchFamily="18" charset="0"/>
                        <a:cs typeface="Times New Roman" panose="02020603050405020304" pitchFamily="18" charset="0"/>
                      </a:rPr>
                      <m:t>Δ</m:t>
                    </m:r>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𝑍</m:t>
                        </m:r>
                      </m:e>
                      <m: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𝜆</m:t>
                    </m:r>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𝑍</m:t>
                        </m:r>
                      </m:e>
                      <m:sub>
                        <m:d>
                          <m:dPr>
                            <m:begChr m:val="{"/>
                            <m:endChr m:val="}"/>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𝑡</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−1</m:t>
                            </m:r>
                          </m:e>
                        </m:d>
                      </m:sub>
                    </m:s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and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h𝑎𝑙𝑓</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𝑙𝑖𝑓𝑒</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 </m:t>
                    </m:r>
                    <m:f>
                      <m:fPr>
                        <m:ctrlP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ctrlPr>
                      </m:fPr>
                      <m:num>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𝑙𝑛</m:t>
                        </m:r>
                        <m:d>
                          <m:dPr>
                            <m:ctrlPr>
                              <a:rPr lang="en-US" altLang="zh-CN" sz="1400" i="1">
                                <a:solidFill>
                                  <a:schemeClr val="accent5">
                                    <a:lumMod val="50000"/>
                                  </a:schemeClr>
                                </a:solidFill>
                                <a:latin typeface="Cambria Math" panose="02040503050406030204" pitchFamily="18" charset="0"/>
                                <a:cs typeface="Times New Roman" panose="02020603050405020304" pitchFamily="18" charset="0"/>
                              </a:rPr>
                            </m:ctrlPr>
                          </m:dPr>
                          <m:e>
                            <m:r>
                              <a:rPr lang="en-US" altLang="zh-CN" sz="1400" i="1">
                                <a:solidFill>
                                  <a:schemeClr val="accent5">
                                    <a:lumMod val="50000"/>
                                  </a:schemeClr>
                                </a:solidFill>
                                <a:latin typeface="Cambria Math" panose="02040503050406030204" pitchFamily="18" charset="0"/>
                                <a:cs typeface="Times New Roman" panose="02020603050405020304" pitchFamily="18" charset="0"/>
                              </a:rPr>
                              <m:t>2</m:t>
                            </m:r>
                          </m:e>
                        </m:d>
                      </m:num>
                      <m:den>
                        <m:r>
                          <a:rPr lang="en-US" altLang="zh-CN" sz="1400" i="1" smtClean="0">
                            <a:solidFill>
                              <a:schemeClr val="accent5">
                                <a:lumMod val="50000"/>
                              </a:schemeClr>
                            </a:solidFill>
                            <a:latin typeface="Cambria Math" panose="02040503050406030204" pitchFamily="18" charset="0"/>
                            <a:cs typeface="Times New Roman" panose="02020603050405020304" pitchFamily="18" charset="0"/>
                          </a:rPr>
                          <m:t>𝜆</m:t>
                        </m:r>
                      </m:den>
                    </m:f>
                  </m:oMath>
                </a14:m>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0" name="文本框 29">
                <a:extLst>
                  <a:ext uri="{FF2B5EF4-FFF2-40B4-BE49-F238E27FC236}">
                    <a16:creationId xmlns:a16="http://schemas.microsoft.com/office/drawing/2014/main" id="{EA25D964-BED0-BC5B-31BA-349E8CF6FF6F}"/>
                  </a:ext>
                </a:extLst>
              </p:cNvPr>
              <p:cNvSpPr txBox="1">
                <a:spLocks noRot="1" noChangeAspect="1" noMove="1" noResize="1" noEditPoints="1" noAdjustHandles="1" noChangeArrowheads="1" noChangeShapeType="1" noTextEdit="1"/>
              </p:cNvSpPr>
              <p:nvPr/>
            </p:nvSpPr>
            <p:spPr>
              <a:xfrm>
                <a:off x="6334698" y="8227317"/>
                <a:ext cx="5305048" cy="844205"/>
              </a:xfrm>
              <a:prstGeom prst="rect">
                <a:avLst/>
              </a:prstGeom>
              <a:blipFill>
                <a:blip r:embed="rId14"/>
                <a:stretch>
                  <a:fillRect l="-115" t="-1449" r="-115" b="-144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80CD2C0D-E48C-9303-861C-7BC08510CB95}"/>
                  </a:ext>
                </a:extLst>
              </p:cNvPr>
              <p:cNvSpPr txBox="1"/>
              <p:nvPr/>
            </p:nvSpPr>
            <p:spPr>
              <a:xfrm>
                <a:off x="12879846" y="5372100"/>
                <a:ext cx="4621530" cy="954107"/>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high correlation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0.806</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between BYD and Tesla’s log prices indicates that the two stocks move together closely, which is expected for a cointegrated pair. This supports the rationale for pairs trading, as the spread captures deviations from this relationship.</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1" name="文本框 30">
                <a:extLst>
                  <a:ext uri="{FF2B5EF4-FFF2-40B4-BE49-F238E27FC236}">
                    <a16:creationId xmlns:a16="http://schemas.microsoft.com/office/drawing/2014/main" id="{80CD2C0D-E48C-9303-861C-7BC08510CB95}"/>
                  </a:ext>
                </a:extLst>
              </p:cNvPr>
              <p:cNvSpPr txBox="1">
                <a:spLocks noRot="1" noChangeAspect="1" noMove="1" noResize="1" noEditPoints="1" noAdjustHandles="1" noChangeArrowheads="1" noChangeShapeType="1" noTextEdit="1"/>
              </p:cNvSpPr>
              <p:nvPr/>
            </p:nvSpPr>
            <p:spPr>
              <a:xfrm>
                <a:off x="12879846" y="5372100"/>
                <a:ext cx="4621530" cy="954107"/>
              </a:xfrm>
              <a:prstGeom prst="rect">
                <a:avLst/>
              </a:prstGeom>
              <a:blipFill>
                <a:blip r:embed="rId15"/>
                <a:stretch>
                  <a:fillRect t="-637" r="-923"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D551F712-D886-2F0F-21D5-2C6AFFA35BEF}"/>
                  </a:ext>
                </a:extLst>
              </p:cNvPr>
              <p:cNvSpPr txBox="1"/>
              <p:nvPr/>
            </p:nvSpPr>
            <p:spPr>
              <a:xfrm>
                <a:off x="12418607" y="7376365"/>
                <a:ext cx="5544008"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Hurst Exponent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0.426</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is less than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indicating that the spread is mean-reverting (as opposed to trending, where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𝐻</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 &gt; 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A value below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0.5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confirms that the spread has a tendency to revert to its mean, which is ideal for pairs trading.</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3" name="文本框 32">
                <a:extLst>
                  <a:ext uri="{FF2B5EF4-FFF2-40B4-BE49-F238E27FC236}">
                    <a16:creationId xmlns:a16="http://schemas.microsoft.com/office/drawing/2014/main" id="{D551F712-D886-2F0F-21D5-2C6AFFA35BEF}"/>
                  </a:ext>
                </a:extLst>
              </p:cNvPr>
              <p:cNvSpPr txBox="1">
                <a:spLocks noRot="1" noChangeAspect="1" noMove="1" noResize="1" noEditPoints="1" noAdjustHandles="1" noChangeArrowheads="1" noChangeShapeType="1" noTextEdit="1"/>
              </p:cNvSpPr>
              <p:nvPr/>
            </p:nvSpPr>
            <p:spPr>
              <a:xfrm>
                <a:off x="12418607" y="7376365"/>
                <a:ext cx="5544008" cy="738664"/>
              </a:xfrm>
              <a:prstGeom prst="rect">
                <a:avLst/>
              </a:prstGeom>
              <a:blipFill>
                <a:blip r:embed="rId16"/>
                <a:stretch>
                  <a:fillRect l="-549" t="-1653" r="-549" b="-8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44BB2CA6-C189-8AA8-B128-47E64BF09DA5}"/>
                  </a:ext>
                </a:extLst>
              </p:cNvPr>
              <p:cNvSpPr txBox="1"/>
              <p:nvPr/>
            </p:nvSpPr>
            <p:spPr>
              <a:xfrm>
                <a:off x="12879846" y="6481018"/>
                <a:ext cx="4621530"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spread crosses its mean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75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times over the period, indicating frequent mean reversion. This is a positive sign for pairs trading, as it suggests the spread oscillates around the mean regularly.</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4" name="文本框 33">
                <a:extLst>
                  <a:ext uri="{FF2B5EF4-FFF2-40B4-BE49-F238E27FC236}">
                    <a16:creationId xmlns:a16="http://schemas.microsoft.com/office/drawing/2014/main" id="{44BB2CA6-C189-8AA8-B128-47E64BF09DA5}"/>
                  </a:ext>
                </a:extLst>
              </p:cNvPr>
              <p:cNvSpPr txBox="1">
                <a:spLocks noRot="1" noChangeAspect="1" noMove="1" noResize="1" noEditPoints="1" noAdjustHandles="1" noChangeArrowheads="1" noChangeShapeType="1" noTextEdit="1"/>
              </p:cNvSpPr>
              <p:nvPr/>
            </p:nvSpPr>
            <p:spPr>
              <a:xfrm>
                <a:off x="12879846" y="6481018"/>
                <a:ext cx="4621530" cy="738664"/>
              </a:xfrm>
              <a:prstGeom prst="rect">
                <a:avLst/>
              </a:prstGeom>
              <a:blipFill>
                <a:blip r:embed="rId17"/>
                <a:stretch>
                  <a:fillRect t="-1653" b="-8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332CFDCC-4154-7443-343E-D32398153B59}"/>
                  </a:ext>
                </a:extLst>
              </p:cNvPr>
              <p:cNvSpPr txBox="1"/>
              <p:nvPr/>
            </p:nvSpPr>
            <p:spPr>
              <a:xfrm>
                <a:off x="12822609" y="8194576"/>
                <a:ext cx="4736003" cy="954107"/>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half-life of mean reversion is the time it takes for the spread to revert halfway back to its mean after a deviation. A half-life of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51.6</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days suggests that the mean reversion process is relatively slow, which may require a longer holding period for trades to become profitable.</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5" name="文本框 34">
                <a:extLst>
                  <a:ext uri="{FF2B5EF4-FFF2-40B4-BE49-F238E27FC236}">
                    <a16:creationId xmlns:a16="http://schemas.microsoft.com/office/drawing/2014/main" id="{332CFDCC-4154-7443-343E-D32398153B59}"/>
                  </a:ext>
                </a:extLst>
              </p:cNvPr>
              <p:cNvSpPr txBox="1">
                <a:spLocks noRot="1" noChangeAspect="1" noMove="1" noResize="1" noEditPoints="1" noAdjustHandles="1" noChangeArrowheads="1" noChangeShapeType="1" noTextEdit="1"/>
              </p:cNvSpPr>
              <p:nvPr/>
            </p:nvSpPr>
            <p:spPr>
              <a:xfrm>
                <a:off x="12822609" y="8194576"/>
                <a:ext cx="4736003" cy="954107"/>
              </a:xfrm>
              <a:prstGeom prst="rect">
                <a:avLst/>
              </a:prstGeom>
              <a:blipFill>
                <a:blip r:embed="rId18"/>
                <a:stretch>
                  <a:fillRect t="-637" r="-644" b="-57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6F54F00D-3236-51FD-BADA-9E0C8B4799DE}"/>
                  </a:ext>
                </a:extLst>
              </p:cNvPr>
              <p:cNvSpPr txBox="1"/>
              <p:nvPr/>
            </p:nvSpPr>
            <p:spPr>
              <a:xfrm>
                <a:off x="12822608" y="9248452"/>
                <a:ext cx="4736003" cy="738664"/>
              </a:xfrm>
              <a:prstGeom prst="rect">
                <a:avLst/>
              </a:prstGeom>
              <a:solidFill>
                <a:schemeClr val="accent1">
                  <a:lumMod val="20000"/>
                  <a:lumOff val="80000"/>
                </a:schemeClr>
              </a:solidFill>
            </p:spPr>
            <p:txBody>
              <a:bodyPr wrap="square">
                <a:spAutoFit/>
              </a:bodyPr>
              <a:lstStyle/>
              <a:p>
                <a:pPr algn="ctr"/>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The spread is within the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±2</m:t>
                    </m:r>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𝜎</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band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96%</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of the time, which is close to the expected </a:t>
                </a:r>
                <a14:m>
                  <m:oMath xmlns:m="http://schemas.openxmlformats.org/officeDocument/2006/math">
                    <m:r>
                      <a:rPr lang="en-US" altLang="zh-CN" sz="1400" i="1" dirty="0" smtClean="0">
                        <a:solidFill>
                          <a:schemeClr val="accent5">
                            <a:lumMod val="50000"/>
                          </a:schemeClr>
                        </a:solidFill>
                        <a:latin typeface="Cambria Math" panose="02040503050406030204" pitchFamily="18" charset="0"/>
                        <a:cs typeface="Times New Roman" panose="02020603050405020304" pitchFamily="18" charset="0"/>
                      </a:rPr>
                      <m:t>95%</m:t>
                    </m:r>
                  </m:oMath>
                </a14:m>
                <a:r>
                  <a:rPr lang="en-US" altLang="zh-CN" sz="1400" dirty="0">
                    <a:solidFill>
                      <a:schemeClr val="accent5">
                        <a:lumMod val="50000"/>
                      </a:schemeClr>
                    </a:solidFill>
                    <a:latin typeface="Cormorant Garamond Bold Italics" panose="02010600030101010101" charset="0"/>
                    <a:cs typeface="Times New Roman" panose="02020603050405020304" pitchFamily="18" charset="0"/>
                  </a:rPr>
                  <a:t> under a normal distribution. This further supports the stationarity of the spread and its suitability for pairs trading.</a:t>
                </a:r>
                <a:endParaRPr lang="zh-CN" altLang="en-US" sz="1400"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36" name="文本框 35">
                <a:extLst>
                  <a:ext uri="{FF2B5EF4-FFF2-40B4-BE49-F238E27FC236}">
                    <a16:creationId xmlns:a16="http://schemas.microsoft.com/office/drawing/2014/main" id="{6F54F00D-3236-51FD-BADA-9E0C8B4799DE}"/>
                  </a:ext>
                </a:extLst>
              </p:cNvPr>
              <p:cNvSpPr txBox="1">
                <a:spLocks noRot="1" noChangeAspect="1" noMove="1" noResize="1" noEditPoints="1" noAdjustHandles="1" noChangeArrowheads="1" noChangeShapeType="1" noTextEdit="1"/>
              </p:cNvSpPr>
              <p:nvPr/>
            </p:nvSpPr>
            <p:spPr>
              <a:xfrm>
                <a:off x="12822608" y="9248452"/>
                <a:ext cx="4736003" cy="738664"/>
              </a:xfrm>
              <a:prstGeom prst="rect">
                <a:avLst/>
              </a:prstGeom>
              <a:blipFill>
                <a:blip r:embed="rId19"/>
                <a:stretch>
                  <a:fillRect l="-129" t="-1653" r="-772" b="-826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文本框 7">
                <a:extLst>
                  <a:ext uri="{FF2B5EF4-FFF2-40B4-BE49-F238E27FC236}">
                    <a16:creationId xmlns:a16="http://schemas.microsoft.com/office/drawing/2014/main" id="{3D0F76E2-CF22-DEA7-6982-9B6105345E93}"/>
                  </a:ext>
                </a:extLst>
              </p:cNvPr>
              <p:cNvSpPr txBox="1"/>
              <p:nvPr/>
            </p:nvSpPr>
            <p:spPr>
              <a:xfrm>
                <a:off x="4586484" y="114300"/>
                <a:ext cx="8140962" cy="338554"/>
              </a:xfrm>
              <a:prstGeom prst="rect">
                <a:avLst/>
              </a:prstGeom>
              <a:solidFill>
                <a:srgbClr val="DCE6F2">
                  <a:alpha val="34902"/>
                </a:srgbClr>
              </a:solidFill>
            </p:spPr>
            <p:txBody>
              <a:bodyPr wrap="square">
                <a:spAutoFit/>
              </a:bodyPr>
              <a:lstStyle/>
              <a:p>
                <a:r>
                  <a:rPr lang="en-US" altLang="zh-CN" sz="1600" b="1" i="1" dirty="0">
                    <a:solidFill>
                      <a:srgbClr val="0F4662"/>
                    </a:solidFill>
                    <a:latin typeface="Cormorant Garamond Bold Italics"/>
                  </a:rPr>
                  <a:t>Use </a:t>
                </a:r>
                <a14:m>
                  <m:oMath xmlns:m="http://schemas.openxmlformats.org/officeDocument/2006/math">
                    <m:r>
                      <m:rPr>
                        <m:sty m:val="p"/>
                      </m:rPr>
                      <a:rPr lang="en-US" altLang="zh-CN" sz="1600" b="1" i="1" dirty="0" smtClean="0">
                        <a:solidFill>
                          <a:srgbClr val="0F4662"/>
                        </a:solidFill>
                        <a:latin typeface="Cambria Math" panose="02040503050406030204" pitchFamily="18" charset="0"/>
                      </a:rPr>
                      <m:t>log</m:t>
                    </m:r>
                    <m:r>
                      <a:rPr lang="zh-CN" altLang="en-US" sz="1600" b="1" i="1" dirty="0" smtClean="0">
                        <a:solidFill>
                          <a:srgbClr val="0F4662"/>
                        </a:solidFill>
                        <a:latin typeface="Cambria Math" panose="02040503050406030204" pitchFamily="18" charset="0"/>
                      </a:rPr>
                      <m:t>⁡</m:t>
                    </m:r>
                  </m:oMath>
                </a14:m>
                <a:r>
                  <a:rPr lang="en-US" altLang="zh-CN" sz="1600" b="1" i="1" dirty="0">
                    <a:solidFill>
                      <a:srgbClr val="0F4662"/>
                    </a:solidFill>
                    <a:latin typeface="Cormorant Garamond Bold Italics"/>
                  </a:rPr>
                  <a:t>prices to stabilize variance, convert to returns, ensure stationarity, and handle multiplicative effects</a:t>
                </a:r>
                <a:r>
                  <a:rPr lang="en-US" altLang="zh-CN" sz="1600" b="1" i="1" dirty="0">
                    <a:solidFill>
                      <a:schemeClr val="accent5">
                        <a:lumMod val="50000"/>
                      </a:schemeClr>
                    </a:solidFill>
                    <a:latin typeface="Cormorant Garamond Bold Italics" panose="02010600030101010101" charset="0"/>
                    <a:cs typeface="Times New Roman" panose="02020603050405020304" pitchFamily="18" charset="0"/>
                  </a:rPr>
                  <a:t>.</a:t>
                </a:r>
                <a:endParaRPr lang="en-US" altLang="zh-CN" sz="1600" b="1" i="1" dirty="0">
                  <a:solidFill>
                    <a:srgbClr val="0F4662"/>
                  </a:solidFill>
                  <a:latin typeface="Cormorant Garamond Bold Italics"/>
                  <a:sym typeface="Cormorant Garamond Bold Italics"/>
                </a:endParaRPr>
              </a:p>
            </p:txBody>
          </p:sp>
        </mc:Choice>
        <mc:Fallback>
          <p:sp>
            <p:nvSpPr>
              <p:cNvPr id="8" name="文本框 7">
                <a:extLst>
                  <a:ext uri="{FF2B5EF4-FFF2-40B4-BE49-F238E27FC236}">
                    <a16:creationId xmlns:a16="http://schemas.microsoft.com/office/drawing/2014/main" id="{3D0F76E2-CF22-DEA7-6982-9B6105345E93}"/>
                  </a:ext>
                </a:extLst>
              </p:cNvPr>
              <p:cNvSpPr txBox="1">
                <a:spLocks noRot="1" noChangeAspect="1" noMove="1" noResize="1" noEditPoints="1" noAdjustHandles="1" noChangeArrowheads="1" noChangeShapeType="1" noTextEdit="1"/>
              </p:cNvSpPr>
              <p:nvPr/>
            </p:nvSpPr>
            <p:spPr>
              <a:xfrm>
                <a:off x="4586484" y="114300"/>
                <a:ext cx="8140962" cy="338554"/>
              </a:xfrm>
              <a:prstGeom prst="rect">
                <a:avLst/>
              </a:prstGeom>
              <a:blipFill>
                <a:blip r:embed="rId20"/>
                <a:stretch>
                  <a:fillRect l="-374" t="-5455" r="-973" b="-23636"/>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B3C805BC-C844-059B-82EF-E0D4F947ED75}"/>
              </a:ext>
            </a:extLst>
          </p:cNvPr>
          <p:cNvSpPr txBox="1"/>
          <p:nvPr/>
        </p:nvSpPr>
        <p:spPr>
          <a:xfrm>
            <a:off x="4586484" y="482441"/>
            <a:ext cx="8291318"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Multiple statistics show BYD and Tesla stock prices move together, making them suitable for pairs trading as their price difference often returns to a predictable average.</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706491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1FACB-65B9-B6F8-B333-52D6E0F099BB}"/>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D177DEC-2451-3093-97E4-A13316CA5B31}"/>
              </a:ext>
            </a:extLst>
          </p:cNvPr>
          <p:cNvSpPr txBox="1"/>
          <p:nvPr/>
        </p:nvSpPr>
        <p:spPr>
          <a:xfrm>
            <a:off x="381000" y="-38100"/>
            <a:ext cx="5867400" cy="2165657"/>
          </a:xfrm>
          <a:prstGeom prst="rect">
            <a:avLst/>
          </a:prstGeom>
        </p:spPr>
        <p:txBody>
          <a:bodyPr wrap="square" lIns="0" tIns="0" rIns="0" bIns="0" rtlCol="0" anchor="t">
            <a:spAutoFit/>
          </a:bodyPr>
          <a:lstStyle/>
          <a:p>
            <a:pPr marL="0" marR="0" lvl="0" indent="0" algn="l" defTabSz="914400" rtl="0" eaLnBrk="1" fontAlgn="auto" latinLnBrk="0" hangingPunct="1">
              <a:lnSpc>
                <a:spcPts val="8959"/>
              </a:lnSpc>
              <a:spcBef>
                <a:spcPct val="0"/>
              </a:spcBef>
              <a:spcAft>
                <a:spcPts val="0"/>
              </a:spcAft>
              <a:buClrTx/>
              <a:buSzTx/>
              <a:buFontTx/>
              <a:buNone/>
              <a:tabLst/>
              <a:defRPr/>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kumimoji="0" lang="en-US" altLang="zh-CN" sz="2400" b="1" i="1" u="none" strike="noStrike" kern="1200" cap="none" spc="0" normalizeH="0" baseline="0" noProof="0" dirty="0">
                <a:ln>
                  <a:noFill/>
                </a:ln>
                <a:solidFill>
                  <a:srgbClr val="0F4662"/>
                </a:solidFill>
                <a:effectLst/>
                <a:uLnTx/>
                <a:uFillTx/>
                <a:latin typeface="Cormorant Garamond Bold Italics"/>
                <a:ea typeface="宋体" panose="02010600030101010101" pitchFamily="2" charset="-122"/>
                <a:cs typeface="+mn-cs"/>
              </a:rPr>
              <a:t>: ARIMA Model</a:t>
            </a:r>
            <a:endParaRPr kumimoji="0" lang="en-US" altLang="zh-CN" sz="2400" b="1" i="1" u="none" strike="noStrike" kern="1200" cap="none" spc="0" normalizeH="0" baseline="0" noProof="0" dirty="0">
              <a:ln>
                <a:noFill/>
              </a:ln>
              <a:solidFill>
                <a:srgbClr val="0F4662"/>
              </a:solidFill>
              <a:effectLst/>
              <a:uLnTx/>
              <a:uFillTx/>
              <a:latin typeface="Cormorant Garamond Bold Italics"/>
              <a:ea typeface="+mn-ea"/>
              <a:cs typeface="+mn-cs"/>
              <a:sym typeface="Cormorant Garamond Bold Italics"/>
            </a:endParaRPr>
          </a:p>
          <a:p>
            <a:pPr marL="0" lvl="0" indent="0" algn="l">
              <a:lnSpc>
                <a:spcPts val="8959"/>
              </a:lnSpc>
              <a:spcBef>
                <a:spcPct val="0"/>
              </a:spcBef>
            </a:pPr>
            <a:endParaRPr lang="en-US" sz="40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B004E0EE-EFA6-6F20-C779-22C63DC86601}"/>
              </a:ext>
            </a:extLst>
          </p:cNvPr>
          <p:cNvPicPr>
            <a:picLocks noChangeAspect="1"/>
          </p:cNvPicPr>
          <p:nvPr/>
        </p:nvPicPr>
        <p:blipFill>
          <a:blip r:embed="rId2"/>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D525755A-A78C-B0B6-6CA7-AFC6E705E9B7}"/>
              </a:ext>
            </a:extLst>
          </p:cNvPr>
          <p:cNvPicPr>
            <a:picLocks noChangeAspect="1"/>
          </p:cNvPicPr>
          <p:nvPr/>
        </p:nvPicPr>
        <p:blipFill>
          <a:blip r:embed="rId3"/>
          <a:stretch>
            <a:fillRect/>
          </a:stretch>
        </p:blipFill>
        <p:spPr>
          <a:xfrm>
            <a:off x="16916400" y="147595"/>
            <a:ext cx="1104169" cy="1168178"/>
          </a:xfrm>
          <a:prstGeom prst="rect">
            <a:avLst/>
          </a:prstGeom>
        </p:spPr>
      </p:pic>
      <p:pic>
        <p:nvPicPr>
          <p:cNvPr id="3" name="图片 2">
            <a:extLst>
              <a:ext uri="{FF2B5EF4-FFF2-40B4-BE49-F238E27FC236}">
                <a16:creationId xmlns:a16="http://schemas.microsoft.com/office/drawing/2014/main" id="{0ACC8CD9-0D30-1D10-1BEF-95CD8893C47C}"/>
              </a:ext>
            </a:extLst>
          </p:cNvPr>
          <p:cNvPicPr>
            <a:picLocks noChangeAspect="1"/>
          </p:cNvPicPr>
          <p:nvPr/>
        </p:nvPicPr>
        <p:blipFill>
          <a:blip r:embed="rId4"/>
          <a:stretch>
            <a:fillRect/>
          </a:stretch>
        </p:blipFill>
        <p:spPr>
          <a:xfrm>
            <a:off x="1901641" y="1139977"/>
            <a:ext cx="5416917" cy="3599129"/>
          </a:xfrm>
          <a:prstGeom prst="rect">
            <a:avLst/>
          </a:prstGeom>
        </p:spPr>
      </p:pic>
      <p:pic>
        <p:nvPicPr>
          <p:cNvPr id="7" name="图片 6">
            <a:extLst>
              <a:ext uri="{FF2B5EF4-FFF2-40B4-BE49-F238E27FC236}">
                <a16:creationId xmlns:a16="http://schemas.microsoft.com/office/drawing/2014/main" id="{6F2E72B7-40C0-3DB6-5DE9-CAD1E166428C}"/>
              </a:ext>
            </a:extLst>
          </p:cNvPr>
          <p:cNvPicPr>
            <a:picLocks noChangeAspect="1"/>
          </p:cNvPicPr>
          <p:nvPr/>
        </p:nvPicPr>
        <p:blipFill>
          <a:blip r:embed="rId5"/>
          <a:stretch>
            <a:fillRect/>
          </a:stretch>
        </p:blipFill>
        <p:spPr>
          <a:xfrm>
            <a:off x="9862946" y="1137433"/>
            <a:ext cx="6717934" cy="3599128"/>
          </a:xfrm>
          <a:prstGeom prst="rect">
            <a:avLst/>
          </a:prstGeom>
        </p:spPr>
      </p:pic>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2E27A5E1-BACB-BB9D-7A72-FB8746A5E6F2}"/>
                  </a:ext>
                </a:extLst>
              </p:cNvPr>
              <p:cNvSpPr txBox="1"/>
              <p:nvPr/>
            </p:nvSpPr>
            <p:spPr>
              <a:xfrm>
                <a:off x="1447799" y="4762500"/>
                <a:ext cx="6324600" cy="1384546"/>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Autocorrelation</a:t>
                </a:r>
                <a:r>
                  <a:rPr lang="en-US" altLang="zh-CN" i="1" dirty="0">
                    <a:solidFill>
                      <a:schemeClr val="accent5">
                        <a:lumMod val="50000"/>
                      </a:schemeClr>
                    </a:solidFill>
                    <a:latin typeface="Cormorant Garamond Bold Italics" panose="02010600030101010101" charset="0"/>
                    <a:cs typeface="Times New Roman" panose="02020603050405020304" pitchFamily="18" charset="0"/>
                  </a:rPr>
                  <a:t>:</a:t>
                </a:r>
                <a:r>
                  <a:rPr lang="en-US" altLang="zh-CN" i="1" dirty="0">
                    <a:solidFill>
                      <a:schemeClr val="accent5">
                        <a:lumMod val="50000"/>
                      </a:schemeClr>
                    </a:solidFill>
                    <a:cs typeface="Times New Roman" panose="02020603050405020304" pitchFamily="18" charset="0"/>
                  </a:rPr>
                  <a: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𝜌</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𝑘</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 </m:t>
                    </m:r>
                    <m:f>
                      <m:fPr>
                        <m:ctrlP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ctrlPr>
                      </m:fPr>
                      <m:num>
                        <m:r>
                          <m:rPr>
                            <m:sty m:val="p"/>
                          </m:rPr>
                          <a:rPr lang="en-US" altLang="zh-CN" i="1" dirty="0">
                            <a:solidFill>
                              <a:schemeClr val="accent5">
                                <a:lumMod val="50000"/>
                              </a:schemeClr>
                            </a:solidFill>
                            <a:latin typeface="Cambria Math" panose="02040503050406030204" pitchFamily="18" charset="0"/>
                            <a:cs typeface="Times New Roman" panose="02020603050405020304" pitchFamily="18" charset="0"/>
                          </a:rPr>
                          <m:t>Co</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𝑣</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𝑘</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num>
                      <m:den>
                        <m:r>
                          <a:rPr lang="en-US" altLang="zh-CN" i="1" dirty="0">
                            <a:solidFill>
                              <a:schemeClr val="accent5">
                                <a:lumMod val="50000"/>
                              </a:schemeClr>
                            </a:solidFill>
                            <a:latin typeface="Cambria Math" panose="02040503050406030204" pitchFamily="18" charset="0"/>
                            <a:cs typeface="Times New Roman" panose="02020603050405020304" pitchFamily="18" charset="0"/>
                          </a:rPr>
                          <m:t>𝑉𝑎𝑟</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den>
                    </m:f>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oMath>
                </a14:m>
                <a:endParaRPr lang="en-US" altLang="zh-CN" i="1" dirty="0">
                  <a:solidFill>
                    <a:schemeClr val="accent5">
                      <a:lumMod val="50000"/>
                    </a:schemeClr>
                  </a:solidFill>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Measures how the spread at time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correlates with its value at time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r>
                  <a:rPr lang="en-US" altLang="zh-CN" sz="1600" b="1" dirty="0">
                    <a:solidFill>
                      <a:srgbClr val="0F4662"/>
                    </a:solidFill>
                    <a:latin typeface="Book Antiqua" panose="02040602050305030304" pitchFamily="18" charset="0"/>
                    <a:cs typeface="Times New Roman" panose="02020603050405020304" pitchFamily="18" charset="0"/>
                  </a:rPr>
                  <a:t>Partial Autocorrelation</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Measures the correlation between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𝑘</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after removing the effects of all lags less than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2E27A5E1-BACB-BB9D-7A72-FB8746A5E6F2}"/>
                  </a:ext>
                </a:extLst>
              </p:cNvPr>
              <p:cNvSpPr txBox="1">
                <a:spLocks noRot="1" noChangeAspect="1" noMove="1" noResize="1" noEditPoints="1" noAdjustHandles="1" noChangeArrowheads="1" noChangeShapeType="1" noTextEdit="1"/>
              </p:cNvSpPr>
              <p:nvPr/>
            </p:nvSpPr>
            <p:spPr>
              <a:xfrm>
                <a:off x="1447799" y="4762500"/>
                <a:ext cx="6324600" cy="1384546"/>
              </a:xfrm>
              <a:prstGeom prst="rect">
                <a:avLst/>
              </a:prstGeom>
              <a:blipFill>
                <a:blip r:embed="rId6"/>
                <a:stretch>
                  <a:fillRect l="-771" r="-2408" b="-48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BF9FC76-7B1E-66AE-04F4-1D841C017BAD}"/>
                  </a:ext>
                </a:extLst>
              </p:cNvPr>
              <p:cNvSpPr txBox="1"/>
              <p:nvPr/>
            </p:nvSpPr>
            <p:spPr>
              <a:xfrm>
                <a:off x="8992813" y="5134224"/>
                <a:ext cx="8458200" cy="2660857"/>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ARIMA</a:t>
                </a:r>
                <a14:m>
                  <m:oMath xmlns:m="http://schemas.openxmlformats.org/officeDocument/2006/math">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𝑝</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𝑞</m:t>
                        </m:r>
                      </m:e>
                    </m:d>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stands for Autoregressive Integrated Moving Average.</a:t>
                </a: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𝑝</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Order of the autoregressive (</a:t>
                </a:r>
                <a:r>
                  <a:rPr lang="en-US" altLang="zh-CN" sz="1600" b="1" dirty="0">
                    <a:solidFill>
                      <a:srgbClr val="0F4662"/>
                    </a:solidFill>
                    <a:latin typeface="Book Antiqua" panose="02040602050305030304" pitchFamily="18" charset="0"/>
                    <a:cs typeface="Times New Roman" panose="02020603050405020304" pitchFamily="18" charset="0"/>
                  </a:rPr>
                  <a:t>AR</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part: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𝑝</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𝑝</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𝑑</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Degree of differencing to make the series stationary.</a:t>
                </a:r>
              </a:p>
              <a:p>
                <a:pPr marL="742950" lvl="1" indent="-285750">
                  <a:buFont typeface="Arial" panose="020B0604020202020204" pitchFamily="34" charset="0"/>
                  <a:buChar char="•"/>
                </a:pP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𝑞</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Order of the moving average (</a:t>
                </a:r>
                <a:r>
                  <a:rPr lang="en-US" altLang="zh-CN" sz="1600" b="1" dirty="0">
                    <a:solidFill>
                      <a:srgbClr val="0F4662"/>
                    </a:solidFill>
                    <a:latin typeface="Book Antiqua" panose="02040602050305030304" pitchFamily="18" charset="0"/>
                    <a:cs typeface="Times New Roman" panose="02020603050405020304" pitchFamily="18" charset="0"/>
                  </a:rPr>
                  <a:t>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part: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err="1">
                            <a:solidFill>
                              <a:schemeClr val="accent5">
                                <a:lumMod val="50000"/>
                              </a:schemeClr>
                            </a:solidFill>
                            <a:latin typeface="Cambria Math" panose="02040503050406030204" pitchFamily="18" charset="0"/>
                            <a:cs typeface="Times New Roman" panose="02020603050405020304" pitchFamily="18" charset="0"/>
                          </a:rPr>
                          <m:t>𝑞</m:t>
                        </m:r>
                      </m:sub>
                    </m:sSub>
                    <m:sSub>
                      <m:sSubPr>
                        <m:ctrlPr>
                          <a:rPr lang="en-US" altLang="zh-CN" i="1" dirty="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𝑞</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full model is: </a:t>
                </a:r>
                <a14:m>
                  <m:oMath xmlns:m="http://schemas.openxmlformats.org/officeDocument/2006/math">
                    <m:sSup>
                      <m:sSup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sSup>
                      <m:sSup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𝜙</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𝑝</m:t>
                        </m:r>
                      </m:sub>
                    </m:sSub>
                    <m:sSup>
                      <m:sSup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pPr>
                      <m:e>
                        <m:r>
                          <m:rPr>
                            <m:sty m:val="p"/>
                          </m:rPr>
                          <a:rPr lang="en-US" altLang="zh-CN" i="0" dirty="0" smtClean="0">
                            <a:solidFill>
                              <a:schemeClr val="accent5">
                                <a:lumMod val="50000"/>
                              </a:schemeClr>
                            </a:solidFill>
                            <a:latin typeface="Cambria Math" panose="02040503050406030204" pitchFamily="18" charset="0"/>
                            <a:cs typeface="Times New Roman" panose="02020603050405020304" pitchFamily="18" charset="0"/>
                          </a:rPr>
                          <m:t>Δ</m:t>
                        </m:r>
                      </m:e>
                      <m:sup>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𝑑</m:t>
                        </m:r>
                      </m:sup>
                    </m:sSup>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𝑦</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𝑝</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𝑡</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𝜃</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𝑞</m:t>
                        </m:r>
                      </m:sub>
                    </m:sSub>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𝑞</m:t>
                        </m:r>
                      </m:sub>
                    </m:sSub>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sz="1600" b="1" dirty="0">
                    <a:solidFill>
                      <a:srgbClr val="0F4662"/>
                    </a:solidFill>
                    <a:latin typeface="Book Antiqua" panose="02040602050305030304" pitchFamily="18" charset="0"/>
                    <a:cs typeface="Times New Roman" panose="02020603050405020304" pitchFamily="18" charset="0"/>
                  </a:rPr>
                  <a:t>AIC</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𝐴𝐼𝐶</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2</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𝑘</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− 2</m:t>
                    </m:r>
                    <m:r>
                      <m:rPr>
                        <m:sty m:val="p"/>
                      </m:r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ln</m:t>
                    </m:r>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𝐿</m:t>
                        </m:r>
                      </m:e>
                    </m:d>
                  </m:oMath>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where </a:t>
                </a: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𝑘</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the number of parameters, and </a:t>
                </a:r>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𝐿</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the likelihood of the model.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Lower AIC indicates a better model.</a:t>
                </a:r>
              </a:p>
            </p:txBody>
          </p:sp>
        </mc:Choice>
        <mc:Fallback xmlns="">
          <p:sp>
            <p:nvSpPr>
              <p:cNvPr id="16" name="文本框 15">
                <a:extLst>
                  <a:ext uri="{FF2B5EF4-FFF2-40B4-BE49-F238E27FC236}">
                    <a16:creationId xmlns:a16="http://schemas.microsoft.com/office/drawing/2014/main" id="{BBF9FC76-7B1E-66AE-04F4-1D841C017BAD}"/>
                  </a:ext>
                </a:extLst>
              </p:cNvPr>
              <p:cNvSpPr txBox="1">
                <a:spLocks noRot="1" noChangeAspect="1" noMove="1" noResize="1" noEditPoints="1" noAdjustHandles="1" noChangeArrowheads="1" noChangeShapeType="1" noTextEdit="1"/>
              </p:cNvSpPr>
              <p:nvPr/>
            </p:nvSpPr>
            <p:spPr>
              <a:xfrm>
                <a:off x="8992813" y="5134224"/>
                <a:ext cx="8458200" cy="2660857"/>
              </a:xfrm>
              <a:prstGeom prst="rect">
                <a:avLst/>
              </a:prstGeom>
              <a:blipFill>
                <a:blip r:embed="rId7"/>
                <a:stretch>
                  <a:fillRect l="-432" t="-1144" b="-27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45D5B2C-A9D1-B101-889A-5098573E272D}"/>
                  </a:ext>
                </a:extLst>
              </p:cNvPr>
              <p:cNvSpPr txBox="1"/>
              <p:nvPr/>
            </p:nvSpPr>
            <p:spPr>
              <a:xfrm>
                <a:off x="835914" y="6170440"/>
                <a:ext cx="3657600" cy="3416320"/>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 shows a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(close to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followed by a gradual decay as the lags increase. </a:t>
                </a: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By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autocorrelation is near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This indicates that the spread exhibits strong serial correlation at short lags, which is typical for a mean-reverting process. The slow decay suggests persistence in the spread, but it eventually diminishes, supporting the idea of mean reversion over longer periods.</a:t>
                </a:r>
              </a:p>
            </p:txBody>
          </p:sp>
        </mc:Choice>
        <mc:Fallback xmlns="">
          <p:sp>
            <p:nvSpPr>
              <p:cNvPr id="18" name="文本框 17">
                <a:extLst>
                  <a:ext uri="{FF2B5EF4-FFF2-40B4-BE49-F238E27FC236}">
                    <a16:creationId xmlns:a16="http://schemas.microsoft.com/office/drawing/2014/main" id="{045D5B2C-A9D1-B101-889A-5098573E272D}"/>
                  </a:ext>
                </a:extLst>
              </p:cNvPr>
              <p:cNvSpPr txBox="1">
                <a:spLocks noRot="1" noChangeAspect="1" noMove="1" noResize="1" noEditPoints="1" noAdjustHandles="1" noChangeArrowheads="1" noChangeShapeType="1" noTextEdit="1"/>
              </p:cNvSpPr>
              <p:nvPr/>
            </p:nvSpPr>
            <p:spPr>
              <a:xfrm>
                <a:off x="835914" y="6170440"/>
                <a:ext cx="3657600" cy="3416320"/>
              </a:xfrm>
              <a:prstGeom prst="rect">
                <a:avLst/>
              </a:prstGeom>
              <a:blipFill>
                <a:blip r:embed="rId8"/>
                <a:stretch>
                  <a:fillRect l="-1333" t="-891" r="-2833" b="-17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48B33502-3F30-3BE1-6F61-A224B828711A}"/>
                  </a:ext>
                </a:extLst>
              </p:cNvPr>
              <p:cNvSpPr txBox="1"/>
              <p:nvPr/>
            </p:nvSpPr>
            <p:spPr>
              <a:xfrm>
                <a:off x="4724400" y="6170440"/>
                <a:ext cx="3657600" cy="3416320"/>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PACF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 shows a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0.9</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 smaller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After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values drop close to zero and remain within the confidence interval.</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significant spike at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the near-zero values after lag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suggest that an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might be appropriate for the spread. This informs the </a:t>
                </a:r>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selection, where the autoregressive order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𝑝</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likely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or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p:txBody>
          </p:sp>
        </mc:Choice>
        <mc:Fallback xmlns="">
          <p:sp>
            <p:nvSpPr>
              <p:cNvPr id="22" name="文本框 21">
                <a:extLst>
                  <a:ext uri="{FF2B5EF4-FFF2-40B4-BE49-F238E27FC236}">
                    <a16:creationId xmlns:a16="http://schemas.microsoft.com/office/drawing/2014/main" id="{48B33502-3F30-3BE1-6F61-A224B828711A}"/>
                  </a:ext>
                </a:extLst>
              </p:cNvPr>
              <p:cNvSpPr txBox="1">
                <a:spLocks noRot="1" noChangeAspect="1" noMove="1" noResize="1" noEditPoints="1" noAdjustHandles="1" noChangeArrowheads="1" noChangeShapeType="1" noTextEdit="1"/>
              </p:cNvSpPr>
              <p:nvPr/>
            </p:nvSpPr>
            <p:spPr>
              <a:xfrm>
                <a:off x="4724400" y="6170440"/>
                <a:ext cx="3657600" cy="3416320"/>
              </a:xfrm>
              <a:prstGeom prst="rect">
                <a:avLst/>
              </a:prstGeom>
              <a:blipFill>
                <a:blip r:embed="rId9"/>
                <a:stretch>
                  <a:fillRect l="-1333" t="-891" r="-1500" b="-19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DA22F83-BBC7-FD28-806B-1D2B0B1CE1E4}"/>
                  </a:ext>
                </a:extLst>
              </p:cNvPr>
              <p:cNvSpPr txBox="1"/>
              <p:nvPr/>
            </p:nvSpPr>
            <p:spPr>
              <a:xfrm>
                <a:off x="1370387" y="9623905"/>
                <a:ext cx="6477001" cy="646331"/>
              </a:xfrm>
              <a:prstGeom prst="rect">
                <a:avLst/>
              </a:prstGeom>
              <a:solidFill>
                <a:schemeClr val="accent1">
                  <a:lumMod val="20000"/>
                  <a:lumOff val="80000"/>
                </a:schemeClr>
              </a:solidFill>
            </p:spPr>
            <p:txBody>
              <a:bodyPr wrap="square">
                <a:spAutoFit/>
              </a:bodyPr>
              <a:lstStyle/>
              <a:p>
                <a14:m>
                  <m:oMath xmlns:m="http://schemas.openxmlformats.org/officeDocument/2006/math">
                    <m:r>
                      <a:rPr lang="en-US" altLang="zh-CN" b="0" i="1" smtClean="0">
                        <a:solidFill>
                          <a:schemeClr val="accent5">
                            <a:lumMod val="50000"/>
                          </a:schemeClr>
                        </a:solidFill>
                        <a:latin typeface="Cambria Math" panose="02040503050406030204" pitchFamily="18" charset="0"/>
                        <a:cs typeface="Times New Roman" panose="02020603050405020304" pitchFamily="18" charset="0"/>
                      </a:rPr>
                      <m:t>∴</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a:t>
                </a:r>
                <a:r>
                  <a:rPr lang="en-US" altLang="zh-CN" sz="1600" b="1" dirty="0">
                    <a:solidFill>
                      <a:srgbClr val="0F4662"/>
                    </a:solidFill>
                    <a:latin typeface="Book Antiqua" panose="02040602050305030304" pitchFamily="18" charset="0"/>
                    <a:cs typeface="Times New Roman" panose="02020603050405020304" pitchFamily="18" charset="0"/>
                  </a:rPr>
                  <a:t>PACF</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plots confirm that the spread has a mean-reverting nature with a strong AR(</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component, which is promising for pairs trading.</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4" name="文本框 23">
                <a:extLst>
                  <a:ext uri="{FF2B5EF4-FFF2-40B4-BE49-F238E27FC236}">
                    <a16:creationId xmlns:a16="http://schemas.microsoft.com/office/drawing/2014/main" id="{ADA22F83-BBC7-FD28-806B-1D2B0B1CE1E4}"/>
                  </a:ext>
                </a:extLst>
              </p:cNvPr>
              <p:cNvSpPr txBox="1">
                <a:spLocks noRot="1" noChangeAspect="1" noMove="1" noResize="1" noEditPoints="1" noAdjustHandles="1" noChangeArrowheads="1" noChangeShapeType="1" noTextEdit="1"/>
              </p:cNvSpPr>
              <p:nvPr/>
            </p:nvSpPr>
            <p:spPr>
              <a:xfrm>
                <a:off x="1370387" y="9623905"/>
                <a:ext cx="6477001" cy="646331"/>
              </a:xfrm>
              <a:prstGeom prst="rect">
                <a:avLst/>
              </a:prstGeom>
              <a:blipFill>
                <a:blip r:embed="rId10"/>
                <a:stretch>
                  <a:fillRect l="-847" t="-4717" r="-1412"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7BC6460E-BE6F-A9E4-206C-E236EDC1409E}"/>
                  </a:ext>
                </a:extLst>
              </p:cNvPr>
              <p:cNvSpPr txBox="1"/>
              <p:nvPr/>
            </p:nvSpPr>
            <p:spPr>
              <a:xfrm>
                <a:off x="9526213" y="8192744"/>
                <a:ext cx="7391400" cy="1754326"/>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t>
                </a:r>
                <a:r>
                  <a:rPr lang="en-US" altLang="zh-CN" sz="1600" b="1" dirty="0">
                    <a:solidFill>
                      <a:srgbClr val="0F4662"/>
                    </a:solidFill>
                    <a:latin typeface="Book Antiqua" panose="02040602050305030304" pitchFamily="18" charset="0"/>
                    <a:cs typeface="Times New Roman" panose="02020603050405020304" pitchFamily="18" charset="0"/>
                  </a:rPr>
                  <a:t>ARIMA</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fails to capture the sharp dip and recovery in the actual spread. It predicts a smoother downward trend, missing the volatility observed in the actual data.</a:t>
                </a:r>
              </a:p>
              <a:p>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ARIMA</a:t>
                </a:r>
                <a14:m>
                  <m:oMath xmlns:m="http://schemas.openxmlformats.org/officeDocument/2006/math">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5,0,3</m:t>
                        </m:r>
                      </m:e>
                    </m:d>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model provides a reasonable fit (as indicated by the low AIC/BIC), but it struggles to predict short-term volatility in the spread. This suggests that the model can capture the general trend.</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25" name="文本框 24">
                <a:extLst>
                  <a:ext uri="{FF2B5EF4-FFF2-40B4-BE49-F238E27FC236}">
                    <a16:creationId xmlns:a16="http://schemas.microsoft.com/office/drawing/2014/main" id="{7BC6460E-BE6F-A9E4-206C-E236EDC1409E}"/>
                  </a:ext>
                </a:extLst>
              </p:cNvPr>
              <p:cNvSpPr txBox="1">
                <a:spLocks noRot="1" noChangeAspect="1" noMove="1" noResize="1" noEditPoints="1" noAdjustHandles="1" noChangeArrowheads="1" noChangeShapeType="1" noTextEdit="1"/>
              </p:cNvSpPr>
              <p:nvPr/>
            </p:nvSpPr>
            <p:spPr>
              <a:xfrm>
                <a:off x="9526213" y="8192744"/>
                <a:ext cx="7391400" cy="1754326"/>
              </a:xfrm>
              <a:prstGeom prst="rect">
                <a:avLst/>
              </a:prstGeom>
              <a:blipFill>
                <a:blip r:embed="rId11"/>
                <a:stretch>
                  <a:fillRect l="-743" t="-2083" r="-908" b="-4514"/>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D6605D20-21BD-479C-6E61-85E36E2562DD}"/>
              </a:ext>
            </a:extLst>
          </p:cNvPr>
          <p:cNvSpPr txBox="1"/>
          <p:nvPr/>
        </p:nvSpPr>
        <p:spPr>
          <a:xfrm>
            <a:off x="6400800" y="433812"/>
            <a:ext cx="6019800"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mathematical basis and forecasting attempt of the ARIMA model, reflecting the accuracy in terms of the general trend.</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2563605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7670C-81F3-2834-DB52-88A667FEA675}"/>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4A2B637F-86FE-5A9B-0AD9-8CFCF4E2B162}"/>
              </a:ext>
            </a:extLst>
          </p:cNvPr>
          <p:cNvSpPr txBox="1"/>
          <p:nvPr/>
        </p:nvSpPr>
        <p:spPr>
          <a:xfrm>
            <a:off x="381000" y="-38100"/>
            <a:ext cx="73152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lang="en-US" altLang="zh-CN" sz="2400" b="1" i="1" dirty="0">
                <a:solidFill>
                  <a:srgbClr val="0F4662"/>
                </a:solidFill>
                <a:latin typeface="Cormorant Garamond Bold Italics"/>
              </a:rPr>
              <a:t>: Spread Analysis </a:t>
            </a:r>
            <a:r>
              <a:rPr lang="en-US" altLang="zh-CN" sz="2400" i="1" dirty="0">
                <a:solidFill>
                  <a:srgbClr val="0F4662"/>
                </a:solidFill>
                <a:latin typeface="Times New Roman" panose="02020603050405020304" pitchFamily="18" charset="0"/>
                <a:cs typeface="Times New Roman" panose="02020603050405020304" pitchFamily="18" charset="0"/>
              </a:rPr>
              <a:t>&amp;</a:t>
            </a:r>
            <a:r>
              <a:rPr lang="en-US" altLang="zh-CN" sz="2400" b="1" i="1" dirty="0">
                <a:solidFill>
                  <a:srgbClr val="0F4662"/>
                </a:solidFill>
                <a:latin typeface="Cormorant Garamond Bold Italics"/>
              </a:rPr>
              <a:t> Forecast</a:t>
            </a:r>
            <a:endParaRPr lang="en-US" sz="24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6DB2571F-BC06-9CCE-002F-0A9C684BBDD9}"/>
              </a:ext>
            </a:extLst>
          </p:cNvPr>
          <p:cNvPicPr>
            <a:picLocks noChangeAspect="1"/>
          </p:cNvPicPr>
          <p:nvPr/>
        </p:nvPicPr>
        <p:blipFill>
          <a:blip r:embed="rId3"/>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3E2D1D55-249F-2A06-AC95-202E7BB2F694}"/>
              </a:ext>
            </a:extLst>
          </p:cNvPr>
          <p:cNvPicPr>
            <a:picLocks noChangeAspect="1"/>
          </p:cNvPicPr>
          <p:nvPr/>
        </p:nvPicPr>
        <p:blipFill>
          <a:blip r:embed="rId4"/>
          <a:stretch>
            <a:fillRect/>
          </a:stretch>
        </p:blipFill>
        <p:spPr>
          <a:xfrm>
            <a:off x="16916400" y="147595"/>
            <a:ext cx="1104169" cy="1168178"/>
          </a:xfrm>
          <a:prstGeom prst="rect">
            <a:avLst/>
          </a:prstGeom>
        </p:spPr>
      </p:pic>
      <p:pic>
        <p:nvPicPr>
          <p:cNvPr id="4" name="图片 3">
            <a:extLst>
              <a:ext uri="{FF2B5EF4-FFF2-40B4-BE49-F238E27FC236}">
                <a16:creationId xmlns:a16="http://schemas.microsoft.com/office/drawing/2014/main" id="{D182E040-2CAE-EF92-1853-A332FF3B405D}"/>
              </a:ext>
            </a:extLst>
          </p:cNvPr>
          <p:cNvPicPr>
            <a:picLocks noChangeAspect="1"/>
          </p:cNvPicPr>
          <p:nvPr/>
        </p:nvPicPr>
        <p:blipFill>
          <a:blip r:embed="rId5"/>
          <a:stretch>
            <a:fillRect/>
          </a:stretch>
        </p:blipFill>
        <p:spPr>
          <a:xfrm>
            <a:off x="479945" y="1105552"/>
            <a:ext cx="8260310" cy="4118218"/>
          </a:xfrm>
          <a:prstGeom prst="rect">
            <a:avLst/>
          </a:prstGeom>
        </p:spPr>
      </p:pic>
      <p:pic>
        <p:nvPicPr>
          <p:cNvPr id="8" name="图片 7">
            <a:extLst>
              <a:ext uri="{FF2B5EF4-FFF2-40B4-BE49-F238E27FC236}">
                <a16:creationId xmlns:a16="http://schemas.microsoft.com/office/drawing/2014/main" id="{C7BEFFC5-208B-86DD-8DE1-392A2ED80952}"/>
              </a:ext>
            </a:extLst>
          </p:cNvPr>
          <p:cNvPicPr>
            <a:picLocks noChangeAspect="1"/>
          </p:cNvPicPr>
          <p:nvPr/>
        </p:nvPicPr>
        <p:blipFill>
          <a:blip r:embed="rId6"/>
          <a:stretch>
            <a:fillRect/>
          </a:stretch>
        </p:blipFill>
        <p:spPr>
          <a:xfrm>
            <a:off x="9875844" y="1104900"/>
            <a:ext cx="6996684" cy="4118870"/>
          </a:xfrm>
          <a:prstGeom prst="rect">
            <a:avLst/>
          </a:prstGeom>
        </p:spPr>
      </p:pic>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F95B69F-6814-2BD9-518A-3F458A56FCA3}"/>
                  </a:ext>
                </a:extLst>
              </p:cNvPr>
              <p:cNvSpPr txBox="1"/>
              <p:nvPr/>
            </p:nvSpPr>
            <p:spPr>
              <a:xfrm>
                <a:off x="914400" y="5220352"/>
                <a:ext cx="7391400" cy="646331"/>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plot shows the normalized spread between BYD and Tesla from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𝑀𝑎𝑟𝑐h</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31, 2020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to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𝐴𝑝𝑟𝑖𝑙</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17, 2025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along with the historical mean and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𝜎</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bands.</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0" name="文本框 9">
                <a:extLst>
                  <a:ext uri="{FF2B5EF4-FFF2-40B4-BE49-F238E27FC236}">
                    <a16:creationId xmlns:a16="http://schemas.microsoft.com/office/drawing/2014/main" id="{4F95B69F-6814-2BD9-518A-3F458A56FCA3}"/>
                  </a:ext>
                </a:extLst>
              </p:cNvPr>
              <p:cNvSpPr txBox="1">
                <a:spLocks noRot="1" noChangeAspect="1" noMove="1" noResize="1" noEditPoints="1" noAdjustHandles="1" noChangeArrowheads="1" noChangeShapeType="1" noTextEdit="1"/>
              </p:cNvSpPr>
              <p:nvPr/>
            </p:nvSpPr>
            <p:spPr>
              <a:xfrm>
                <a:off x="914400" y="5220352"/>
                <a:ext cx="7391400" cy="646331"/>
              </a:xfrm>
              <a:prstGeom prst="rect">
                <a:avLst/>
              </a:prstGeom>
              <a:blipFill>
                <a:blip r:embed="rId7"/>
                <a:stretch>
                  <a:fillRect l="-660" t="-3774" b="-150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FA1AF872-68AE-3C82-F134-CCBBBB511F4D}"/>
                  </a:ext>
                </a:extLst>
              </p:cNvPr>
              <p:cNvSpPr txBox="1"/>
              <p:nvPr/>
            </p:nvSpPr>
            <p:spPr>
              <a:xfrm>
                <a:off x="381000" y="5951206"/>
                <a:ext cx="8839200" cy="3139321"/>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Spread Behavior:</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spread fluctuates around the historical mean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for most of the period, with notable deviations in mid-2020 (dipping to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early 2023 and early 2025 (peaking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spread spends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96.0%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of the time within the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𝜎</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historical band (as per the metrics table), which aligns with expectations for a stationary series under a normal distribution.</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current value of the spread on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𝐴𝑝𝑟𝑖𝑙</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17, 2025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is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0.039</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slightly above the historical mean but well within the 2-SD band.</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Mean Reversion:</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spread exhibits clear mean-reverting behavior, as it repeatedly returns to the historical mean after deviations. For example, after dipping to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−1.2</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in 2020, it quickly reverts back to the mean, and after peaking in 2023, it declines toward the mean by 2023.</a:t>
                </a:r>
              </a:p>
            </p:txBody>
          </p:sp>
        </mc:Choice>
        <mc:Fallback xmlns="">
          <p:sp>
            <p:nvSpPr>
              <p:cNvPr id="12" name="文本框 11">
                <a:extLst>
                  <a:ext uri="{FF2B5EF4-FFF2-40B4-BE49-F238E27FC236}">
                    <a16:creationId xmlns:a16="http://schemas.microsoft.com/office/drawing/2014/main" id="{FA1AF872-68AE-3C82-F134-CCBBBB511F4D}"/>
                  </a:ext>
                </a:extLst>
              </p:cNvPr>
              <p:cNvSpPr txBox="1">
                <a:spLocks noRot="1" noChangeAspect="1" noMove="1" noResize="1" noEditPoints="1" noAdjustHandles="1" noChangeArrowheads="1" noChangeShapeType="1" noTextEdit="1"/>
              </p:cNvSpPr>
              <p:nvPr/>
            </p:nvSpPr>
            <p:spPr>
              <a:xfrm>
                <a:off x="381000" y="5951206"/>
                <a:ext cx="8839200" cy="3139321"/>
              </a:xfrm>
              <a:prstGeom prst="rect">
                <a:avLst/>
              </a:prstGeom>
              <a:blipFill>
                <a:blip r:embed="rId8"/>
                <a:stretch>
                  <a:fillRect l="-483" t="-971" r="-1724" b="-2136"/>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51974B93-127C-6C93-70B9-13ABB17CAC80}"/>
              </a:ext>
            </a:extLst>
          </p:cNvPr>
          <p:cNvSpPr txBox="1"/>
          <p:nvPr/>
        </p:nvSpPr>
        <p:spPr>
          <a:xfrm>
            <a:off x="471735" y="9186672"/>
            <a:ext cx="8657729" cy="923330"/>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Implication</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spread’s mean-reverting behavior and high percentage of time within the 2-SD band suggest that it is a good candidate for pairs trading. The current value (above +2σ) is a significant deviations from the mean typically signal entry points and an immediate trading opportunity!</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4B7428AA-29B1-6E78-DFEF-B09AF65ED8C5}"/>
                  </a:ext>
                </a:extLst>
              </p:cNvPr>
              <p:cNvSpPr txBox="1"/>
              <p:nvPr/>
            </p:nvSpPr>
            <p:spPr>
              <a:xfrm>
                <a:off x="9527171" y="5737077"/>
                <a:ext cx="7694029" cy="369332"/>
              </a:xfrm>
              <a:prstGeom prst="rect">
                <a:avLst/>
              </a:prstGeom>
              <a:solidFill>
                <a:schemeClr val="accent1">
                  <a:lumMod val="20000"/>
                  <a:lumOff val="80000"/>
                </a:schemeClr>
              </a:solidFill>
            </p:spPr>
            <p:txBody>
              <a:bodyPr wrap="square">
                <a:spAutoFit/>
              </a:bodyPr>
              <a:lstStyle/>
              <a:p>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plot shows the historical spread with a 30-day forecast starting from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𝐴𝑝𝑟𝑖𝑙</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17, 2025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4B7428AA-29B1-6E78-DFEF-B09AF65ED8C5}"/>
                  </a:ext>
                </a:extLst>
              </p:cNvPr>
              <p:cNvSpPr txBox="1">
                <a:spLocks noRot="1" noChangeAspect="1" noMove="1" noResize="1" noEditPoints="1" noAdjustHandles="1" noChangeArrowheads="1" noChangeShapeType="1" noTextEdit="1"/>
              </p:cNvSpPr>
              <p:nvPr/>
            </p:nvSpPr>
            <p:spPr>
              <a:xfrm>
                <a:off x="9527171" y="5737077"/>
                <a:ext cx="7694029" cy="369332"/>
              </a:xfrm>
              <a:prstGeom prst="rect">
                <a:avLst/>
              </a:prstGeom>
              <a:blipFill>
                <a:blip r:embed="rId9"/>
                <a:stretch>
                  <a:fillRect l="-713" t="-6557" r="-1189"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4E54BA3C-B774-E2D7-99B1-7FD888466B04}"/>
                  </a:ext>
                </a:extLst>
              </p:cNvPr>
              <p:cNvSpPr txBox="1"/>
              <p:nvPr/>
            </p:nvSpPr>
            <p:spPr>
              <a:xfrm>
                <a:off x="10326185" y="6591300"/>
                <a:ext cx="6096000" cy="1477328"/>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Forecasted Spread:</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forecast (in red) starts at the current 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0.039</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and trends downward, reaching around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by mid-May 2025.</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 forecast remains within the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𝜎</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band, indicating no extreme deviations are expected in the next 30 days.</a:t>
                </a:r>
              </a:p>
            </p:txBody>
          </p:sp>
        </mc:Choice>
        <mc:Fallback xmlns="">
          <p:sp>
            <p:nvSpPr>
              <p:cNvPr id="16" name="文本框 15">
                <a:extLst>
                  <a:ext uri="{FF2B5EF4-FFF2-40B4-BE49-F238E27FC236}">
                    <a16:creationId xmlns:a16="http://schemas.microsoft.com/office/drawing/2014/main" id="{4E54BA3C-B774-E2D7-99B1-7FD888466B04}"/>
                  </a:ext>
                </a:extLst>
              </p:cNvPr>
              <p:cNvSpPr txBox="1">
                <a:spLocks noRot="1" noChangeAspect="1" noMove="1" noResize="1" noEditPoints="1" noAdjustHandles="1" noChangeArrowheads="1" noChangeShapeType="1" noTextEdit="1"/>
              </p:cNvSpPr>
              <p:nvPr/>
            </p:nvSpPr>
            <p:spPr>
              <a:xfrm>
                <a:off x="10326185" y="6591300"/>
                <a:ext cx="6096000" cy="1477328"/>
              </a:xfrm>
              <a:prstGeom prst="rect">
                <a:avLst/>
              </a:prstGeom>
              <a:blipFill>
                <a:blip r:embed="rId10"/>
                <a:stretch>
                  <a:fillRect l="-700" t="-2058" b="-5350"/>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C60AEE19-90F2-DE44-ADAE-986668D62A8B}"/>
              </a:ext>
            </a:extLst>
          </p:cNvPr>
          <p:cNvSpPr txBox="1"/>
          <p:nvPr/>
        </p:nvSpPr>
        <p:spPr>
          <a:xfrm>
            <a:off x="10162866" y="8553519"/>
            <a:ext cx="6422638" cy="1200329"/>
          </a:xfrm>
          <a:prstGeom prst="rect">
            <a:avLst/>
          </a:prstGeom>
          <a:solidFill>
            <a:schemeClr val="accent1">
              <a:lumMod val="20000"/>
              <a:lumOff val="80000"/>
            </a:schemeClr>
          </a:solidFill>
        </p:spPr>
        <p:txBody>
          <a:bodyPr wrap="square">
            <a:spAutoFit/>
          </a:bodyPr>
          <a:lstStyle/>
          <a:p>
            <a:r>
              <a:rPr lang="en-US" altLang="zh-CN" sz="1600" b="1" dirty="0">
                <a:solidFill>
                  <a:srgbClr val="0F4662"/>
                </a:solidFill>
                <a:latin typeface="Book Antiqua" panose="02040602050305030304" pitchFamily="18" charset="0"/>
                <a:cs typeface="Times New Roman" panose="02020603050405020304" pitchFamily="18" charset="0"/>
              </a:rPr>
              <a:t>Implication</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The forecast predicts a downward trend over the next 30 days (April 18 to May 29, 2025), approaching the historical mean. This suggests a potential opportunity to </a:t>
            </a:r>
            <a:r>
              <a:rPr lang="en-US" altLang="zh-CN" sz="1600" b="1" dirty="0">
                <a:solidFill>
                  <a:srgbClr val="0F4662"/>
                </a:solidFill>
                <a:latin typeface="Book Antiqua" panose="02040602050305030304" pitchFamily="18" charset="0"/>
                <a:cs typeface="Times New Roman" panose="02020603050405020304" pitchFamily="18" charset="0"/>
              </a:rPr>
              <a:t>short the spread</a:t>
            </a:r>
            <a:r>
              <a:rPr lang="en-US" altLang="zh-CN" dirty="0">
                <a:solidFill>
                  <a:schemeClr val="accent5">
                    <a:lumMod val="50000"/>
                  </a:schemeClr>
                </a:solidFill>
                <a:latin typeface="Cormorant Garamond Bold Italics" panose="02010600030101010101" charset="0"/>
                <a:cs typeface="Times New Roman" panose="02020603050405020304" pitchFamily="18" charset="0"/>
              </a:rPr>
              <a:t> (sell BYD, buy Tesla) if it continues to revert based on the ARIMA model!</a:t>
            </a:r>
            <a:endParaRPr lang="zh-CN" altLang="en-US" dirty="0">
              <a:solidFill>
                <a:schemeClr val="accent5">
                  <a:lumMod val="50000"/>
                </a:schemeClr>
              </a:solidFill>
              <a:latin typeface="Cormorant Garamond Bold Italics" panose="02010600030101010101" charset="0"/>
              <a:cs typeface="Times New Roman" panose="02020603050405020304" pitchFamily="18" charset="0"/>
            </a:endParaRPr>
          </a:p>
        </p:txBody>
      </p:sp>
      <p:sp>
        <p:nvSpPr>
          <p:cNvPr id="2" name="文本框 1">
            <a:extLst>
              <a:ext uri="{FF2B5EF4-FFF2-40B4-BE49-F238E27FC236}">
                <a16:creationId xmlns:a16="http://schemas.microsoft.com/office/drawing/2014/main" id="{DD3A78EA-DEF0-3F85-ACD4-DB455503A307}"/>
              </a:ext>
            </a:extLst>
          </p:cNvPr>
          <p:cNvSpPr txBox="1"/>
          <p:nvPr/>
        </p:nvSpPr>
        <p:spPr>
          <a:xfrm>
            <a:off x="7848600" y="177758"/>
            <a:ext cx="6445048" cy="830997"/>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BYD-Tesla price difference stays within a normal range 96% of the time and is expected to drop from 0.039 to the average by mid-May 2025, indicating a shorting opportunity (sell BYD, buy Tesla).</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434204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8A6E0-1CD6-F8D3-9383-55AF51BD5CF2}"/>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F168E032-FAFC-A1EA-036B-D5CA02AA4BBF}"/>
              </a:ext>
            </a:extLst>
          </p:cNvPr>
          <p:cNvSpPr txBox="1"/>
          <p:nvPr/>
        </p:nvSpPr>
        <p:spPr>
          <a:xfrm>
            <a:off x="381000" y="-38100"/>
            <a:ext cx="75438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lang="en-US" altLang="zh-CN" sz="2400" b="1" i="1" dirty="0">
                <a:solidFill>
                  <a:srgbClr val="0F4662"/>
                </a:solidFill>
                <a:latin typeface="Cormorant Garamond Bold Italics"/>
              </a:rPr>
              <a:t>: Market Impact on Share Price</a:t>
            </a:r>
            <a:endParaRPr lang="en-US" sz="24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01EC843B-B6E1-D657-FF9C-55F7776C43D1}"/>
              </a:ext>
            </a:extLst>
          </p:cNvPr>
          <p:cNvPicPr>
            <a:picLocks noChangeAspect="1"/>
          </p:cNvPicPr>
          <p:nvPr/>
        </p:nvPicPr>
        <p:blipFill>
          <a:blip r:embed="rId3"/>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88A1A278-2456-094E-80AE-305081E13402}"/>
              </a:ext>
            </a:extLst>
          </p:cNvPr>
          <p:cNvPicPr>
            <a:picLocks noChangeAspect="1"/>
          </p:cNvPicPr>
          <p:nvPr/>
        </p:nvPicPr>
        <p:blipFill>
          <a:blip r:embed="rId4"/>
          <a:stretch>
            <a:fillRect/>
          </a:stretch>
        </p:blipFill>
        <p:spPr>
          <a:xfrm>
            <a:off x="16916400" y="147595"/>
            <a:ext cx="1104169" cy="1168178"/>
          </a:xfrm>
          <a:prstGeom prst="rect">
            <a:avLst/>
          </a:prstGeom>
        </p:spPr>
      </p:pic>
      <p:pic>
        <p:nvPicPr>
          <p:cNvPr id="8" name="图片 7">
            <a:extLst>
              <a:ext uri="{FF2B5EF4-FFF2-40B4-BE49-F238E27FC236}">
                <a16:creationId xmlns:a16="http://schemas.microsoft.com/office/drawing/2014/main" id="{A1EBE71C-5D82-3D4F-6903-484F8566AC8D}"/>
              </a:ext>
            </a:extLst>
          </p:cNvPr>
          <p:cNvPicPr>
            <a:picLocks noChangeAspect="1"/>
          </p:cNvPicPr>
          <p:nvPr/>
        </p:nvPicPr>
        <p:blipFill>
          <a:blip r:embed="rId5"/>
          <a:stretch>
            <a:fillRect/>
          </a:stretch>
        </p:blipFill>
        <p:spPr>
          <a:xfrm>
            <a:off x="4090692" y="1333500"/>
            <a:ext cx="3413197" cy="5176829"/>
          </a:xfrm>
          <a:prstGeom prst="rect">
            <a:avLst/>
          </a:prstGeom>
        </p:spPr>
      </p:pic>
      <p:pic>
        <p:nvPicPr>
          <p:cNvPr id="17" name="图片 16">
            <a:extLst>
              <a:ext uri="{FF2B5EF4-FFF2-40B4-BE49-F238E27FC236}">
                <a16:creationId xmlns:a16="http://schemas.microsoft.com/office/drawing/2014/main" id="{F0BE073A-A182-B677-6BA4-DC3DD71553EB}"/>
              </a:ext>
            </a:extLst>
          </p:cNvPr>
          <p:cNvPicPr>
            <a:picLocks noChangeAspect="1"/>
          </p:cNvPicPr>
          <p:nvPr/>
        </p:nvPicPr>
        <p:blipFill>
          <a:blip r:embed="rId6"/>
          <a:stretch>
            <a:fillRect/>
          </a:stretch>
        </p:blipFill>
        <p:spPr>
          <a:xfrm>
            <a:off x="7918117" y="1333500"/>
            <a:ext cx="4457337" cy="5176828"/>
          </a:xfrm>
          <a:prstGeom prst="rect">
            <a:avLst/>
          </a:prstGeom>
        </p:spPr>
      </p:pic>
      <p:sp>
        <p:nvSpPr>
          <p:cNvPr id="19" name="文本框 18">
            <a:extLst>
              <a:ext uri="{FF2B5EF4-FFF2-40B4-BE49-F238E27FC236}">
                <a16:creationId xmlns:a16="http://schemas.microsoft.com/office/drawing/2014/main" id="{CBA8DD9F-550F-F6A4-0460-CCA8ED466052}"/>
              </a:ext>
            </a:extLst>
          </p:cNvPr>
          <p:cNvSpPr txBox="1"/>
          <p:nvPr/>
        </p:nvSpPr>
        <p:spPr>
          <a:xfrm>
            <a:off x="533400" y="3191025"/>
            <a:ext cx="3300971" cy="1477328"/>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Independent Variables: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book-to-market (B/M)</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earnings-price (E/P)</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cash earnings to price (CE/P)</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dividend yield (D/P)</a:t>
            </a:r>
          </a:p>
        </p:txBody>
      </p:sp>
      <p:sp>
        <p:nvSpPr>
          <p:cNvPr id="15" name="文本框 14">
            <a:extLst>
              <a:ext uri="{FF2B5EF4-FFF2-40B4-BE49-F238E27FC236}">
                <a16:creationId xmlns:a16="http://schemas.microsoft.com/office/drawing/2014/main" id="{F86371EF-927F-088A-67BE-0720ACD7CEA8}"/>
              </a:ext>
            </a:extLst>
          </p:cNvPr>
          <p:cNvSpPr txBox="1"/>
          <p:nvPr/>
        </p:nvSpPr>
        <p:spPr>
          <a:xfrm>
            <a:off x="12192000" y="3047950"/>
            <a:ext cx="5715000" cy="1754326"/>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Independent Variables: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excess return (Mkt-RF).</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Size factor (SMB: Small Minus Big).</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Value factor (HML: High Minus Low).</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Profitability factor (RMW: Robust Minus Weak).</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Investment factor (CMA: Conservative Minus Aggressive).</a:t>
            </a:r>
          </a:p>
        </p:txBody>
      </p:sp>
      <p:sp>
        <p:nvSpPr>
          <p:cNvPr id="20" name="文本框 19">
            <a:extLst>
              <a:ext uri="{FF2B5EF4-FFF2-40B4-BE49-F238E27FC236}">
                <a16:creationId xmlns:a16="http://schemas.microsoft.com/office/drawing/2014/main" id="{DED9034E-03E6-C350-B757-8B6A7879A309}"/>
              </a:ext>
            </a:extLst>
          </p:cNvPr>
          <p:cNvSpPr txBox="1"/>
          <p:nvPr/>
        </p:nvSpPr>
        <p:spPr>
          <a:xfrm>
            <a:off x="979055" y="956514"/>
            <a:ext cx="7067665" cy="338554"/>
          </a:xfrm>
          <a:prstGeom prst="rect">
            <a:avLst/>
          </a:prstGeom>
          <a:solidFill>
            <a:srgbClr val="DCE6F2">
              <a:alpha val="34902"/>
            </a:srgbClr>
          </a:solidFill>
        </p:spPr>
        <p:txBody>
          <a:bodyPr wrap="square">
            <a:spAutoFit/>
          </a:bodyPr>
          <a:lstStyle/>
          <a:p>
            <a:r>
              <a:rPr lang="en-US" altLang="zh-CN" sz="1600" dirty="0">
                <a:solidFill>
                  <a:schemeClr val="accent5">
                    <a:lumMod val="50000"/>
                  </a:schemeClr>
                </a:solidFill>
                <a:latin typeface="Cormorant Garamond Bold Italics" panose="02010600030101010101" charset="0"/>
                <a:cs typeface="Times New Roman" panose="02020603050405020304" pitchFamily="18" charset="0"/>
              </a:rPr>
              <a:t>Due to the limitation of the </a:t>
            </a:r>
            <a:r>
              <a:rPr lang="en-US" altLang="zh-CN" sz="1600" dirty="0">
                <a:solidFill>
                  <a:schemeClr val="accent5">
                    <a:lumMod val="50000"/>
                  </a:schemeClr>
                </a:solidFill>
                <a:latin typeface="Cormorant Garamond Bold Italics" panose="02010600030101010101" charset="0"/>
                <a:cs typeface="Times New Roman" panose="02020603050405020304" pitchFamily="18" charset="0"/>
                <a:hlinkClick r:id="rId7"/>
              </a:rPr>
              <a:t>data source</a:t>
            </a:r>
            <a:r>
              <a:rPr lang="en-US" altLang="zh-CN" sz="1600" dirty="0">
                <a:solidFill>
                  <a:schemeClr val="accent5">
                    <a:lumMod val="50000"/>
                  </a:schemeClr>
                </a:solidFill>
                <a:latin typeface="Cormorant Garamond Bold Italics" panose="02010600030101010101" charset="0"/>
                <a:cs typeface="Times New Roman" panose="02020603050405020304" pitchFamily="18" charset="0"/>
              </a:rPr>
              <a:t>, only the following factors can be obtained separately.</a:t>
            </a:r>
            <a:endParaRPr lang="zh-CN" altLang="en-US" sz="1600" dirty="0">
              <a:solidFill>
                <a:schemeClr val="accent5">
                  <a:lumMod val="50000"/>
                </a:schemeClr>
              </a:solidFill>
              <a:latin typeface="Cormorant Garamond Bold Italics" panose="02010600030101010101" charset="0"/>
              <a:cs typeface="Times New Roman" panose="02020603050405020304" pitchFamily="18" charset="0"/>
            </a:endParaRPr>
          </a:p>
        </p:txBody>
      </p:sp>
      <p:sp>
        <p:nvSpPr>
          <p:cNvPr id="21" name="文本框 20">
            <a:extLst>
              <a:ext uri="{FF2B5EF4-FFF2-40B4-BE49-F238E27FC236}">
                <a16:creationId xmlns:a16="http://schemas.microsoft.com/office/drawing/2014/main" id="{45783721-5C42-08B6-0D57-4A1D1E840A46}"/>
              </a:ext>
            </a:extLst>
          </p:cNvPr>
          <p:cNvSpPr txBox="1"/>
          <p:nvPr/>
        </p:nvSpPr>
        <p:spPr>
          <a:xfrm>
            <a:off x="8289412" y="316185"/>
            <a:ext cx="5410200" cy="830997"/>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Market movements strongly influence Tesla’s returns (49.95% explained) more than BYD’s (18.15% explained), showing Tesla is more tied to market trends.</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D25F91F1-BBAD-931F-3A39-ED25E3A2A1C0}"/>
                  </a:ext>
                </a:extLst>
              </p:cNvPr>
              <p:cNvSpPr txBox="1"/>
              <p:nvPr/>
            </p:nvSpPr>
            <p:spPr>
              <a:xfrm>
                <a:off x="1037790" y="6558201"/>
                <a:ext cx="6466099" cy="646331"/>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𝐵𝑌𝐷</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𝑀𝑘𝑡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𝐵𝐸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3</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𝑃</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oMath>
                  </m:oMathPara>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en-US" altLang="zh-CN" i="1" dirty="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𝐶</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𝐸</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𝑃</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sub>
                      </m:sSub>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b="0" i="1" dirty="0" smtClean="0">
                          <a:solidFill>
                            <a:schemeClr val="accent5">
                              <a:lumMod val="50000"/>
                            </a:schemeClr>
                          </a:solidFill>
                          <a:latin typeface="Cambria Math" panose="02040503050406030204" pitchFamily="18" charset="0"/>
                          <a:cs typeface="Times New Roman" panose="02020603050405020304" pitchFamily="18" charset="0"/>
                        </a:rPr>
                        <m:t>𝑌𝑙𝑑</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_</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𝑓𝑎𝑐𝑡𝑜𝑟</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p:sp>
            <p:nvSpPr>
              <p:cNvPr id="14" name="文本框 13">
                <a:extLst>
                  <a:ext uri="{FF2B5EF4-FFF2-40B4-BE49-F238E27FC236}">
                    <a16:creationId xmlns:a16="http://schemas.microsoft.com/office/drawing/2014/main" id="{D25F91F1-BBAD-931F-3A39-ED25E3A2A1C0}"/>
                  </a:ext>
                </a:extLst>
              </p:cNvPr>
              <p:cNvSpPr txBox="1">
                <a:spLocks noRot="1" noChangeAspect="1" noMove="1" noResize="1" noEditPoints="1" noAdjustHandles="1" noChangeArrowheads="1" noChangeShapeType="1" noTextEdit="1"/>
              </p:cNvSpPr>
              <p:nvPr/>
            </p:nvSpPr>
            <p:spPr>
              <a:xfrm>
                <a:off x="1037790" y="6558201"/>
                <a:ext cx="6466099" cy="646331"/>
              </a:xfrm>
              <a:prstGeom prst="rect">
                <a:avLst/>
              </a:prstGeom>
              <a:blipFill>
                <a:blip r:embed="rId8"/>
                <a:stretch>
                  <a:fillRect r="-94" b="-660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文本框 17">
                <a:extLst>
                  <a:ext uri="{FF2B5EF4-FFF2-40B4-BE49-F238E27FC236}">
                    <a16:creationId xmlns:a16="http://schemas.microsoft.com/office/drawing/2014/main" id="{1B9794B8-8A30-3BEB-6D77-76B62071E968}"/>
                  </a:ext>
                </a:extLst>
              </p:cNvPr>
              <p:cNvSpPr txBox="1"/>
              <p:nvPr/>
            </p:nvSpPr>
            <p:spPr>
              <a:xfrm>
                <a:off x="1255489" y="7249299"/>
                <a:ext cx="6248400" cy="2308324"/>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Intercept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0.0447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0.0246</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level).</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Factor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0.8304</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0.0357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BYD’s returns are influenced by market movements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Other factors (BE/ME, E/P, CE/P, Yield) have high p-values (&gt;</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indicating they are not statistically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They don’t strongly explain BYD’s returns.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0.1815</m:t>
                    </m:r>
                  </m:oMath>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18.15%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of BYD’s return variance is explained by the model</a:t>
                </a:r>
              </a:p>
            </p:txBody>
          </p:sp>
        </mc:Choice>
        <mc:Fallback>
          <p:sp>
            <p:nvSpPr>
              <p:cNvPr id="18" name="文本框 17">
                <a:extLst>
                  <a:ext uri="{FF2B5EF4-FFF2-40B4-BE49-F238E27FC236}">
                    <a16:creationId xmlns:a16="http://schemas.microsoft.com/office/drawing/2014/main" id="{1B9794B8-8A30-3BEB-6D77-76B62071E968}"/>
                  </a:ext>
                </a:extLst>
              </p:cNvPr>
              <p:cNvSpPr txBox="1">
                <a:spLocks noRot="1" noChangeAspect="1" noMove="1" noResize="1" noEditPoints="1" noAdjustHandles="1" noChangeArrowheads="1" noChangeShapeType="1" noTextEdit="1"/>
              </p:cNvSpPr>
              <p:nvPr/>
            </p:nvSpPr>
            <p:spPr>
              <a:xfrm>
                <a:off x="1255489" y="7249299"/>
                <a:ext cx="6248400" cy="2308324"/>
              </a:xfrm>
              <a:prstGeom prst="rect">
                <a:avLst/>
              </a:prstGeom>
              <a:blipFill>
                <a:blip r:embed="rId9"/>
                <a:stretch>
                  <a:fillRect l="-683" t="-1055" r="-1268" b="-34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1C4B4FEE-3B65-0971-117D-9C45664D2C7C}"/>
                  </a:ext>
                </a:extLst>
              </p:cNvPr>
              <p:cNvSpPr txBox="1"/>
              <p:nvPr/>
            </p:nvSpPr>
            <p:spPr>
              <a:xfrm>
                <a:off x="8506968" y="6558201"/>
                <a:ext cx="9109814" cy="391582"/>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a:solidFill>
                                <a:schemeClr val="accent5">
                                  <a:lumMod val="50000"/>
                                </a:schemeClr>
                              </a:solidFill>
                              <a:latin typeface="Cambria Math" panose="02040503050406030204" pitchFamily="18" charset="0"/>
                              <a:cs typeface="Times New Roman" panose="02020603050405020304" pitchFamily="18" charset="0"/>
                            </a:rPr>
                            <m:t>𝑇𝑒𝑠𝑙𝑎</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𝑅</m:t>
                          </m:r>
                        </m:e>
                        <m:sub>
                          <m:r>
                            <a:rPr lang="en-US" altLang="zh-CN" i="1" dirty="0" err="1" smtClean="0">
                              <a:solidFill>
                                <a:schemeClr val="accent5">
                                  <a:lumMod val="50000"/>
                                </a:schemeClr>
                              </a:solidFill>
                              <a:latin typeface="Cambria Math" panose="02040503050406030204" pitchFamily="18" charset="0"/>
                              <a:cs typeface="Times New Roman" panose="02020603050405020304" pitchFamily="18" charset="0"/>
                            </a:rPr>
                            <m:t>𝑓</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d>
                        <m:d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dPr>
                        <m:e>
                          <m:r>
                            <a:rPr lang="en-US" altLang="zh-CN" i="1" dirty="0">
                              <a:solidFill>
                                <a:schemeClr val="accent5">
                                  <a:lumMod val="50000"/>
                                </a:schemeClr>
                              </a:solidFill>
                              <a:latin typeface="Cambria Math" panose="02040503050406030204" pitchFamily="18" charset="0"/>
                              <a:cs typeface="Times New Roman" panose="02020603050405020304" pitchFamily="18" charset="0"/>
                            </a:rPr>
                            <m:t>𝑀𝑘𝑡</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𝑅𝐹</m:t>
                          </m:r>
                        </m:e>
                      </m:d>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𝑆𝑀𝐵</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3</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𝐻𝑀𝐿</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𝑅𝑀𝑊</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5</m:t>
                          </m:r>
                        </m:sub>
                      </m:s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a:solidFill>
                            <a:schemeClr val="accent5">
                              <a:lumMod val="50000"/>
                            </a:schemeClr>
                          </a:solidFill>
                          <a:latin typeface="Cambria Math" panose="02040503050406030204" pitchFamily="18" charset="0"/>
                          <a:cs typeface="Times New Roman" panose="02020603050405020304" pitchFamily="18" charset="0"/>
                        </a:rPr>
                        <m:t>𝐶𝑀𝐴</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p:sp>
            <p:nvSpPr>
              <p:cNvPr id="10" name="文本框 9">
                <a:extLst>
                  <a:ext uri="{FF2B5EF4-FFF2-40B4-BE49-F238E27FC236}">
                    <a16:creationId xmlns:a16="http://schemas.microsoft.com/office/drawing/2014/main" id="{1C4B4FEE-3B65-0971-117D-9C45664D2C7C}"/>
                  </a:ext>
                </a:extLst>
              </p:cNvPr>
              <p:cNvSpPr txBox="1">
                <a:spLocks noRot="1" noChangeAspect="1" noMove="1" noResize="1" noEditPoints="1" noAdjustHandles="1" noChangeArrowheads="1" noChangeShapeType="1" noTextEdit="1"/>
              </p:cNvSpPr>
              <p:nvPr/>
            </p:nvSpPr>
            <p:spPr>
              <a:xfrm>
                <a:off x="8506968" y="6558201"/>
                <a:ext cx="9109814" cy="391582"/>
              </a:xfrm>
              <a:prstGeom prst="rect">
                <a:avLst/>
              </a:prstGeom>
              <a:blipFill>
                <a:blip r:embed="rId10"/>
                <a:stretch>
                  <a:fillRect b="-93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AAA3BD95-D4EC-FD15-211B-3A0F02D1EF13}"/>
                  </a:ext>
                </a:extLst>
              </p:cNvPr>
              <p:cNvSpPr txBox="1"/>
              <p:nvPr/>
            </p:nvSpPr>
            <p:spPr>
              <a:xfrm>
                <a:off x="8503920" y="7015401"/>
                <a:ext cx="5486400" cy="2585323"/>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Market Excess (</a:t>
                </a:r>
                <a14:m>
                  <m:oMath xmlns:m="http://schemas.openxmlformats.org/officeDocument/2006/math">
                    <m:sSub>
                      <m:sSubPr>
                        <m:ctrlP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ctrlPr>
                      </m:sSubPr>
                      <m:e>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e>
                      <m:sub>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m:t>
                        </m:r>
                      </m:sub>
                    </m:sSub>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2.1850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1.56</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𝑒</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Highly significant: showing Tesla’s sensitivity to market movements.</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It is more volatile than the market.</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Other factors (SMB, HML, RMW, CMA) are not significant (p-values &gt;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0.05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They don’t strongly explain BYD’s returns.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0.4995</m:t>
                    </m:r>
                  </m:oMath>
                </a14:m>
                <a:endParaRPr lang="en-US" altLang="zh-CN" i="1" dirty="0">
                  <a:solidFill>
                    <a:schemeClr val="accent5">
                      <a:lumMod val="50000"/>
                    </a:schemeClr>
                  </a:solidFill>
                  <a:latin typeface="Cambria Math" panose="02040503050406030204" pitchFamily="18" charset="0"/>
                  <a:cs typeface="Times New Roman" panose="02020603050405020304" pitchFamily="18" charset="0"/>
                </a:endParaRPr>
              </a:p>
              <a:p>
                <a:pPr marL="742950" lvl="1"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49.95%</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of Tesla’s excess return variance is explained.</a:t>
                </a:r>
              </a:p>
            </p:txBody>
          </p:sp>
        </mc:Choice>
        <mc:Fallback>
          <p:sp>
            <p:nvSpPr>
              <p:cNvPr id="12" name="文本框 11">
                <a:extLst>
                  <a:ext uri="{FF2B5EF4-FFF2-40B4-BE49-F238E27FC236}">
                    <a16:creationId xmlns:a16="http://schemas.microsoft.com/office/drawing/2014/main" id="{AAA3BD95-D4EC-FD15-211B-3A0F02D1EF13}"/>
                  </a:ext>
                </a:extLst>
              </p:cNvPr>
              <p:cNvSpPr txBox="1">
                <a:spLocks noRot="1" noChangeAspect="1" noMove="1" noResize="1" noEditPoints="1" noAdjustHandles="1" noChangeArrowheads="1" noChangeShapeType="1" noTextEdit="1"/>
              </p:cNvSpPr>
              <p:nvPr/>
            </p:nvSpPr>
            <p:spPr>
              <a:xfrm>
                <a:off x="8503920" y="7015401"/>
                <a:ext cx="5486400" cy="2585323"/>
              </a:xfrm>
              <a:prstGeom prst="rect">
                <a:avLst/>
              </a:prstGeom>
              <a:blipFill>
                <a:blip r:embed="rId11"/>
                <a:stretch>
                  <a:fillRect l="-667" t="-1179" r="-778" b="-3066"/>
                </a:stretch>
              </a:blipFill>
            </p:spPr>
            <p:txBody>
              <a:bodyPr/>
              <a:lstStyle/>
              <a:p>
                <a:r>
                  <a:rPr lang="zh-CN" altLang="en-US">
                    <a:noFill/>
                  </a:rPr>
                  <a:t> </a:t>
                </a:r>
              </a:p>
            </p:txBody>
          </p:sp>
        </mc:Fallback>
      </mc:AlternateContent>
      <p:sp>
        <p:nvSpPr>
          <p:cNvPr id="22" name="文本框 21">
            <a:extLst>
              <a:ext uri="{FF2B5EF4-FFF2-40B4-BE49-F238E27FC236}">
                <a16:creationId xmlns:a16="http://schemas.microsoft.com/office/drawing/2014/main" id="{78689D1E-742B-9319-4E98-D488CA0B8A8F}"/>
              </a:ext>
            </a:extLst>
          </p:cNvPr>
          <p:cNvSpPr txBox="1"/>
          <p:nvPr/>
        </p:nvSpPr>
        <p:spPr>
          <a:xfrm>
            <a:off x="1585327" y="9666342"/>
            <a:ext cx="12922785" cy="584775"/>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difference in market sensitivity means the price movements of the pair are driven by distinct factors, reducing the risk of both stocks moving in the same direction due to market-wide trends, which is ideal for pairs trading where profit from their relative price difference.</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p:spTree>
    <p:extLst>
      <p:ext uri="{BB962C8B-B14F-4D97-AF65-F5344CB8AC3E}">
        <p14:creationId xmlns:p14="http://schemas.microsoft.com/office/powerpoint/2010/main" val="1187483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69AF0-D68C-9D9A-3F04-2643EAF17190}"/>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01A69296-2F03-ED1C-556C-FCA009A2FD1F}"/>
              </a:ext>
            </a:extLst>
          </p:cNvPr>
          <p:cNvSpPr txBox="1"/>
          <p:nvPr/>
        </p:nvSpPr>
        <p:spPr>
          <a:xfrm>
            <a:off x="381000" y="-38100"/>
            <a:ext cx="6629400" cy="1011495"/>
          </a:xfrm>
          <a:prstGeom prst="rect">
            <a:avLst/>
          </a:prstGeom>
        </p:spPr>
        <p:txBody>
          <a:bodyPr wrap="square" lIns="0" tIns="0" rIns="0" bIns="0" rtlCol="0" anchor="t">
            <a:spAutoFit/>
          </a:bodyPr>
          <a:lstStyle/>
          <a:p>
            <a:pPr marL="0" lvl="0" indent="0" algn="l">
              <a:lnSpc>
                <a:spcPts val="8959"/>
              </a:lnSpc>
              <a:spcBef>
                <a:spcPct val="0"/>
              </a:spcBef>
            </a:pPr>
            <a:r>
              <a:rPr lang="en-US" altLang="zh-CN" sz="4000" b="1" i="1" dirty="0">
                <a:solidFill>
                  <a:srgbClr val="0F4662"/>
                </a:solidFill>
                <a:latin typeface="Cormorant Garamond Bold Italics" panose="02010600030101010101" charset="0"/>
              </a:rPr>
              <a:t>Quantitative</a:t>
            </a:r>
            <a:r>
              <a:rPr lang="en-US" altLang="zh-CN" sz="4000" b="1" i="1" dirty="0">
                <a:solidFill>
                  <a:srgbClr val="0F4662"/>
                </a:solidFill>
                <a:latin typeface="Cormorant Garamond Bold Italics"/>
              </a:rPr>
              <a:t> Analysis</a:t>
            </a:r>
            <a:r>
              <a:rPr lang="en-US" altLang="zh-CN" sz="2400" b="1" i="1" dirty="0">
                <a:solidFill>
                  <a:srgbClr val="0F4662"/>
                </a:solidFill>
                <a:latin typeface="Cormorant Garamond Bold Italics"/>
              </a:rPr>
              <a:t>: Market Beta Analysis</a:t>
            </a:r>
            <a:endParaRPr lang="en-US" sz="2400" b="1" i="1" dirty="0">
              <a:solidFill>
                <a:srgbClr val="0F4662"/>
              </a:solidFill>
              <a:latin typeface="Cormorant Garamond Bold Italics"/>
              <a:sym typeface="Cormorant Garamond Bold Italics"/>
            </a:endParaRPr>
          </a:p>
        </p:txBody>
      </p:sp>
      <p:pic>
        <p:nvPicPr>
          <p:cNvPr id="9" name="图片 8">
            <a:extLst>
              <a:ext uri="{FF2B5EF4-FFF2-40B4-BE49-F238E27FC236}">
                <a16:creationId xmlns:a16="http://schemas.microsoft.com/office/drawing/2014/main" id="{22A517B5-C52D-9777-A0EB-54FCC2FD3B0A}"/>
              </a:ext>
            </a:extLst>
          </p:cNvPr>
          <p:cNvPicPr>
            <a:picLocks noChangeAspect="1"/>
          </p:cNvPicPr>
          <p:nvPr/>
        </p:nvPicPr>
        <p:blipFill>
          <a:blip r:embed="rId3"/>
          <a:stretch>
            <a:fillRect/>
          </a:stretch>
        </p:blipFill>
        <p:spPr>
          <a:xfrm>
            <a:off x="14949292" y="147595"/>
            <a:ext cx="1724416" cy="1011495"/>
          </a:xfrm>
          <a:prstGeom prst="rect">
            <a:avLst/>
          </a:prstGeom>
        </p:spPr>
      </p:pic>
      <p:pic>
        <p:nvPicPr>
          <p:cNvPr id="11" name="图片 10">
            <a:extLst>
              <a:ext uri="{FF2B5EF4-FFF2-40B4-BE49-F238E27FC236}">
                <a16:creationId xmlns:a16="http://schemas.microsoft.com/office/drawing/2014/main" id="{49F2B61A-1A92-B9D9-B57D-8693F1D4B0B7}"/>
              </a:ext>
            </a:extLst>
          </p:cNvPr>
          <p:cNvPicPr>
            <a:picLocks noChangeAspect="1"/>
          </p:cNvPicPr>
          <p:nvPr/>
        </p:nvPicPr>
        <p:blipFill>
          <a:blip r:embed="rId4"/>
          <a:stretch>
            <a:fillRect/>
          </a:stretch>
        </p:blipFill>
        <p:spPr>
          <a:xfrm>
            <a:off x="16916400" y="147595"/>
            <a:ext cx="1104169" cy="1168178"/>
          </a:xfrm>
          <a:prstGeom prst="rect">
            <a:avLst/>
          </a:prstGeom>
        </p:spPr>
      </p:pic>
      <p:pic>
        <p:nvPicPr>
          <p:cNvPr id="3" name="图片 2">
            <a:extLst>
              <a:ext uri="{FF2B5EF4-FFF2-40B4-BE49-F238E27FC236}">
                <a16:creationId xmlns:a16="http://schemas.microsoft.com/office/drawing/2014/main" id="{FB447777-296F-2660-B372-9885663F6CF7}"/>
              </a:ext>
            </a:extLst>
          </p:cNvPr>
          <p:cNvPicPr>
            <a:picLocks noChangeAspect="1"/>
          </p:cNvPicPr>
          <p:nvPr/>
        </p:nvPicPr>
        <p:blipFill>
          <a:blip r:embed="rId5"/>
          <a:stretch>
            <a:fillRect/>
          </a:stretch>
        </p:blipFill>
        <p:spPr>
          <a:xfrm>
            <a:off x="936297" y="1562100"/>
            <a:ext cx="7245738" cy="4456812"/>
          </a:xfrm>
          <a:prstGeom prst="rect">
            <a:avLst/>
          </a:prstGeom>
        </p:spPr>
      </p:pic>
      <p:pic>
        <p:nvPicPr>
          <p:cNvPr id="5" name="图片 4">
            <a:extLst>
              <a:ext uri="{FF2B5EF4-FFF2-40B4-BE49-F238E27FC236}">
                <a16:creationId xmlns:a16="http://schemas.microsoft.com/office/drawing/2014/main" id="{38044EB8-9E08-4910-FE0F-138E476E3595}"/>
              </a:ext>
            </a:extLst>
          </p:cNvPr>
          <p:cNvPicPr>
            <a:picLocks noChangeAspect="1"/>
          </p:cNvPicPr>
          <p:nvPr/>
        </p:nvPicPr>
        <p:blipFill>
          <a:blip r:embed="rId6"/>
          <a:stretch>
            <a:fillRect/>
          </a:stretch>
        </p:blipFill>
        <p:spPr>
          <a:xfrm>
            <a:off x="936298" y="5829301"/>
            <a:ext cx="7245738" cy="4456812"/>
          </a:xfrm>
          <a:prstGeom prst="rect">
            <a:avLst/>
          </a:prstGeom>
        </p:spPr>
      </p:pic>
      <p:pic>
        <p:nvPicPr>
          <p:cNvPr id="10" name="图片 9">
            <a:extLst>
              <a:ext uri="{FF2B5EF4-FFF2-40B4-BE49-F238E27FC236}">
                <a16:creationId xmlns:a16="http://schemas.microsoft.com/office/drawing/2014/main" id="{B6CAC121-5B5A-D427-B4F4-1A3CD795C325}"/>
              </a:ext>
            </a:extLst>
          </p:cNvPr>
          <p:cNvPicPr>
            <a:picLocks noChangeAspect="1"/>
          </p:cNvPicPr>
          <p:nvPr/>
        </p:nvPicPr>
        <p:blipFill>
          <a:blip r:embed="rId7"/>
          <a:stretch>
            <a:fillRect/>
          </a:stretch>
        </p:blipFill>
        <p:spPr>
          <a:xfrm>
            <a:off x="9601200" y="1562101"/>
            <a:ext cx="7245738" cy="4456812"/>
          </a:xfrm>
          <a:prstGeom prst="rect">
            <a:avLst/>
          </a:prstGeom>
        </p:spPr>
      </p:pic>
      <mc:AlternateContent xmlns:mc="http://schemas.openxmlformats.org/markup-compatibility/2006">
        <mc:Choice xmlns:a14="http://schemas.microsoft.com/office/drawing/2010/main" Requires="a14">
          <p:sp>
            <p:nvSpPr>
              <p:cNvPr id="17" name="文本框 16">
                <a:extLst>
                  <a:ext uri="{FF2B5EF4-FFF2-40B4-BE49-F238E27FC236}">
                    <a16:creationId xmlns:a16="http://schemas.microsoft.com/office/drawing/2014/main" id="{782979CF-071B-26D2-4199-9E8CB01FAC9B}"/>
                  </a:ext>
                </a:extLst>
              </p:cNvPr>
              <p:cNvSpPr txBox="1"/>
              <p:nvPr/>
            </p:nvSpPr>
            <p:spPr>
              <a:xfrm>
                <a:off x="10049699" y="5649580"/>
                <a:ext cx="6348739" cy="369332"/>
              </a:xfrm>
              <a:prstGeom prst="rect">
                <a:avLst/>
              </a:prstGeom>
              <a:solidFill>
                <a:schemeClr val="accent1">
                  <a:lumMod val="20000"/>
                  <a:lumOff val="80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𝐵𝑌𝐷</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𝑇𝑒𝑠𝑙𝑎</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𝑆𝑝𝑟𝑒𝑎𝑑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𝐻𝑆𝐼</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𝑁𝐴𝑆𝐷𝐴𝑄</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𝑆𝑝𝑟𝑒𝑎𝑑</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 </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𝜖</m:t>
                      </m:r>
                    </m:oMath>
                  </m:oMathPara>
                </a14:m>
                <a:endParaRPr lang="en-US" altLang="zh-CN" dirty="0">
                  <a:solidFill>
                    <a:schemeClr val="accent5">
                      <a:lumMod val="50000"/>
                    </a:schemeClr>
                  </a:solidFill>
                  <a:latin typeface="Cormorant Garamond Bold Italics" panose="02010600030101010101" charset="0"/>
                  <a:cs typeface="Times New Roman" panose="02020603050405020304" pitchFamily="18" charset="0"/>
                </a:endParaRPr>
              </a:p>
            </p:txBody>
          </p:sp>
        </mc:Choice>
        <mc:Fallback>
          <p:sp>
            <p:nvSpPr>
              <p:cNvPr id="17" name="文本框 16">
                <a:extLst>
                  <a:ext uri="{FF2B5EF4-FFF2-40B4-BE49-F238E27FC236}">
                    <a16:creationId xmlns:a16="http://schemas.microsoft.com/office/drawing/2014/main" id="{782979CF-071B-26D2-4199-9E8CB01FAC9B}"/>
                  </a:ext>
                </a:extLst>
              </p:cNvPr>
              <p:cNvSpPr txBox="1">
                <a:spLocks noRot="1" noChangeAspect="1" noMove="1" noResize="1" noEditPoints="1" noAdjustHandles="1" noChangeArrowheads="1" noChangeShapeType="1" noTextEdit="1"/>
              </p:cNvSpPr>
              <p:nvPr/>
            </p:nvSpPr>
            <p:spPr>
              <a:xfrm>
                <a:off x="10049699" y="5649580"/>
                <a:ext cx="6348739" cy="369332"/>
              </a:xfrm>
              <a:prstGeom prst="rect">
                <a:avLst/>
              </a:prstGeom>
              <a:blipFill>
                <a:blip r:embed="rId8"/>
                <a:stretch>
                  <a:fillRect b="-13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文本框 18">
                <a:extLst>
                  <a:ext uri="{FF2B5EF4-FFF2-40B4-BE49-F238E27FC236}">
                    <a16:creationId xmlns:a16="http://schemas.microsoft.com/office/drawing/2014/main" id="{0CD812B2-50F9-B668-B4B4-65ABA92241A7}"/>
                  </a:ext>
                </a:extLst>
              </p:cNvPr>
              <p:cNvSpPr txBox="1"/>
              <p:nvPr/>
            </p:nvSpPr>
            <p:spPr>
              <a:xfrm>
                <a:off x="10099869" y="6134100"/>
                <a:ext cx="6248400" cy="2308324"/>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𝛽</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 1.4271</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(p-value: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1.05</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𝑒</m:t>
                    </m:r>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−167</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 significant)</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Measures how much the stock spread changes for a unit change in the market spread, capturing relative sensitivity.</a:t>
                </a:r>
              </a:p>
              <a:p>
                <a:pPr marL="742950" lvl="1"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Indicates that the stock spread moves more than the market spread, amplifying market differences.</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R-squared: </a:t>
                </a:r>
                <a14:m>
                  <m:oMath xmlns:m="http://schemas.openxmlformats.org/officeDocument/2006/math">
                    <m:r>
                      <a:rPr lang="en-US" altLang="zh-CN" i="1" dirty="0" smtClean="0">
                        <a:solidFill>
                          <a:schemeClr val="accent5">
                            <a:lumMod val="50000"/>
                          </a:schemeClr>
                        </a:solidFill>
                        <a:latin typeface="Cambria Math" panose="02040503050406030204" pitchFamily="18" charset="0"/>
                        <a:cs typeface="Times New Roman" panose="02020603050405020304" pitchFamily="18" charset="0"/>
                      </a:rPr>
                      <m:t>0.3390</m:t>
                    </m:r>
                  </m:oMath>
                </a14:m>
                <a:r>
                  <a:rPr lang="en-US" altLang="zh-CN" dirty="0">
                    <a:solidFill>
                      <a:schemeClr val="accent5">
                        <a:lumMod val="50000"/>
                      </a:schemeClr>
                    </a:solidFill>
                    <a:latin typeface="Cormorant Garamond Bold Italics" panose="02010600030101010101" charset="0"/>
                    <a:cs typeface="Times New Roman" panose="02020603050405020304" pitchFamily="18" charset="0"/>
                  </a:rPr>
                  <a:t>.</a:t>
                </a:r>
              </a:p>
              <a:p>
                <a:pPr marL="285750" indent="-285750">
                  <a:buFont typeface="Arial" panose="020B0604020202020204" pitchFamily="34" charset="0"/>
                  <a:buChar char="•"/>
                </a:pPr>
                <a:r>
                  <a:rPr lang="en-US" altLang="zh-CN" dirty="0">
                    <a:solidFill>
                      <a:schemeClr val="accent5">
                        <a:lumMod val="50000"/>
                      </a:schemeClr>
                    </a:solidFill>
                    <a:latin typeface="Cormorant Garamond Bold Italics" panose="02010600030101010101" charset="0"/>
                    <a:cs typeface="Times New Roman" panose="02020603050405020304" pitchFamily="18" charset="0"/>
                  </a:rPr>
                  <a:t>Indicates a strong relationship between the stock return spread and the market index spread.</a:t>
                </a:r>
              </a:p>
            </p:txBody>
          </p:sp>
        </mc:Choice>
        <mc:Fallback>
          <p:sp>
            <p:nvSpPr>
              <p:cNvPr id="19" name="文本框 18">
                <a:extLst>
                  <a:ext uri="{FF2B5EF4-FFF2-40B4-BE49-F238E27FC236}">
                    <a16:creationId xmlns:a16="http://schemas.microsoft.com/office/drawing/2014/main" id="{0CD812B2-50F9-B668-B4B4-65ABA92241A7}"/>
                  </a:ext>
                </a:extLst>
              </p:cNvPr>
              <p:cNvSpPr txBox="1">
                <a:spLocks noRot="1" noChangeAspect="1" noMove="1" noResize="1" noEditPoints="1" noAdjustHandles="1" noChangeArrowheads="1" noChangeShapeType="1" noTextEdit="1"/>
              </p:cNvSpPr>
              <p:nvPr/>
            </p:nvSpPr>
            <p:spPr>
              <a:xfrm>
                <a:off x="10099869" y="6134100"/>
                <a:ext cx="6248400" cy="2308324"/>
              </a:xfrm>
              <a:prstGeom prst="rect">
                <a:avLst/>
              </a:prstGeom>
              <a:blipFill>
                <a:blip r:embed="rId9"/>
                <a:stretch>
                  <a:fillRect l="-683" t="-1055" b="-316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FDABCD5-A9D9-780D-0E4B-8945576434B6}"/>
              </a:ext>
            </a:extLst>
          </p:cNvPr>
          <p:cNvSpPr txBox="1"/>
          <p:nvPr/>
        </p:nvSpPr>
        <p:spPr>
          <a:xfrm>
            <a:off x="7283572" y="316185"/>
            <a:ext cx="6340988" cy="830997"/>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Tesla’s returns are highly tied to the NASDAQ (50.66% explained), while BYD’s are less tied to the HSI (21.18% explained); their price difference follows market trends (33.9% explained).</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C0905A1A-AD65-412F-6172-4E11FE8C7452}"/>
                  </a:ext>
                </a:extLst>
              </p:cNvPr>
              <p:cNvSpPr txBox="1"/>
              <p:nvPr/>
            </p:nvSpPr>
            <p:spPr>
              <a:xfrm>
                <a:off x="9785855" y="8724899"/>
                <a:ext cx="6876426" cy="1323439"/>
              </a:xfrm>
              <a:prstGeom prst="rect">
                <a:avLst/>
              </a:prstGeom>
              <a:solidFill>
                <a:schemeClr val="accent1">
                  <a:lumMod val="60000"/>
                  <a:lumOff val="40000"/>
                </a:schemeClr>
              </a:solidFill>
            </p:spPr>
            <p:txBody>
              <a:bodyPr wrap="square">
                <a:spAutoFit/>
              </a:bodyPr>
              <a:lstStyle/>
              <a:p>
                <a:r>
                  <a:rPr lang="en-US" altLang="zh-CN" sz="1600" b="1" dirty="0">
                    <a:solidFill>
                      <a:schemeClr val="tx2">
                        <a:lumMod val="50000"/>
                      </a:schemeClr>
                    </a:solidFill>
                    <a:latin typeface="Book Antiqua" panose="02040602050305030304" pitchFamily="18" charset="0"/>
                    <a:cs typeface="Times New Roman" panose="02020603050405020304" pitchFamily="18" charset="0"/>
                  </a:rPr>
                  <a:t>The above reveals the BYD-Tesla price spread is significantly tied to the HSI-NASDAQ market spread (beta </a:t>
                </a:r>
                <a14:m>
                  <m:oMath xmlns:m="http://schemas.openxmlformats.org/officeDocument/2006/math">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𝟏</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𝟒𝟐𝟕𝟏</m:t>
                    </m:r>
                  </m:oMath>
                </a14:m>
                <a:r>
                  <a:rPr lang="en-US" altLang="zh-CN" sz="1600" b="1" dirty="0">
                    <a:solidFill>
                      <a:schemeClr val="tx2">
                        <a:lumMod val="50000"/>
                      </a:schemeClr>
                    </a:solidFill>
                    <a:latin typeface="Book Antiqua" panose="02040602050305030304" pitchFamily="18" charset="0"/>
                    <a:cs typeface="Times New Roman" panose="02020603050405020304" pitchFamily="18" charset="0"/>
                  </a:rPr>
                  <a:t>, </a:t>
                </a:r>
                <a14:m>
                  <m:oMath xmlns:m="http://schemas.openxmlformats.org/officeDocument/2006/math">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𝟑𝟑</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𝟗</m:t>
                    </m:r>
                    <m:r>
                      <a:rPr lang="en-US" altLang="zh-CN" sz="1600" b="1" i="1" dirty="0" smtClean="0">
                        <a:solidFill>
                          <a:schemeClr val="tx2">
                            <a:lumMod val="50000"/>
                          </a:schemeClr>
                        </a:solidFill>
                        <a:latin typeface="Cambria Math" panose="02040503050406030204" pitchFamily="18" charset="0"/>
                        <a:cs typeface="Times New Roman" panose="02020603050405020304" pitchFamily="18" charset="0"/>
                      </a:rPr>
                      <m:t>%</m:t>
                    </m:r>
                  </m:oMath>
                </a14:m>
                <a:r>
                  <a:rPr lang="en-US" altLang="zh-CN" sz="1600" b="1" dirty="0">
                    <a:solidFill>
                      <a:schemeClr val="tx2">
                        <a:lumMod val="50000"/>
                      </a:schemeClr>
                    </a:solidFill>
                    <a:latin typeface="Book Antiqua" panose="02040602050305030304" pitchFamily="18" charset="0"/>
                    <a:cs typeface="Times New Roman" panose="02020603050405020304" pitchFamily="18" charset="0"/>
                  </a:rPr>
                  <a:t> explained). This strong relationship indicates the spread is predictable and influenced by market differences, making it easier to anticipate and trade when the spread deviates from its norm, a key requirement for pairs trading.</a:t>
                </a:r>
                <a:endParaRPr lang="zh-CN" altLang="en-US" sz="1600" b="1" dirty="0">
                  <a:solidFill>
                    <a:schemeClr val="tx2">
                      <a:lumMod val="50000"/>
                    </a:schemeClr>
                  </a:solidFill>
                  <a:latin typeface="Book Antiqua" panose="02040602050305030304" pitchFamily="18" charset="0"/>
                  <a:cs typeface="Times New Roman" panose="02020603050405020304" pitchFamily="18" charset="0"/>
                </a:endParaRPr>
              </a:p>
            </p:txBody>
          </p:sp>
        </mc:Choice>
        <mc:Fallback>
          <p:sp>
            <p:nvSpPr>
              <p:cNvPr id="4" name="文本框 3">
                <a:extLst>
                  <a:ext uri="{FF2B5EF4-FFF2-40B4-BE49-F238E27FC236}">
                    <a16:creationId xmlns:a16="http://schemas.microsoft.com/office/drawing/2014/main" id="{C0905A1A-AD65-412F-6172-4E11FE8C7452}"/>
                  </a:ext>
                </a:extLst>
              </p:cNvPr>
              <p:cNvSpPr txBox="1">
                <a:spLocks noRot="1" noChangeAspect="1" noMove="1" noResize="1" noEditPoints="1" noAdjustHandles="1" noChangeArrowheads="1" noChangeShapeType="1" noTextEdit="1"/>
              </p:cNvSpPr>
              <p:nvPr/>
            </p:nvSpPr>
            <p:spPr>
              <a:xfrm>
                <a:off x="9785855" y="8724899"/>
                <a:ext cx="6876426" cy="1323439"/>
              </a:xfrm>
              <a:prstGeom prst="rect">
                <a:avLst/>
              </a:prstGeom>
              <a:blipFill>
                <a:blip r:embed="rId10"/>
                <a:stretch>
                  <a:fillRect l="-443" t="-1382" r="-1064" b="-50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23756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4836</TotalTime>
  <Words>2275</Words>
  <Application>Microsoft Office PowerPoint</Application>
  <PresentationFormat>自定义</PresentationFormat>
  <Paragraphs>122</Paragraphs>
  <Slides>8</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Garamond</vt:lpstr>
      <vt:lpstr>Quicksand</vt:lpstr>
      <vt:lpstr>Calibri</vt:lpstr>
      <vt:lpstr>Times New Roman</vt:lpstr>
      <vt:lpstr>Cambria Math</vt:lpstr>
      <vt:lpstr>等线</vt:lpstr>
      <vt:lpstr>Arial</vt:lpstr>
      <vt:lpstr>Cormorant Garamond Bold Italics</vt:lpstr>
      <vt:lpstr>Quicksand Bold</vt:lpstr>
      <vt:lpstr>-apple-system</vt:lpstr>
      <vt:lpstr>Book Antiqua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Menger Gilmour</dc:creator>
  <cp:lastModifiedBy>Menger Gilmour</cp:lastModifiedBy>
  <cp:revision>43</cp:revision>
  <dcterms:created xsi:type="dcterms:W3CDTF">2006-08-16T00:00:00Z</dcterms:created>
  <dcterms:modified xsi:type="dcterms:W3CDTF">2025-05-01T16:46:24Z</dcterms:modified>
  <dc:identifier>DAGl1QXc6Vo</dc:identifier>
</cp:coreProperties>
</file>