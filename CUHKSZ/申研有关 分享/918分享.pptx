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73" r:id="rId3"/>
    <p:sldMasterId id="2147483698" r:id="rId4"/>
    <p:sldMasterId id="2147483723" r:id="rId5"/>
    <p:sldMasterId id="2147483748" r:id="rId6"/>
    <p:sldMasterId id="2147483773" r:id="rId7"/>
  </p:sldMasterIdLst>
  <p:notesMasterIdLst>
    <p:notesMasterId r:id="rId23"/>
  </p:notesMasterIdLst>
  <p:handoutMasterIdLst>
    <p:handoutMasterId r:id="rId24"/>
  </p:handoutMasterIdLst>
  <p:sldIdLst>
    <p:sldId id="277" r:id="rId8"/>
    <p:sldId id="257" r:id="rId9"/>
    <p:sldId id="259" r:id="rId10"/>
    <p:sldId id="333" r:id="rId11"/>
    <p:sldId id="469" r:id="rId12"/>
    <p:sldId id="373" r:id="rId13"/>
    <p:sldId id="470" r:id="rId14"/>
    <p:sldId id="278" r:id="rId15"/>
    <p:sldId id="471" r:id="rId16"/>
    <p:sldId id="368" r:id="rId17"/>
    <p:sldId id="369" r:id="rId18"/>
    <p:sldId id="472" r:id="rId19"/>
    <p:sldId id="370" r:id="rId20"/>
    <p:sldId id="473" r:id="rId21"/>
    <p:sldId id="293" r:id="rId22"/>
  </p:sldIdLst>
  <p:sldSz cx="12192000" cy="6858000"/>
  <p:notesSz cx="6858000" cy="9144000"/>
  <p:embeddedFontLst>
    <p:embeddedFont>
      <p:font typeface="Bebas Neue" panose="020B0606020202050201" charset="0"/>
      <p:regular r:id="rId28"/>
    </p:embeddedFont>
    <p:embeddedFont>
      <p:font typeface="Poppins Light" panose="00000400000000000000" charset="0"/>
      <p:regular r:id="rId29"/>
      <p:italic r:id="rId30"/>
    </p:embeddedFont>
    <p:embeddedFont>
      <p:font typeface="Malgun Gothic" panose="020B0503020000020004" charset="-127"/>
      <p:regular r:id="rId31"/>
    </p:embeddedFont>
    <p:embeddedFont>
      <p:font typeface="Overpass Light" panose="00000400000000000000" pitchFamily="2" charset="0"/>
      <p:regular r:id="rId32"/>
    </p:embeddedFont>
  </p:embeddedFontLst>
  <p:custDataLst>
    <p:tags r:id="rId33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59"/>
    <a:srgbClr val="082D6E"/>
    <a:srgbClr val="ADEDF7"/>
    <a:srgbClr val="1F7BF5"/>
    <a:srgbClr val="A0C6FB"/>
    <a:srgbClr val="2A87FE"/>
    <a:srgbClr val="4188F6"/>
    <a:srgbClr val="B7AAFC"/>
    <a:srgbClr val="FFEFD9"/>
    <a:srgbClr val="FF6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4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06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gs" Target="tags/tag8.xml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86696-F86F-4066-9FDD-77F2B013FA08}" type="slidenum">
              <a:rPr lang="ko-KR" altLang="en-US" smtClean="0"/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7" Type="http://schemas.openxmlformats.org/officeDocument/2006/relationships/hyperlink" Target="https://pptmon.com/" TargetMode="Externa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://pptmon.com/" TargetMode="Externa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pptmon.com/" TargetMode="Externa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hyperlink" Target="http://www.pptmon.com/" TargetMode="External"/><Relationship Id="rId11" Type="http://schemas.openxmlformats.org/officeDocument/2006/relationships/hyperlink" Target="https://pptmon.com/" TargetMode="External"/><Relationship Id="rId10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9" Type="http://schemas.openxmlformats.org/officeDocument/2006/relationships/hyperlink" Target="https://pptmon.com/" TargetMode="Externa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0" Type="http://schemas.openxmlformats.org/officeDocument/2006/relationships/image" Target="../media/image12.svg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래픽 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2"/>
            <a:ext cx="4622800" cy="6257177"/>
          </a:xfrm>
          <a:prstGeom prst="rect">
            <a:avLst/>
          </a:prstGeom>
        </p:spPr>
      </p:pic>
      <p:pic>
        <p:nvPicPr>
          <p:cNvPr id="3" name="그래픽 2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그래픽 4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732" y="0"/>
            <a:ext cx="3986267" cy="39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1594789" y="1594789"/>
            <a:ext cx="6858000" cy="36684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569251" y="-1569249"/>
            <a:ext cx="1712901" cy="4851402"/>
          </a:xfrm>
          <a:prstGeom prst="rect">
            <a:avLst/>
          </a:prstGeom>
        </p:spPr>
      </p:pic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8909849" y="3575848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6630845" y="1296845"/>
            <a:ext cx="5559709" cy="5562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479099" y="0"/>
            <a:ext cx="1712901" cy="4851402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006599"/>
            <a:ext cx="1712901" cy="485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0" y="1903833"/>
            <a:ext cx="12191999" cy="2830150"/>
          </a:xfrm>
          <a:custGeom>
            <a:avLst/>
            <a:gdLst>
              <a:gd name="connsiteX0" fmla="*/ 1414324 w 12191999"/>
              <a:gd name="connsiteY0" fmla="*/ 0 h 2830150"/>
              <a:gd name="connsiteX1" fmla="*/ 4952360 w 12191999"/>
              <a:gd name="connsiteY1" fmla="*/ 0 h 2830150"/>
              <a:gd name="connsiteX2" fmla="*/ 5291410 w 12191999"/>
              <a:gd name="connsiteY2" fmla="*/ 0 h 2830150"/>
              <a:gd name="connsiteX3" fmla="*/ 12191999 w 12191999"/>
              <a:gd name="connsiteY3" fmla="*/ 0 h 2830150"/>
              <a:gd name="connsiteX4" fmla="*/ 12191999 w 12191999"/>
              <a:gd name="connsiteY4" fmla="*/ 2830150 h 2830150"/>
              <a:gd name="connsiteX5" fmla="*/ 4952360 w 12191999"/>
              <a:gd name="connsiteY5" fmla="*/ 2830150 h 2830150"/>
              <a:gd name="connsiteX6" fmla="*/ 4952360 w 12191999"/>
              <a:gd name="connsiteY6" fmla="*/ 2828648 h 2830150"/>
              <a:gd name="connsiteX7" fmla="*/ 1414324 w 12191999"/>
              <a:gd name="connsiteY7" fmla="*/ 2828648 h 2830150"/>
              <a:gd name="connsiteX8" fmla="*/ 0 w 12191999"/>
              <a:gd name="connsiteY8" fmla="*/ 1414325 h 2830150"/>
              <a:gd name="connsiteX9" fmla="*/ 1414324 w 12191999"/>
              <a:gd name="connsiteY9" fmla="*/ 0 h 28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1999" h="2830150">
                <a:moveTo>
                  <a:pt x="1414324" y="0"/>
                </a:moveTo>
                <a:lnTo>
                  <a:pt x="4952360" y="0"/>
                </a:lnTo>
                <a:lnTo>
                  <a:pt x="5291410" y="0"/>
                </a:lnTo>
                <a:lnTo>
                  <a:pt x="12191999" y="0"/>
                </a:lnTo>
                <a:lnTo>
                  <a:pt x="12191999" y="2830150"/>
                </a:lnTo>
                <a:lnTo>
                  <a:pt x="4952360" y="2830150"/>
                </a:lnTo>
                <a:lnTo>
                  <a:pt x="4952360" y="2828648"/>
                </a:lnTo>
                <a:lnTo>
                  <a:pt x="1414324" y="2828648"/>
                </a:lnTo>
                <a:cubicBezTo>
                  <a:pt x="633215" y="2828648"/>
                  <a:pt x="0" y="2195434"/>
                  <a:pt x="0" y="1414325"/>
                </a:cubicBezTo>
                <a:cubicBezTo>
                  <a:pt x="0" y="633215"/>
                  <a:pt x="633215" y="0"/>
                  <a:pt x="1414324" y="0"/>
                </a:cubicBezTo>
                <a:close/>
              </a:path>
            </a:pathLst>
          </a:custGeom>
          <a:solidFill>
            <a:srgbClr val="FFE95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그림 개체 틀 12"/>
          <p:cNvSpPr>
            <a:spLocks noGrp="1"/>
          </p:cNvSpPr>
          <p:nvPr>
            <p:ph type="pic" sz="quarter" idx="23"/>
          </p:nvPr>
        </p:nvSpPr>
        <p:spPr>
          <a:xfrm>
            <a:off x="1503476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2"/>
          <p:cNvSpPr>
            <a:spLocks noGrp="1"/>
          </p:cNvSpPr>
          <p:nvPr>
            <p:ph type="pic" sz="quarter" idx="27"/>
          </p:nvPr>
        </p:nvSpPr>
        <p:spPr>
          <a:xfrm>
            <a:off x="3916130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12"/>
          <p:cNvSpPr>
            <a:spLocks noGrp="1"/>
          </p:cNvSpPr>
          <p:nvPr>
            <p:ph type="pic" sz="quarter" idx="28"/>
          </p:nvPr>
        </p:nvSpPr>
        <p:spPr>
          <a:xfrm>
            <a:off x="6328784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12"/>
          <p:cNvSpPr>
            <a:spLocks noGrp="1"/>
          </p:cNvSpPr>
          <p:nvPr>
            <p:ph type="pic" sz="quarter" idx="29"/>
          </p:nvPr>
        </p:nvSpPr>
        <p:spPr>
          <a:xfrm>
            <a:off x="8741438" y="2345366"/>
            <a:ext cx="1947086" cy="1947084"/>
          </a:xfrm>
          <a:prstGeom prst="roundRect">
            <a:avLst>
              <a:gd name="adj" fmla="val 1057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래픽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3497465" cy="4733983"/>
          </a:xfrm>
          <a:prstGeom prst="rect">
            <a:avLst/>
          </a:prstGeom>
        </p:spPr>
      </p:pic>
      <p:sp>
        <p:nvSpPr>
          <p:cNvPr id="4" name="그림 개체 틀 2"/>
          <p:cNvSpPr>
            <a:spLocks noGrp="1"/>
          </p:cNvSpPr>
          <p:nvPr>
            <p:ph type="pic" sz="quarter" idx="15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6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7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8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4"/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421" y="535596"/>
            <a:ext cx="3430407" cy="2893404"/>
          </a:xfrm>
          <a:prstGeom prst="rect">
            <a:avLst/>
          </a:prstGeom>
        </p:spPr>
      </p:pic>
      <p:pic>
        <p:nvPicPr>
          <p:cNvPr id="25" name="그래픽 24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0796" y="535596"/>
            <a:ext cx="3430407" cy="2893404"/>
          </a:xfrm>
          <a:prstGeom prst="rect">
            <a:avLst/>
          </a:prstGeom>
        </p:spPr>
      </p:pic>
      <p:pic>
        <p:nvPicPr>
          <p:cNvPr id="26" name="그래픽 2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7170" y="535596"/>
            <a:ext cx="3430407" cy="2893404"/>
          </a:xfrm>
          <a:prstGeom prst="rect">
            <a:avLst/>
          </a:prstGeom>
        </p:spPr>
      </p:pic>
      <p:pic>
        <p:nvPicPr>
          <p:cNvPr id="7" name="Graphic 3">
            <a:hlinkClick r:id="rId8"/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11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87342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5"/>
          </p:nvPr>
        </p:nvSpPr>
        <p:spPr>
          <a:xfrm>
            <a:off x="4613717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/>
          <p:cNvSpPr>
            <a:spLocks noGrp="1"/>
          </p:cNvSpPr>
          <p:nvPr>
            <p:ph type="pic" sz="quarter" idx="16"/>
          </p:nvPr>
        </p:nvSpPr>
        <p:spPr>
          <a:xfrm>
            <a:off x="8440091" y="693076"/>
            <a:ext cx="2964566" cy="2087722"/>
          </a:xfrm>
          <a:prstGeom prst="roundRect">
            <a:avLst>
              <a:gd name="adj" fmla="val 809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 flipH="1">
            <a:off x="6752011" y="1418011"/>
            <a:ext cx="4622800" cy="6257177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7521433" y="732971"/>
            <a:ext cx="39424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래픽 9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758830"/>
            <a:ext cx="6096000" cy="6099170"/>
          </a:xfrm>
          <a:prstGeom prst="rect">
            <a:avLst/>
          </a:prstGeom>
        </p:spPr>
      </p:pic>
      <p:sp>
        <p:nvSpPr>
          <p:cNvPr id="4" name="그림 개체 틀 12"/>
          <p:cNvSpPr>
            <a:spLocks noGrp="1"/>
          </p:cNvSpPr>
          <p:nvPr>
            <p:ph type="pic" sz="quarter" idx="14"/>
          </p:nvPr>
        </p:nvSpPr>
        <p:spPr>
          <a:xfrm>
            <a:off x="1117590" y="1456145"/>
            <a:ext cx="4000509" cy="4000498"/>
          </a:xfrm>
          <a:prstGeom prst="roundRect">
            <a:avLst>
              <a:gd name="adj" fmla="val 68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marR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4"/>
          <p:cNvSpPr>
            <a:spLocks noGrp="1"/>
          </p:cNvSpPr>
          <p:nvPr>
            <p:ph type="pic" sz="quarter" idx="13"/>
          </p:nvPr>
        </p:nvSpPr>
        <p:spPr>
          <a:xfrm>
            <a:off x="6326786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4"/>
          </p:nvPr>
        </p:nvSpPr>
        <p:spPr>
          <a:xfrm>
            <a:off x="8893743" y="1629000"/>
            <a:ext cx="2348412" cy="3600000"/>
          </a:xfrm>
          <a:prstGeom prst="roundRect">
            <a:avLst>
              <a:gd name="adj" fmla="val 765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래픽 1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8531" y="3225800"/>
            <a:ext cx="2683468" cy="3632200"/>
          </a:xfrm>
          <a:prstGeom prst="rect">
            <a:avLst/>
          </a:prstGeom>
        </p:spPr>
      </p:pic>
      <p:pic>
        <p:nvPicPr>
          <p:cNvPr id="28" name="그래픽 2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0"/>
            <a:ext cx="2683468" cy="3632200"/>
          </a:xfrm>
          <a:prstGeom prst="rect">
            <a:avLst/>
          </a:prstGeom>
        </p:spPr>
      </p:pic>
      <p:sp>
        <p:nvSpPr>
          <p:cNvPr id="4" name="사각형: 둥근 모서리 3"/>
          <p:cNvSpPr/>
          <p:nvPr userDrawn="1"/>
        </p:nvSpPr>
        <p:spPr>
          <a:xfrm>
            <a:off x="7010400" y="1260000"/>
            <a:ext cx="4462200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sp>
        <p:nvSpPr>
          <p:cNvPr id="5" name="그림 개체 틀 4"/>
          <p:cNvSpPr>
            <a:spLocks noGrp="1"/>
          </p:cNvSpPr>
          <p:nvPr>
            <p:ph type="pic" sz="quarter" idx="10"/>
          </p:nvPr>
        </p:nvSpPr>
        <p:spPr>
          <a:xfrm>
            <a:off x="7294300" y="1562100"/>
            <a:ext cx="3894400" cy="1866900"/>
          </a:xfrm>
          <a:prstGeom prst="roundRect">
            <a:avLst>
              <a:gd name="adj" fmla="val 38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719400" y="1260000"/>
            <a:ext cx="6095286" cy="4338000"/>
          </a:xfrm>
          <a:prstGeom prst="roundRect">
            <a:avLst>
              <a:gd name="adj" fmla="val 6588"/>
            </a:avLst>
          </a:prstGeom>
          <a:noFill/>
          <a:ln w="12700">
            <a:solidFill>
              <a:srgbClr val="082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 dirty="0">
              <a:solidFill>
                <a:srgbClr val="1F7BF5"/>
              </a:solidFill>
              <a:latin typeface="+mj-lt"/>
            </a:endParaRPr>
          </a:p>
        </p:txBody>
      </p:sp>
      <p:pic>
        <p:nvPicPr>
          <p:cNvPr id="7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11"/>
          <p:cNvSpPr>
            <a:spLocks noGrp="1"/>
          </p:cNvSpPr>
          <p:nvPr>
            <p:ph type="pic" sz="quarter" idx="10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569200" y="0"/>
            <a:ext cx="4622800" cy="6257177"/>
          </a:xfrm>
          <a:prstGeom prst="rect">
            <a:avLst/>
          </a:prstGeom>
        </p:spPr>
      </p:pic>
      <p:pic>
        <p:nvPicPr>
          <p:cNvPr id="8" name="그래픽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36362"/>
            <a:ext cx="2302617" cy="6521638"/>
          </a:xfrm>
          <a:prstGeom prst="rect">
            <a:avLst/>
          </a:prstGeom>
        </p:spPr>
      </p:pic>
      <p:sp>
        <p:nvSpPr>
          <p:cNvPr id="4" name="그림 개체 틀 5"/>
          <p:cNvSpPr>
            <a:spLocks noGrp="1"/>
          </p:cNvSpPr>
          <p:nvPr userDrawn="1">
            <p:ph type="pic" sz="quarter" idx="10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6"/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9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래픽 1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0" y="0"/>
            <a:ext cx="4622800" cy="6257177"/>
          </a:xfrm>
          <a:prstGeom prst="rect">
            <a:avLst/>
          </a:prstGeom>
        </p:spPr>
      </p:pic>
      <p:pic>
        <p:nvPicPr>
          <p:cNvPr id="17" name="그래픽 1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89383" y="336362"/>
            <a:ext cx="2302617" cy="6521638"/>
          </a:xfrm>
          <a:prstGeom prst="rect">
            <a:avLst/>
          </a:prstGeom>
        </p:spPr>
      </p:pic>
      <p:sp>
        <p:nvSpPr>
          <p:cNvPr id="4" name="그림 개체 틀 8"/>
          <p:cNvSpPr>
            <a:spLocks noGrp="1"/>
          </p:cNvSpPr>
          <p:nvPr>
            <p:ph type="pic" sz="quarter" idx="10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232396" y="-1232394"/>
            <a:ext cx="1345209" cy="3809999"/>
          </a:xfrm>
          <a:prstGeom prst="rect">
            <a:avLst/>
          </a:prstGeom>
        </p:spPr>
      </p:pic>
      <p:pic>
        <p:nvPicPr>
          <p:cNvPr id="56" name="그래픽 55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9614396" y="4280396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래픽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10846791" y="0"/>
            <a:ext cx="1345209" cy="3809999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048001"/>
            <a:ext cx="1345209" cy="3809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래픽 41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200714" y="863600"/>
            <a:ext cx="5991285" cy="599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그래픽 34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그래픽 3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0" y="0"/>
            <a:ext cx="5051973" cy="505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래픽 1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9200" y="600823"/>
            <a:ext cx="4622800" cy="6257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>
            <a:fillRect/>
          </a:stretch>
        </p:blipFill>
        <p:spPr>
          <a:xfrm>
            <a:off x="5771192" y="6893903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</p:cNvPr>
          <p:cNvSpPr txBox="1"/>
          <p:nvPr userDrawn="1"/>
        </p:nvSpPr>
        <p:spPr>
          <a:xfrm>
            <a:off x="4181605" y="69242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5" Type="http://schemas.openxmlformats.org/officeDocument/2006/relationships/theme" Target="../theme/theme2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5" Type="http://schemas.openxmlformats.org/officeDocument/2006/relationships/theme" Target="../theme/theme3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5" Type="http://schemas.openxmlformats.org/officeDocument/2006/relationships/theme" Target="../theme/theme4.xml"/><Relationship Id="rId24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2.xml"/><Relationship Id="rId2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5" Type="http://schemas.openxmlformats.org/officeDocument/2006/relationships/theme" Target="../theme/theme5.xml"/><Relationship Id="rId24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19.xml"/><Relationship Id="rId22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9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5" Type="http://schemas.openxmlformats.org/officeDocument/2006/relationships/theme" Target="../theme/theme6.xml"/><Relationship Id="rId24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40.xml"/><Relationship Id="rId2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37.xml"/><Relationship Id="rId16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797" r:id="rId2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25.png"/><Relationship Id="rId7" Type="http://schemas.openxmlformats.org/officeDocument/2006/relationships/tags" Target="../tags/tag5.xml"/><Relationship Id="rId6" Type="http://schemas.openxmlformats.org/officeDocument/2006/relationships/image" Target="../media/image24.png"/><Relationship Id="rId5" Type="http://schemas.openxmlformats.org/officeDocument/2006/relationships/tags" Target="../tags/tag4.xml"/><Relationship Id="rId4" Type="http://schemas.openxmlformats.org/officeDocument/2006/relationships/image" Target="../media/image23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26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4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79604" y="2334754"/>
            <a:ext cx="8432796" cy="11068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大学真的很难形容</a:t>
            </a:r>
            <a:endParaRPr lang="zh-CN" altLang="en-US" sz="6600" b="1" dirty="0">
              <a:solidFill>
                <a:srgbClr val="082D6E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9866" y="4326907"/>
            <a:ext cx="5012268" cy="5208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082D6E"/>
            </a:solidFill>
          </a:ln>
          <a:effectLst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zh-CN" altLang="en-US" sz="1800" b="0" dirty="0">
                <a:solidFill>
                  <a:srgbClr val="082D6E"/>
                </a:solidFill>
                <a:latin typeface="+mn-lt"/>
              </a:rPr>
              <a:t>钱林羿</a:t>
            </a:r>
            <a:r>
              <a:rPr lang="en-US" altLang="zh-CN" sz="1800" b="0" dirty="0">
                <a:solidFill>
                  <a:srgbClr val="082D6E"/>
                </a:solidFill>
                <a:latin typeface="+mn-lt"/>
              </a:rPr>
              <a:t> 2023/9/18</a:t>
            </a:r>
            <a:endParaRPr lang="en-US" altLang="zh-CN" sz="1800" b="0" dirty="0">
              <a:solidFill>
                <a:srgbClr val="082D6E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1762263" y="2068803"/>
            <a:ext cx="402809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  <a:latin typeface="+mj-lt"/>
              </a:rPr>
              <a:t>01. 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学习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62262" y="1314408"/>
            <a:ext cx="8667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</a:rPr>
              <a:t>Contents</a:t>
            </a:r>
            <a:endParaRPr lang="ko-KR" altLang="en-US" sz="2400" dirty="0">
              <a:solidFill>
                <a:srgbClr val="082D6E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401640" y="2068803"/>
            <a:ext cx="402809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  <a:latin typeface="+mj-lt"/>
              </a:rPr>
              <a:t>03. 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实习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762263" y="3940784"/>
            <a:ext cx="402809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  <a:latin typeface="+mj-lt"/>
              </a:rPr>
              <a:t>02. 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活动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401640" y="3940784"/>
            <a:ext cx="402809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  <a:latin typeface="+mj-lt"/>
              </a:rPr>
              <a:t>04. 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心理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我</a:t>
            </a:r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学学学学学</a:t>
            </a:r>
            <a:endParaRPr lang="zh-CN" altLang="ko-KR" sz="5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2696511" y="237441"/>
            <a:ext cx="675452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ko-KR" sz="3200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学什么？</a:t>
            </a:r>
            <a:endParaRPr lang="zh-CN" altLang="ko-KR" sz="3200" dirty="0">
              <a:solidFill>
                <a:srgbClr val="082D6E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496060" y="2541905"/>
            <a:ext cx="946975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 err="1">
                <a:solidFill>
                  <a:srgbClr val="082D6E"/>
                </a:solidFill>
              </a:rPr>
              <a:t>理想的金融</a:t>
            </a:r>
            <a:r>
              <a:rPr lang="zh-CN" altLang="en-US" sz="2400" dirty="0" err="1">
                <a:solidFill>
                  <a:srgbClr val="082D6E"/>
                </a:solidFill>
              </a:rPr>
              <a:t>学课表：</a:t>
            </a:r>
            <a:endParaRPr lang="zh-CN" altLang="en-US" sz="2400" dirty="0" err="1">
              <a:solidFill>
                <a:srgbClr val="082D6E"/>
              </a:solidFill>
            </a:endParaRPr>
          </a:p>
          <a:p>
            <a:pPr algn="l"/>
            <a:r>
              <a:rPr lang="zh-CN" altLang="en-US" sz="2400" dirty="0" err="1">
                <a:solidFill>
                  <a:srgbClr val="082D6E"/>
                </a:solidFill>
              </a:rPr>
              <a:t>https://mp.weixin.qq.com/s/QxYxsX-fn_8UVNah0lIKCA</a:t>
            </a:r>
            <a:endParaRPr lang="zh-CN" altLang="en-US" sz="2400" dirty="0" err="1">
              <a:solidFill>
                <a:srgbClr val="082D6E"/>
              </a:solidFill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779780" y="1499235"/>
            <a:ext cx="400685" cy="376555"/>
          </a:xfrm>
          <a:prstGeom prst="ellipse">
            <a:avLst/>
          </a:prstGeom>
          <a:solidFill>
            <a:srgbClr val="FFE95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487170" y="1477010"/>
            <a:ext cx="894143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082D6E"/>
                </a:solidFill>
              </a:rPr>
              <a:t>纯量化版</a:t>
            </a:r>
            <a:r>
              <a:rPr lang="zh-CN" altLang="en-US" sz="2400" dirty="0">
                <a:solidFill>
                  <a:srgbClr val="082D6E"/>
                </a:solidFill>
              </a:rPr>
              <a:t>课表：</a:t>
            </a:r>
            <a:endParaRPr lang="zh-CN" altLang="en-US" sz="2400" dirty="0">
              <a:solidFill>
                <a:srgbClr val="082D6E"/>
              </a:solidFill>
            </a:endParaRPr>
          </a:p>
          <a:p>
            <a:pPr algn="l"/>
            <a:r>
              <a:rPr lang="zh-CN" altLang="en-US" sz="2400" dirty="0">
                <a:solidFill>
                  <a:srgbClr val="082D6E"/>
                </a:solidFill>
              </a:rPr>
              <a:t>https://mp.weixin.qq.com/s/FAqTqz3BWbGSmqjJMOiqPQ</a:t>
            </a:r>
            <a:endParaRPr lang="zh-CN" altLang="en-US" sz="2400" dirty="0">
              <a:solidFill>
                <a:srgbClr val="082D6E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448986" y="3632762"/>
            <a:ext cx="301960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082D6E"/>
                </a:solidFill>
              </a:rPr>
              <a:t>我的</a:t>
            </a:r>
            <a:r>
              <a:rPr lang="zh-CN" altLang="en-US" sz="2400" dirty="0">
                <a:solidFill>
                  <a:srgbClr val="082D6E"/>
                </a:solidFill>
              </a:rPr>
              <a:t>课表：</a:t>
            </a:r>
            <a:endParaRPr lang="zh-CN" altLang="en-US" sz="2400" dirty="0">
              <a:solidFill>
                <a:srgbClr val="082D6E"/>
              </a:solidFill>
            </a:endParaRPr>
          </a:p>
        </p:txBody>
      </p:sp>
      <p:sp>
        <p:nvSpPr>
          <p:cNvPr id="2" name="타원 85"/>
          <p:cNvSpPr/>
          <p:nvPr>
            <p:custDataLst>
              <p:tags r:id="rId1"/>
            </p:custDataLst>
          </p:nvPr>
        </p:nvSpPr>
        <p:spPr>
          <a:xfrm>
            <a:off x="762635" y="2595880"/>
            <a:ext cx="400685" cy="376555"/>
          </a:xfrm>
          <a:prstGeom prst="ellipse">
            <a:avLst/>
          </a:prstGeom>
          <a:solidFill>
            <a:srgbClr val="FFE95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3" name="타원 85"/>
          <p:cNvSpPr/>
          <p:nvPr>
            <p:custDataLst>
              <p:tags r:id="rId2"/>
            </p:custDataLst>
          </p:nvPr>
        </p:nvSpPr>
        <p:spPr>
          <a:xfrm>
            <a:off x="792480" y="3707130"/>
            <a:ext cx="400685" cy="376555"/>
          </a:xfrm>
          <a:prstGeom prst="ellipse">
            <a:avLst/>
          </a:prstGeom>
          <a:solidFill>
            <a:srgbClr val="FFE95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800" dirty="0">
              <a:solidFill>
                <a:srgbClr val="082D6E"/>
              </a:solidFill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9780" y="4229735"/>
            <a:ext cx="3063240" cy="1518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51250" y="4180205"/>
            <a:ext cx="2769870" cy="723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80460" y="4829810"/>
            <a:ext cx="4889500" cy="1144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569325" y="4138295"/>
            <a:ext cx="6407150" cy="2736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唯</a:t>
            </a:r>
            <a:r>
              <a:rPr lang="en-US" altLang="zh-CN" sz="5400" dirty="0">
                <a:solidFill>
                  <a:srgbClr val="082D6E"/>
                </a:solidFill>
                <a:latin typeface="+mj-lt"/>
              </a:rPr>
              <a:t>GPA VS </a:t>
            </a:r>
            <a:r>
              <a:rPr lang="zh-CN" altLang="en-US" sz="5400" dirty="0">
                <a:solidFill>
                  <a:srgbClr val="082D6E"/>
                </a:solidFill>
                <a:latin typeface="+mj-lt"/>
              </a:rPr>
              <a:t>唯</a:t>
            </a:r>
            <a:r>
              <a:rPr lang="zh-CN" altLang="en-US" sz="5400" dirty="0">
                <a:solidFill>
                  <a:srgbClr val="082D6E"/>
                </a:solidFill>
                <a:latin typeface="+mj-lt"/>
              </a:rPr>
              <a:t>内容</a:t>
            </a:r>
            <a:endParaRPr lang="zh-CN" altLang="en-US" sz="5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1277452" y="2743353"/>
            <a:ext cx="287721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1400" dirty="0">
                <a:solidFill>
                  <a:srgbClr val="082D6E"/>
                </a:solidFill>
              </a:rPr>
              <a:t>“</a:t>
            </a:r>
            <a:r>
              <a:rPr lang="zh-CN" altLang="en-US" sz="1400" dirty="0">
                <a:solidFill>
                  <a:srgbClr val="082D6E"/>
                </a:solidFill>
              </a:rPr>
              <a:t>你不该被自己的专业定义。</a:t>
            </a:r>
            <a:r>
              <a:rPr lang="en-US" altLang="ko-KR" sz="1400" dirty="0">
                <a:solidFill>
                  <a:srgbClr val="082D6E"/>
                </a:solidFill>
              </a:rPr>
              <a:t>”</a:t>
            </a:r>
            <a:endParaRPr lang="en-US" altLang="ko-KR" sz="1400" dirty="0">
              <a:solidFill>
                <a:srgbClr val="082D6E"/>
              </a:solidFill>
            </a:endParaRPr>
          </a:p>
          <a:p>
            <a:endParaRPr lang="zh-CN" altLang="en-US" sz="1400" dirty="0">
              <a:solidFill>
                <a:srgbClr val="082D6E"/>
              </a:solidFill>
            </a:endParaRPr>
          </a:p>
          <a:p>
            <a:r>
              <a:rPr lang="zh-CN" altLang="en-US" sz="1400" dirty="0">
                <a:solidFill>
                  <a:srgbClr val="082D6E"/>
                </a:solidFill>
              </a:rPr>
              <a:t>所以，</a:t>
            </a:r>
            <a:endParaRPr lang="zh-CN" altLang="en-US" sz="1400" dirty="0">
              <a:solidFill>
                <a:srgbClr val="082D6E"/>
              </a:solidFill>
            </a:endParaRPr>
          </a:p>
          <a:p>
            <a:r>
              <a:rPr lang="en-US" altLang="zh-CN" sz="1400" dirty="0">
                <a:solidFill>
                  <a:srgbClr val="082D6E"/>
                </a:solidFill>
              </a:rPr>
              <a:t>“</a:t>
            </a:r>
            <a:r>
              <a:rPr lang="zh-CN" altLang="en-US" sz="1400" dirty="0">
                <a:solidFill>
                  <a:srgbClr val="082D6E"/>
                </a:solidFill>
              </a:rPr>
              <a:t>读无用书，做有趣人。</a:t>
            </a:r>
            <a:r>
              <a:rPr lang="en-US" altLang="zh-CN" sz="1400" dirty="0">
                <a:solidFill>
                  <a:srgbClr val="082D6E"/>
                </a:solidFill>
              </a:rPr>
              <a:t>”</a:t>
            </a:r>
            <a:endParaRPr lang="en-US" altLang="zh-CN" sz="1400" dirty="0">
              <a:solidFill>
                <a:srgbClr val="082D6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03157" y="2002484"/>
            <a:ext cx="28772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ko-KR" sz="2800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还能</a:t>
            </a:r>
            <a:r>
              <a:rPr lang="zh-CN" altLang="ko-KR" sz="2800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学什么？</a:t>
            </a:r>
            <a:endParaRPr lang="zh-CN" altLang="ko-KR" sz="2800" dirty="0">
              <a:solidFill>
                <a:srgbClr val="082D6E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extBox 40"/>
          <p:cNvSpPr txBox="1"/>
          <p:nvPr>
            <p:custDataLst>
              <p:tags r:id="rId1"/>
            </p:custDataLst>
          </p:nvPr>
        </p:nvSpPr>
        <p:spPr>
          <a:xfrm>
            <a:off x="5105232" y="687223"/>
            <a:ext cx="2877211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zh-CN" altLang="en-US" sz="2000" b="1" dirty="0">
                <a:solidFill>
                  <a:srgbClr val="082D6E"/>
                </a:solidFill>
              </a:rPr>
              <a:t>一些荐书：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《思考，快与慢》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《时间简史》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《大设计》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《果壳中的宇宙》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《原则》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《史蒂夫</a:t>
            </a:r>
            <a:r>
              <a:rPr lang="en-US" altLang="zh-CN" sz="2000" b="1" dirty="0">
                <a:solidFill>
                  <a:srgbClr val="082D6E"/>
                </a:solidFill>
              </a:rPr>
              <a:t>·</a:t>
            </a:r>
            <a:r>
              <a:rPr lang="zh-CN" altLang="en-US" sz="2000" b="1" dirty="0">
                <a:solidFill>
                  <a:srgbClr val="082D6E"/>
                </a:solidFill>
              </a:rPr>
              <a:t>乔布斯传》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《我的经验与教训》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《逃不开的经济周期》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《全球科技通史》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《债务危机》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《置身事内》</a:t>
            </a:r>
            <a:endParaRPr lang="zh-CN" altLang="en-US" sz="2000" b="1" dirty="0">
              <a:solidFill>
                <a:srgbClr val="082D6E"/>
              </a:solidFill>
            </a:endParaRPr>
          </a:p>
          <a:p>
            <a:r>
              <a:rPr lang="zh-CN" altLang="en-US" sz="2000" b="1" dirty="0">
                <a:solidFill>
                  <a:srgbClr val="082D6E"/>
                </a:solidFill>
              </a:rPr>
              <a:t>《八次危机》</a:t>
            </a:r>
            <a:endParaRPr lang="zh-CN" altLang="en-US" sz="2000" b="1" dirty="0">
              <a:solidFill>
                <a:srgbClr val="082D6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我</a:t>
            </a:r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玩玩玩玩玩</a:t>
            </a:r>
            <a:endParaRPr lang="zh-CN" altLang="ko-KR" sz="5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227665" y="1722488"/>
            <a:ext cx="8788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有时间就多试试，</a:t>
            </a:r>
            <a:r>
              <a:rPr lang="zh-CN" altLang="en-US" sz="3600" dirty="0">
                <a:solidFill>
                  <a:srgbClr val="082D6E"/>
                </a:solidFill>
                <a:latin typeface="+mj-lt"/>
                <a:cs typeface="Arial" panose="020B0604020202020204" pitchFamily="34" charset="0"/>
              </a:rPr>
              <a:t>别设限</a:t>
            </a:r>
            <a:endParaRPr lang="zh-CN" altLang="en-US" sz="3600" dirty="0">
              <a:solidFill>
                <a:srgbClr val="082D6E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227665" y="3782704"/>
            <a:ext cx="2243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金融工程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学会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227665" y="3246756"/>
            <a:ext cx="22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82D6E"/>
                </a:solidFill>
                <a:latin typeface="+mj-lt"/>
              </a:rPr>
              <a:t>01.</a:t>
            </a:r>
            <a:endParaRPr lang="en-US" altLang="ko-KR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725333" y="3782704"/>
            <a:ext cx="2243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篮球队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725333" y="3246756"/>
            <a:ext cx="22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82D6E"/>
                </a:solidFill>
                <a:latin typeface="+mj-lt"/>
              </a:rPr>
              <a:t>02.</a:t>
            </a:r>
            <a:endParaRPr lang="en-US" altLang="ko-KR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223001" y="3782704"/>
            <a:ext cx="2243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82D6E"/>
                </a:solidFill>
                <a:latin typeface="+mj-lt"/>
              </a:rPr>
              <a:t>OSA</a:t>
            </a:r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学助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223001" y="3246756"/>
            <a:ext cx="22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82D6E"/>
                </a:solidFill>
                <a:latin typeface="+mj-lt"/>
              </a:rPr>
              <a:t>03.</a:t>
            </a:r>
            <a:endParaRPr lang="en-US" altLang="ko-KR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86180" y="4822825"/>
            <a:ext cx="6574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1400" dirty="0">
                <a:solidFill>
                  <a:srgbClr val="082D6E"/>
                </a:solidFill>
              </a:rPr>
              <a:t>招生办宣讲、辩论、志愿者、创业团队、商赛、校外青年组织</a:t>
            </a:r>
            <a:r>
              <a:rPr lang="en-US" altLang="zh-CN" sz="1400" dirty="0">
                <a:solidFill>
                  <a:srgbClr val="082D6E"/>
                </a:solidFill>
              </a:rPr>
              <a:t>......</a:t>
            </a:r>
            <a:endParaRPr lang="en-US" altLang="zh-CN" sz="1400" dirty="0">
              <a:solidFill>
                <a:srgbClr val="082D6E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720669" y="3782704"/>
            <a:ext cx="2243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82D6E"/>
                </a:solidFill>
                <a:latin typeface="+mj-lt"/>
              </a:rPr>
              <a:t>电影社</a:t>
            </a:r>
            <a:endParaRPr lang="zh-CN" altLang="en-US" sz="24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720669" y="3246756"/>
            <a:ext cx="22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82D6E"/>
                </a:solidFill>
                <a:latin typeface="+mj-lt"/>
              </a:rPr>
              <a:t>04.</a:t>
            </a:r>
            <a:endParaRPr lang="en-US" altLang="ko-KR" sz="28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我</a:t>
            </a:r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做做做做做</a:t>
            </a:r>
            <a:endParaRPr lang="zh-CN" altLang="ko-KR" sz="5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직선 연결선 63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noFill/>
          <a:ln w="12700" cap="flat">
            <a:solidFill>
              <a:srgbClr val="082D6E"/>
            </a:solidFill>
            <a:prstDash val="solid"/>
            <a:miter/>
          </a:ln>
        </p:spPr>
      </p:cxnSp>
      <p:sp>
        <p:nvSpPr>
          <p:cNvPr id="63" name="TextBox 62"/>
          <p:cNvSpPr txBox="1"/>
          <p:nvPr/>
        </p:nvSpPr>
        <p:spPr>
          <a:xfrm>
            <a:off x="1283368" y="1329775"/>
            <a:ext cx="3957293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sz="4400">
                <a:solidFill>
                  <a:srgbClr val="082D6E"/>
                </a:solidFill>
              </a:rPr>
              <a:t>实习</a:t>
            </a:r>
            <a:endParaRPr lang="zh-CN" altLang="en-US" sz="4400">
              <a:solidFill>
                <a:srgbClr val="082D6E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730500" y="1548765"/>
            <a:ext cx="8101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82D6E"/>
                </a:solidFill>
              </a:rPr>
              <a:t>如果不是坚定地走研究道路，那么实习要趁早，但是不用为此焦虑</a:t>
            </a:r>
            <a:r>
              <a:rPr lang="en-US" altLang="ko-KR" sz="2000">
                <a:solidFill>
                  <a:srgbClr val="082D6E"/>
                </a:solidFill>
              </a:rPr>
              <a:t> </a:t>
            </a:r>
            <a:endParaRPr lang="en-US" altLang="ko-KR" sz="2000" dirty="0">
              <a:solidFill>
                <a:srgbClr val="082D6E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355090" y="3987165"/>
            <a:ext cx="1050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082D6E"/>
                </a:solidFill>
              </a:rPr>
              <a:t>前海智库</a:t>
            </a:r>
            <a:r>
              <a:rPr lang="en-US" altLang="zh-CN" sz="2400" dirty="0">
                <a:solidFill>
                  <a:srgbClr val="082D6E"/>
                </a:solidFill>
              </a:rPr>
              <a:t>  </a:t>
            </a:r>
            <a:r>
              <a:rPr lang="zh-CN" altLang="en-US" sz="2400" b="1" dirty="0">
                <a:solidFill>
                  <a:srgbClr val="082D6E"/>
                </a:solidFill>
              </a:rPr>
              <a:t>华紫研究</a:t>
            </a:r>
            <a:r>
              <a:rPr lang="en-US" altLang="zh-CN" sz="2400" b="1" dirty="0">
                <a:solidFill>
                  <a:srgbClr val="082D6E"/>
                </a:solidFill>
              </a:rPr>
              <a:t>  </a:t>
            </a:r>
            <a:r>
              <a:rPr lang="zh-CN" altLang="en-US" sz="2400" dirty="0">
                <a:solidFill>
                  <a:srgbClr val="082D6E"/>
                </a:solidFill>
              </a:rPr>
              <a:t>社投盟社群运营</a:t>
            </a:r>
            <a:r>
              <a:rPr lang="en-US" altLang="zh-CN" sz="2400" dirty="0">
                <a:solidFill>
                  <a:srgbClr val="082D6E"/>
                </a:solidFill>
              </a:rPr>
              <a:t>  </a:t>
            </a:r>
            <a:r>
              <a:rPr lang="zh-CN" altLang="en-US" sz="2400" b="1" dirty="0">
                <a:solidFill>
                  <a:srgbClr val="082D6E"/>
                </a:solidFill>
              </a:rPr>
              <a:t>兴业证券策略组</a:t>
            </a:r>
            <a:r>
              <a:rPr lang="en-US" altLang="zh-CN" sz="2400" b="1" dirty="0">
                <a:solidFill>
                  <a:srgbClr val="082D6E"/>
                </a:solidFill>
              </a:rPr>
              <a:t>  </a:t>
            </a:r>
            <a:r>
              <a:rPr lang="zh-CN" altLang="en-US" sz="2400" b="1" dirty="0">
                <a:solidFill>
                  <a:srgbClr val="082D6E"/>
                </a:solidFill>
              </a:rPr>
              <a:t>兴业证券金工组</a:t>
            </a:r>
            <a:endParaRPr lang="zh-CN" altLang="en-US" sz="2400" b="1" dirty="0">
              <a:solidFill>
                <a:srgbClr val="082D6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863052" y="1660402"/>
            <a:ext cx="1786496" cy="52197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zh-CN" altLang="en-US" sz="2800" dirty="0">
                <a:solidFill>
                  <a:srgbClr val="082D6E"/>
                </a:solidFill>
                <a:latin typeface="+mj-lt"/>
              </a:rPr>
              <a:t>实习</a:t>
            </a:r>
            <a:r>
              <a:rPr lang="zh-CN" altLang="en-US" sz="2800" dirty="0">
                <a:solidFill>
                  <a:srgbClr val="082D6E"/>
                </a:solidFill>
                <a:latin typeface="+mj-lt"/>
              </a:rPr>
              <a:t>渠道</a:t>
            </a:r>
            <a:endParaRPr lang="zh-CN" altLang="en-US" sz="28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1694" y="2288373"/>
            <a:ext cx="286476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082D6E"/>
                </a:solidFill>
              </a:rPr>
              <a:t>学长学姐</a:t>
            </a:r>
            <a:r>
              <a:rPr lang="zh-CN" altLang="en-US" sz="1600" dirty="0">
                <a:solidFill>
                  <a:srgbClr val="082D6E"/>
                </a:solidFill>
              </a:rPr>
              <a:t>内推</a:t>
            </a:r>
            <a:endParaRPr lang="zh-CN" altLang="en-US" sz="1600" dirty="0">
              <a:solidFill>
                <a:srgbClr val="082D6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61694" y="1714090"/>
            <a:ext cx="286476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3200" dirty="0">
                <a:solidFill>
                  <a:srgbClr val="082D6E"/>
                </a:solidFill>
                <a:latin typeface="+mj-lt"/>
              </a:rPr>
              <a:t>TOP1</a:t>
            </a:r>
            <a:endParaRPr lang="ko-KR" altLang="en-US" sz="32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1615" y="3632200"/>
            <a:ext cx="59988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082D6E"/>
                </a:solidFill>
              </a:rPr>
              <a:t>高质量的实习社群（</a:t>
            </a:r>
            <a:r>
              <a:rPr lang="en-US" altLang="zh-CN" sz="1600" dirty="0">
                <a:solidFill>
                  <a:srgbClr val="082D6E"/>
                </a:solidFill>
              </a:rPr>
              <a:t>CPDO</a:t>
            </a:r>
            <a:r>
              <a:rPr lang="zh-CN" altLang="en-US" sz="1600" dirty="0">
                <a:solidFill>
                  <a:srgbClr val="082D6E"/>
                </a:solidFill>
              </a:rPr>
              <a:t>和</a:t>
            </a:r>
            <a:r>
              <a:rPr lang="en-US" altLang="zh-CN" sz="1600" dirty="0">
                <a:solidFill>
                  <a:srgbClr val="082D6E"/>
                </a:solidFill>
              </a:rPr>
              <a:t>CDC</a:t>
            </a:r>
            <a:r>
              <a:rPr lang="zh-CN" altLang="en-US" sz="1600" dirty="0">
                <a:solidFill>
                  <a:srgbClr val="082D6E"/>
                </a:solidFill>
              </a:rPr>
              <a:t>的</a:t>
            </a:r>
            <a:r>
              <a:rPr lang="zh-CN" altLang="en-US" sz="1600" dirty="0">
                <a:solidFill>
                  <a:srgbClr val="082D6E"/>
                </a:solidFill>
              </a:rPr>
              <a:t>信息）</a:t>
            </a:r>
            <a:endParaRPr lang="zh-CN" altLang="en-US" sz="1600" dirty="0">
              <a:solidFill>
                <a:srgbClr val="082D6E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61694" y="3057671"/>
            <a:ext cx="286476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3200" dirty="0">
                <a:solidFill>
                  <a:srgbClr val="082D6E"/>
                </a:solidFill>
                <a:latin typeface="+mj-lt"/>
              </a:rPr>
              <a:t>TOP2</a:t>
            </a:r>
            <a:endParaRPr lang="en-US" altLang="ko-KR" sz="3200" dirty="0">
              <a:solidFill>
                <a:srgbClr val="082D6E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61615" y="4975225"/>
            <a:ext cx="5575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zh-CN" altLang="ko-KR" sz="1600" dirty="0">
                <a:solidFill>
                  <a:srgbClr val="082D6E"/>
                </a:solidFill>
              </a:rPr>
              <a:t>海投（实习社群和公众号、实习僧等），讲座嘉宾</a:t>
            </a:r>
            <a:r>
              <a:rPr lang="zh-CN" altLang="ko-KR" sz="1600" dirty="0">
                <a:solidFill>
                  <a:srgbClr val="082D6E"/>
                </a:solidFill>
              </a:rPr>
              <a:t>等</a:t>
            </a:r>
            <a:endParaRPr lang="zh-CN" altLang="ko-KR" sz="1600" dirty="0">
              <a:solidFill>
                <a:srgbClr val="082D6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694" y="4401253"/>
            <a:ext cx="286476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buFont typeface="Overpass Light" panose="00000400000000000000" pitchFamily="2" charset="0"/>
              <a:buChar char="−"/>
              <a:defRPr sz="1400">
                <a:solidFill>
                  <a:srgbClr val="1E292E"/>
                </a:solidFill>
              </a:defRPr>
            </a:lvl1pPr>
          </a:lstStyle>
          <a:p>
            <a:pPr marL="0" indent="0">
              <a:buNone/>
            </a:pPr>
            <a:r>
              <a:rPr lang="en-US" altLang="ko-KR" sz="3200" dirty="0">
                <a:solidFill>
                  <a:srgbClr val="082D6E"/>
                </a:solidFill>
                <a:latin typeface="+mj-lt"/>
              </a:rPr>
              <a:t>others</a:t>
            </a:r>
            <a:endParaRPr lang="en-US" altLang="ko-KR" sz="32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</p:spPr>
        <p:txBody>
          <a:bodyPr anchor="ctr" anchorCtr="0">
            <a:spAutoFit/>
          </a:bodyPr>
          <a:lstStyle/>
          <a:p>
            <a:pPr algn="ctr"/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我想想</a:t>
            </a:r>
            <a:r>
              <a:rPr lang="zh-CN" altLang="ko-KR" sz="5400" dirty="0">
                <a:solidFill>
                  <a:srgbClr val="082D6E"/>
                </a:solidFill>
                <a:latin typeface="+mj-lt"/>
              </a:rPr>
              <a:t>想想想</a:t>
            </a:r>
            <a:endParaRPr lang="zh-CN" altLang="ko-KR" sz="5400" dirty="0">
              <a:solidFill>
                <a:srgbClr val="082D6E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716280" y="1307465"/>
            <a:ext cx="40081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ko-KR" sz="4400" dirty="0">
                <a:solidFill>
                  <a:srgbClr val="082D6E"/>
                </a:solidFill>
              </a:rPr>
              <a:t>从焦虑到</a:t>
            </a:r>
            <a:r>
              <a:rPr lang="zh-CN" altLang="ko-KR" sz="4400" dirty="0">
                <a:solidFill>
                  <a:srgbClr val="082D6E"/>
                </a:solidFill>
              </a:rPr>
              <a:t>专注</a:t>
            </a:r>
            <a:endParaRPr lang="zh-CN" altLang="ko-KR" sz="4400" dirty="0">
              <a:solidFill>
                <a:srgbClr val="082D6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42883" y="1496069"/>
            <a:ext cx="60000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82D6E"/>
                </a:solidFill>
              </a:rPr>
              <a:t>有些事追求结果，有些事享受过程。</a:t>
            </a:r>
            <a:r>
              <a:rPr lang="en-US" altLang="ko-KR" sz="1200" dirty="0">
                <a:solidFill>
                  <a:srgbClr val="082D6E"/>
                </a:solidFill>
              </a:rPr>
              <a:t> </a:t>
            </a:r>
            <a:endParaRPr lang="en-US" altLang="ko-KR" sz="1200" dirty="0">
              <a:solidFill>
                <a:srgbClr val="082D6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560" y="4359910"/>
            <a:ext cx="40532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82777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sz="4400" dirty="0">
                <a:solidFill>
                  <a:srgbClr val="082D6E"/>
                </a:solidFill>
              </a:rPr>
              <a:t>从</a:t>
            </a:r>
            <a:r>
              <a:rPr lang="en-US" altLang="zh-CN" sz="4400" dirty="0">
                <a:solidFill>
                  <a:srgbClr val="082D6E"/>
                </a:solidFill>
              </a:rPr>
              <a:t>i</a:t>
            </a:r>
            <a:r>
              <a:rPr lang="zh-CN" altLang="en-US" sz="4400" dirty="0">
                <a:solidFill>
                  <a:srgbClr val="082D6E"/>
                </a:solidFill>
              </a:rPr>
              <a:t>人到能</a:t>
            </a:r>
            <a:r>
              <a:rPr lang="en-US" altLang="zh-CN" sz="4400" dirty="0">
                <a:solidFill>
                  <a:srgbClr val="082D6E"/>
                </a:solidFill>
              </a:rPr>
              <a:t>e</a:t>
            </a:r>
            <a:r>
              <a:rPr lang="zh-CN" altLang="en-US" sz="4400" dirty="0">
                <a:solidFill>
                  <a:srgbClr val="082D6E"/>
                </a:solidFill>
              </a:rPr>
              <a:t>的</a:t>
            </a:r>
            <a:r>
              <a:rPr lang="en-US" altLang="zh-CN" sz="4400" dirty="0">
                <a:solidFill>
                  <a:srgbClr val="082D6E"/>
                </a:solidFill>
              </a:rPr>
              <a:t>i</a:t>
            </a:r>
            <a:r>
              <a:rPr lang="zh-CN" altLang="en-US" sz="4400" dirty="0">
                <a:solidFill>
                  <a:srgbClr val="082D6E"/>
                </a:solidFill>
              </a:rPr>
              <a:t>人</a:t>
            </a:r>
            <a:endParaRPr lang="zh-CN" altLang="en-US" sz="4400" dirty="0">
              <a:solidFill>
                <a:srgbClr val="082D6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80678" y="4273832"/>
            <a:ext cx="600000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82D6E"/>
                </a:solidFill>
              </a:rPr>
              <a:t>社交重要吗？重要的（获取信息，见更多的</a:t>
            </a:r>
            <a:r>
              <a:rPr lang="zh-CN" altLang="en-US" dirty="0">
                <a:solidFill>
                  <a:srgbClr val="082D6E"/>
                </a:solidFill>
              </a:rPr>
              <a:t>人）</a:t>
            </a:r>
            <a:endParaRPr lang="zh-CN" altLang="en-US" dirty="0">
              <a:solidFill>
                <a:srgbClr val="082D6E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dirty="0">
              <a:solidFill>
                <a:srgbClr val="082D6E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82D6E"/>
                </a:solidFill>
              </a:rPr>
              <a:t>社交必须吗？不必须（社交交换价值而非</a:t>
            </a:r>
            <a:r>
              <a:rPr lang="zh-CN" altLang="en-US" dirty="0">
                <a:solidFill>
                  <a:srgbClr val="082D6E"/>
                </a:solidFill>
              </a:rPr>
              <a:t>形式）</a:t>
            </a:r>
            <a:endParaRPr lang="zh-CN" altLang="en-US" dirty="0">
              <a:solidFill>
                <a:srgbClr val="082D6E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noFill/>
          <a:ln w="12700" cap="flat">
            <a:solidFill>
              <a:srgbClr val="082D6E"/>
            </a:solidFill>
            <a:prstDash val="solid"/>
            <a:miter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309181010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352425"/>
            <a:ext cx="4524375" cy="6172200"/>
          </a:xfrm>
          <a:prstGeom prst="rect">
            <a:avLst/>
          </a:prstGeom>
        </p:spPr>
      </p:pic>
      <p:pic>
        <p:nvPicPr>
          <p:cNvPr id="3" name="图片 2" descr="微信图片_202309181010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30" y="1664335"/>
            <a:ext cx="4034155" cy="40697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43175" y="2817813"/>
            <a:ext cx="7529195" cy="13220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zh-CN" altLang="en-US" sz="8000" dirty="0">
                <a:solidFill>
                  <a:srgbClr val="082D6E"/>
                </a:solidFill>
              </a:rPr>
              <a:t>祝大家大便通畅</a:t>
            </a:r>
            <a:r>
              <a:rPr lang="zh-CN" altLang="en-US" sz="8000" b="0" dirty="0">
                <a:solidFill>
                  <a:srgbClr val="082D6E"/>
                </a:solidFill>
              </a:rPr>
              <a:t>！</a:t>
            </a:r>
            <a:endParaRPr lang="zh-CN" altLang="en-US" sz="8000" b="0" dirty="0">
              <a:solidFill>
                <a:srgbClr val="082D6E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Poppins Light">
      <a:majorFont>
        <a:latin typeface="Bebas Neue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DEDF7"/>
        </a:solidFill>
        <a:ln w="6350">
          <a:noFill/>
        </a:ln>
      </a:spPr>
      <a:bodyPr rtlCol="0" anchor="ctr"/>
      <a:lstStyle>
        <a:defPPr algn="ctr">
          <a:defRPr sz="2400">
            <a:solidFill>
              <a:srgbClr val="082D6E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WPS 演示</Application>
  <PresentationFormat>와이드스크린</PresentationFormat>
  <Paragraphs>110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Arial Black</vt:lpstr>
      <vt:lpstr>Arial Unicode MS</vt:lpstr>
      <vt:lpstr>Bebas Neue</vt:lpstr>
      <vt:lpstr>Poppins Light</vt:lpstr>
      <vt:lpstr>微软雅黑</vt:lpstr>
      <vt:lpstr>Malgun Gothic</vt:lpstr>
      <vt:lpstr>等线</vt:lpstr>
      <vt:lpstr>Overpass Light</vt:lpstr>
      <vt:lpstr>PPTMON theme</vt:lpstr>
      <vt:lpstr>1_PPTMON theme</vt:lpstr>
      <vt:lpstr>2_PPTMON theme</vt:lpstr>
      <vt:lpstr>3_PPTMON theme</vt:lpstr>
      <vt:lpstr>4_PPTMON theme</vt:lpstr>
      <vt:lpstr>5_PPTMON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WPS_1628512196</cp:lastModifiedBy>
  <cp:revision>232</cp:revision>
  <dcterms:created xsi:type="dcterms:W3CDTF">2019-04-06T05:20:00Z</dcterms:created>
  <dcterms:modified xsi:type="dcterms:W3CDTF">2023-09-18T13:26:25Z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C625F7E8EE8D450593BFC5C4D53A7564_13</vt:lpwstr>
  </property>
  <property fmtid="{D5CDD505-2E9C-101B-9397-08002B2CF9AE}" pid="3" name="KSOProductBuildVer">
    <vt:lpwstr>2052-12.1.0.15374</vt:lpwstr>
  </property>
</Properties>
</file>