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8"/>
  </p:notesMasterIdLst>
  <p:sldIdLst>
    <p:sldId id="281" r:id="rId2"/>
    <p:sldId id="258" r:id="rId3"/>
    <p:sldId id="264" r:id="rId4"/>
    <p:sldId id="278" r:id="rId5"/>
    <p:sldId id="282" r:id="rId6"/>
    <p:sldId id="279" r:id="rId7"/>
    <p:sldId id="260" r:id="rId8"/>
    <p:sldId id="397" r:id="rId9"/>
    <p:sldId id="300" r:id="rId10"/>
    <p:sldId id="340" r:id="rId11"/>
    <p:sldId id="341" r:id="rId12"/>
    <p:sldId id="343" r:id="rId13"/>
    <p:sldId id="342" r:id="rId14"/>
    <p:sldId id="366" r:id="rId15"/>
    <p:sldId id="367" r:id="rId16"/>
    <p:sldId id="372" r:id="rId17"/>
    <p:sldId id="386" r:id="rId18"/>
    <p:sldId id="387" r:id="rId19"/>
    <p:sldId id="385" r:id="rId20"/>
    <p:sldId id="392" r:id="rId21"/>
    <p:sldId id="393" r:id="rId22"/>
    <p:sldId id="388" r:id="rId23"/>
    <p:sldId id="394" r:id="rId24"/>
    <p:sldId id="390" r:id="rId25"/>
    <p:sldId id="391" r:id="rId26"/>
    <p:sldId id="395" r:id="rId27"/>
    <p:sldId id="396" r:id="rId28"/>
    <p:sldId id="263" r:id="rId29"/>
    <p:sldId id="373" r:id="rId30"/>
    <p:sldId id="334" r:id="rId31"/>
    <p:sldId id="369" r:id="rId32"/>
    <p:sldId id="408" r:id="rId33"/>
    <p:sldId id="398" r:id="rId34"/>
    <p:sldId id="400" r:id="rId35"/>
    <p:sldId id="402" r:id="rId36"/>
    <p:sldId id="403" r:id="rId37"/>
    <p:sldId id="404" r:id="rId38"/>
    <p:sldId id="412" r:id="rId39"/>
    <p:sldId id="405" r:id="rId40"/>
    <p:sldId id="406" r:id="rId41"/>
    <p:sldId id="407" r:id="rId42"/>
    <p:sldId id="411" r:id="rId43"/>
    <p:sldId id="409" r:id="rId44"/>
    <p:sldId id="410" r:id="rId45"/>
    <p:sldId id="302" r:id="rId46"/>
    <p:sldId id="331" r:id="rId47"/>
  </p:sldIdLst>
  <p:sldSz cx="12192000" cy="6858000"/>
  <p:notesSz cx="6858000" cy="9144000"/>
  <p:custDataLst>
    <p:tags r:id="rId4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711"/>
  </p:normalViewPr>
  <p:slideViewPr>
    <p:cSldViewPr snapToGrid="0">
      <p:cViewPr varScale="1">
        <p:scale>
          <a:sx n="86" d="100"/>
          <a:sy n="86" d="100"/>
        </p:scale>
        <p:origin x="105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8AB431-72A6-4B07-A9F2-582EFE20D637}" type="doc">
      <dgm:prSet loTypeId="urn:microsoft.com/office/officeart/2005/8/layout/radial6#1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099FBE5C-5F8F-484A-B751-F3AC2DC2ABC4}">
      <dgm:prSet phldrT="[Text]" custT="1"/>
      <dgm:spPr>
        <a:solidFill>
          <a:schemeClr val="tx1"/>
        </a:solidFill>
      </dgm:spPr>
      <dgm:t>
        <a:bodyPr/>
        <a:lstStyle/>
        <a:p>
          <a:r>
            <a:rPr lang="zh-CN" altLang="en-US" sz="2800" dirty="0"/>
            <a:t>国内资金的三方博弈</a:t>
          </a:r>
          <a:endParaRPr lang="en-US" sz="2800" dirty="0"/>
        </a:p>
      </dgm:t>
    </dgm:pt>
    <dgm:pt modelId="{0C5B612E-29AE-4E64-A3AE-B4DC4ECF2759}" type="parTrans" cxnId="{ED1775D8-BBC4-498C-BA04-0F9605BC2F81}">
      <dgm:prSet/>
      <dgm:spPr/>
      <dgm:t>
        <a:bodyPr/>
        <a:lstStyle/>
        <a:p>
          <a:endParaRPr lang="en-US"/>
        </a:p>
      </dgm:t>
    </dgm:pt>
    <dgm:pt modelId="{DA645B0B-2B66-4094-879E-4F81679339D9}" type="sibTrans" cxnId="{ED1775D8-BBC4-498C-BA04-0F9605BC2F81}">
      <dgm:prSet/>
      <dgm:spPr/>
      <dgm:t>
        <a:bodyPr/>
        <a:lstStyle/>
        <a:p>
          <a:endParaRPr lang="en-US"/>
        </a:p>
      </dgm:t>
    </dgm:pt>
    <dgm:pt modelId="{F58A9A7C-532B-4E18-AE3B-5E996C2AAAC8}">
      <dgm:prSet phldrT="[Text]" custT="1"/>
      <dgm:spPr/>
      <dgm:t>
        <a:bodyPr/>
        <a:lstStyle/>
        <a:p>
          <a:r>
            <a:rPr lang="zh-CN" altLang="en-US" sz="2000" dirty="0"/>
            <a:t>游资</a:t>
          </a:r>
          <a:endParaRPr lang="en-US" sz="2000" dirty="0"/>
        </a:p>
      </dgm:t>
    </dgm:pt>
    <dgm:pt modelId="{F9B9AD53-CF72-48E3-836E-14009E00351B}" type="parTrans" cxnId="{8F78D4ED-0274-4ECA-B79E-9AC400B2A768}">
      <dgm:prSet/>
      <dgm:spPr/>
      <dgm:t>
        <a:bodyPr/>
        <a:lstStyle/>
        <a:p>
          <a:endParaRPr lang="en-US"/>
        </a:p>
      </dgm:t>
    </dgm:pt>
    <dgm:pt modelId="{202D17FA-435E-4F6F-988A-9524AC23B629}" type="sibTrans" cxnId="{8F78D4ED-0274-4ECA-B79E-9AC400B2A768}">
      <dgm:prSet/>
      <dgm:spPr/>
      <dgm:t>
        <a:bodyPr/>
        <a:lstStyle/>
        <a:p>
          <a:endParaRPr lang="en-US"/>
        </a:p>
      </dgm:t>
    </dgm:pt>
    <dgm:pt modelId="{0534650C-0194-42A1-BF23-FF4865C11AC5}">
      <dgm:prSet custT="1"/>
      <dgm:spPr>
        <a:solidFill>
          <a:schemeClr val="accent2"/>
        </a:solidFill>
      </dgm:spPr>
      <dgm:t>
        <a:bodyPr/>
        <a:lstStyle/>
        <a:p>
          <a:r>
            <a:rPr lang="zh-CN" altLang="en-US" sz="2000" dirty="0"/>
            <a:t>机构</a:t>
          </a:r>
          <a:endParaRPr lang="en-US" sz="2000" dirty="0"/>
        </a:p>
      </dgm:t>
    </dgm:pt>
    <dgm:pt modelId="{08DCCE06-5028-440E-8B5B-8F94E3F6DD3A}" type="parTrans" cxnId="{86FC2CF2-6FF8-4C07-889F-4219F4BD21DB}">
      <dgm:prSet/>
      <dgm:spPr/>
      <dgm:t>
        <a:bodyPr/>
        <a:lstStyle/>
        <a:p>
          <a:endParaRPr lang="en-US"/>
        </a:p>
      </dgm:t>
    </dgm:pt>
    <dgm:pt modelId="{28631773-35C5-497E-B5C4-1C4BE68E1ED5}" type="sibTrans" cxnId="{86FC2CF2-6FF8-4C07-889F-4219F4BD21DB}">
      <dgm:prSet/>
      <dgm:spPr/>
      <dgm:t>
        <a:bodyPr/>
        <a:lstStyle/>
        <a:p>
          <a:endParaRPr lang="en-US"/>
        </a:p>
      </dgm:t>
    </dgm:pt>
    <dgm:pt modelId="{69CD0DB1-B785-491C-87EC-68AC0C806430}">
      <dgm:prSet custT="1"/>
      <dgm:spPr>
        <a:solidFill>
          <a:schemeClr val="accent3"/>
        </a:solidFill>
      </dgm:spPr>
      <dgm:t>
        <a:bodyPr/>
        <a:lstStyle/>
        <a:p>
          <a:r>
            <a:rPr lang="zh-CN" altLang="en-US" sz="2000"/>
            <a:t>散户</a:t>
          </a:r>
          <a:endParaRPr lang="en-US" sz="2000" dirty="0"/>
        </a:p>
      </dgm:t>
    </dgm:pt>
    <dgm:pt modelId="{42B3144F-52BE-4238-B194-967F2DF67C70}" type="parTrans" cxnId="{FD78019A-EB1D-418A-ACFF-3E7F8DA270D9}">
      <dgm:prSet/>
      <dgm:spPr/>
      <dgm:t>
        <a:bodyPr/>
        <a:lstStyle/>
        <a:p>
          <a:endParaRPr lang="en-US"/>
        </a:p>
      </dgm:t>
    </dgm:pt>
    <dgm:pt modelId="{BE7885EB-2072-4BFC-A58B-3019A5C51CE8}" type="sibTrans" cxnId="{FD78019A-EB1D-418A-ACFF-3E7F8DA270D9}">
      <dgm:prSet/>
      <dgm:spPr/>
      <dgm:t>
        <a:bodyPr/>
        <a:lstStyle/>
        <a:p>
          <a:endParaRPr lang="en-US"/>
        </a:p>
      </dgm:t>
    </dgm:pt>
    <dgm:pt modelId="{D1C828FF-1A83-48F6-A509-1B4C1A58695F}" type="pres">
      <dgm:prSet presAssocID="{228AB431-72A6-4B07-A9F2-582EFE20D637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E8F955F-356F-44A3-B90C-526601F4ACAF}" type="pres">
      <dgm:prSet presAssocID="{099FBE5C-5F8F-484A-B751-F3AC2DC2ABC4}" presName="centerShape" presStyleLbl="node0" presStyleIdx="0" presStyleCnt="1"/>
      <dgm:spPr/>
    </dgm:pt>
    <dgm:pt modelId="{E1103E1F-D51C-45AB-8D08-65A541E14E33}" type="pres">
      <dgm:prSet presAssocID="{F58A9A7C-532B-4E18-AE3B-5E996C2AAAC8}" presName="node" presStyleLbl="node1" presStyleIdx="0" presStyleCnt="3" custRadScaleRad="91796" custRadScaleInc="-6170">
        <dgm:presLayoutVars>
          <dgm:bulletEnabled val="1"/>
        </dgm:presLayoutVars>
      </dgm:prSet>
      <dgm:spPr/>
    </dgm:pt>
    <dgm:pt modelId="{51DB1A04-C98E-4A2C-9244-FE2F32F1395D}" type="pres">
      <dgm:prSet presAssocID="{F58A9A7C-532B-4E18-AE3B-5E996C2AAAC8}" presName="dummy" presStyleCnt="0"/>
      <dgm:spPr/>
    </dgm:pt>
    <dgm:pt modelId="{B587A75E-2863-4842-B67B-DD86738E7134}" type="pres">
      <dgm:prSet presAssocID="{202D17FA-435E-4F6F-988A-9524AC23B629}" presName="sibTrans" presStyleLbl="sibTrans2D1" presStyleIdx="0" presStyleCnt="3"/>
      <dgm:spPr/>
    </dgm:pt>
    <dgm:pt modelId="{A9A6A31C-57E4-47D7-A829-34DB54242905}" type="pres">
      <dgm:prSet presAssocID="{0534650C-0194-42A1-BF23-FF4865C11AC5}" presName="node" presStyleLbl="node1" presStyleIdx="1" presStyleCnt="3" custRadScaleRad="98819" custRadScaleInc="12863">
        <dgm:presLayoutVars>
          <dgm:bulletEnabled val="1"/>
        </dgm:presLayoutVars>
      </dgm:prSet>
      <dgm:spPr/>
    </dgm:pt>
    <dgm:pt modelId="{080B993E-2F4B-4A1A-B5B9-7CB56E6F007E}" type="pres">
      <dgm:prSet presAssocID="{0534650C-0194-42A1-BF23-FF4865C11AC5}" presName="dummy" presStyleCnt="0"/>
      <dgm:spPr/>
    </dgm:pt>
    <dgm:pt modelId="{F2F82028-244F-4239-B763-0366BC4940B7}" type="pres">
      <dgm:prSet presAssocID="{28631773-35C5-497E-B5C4-1C4BE68E1ED5}" presName="sibTrans" presStyleLbl="sibTrans2D1" presStyleIdx="1" presStyleCnt="3"/>
      <dgm:spPr/>
    </dgm:pt>
    <dgm:pt modelId="{03A597FE-1C6E-4A91-B186-50048C7924DF}" type="pres">
      <dgm:prSet presAssocID="{69CD0DB1-B785-491C-87EC-68AC0C806430}" presName="node" presStyleLbl="node1" presStyleIdx="2" presStyleCnt="3" custRadScaleRad="96628" custRadScaleInc="-3532">
        <dgm:presLayoutVars>
          <dgm:bulletEnabled val="1"/>
        </dgm:presLayoutVars>
      </dgm:prSet>
      <dgm:spPr/>
    </dgm:pt>
    <dgm:pt modelId="{55421B12-2E4C-40BE-9B80-6A2B76E00125}" type="pres">
      <dgm:prSet presAssocID="{69CD0DB1-B785-491C-87EC-68AC0C806430}" presName="dummy" presStyleCnt="0"/>
      <dgm:spPr/>
    </dgm:pt>
    <dgm:pt modelId="{3EC10E96-BEB0-44FA-817E-DE303A710616}" type="pres">
      <dgm:prSet presAssocID="{BE7885EB-2072-4BFC-A58B-3019A5C51CE8}" presName="sibTrans" presStyleLbl="sibTrans2D1" presStyleIdx="2" presStyleCnt="3"/>
      <dgm:spPr/>
    </dgm:pt>
  </dgm:ptLst>
  <dgm:cxnLst>
    <dgm:cxn modelId="{31C91E1F-3F17-45D4-919E-7D2EB8976A9C}" type="presOf" srcId="{F58A9A7C-532B-4E18-AE3B-5E996C2AAAC8}" destId="{E1103E1F-D51C-45AB-8D08-65A541E14E33}" srcOrd="0" destOrd="0" presId="urn:microsoft.com/office/officeart/2005/8/layout/radial6#1"/>
    <dgm:cxn modelId="{CC185961-8987-4EB8-BADE-AC2C7D2DBD9E}" type="presOf" srcId="{099FBE5C-5F8F-484A-B751-F3AC2DC2ABC4}" destId="{CE8F955F-356F-44A3-B90C-526601F4ACAF}" srcOrd="0" destOrd="0" presId="urn:microsoft.com/office/officeart/2005/8/layout/radial6#1"/>
    <dgm:cxn modelId="{8C83614E-AF1D-4AED-BA5B-626FC5219653}" type="presOf" srcId="{0534650C-0194-42A1-BF23-FF4865C11AC5}" destId="{A9A6A31C-57E4-47D7-A829-34DB54242905}" srcOrd="0" destOrd="0" presId="urn:microsoft.com/office/officeart/2005/8/layout/radial6#1"/>
    <dgm:cxn modelId="{6CDAEB6F-6342-4730-AF54-8D96271978F5}" type="presOf" srcId="{202D17FA-435E-4F6F-988A-9524AC23B629}" destId="{B587A75E-2863-4842-B67B-DD86738E7134}" srcOrd="0" destOrd="0" presId="urn:microsoft.com/office/officeart/2005/8/layout/radial6#1"/>
    <dgm:cxn modelId="{E9123B8C-5DB3-41D8-8E07-D953E245A080}" type="presOf" srcId="{BE7885EB-2072-4BFC-A58B-3019A5C51CE8}" destId="{3EC10E96-BEB0-44FA-817E-DE303A710616}" srcOrd="0" destOrd="0" presId="urn:microsoft.com/office/officeart/2005/8/layout/radial6#1"/>
    <dgm:cxn modelId="{A3578996-DD47-431F-BBAE-F97BE49A1101}" type="presOf" srcId="{69CD0DB1-B785-491C-87EC-68AC0C806430}" destId="{03A597FE-1C6E-4A91-B186-50048C7924DF}" srcOrd="0" destOrd="0" presId="urn:microsoft.com/office/officeart/2005/8/layout/radial6#1"/>
    <dgm:cxn modelId="{FD78019A-EB1D-418A-ACFF-3E7F8DA270D9}" srcId="{099FBE5C-5F8F-484A-B751-F3AC2DC2ABC4}" destId="{69CD0DB1-B785-491C-87EC-68AC0C806430}" srcOrd="2" destOrd="0" parTransId="{42B3144F-52BE-4238-B194-967F2DF67C70}" sibTransId="{BE7885EB-2072-4BFC-A58B-3019A5C51CE8}"/>
    <dgm:cxn modelId="{1BCCA3A4-79D2-4782-8478-F6AF569DB381}" type="presOf" srcId="{28631773-35C5-497E-B5C4-1C4BE68E1ED5}" destId="{F2F82028-244F-4239-B763-0366BC4940B7}" srcOrd="0" destOrd="0" presId="urn:microsoft.com/office/officeart/2005/8/layout/radial6#1"/>
    <dgm:cxn modelId="{21439BCA-B6D4-4E03-B0E2-53908603B67E}" type="presOf" srcId="{228AB431-72A6-4B07-A9F2-582EFE20D637}" destId="{D1C828FF-1A83-48F6-A509-1B4C1A58695F}" srcOrd="0" destOrd="0" presId="urn:microsoft.com/office/officeart/2005/8/layout/radial6#1"/>
    <dgm:cxn modelId="{ED1775D8-BBC4-498C-BA04-0F9605BC2F81}" srcId="{228AB431-72A6-4B07-A9F2-582EFE20D637}" destId="{099FBE5C-5F8F-484A-B751-F3AC2DC2ABC4}" srcOrd="0" destOrd="0" parTransId="{0C5B612E-29AE-4E64-A3AE-B4DC4ECF2759}" sibTransId="{DA645B0B-2B66-4094-879E-4F81679339D9}"/>
    <dgm:cxn modelId="{8F78D4ED-0274-4ECA-B79E-9AC400B2A768}" srcId="{099FBE5C-5F8F-484A-B751-F3AC2DC2ABC4}" destId="{F58A9A7C-532B-4E18-AE3B-5E996C2AAAC8}" srcOrd="0" destOrd="0" parTransId="{F9B9AD53-CF72-48E3-836E-14009E00351B}" sibTransId="{202D17FA-435E-4F6F-988A-9524AC23B629}"/>
    <dgm:cxn modelId="{86FC2CF2-6FF8-4C07-889F-4219F4BD21DB}" srcId="{099FBE5C-5F8F-484A-B751-F3AC2DC2ABC4}" destId="{0534650C-0194-42A1-BF23-FF4865C11AC5}" srcOrd="1" destOrd="0" parTransId="{08DCCE06-5028-440E-8B5B-8F94E3F6DD3A}" sibTransId="{28631773-35C5-497E-B5C4-1C4BE68E1ED5}"/>
    <dgm:cxn modelId="{22C5CB96-856D-4FD1-BE76-3396E0E69ECC}" type="presParOf" srcId="{D1C828FF-1A83-48F6-A509-1B4C1A58695F}" destId="{CE8F955F-356F-44A3-B90C-526601F4ACAF}" srcOrd="0" destOrd="0" presId="urn:microsoft.com/office/officeart/2005/8/layout/radial6#1"/>
    <dgm:cxn modelId="{FE084A4C-3B35-45D5-AA4A-5437F98391EE}" type="presParOf" srcId="{D1C828FF-1A83-48F6-A509-1B4C1A58695F}" destId="{E1103E1F-D51C-45AB-8D08-65A541E14E33}" srcOrd="1" destOrd="0" presId="urn:microsoft.com/office/officeart/2005/8/layout/radial6#1"/>
    <dgm:cxn modelId="{534FBF00-A03E-408C-B1E1-C0C1F186097F}" type="presParOf" srcId="{D1C828FF-1A83-48F6-A509-1B4C1A58695F}" destId="{51DB1A04-C98E-4A2C-9244-FE2F32F1395D}" srcOrd="2" destOrd="0" presId="urn:microsoft.com/office/officeart/2005/8/layout/radial6#1"/>
    <dgm:cxn modelId="{6A8AEB7E-73A1-4878-825C-233F27569B12}" type="presParOf" srcId="{D1C828FF-1A83-48F6-A509-1B4C1A58695F}" destId="{B587A75E-2863-4842-B67B-DD86738E7134}" srcOrd="3" destOrd="0" presId="urn:microsoft.com/office/officeart/2005/8/layout/radial6#1"/>
    <dgm:cxn modelId="{EC0CCD30-182E-478A-AA52-AD559F4F6CA9}" type="presParOf" srcId="{D1C828FF-1A83-48F6-A509-1B4C1A58695F}" destId="{A9A6A31C-57E4-47D7-A829-34DB54242905}" srcOrd="4" destOrd="0" presId="urn:microsoft.com/office/officeart/2005/8/layout/radial6#1"/>
    <dgm:cxn modelId="{4B2EA0FF-E802-4357-874B-7558A9F8F577}" type="presParOf" srcId="{D1C828FF-1A83-48F6-A509-1B4C1A58695F}" destId="{080B993E-2F4B-4A1A-B5B9-7CB56E6F007E}" srcOrd="5" destOrd="0" presId="urn:microsoft.com/office/officeart/2005/8/layout/radial6#1"/>
    <dgm:cxn modelId="{73244DAF-9DE7-4AD3-B406-A725735EF661}" type="presParOf" srcId="{D1C828FF-1A83-48F6-A509-1B4C1A58695F}" destId="{F2F82028-244F-4239-B763-0366BC4940B7}" srcOrd="6" destOrd="0" presId="urn:microsoft.com/office/officeart/2005/8/layout/radial6#1"/>
    <dgm:cxn modelId="{56A0864D-792C-4786-A293-1761F1729107}" type="presParOf" srcId="{D1C828FF-1A83-48F6-A509-1B4C1A58695F}" destId="{03A597FE-1C6E-4A91-B186-50048C7924DF}" srcOrd="7" destOrd="0" presId="urn:microsoft.com/office/officeart/2005/8/layout/radial6#1"/>
    <dgm:cxn modelId="{154ADD61-A77F-4C3C-91C0-58B2243B017B}" type="presParOf" srcId="{D1C828FF-1A83-48F6-A509-1B4C1A58695F}" destId="{55421B12-2E4C-40BE-9B80-6A2B76E00125}" srcOrd="8" destOrd="0" presId="urn:microsoft.com/office/officeart/2005/8/layout/radial6#1"/>
    <dgm:cxn modelId="{B4D0FF60-49FB-4A90-A3FC-B6C7DC780568}" type="presParOf" srcId="{D1C828FF-1A83-48F6-A509-1B4C1A58695F}" destId="{3EC10E96-BEB0-44FA-817E-DE303A710616}" srcOrd="9" destOrd="0" presId="urn:microsoft.com/office/officeart/2005/8/layout/radial6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C10E96-BEB0-44FA-817E-DE303A710616}">
      <dsp:nvSpPr>
        <dsp:cNvPr id="0" name=""/>
        <dsp:cNvSpPr/>
      </dsp:nvSpPr>
      <dsp:spPr>
        <a:xfrm>
          <a:off x="1517879" y="1006884"/>
          <a:ext cx="5381647" cy="5381647"/>
        </a:xfrm>
        <a:prstGeom prst="blockArc">
          <a:avLst>
            <a:gd name="adj1" fmla="val 9280285"/>
            <a:gd name="adj2" fmla="val 15790832"/>
            <a:gd name="adj3" fmla="val 463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F82028-244F-4239-B763-0366BC4940B7}">
      <dsp:nvSpPr>
        <dsp:cNvPr id="0" name=""/>
        <dsp:cNvSpPr/>
      </dsp:nvSpPr>
      <dsp:spPr>
        <a:xfrm>
          <a:off x="1348339" y="702626"/>
          <a:ext cx="5381647" cy="5381647"/>
        </a:xfrm>
        <a:prstGeom prst="blockArc">
          <a:avLst>
            <a:gd name="adj1" fmla="val 2250136"/>
            <a:gd name="adj2" fmla="val 8824395"/>
            <a:gd name="adj3" fmla="val 463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7A75E-2863-4842-B67B-DD86738E7134}">
      <dsp:nvSpPr>
        <dsp:cNvPr id="0" name=""/>
        <dsp:cNvSpPr/>
      </dsp:nvSpPr>
      <dsp:spPr>
        <a:xfrm>
          <a:off x="1136856" y="1024576"/>
          <a:ext cx="5381647" cy="5381647"/>
        </a:xfrm>
        <a:prstGeom prst="blockArc">
          <a:avLst>
            <a:gd name="adj1" fmla="val 16290155"/>
            <a:gd name="adj2" fmla="val 1745878"/>
            <a:gd name="adj3" fmla="val 463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8F955F-356F-44A3-B90C-526601F4ACAF}">
      <dsp:nvSpPr>
        <dsp:cNvPr id="0" name=""/>
        <dsp:cNvSpPr/>
      </dsp:nvSpPr>
      <dsp:spPr bwMode="white">
        <a:xfrm>
          <a:off x="2762063" y="2259995"/>
          <a:ext cx="2476872" cy="2476872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国内资金的三方博弈</a:t>
          </a:r>
          <a:endParaRPr lang="en-US" sz="2800" kern="1200" dirty="0"/>
        </a:p>
      </dsp:txBody>
      <dsp:txXfrm>
        <a:off x="3124793" y="2622725"/>
        <a:ext cx="1751412" cy="1751412"/>
      </dsp:txXfrm>
    </dsp:sp>
    <dsp:sp modelId="{E1103E1F-D51C-45AB-8D08-65A541E14E33}">
      <dsp:nvSpPr>
        <dsp:cNvPr id="0" name=""/>
        <dsp:cNvSpPr/>
      </dsp:nvSpPr>
      <dsp:spPr bwMode="white">
        <a:xfrm>
          <a:off x="3029697" y="220992"/>
          <a:ext cx="1733810" cy="1733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游资</a:t>
          </a:r>
          <a:endParaRPr lang="en-US" sz="2000" kern="1200" dirty="0"/>
        </a:p>
      </dsp:txBody>
      <dsp:txXfrm>
        <a:off x="3283608" y="474903"/>
        <a:ext cx="1225988" cy="1225988"/>
      </dsp:txXfrm>
    </dsp:sp>
    <dsp:sp modelId="{A9A6A31C-57E4-47D7-A829-34DB54242905}">
      <dsp:nvSpPr>
        <dsp:cNvPr id="0" name=""/>
        <dsp:cNvSpPr/>
      </dsp:nvSpPr>
      <dsp:spPr bwMode="white">
        <a:xfrm>
          <a:off x="5257449" y="4126700"/>
          <a:ext cx="1733810" cy="173381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机构</a:t>
          </a:r>
          <a:endParaRPr lang="en-US" sz="2000" kern="1200" dirty="0"/>
        </a:p>
      </dsp:txBody>
      <dsp:txXfrm>
        <a:off x="5511360" y="4380611"/>
        <a:ext cx="1225988" cy="1225988"/>
      </dsp:txXfrm>
    </dsp:sp>
    <dsp:sp modelId="{03A597FE-1C6E-4A91-B186-50048C7924DF}">
      <dsp:nvSpPr>
        <dsp:cNvPr id="0" name=""/>
        <dsp:cNvSpPr/>
      </dsp:nvSpPr>
      <dsp:spPr bwMode="white">
        <a:xfrm>
          <a:off x="966061" y="3955258"/>
          <a:ext cx="1733810" cy="1733810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/>
            <a:t>散户</a:t>
          </a:r>
          <a:endParaRPr lang="en-US" sz="2000" kern="1200" dirty="0"/>
        </a:p>
      </dsp:txBody>
      <dsp:txXfrm>
        <a:off x="1219972" y="4209169"/>
        <a:ext cx="1225988" cy="12259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#1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dstNode" val="node"/>
                    <dgm:param type="begSty" val="noArr"/>
                    <dgm:param type="endSty" val="noArr"/>
                    <dgm:param type="connRout" val="curve"/>
                    <dgm:param type="begPts" val="ctr"/>
                    <dgm:param type="endPts" val="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srcNode" val="dummyConnPt"/>
                    <dgm:param type="dstNode" val="dummyConnPt"/>
                    <dgm:param type="begSty" val="noArr"/>
                    <dgm:param type="endSty" val="noArr"/>
                    <dgm:param type="connRout" val="longCurve"/>
                    <dgm:param type="begPts" val="bCtr"/>
                    <dgm:param type="endPts" val="t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06A03-E231-C64B-9063-F46A5CA4EBC1}" type="datetimeFigureOut">
              <a:rPr kumimoji="1" lang="zh-CN" altLang="en-US" smtClean="0"/>
              <a:t>2024/9/27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029F0-ACD0-8B40-81F1-2B866525C71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029F0-ACD0-8B40-81F1-2B866525C71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B53423-71C3-4BCA-8CF0-0034A2A189C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B53423-71C3-4BCA-8CF0-0034A2A189C7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B53423-71C3-4BCA-8CF0-0034A2A189C7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96941C-AF09-408D-93F1-233F0BB49F76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B53423-71C3-4BCA-8CF0-0034A2A189C7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B53423-71C3-4BCA-8CF0-0034A2A189C7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B53423-71C3-4BCA-8CF0-0034A2A189C7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B53423-71C3-4BCA-8CF0-0034A2A189C7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029F0-ACD0-8B40-81F1-2B866525C711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029F0-ACD0-8B40-81F1-2B866525C711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029F0-ACD0-8B40-81F1-2B866525C711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B53423-71C3-4BCA-8CF0-0034A2A189C7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 the placeholder icon to add your image.</a:t>
            </a:r>
            <a:r>
              <a:rPr lang="en-US" baseline="0" dirty="0"/>
              <a:t> After that </a:t>
            </a:r>
            <a:r>
              <a:rPr lang="en-US" b="1" baseline="0" dirty="0"/>
              <a:t>Right Click </a:t>
            </a:r>
            <a:r>
              <a:rPr lang="en-US" baseline="0" dirty="0"/>
              <a:t>on the image and choose -&gt; </a:t>
            </a:r>
            <a:r>
              <a:rPr lang="en-US" b="1" baseline="0" dirty="0"/>
              <a:t>Send to Back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7AE692-284F-4FF0-8422-AD7D3BAEF799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029F0-ACD0-8B40-81F1-2B866525C711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83578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029F0-ACD0-8B40-81F1-2B866525C711}" type="slidenum">
              <a:rPr kumimoji="1" lang="zh-CN" altLang="en-US" smtClean="0"/>
              <a:t>41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10216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029F0-ACD0-8B40-81F1-2B866525C711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54188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029F0-ACD0-8B40-81F1-2B866525C711}" type="slidenum">
              <a:rPr kumimoji="1" lang="zh-CN" altLang="en-US" smtClean="0"/>
              <a:t>46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4D55-4FCC-954C-99DC-C59CB413BD09}" type="datetimeFigureOut">
              <a:rPr kumimoji="1" lang="zh-CN" altLang="en-US" smtClean="0"/>
              <a:t>2024/9/27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24BB8-843B-0F4A-982C-D189D19DAA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4D55-4FCC-954C-99DC-C59CB413BD09}" type="datetimeFigureOut">
              <a:rPr kumimoji="1" lang="zh-CN" altLang="en-US" smtClean="0"/>
              <a:t>2024/9/27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24BB8-843B-0F4A-982C-D189D19DAA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4D55-4FCC-954C-99DC-C59CB413BD09}" type="datetimeFigureOut">
              <a:rPr kumimoji="1" lang="zh-CN" altLang="en-US" smtClean="0"/>
              <a:t>2024/9/27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24BB8-843B-0F4A-982C-D189D19DAA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4D55-4FCC-954C-99DC-C59CB413BD09}" type="datetimeFigureOut">
              <a:rPr kumimoji="1" lang="zh-CN" altLang="en-US" smtClean="0"/>
              <a:t>2024/9/27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24BB8-843B-0F4A-982C-D189D19DAA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4D55-4FCC-954C-99DC-C59CB413BD09}" type="datetimeFigureOut">
              <a:rPr kumimoji="1" lang="zh-CN" altLang="en-US" smtClean="0"/>
              <a:t>2024/9/27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24BB8-843B-0F4A-982C-D189D19DAA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4D55-4FCC-954C-99DC-C59CB413BD09}" type="datetimeFigureOut">
              <a:rPr kumimoji="1" lang="zh-CN" altLang="en-US" smtClean="0"/>
              <a:t>2024/9/27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24BB8-843B-0F4A-982C-D189D19DAA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4D55-4FCC-954C-99DC-C59CB413BD09}" type="datetimeFigureOut">
              <a:rPr kumimoji="1" lang="zh-CN" altLang="en-US" smtClean="0"/>
              <a:t>2024/9/27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24BB8-843B-0F4A-982C-D189D19DAA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4D55-4FCC-954C-99DC-C59CB413BD09}" type="datetimeFigureOut">
              <a:rPr kumimoji="1" lang="zh-CN" altLang="en-US" smtClean="0"/>
              <a:t>2024/9/27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24BB8-843B-0F4A-982C-D189D19DAA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4D55-4FCC-954C-99DC-C59CB413BD09}" type="datetimeFigureOut">
              <a:rPr kumimoji="1" lang="zh-CN" altLang="en-US" smtClean="0"/>
              <a:t>2024/9/27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24BB8-843B-0F4A-982C-D189D19DAA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4D55-4FCC-954C-99DC-C59CB413BD09}" type="datetimeFigureOut">
              <a:rPr kumimoji="1" lang="zh-CN" altLang="en-US" smtClean="0"/>
              <a:t>2024/9/27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24BB8-843B-0F4A-982C-D189D19DAA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4D55-4FCC-954C-99DC-C59CB413BD09}" type="datetimeFigureOut">
              <a:rPr kumimoji="1" lang="zh-CN" altLang="en-US" smtClean="0"/>
              <a:t>2024/9/27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24BB8-843B-0F4A-982C-D189D19DAA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355601" y="660401"/>
            <a:ext cx="3619500" cy="3365499"/>
          </a:xfrm>
          <a:prstGeom prst="diamond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324101" y="2476501"/>
            <a:ext cx="3619500" cy="3365499"/>
          </a:xfrm>
          <a:prstGeom prst="diamond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4292601" y="660401"/>
            <a:ext cx="3619500" cy="3365499"/>
          </a:xfrm>
          <a:prstGeom prst="diamond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261101" y="2476501"/>
            <a:ext cx="3619500" cy="3365499"/>
          </a:xfrm>
          <a:prstGeom prst="diamond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8229601" y="660401"/>
            <a:ext cx="3619500" cy="3365499"/>
          </a:xfrm>
          <a:prstGeom prst="diamond">
            <a:avLst/>
          </a:prstGeom>
        </p:spPr>
        <p:txBody>
          <a:bodyPr/>
          <a:lstStyle/>
          <a:p>
            <a:endParaRPr lang="id-ID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50826"/>
            <a:ext cx="10515600" cy="561974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838200" y="749300"/>
            <a:ext cx="10515600" cy="4191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5080000" y="127000"/>
            <a:ext cx="6504517" cy="4315691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请把图片从文件夹拖拽到此处，或点击下部的小图标添加图片</a:t>
            </a:r>
            <a:endParaRPr lang="en-US" dirty="0"/>
          </a:p>
          <a:p>
            <a:endParaRPr lang="en-US" dirty="0"/>
          </a:p>
        </p:txBody>
      </p:sp>
      <p:sp>
        <p:nvSpPr>
          <p:cNvPr id="6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5080000" y="4584700"/>
            <a:ext cx="2084917" cy="1600200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335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请把图片从文件夹拖拽到此处，或点击下部的小图标添加图片</a:t>
            </a:r>
            <a:endParaRPr lang="en-US" dirty="0"/>
          </a:p>
          <a:p>
            <a:endParaRPr lang="en-US" dirty="0"/>
          </a:p>
        </p:txBody>
      </p:sp>
      <p:sp>
        <p:nvSpPr>
          <p:cNvPr id="7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7289800" y="4584700"/>
            <a:ext cx="2084917" cy="1600200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335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请把图片从文件夹拖拽到此处，或点击下部的小图标添加图片</a:t>
            </a:r>
            <a:endParaRPr lang="en-US" dirty="0"/>
          </a:p>
          <a:p>
            <a:endParaRPr lang="en-US" dirty="0"/>
          </a:p>
        </p:txBody>
      </p:sp>
      <p:sp>
        <p:nvSpPr>
          <p:cNvPr id="8" name="Picture Placeholder 15"/>
          <p:cNvSpPr>
            <a:spLocks noGrp="1"/>
          </p:cNvSpPr>
          <p:nvPr>
            <p:ph type="pic" sz="quarter" idx="16" hasCustomPrompt="1"/>
          </p:nvPr>
        </p:nvSpPr>
        <p:spPr>
          <a:xfrm>
            <a:off x="9499600" y="4584700"/>
            <a:ext cx="2084917" cy="1600200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335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请把图片从文件夹拖拽到此处，或点击下部的小图标添加图片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4754880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请把图片从文件夹拖拽到此处，或点击下部的小图标添加图片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1854200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请把图片从文件夹拖拽到此处，或点击下部的小图标添加图片</a:t>
            </a:r>
            <a:endParaRPr lang="en-US" dirty="0"/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www.domain.com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95E218FF-4BA7-4265-ACB0-1BCFECF4FD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请把图片从文件夹拖拽到此处，或点击下部的小图标添加图片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64D55-4FCC-954C-99DC-C59CB413BD09}" type="datetimeFigureOut">
              <a:rPr kumimoji="1" lang="zh-CN" altLang="en-US" smtClean="0"/>
              <a:t>2024/9/27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24BB8-843B-0F4A-982C-D189D19DAA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9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33.sv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9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33.sv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9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33.sv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jpg"/><Relationship Id="rId4" Type="http://schemas.openxmlformats.org/officeDocument/2006/relationships/image" Target="../media/image7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五边形 2"/>
          <p:cNvSpPr/>
          <p:nvPr/>
        </p:nvSpPr>
        <p:spPr>
          <a:xfrm>
            <a:off x="0" y="50059"/>
            <a:ext cx="7968933" cy="6757883"/>
          </a:xfrm>
          <a:prstGeom prst="homePlate">
            <a:avLst>
              <a:gd name="adj" fmla="val 20895"/>
            </a:avLst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365"/>
          </a:p>
        </p:txBody>
      </p:sp>
      <p:sp>
        <p:nvSpPr>
          <p:cNvPr id="13" name="文本框 12"/>
          <p:cNvSpPr txBox="1"/>
          <p:nvPr/>
        </p:nvSpPr>
        <p:spPr>
          <a:xfrm>
            <a:off x="668403" y="1810576"/>
            <a:ext cx="6164895" cy="92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5385" b="1" dirty="0">
                <a:solidFill>
                  <a:srgbClr val="FFFFFF"/>
                </a:solidFill>
              </a:rPr>
              <a:t>投资启蒙课程系列</a:t>
            </a:r>
            <a:endParaRPr kumimoji="1" lang="en-US" altLang="zh-CN" sz="5385" b="1" dirty="0">
              <a:solidFill>
                <a:srgbClr val="FFFFFF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68403" y="4339408"/>
            <a:ext cx="6516528" cy="1546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75" dirty="0">
                <a:solidFill>
                  <a:srgbClr val="FFFFFF"/>
                </a:solidFill>
              </a:rPr>
              <a:t>PRESENTED</a:t>
            </a:r>
            <a:r>
              <a:rPr kumimoji="1" lang="zh-CN" altLang="en-US" sz="1575" dirty="0">
                <a:solidFill>
                  <a:srgbClr val="FFFFFF"/>
                </a:solidFill>
              </a:rPr>
              <a:t> </a:t>
            </a:r>
            <a:r>
              <a:rPr kumimoji="1" lang="en-US" altLang="zh-CN" sz="1575" dirty="0">
                <a:solidFill>
                  <a:srgbClr val="FFFFFF"/>
                </a:solidFill>
              </a:rPr>
              <a:t>BY</a:t>
            </a:r>
            <a:r>
              <a:rPr kumimoji="1" lang="zh-CN" altLang="en-US" sz="1575" dirty="0">
                <a:solidFill>
                  <a:srgbClr val="FFFFFF"/>
                </a:solidFill>
              </a:rPr>
              <a:t> </a:t>
            </a:r>
            <a:r>
              <a:rPr kumimoji="1" lang="en-US" altLang="zh-CN" sz="1575" dirty="0">
                <a:solidFill>
                  <a:srgbClr val="FFFFFF"/>
                </a:solidFill>
              </a:rPr>
              <a:t>CUHK(SZ) INVESTMENT ENLIGHTENMENT ASSOCIATION</a:t>
            </a:r>
          </a:p>
          <a:p>
            <a:endParaRPr kumimoji="1" lang="en-US" altLang="zh-CN" sz="1575" dirty="0">
              <a:solidFill>
                <a:srgbClr val="FFFFFF"/>
              </a:solidFill>
            </a:endParaRPr>
          </a:p>
          <a:p>
            <a:r>
              <a:rPr kumimoji="1" lang="zh-CN" altLang="en-US" sz="1575" dirty="0">
                <a:solidFill>
                  <a:srgbClr val="FFFFFF"/>
                </a:solidFill>
              </a:rPr>
              <a:t>本课程内容仅供交流分享，不构成投资建议</a:t>
            </a:r>
            <a:endParaRPr kumimoji="1" lang="en-US" altLang="zh-CN" sz="1575" dirty="0">
              <a:solidFill>
                <a:srgbClr val="FFFFFF"/>
              </a:solidFill>
            </a:endParaRPr>
          </a:p>
          <a:p>
            <a:endParaRPr kumimoji="1" lang="en-US" altLang="zh-CN" sz="1575" dirty="0">
              <a:solidFill>
                <a:srgbClr val="FFFFFF"/>
              </a:solidFill>
            </a:endParaRPr>
          </a:p>
          <a:p>
            <a:r>
              <a:rPr kumimoji="1" lang="zh-CN" altLang="en-US" sz="1575" dirty="0">
                <a:solidFill>
                  <a:srgbClr val="FFFFFF"/>
                </a:solidFill>
              </a:rPr>
              <a:t>主讲人：学术部 林博毅 袁子恒</a:t>
            </a:r>
            <a:endParaRPr kumimoji="1" lang="en-US" altLang="zh-CN" sz="1575" dirty="0">
              <a:solidFill>
                <a:srgbClr val="FFFFFF"/>
              </a:solidFill>
            </a:endParaRPr>
          </a:p>
          <a:p>
            <a:r>
              <a:rPr kumimoji="1" lang="en-US" altLang="zh-CN" sz="1575" dirty="0">
                <a:solidFill>
                  <a:srgbClr val="FFFFFF"/>
                </a:solidFill>
              </a:rPr>
              <a:t>              </a:t>
            </a:r>
            <a:r>
              <a:rPr kumimoji="1" lang="zh-CN" altLang="en-US" sz="1575" dirty="0">
                <a:solidFill>
                  <a:srgbClr val="FFFFFF"/>
                </a:solidFill>
              </a:rPr>
              <a:t>外联部  王从心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68404" y="1146079"/>
            <a:ext cx="5857694" cy="496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630" dirty="0">
                <a:solidFill>
                  <a:srgbClr val="FFFFFF"/>
                </a:solidFill>
              </a:rPr>
              <a:t>INVESTMENT ENLIGHTENMENT SERIES</a:t>
            </a:r>
            <a:endParaRPr kumimoji="1" lang="zh-CN" altLang="en-US" sz="2630" dirty="0">
              <a:solidFill>
                <a:srgbClr val="FFFFFF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68405" y="2613876"/>
            <a:ext cx="1552028" cy="13054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en-US" altLang="zh-CN" sz="7885" b="1" dirty="0">
                <a:solidFill>
                  <a:srgbClr val="FFFFFF"/>
                </a:solidFill>
              </a:rPr>
              <a:t>IES</a:t>
            </a:r>
            <a:endParaRPr kumimoji="1" lang="zh-CN" altLang="en-US" sz="7885" b="1" dirty="0">
              <a:solidFill>
                <a:srgbClr val="FFFFFF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73937" y="3915168"/>
            <a:ext cx="363943" cy="363940"/>
            <a:chOff x="990599" y="4579267"/>
            <a:chExt cx="495173" cy="495173"/>
          </a:xfrm>
        </p:grpSpPr>
        <p:sp>
          <p:nvSpPr>
            <p:cNvPr id="6" name="椭圆 5"/>
            <p:cNvSpPr/>
            <p:nvPr/>
          </p:nvSpPr>
          <p:spPr>
            <a:xfrm>
              <a:off x="990599" y="4579267"/>
              <a:ext cx="495173" cy="49517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01065">
                <a:defRPr/>
              </a:pPr>
              <a:endParaRPr lang="zh-CN" altLang="en-US" sz="1775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7" name="椭圆 24"/>
            <p:cNvSpPr/>
            <p:nvPr/>
          </p:nvSpPr>
          <p:spPr>
            <a:xfrm>
              <a:off x="1114014" y="4693919"/>
              <a:ext cx="248343" cy="265868"/>
            </a:xfrm>
            <a:custGeom>
              <a:avLst/>
              <a:gdLst>
                <a:gd name="connsiteX0" fmla="*/ 191941 w 566993"/>
                <a:gd name="connsiteY0" fmla="*/ 362212 h 607004"/>
                <a:gd name="connsiteX1" fmla="*/ 203101 w 566993"/>
                <a:gd name="connsiteY1" fmla="*/ 369284 h 607004"/>
                <a:gd name="connsiteX2" fmla="*/ 283545 w 566993"/>
                <a:gd name="connsiteY2" fmla="*/ 479135 h 607004"/>
                <a:gd name="connsiteX3" fmla="*/ 363893 w 566993"/>
                <a:gd name="connsiteY3" fmla="*/ 369284 h 607004"/>
                <a:gd name="connsiteX4" fmla="*/ 375052 w 566993"/>
                <a:gd name="connsiteY4" fmla="*/ 362212 h 607004"/>
                <a:gd name="connsiteX5" fmla="*/ 381165 w 566993"/>
                <a:gd name="connsiteY5" fmla="*/ 363859 h 607004"/>
                <a:gd name="connsiteX6" fmla="*/ 452585 w 566993"/>
                <a:gd name="connsiteY6" fmla="*/ 400476 h 607004"/>
                <a:gd name="connsiteX7" fmla="*/ 566993 w 566993"/>
                <a:gd name="connsiteY7" fmla="*/ 477585 h 607004"/>
                <a:gd name="connsiteX8" fmla="*/ 566993 w 566993"/>
                <a:gd name="connsiteY8" fmla="*/ 607004 h 607004"/>
                <a:gd name="connsiteX9" fmla="*/ 283545 w 566993"/>
                <a:gd name="connsiteY9" fmla="*/ 607004 h 607004"/>
                <a:gd name="connsiteX10" fmla="*/ 0 w 566993"/>
                <a:gd name="connsiteY10" fmla="*/ 607004 h 607004"/>
                <a:gd name="connsiteX11" fmla="*/ 0 w 566993"/>
                <a:gd name="connsiteY11" fmla="*/ 477585 h 607004"/>
                <a:gd name="connsiteX12" fmla="*/ 114408 w 566993"/>
                <a:gd name="connsiteY12" fmla="*/ 400476 h 607004"/>
                <a:gd name="connsiteX13" fmla="*/ 185828 w 566993"/>
                <a:gd name="connsiteY13" fmla="*/ 363859 h 607004"/>
                <a:gd name="connsiteX14" fmla="*/ 191941 w 566993"/>
                <a:gd name="connsiteY14" fmla="*/ 362212 h 607004"/>
                <a:gd name="connsiteX15" fmla="*/ 281913 w 566993"/>
                <a:gd name="connsiteY15" fmla="*/ 0 h 607004"/>
                <a:gd name="connsiteX16" fmla="*/ 283368 w 566993"/>
                <a:gd name="connsiteY16" fmla="*/ 0 h 607004"/>
                <a:gd name="connsiteX17" fmla="*/ 284727 w 566993"/>
                <a:gd name="connsiteY17" fmla="*/ 0 h 607004"/>
                <a:gd name="connsiteX18" fmla="*/ 410778 w 566993"/>
                <a:gd name="connsiteY18" fmla="*/ 107256 h 607004"/>
                <a:gd name="connsiteX19" fmla="*/ 402627 w 566993"/>
                <a:gd name="connsiteY19" fmla="*/ 162580 h 607004"/>
                <a:gd name="connsiteX20" fmla="*/ 414077 w 566993"/>
                <a:gd name="connsiteY20" fmla="*/ 188933 h 607004"/>
                <a:gd name="connsiteX21" fmla="*/ 384675 w 566993"/>
                <a:gd name="connsiteY21" fmla="*/ 242222 h 607004"/>
                <a:gd name="connsiteX22" fmla="*/ 321892 w 566993"/>
                <a:gd name="connsiteY22" fmla="*/ 318280 h 607004"/>
                <a:gd name="connsiteX23" fmla="*/ 283368 w 566993"/>
                <a:gd name="connsiteY23" fmla="*/ 327000 h 607004"/>
                <a:gd name="connsiteX24" fmla="*/ 244747 w 566993"/>
                <a:gd name="connsiteY24" fmla="*/ 318280 h 607004"/>
                <a:gd name="connsiteX25" fmla="*/ 182062 w 566993"/>
                <a:gd name="connsiteY25" fmla="*/ 242222 h 607004"/>
                <a:gd name="connsiteX26" fmla="*/ 152562 w 566993"/>
                <a:gd name="connsiteY26" fmla="*/ 188933 h 607004"/>
                <a:gd name="connsiteX27" fmla="*/ 164110 w 566993"/>
                <a:gd name="connsiteY27" fmla="*/ 162580 h 607004"/>
                <a:gd name="connsiteX28" fmla="*/ 155959 w 566993"/>
                <a:gd name="connsiteY28" fmla="*/ 107256 h 607004"/>
                <a:gd name="connsiteX29" fmla="*/ 281913 w 566993"/>
                <a:gd name="connsiteY29" fmla="*/ 0 h 607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6993" h="607004">
                  <a:moveTo>
                    <a:pt x="191941" y="362212"/>
                  </a:moveTo>
                  <a:cubicBezTo>
                    <a:pt x="196890" y="362212"/>
                    <a:pt x="201160" y="365118"/>
                    <a:pt x="203101" y="369284"/>
                  </a:cubicBezTo>
                  <a:cubicBezTo>
                    <a:pt x="222508" y="401638"/>
                    <a:pt x="258412" y="477391"/>
                    <a:pt x="283545" y="479135"/>
                  </a:cubicBezTo>
                  <a:cubicBezTo>
                    <a:pt x="308581" y="477391"/>
                    <a:pt x="344485" y="401638"/>
                    <a:pt x="363893" y="369284"/>
                  </a:cubicBezTo>
                  <a:cubicBezTo>
                    <a:pt x="365833" y="365118"/>
                    <a:pt x="370103" y="362212"/>
                    <a:pt x="375052" y="362212"/>
                  </a:cubicBezTo>
                  <a:cubicBezTo>
                    <a:pt x="377284" y="362212"/>
                    <a:pt x="379322" y="362793"/>
                    <a:pt x="381165" y="363859"/>
                  </a:cubicBezTo>
                  <a:cubicBezTo>
                    <a:pt x="388152" y="367637"/>
                    <a:pt x="429102" y="392048"/>
                    <a:pt x="452585" y="400476"/>
                  </a:cubicBezTo>
                  <a:cubicBezTo>
                    <a:pt x="531574" y="428859"/>
                    <a:pt x="566993" y="457823"/>
                    <a:pt x="566993" y="477585"/>
                  </a:cubicBezTo>
                  <a:lnTo>
                    <a:pt x="566993" y="607004"/>
                  </a:lnTo>
                  <a:lnTo>
                    <a:pt x="283545" y="607004"/>
                  </a:lnTo>
                  <a:lnTo>
                    <a:pt x="0" y="607004"/>
                  </a:lnTo>
                  <a:lnTo>
                    <a:pt x="0" y="477585"/>
                  </a:lnTo>
                  <a:cubicBezTo>
                    <a:pt x="0" y="457823"/>
                    <a:pt x="35419" y="428859"/>
                    <a:pt x="114408" y="400476"/>
                  </a:cubicBezTo>
                  <a:cubicBezTo>
                    <a:pt x="137891" y="392048"/>
                    <a:pt x="178841" y="367637"/>
                    <a:pt x="185828" y="363859"/>
                  </a:cubicBezTo>
                  <a:cubicBezTo>
                    <a:pt x="187672" y="362793"/>
                    <a:pt x="189710" y="362212"/>
                    <a:pt x="191941" y="362212"/>
                  </a:cubicBezTo>
                  <a:close/>
                  <a:moveTo>
                    <a:pt x="281913" y="0"/>
                  </a:moveTo>
                  <a:cubicBezTo>
                    <a:pt x="282398" y="0"/>
                    <a:pt x="282883" y="0"/>
                    <a:pt x="283368" y="0"/>
                  </a:cubicBezTo>
                  <a:cubicBezTo>
                    <a:pt x="283756" y="0"/>
                    <a:pt x="284242" y="0"/>
                    <a:pt x="284727" y="0"/>
                  </a:cubicBezTo>
                  <a:cubicBezTo>
                    <a:pt x="393214" y="0"/>
                    <a:pt x="413592" y="77317"/>
                    <a:pt x="410778" y="107256"/>
                  </a:cubicBezTo>
                  <a:cubicBezTo>
                    <a:pt x="408449" y="131284"/>
                    <a:pt x="402627" y="162580"/>
                    <a:pt x="402627" y="162580"/>
                  </a:cubicBezTo>
                  <a:cubicBezTo>
                    <a:pt x="402627" y="162580"/>
                    <a:pt x="414077" y="167812"/>
                    <a:pt x="414077" y="188933"/>
                  </a:cubicBezTo>
                  <a:cubicBezTo>
                    <a:pt x="410099" y="241835"/>
                    <a:pt x="388945" y="218969"/>
                    <a:pt x="384675" y="242222"/>
                  </a:cubicBezTo>
                  <a:cubicBezTo>
                    <a:pt x="377397" y="280784"/>
                    <a:pt x="343240" y="308688"/>
                    <a:pt x="321892" y="318280"/>
                  </a:cubicBezTo>
                  <a:cubicBezTo>
                    <a:pt x="309568" y="323900"/>
                    <a:pt x="296759" y="326709"/>
                    <a:pt x="283368" y="327000"/>
                  </a:cubicBezTo>
                  <a:cubicBezTo>
                    <a:pt x="269880" y="326709"/>
                    <a:pt x="257168" y="323900"/>
                    <a:pt x="244747" y="318280"/>
                  </a:cubicBezTo>
                  <a:cubicBezTo>
                    <a:pt x="223496" y="308688"/>
                    <a:pt x="189242" y="280784"/>
                    <a:pt x="182062" y="242222"/>
                  </a:cubicBezTo>
                  <a:cubicBezTo>
                    <a:pt x="177695" y="218969"/>
                    <a:pt x="156638" y="241835"/>
                    <a:pt x="152562" y="188933"/>
                  </a:cubicBezTo>
                  <a:cubicBezTo>
                    <a:pt x="152562" y="167812"/>
                    <a:pt x="164110" y="162580"/>
                    <a:pt x="164110" y="162580"/>
                  </a:cubicBezTo>
                  <a:cubicBezTo>
                    <a:pt x="164110" y="162580"/>
                    <a:pt x="158190" y="131284"/>
                    <a:pt x="155959" y="107256"/>
                  </a:cubicBezTo>
                  <a:cubicBezTo>
                    <a:pt x="153047" y="77317"/>
                    <a:pt x="173425" y="0"/>
                    <a:pt x="28191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01065">
                <a:defRPr/>
              </a:pPr>
              <a:endParaRPr lang="zh-CN" altLang="en-US" sz="1775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377939" y="2524464"/>
            <a:ext cx="11177595" cy="2706954"/>
          </a:xfrm>
          <a:prstGeom prst="flowChartProcess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9" r="14289"/>
          <a:stretch>
            <a:fillRect/>
          </a:stretch>
        </p:blipFill>
        <p:spPr>
          <a:xfrm flipH="1">
            <a:off x="636465" y="2166341"/>
            <a:ext cx="3981680" cy="293506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矩形 2"/>
          <p:cNvSpPr/>
          <p:nvPr/>
        </p:nvSpPr>
        <p:spPr>
          <a:xfrm>
            <a:off x="6707170" y="3950493"/>
            <a:ext cx="2289409" cy="3350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57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TIME ARRANGEMENT</a:t>
            </a:r>
          </a:p>
        </p:txBody>
      </p:sp>
      <p:sp>
        <p:nvSpPr>
          <p:cNvPr id="4" name="TextBox 76"/>
          <p:cNvSpPr txBox="1"/>
          <p:nvPr/>
        </p:nvSpPr>
        <p:spPr>
          <a:xfrm>
            <a:off x="5795028" y="3134854"/>
            <a:ext cx="4177259" cy="739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205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时间安排</a:t>
            </a:r>
          </a:p>
        </p:txBody>
      </p:sp>
      <p:sp>
        <p:nvSpPr>
          <p:cNvPr id="6" name="TextBox 37"/>
          <p:cNvSpPr txBox="1"/>
          <p:nvPr/>
        </p:nvSpPr>
        <p:spPr>
          <a:xfrm>
            <a:off x="3780956" y="3285098"/>
            <a:ext cx="646373" cy="69755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lang="en-US" altLang="zh-CN" sz="6305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</a:p>
        </p:txBody>
      </p:sp>
    </p:spTree>
  </p:cSld>
  <p:clrMapOvr>
    <a:masterClrMapping/>
  </p:clrMapOvr>
  <p:transition spd="slow" advClick="0" advTm="2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14"/>
          <p:cNvSpPr/>
          <p:nvPr/>
        </p:nvSpPr>
        <p:spPr>
          <a:xfrm>
            <a:off x="4186091" y="3112530"/>
            <a:ext cx="1493540" cy="314581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 w="12700" cap="flat">
            <a:noFill/>
            <a:miter lim="400000"/>
          </a:ln>
          <a:effectLst/>
        </p:spPr>
        <p:txBody>
          <a:bodyPr lIns="120130" tIns="60064" rIns="120130" bIns="60064" anchor="ctr"/>
          <a:lstStyle/>
          <a:p>
            <a:pPr algn="ctr"/>
            <a:endParaRPr sz="3155" dirty="0"/>
          </a:p>
        </p:txBody>
      </p:sp>
      <p:sp>
        <p:nvSpPr>
          <p:cNvPr id="34" name="Rectangle: Rounded Corners 14"/>
          <p:cNvSpPr/>
          <p:nvPr/>
        </p:nvSpPr>
        <p:spPr>
          <a:xfrm>
            <a:off x="6406886" y="3111599"/>
            <a:ext cx="1552424" cy="314581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 w="12700" cap="flat">
            <a:noFill/>
            <a:miter lim="400000"/>
          </a:ln>
          <a:effectLst/>
        </p:spPr>
        <p:txBody>
          <a:bodyPr lIns="120130" tIns="60064" rIns="120130" bIns="60064" anchor="ctr"/>
          <a:lstStyle/>
          <a:p>
            <a:pPr algn="ctr"/>
            <a:endParaRPr sz="3155" dirty="0"/>
          </a:p>
        </p:txBody>
      </p:sp>
      <p:grpSp>
        <p:nvGrpSpPr>
          <p:cNvPr id="5" name="组合 4"/>
          <p:cNvGrpSpPr/>
          <p:nvPr/>
        </p:nvGrpSpPr>
        <p:grpSpPr>
          <a:xfrm>
            <a:off x="1802318" y="1571461"/>
            <a:ext cx="8478959" cy="3516676"/>
            <a:chOff x="-1598706" y="-485865"/>
            <a:chExt cx="9522147" cy="3949341"/>
          </a:xfrm>
        </p:grpSpPr>
        <p:grpSp>
          <p:nvGrpSpPr>
            <p:cNvPr id="6" name="Group 8"/>
            <p:cNvGrpSpPr/>
            <p:nvPr/>
          </p:nvGrpSpPr>
          <p:grpSpPr>
            <a:xfrm>
              <a:off x="5046007" y="592990"/>
              <a:ext cx="2207465" cy="1642764"/>
              <a:chOff x="683771" y="-136472"/>
              <a:chExt cx="3139599" cy="2336443"/>
            </a:xfrm>
          </p:grpSpPr>
          <p:sp>
            <p:nvSpPr>
              <p:cNvPr id="22" name="Freeform: Shape 10"/>
              <p:cNvSpPr/>
              <p:nvPr/>
            </p:nvSpPr>
            <p:spPr>
              <a:xfrm>
                <a:off x="2422877" y="-136472"/>
                <a:ext cx="1400493" cy="2336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20" h="21386" extrusionOk="0">
                    <a:moveTo>
                      <a:pt x="3629" y="0"/>
                    </a:moveTo>
                    <a:cubicBezTo>
                      <a:pt x="2700" y="0"/>
                      <a:pt x="1772" y="213"/>
                      <a:pt x="1063" y="641"/>
                    </a:cubicBezTo>
                    <a:cubicBezTo>
                      <a:pt x="-354" y="1497"/>
                      <a:pt x="-354" y="2884"/>
                      <a:pt x="1063" y="3740"/>
                    </a:cubicBezTo>
                    <a:lnTo>
                      <a:pt x="12572" y="10692"/>
                    </a:lnTo>
                    <a:lnTo>
                      <a:pt x="1063" y="17644"/>
                    </a:lnTo>
                    <a:cubicBezTo>
                      <a:pt x="-354" y="18501"/>
                      <a:pt x="-354" y="19888"/>
                      <a:pt x="1063" y="20744"/>
                    </a:cubicBezTo>
                    <a:cubicBezTo>
                      <a:pt x="2481" y="21600"/>
                      <a:pt x="4776" y="21600"/>
                      <a:pt x="6194" y="20744"/>
                    </a:cubicBezTo>
                    <a:lnTo>
                      <a:pt x="20164" y="12304"/>
                    </a:lnTo>
                    <a:cubicBezTo>
                      <a:pt x="20899" y="11860"/>
                      <a:pt x="21246" y="11274"/>
                      <a:pt x="21219" y="10692"/>
                    </a:cubicBezTo>
                    <a:cubicBezTo>
                      <a:pt x="21246" y="10111"/>
                      <a:pt x="20899" y="9524"/>
                      <a:pt x="20164" y="9081"/>
                    </a:cubicBezTo>
                    <a:lnTo>
                      <a:pt x="6194" y="641"/>
                    </a:lnTo>
                    <a:cubicBezTo>
                      <a:pt x="5485" y="213"/>
                      <a:pt x="4557" y="0"/>
                      <a:pt x="3629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sz="3155" dirty="0"/>
              </a:p>
            </p:txBody>
          </p:sp>
          <p:sp>
            <p:nvSpPr>
              <p:cNvPr id="23" name="Rectangle: Rounded Corners 11"/>
              <p:cNvSpPr/>
              <p:nvPr/>
            </p:nvSpPr>
            <p:spPr>
              <a:xfrm>
                <a:off x="683771" y="780519"/>
                <a:ext cx="2795308" cy="502462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sz="3155" dirty="0"/>
              </a:p>
            </p:txBody>
          </p:sp>
        </p:grpSp>
        <p:sp>
          <p:nvSpPr>
            <p:cNvPr id="7" name="Freeform: Shape 9"/>
            <p:cNvSpPr/>
            <p:nvPr/>
          </p:nvSpPr>
          <p:spPr>
            <a:xfrm>
              <a:off x="6931418" y="1308127"/>
              <a:ext cx="212626" cy="2124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80" h="20595" extrusionOk="0">
                  <a:moveTo>
                    <a:pt x="9827" y="0"/>
                  </a:moveTo>
                  <a:cubicBezTo>
                    <a:pt x="7311" y="0"/>
                    <a:pt x="4799" y="992"/>
                    <a:pt x="2879" y="3002"/>
                  </a:cubicBezTo>
                  <a:cubicBezTo>
                    <a:pt x="-960" y="7022"/>
                    <a:pt x="-960" y="13559"/>
                    <a:pt x="2879" y="17580"/>
                  </a:cubicBezTo>
                  <a:cubicBezTo>
                    <a:pt x="6719" y="21600"/>
                    <a:pt x="12961" y="21600"/>
                    <a:pt x="16801" y="17580"/>
                  </a:cubicBezTo>
                  <a:cubicBezTo>
                    <a:pt x="20640" y="13559"/>
                    <a:pt x="20640" y="7022"/>
                    <a:pt x="16801" y="3002"/>
                  </a:cubicBezTo>
                  <a:cubicBezTo>
                    <a:pt x="14881" y="992"/>
                    <a:pt x="12343" y="0"/>
                    <a:pt x="9827" y="0"/>
                  </a:cubicBezTo>
                  <a:close/>
                  <a:moveTo>
                    <a:pt x="9827" y="3435"/>
                  </a:moveTo>
                  <a:cubicBezTo>
                    <a:pt x="11504" y="3435"/>
                    <a:pt x="13196" y="4096"/>
                    <a:pt x="14476" y="5436"/>
                  </a:cubicBezTo>
                  <a:cubicBezTo>
                    <a:pt x="17036" y="8116"/>
                    <a:pt x="17036" y="12465"/>
                    <a:pt x="14476" y="15146"/>
                  </a:cubicBezTo>
                  <a:cubicBezTo>
                    <a:pt x="11917" y="17826"/>
                    <a:pt x="7763" y="17826"/>
                    <a:pt x="5204" y="15146"/>
                  </a:cubicBezTo>
                  <a:cubicBezTo>
                    <a:pt x="2644" y="12465"/>
                    <a:pt x="2644" y="8116"/>
                    <a:pt x="5204" y="5436"/>
                  </a:cubicBezTo>
                  <a:cubicBezTo>
                    <a:pt x="6484" y="4096"/>
                    <a:pt x="8150" y="3435"/>
                    <a:pt x="9827" y="3435"/>
                  </a:cubicBezTo>
                  <a:close/>
                  <a:moveTo>
                    <a:pt x="9827" y="6870"/>
                  </a:moveTo>
                  <a:cubicBezTo>
                    <a:pt x="8988" y="6870"/>
                    <a:pt x="8168" y="7200"/>
                    <a:pt x="7528" y="7870"/>
                  </a:cubicBezTo>
                  <a:cubicBezTo>
                    <a:pt x="6249" y="9210"/>
                    <a:pt x="6249" y="11371"/>
                    <a:pt x="7528" y="12711"/>
                  </a:cubicBezTo>
                  <a:cubicBezTo>
                    <a:pt x="8808" y="14052"/>
                    <a:pt x="10872" y="14052"/>
                    <a:pt x="12152" y="12711"/>
                  </a:cubicBezTo>
                  <a:cubicBezTo>
                    <a:pt x="13431" y="11371"/>
                    <a:pt x="13431" y="9210"/>
                    <a:pt x="12152" y="7870"/>
                  </a:cubicBezTo>
                  <a:cubicBezTo>
                    <a:pt x="11512" y="7200"/>
                    <a:pt x="10666" y="6870"/>
                    <a:pt x="9827" y="6870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lIns="120130" tIns="60064" rIns="120130" bIns="60064" anchor="ctr"/>
            <a:lstStyle/>
            <a:p>
              <a:pPr algn="ctr"/>
              <a:endParaRPr sz="3155" dirty="0"/>
            </a:p>
          </p:txBody>
        </p:sp>
        <p:sp>
          <p:nvSpPr>
            <p:cNvPr id="9" name="Rectangle: Rounded Corners 14"/>
            <p:cNvSpPr/>
            <p:nvPr/>
          </p:nvSpPr>
          <p:spPr>
            <a:xfrm>
              <a:off x="2432268" y="1237788"/>
              <a:ext cx="1409891" cy="35328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lIns="120130" tIns="60064" rIns="120130" bIns="60064" anchor="ctr"/>
            <a:lstStyle/>
            <a:p>
              <a:pPr algn="ctr"/>
              <a:endParaRPr sz="3155" dirty="0"/>
            </a:p>
          </p:txBody>
        </p:sp>
        <p:sp>
          <p:nvSpPr>
            <p:cNvPr id="10" name="Freeform: Shape 15"/>
            <p:cNvSpPr/>
            <p:nvPr/>
          </p:nvSpPr>
          <p:spPr>
            <a:xfrm>
              <a:off x="3603817" y="1281356"/>
              <a:ext cx="266202" cy="266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80" h="20595" extrusionOk="0">
                  <a:moveTo>
                    <a:pt x="9827" y="0"/>
                  </a:moveTo>
                  <a:cubicBezTo>
                    <a:pt x="7311" y="0"/>
                    <a:pt x="4799" y="992"/>
                    <a:pt x="2879" y="3002"/>
                  </a:cubicBezTo>
                  <a:cubicBezTo>
                    <a:pt x="-960" y="7022"/>
                    <a:pt x="-960" y="13559"/>
                    <a:pt x="2879" y="17580"/>
                  </a:cubicBezTo>
                  <a:cubicBezTo>
                    <a:pt x="6719" y="21600"/>
                    <a:pt x="12961" y="21600"/>
                    <a:pt x="16801" y="17580"/>
                  </a:cubicBezTo>
                  <a:cubicBezTo>
                    <a:pt x="20640" y="13559"/>
                    <a:pt x="20640" y="7022"/>
                    <a:pt x="16801" y="3002"/>
                  </a:cubicBezTo>
                  <a:cubicBezTo>
                    <a:pt x="14881" y="992"/>
                    <a:pt x="12343" y="0"/>
                    <a:pt x="9827" y="0"/>
                  </a:cubicBezTo>
                  <a:close/>
                  <a:moveTo>
                    <a:pt x="9827" y="3435"/>
                  </a:moveTo>
                  <a:cubicBezTo>
                    <a:pt x="11504" y="3435"/>
                    <a:pt x="13196" y="4096"/>
                    <a:pt x="14476" y="5436"/>
                  </a:cubicBezTo>
                  <a:cubicBezTo>
                    <a:pt x="17036" y="8116"/>
                    <a:pt x="17036" y="12465"/>
                    <a:pt x="14476" y="15146"/>
                  </a:cubicBezTo>
                  <a:cubicBezTo>
                    <a:pt x="11917" y="17826"/>
                    <a:pt x="7763" y="17826"/>
                    <a:pt x="5204" y="15146"/>
                  </a:cubicBezTo>
                  <a:cubicBezTo>
                    <a:pt x="2644" y="12465"/>
                    <a:pt x="2644" y="8116"/>
                    <a:pt x="5204" y="5436"/>
                  </a:cubicBezTo>
                  <a:cubicBezTo>
                    <a:pt x="6484" y="4096"/>
                    <a:pt x="8150" y="3435"/>
                    <a:pt x="9827" y="3435"/>
                  </a:cubicBezTo>
                  <a:close/>
                  <a:moveTo>
                    <a:pt x="9827" y="6870"/>
                  </a:moveTo>
                  <a:cubicBezTo>
                    <a:pt x="8988" y="6870"/>
                    <a:pt x="8168" y="7200"/>
                    <a:pt x="7528" y="7870"/>
                  </a:cubicBezTo>
                  <a:cubicBezTo>
                    <a:pt x="6249" y="9210"/>
                    <a:pt x="6249" y="11371"/>
                    <a:pt x="7528" y="12711"/>
                  </a:cubicBezTo>
                  <a:cubicBezTo>
                    <a:pt x="8808" y="14052"/>
                    <a:pt x="10872" y="14052"/>
                    <a:pt x="12152" y="12711"/>
                  </a:cubicBezTo>
                  <a:cubicBezTo>
                    <a:pt x="13431" y="11371"/>
                    <a:pt x="13431" y="9210"/>
                    <a:pt x="12152" y="7870"/>
                  </a:cubicBezTo>
                  <a:cubicBezTo>
                    <a:pt x="11512" y="7200"/>
                    <a:pt x="10666" y="6870"/>
                    <a:pt x="9827" y="6870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lIns="120130" tIns="60064" rIns="120130" bIns="60064" anchor="ctr"/>
            <a:lstStyle/>
            <a:p>
              <a:pPr algn="ctr"/>
              <a:endParaRPr sz="3155" dirty="0"/>
            </a:p>
          </p:txBody>
        </p:sp>
        <p:sp>
          <p:nvSpPr>
            <p:cNvPr id="12" name="Rectangle: Rounded Corners 18"/>
            <p:cNvSpPr/>
            <p:nvPr/>
          </p:nvSpPr>
          <p:spPr>
            <a:xfrm rot="19200000">
              <a:off x="-336614" y="1759074"/>
              <a:ext cx="1965953" cy="35328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lIns="120130" tIns="60064" rIns="120130" bIns="60064" anchor="ctr"/>
            <a:lstStyle/>
            <a:p>
              <a:pPr algn="ctr"/>
              <a:endParaRPr sz="3155" dirty="0"/>
            </a:p>
          </p:txBody>
        </p:sp>
        <p:sp>
          <p:nvSpPr>
            <p:cNvPr id="13" name="Freeform: Shape 19"/>
            <p:cNvSpPr/>
            <p:nvPr/>
          </p:nvSpPr>
          <p:spPr>
            <a:xfrm>
              <a:off x="1128234" y="1294348"/>
              <a:ext cx="266202" cy="2660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80" h="20595" extrusionOk="0">
                  <a:moveTo>
                    <a:pt x="9827" y="0"/>
                  </a:moveTo>
                  <a:cubicBezTo>
                    <a:pt x="7311" y="0"/>
                    <a:pt x="4799" y="992"/>
                    <a:pt x="2879" y="3002"/>
                  </a:cubicBezTo>
                  <a:cubicBezTo>
                    <a:pt x="-960" y="7022"/>
                    <a:pt x="-960" y="13559"/>
                    <a:pt x="2879" y="17580"/>
                  </a:cubicBezTo>
                  <a:cubicBezTo>
                    <a:pt x="6719" y="21600"/>
                    <a:pt x="12961" y="21600"/>
                    <a:pt x="16801" y="17580"/>
                  </a:cubicBezTo>
                  <a:cubicBezTo>
                    <a:pt x="20640" y="13559"/>
                    <a:pt x="20640" y="7022"/>
                    <a:pt x="16801" y="3002"/>
                  </a:cubicBezTo>
                  <a:cubicBezTo>
                    <a:pt x="14881" y="992"/>
                    <a:pt x="12343" y="0"/>
                    <a:pt x="9827" y="0"/>
                  </a:cubicBezTo>
                  <a:close/>
                  <a:moveTo>
                    <a:pt x="9827" y="3435"/>
                  </a:moveTo>
                  <a:cubicBezTo>
                    <a:pt x="11504" y="3435"/>
                    <a:pt x="13196" y="4096"/>
                    <a:pt x="14476" y="5436"/>
                  </a:cubicBezTo>
                  <a:cubicBezTo>
                    <a:pt x="17036" y="8116"/>
                    <a:pt x="17036" y="12465"/>
                    <a:pt x="14476" y="15146"/>
                  </a:cubicBezTo>
                  <a:cubicBezTo>
                    <a:pt x="11917" y="17826"/>
                    <a:pt x="7763" y="17826"/>
                    <a:pt x="5204" y="15146"/>
                  </a:cubicBezTo>
                  <a:cubicBezTo>
                    <a:pt x="2644" y="12465"/>
                    <a:pt x="2644" y="8116"/>
                    <a:pt x="5204" y="5436"/>
                  </a:cubicBezTo>
                  <a:cubicBezTo>
                    <a:pt x="6484" y="4096"/>
                    <a:pt x="8150" y="3435"/>
                    <a:pt x="9827" y="3435"/>
                  </a:cubicBezTo>
                  <a:close/>
                  <a:moveTo>
                    <a:pt x="9827" y="6870"/>
                  </a:moveTo>
                  <a:cubicBezTo>
                    <a:pt x="8988" y="6870"/>
                    <a:pt x="8168" y="7200"/>
                    <a:pt x="7528" y="7870"/>
                  </a:cubicBezTo>
                  <a:cubicBezTo>
                    <a:pt x="6249" y="9210"/>
                    <a:pt x="6249" y="11371"/>
                    <a:pt x="7528" y="12711"/>
                  </a:cubicBezTo>
                  <a:cubicBezTo>
                    <a:pt x="8808" y="14052"/>
                    <a:pt x="10872" y="14052"/>
                    <a:pt x="12152" y="12711"/>
                  </a:cubicBezTo>
                  <a:cubicBezTo>
                    <a:pt x="13431" y="11371"/>
                    <a:pt x="13431" y="9210"/>
                    <a:pt x="12152" y="7870"/>
                  </a:cubicBezTo>
                  <a:cubicBezTo>
                    <a:pt x="11512" y="7200"/>
                    <a:pt x="10666" y="6870"/>
                    <a:pt x="9827" y="687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lIns="120130" tIns="60064" rIns="120130" bIns="60064" anchor="ctr"/>
            <a:lstStyle/>
            <a:p>
              <a:pPr algn="ctr"/>
              <a:endParaRPr sz="3155" dirty="0"/>
            </a:p>
          </p:txBody>
        </p:sp>
        <p:sp>
          <p:nvSpPr>
            <p:cNvPr id="15" name="Rectangle: Rounded Corners 22"/>
            <p:cNvSpPr/>
            <p:nvPr/>
          </p:nvSpPr>
          <p:spPr>
            <a:xfrm rot="2400000">
              <a:off x="-1598706" y="1759073"/>
              <a:ext cx="1965951" cy="35328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25000"/>
              </a:schemeClr>
            </a:solidFill>
            <a:ln w="12700" cap="flat">
              <a:noFill/>
              <a:miter lim="400000"/>
            </a:ln>
            <a:effectLst/>
          </p:spPr>
          <p:txBody>
            <a:bodyPr lIns="120130" tIns="60064" rIns="120130" bIns="60064" anchor="ctr"/>
            <a:lstStyle/>
            <a:p>
              <a:pPr algn="ctr"/>
              <a:endParaRPr sz="3155"/>
            </a:p>
          </p:txBody>
        </p:sp>
        <p:sp>
          <p:nvSpPr>
            <p:cNvPr id="16" name="Freeform: Shape 23"/>
            <p:cNvSpPr/>
            <p:nvPr/>
          </p:nvSpPr>
          <p:spPr>
            <a:xfrm>
              <a:off x="-122559" y="2317682"/>
              <a:ext cx="266202" cy="2660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80" h="20595" extrusionOk="0">
                  <a:moveTo>
                    <a:pt x="9827" y="0"/>
                  </a:moveTo>
                  <a:cubicBezTo>
                    <a:pt x="7311" y="0"/>
                    <a:pt x="4799" y="992"/>
                    <a:pt x="2879" y="3002"/>
                  </a:cubicBezTo>
                  <a:cubicBezTo>
                    <a:pt x="-960" y="7022"/>
                    <a:pt x="-960" y="13559"/>
                    <a:pt x="2879" y="17580"/>
                  </a:cubicBezTo>
                  <a:cubicBezTo>
                    <a:pt x="6719" y="21600"/>
                    <a:pt x="12961" y="21600"/>
                    <a:pt x="16801" y="17580"/>
                  </a:cubicBezTo>
                  <a:cubicBezTo>
                    <a:pt x="20640" y="13559"/>
                    <a:pt x="20640" y="7022"/>
                    <a:pt x="16801" y="3002"/>
                  </a:cubicBezTo>
                  <a:cubicBezTo>
                    <a:pt x="14881" y="992"/>
                    <a:pt x="12343" y="0"/>
                    <a:pt x="9827" y="0"/>
                  </a:cubicBezTo>
                  <a:close/>
                  <a:moveTo>
                    <a:pt x="9827" y="3435"/>
                  </a:moveTo>
                  <a:cubicBezTo>
                    <a:pt x="11504" y="3435"/>
                    <a:pt x="13196" y="4096"/>
                    <a:pt x="14476" y="5436"/>
                  </a:cubicBezTo>
                  <a:cubicBezTo>
                    <a:pt x="17036" y="8116"/>
                    <a:pt x="17036" y="12465"/>
                    <a:pt x="14476" y="15146"/>
                  </a:cubicBezTo>
                  <a:cubicBezTo>
                    <a:pt x="11917" y="17826"/>
                    <a:pt x="7763" y="17826"/>
                    <a:pt x="5204" y="15146"/>
                  </a:cubicBezTo>
                  <a:cubicBezTo>
                    <a:pt x="2644" y="12465"/>
                    <a:pt x="2644" y="8116"/>
                    <a:pt x="5204" y="5436"/>
                  </a:cubicBezTo>
                  <a:cubicBezTo>
                    <a:pt x="6484" y="4096"/>
                    <a:pt x="8150" y="3435"/>
                    <a:pt x="9827" y="3435"/>
                  </a:cubicBezTo>
                  <a:close/>
                  <a:moveTo>
                    <a:pt x="9827" y="6870"/>
                  </a:moveTo>
                  <a:cubicBezTo>
                    <a:pt x="8988" y="6870"/>
                    <a:pt x="8168" y="7200"/>
                    <a:pt x="7528" y="7870"/>
                  </a:cubicBezTo>
                  <a:cubicBezTo>
                    <a:pt x="6249" y="9210"/>
                    <a:pt x="6249" y="11371"/>
                    <a:pt x="7528" y="12711"/>
                  </a:cubicBezTo>
                  <a:cubicBezTo>
                    <a:pt x="8808" y="14052"/>
                    <a:pt x="10872" y="14052"/>
                    <a:pt x="12152" y="12711"/>
                  </a:cubicBezTo>
                  <a:cubicBezTo>
                    <a:pt x="13431" y="11371"/>
                    <a:pt x="13431" y="9210"/>
                    <a:pt x="12152" y="7870"/>
                  </a:cubicBezTo>
                  <a:cubicBezTo>
                    <a:pt x="11512" y="7200"/>
                    <a:pt x="10666" y="6870"/>
                    <a:pt x="9827" y="6870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lIns="120130" tIns="60064" rIns="120130" bIns="60064" anchor="ctr"/>
            <a:lstStyle/>
            <a:p>
              <a:pPr algn="ctr"/>
              <a:endParaRPr sz="3155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Box 36"/>
            <p:cNvSpPr txBox="1"/>
            <p:nvPr/>
          </p:nvSpPr>
          <p:spPr>
            <a:xfrm>
              <a:off x="-1070498" y="-228260"/>
              <a:ext cx="1895875" cy="39175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wrap="none">
              <a:noAutofit/>
            </a:bodyPr>
            <a:lstStyle/>
            <a:p>
              <a:pPr algn="ctr"/>
              <a:r>
                <a:rPr lang="zh-CN" altLang="en-US" sz="1315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设定在工作日</a:t>
              </a:r>
            </a:p>
          </p:txBody>
        </p:sp>
        <p:sp>
          <p:nvSpPr>
            <p:cNvPr id="19" name="TextBox 34"/>
            <p:cNvSpPr txBox="1"/>
            <p:nvPr/>
          </p:nvSpPr>
          <p:spPr>
            <a:xfrm>
              <a:off x="3118257" y="3081998"/>
              <a:ext cx="1286292" cy="38147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none">
              <a:noAutofit/>
            </a:bodyPr>
            <a:lstStyle/>
            <a:p>
              <a:pPr algn="ctr"/>
              <a:r>
                <a:rPr lang="zh-CN" altLang="en-US" sz="1315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一至两周一节</a:t>
              </a:r>
            </a:p>
          </p:txBody>
        </p:sp>
        <p:sp>
          <p:nvSpPr>
            <p:cNvPr id="20" name="TextBox 32"/>
            <p:cNvSpPr txBox="1"/>
            <p:nvPr/>
          </p:nvSpPr>
          <p:spPr>
            <a:xfrm>
              <a:off x="4520913" y="-485865"/>
              <a:ext cx="1286292" cy="39175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wrap="none">
              <a:noAutofit/>
            </a:bodyPr>
            <a:lstStyle/>
            <a:p>
              <a:pPr algn="ctr"/>
              <a:r>
                <a:rPr lang="zh-CN" altLang="en-US" sz="1185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期中期末周除外</a:t>
              </a:r>
            </a:p>
          </p:txBody>
        </p:sp>
        <p:sp>
          <p:nvSpPr>
            <p:cNvPr id="21" name="TextBox 30"/>
            <p:cNvSpPr txBox="1"/>
            <p:nvPr/>
          </p:nvSpPr>
          <p:spPr>
            <a:xfrm>
              <a:off x="6504855" y="3081999"/>
              <a:ext cx="1418586" cy="38147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none">
              <a:noAutofit/>
            </a:bodyPr>
            <a:lstStyle/>
            <a:p>
              <a:pPr algn="ctr"/>
              <a:r>
                <a:rPr lang="zh-CN" altLang="en-US" sz="1185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时长约一个小时</a:t>
              </a:r>
            </a:p>
          </p:txBody>
        </p:sp>
      </p:grpSp>
      <p:sp>
        <p:nvSpPr>
          <p:cNvPr id="33" name="Freeform: Shape 19"/>
          <p:cNvSpPr/>
          <p:nvPr/>
        </p:nvSpPr>
        <p:spPr>
          <a:xfrm>
            <a:off x="5342621" y="3148638"/>
            <a:ext cx="237039" cy="236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80" h="20595" extrusionOk="0">
                <a:moveTo>
                  <a:pt x="9827" y="0"/>
                </a:moveTo>
                <a:cubicBezTo>
                  <a:pt x="7311" y="0"/>
                  <a:pt x="4799" y="992"/>
                  <a:pt x="2879" y="3002"/>
                </a:cubicBezTo>
                <a:cubicBezTo>
                  <a:pt x="-960" y="7022"/>
                  <a:pt x="-960" y="13559"/>
                  <a:pt x="2879" y="17580"/>
                </a:cubicBezTo>
                <a:cubicBezTo>
                  <a:pt x="6719" y="21600"/>
                  <a:pt x="12961" y="21600"/>
                  <a:pt x="16801" y="17580"/>
                </a:cubicBezTo>
                <a:cubicBezTo>
                  <a:pt x="20640" y="13559"/>
                  <a:pt x="20640" y="7022"/>
                  <a:pt x="16801" y="3002"/>
                </a:cubicBezTo>
                <a:cubicBezTo>
                  <a:pt x="14881" y="992"/>
                  <a:pt x="12343" y="0"/>
                  <a:pt x="9827" y="0"/>
                </a:cubicBezTo>
                <a:close/>
                <a:moveTo>
                  <a:pt x="9827" y="3435"/>
                </a:moveTo>
                <a:cubicBezTo>
                  <a:pt x="11504" y="3435"/>
                  <a:pt x="13196" y="4096"/>
                  <a:pt x="14476" y="5436"/>
                </a:cubicBezTo>
                <a:cubicBezTo>
                  <a:pt x="17036" y="8116"/>
                  <a:pt x="17036" y="12465"/>
                  <a:pt x="14476" y="15146"/>
                </a:cubicBezTo>
                <a:cubicBezTo>
                  <a:pt x="11917" y="17826"/>
                  <a:pt x="7763" y="17826"/>
                  <a:pt x="5204" y="15146"/>
                </a:cubicBezTo>
                <a:cubicBezTo>
                  <a:pt x="2644" y="12465"/>
                  <a:pt x="2644" y="8116"/>
                  <a:pt x="5204" y="5436"/>
                </a:cubicBezTo>
                <a:cubicBezTo>
                  <a:pt x="6484" y="4096"/>
                  <a:pt x="8150" y="3435"/>
                  <a:pt x="9827" y="3435"/>
                </a:cubicBezTo>
                <a:close/>
                <a:moveTo>
                  <a:pt x="9827" y="6870"/>
                </a:moveTo>
                <a:cubicBezTo>
                  <a:pt x="8988" y="6870"/>
                  <a:pt x="8168" y="7200"/>
                  <a:pt x="7528" y="7870"/>
                </a:cubicBezTo>
                <a:cubicBezTo>
                  <a:pt x="6249" y="9210"/>
                  <a:pt x="6249" y="11371"/>
                  <a:pt x="7528" y="12711"/>
                </a:cubicBezTo>
                <a:cubicBezTo>
                  <a:pt x="8808" y="14052"/>
                  <a:pt x="10872" y="14052"/>
                  <a:pt x="12152" y="12711"/>
                </a:cubicBezTo>
                <a:cubicBezTo>
                  <a:pt x="13431" y="11371"/>
                  <a:pt x="13431" y="9210"/>
                  <a:pt x="12152" y="7870"/>
                </a:cubicBezTo>
                <a:cubicBezTo>
                  <a:pt x="11512" y="7200"/>
                  <a:pt x="10666" y="6870"/>
                  <a:pt x="9827" y="687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lIns="120130" tIns="60064" rIns="120130" bIns="60064" anchor="ctr"/>
          <a:lstStyle/>
          <a:p>
            <a:pPr algn="ctr"/>
            <a:endParaRPr sz="3155" dirty="0"/>
          </a:p>
        </p:txBody>
      </p:sp>
      <p:cxnSp>
        <p:nvCxnSpPr>
          <p:cNvPr id="2" name="直接连接符 1"/>
          <p:cNvCxnSpPr/>
          <p:nvPr/>
        </p:nvCxnSpPr>
        <p:spPr>
          <a:xfrm>
            <a:off x="367901" y="1611236"/>
            <a:ext cx="1136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307912" y="721521"/>
            <a:ext cx="3898824" cy="4967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63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TIME ARRANGEMENT</a:t>
            </a:r>
          </a:p>
        </p:txBody>
      </p:sp>
      <p:sp>
        <p:nvSpPr>
          <p:cNvPr id="35" name="Freeform: Shape 15"/>
          <p:cNvSpPr/>
          <p:nvPr/>
        </p:nvSpPr>
        <p:spPr>
          <a:xfrm>
            <a:off x="7705678" y="3144160"/>
            <a:ext cx="237039" cy="236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80" h="20595" extrusionOk="0">
                <a:moveTo>
                  <a:pt x="9827" y="0"/>
                </a:moveTo>
                <a:cubicBezTo>
                  <a:pt x="7311" y="0"/>
                  <a:pt x="4799" y="992"/>
                  <a:pt x="2879" y="3002"/>
                </a:cubicBezTo>
                <a:cubicBezTo>
                  <a:pt x="-960" y="7022"/>
                  <a:pt x="-960" y="13559"/>
                  <a:pt x="2879" y="17580"/>
                </a:cubicBezTo>
                <a:cubicBezTo>
                  <a:pt x="6719" y="21600"/>
                  <a:pt x="12961" y="21600"/>
                  <a:pt x="16801" y="17580"/>
                </a:cubicBezTo>
                <a:cubicBezTo>
                  <a:pt x="20640" y="13559"/>
                  <a:pt x="20640" y="7022"/>
                  <a:pt x="16801" y="3002"/>
                </a:cubicBezTo>
                <a:cubicBezTo>
                  <a:pt x="14881" y="992"/>
                  <a:pt x="12343" y="0"/>
                  <a:pt x="9827" y="0"/>
                </a:cubicBezTo>
                <a:close/>
                <a:moveTo>
                  <a:pt x="9827" y="3435"/>
                </a:moveTo>
                <a:cubicBezTo>
                  <a:pt x="11504" y="3435"/>
                  <a:pt x="13196" y="4096"/>
                  <a:pt x="14476" y="5436"/>
                </a:cubicBezTo>
                <a:cubicBezTo>
                  <a:pt x="17036" y="8116"/>
                  <a:pt x="17036" y="12465"/>
                  <a:pt x="14476" y="15146"/>
                </a:cubicBezTo>
                <a:cubicBezTo>
                  <a:pt x="11917" y="17826"/>
                  <a:pt x="7763" y="17826"/>
                  <a:pt x="5204" y="15146"/>
                </a:cubicBezTo>
                <a:cubicBezTo>
                  <a:pt x="2644" y="12465"/>
                  <a:pt x="2644" y="8116"/>
                  <a:pt x="5204" y="5436"/>
                </a:cubicBezTo>
                <a:cubicBezTo>
                  <a:pt x="6484" y="4096"/>
                  <a:pt x="8150" y="3435"/>
                  <a:pt x="9827" y="3435"/>
                </a:cubicBezTo>
                <a:close/>
                <a:moveTo>
                  <a:pt x="9827" y="6870"/>
                </a:moveTo>
                <a:cubicBezTo>
                  <a:pt x="8988" y="6870"/>
                  <a:pt x="8168" y="7200"/>
                  <a:pt x="7528" y="7870"/>
                </a:cubicBezTo>
                <a:cubicBezTo>
                  <a:pt x="6249" y="9210"/>
                  <a:pt x="6249" y="11371"/>
                  <a:pt x="7528" y="12711"/>
                </a:cubicBezTo>
                <a:cubicBezTo>
                  <a:pt x="8808" y="14052"/>
                  <a:pt x="10872" y="14052"/>
                  <a:pt x="12152" y="12711"/>
                </a:cubicBezTo>
                <a:cubicBezTo>
                  <a:pt x="13431" y="11371"/>
                  <a:pt x="13431" y="9210"/>
                  <a:pt x="12152" y="7870"/>
                </a:cubicBezTo>
                <a:cubicBezTo>
                  <a:pt x="11512" y="7200"/>
                  <a:pt x="10666" y="6870"/>
                  <a:pt x="9827" y="6870"/>
                </a:cubicBez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lIns="120130" tIns="60064" rIns="120130" bIns="60064" anchor="ctr"/>
          <a:lstStyle/>
          <a:p>
            <a:pPr algn="ctr"/>
            <a:endParaRPr sz="3155" dirty="0"/>
          </a:p>
        </p:txBody>
      </p:sp>
      <p:cxnSp>
        <p:nvCxnSpPr>
          <p:cNvPr id="38" name="MH_Other_1"/>
          <p:cNvCxnSpPr/>
          <p:nvPr>
            <p:custDataLst>
              <p:tags r:id="rId1"/>
            </p:custDataLst>
          </p:nvPr>
        </p:nvCxnSpPr>
        <p:spPr bwMode="auto">
          <a:xfrm>
            <a:off x="3225198" y="2395748"/>
            <a:ext cx="1" cy="1297767"/>
          </a:xfrm>
          <a:prstGeom prst="line">
            <a:avLst/>
          </a:prstGeom>
          <a:gradFill flip="none" rotWithShape="1">
            <a:gsLst>
              <a:gs pos="0">
                <a:srgbClr val="EAEAEA"/>
              </a:gs>
              <a:gs pos="100000">
                <a:srgbClr val="C5C5C5"/>
              </a:gs>
            </a:gsLst>
            <a:path path="circle">
              <a:fillToRect l="50000" t="50000" r="50000" b="50000"/>
            </a:path>
            <a:tileRect/>
          </a:gradFill>
          <a:ln w="9525" cap="rnd">
            <a:solidFill>
              <a:schemeClr val="bg2">
                <a:lumMod val="75000"/>
              </a:schemeClr>
            </a:solidFill>
            <a:prstDash val="dash"/>
            <a:round/>
            <a:tailEnd type="oval" w="med" len="med"/>
          </a:ln>
          <a:effectLst/>
        </p:spPr>
      </p:cxnSp>
      <p:cxnSp>
        <p:nvCxnSpPr>
          <p:cNvPr id="40" name="MH_Other_3"/>
          <p:cNvCxnSpPr/>
          <p:nvPr>
            <p:custDataLst>
              <p:tags r:id="rId2"/>
            </p:custDataLst>
          </p:nvPr>
        </p:nvCxnSpPr>
        <p:spPr bwMode="auto">
          <a:xfrm flipH="1">
            <a:off x="6575207" y="3585954"/>
            <a:ext cx="1" cy="1113713"/>
          </a:xfrm>
          <a:prstGeom prst="line">
            <a:avLst/>
          </a:prstGeom>
          <a:gradFill flip="none" rotWithShape="1">
            <a:gsLst>
              <a:gs pos="0">
                <a:srgbClr val="EAEAEA"/>
              </a:gs>
              <a:gs pos="100000">
                <a:srgbClr val="C5C5C5"/>
              </a:gs>
            </a:gsLst>
            <a:path path="circle">
              <a:fillToRect l="50000" t="50000" r="50000" b="50000"/>
            </a:path>
            <a:tileRect/>
          </a:gradFill>
          <a:ln w="9525" cap="rnd">
            <a:solidFill>
              <a:schemeClr val="bg2">
                <a:lumMod val="75000"/>
              </a:schemeClr>
            </a:solidFill>
            <a:prstDash val="dash"/>
            <a:round/>
            <a:headEnd type="oval"/>
            <a:tailEnd type="none" w="med" len="med"/>
          </a:ln>
          <a:effectLst/>
        </p:spPr>
      </p:cxnSp>
      <p:cxnSp>
        <p:nvCxnSpPr>
          <p:cNvPr id="43" name="MH_Other_1"/>
          <p:cNvCxnSpPr/>
          <p:nvPr>
            <p:custDataLst>
              <p:tags r:id="rId3"/>
            </p:custDataLst>
          </p:nvPr>
        </p:nvCxnSpPr>
        <p:spPr bwMode="auto">
          <a:xfrm>
            <a:off x="7824196" y="1975263"/>
            <a:ext cx="0" cy="1021038"/>
          </a:xfrm>
          <a:prstGeom prst="line">
            <a:avLst/>
          </a:prstGeom>
          <a:gradFill flip="none" rotWithShape="1">
            <a:gsLst>
              <a:gs pos="0">
                <a:srgbClr val="EAEAEA"/>
              </a:gs>
              <a:gs pos="100000">
                <a:srgbClr val="C5C5C5"/>
              </a:gs>
            </a:gsLst>
            <a:path path="circle">
              <a:fillToRect l="50000" t="50000" r="50000" b="50000"/>
            </a:path>
            <a:tileRect/>
          </a:gradFill>
          <a:ln w="9525" cap="rnd">
            <a:solidFill>
              <a:schemeClr val="bg2">
                <a:lumMod val="75000"/>
              </a:schemeClr>
            </a:solidFill>
            <a:prstDash val="dash"/>
            <a:round/>
            <a:tailEnd type="oval" w="med" len="med"/>
          </a:ln>
          <a:effectLst/>
        </p:spPr>
      </p:cxnSp>
      <p:cxnSp>
        <p:nvCxnSpPr>
          <p:cNvPr id="45" name="MH_Other_3"/>
          <p:cNvCxnSpPr/>
          <p:nvPr>
            <p:custDataLst>
              <p:tags r:id="rId4"/>
            </p:custDataLst>
          </p:nvPr>
        </p:nvCxnSpPr>
        <p:spPr bwMode="auto">
          <a:xfrm flipH="1">
            <a:off x="9587268" y="3600856"/>
            <a:ext cx="1" cy="1113713"/>
          </a:xfrm>
          <a:prstGeom prst="line">
            <a:avLst/>
          </a:prstGeom>
          <a:gradFill flip="none" rotWithShape="1">
            <a:gsLst>
              <a:gs pos="0">
                <a:srgbClr val="EAEAEA"/>
              </a:gs>
              <a:gs pos="100000">
                <a:srgbClr val="C5C5C5"/>
              </a:gs>
            </a:gsLst>
            <a:path path="circle">
              <a:fillToRect l="50000" t="50000" r="50000" b="50000"/>
            </a:path>
            <a:tileRect/>
          </a:gradFill>
          <a:ln w="9525" cap="rnd">
            <a:solidFill>
              <a:schemeClr val="bg2">
                <a:lumMod val="75000"/>
              </a:schemeClr>
            </a:solidFill>
            <a:prstDash val="dash"/>
            <a:round/>
            <a:headEnd type="oval"/>
            <a:tailEnd type="none" w="med" len="med"/>
          </a:ln>
          <a:effectLst/>
        </p:spPr>
      </p:cxnSp>
    </p:spTree>
  </p:cSld>
  <p:clrMapOvr>
    <a:masterClrMapping/>
  </p:clrMapOvr>
  <p:transition spd="slow" advClick="0" advTm="2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377939" y="2524464"/>
            <a:ext cx="11177595" cy="2706954"/>
          </a:xfrm>
          <a:prstGeom prst="flowChartProcess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78" r="18778"/>
          <a:stretch>
            <a:fillRect/>
          </a:stretch>
        </p:blipFill>
        <p:spPr>
          <a:xfrm flipH="1">
            <a:off x="636465" y="2166341"/>
            <a:ext cx="3981680" cy="293506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矩形 2"/>
          <p:cNvSpPr/>
          <p:nvPr/>
        </p:nvSpPr>
        <p:spPr>
          <a:xfrm>
            <a:off x="7136049" y="3950493"/>
            <a:ext cx="1495217" cy="3350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157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INTRO TO IES</a:t>
            </a:r>
          </a:p>
        </p:txBody>
      </p:sp>
      <p:sp>
        <p:nvSpPr>
          <p:cNvPr id="4" name="TextBox 76"/>
          <p:cNvSpPr txBox="1"/>
          <p:nvPr/>
        </p:nvSpPr>
        <p:spPr>
          <a:xfrm>
            <a:off x="5795028" y="3134854"/>
            <a:ext cx="4177259" cy="739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205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课程简介</a:t>
            </a:r>
          </a:p>
        </p:txBody>
      </p:sp>
      <p:sp>
        <p:nvSpPr>
          <p:cNvPr id="6" name="TextBox 37"/>
          <p:cNvSpPr txBox="1"/>
          <p:nvPr/>
        </p:nvSpPr>
        <p:spPr>
          <a:xfrm>
            <a:off x="3529555" y="3252941"/>
            <a:ext cx="646373" cy="69755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lang="en-US" altLang="zh-CN" sz="6305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</a:p>
        </p:txBody>
      </p:sp>
    </p:spTree>
  </p:cSld>
  <p:clrMapOvr>
    <a:masterClrMapping/>
  </p:clrMapOvr>
  <p:transition spd="slow" advClick="0" advTm="2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2807599" y="398479"/>
            <a:ext cx="2155466" cy="273023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17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BLUE CHIP STOCK</a:t>
            </a:r>
            <a:endParaRPr lang="en-US" sz="1775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1" name="图片占位符 10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0" r="9670"/>
          <a:stretch>
            <a:fillRect/>
          </a:stretch>
        </p:blipFill>
        <p:spPr/>
      </p:pic>
      <p:pic>
        <p:nvPicPr>
          <p:cNvPr id="9" name="图片占位符 8"/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51" r="14151"/>
          <a:stretch>
            <a:fillRect/>
          </a:stretch>
        </p:blipFill>
        <p:spPr/>
      </p:pic>
      <p:pic>
        <p:nvPicPr>
          <p:cNvPr id="3" name="图片占位符 2"/>
          <p:cNvPicPr>
            <a:picLocks noGrp="1" noChangeAspect="1"/>
          </p:cNvPicPr>
          <p:nvPr>
            <p:ph type="pic" sz="quarter" idx="1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0" r="9670"/>
          <a:stretch>
            <a:fillRect/>
          </a:stretch>
        </p:blipFill>
        <p:spPr/>
      </p:pic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51" r="14151"/>
          <a:stretch>
            <a:fillRect/>
          </a:stretch>
        </p:blipFill>
        <p:spPr/>
      </p:pic>
      <p:pic>
        <p:nvPicPr>
          <p:cNvPr id="7" name="图片占位符 6"/>
          <p:cNvPicPr>
            <a:picLocks noGrp="1" noChangeAspect="1"/>
          </p:cNvPicPr>
          <p:nvPr>
            <p:ph type="pic" sz="quarter" idx="14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4" r="14044"/>
          <a:stretch>
            <a:fillRect/>
          </a:stretch>
        </p:blipFill>
        <p:spPr/>
      </p:pic>
      <p:sp>
        <p:nvSpPr>
          <p:cNvPr id="2" name="TextBox 16"/>
          <p:cNvSpPr txBox="1"/>
          <p:nvPr/>
        </p:nvSpPr>
        <p:spPr>
          <a:xfrm>
            <a:off x="3885332" y="761581"/>
            <a:ext cx="1939036" cy="424732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13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EARNINGS PER SHARE</a:t>
            </a:r>
            <a:endParaRPr lang="en-US" sz="138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16"/>
          <p:cNvSpPr txBox="1"/>
          <p:nvPr/>
        </p:nvSpPr>
        <p:spPr>
          <a:xfrm>
            <a:off x="2915814" y="846665"/>
            <a:ext cx="1939036" cy="424603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276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ETF</a:t>
            </a:r>
            <a:endParaRPr lang="en-US" sz="276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16"/>
          <p:cNvSpPr txBox="1"/>
          <p:nvPr/>
        </p:nvSpPr>
        <p:spPr>
          <a:xfrm>
            <a:off x="3290847" y="1339144"/>
            <a:ext cx="2368451" cy="424603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276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DJI INDEX</a:t>
            </a:r>
            <a:endParaRPr lang="en-US" sz="276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16"/>
          <p:cNvSpPr txBox="1"/>
          <p:nvPr/>
        </p:nvSpPr>
        <p:spPr>
          <a:xfrm>
            <a:off x="6258690" y="300994"/>
            <a:ext cx="2155466" cy="273023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17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SHORT SELLING</a:t>
            </a:r>
            <a:endParaRPr lang="en-US" sz="1775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Box 16"/>
          <p:cNvSpPr txBox="1"/>
          <p:nvPr/>
        </p:nvSpPr>
        <p:spPr>
          <a:xfrm>
            <a:off x="7930132" y="604037"/>
            <a:ext cx="1939036" cy="485389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15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STOCK EXCHANGE</a:t>
            </a:r>
            <a:endParaRPr lang="en-US" sz="1575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Box 16"/>
          <p:cNvSpPr txBox="1"/>
          <p:nvPr/>
        </p:nvSpPr>
        <p:spPr>
          <a:xfrm>
            <a:off x="6780938" y="1044145"/>
            <a:ext cx="2368451" cy="424603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276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SPX 500</a:t>
            </a:r>
            <a:endParaRPr lang="en-US" sz="276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Box 16"/>
          <p:cNvSpPr txBox="1"/>
          <p:nvPr/>
        </p:nvSpPr>
        <p:spPr>
          <a:xfrm>
            <a:off x="7272700" y="1517489"/>
            <a:ext cx="1939036" cy="363946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2365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BROKER</a:t>
            </a:r>
            <a:endParaRPr lang="en-US" sz="2365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3398327" y="6002253"/>
            <a:ext cx="2260971" cy="273023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17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PRIMARY MARKET</a:t>
            </a:r>
            <a:endParaRPr lang="en-US" sz="1775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TextBox 16"/>
          <p:cNvSpPr txBox="1"/>
          <p:nvPr/>
        </p:nvSpPr>
        <p:spPr>
          <a:xfrm>
            <a:off x="5753174" y="6283242"/>
            <a:ext cx="3566661" cy="363946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2365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SECONDARY MARKET</a:t>
            </a:r>
            <a:endParaRPr lang="en-US" sz="2365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16"/>
          <p:cNvSpPr txBox="1"/>
          <p:nvPr/>
        </p:nvSpPr>
        <p:spPr>
          <a:xfrm>
            <a:off x="5381038" y="5707707"/>
            <a:ext cx="2155466" cy="212366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13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VALUE INVESTING</a:t>
            </a:r>
            <a:endParaRPr lang="en-US" sz="138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TextBox 16"/>
          <p:cNvSpPr txBox="1"/>
          <p:nvPr/>
        </p:nvSpPr>
        <p:spPr>
          <a:xfrm>
            <a:off x="7154408" y="5897407"/>
            <a:ext cx="2155466" cy="182038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1185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DIVIDEND</a:t>
            </a:r>
            <a:endParaRPr lang="en-US" sz="1185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Box 16"/>
          <p:cNvSpPr txBox="1"/>
          <p:nvPr/>
        </p:nvSpPr>
        <p:spPr>
          <a:xfrm>
            <a:off x="4581565" y="5320598"/>
            <a:ext cx="2155466" cy="212366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13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FOREX TRADING</a:t>
            </a:r>
            <a:endParaRPr lang="en-US" sz="138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Box 16"/>
          <p:cNvSpPr txBox="1"/>
          <p:nvPr/>
        </p:nvSpPr>
        <p:spPr>
          <a:xfrm>
            <a:off x="6315399" y="5067592"/>
            <a:ext cx="1468992" cy="485389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15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RISK TOLERANCE</a:t>
            </a:r>
            <a:endParaRPr lang="en-US" sz="1575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Box 16"/>
          <p:cNvSpPr txBox="1"/>
          <p:nvPr/>
        </p:nvSpPr>
        <p:spPr>
          <a:xfrm>
            <a:off x="5386116" y="4626224"/>
            <a:ext cx="1939036" cy="364074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1185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MOMENTUM INVESTING</a:t>
            </a:r>
            <a:endParaRPr lang="en-US" sz="1185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TextBox 16"/>
          <p:cNvSpPr txBox="1"/>
          <p:nvPr/>
        </p:nvSpPr>
        <p:spPr>
          <a:xfrm>
            <a:off x="98828" y="4428959"/>
            <a:ext cx="2816988" cy="363946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2365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DIVERSIFICATION</a:t>
            </a:r>
            <a:endParaRPr lang="en-US" sz="2365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Box 16"/>
          <p:cNvSpPr txBox="1"/>
          <p:nvPr/>
        </p:nvSpPr>
        <p:spPr>
          <a:xfrm>
            <a:off x="1882353" y="5067592"/>
            <a:ext cx="2816988" cy="303288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197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PORTFOLIO</a:t>
            </a:r>
            <a:endParaRPr lang="en-US" sz="197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TextBox 16"/>
          <p:cNvSpPr txBox="1"/>
          <p:nvPr/>
        </p:nvSpPr>
        <p:spPr>
          <a:xfrm>
            <a:off x="345953" y="5543170"/>
            <a:ext cx="2816988" cy="727892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473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CAPM</a:t>
            </a:r>
            <a:endParaRPr lang="en-US" sz="473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TextBox 16"/>
          <p:cNvSpPr txBox="1"/>
          <p:nvPr/>
        </p:nvSpPr>
        <p:spPr>
          <a:xfrm>
            <a:off x="2104661" y="6182874"/>
            <a:ext cx="2816988" cy="424603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276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ATP</a:t>
            </a:r>
            <a:endParaRPr lang="en-US" sz="276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TextBox 16"/>
          <p:cNvSpPr txBox="1"/>
          <p:nvPr/>
        </p:nvSpPr>
        <p:spPr>
          <a:xfrm>
            <a:off x="10423786" y="3943705"/>
            <a:ext cx="2260971" cy="485389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15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FAMA-FRENCH STRATEGY</a:t>
            </a:r>
            <a:endParaRPr lang="en-US" sz="1575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TextBox 16"/>
          <p:cNvSpPr txBox="1"/>
          <p:nvPr/>
        </p:nvSpPr>
        <p:spPr>
          <a:xfrm>
            <a:off x="10801932" y="4951241"/>
            <a:ext cx="2260971" cy="303288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197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VENTURE</a:t>
            </a:r>
            <a:endParaRPr lang="en-US" sz="197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TextBox 16"/>
          <p:cNvSpPr txBox="1"/>
          <p:nvPr/>
        </p:nvSpPr>
        <p:spPr>
          <a:xfrm>
            <a:off x="9319834" y="4588812"/>
            <a:ext cx="2260971" cy="212366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13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PRIVATE EQUITY</a:t>
            </a:r>
            <a:endParaRPr lang="en-US" sz="138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TextBox 16"/>
          <p:cNvSpPr txBox="1"/>
          <p:nvPr/>
        </p:nvSpPr>
        <p:spPr>
          <a:xfrm>
            <a:off x="8899650" y="5254525"/>
            <a:ext cx="2260971" cy="242695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15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ALPHA 101</a:t>
            </a:r>
            <a:endParaRPr lang="en-US" sz="1575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TextBox 16"/>
          <p:cNvSpPr txBox="1"/>
          <p:nvPr/>
        </p:nvSpPr>
        <p:spPr>
          <a:xfrm>
            <a:off x="9105917" y="5730994"/>
            <a:ext cx="2816988" cy="363946"/>
          </a:xfrm>
          <a:prstGeom prst="rect">
            <a:avLst/>
          </a:prstGeom>
          <a:noFill/>
        </p:spPr>
        <p:txBody>
          <a:bodyPr wrap="square" lIns="90105" tIns="0" rIns="90105" bIns="0" rtlCol="0">
            <a:spAutoFit/>
          </a:bodyPr>
          <a:lstStyle/>
          <a:p>
            <a:r>
              <a:rPr lang="id-ID" sz="2365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MUTUAL FUND</a:t>
            </a:r>
            <a:endParaRPr lang="en-US" sz="2365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prism isInverted="1"/>
      </p:transition>
    </mc:Choice>
    <mc:Fallback xmlns="">
      <p:transition spd="slow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377939" y="2524464"/>
            <a:ext cx="11177595" cy="2706954"/>
          </a:xfrm>
          <a:prstGeom prst="flowChartProcess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3" r="14053"/>
          <a:stretch>
            <a:fillRect/>
          </a:stretch>
        </p:blipFill>
        <p:spPr>
          <a:xfrm flipH="1">
            <a:off x="544696" y="2081739"/>
            <a:ext cx="4443115" cy="289993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矩形 2"/>
          <p:cNvSpPr/>
          <p:nvPr/>
        </p:nvSpPr>
        <p:spPr>
          <a:xfrm>
            <a:off x="7098448" y="3950493"/>
            <a:ext cx="1507016" cy="3350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57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FRAMEWORK</a:t>
            </a:r>
          </a:p>
        </p:txBody>
      </p:sp>
      <p:sp>
        <p:nvSpPr>
          <p:cNvPr id="4" name="TextBox 76"/>
          <p:cNvSpPr txBox="1"/>
          <p:nvPr/>
        </p:nvSpPr>
        <p:spPr>
          <a:xfrm>
            <a:off x="5795028" y="3134854"/>
            <a:ext cx="4177259" cy="739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205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具体框架</a:t>
            </a:r>
          </a:p>
        </p:txBody>
      </p:sp>
      <p:sp>
        <p:nvSpPr>
          <p:cNvPr id="6" name="TextBox 37"/>
          <p:cNvSpPr txBox="1"/>
          <p:nvPr/>
        </p:nvSpPr>
        <p:spPr>
          <a:xfrm>
            <a:off x="3529555" y="3252941"/>
            <a:ext cx="646373" cy="69755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lang="en-US" altLang="zh-CN" sz="6305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</a:p>
        </p:txBody>
      </p:sp>
    </p:spTree>
  </p:cSld>
  <p:clrMapOvr>
    <a:masterClrMapping/>
  </p:clrMapOvr>
  <p:transition spd="slow" advClick="0" advTm="2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64670" y="389871"/>
            <a:ext cx="2978957" cy="5775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3155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FRAMEWORK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15956" y="1165889"/>
            <a:ext cx="1136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3787054" y="1406732"/>
            <a:ext cx="4617886" cy="4619555"/>
            <a:chOff x="4006134" y="1339134"/>
            <a:chExt cx="4178224" cy="4179733"/>
          </a:xfrm>
        </p:grpSpPr>
        <p:sp>
          <p:nvSpPr>
            <p:cNvPr id="6" name="矩形 5"/>
            <p:cNvSpPr/>
            <p:nvPr/>
          </p:nvSpPr>
          <p:spPr bwMode="auto">
            <a:xfrm rot="2700000">
              <a:off x="5548008" y="2065980"/>
              <a:ext cx="2122392" cy="66869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 sz="2365" dirty="0">
                <a:cs typeface="+mn-ea"/>
                <a:sym typeface="+mn-lt"/>
              </a:endParaRPr>
            </a:p>
          </p:txBody>
        </p:sp>
        <p:sp>
          <p:nvSpPr>
            <p:cNvPr id="7" name="矩形 6"/>
            <p:cNvSpPr/>
            <p:nvPr/>
          </p:nvSpPr>
          <p:spPr bwMode="auto">
            <a:xfrm rot="8100000">
              <a:off x="6061966" y="3607854"/>
              <a:ext cx="2122392" cy="66869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 sz="2365" dirty="0"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 rot="2700000">
              <a:off x="4521600" y="4123321"/>
              <a:ext cx="2122392" cy="66869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 sz="2365">
                <a:cs typeface="+mn-ea"/>
                <a:sym typeface="+mn-lt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 rot="8100000">
              <a:off x="4006134" y="2579938"/>
              <a:ext cx="2122392" cy="66869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 sz="2365" dirty="0">
                <a:cs typeface="+mn-ea"/>
                <a:sym typeface="+mn-lt"/>
              </a:endParaRPr>
            </a:p>
          </p:txBody>
        </p:sp>
        <p:sp>
          <p:nvSpPr>
            <p:cNvPr id="10" name="箭头: 五边形 9"/>
            <p:cNvSpPr/>
            <p:nvPr/>
          </p:nvSpPr>
          <p:spPr bwMode="auto">
            <a:xfrm rot="2700000">
              <a:off x="4026193" y="3428887"/>
              <a:ext cx="1548000" cy="504056"/>
            </a:xfrm>
            <a:prstGeom prst="homePlate">
              <a:avLst/>
            </a:prstGeom>
            <a:solidFill>
              <a:schemeClr val="bg1"/>
            </a:solidFill>
            <a:ln w="19050">
              <a:noFill/>
              <a:round/>
            </a:ln>
          </p:spPr>
          <p:txBody>
            <a:bodyPr vert="horz" wrap="none" lIns="120140" tIns="60070" rIns="120140" bIns="60070" anchor="ctr" anchorCtr="1" compatLnSpc="1">
              <a:normAutofit/>
            </a:bodyPr>
            <a:lstStyle/>
            <a:p>
              <a:pPr algn="ctr"/>
              <a:r>
                <a:rPr lang="en-US" altLang="zh-CN" sz="1315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STRATEGIES</a:t>
              </a:r>
              <a:endParaRPr lang="zh-CN" altLang="en-US" sz="13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" name="箭头: 五边形 10"/>
            <p:cNvSpPr/>
            <p:nvPr/>
          </p:nvSpPr>
          <p:spPr bwMode="auto">
            <a:xfrm rot="18900000" flipH="1">
              <a:off x="5072948" y="1885503"/>
              <a:ext cx="1548000" cy="504056"/>
            </a:xfrm>
            <a:prstGeom prst="homePlate">
              <a:avLst/>
            </a:prstGeom>
            <a:solidFill>
              <a:schemeClr val="bg1"/>
            </a:solidFill>
            <a:ln w="19050">
              <a:noFill/>
              <a:round/>
            </a:ln>
          </p:spPr>
          <p:txBody>
            <a:bodyPr vert="horz" wrap="none" lIns="120140" tIns="60070" rIns="120140" bIns="60070" anchor="ctr" anchorCtr="1" compatLnSpc="1">
              <a:normAutofit/>
            </a:bodyPr>
            <a:lstStyle/>
            <a:p>
              <a:pPr algn="ctr"/>
              <a:r>
                <a:rPr lang="en-US" altLang="zh-CN" sz="1315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FINANCIAL ASSET</a:t>
              </a:r>
              <a:endParaRPr lang="zh-CN" altLang="en-US" sz="13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6925120" y="2396420"/>
              <a:ext cx="987870" cy="1548000"/>
              <a:chOff x="6925120" y="2396420"/>
              <a:chExt cx="987870" cy="1548000"/>
            </a:xfrm>
          </p:grpSpPr>
          <p:sp>
            <p:nvSpPr>
              <p:cNvPr id="20" name="箭头: 五边形 19"/>
              <p:cNvSpPr/>
              <p:nvPr/>
            </p:nvSpPr>
            <p:spPr bwMode="auto">
              <a:xfrm rot="2700000" flipH="1" flipV="1">
                <a:off x="6616480" y="2918392"/>
                <a:ext cx="1548000" cy="504056"/>
              </a:xfrm>
              <a:prstGeom prst="homePlate">
                <a:avLst/>
              </a:prstGeom>
              <a:solidFill>
                <a:schemeClr val="bg1"/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  <a:endParaRPr sz="2365">
                  <a:cs typeface="+mn-ea"/>
                  <a:sym typeface="+mn-lt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 rot="2691505">
                <a:off x="6925120" y="3086634"/>
                <a:ext cx="987870" cy="246968"/>
              </a:xfrm>
              <a:prstGeom prst="rect">
                <a:avLst/>
              </a:prstGeom>
            </p:spPr>
            <p:txBody>
              <a:bodyPr wrap="none">
                <a:noAutofit/>
              </a:bodyPr>
              <a:lstStyle/>
              <a:p>
                <a:pPr lvl="0" algn="ctr"/>
                <a:r>
                  <a:rPr lang="en-US" altLang="zh-CN" sz="1315" b="1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CAREER GUIDANCE</a:t>
                </a:r>
                <a:endParaRPr lang="zh-CN" altLang="en-US" sz="1315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5570338" y="4465421"/>
              <a:ext cx="1548000" cy="504056"/>
              <a:chOff x="5570338" y="4465421"/>
              <a:chExt cx="1548000" cy="504056"/>
            </a:xfrm>
          </p:grpSpPr>
          <p:sp>
            <p:nvSpPr>
              <p:cNvPr id="18" name="箭头: 五边形 17"/>
              <p:cNvSpPr/>
              <p:nvPr/>
            </p:nvSpPr>
            <p:spPr bwMode="auto">
              <a:xfrm rot="18900000" flipV="1">
                <a:off x="5570338" y="4465421"/>
                <a:ext cx="1548000" cy="504056"/>
              </a:xfrm>
              <a:prstGeom prst="homePlate">
                <a:avLst/>
              </a:prstGeom>
              <a:solidFill>
                <a:schemeClr val="bg1"/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  <a:endParaRPr sz="2365">
                  <a:cs typeface="+mn-ea"/>
                  <a:sym typeface="+mn-lt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 rot="18900007">
                <a:off x="5793252" y="4660642"/>
                <a:ext cx="987870" cy="246967"/>
              </a:xfrm>
              <a:prstGeom prst="rect">
                <a:avLst/>
              </a:prstGeom>
            </p:spPr>
            <p:txBody>
              <a:bodyPr wrap="none">
                <a:noAutofit/>
              </a:bodyPr>
              <a:lstStyle/>
              <a:p>
                <a:pPr lvl="0" algn="ctr"/>
                <a:r>
                  <a:rPr lang="en-US" altLang="zh-CN" sz="1315" b="1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PRIMARY MARKET</a:t>
                </a:r>
                <a:endParaRPr lang="zh-CN" altLang="en-US" sz="1315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4" name="矩形 13"/>
            <p:cNvSpPr/>
            <p:nvPr/>
          </p:nvSpPr>
          <p:spPr>
            <a:xfrm>
              <a:off x="4761531" y="2704324"/>
              <a:ext cx="517266" cy="51726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60145" tIns="160145" rIns="160145" bIns="160145" anchor="ctr">
              <a:normAutofit fontScale="62500" lnSpcReduction="20000"/>
            </a:bodyPr>
            <a:lstStyle/>
            <a:p>
              <a:pPr algn="ctr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155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6341506" y="2138273"/>
              <a:ext cx="517266" cy="517266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378394" tIns="120109" rIns="240217" bIns="120109" anchor="ctr" anchorCtr="0" compatLnSpc="1">
              <a:normAutofit fontScale="77500" lnSpcReduction="20000"/>
            </a:bodyPr>
            <a:lstStyle/>
            <a:p>
              <a:pPr algn="ctr" defTabSz="2402205"/>
              <a:r>
                <a:rPr lang="en-GB" sz="3155" kern="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6864410" y="3654446"/>
              <a:ext cx="517504" cy="5175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60145" tIns="160145" rIns="160145" bIns="160145" anchor="ctr">
              <a:normAutofit fontScale="62500" lnSpcReduction="20000"/>
            </a:bodyPr>
            <a:lstStyle/>
            <a:p>
              <a:pPr algn="ctr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155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5324044" y="4247143"/>
              <a:ext cx="517504" cy="5175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160145" tIns="160145" rIns="160145" bIns="160145" anchor="ctr">
              <a:normAutofit fontScale="62500" lnSpcReduction="20000"/>
            </a:bodyPr>
            <a:lstStyle/>
            <a:p>
              <a:pPr algn="ctr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155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87053" y="2047299"/>
            <a:ext cx="10417895" cy="3373631"/>
            <a:chOff x="809883" y="1754674"/>
            <a:chExt cx="10572234" cy="3423610"/>
          </a:xfrm>
        </p:grpSpPr>
        <p:sp>
          <p:nvSpPr>
            <p:cNvPr id="23" name="矩形: 圆角 22"/>
            <p:cNvSpPr/>
            <p:nvPr/>
          </p:nvSpPr>
          <p:spPr>
            <a:xfrm>
              <a:off x="809883" y="1754674"/>
              <a:ext cx="721040" cy="72104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92500"/>
            </a:bodyPr>
            <a:lstStyle/>
            <a:p>
              <a:pPr algn="ctr"/>
              <a:r>
                <a:rPr lang="en-US" sz="3680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24" name="矩形: 圆角 23"/>
            <p:cNvSpPr/>
            <p:nvPr/>
          </p:nvSpPr>
          <p:spPr>
            <a:xfrm>
              <a:off x="809883" y="4457244"/>
              <a:ext cx="721040" cy="72104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92500"/>
            </a:bodyPr>
            <a:lstStyle/>
            <a:p>
              <a:pPr algn="ctr"/>
              <a:r>
                <a:rPr lang="en-US" sz="368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25" name="矩形: 圆角 24"/>
            <p:cNvSpPr/>
            <p:nvPr/>
          </p:nvSpPr>
          <p:spPr>
            <a:xfrm flipH="1">
              <a:off x="10661077" y="1754674"/>
              <a:ext cx="721040" cy="72104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92500"/>
            </a:bodyPr>
            <a:lstStyle/>
            <a:p>
              <a:pPr algn="ctr"/>
              <a:r>
                <a:rPr lang="en-US" sz="368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26" name="矩形: 圆角 25"/>
            <p:cNvSpPr/>
            <p:nvPr/>
          </p:nvSpPr>
          <p:spPr>
            <a:xfrm flipH="1">
              <a:off x="10661077" y="4457244"/>
              <a:ext cx="721040" cy="72104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92500"/>
            </a:bodyPr>
            <a:lstStyle/>
            <a:p>
              <a:pPr algn="ctr"/>
              <a:r>
                <a:rPr lang="en-US" sz="368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</a:p>
          </p:txBody>
        </p:sp>
      </p:grp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1971652" y="2168265"/>
            <a:ext cx="1647928" cy="56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5"/>
              </a:spcBef>
            </a:pPr>
            <a:r>
              <a:rPr lang="zh-CN" altLang="en-US" sz="1575" b="1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金融市场和资产的分类</a:t>
            </a:r>
            <a:endParaRPr lang="zh-CN" altLang="en-US" sz="1575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" name="Rectangle 24"/>
          <p:cNvSpPr>
            <a:spLocks noChangeArrowheads="1"/>
          </p:cNvSpPr>
          <p:nvPr/>
        </p:nvSpPr>
        <p:spPr bwMode="auto">
          <a:xfrm>
            <a:off x="8489510" y="2166305"/>
            <a:ext cx="1647928" cy="56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5"/>
              </a:spcBef>
            </a:pPr>
            <a:r>
              <a:rPr lang="zh-CN" altLang="en-US" sz="1575" b="1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一级市场投研、行为经济学等小专题</a:t>
            </a:r>
            <a:endParaRPr lang="zh-CN" altLang="en-US" sz="1575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Rectangle 24"/>
          <p:cNvSpPr>
            <a:spLocks noChangeArrowheads="1"/>
          </p:cNvSpPr>
          <p:nvPr/>
        </p:nvSpPr>
        <p:spPr bwMode="auto">
          <a:xfrm>
            <a:off x="8620909" y="4937815"/>
            <a:ext cx="1647928" cy="271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5"/>
              </a:spcBef>
            </a:pPr>
            <a:r>
              <a:rPr lang="zh-CN" altLang="en-US" sz="1575" b="1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职业分享</a:t>
            </a:r>
            <a:endParaRPr lang="zh-CN" altLang="en-US" sz="1575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4" name="Rectangle 24"/>
          <p:cNvSpPr>
            <a:spLocks noChangeArrowheads="1"/>
          </p:cNvSpPr>
          <p:nvPr/>
        </p:nvSpPr>
        <p:spPr bwMode="auto">
          <a:xfrm>
            <a:off x="1839009" y="4853424"/>
            <a:ext cx="2023805" cy="271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95"/>
              </a:spcBef>
            </a:pPr>
            <a:r>
              <a:rPr lang="zh-CN" altLang="en-US" sz="1575" b="1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投资经历与见解分享</a:t>
            </a:r>
            <a:endParaRPr lang="zh-CN" altLang="en-US" sz="1575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  <p:transition spd="slow" advClick="0" advTm="2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2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377939" y="2524464"/>
            <a:ext cx="11177595" cy="2706954"/>
          </a:xfrm>
          <a:prstGeom prst="flowChartProcess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972" b="972"/>
          <a:stretch>
            <a:fillRect/>
          </a:stretch>
        </p:blipFill>
        <p:spPr>
          <a:xfrm flipH="1">
            <a:off x="544696" y="2081739"/>
            <a:ext cx="4443115" cy="289993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矩形 2"/>
          <p:cNvSpPr/>
          <p:nvPr/>
        </p:nvSpPr>
        <p:spPr>
          <a:xfrm>
            <a:off x="7478714" y="3874159"/>
            <a:ext cx="1914307" cy="3350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57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Thematic</a:t>
            </a:r>
            <a:r>
              <a:rPr lang="zh-CN" altLang="en-US" sz="157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57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Analysis</a:t>
            </a:r>
          </a:p>
        </p:txBody>
      </p:sp>
      <p:sp>
        <p:nvSpPr>
          <p:cNvPr id="4" name="TextBox 76"/>
          <p:cNvSpPr txBox="1"/>
          <p:nvPr/>
        </p:nvSpPr>
        <p:spPr>
          <a:xfrm>
            <a:off x="5795028" y="3134854"/>
            <a:ext cx="5281681" cy="739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205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关于</a:t>
            </a:r>
            <a:r>
              <a:rPr lang="en-US" altLang="zh-CN" sz="4205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4205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股</a:t>
            </a:r>
          </a:p>
        </p:txBody>
      </p:sp>
      <p:sp>
        <p:nvSpPr>
          <p:cNvPr id="6" name="TextBox 37"/>
          <p:cNvSpPr txBox="1"/>
          <p:nvPr/>
        </p:nvSpPr>
        <p:spPr>
          <a:xfrm>
            <a:off x="3529555" y="3252941"/>
            <a:ext cx="646373" cy="69755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lang="en-US" altLang="zh-CN" sz="6305" dirty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</a:p>
        </p:txBody>
      </p:sp>
    </p:spTree>
  </p:cSld>
  <p:clrMapOvr>
    <a:masterClrMapping/>
  </p:clrMapOvr>
  <p:transition spd="slow" advClick="0" advTm="2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7305260" y="1350934"/>
            <a:ext cx="4331412" cy="51571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tangle 26"/>
          <p:cNvSpPr/>
          <p:nvPr/>
        </p:nvSpPr>
        <p:spPr>
          <a:xfrm>
            <a:off x="461391" y="1336880"/>
            <a:ext cx="6599623" cy="5185299"/>
          </a:xfrm>
          <a:prstGeom prst="rect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955" y="163408"/>
            <a:ext cx="11283237" cy="886506"/>
          </a:xfrm>
        </p:spPr>
        <p:txBody>
          <a:bodyPr>
            <a:normAutofit fontScale="90000"/>
          </a:bodyPr>
          <a:lstStyle/>
          <a:p>
            <a:r>
              <a:rPr kumimoji="1" lang="zh-CN" altLang="en-US" sz="5385" b="1" dirty="0">
                <a:latin typeface="+mn-lt"/>
                <a:ea typeface="+mn-ea"/>
                <a:cs typeface="+mn-cs"/>
              </a:rPr>
              <a:t>如果要将薯条比作搞钱，那么码头是什么？</a:t>
            </a:r>
            <a:endParaRPr kumimoji="1" lang="en-US" sz="5385" b="1" dirty="0">
              <a:latin typeface="+mn-lt"/>
              <a:ea typeface="+mn-ea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92808" y="1020308"/>
            <a:ext cx="10515600" cy="419100"/>
          </a:xfrm>
        </p:spPr>
        <p:txBody>
          <a:bodyPr/>
          <a:lstStyle/>
          <a:p>
            <a:r>
              <a:rPr lang="en-US" altLang="zh-CN" dirty="0">
                <a:effectLst/>
              </a:rPr>
              <a:t>If fries were to be compared to making money, what is a dock?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653" y="1773307"/>
            <a:ext cx="3546773" cy="1383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是选择，是风口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-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于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股而言是市场的题材与概念</a:t>
            </a:r>
          </a:p>
        </p:txBody>
      </p:sp>
      <p:pic>
        <p:nvPicPr>
          <p:cNvPr id="5" name="图片 4" descr="微信图片_202409200953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28" y="1421876"/>
            <a:ext cx="6411748" cy="5015317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415956" y="1165889"/>
            <a:ext cx="1136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815" y="3700725"/>
            <a:ext cx="4164301" cy="2600491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9983" y="4445147"/>
            <a:ext cx="2797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风口</a:t>
            </a:r>
            <a:endParaRPr lang="en-US" altLang="zh-CN" sz="3600" dirty="0"/>
          </a:p>
          <a:p>
            <a:r>
              <a:rPr lang="zh-CN" altLang="en-US" sz="3600" dirty="0"/>
              <a:t>制造机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471176" y="769373"/>
            <a:ext cx="23767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那</a:t>
            </a:r>
            <a:r>
              <a:rPr lang="en-US" altLang="zh-CN" sz="3600" dirty="0"/>
              <a:t>A</a:t>
            </a:r>
            <a:r>
              <a:rPr lang="zh-CN" altLang="en-US" sz="3600" dirty="0"/>
              <a:t>股的有魅力点在哪里？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73947" y="3541943"/>
            <a:ext cx="1660088" cy="759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59983" y="2675005"/>
            <a:ext cx="1822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effectLst/>
              </a:rPr>
              <a:t>What is the charm of A-shares?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203" y="546578"/>
            <a:ext cx="4188883" cy="279096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860" y="3395748"/>
            <a:ext cx="4188883" cy="292973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545" y="546578"/>
            <a:ext cx="4167408" cy="276948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2545" y="3384191"/>
            <a:ext cx="4188882" cy="3000375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3867462" y="2413416"/>
            <a:ext cx="9959714" cy="16201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dirty="0">
                <a:solidFill>
                  <a:schemeClr val="accent1"/>
                </a:solidFill>
                <a:latin typeface="+mj-ea"/>
                <a:sym typeface="+mn-ea"/>
              </a:rPr>
              <a:t>思考下个问题：</a:t>
            </a:r>
            <a:endParaRPr lang="en-US" altLang="zh-CN" sz="7200" b="1" dirty="0">
              <a:solidFill>
                <a:schemeClr val="accent1"/>
              </a:solidFill>
              <a:latin typeface="+mj-ea"/>
              <a:sym typeface="+mn-ea"/>
            </a:endParaRPr>
          </a:p>
          <a:p>
            <a:r>
              <a:rPr lang="zh-CN" altLang="en-US" sz="7200" b="1" dirty="0">
                <a:solidFill>
                  <a:schemeClr val="accent1"/>
                </a:solidFill>
                <a:latin typeface="+mj-ea"/>
                <a:sym typeface="+mn-ea"/>
              </a:rPr>
              <a:t>股价是如何拉升的？</a:t>
            </a:r>
            <a:endParaRPr lang="zh-CN" altLang="en-US" sz="7200" b="1" dirty="0">
              <a:solidFill>
                <a:schemeClr val="accent1"/>
              </a:solidFill>
              <a:latin typeface="+mj-ea"/>
            </a:endParaRPr>
          </a:p>
        </p:txBody>
      </p:sp>
      <p:sp>
        <p:nvSpPr>
          <p:cNvPr id="13" name="流程图: 过程 12"/>
          <p:cNvSpPr/>
          <p:nvPr/>
        </p:nvSpPr>
        <p:spPr>
          <a:xfrm>
            <a:off x="844725" y="2075523"/>
            <a:ext cx="11177595" cy="2706954"/>
          </a:xfrm>
          <a:prstGeom prst="flowChartProcess">
            <a:avLst/>
          </a:prstGeom>
          <a:noFill/>
          <a:ln w="381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3870"/>
            <a:ext cx="3646967" cy="40392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6" grpId="2"/>
      <p:bldP spid="6" grpId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/>
          <p:cNvPicPr>
            <a:picLocks noGrp="1" noChangeAspect="1"/>
          </p:cNvPicPr>
          <p:nvPr>
            <p:ph type="pic" sz="quarter" idx="11"/>
          </p:nvPr>
        </p:nvPicPr>
        <p:blipFill>
          <a:blip r:embed="rId2" cstate="screen"/>
          <a:srcRect/>
          <a:stretch>
            <a:fillRect/>
          </a:stretch>
        </p:blipFill>
        <p:spPr>
          <a:xfrm flipH="1">
            <a:off x="0" y="0"/>
            <a:ext cx="12192000" cy="5199108"/>
          </a:xfrm>
        </p:spPr>
      </p:pic>
      <p:sp>
        <p:nvSpPr>
          <p:cNvPr id="16" name="Rectangle 15"/>
          <p:cNvSpPr/>
          <p:nvPr/>
        </p:nvSpPr>
        <p:spPr>
          <a:xfrm>
            <a:off x="1807" y="211"/>
            <a:ext cx="12192000" cy="5199109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Chevron 3"/>
          <p:cNvSpPr/>
          <p:nvPr/>
        </p:nvSpPr>
        <p:spPr>
          <a:xfrm>
            <a:off x="4283892" y="1740449"/>
            <a:ext cx="203200" cy="257175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37892" y="1447800"/>
            <a:ext cx="6693987" cy="61555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实际上是资金的推动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Chevron 5"/>
          <p:cNvSpPr/>
          <p:nvPr/>
        </p:nvSpPr>
        <p:spPr>
          <a:xfrm>
            <a:off x="4283892" y="2835162"/>
            <a:ext cx="203200" cy="257175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37892" y="2522194"/>
            <a:ext cx="6693987" cy="61555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历史上操纵为主，合力为辅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4283892" y="3889235"/>
            <a:ext cx="203200" cy="257175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05625" y="3638537"/>
            <a:ext cx="6693987" cy="61555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现在主要是合力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4153308" y="314326"/>
            <a:ext cx="7092118" cy="63817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400" b="1" dirty="0">
                <a:solidFill>
                  <a:schemeClr val="bg1"/>
                </a:solidFill>
                <a:latin typeface="Abril Fatface" panose="02000503000000020003" pitchFamily="50" charset="0"/>
              </a:rPr>
              <a:t>这背后</a:t>
            </a:r>
            <a:r>
              <a:rPr lang="en-US" altLang="zh-CN" sz="4400" b="1" dirty="0">
                <a:solidFill>
                  <a:schemeClr val="bg1"/>
                </a:solidFill>
                <a:latin typeface="Abril Fatface" panose="02000503000000020003" pitchFamily="50" charset="0"/>
              </a:rPr>
              <a:t>..</a:t>
            </a:r>
            <a:endParaRPr lang="en-US" sz="4400" b="1" dirty="0">
              <a:solidFill>
                <a:schemeClr val="bg1"/>
              </a:solidFill>
              <a:latin typeface="Abril Fatface" panose="02000503000000020003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80402" y="830580"/>
            <a:ext cx="69479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Behind it..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4391" y="6312841"/>
            <a:ext cx="2587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Presented by IEA</a:t>
            </a:r>
            <a:endParaRPr lang="zh-CN" altLang="en-US" sz="2400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3"/>
          <p:cNvGraphicFramePr/>
          <p:nvPr>
            <p:extLst>
              <p:ext uri="{D42A27DB-BD31-4B8C-83A1-F6EECF244321}">
                <p14:modId xmlns:p14="http://schemas.microsoft.com/office/powerpoint/2010/main" val="4032513813"/>
              </p:ext>
            </p:extLst>
          </p:nvPr>
        </p:nvGraphicFramePr>
        <p:xfrm>
          <a:off x="2850163" y="244475"/>
          <a:ext cx="8001000" cy="6540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5"/>
          <p:cNvSpPr txBox="1"/>
          <p:nvPr/>
        </p:nvSpPr>
        <p:spPr>
          <a:xfrm>
            <a:off x="437147" y="537285"/>
            <a:ext cx="4522189" cy="553998"/>
          </a:xfrm>
          <a:prstGeom prst="rect">
            <a:avLst/>
          </a:prstGeom>
          <a:noFill/>
        </p:spPr>
        <p:txBody>
          <a:bodyPr wrap="square" lIns="182880" tIns="91440" rIns="182880" bIns="91440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游资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12" name="TextBox 4"/>
          <p:cNvSpPr txBox="1"/>
          <p:nvPr/>
        </p:nvSpPr>
        <p:spPr>
          <a:xfrm>
            <a:off x="437147" y="1091283"/>
            <a:ext cx="4407891" cy="1106170"/>
          </a:xfrm>
          <a:prstGeom prst="rect">
            <a:avLst/>
          </a:prstGeom>
          <a:noFill/>
        </p:spPr>
        <p:txBody>
          <a:bodyPr wrap="square" lIns="182880" tIns="91440" rIns="182880" bIns="91440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游资，大体个人，他们不是固定的盘踞在某个股票里面，而是像打游击一样</a:t>
            </a: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8515350" y="969363"/>
            <a:ext cx="4522189" cy="553998"/>
          </a:xfrm>
          <a:prstGeom prst="rect">
            <a:avLst/>
          </a:prstGeom>
          <a:noFill/>
        </p:spPr>
        <p:txBody>
          <a:bodyPr wrap="square" lIns="182880" tIns="91440" rIns="182880" bIns="91440" rtlCol="0">
            <a:spAutoFit/>
          </a:bodyPr>
          <a:lstStyle/>
          <a:p>
            <a:r>
              <a:rPr lang="zh-CN" altLang="en-US" sz="2400" b="1" dirty="0">
                <a:solidFill>
                  <a:schemeClr val="accent4"/>
                </a:solidFill>
              </a:rPr>
              <a:t>机构</a:t>
            </a:r>
            <a:endParaRPr lang="en-US" sz="2400" b="1" dirty="0">
              <a:solidFill>
                <a:schemeClr val="accent4"/>
              </a:solidFill>
            </a:endParaRPr>
          </a:p>
        </p:txBody>
      </p:sp>
      <p:sp>
        <p:nvSpPr>
          <p:cNvPr id="14" name="TextBox 15"/>
          <p:cNvSpPr txBox="1"/>
          <p:nvPr/>
        </p:nvSpPr>
        <p:spPr>
          <a:xfrm>
            <a:off x="513976" y="3152001"/>
            <a:ext cx="4522189" cy="551815"/>
          </a:xfrm>
          <a:prstGeom prst="rect">
            <a:avLst/>
          </a:prstGeom>
          <a:noFill/>
        </p:spPr>
        <p:txBody>
          <a:bodyPr wrap="square" lIns="182880" tIns="91440" rIns="182880" bIns="91440" rtlCol="0">
            <a:spAutoFit/>
          </a:bodyPr>
          <a:lstStyle/>
          <a:p>
            <a:r>
              <a:rPr lang="zh-CN" altLang="en-US" sz="2400" b="1" dirty="0">
                <a:solidFill>
                  <a:schemeClr val="accent3"/>
                </a:solidFill>
              </a:rPr>
              <a:t>散户</a:t>
            </a:r>
          </a:p>
        </p:txBody>
      </p:sp>
      <p:sp>
        <p:nvSpPr>
          <p:cNvPr id="2" name="TextBox 4"/>
          <p:cNvSpPr txBox="1"/>
          <p:nvPr/>
        </p:nvSpPr>
        <p:spPr>
          <a:xfrm>
            <a:off x="551445" y="3705999"/>
            <a:ext cx="2583641" cy="798195"/>
          </a:xfrm>
          <a:prstGeom prst="rect">
            <a:avLst/>
          </a:prstGeom>
          <a:noFill/>
        </p:spPr>
        <p:txBody>
          <a:bodyPr wrap="square" lIns="182880" tIns="91440" rIns="182880" bIns="91440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大部分是韭菜，也就是个人投资者</a:t>
            </a:r>
          </a:p>
        </p:txBody>
      </p:sp>
      <p:sp>
        <p:nvSpPr>
          <p:cNvPr id="3" name="TextBox 4"/>
          <p:cNvSpPr txBox="1"/>
          <p:nvPr/>
        </p:nvSpPr>
        <p:spPr>
          <a:xfrm>
            <a:off x="9444771" y="1120676"/>
            <a:ext cx="2203946" cy="2336800"/>
          </a:xfrm>
          <a:prstGeom prst="rect">
            <a:avLst/>
          </a:prstGeom>
          <a:noFill/>
        </p:spPr>
        <p:txBody>
          <a:bodyPr wrap="square" lIns="182880" tIns="91440" rIns="182880" bIns="91440" rtlCol="0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分为公募和私募，公募也是公墓，大散户，大部分私募在二级也做得不大行，但少部分其实是游资幕后的资金力量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 flipV="1">
            <a:off x="7753071" y="3778753"/>
            <a:ext cx="96253" cy="1074153"/>
            <a:chOff x="4137860" y="3684671"/>
            <a:chExt cx="144379" cy="1611229"/>
          </a:xfrm>
          <a:solidFill>
            <a:schemeClr val="accent4"/>
          </a:solidFill>
        </p:grpSpPr>
        <p:cxnSp>
          <p:nvCxnSpPr>
            <p:cNvPr id="34" name="Straight Connector 33"/>
            <p:cNvCxnSpPr/>
            <p:nvPr/>
          </p:nvCxnSpPr>
          <p:spPr>
            <a:xfrm>
              <a:off x="4210050" y="3829050"/>
              <a:ext cx="0" cy="1466850"/>
            </a:xfrm>
            <a:prstGeom prst="line">
              <a:avLst/>
            </a:prstGeom>
            <a:grpFill/>
            <a:ln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>
              <a:off x="4137860" y="3684671"/>
              <a:ext cx="144379" cy="144379"/>
            </a:xfrm>
            <a:prstGeom prst="ellips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1074637" y="2466947"/>
            <a:ext cx="96253" cy="1074153"/>
            <a:chOff x="4137860" y="3684671"/>
            <a:chExt cx="144379" cy="1611229"/>
          </a:xfrm>
          <a:solidFill>
            <a:schemeClr val="accent5"/>
          </a:solidFill>
        </p:grpSpPr>
        <p:cxnSp>
          <p:nvCxnSpPr>
            <p:cNvPr id="29" name="Straight Connector 28"/>
            <p:cNvCxnSpPr/>
            <p:nvPr/>
          </p:nvCxnSpPr>
          <p:spPr>
            <a:xfrm>
              <a:off x="4210050" y="3829050"/>
              <a:ext cx="0" cy="1466850"/>
            </a:xfrm>
            <a:prstGeom prst="line">
              <a:avLst/>
            </a:prstGeom>
            <a:grpFill/>
            <a:ln>
              <a:solidFill>
                <a:schemeClr val="accent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>
            <a:xfrm>
              <a:off x="4137860" y="3684671"/>
              <a:ext cx="144379" cy="144379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558424" y="2662823"/>
            <a:ext cx="96253" cy="1074153"/>
            <a:chOff x="4137860" y="3684671"/>
            <a:chExt cx="144379" cy="1611229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4210050" y="3829050"/>
              <a:ext cx="0" cy="146685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/>
            <p:cNvSpPr/>
            <p:nvPr/>
          </p:nvSpPr>
          <p:spPr>
            <a:xfrm>
              <a:off x="4137860" y="3684671"/>
              <a:ext cx="144379" cy="14437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721426" y="2662823"/>
            <a:ext cx="96253" cy="1074153"/>
            <a:chOff x="4137860" y="3684671"/>
            <a:chExt cx="144379" cy="1611229"/>
          </a:xfrm>
          <a:solidFill>
            <a:schemeClr val="accent3"/>
          </a:solidFill>
        </p:grpSpPr>
        <p:cxnSp>
          <p:nvCxnSpPr>
            <p:cNvPr id="24" name="Straight Connector 23"/>
            <p:cNvCxnSpPr/>
            <p:nvPr/>
          </p:nvCxnSpPr>
          <p:spPr>
            <a:xfrm>
              <a:off x="4210050" y="3829050"/>
              <a:ext cx="0" cy="1466850"/>
            </a:xfrm>
            <a:prstGeom prst="line">
              <a:avLst/>
            </a:prstGeom>
            <a:grpFill/>
            <a:ln>
              <a:solidFill>
                <a:schemeClr val="accent3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/>
            <p:cNvSpPr/>
            <p:nvPr/>
          </p:nvSpPr>
          <p:spPr>
            <a:xfrm>
              <a:off x="4137860" y="3684671"/>
              <a:ext cx="144379" cy="144379"/>
            </a:xfrm>
            <a:prstGeom prst="ellipse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 flipV="1">
            <a:off x="2937376" y="3914472"/>
            <a:ext cx="96253" cy="1074153"/>
            <a:chOff x="4137860" y="3684671"/>
            <a:chExt cx="144379" cy="1611229"/>
          </a:xfrm>
          <a:solidFill>
            <a:schemeClr val="accent2"/>
          </a:solidFill>
        </p:grpSpPr>
        <p:cxnSp>
          <p:nvCxnSpPr>
            <p:cNvPr id="21" name="Straight Connector 20"/>
            <p:cNvCxnSpPr/>
            <p:nvPr/>
          </p:nvCxnSpPr>
          <p:spPr>
            <a:xfrm>
              <a:off x="4210050" y="3829050"/>
              <a:ext cx="0" cy="1466850"/>
            </a:xfrm>
            <a:prstGeom prst="line">
              <a:avLst/>
            </a:prstGeom>
            <a:grpFill/>
            <a:ln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4137860" y="3684671"/>
              <a:ext cx="144379" cy="144379"/>
            </a:xfrm>
            <a:prstGeom prst="ellips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149" y="260934"/>
            <a:ext cx="4216401" cy="1012659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题材类型</a:t>
            </a:r>
            <a:endParaRPr 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84149" y="1160296"/>
            <a:ext cx="10515600" cy="419100"/>
          </a:xfrm>
        </p:spPr>
        <p:txBody>
          <a:bodyPr/>
          <a:lstStyle/>
          <a:p>
            <a:r>
              <a:rPr lang="en-US" altLang="zh-CN" sz="2400" dirty="0"/>
              <a:t>Types of the topics</a:t>
            </a:r>
            <a:endParaRPr lang="en-US" sz="2400" dirty="0"/>
          </a:p>
        </p:txBody>
      </p:sp>
      <p:sp>
        <p:nvSpPr>
          <p:cNvPr id="4" name="Flowchart: Data 3"/>
          <p:cNvSpPr/>
          <p:nvPr/>
        </p:nvSpPr>
        <p:spPr>
          <a:xfrm>
            <a:off x="610442" y="3558508"/>
            <a:ext cx="1831549" cy="440491"/>
          </a:xfrm>
          <a:prstGeom prst="flowChartInputOutpu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政策类</a:t>
            </a:r>
            <a:endParaRPr lang="en-US" dirty="0"/>
          </a:p>
        </p:txBody>
      </p:sp>
      <p:sp>
        <p:nvSpPr>
          <p:cNvPr id="5" name="Flowchart: Data 4"/>
          <p:cNvSpPr/>
          <p:nvPr/>
        </p:nvSpPr>
        <p:spPr>
          <a:xfrm>
            <a:off x="2207552" y="3558508"/>
            <a:ext cx="1831549" cy="440491"/>
          </a:xfrm>
          <a:prstGeom prst="flowChartInputOut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科技迭代</a:t>
            </a:r>
            <a:endParaRPr lang="en-US" dirty="0"/>
          </a:p>
        </p:txBody>
      </p:sp>
      <p:sp>
        <p:nvSpPr>
          <p:cNvPr id="6" name="Flowchart: Data 5"/>
          <p:cNvSpPr/>
          <p:nvPr/>
        </p:nvSpPr>
        <p:spPr>
          <a:xfrm>
            <a:off x="3804663" y="3558508"/>
            <a:ext cx="1831549" cy="440491"/>
          </a:xfrm>
          <a:prstGeom prst="flowChartInputOutpu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重组并购</a:t>
            </a:r>
            <a:endParaRPr lang="en-US" dirty="0"/>
          </a:p>
        </p:txBody>
      </p:sp>
      <p:sp>
        <p:nvSpPr>
          <p:cNvPr id="7" name="Flowchart: Data 6"/>
          <p:cNvSpPr/>
          <p:nvPr/>
        </p:nvSpPr>
        <p:spPr>
          <a:xfrm>
            <a:off x="6983850" y="3587614"/>
            <a:ext cx="1831549" cy="440491"/>
          </a:xfrm>
          <a:prstGeom prst="flowChartInputOutpu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资源类</a:t>
            </a:r>
            <a:endParaRPr lang="en-US" dirty="0"/>
          </a:p>
        </p:txBody>
      </p:sp>
      <p:sp>
        <p:nvSpPr>
          <p:cNvPr id="8" name="Flowchart: Data 7"/>
          <p:cNvSpPr/>
          <p:nvPr/>
        </p:nvSpPr>
        <p:spPr>
          <a:xfrm>
            <a:off x="5394257" y="3597973"/>
            <a:ext cx="1831549" cy="440491"/>
          </a:xfrm>
          <a:prstGeom prst="flowChartInputOutp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国家公共安全事件</a:t>
            </a:r>
            <a:endParaRPr lang="en-US" dirty="0"/>
          </a:p>
        </p:txBody>
      </p:sp>
      <p:sp>
        <p:nvSpPr>
          <p:cNvPr id="9" name="Flowchart: Data 8"/>
          <p:cNvSpPr/>
          <p:nvPr/>
        </p:nvSpPr>
        <p:spPr>
          <a:xfrm>
            <a:off x="8595994" y="3558508"/>
            <a:ext cx="1831549" cy="440491"/>
          </a:xfrm>
          <a:prstGeom prst="flowChartInputOutpu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玄学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81757" y="2197590"/>
            <a:ext cx="2449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</a:rPr>
              <a:t>双碳，雄安新区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9567" y="5041066"/>
            <a:ext cx="24495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2"/>
                </a:solidFill>
              </a:rPr>
              <a:t>光刻机、</a:t>
            </a:r>
            <a:r>
              <a:rPr lang="en-US" altLang="zh-CN" sz="2400" dirty="0">
                <a:solidFill>
                  <a:schemeClr val="accent2"/>
                </a:solidFill>
              </a:rPr>
              <a:t>5G</a:t>
            </a:r>
            <a:r>
              <a:rPr lang="zh-CN" altLang="en-US" sz="2400" dirty="0">
                <a:solidFill>
                  <a:schemeClr val="accent2"/>
                </a:solidFill>
              </a:rPr>
              <a:t>、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algn="ctr"/>
            <a:r>
              <a:rPr lang="zh-CN" altLang="en-US" sz="2400" dirty="0">
                <a:solidFill>
                  <a:schemeClr val="accent2"/>
                </a:solidFill>
              </a:rPr>
              <a:t>华为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2886" y="2134056"/>
            <a:ext cx="2449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/>
                </a:solidFill>
              </a:rPr>
              <a:t>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8953" y="1994572"/>
            <a:ext cx="2449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/>
                </a:solidFill>
              </a:rPr>
              <a:t>一季度报和年报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4831" y="4981289"/>
            <a:ext cx="24495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4"/>
                </a:solidFill>
              </a:rPr>
              <a:t>光伏（多晶硅）、锂矿（碳酸锂）、猪周期</a:t>
            </a:r>
          </a:p>
        </p:txBody>
      </p:sp>
      <p:sp>
        <p:nvSpPr>
          <p:cNvPr id="10" name="Flowchart: Data 8"/>
          <p:cNvSpPr/>
          <p:nvPr/>
        </p:nvSpPr>
        <p:spPr>
          <a:xfrm>
            <a:off x="10206990" y="3562520"/>
            <a:ext cx="1831549" cy="440491"/>
          </a:xfrm>
          <a:prstGeom prst="flowChartInputOutpu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业绩增长类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000"/>
                            </p:stCondLst>
                            <p:childTnLst>
                              <p:par>
                                <p:cTn id="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4" grpId="0"/>
      <p:bldP spid="18" grpId="0"/>
      <p:bldP spid="26" grpId="0"/>
      <p:bldP spid="31" grpId="0"/>
      <p:bldP spid="36" grpId="0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5147944" y="4597217"/>
            <a:ext cx="808383" cy="622852"/>
          </a:xfrm>
          <a:custGeom>
            <a:avLst/>
            <a:gdLst>
              <a:gd name="connsiteX0" fmla="*/ 0 w 1212574"/>
              <a:gd name="connsiteY0" fmla="*/ 0 h 934278"/>
              <a:gd name="connsiteX1" fmla="*/ 1212574 w 1212574"/>
              <a:gd name="connsiteY1" fmla="*/ 0 h 934278"/>
              <a:gd name="connsiteX2" fmla="*/ 1212574 w 1212574"/>
              <a:gd name="connsiteY2" fmla="*/ 934278 h 934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2574" h="934278">
                <a:moveTo>
                  <a:pt x="0" y="0"/>
                </a:moveTo>
                <a:lnTo>
                  <a:pt x="1212574" y="0"/>
                </a:lnTo>
                <a:lnTo>
                  <a:pt x="1212574" y="934278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Freeform 4"/>
          <p:cNvSpPr/>
          <p:nvPr/>
        </p:nvSpPr>
        <p:spPr>
          <a:xfrm>
            <a:off x="5797302" y="2211826"/>
            <a:ext cx="424069" cy="1020417"/>
          </a:xfrm>
          <a:custGeom>
            <a:avLst/>
            <a:gdLst>
              <a:gd name="connsiteX0" fmla="*/ 636104 w 636104"/>
              <a:gd name="connsiteY0" fmla="*/ 1530626 h 1530626"/>
              <a:gd name="connsiteX1" fmla="*/ 636104 w 636104"/>
              <a:gd name="connsiteY1" fmla="*/ 0 h 1530626"/>
              <a:gd name="connsiteX2" fmla="*/ 0 w 636104"/>
              <a:gd name="connsiteY2" fmla="*/ 0 h 1530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6104" h="1530626">
                <a:moveTo>
                  <a:pt x="636104" y="1530626"/>
                </a:moveTo>
                <a:lnTo>
                  <a:pt x="636104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Freeform 5"/>
          <p:cNvSpPr/>
          <p:nvPr/>
        </p:nvSpPr>
        <p:spPr>
          <a:xfrm>
            <a:off x="7824884" y="2622643"/>
            <a:ext cx="609600" cy="980661"/>
          </a:xfrm>
          <a:custGeom>
            <a:avLst/>
            <a:gdLst>
              <a:gd name="connsiteX0" fmla="*/ 0 w 914400"/>
              <a:gd name="connsiteY0" fmla="*/ 1470991 h 1470991"/>
              <a:gd name="connsiteX1" fmla="*/ 0 w 914400"/>
              <a:gd name="connsiteY1" fmla="*/ 0 h 1470991"/>
              <a:gd name="connsiteX2" fmla="*/ 914400 w 914400"/>
              <a:gd name="connsiteY2" fmla="*/ 0 h 1470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1470991">
                <a:moveTo>
                  <a:pt x="0" y="1470991"/>
                </a:moveTo>
                <a:lnTo>
                  <a:pt x="0" y="0"/>
                </a:lnTo>
                <a:lnTo>
                  <a:pt x="914400" y="0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Freeform 7"/>
          <p:cNvSpPr/>
          <p:nvPr/>
        </p:nvSpPr>
        <p:spPr>
          <a:xfrm>
            <a:off x="8779039" y="5670643"/>
            <a:ext cx="609600" cy="649357"/>
          </a:xfrm>
          <a:custGeom>
            <a:avLst/>
            <a:gdLst>
              <a:gd name="connsiteX0" fmla="*/ 0 w 914400"/>
              <a:gd name="connsiteY0" fmla="*/ 0 h 974035"/>
              <a:gd name="connsiteX1" fmla="*/ 19879 w 914400"/>
              <a:gd name="connsiteY1" fmla="*/ 79513 h 974035"/>
              <a:gd name="connsiteX2" fmla="*/ 19879 w 914400"/>
              <a:gd name="connsiteY2" fmla="*/ 974035 h 974035"/>
              <a:gd name="connsiteX3" fmla="*/ 914400 w 914400"/>
              <a:gd name="connsiteY3" fmla="*/ 974035 h 974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74035">
                <a:moveTo>
                  <a:pt x="0" y="0"/>
                </a:moveTo>
                <a:lnTo>
                  <a:pt x="19879" y="79513"/>
                </a:lnTo>
                <a:lnTo>
                  <a:pt x="19879" y="974035"/>
                </a:lnTo>
                <a:lnTo>
                  <a:pt x="914400" y="974035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Freeform 25"/>
          <p:cNvSpPr/>
          <p:nvPr/>
        </p:nvSpPr>
        <p:spPr>
          <a:xfrm>
            <a:off x="2166205" y="3855095"/>
            <a:ext cx="609600" cy="1338470"/>
          </a:xfrm>
          <a:custGeom>
            <a:avLst/>
            <a:gdLst>
              <a:gd name="connsiteX0" fmla="*/ 914400 w 914400"/>
              <a:gd name="connsiteY0" fmla="*/ 0 h 2007705"/>
              <a:gd name="connsiteX1" fmla="*/ 914400 w 914400"/>
              <a:gd name="connsiteY1" fmla="*/ 0 h 2007705"/>
              <a:gd name="connsiteX2" fmla="*/ 0 w 914400"/>
              <a:gd name="connsiteY2" fmla="*/ 0 h 2007705"/>
              <a:gd name="connsiteX3" fmla="*/ 0 w 914400"/>
              <a:gd name="connsiteY3" fmla="*/ 2007705 h 2007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2007705">
                <a:moveTo>
                  <a:pt x="914400" y="0"/>
                </a:moveTo>
                <a:lnTo>
                  <a:pt x="914400" y="0"/>
                </a:lnTo>
                <a:lnTo>
                  <a:pt x="0" y="0"/>
                </a:lnTo>
                <a:lnTo>
                  <a:pt x="0" y="2007705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853" y="656553"/>
            <a:ext cx="10515600" cy="561974"/>
          </a:xfrm>
        </p:spPr>
        <p:txBody>
          <a:bodyPr>
            <a:noAutofit/>
          </a:bodyPr>
          <a:lstStyle/>
          <a:p>
            <a:r>
              <a:rPr lang="zh-CN" altLang="en-US" sz="4800" dirty="0"/>
              <a:t>风口</a:t>
            </a:r>
            <a:r>
              <a:rPr lang="en-US" altLang="zh-CN" sz="4800" dirty="0"/>
              <a:t>-</a:t>
            </a:r>
            <a:r>
              <a:rPr lang="zh-CN" altLang="en-US" sz="4800" dirty="0"/>
              <a:t>根源于信息</a:t>
            </a:r>
            <a:r>
              <a:rPr lang="en-US" altLang="zh-CN" sz="4800" dirty="0"/>
              <a:t>-</a:t>
            </a:r>
            <a:r>
              <a:rPr lang="zh-CN" altLang="en-US" sz="4800" dirty="0"/>
              <a:t>也是</a:t>
            </a:r>
            <a:r>
              <a:rPr lang="en-US" altLang="zh-CN" sz="4800" dirty="0"/>
              <a:t>A</a:t>
            </a:r>
            <a:r>
              <a:rPr lang="zh-CN" altLang="en-US" sz="4800" dirty="0"/>
              <a:t>股第一生产力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36659" y="1377880"/>
            <a:ext cx="10515600" cy="419100"/>
          </a:xfrm>
        </p:spPr>
        <p:txBody>
          <a:bodyPr/>
          <a:lstStyle/>
          <a:p>
            <a:r>
              <a:rPr lang="zh-CN" altLang="en-US" sz="3200" dirty="0"/>
              <a:t>题材大小判断</a:t>
            </a:r>
            <a:r>
              <a:rPr lang="en-US" altLang="zh-CN" sz="3200" dirty="0"/>
              <a:t>-</a:t>
            </a:r>
            <a:r>
              <a:rPr lang="zh-CN" altLang="en-US" sz="3200" dirty="0"/>
              <a:t>炒预期</a:t>
            </a:r>
          </a:p>
        </p:txBody>
      </p:sp>
      <p:sp>
        <p:nvSpPr>
          <p:cNvPr id="7" name="Freeform 6"/>
          <p:cNvSpPr/>
          <p:nvPr/>
        </p:nvSpPr>
        <p:spPr>
          <a:xfrm rot="21194888">
            <a:off x="2468035" y="3078606"/>
            <a:ext cx="1693074" cy="1696509"/>
          </a:xfrm>
          <a:custGeom>
            <a:avLst/>
            <a:gdLst>
              <a:gd name="connsiteX0" fmla="*/ 1258995 w 2539611"/>
              <a:gd name="connsiteY0" fmla="*/ 0 h 2544763"/>
              <a:gd name="connsiteX1" fmla="*/ 1588508 w 2539611"/>
              <a:gd name="connsiteY1" fmla="*/ 41493 h 2544763"/>
              <a:gd name="connsiteX2" fmla="*/ 1610475 w 2539611"/>
              <a:gd name="connsiteY2" fmla="*/ 302654 h 2544763"/>
              <a:gd name="connsiteX3" fmla="*/ 1795979 w 2539611"/>
              <a:gd name="connsiteY3" fmla="*/ 390521 h 2544763"/>
              <a:gd name="connsiteX4" fmla="*/ 2010772 w 2539611"/>
              <a:gd name="connsiteY4" fmla="*/ 241635 h 2544763"/>
              <a:gd name="connsiteX5" fmla="*/ 2252415 w 2539611"/>
              <a:gd name="connsiteY5" fmla="*/ 468625 h 2544763"/>
              <a:gd name="connsiteX6" fmla="*/ 2118169 w 2539611"/>
              <a:gd name="connsiteY6" fmla="*/ 693175 h 2544763"/>
              <a:gd name="connsiteX7" fmla="*/ 2215803 w 2539611"/>
              <a:gd name="connsiteY7" fmla="*/ 873790 h 2544763"/>
              <a:gd name="connsiteX8" fmla="*/ 2476972 w 2539611"/>
              <a:gd name="connsiteY8" fmla="*/ 878672 h 2544763"/>
              <a:gd name="connsiteX9" fmla="*/ 2498229 w 2539611"/>
              <a:gd name="connsiteY9" fmla="*/ 989860 h 2544763"/>
              <a:gd name="connsiteX10" fmla="*/ 2506402 w 2539611"/>
              <a:gd name="connsiteY10" fmla="*/ 1032609 h 2544763"/>
              <a:gd name="connsiteX11" fmla="*/ 2507896 w 2539611"/>
              <a:gd name="connsiteY11" fmla="*/ 1032329 h 2544763"/>
              <a:gd name="connsiteX12" fmla="*/ 2539611 w 2539611"/>
              <a:gd name="connsiteY12" fmla="*/ 1193358 h 2544763"/>
              <a:gd name="connsiteX13" fmla="*/ 2298093 w 2539611"/>
              <a:gd name="connsiteY13" fmla="*/ 1293391 h 2544763"/>
              <a:gd name="connsiteX14" fmla="*/ 2290774 w 2539611"/>
              <a:gd name="connsiteY14" fmla="*/ 1398304 h 2544763"/>
              <a:gd name="connsiteX15" fmla="*/ 2271257 w 2539611"/>
              <a:gd name="connsiteY15" fmla="*/ 1498337 h 2544763"/>
              <a:gd name="connsiteX16" fmla="*/ 2478622 w 2539611"/>
              <a:gd name="connsiteY16" fmla="*/ 1656926 h 2544763"/>
              <a:gd name="connsiteX17" fmla="*/ 2337126 w 2539611"/>
              <a:gd name="connsiteY17" fmla="*/ 1957025 h 2544763"/>
              <a:gd name="connsiteX18" fmla="*/ 2083410 w 2539611"/>
              <a:gd name="connsiteY18" fmla="*/ 1898469 h 2544763"/>
              <a:gd name="connsiteX19" fmla="*/ 1941915 w 2539611"/>
              <a:gd name="connsiteY19" fmla="*/ 2047299 h 2544763"/>
              <a:gd name="connsiteX20" fmla="*/ 2017541 w 2539611"/>
              <a:gd name="connsiteY20" fmla="*/ 2298602 h 2544763"/>
              <a:gd name="connsiteX21" fmla="*/ 1727232 w 2539611"/>
              <a:gd name="connsiteY21" fmla="*/ 2457191 h 2544763"/>
              <a:gd name="connsiteX22" fmla="*/ 1556461 w 2539611"/>
              <a:gd name="connsiteY22" fmla="*/ 2259565 h 2544763"/>
              <a:gd name="connsiteX23" fmla="*/ 1449080 w 2539611"/>
              <a:gd name="connsiteY23" fmla="*/ 2285864 h 2544763"/>
              <a:gd name="connsiteX24" fmla="*/ 1449587 w 2539611"/>
              <a:gd name="connsiteY24" fmla="*/ 2288563 h 2544763"/>
              <a:gd name="connsiteX25" fmla="*/ 1366589 w 2539611"/>
              <a:gd name="connsiteY25" fmla="*/ 2298323 h 2544763"/>
              <a:gd name="connsiteX26" fmla="*/ 1278708 w 2539611"/>
              <a:gd name="connsiteY26" fmla="*/ 2544763 h 2544763"/>
              <a:gd name="connsiteX27" fmla="*/ 951596 w 2539611"/>
              <a:gd name="connsiteY27" fmla="*/ 2503283 h 2544763"/>
              <a:gd name="connsiteX28" fmla="*/ 927185 w 2539611"/>
              <a:gd name="connsiteY28" fmla="*/ 2242203 h 2544763"/>
              <a:gd name="connsiteX29" fmla="*/ 741659 w 2539611"/>
              <a:gd name="connsiteY29" fmla="*/ 2154363 h 2544763"/>
              <a:gd name="connsiteX30" fmla="*/ 526839 w 2539611"/>
              <a:gd name="connsiteY30" fmla="*/ 2303203 h 2544763"/>
              <a:gd name="connsiteX31" fmla="*/ 285167 w 2539611"/>
              <a:gd name="connsiteY31" fmla="*/ 2076283 h 2544763"/>
              <a:gd name="connsiteX32" fmla="*/ 419429 w 2539611"/>
              <a:gd name="connsiteY32" fmla="*/ 1851803 h 2544763"/>
              <a:gd name="connsiteX33" fmla="*/ 321784 w 2539611"/>
              <a:gd name="connsiteY33" fmla="*/ 1671243 h 2544763"/>
              <a:gd name="connsiteX34" fmla="*/ 60582 w 2539611"/>
              <a:gd name="connsiteY34" fmla="*/ 1666362 h 2544763"/>
              <a:gd name="connsiteX35" fmla="*/ 39323 w 2539611"/>
              <a:gd name="connsiteY35" fmla="*/ 1555209 h 2544763"/>
              <a:gd name="connsiteX36" fmla="*/ 31267 w 2539611"/>
              <a:gd name="connsiteY36" fmla="*/ 1513090 h 2544763"/>
              <a:gd name="connsiteX37" fmla="*/ 29288 w 2539611"/>
              <a:gd name="connsiteY37" fmla="*/ 1513465 h 2544763"/>
              <a:gd name="connsiteX38" fmla="*/ 0 w 2539611"/>
              <a:gd name="connsiteY38" fmla="*/ 1352320 h 2544763"/>
              <a:gd name="connsiteX39" fmla="*/ 239185 w 2539611"/>
              <a:gd name="connsiteY39" fmla="*/ 1249773 h 2544763"/>
              <a:gd name="connsiteX40" fmla="*/ 246506 w 2539611"/>
              <a:gd name="connsiteY40" fmla="*/ 1147226 h 2544763"/>
              <a:gd name="connsiteX41" fmla="*/ 266031 w 2539611"/>
              <a:gd name="connsiteY41" fmla="*/ 1047120 h 2544763"/>
              <a:gd name="connsiteX42" fmla="*/ 58576 w 2539611"/>
              <a:gd name="connsiteY42" fmla="*/ 888417 h 2544763"/>
              <a:gd name="connsiteX43" fmla="*/ 200134 w 2539611"/>
              <a:gd name="connsiteY43" fmla="*/ 588100 h 2544763"/>
              <a:gd name="connsiteX44" fmla="*/ 453962 w 2539611"/>
              <a:gd name="connsiteY44" fmla="*/ 646699 h 2544763"/>
              <a:gd name="connsiteX45" fmla="*/ 595520 w 2539611"/>
              <a:gd name="connsiteY45" fmla="*/ 497762 h 2544763"/>
              <a:gd name="connsiteX46" fmla="*/ 519860 w 2539611"/>
              <a:gd name="connsiteY46" fmla="*/ 246277 h 2544763"/>
              <a:gd name="connsiteX47" fmla="*/ 812738 w 2539611"/>
              <a:gd name="connsiteY47" fmla="*/ 87573 h 2544763"/>
              <a:gd name="connsiteX48" fmla="*/ 981143 w 2539611"/>
              <a:gd name="connsiteY48" fmla="*/ 285343 h 2544763"/>
              <a:gd name="connsiteX49" fmla="*/ 1054504 w 2539611"/>
              <a:gd name="connsiteY49" fmla="*/ 266471 h 2544763"/>
              <a:gd name="connsiteX50" fmla="*/ 1053964 w 2539611"/>
              <a:gd name="connsiteY50" fmla="*/ 263602 h 2544763"/>
              <a:gd name="connsiteX51" fmla="*/ 1171125 w 2539611"/>
              <a:gd name="connsiteY51" fmla="*/ 246516 h 2544763"/>
              <a:gd name="connsiteX52" fmla="*/ 1258995 w 2539611"/>
              <a:gd name="connsiteY52" fmla="*/ 0 h 2544763"/>
              <a:gd name="connsiteX53" fmla="*/ 1269805 w 2539611"/>
              <a:gd name="connsiteY53" fmla="*/ 680341 h 2544763"/>
              <a:gd name="connsiteX54" fmla="*/ 677765 w 2539611"/>
              <a:gd name="connsiteY54" fmla="*/ 1272381 h 2544763"/>
              <a:gd name="connsiteX55" fmla="*/ 1269805 w 2539611"/>
              <a:gd name="connsiteY55" fmla="*/ 1864421 h 2544763"/>
              <a:gd name="connsiteX56" fmla="*/ 1861845 w 2539611"/>
              <a:gd name="connsiteY56" fmla="*/ 1272381 h 2544763"/>
              <a:gd name="connsiteX57" fmla="*/ 1269805 w 2539611"/>
              <a:gd name="connsiteY57" fmla="*/ 680341 h 2544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39611" h="2544763">
                <a:moveTo>
                  <a:pt x="1258995" y="0"/>
                </a:moveTo>
                <a:cubicBezTo>
                  <a:pt x="1258995" y="0"/>
                  <a:pt x="1258995" y="0"/>
                  <a:pt x="1588508" y="41493"/>
                </a:cubicBezTo>
                <a:cubicBezTo>
                  <a:pt x="1588508" y="41493"/>
                  <a:pt x="1588508" y="41493"/>
                  <a:pt x="1610475" y="302654"/>
                </a:cubicBezTo>
                <a:cubicBezTo>
                  <a:pt x="1676377" y="324621"/>
                  <a:pt x="1737399" y="353910"/>
                  <a:pt x="1795979" y="390521"/>
                </a:cubicBezTo>
                <a:cubicBezTo>
                  <a:pt x="1795979" y="390521"/>
                  <a:pt x="1795979" y="390521"/>
                  <a:pt x="2010772" y="241635"/>
                </a:cubicBezTo>
                <a:cubicBezTo>
                  <a:pt x="2010772" y="241635"/>
                  <a:pt x="2010772" y="241635"/>
                  <a:pt x="2252415" y="468625"/>
                </a:cubicBezTo>
                <a:cubicBezTo>
                  <a:pt x="2252415" y="468625"/>
                  <a:pt x="2252415" y="468625"/>
                  <a:pt x="2118169" y="693175"/>
                </a:cubicBezTo>
                <a:cubicBezTo>
                  <a:pt x="2157222" y="749312"/>
                  <a:pt x="2188953" y="810331"/>
                  <a:pt x="2215803" y="873790"/>
                </a:cubicBezTo>
                <a:cubicBezTo>
                  <a:pt x="2215803" y="873790"/>
                  <a:pt x="2215803" y="873790"/>
                  <a:pt x="2476972" y="878672"/>
                </a:cubicBezTo>
                <a:cubicBezTo>
                  <a:pt x="2476972" y="878672"/>
                  <a:pt x="2476972" y="878672"/>
                  <a:pt x="2498229" y="989860"/>
                </a:cubicBezTo>
                <a:lnTo>
                  <a:pt x="2506402" y="1032609"/>
                </a:lnTo>
                <a:lnTo>
                  <a:pt x="2507896" y="1032329"/>
                </a:lnTo>
                <a:cubicBezTo>
                  <a:pt x="2507896" y="1032329"/>
                  <a:pt x="2507896" y="1032329"/>
                  <a:pt x="2539611" y="1193358"/>
                </a:cubicBezTo>
                <a:cubicBezTo>
                  <a:pt x="2539611" y="1193358"/>
                  <a:pt x="2539611" y="1193358"/>
                  <a:pt x="2298093" y="1293391"/>
                </a:cubicBezTo>
                <a:cubicBezTo>
                  <a:pt x="2298093" y="1327549"/>
                  <a:pt x="2295653" y="1361707"/>
                  <a:pt x="2290774" y="1398304"/>
                </a:cubicBezTo>
                <a:cubicBezTo>
                  <a:pt x="2285895" y="1432461"/>
                  <a:pt x="2281016" y="1466620"/>
                  <a:pt x="2271257" y="1498337"/>
                </a:cubicBezTo>
                <a:cubicBezTo>
                  <a:pt x="2271257" y="1498337"/>
                  <a:pt x="2271257" y="1498337"/>
                  <a:pt x="2478622" y="1656926"/>
                </a:cubicBezTo>
                <a:cubicBezTo>
                  <a:pt x="2478622" y="1656926"/>
                  <a:pt x="2478622" y="1656926"/>
                  <a:pt x="2337126" y="1957025"/>
                </a:cubicBezTo>
                <a:cubicBezTo>
                  <a:pt x="2337126" y="1957025"/>
                  <a:pt x="2337126" y="1957025"/>
                  <a:pt x="2083410" y="1898469"/>
                </a:cubicBezTo>
                <a:cubicBezTo>
                  <a:pt x="2041937" y="1952146"/>
                  <a:pt x="1995585" y="2003382"/>
                  <a:pt x="1941915" y="2047299"/>
                </a:cubicBezTo>
                <a:cubicBezTo>
                  <a:pt x="1941915" y="2047299"/>
                  <a:pt x="1941915" y="2047299"/>
                  <a:pt x="2017541" y="2298602"/>
                </a:cubicBezTo>
                <a:cubicBezTo>
                  <a:pt x="2017541" y="2298602"/>
                  <a:pt x="2017541" y="2298602"/>
                  <a:pt x="1727232" y="2457191"/>
                </a:cubicBezTo>
                <a:cubicBezTo>
                  <a:pt x="1727232" y="2457191"/>
                  <a:pt x="1727232" y="2457191"/>
                  <a:pt x="1556461" y="2259565"/>
                </a:cubicBezTo>
                <a:lnTo>
                  <a:pt x="1449080" y="2285864"/>
                </a:lnTo>
                <a:lnTo>
                  <a:pt x="1449587" y="2288563"/>
                </a:lnTo>
                <a:cubicBezTo>
                  <a:pt x="1420294" y="2291003"/>
                  <a:pt x="1393441" y="2295883"/>
                  <a:pt x="1366589" y="2298323"/>
                </a:cubicBezTo>
                <a:cubicBezTo>
                  <a:pt x="1366589" y="2298323"/>
                  <a:pt x="1366589" y="2298323"/>
                  <a:pt x="1278708" y="2544763"/>
                </a:cubicBezTo>
                <a:cubicBezTo>
                  <a:pt x="1278708" y="2544763"/>
                  <a:pt x="1278708" y="2544763"/>
                  <a:pt x="951596" y="2503283"/>
                </a:cubicBezTo>
                <a:cubicBezTo>
                  <a:pt x="951596" y="2503283"/>
                  <a:pt x="951596" y="2503283"/>
                  <a:pt x="927185" y="2242203"/>
                </a:cubicBezTo>
                <a:cubicBezTo>
                  <a:pt x="863715" y="2220243"/>
                  <a:pt x="800246" y="2188523"/>
                  <a:pt x="741659" y="2154363"/>
                </a:cubicBezTo>
                <a:cubicBezTo>
                  <a:pt x="741659" y="2154363"/>
                  <a:pt x="741659" y="2154363"/>
                  <a:pt x="526839" y="2303203"/>
                </a:cubicBezTo>
                <a:cubicBezTo>
                  <a:pt x="526839" y="2303203"/>
                  <a:pt x="526839" y="2303203"/>
                  <a:pt x="285167" y="2076283"/>
                </a:cubicBezTo>
                <a:cubicBezTo>
                  <a:pt x="285167" y="2076283"/>
                  <a:pt x="285167" y="2076283"/>
                  <a:pt x="419429" y="1851803"/>
                </a:cubicBezTo>
                <a:cubicBezTo>
                  <a:pt x="382812" y="1795682"/>
                  <a:pt x="348636" y="1734683"/>
                  <a:pt x="321784" y="1671243"/>
                </a:cubicBezTo>
                <a:cubicBezTo>
                  <a:pt x="321784" y="1671243"/>
                  <a:pt x="321784" y="1671243"/>
                  <a:pt x="60582" y="1666362"/>
                </a:cubicBezTo>
                <a:cubicBezTo>
                  <a:pt x="60582" y="1666362"/>
                  <a:pt x="60582" y="1666362"/>
                  <a:pt x="39323" y="1555209"/>
                </a:cubicBezTo>
                <a:lnTo>
                  <a:pt x="31267" y="1513090"/>
                </a:lnTo>
                <a:lnTo>
                  <a:pt x="29288" y="1513465"/>
                </a:lnTo>
                <a:cubicBezTo>
                  <a:pt x="29288" y="1513465"/>
                  <a:pt x="29288" y="1513465"/>
                  <a:pt x="0" y="1352320"/>
                </a:cubicBezTo>
                <a:cubicBezTo>
                  <a:pt x="0" y="1352320"/>
                  <a:pt x="0" y="1352320"/>
                  <a:pt x="239185" y="1249773"/>
                </a:cubicBezTo>
                <a:cubicBezTo>
                  <a:pt x="241625" y="1215590"/>
                  <a:pt x="244066" y="1181408"/>
                  <a:pt x="246506" y="1147226"/>
                </a:cubicBezTo>
                <a:cubicBezTo>
                  <a:pt x="251387" y="1113043"/>
                  <a:pt x="258709" y="1078861"/>
                  <a:pt x="266031" y="1047120"/>
                </a:cubicBezTo>
                <a:cubicBezTo>
                  <a:pt x="266031" y="1047120"/>
                  <a:pt x="266031" y="1047120"/>
                  <a:pt x="58576" y="888417"/>
                </a:cubicBezTo>
                <a:cubicBezTo>
                  <a:pt x="58576" y="888417"/>
                  <a:pt x="58576" y="888417"/>
                  <a:pt x="200134" y="588100"/>
                </a:cubicBezTo>
                <a:cubicBezTo>
                  <a:pt x="200134" y="588100"/>
                  <a:pt x="200134" y="588100"/>
                  <a:pt x="453962" y="646699"/>
                </a:cubicBezTo>
                <a:cubicBezTo>
                  <a:pt x="495453" y="592984"/>
                  <a:pt x="544266" y="541710"/>
                  <a:pt x="595520" y="497762"/>
                </a:cubicBezTo>
                <a:cubicBezTo>
                  <a:pt x="595520" y="497762"/>
                  <a:pt x="595520" y="497762"/>
                  <a:pt x="519860" y="246277"/>
                </a:cubicBezTo>
                <a:cubicBezTo>
                  <a:pt x="519860" y="246277"/>
                  <a:pt x="519860" y="246277"/>
                  <a:pt x="812738" y="87573"/>
                </a:cubicBezTo>
                <a:cubicBezTo>
                  <a:pt x="812738" y="87573"/>
                  <a:pt x="812738" y="87573"/>
                  <a:pt x="981143" y="285343"/>
                </a:cubicBezTo>
                <a:lnTo>
                  <a:pt x="1054504" y="266471"/>
                </a:lnTo>
                <a:lnTo>
                  <a:pt x="1053964" y="263602"/>
                </a:lnTo>
                <a:cubicBezTo>
                  <a:pt x="1093018" y="256280"/>
                  <a:pt x="1132071" y="248957"/>
                  <a:pt x="1171125" y="246516"/>
                </a:cubicBezTo>
                <a:cubicBezTo>
                  <a:pt x="1171125" y="246516"/>
                  <a:pt x="1171125" y="246516"/>
                  <a:pt x="1258995" y="0"/>
                </a:cubicBezTo>
                <a:close/>
                <a:moveTo>
                  <a:pt x="1269805" y="680341"/>
                </a:moveTo>
                <a:cubicBezTo>
                  <a:pt x="942830" y="680341"/>
                  <a:pt x="677765" y="945406"/>
                  <a:pt x="677765" y="1272381"/>
                </a:cubicBezTo>
                <a:cubicBezTo>
                  <a:pt x="677765" y="1599356"/>
                  <a:pt x="942830" y="1864421"/>
                  <a:pt x="1269805" y="1864421"/>
                </a:cubicBezTo>
                <a:cubicBezTo>
                  <a:pt x="1596780" y="1864421"/>
                  <a:pt x="1861845" y="1599356"/>
                  <a:pt x="1861845" y="1272381"/>
                </a:cubicBezTo>
                <a:cubicBezTo>
                  <a:pt x="1861845" y="945406"/>
                  <a:pt x="1596780" y="680341"/>
                  <a:pt x="1269805" y="6803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Freeform 8"/>
          <p:cNvSpPr/>
          <p:nvPr/>
        </p:nvSpPr>
        <p:spPr>
          <a:xfrm rot="20248716">
            <a:off x="4163426" y="3942602"/>
            <a:ext cx="1210474" cy="1212929"/>
          </a:xfrm>
          <a:custGeom>
            <a:avLst/>
            <a:gdLst>
              <a:gd name="connsiteX0" fmla="*/ 1258995 w 2539611"/>
              <a:gd name="connsiteY0" fmla="*/ 0 h 2544763"/>
              <a:gd name="connsiteX1" fmla="*/ 1588508 w 2539611"/>
              <a:gd name="connsiteY1" fmla="*/ 41493 h 2544763"/>
              <a:gd name="connsiteX2" fmla="*/ 1610475 w 2539611"/>
              <a:gd name="connsiteY2" fmla="*/ 302654 h 2544763"/>
              <a:gd name="connsiteX3" fmla="*/ 1795979 w 2539611"/>
              <a:gd name="connsiteY3" fmla="*/ 390521 h 2544763"/>
              <a:gd name="connsiteX4" fmla="*/ 2010772 w 2539611"/>
              <a:gd name="connsiteY4" fmla="*/ 241635 h 2544763"/>
              <a:gd name="connsiteX5" fmla="*/ 2252415 w 2539611"/>
              <a:gd name="connsiteY5" fmla="*/ 468625 h 2544763"/>
              <a:gd name="connsiteX6" fmla="*/ 2118169 w 2539611"/>
              <a:gd name="connsiteY6" fmla="*/ 693175 h 2544763"/>
              <a:gd name="connsiteX7" fmla="*/ 2215803 w 2539611"/>
              <a:gd name="connsiteY7" fmla="*/ 873790 h 2544763"/>
              <a:gd name="connsiteX8" fmla="*/ 2476972 w 2539611"/>
              <a:gd name="connsiteY8" fmla="*/ 878672 h 2544763"/>
              <a:gd name="connsiteX9" fmla="*/ 2498229 w 2539611"/>
              <a:gd name="connsiteY9" fmla="*/ 989860 h 2544763"/>
              <a:gd name="connsiteX10" fmla="*/ 2506402 w 2539611"/>
              <a:gd name="connsiteY10" fmla="*/ 1032609 h 2544763"/>
              <a:gd name="connsiteX11" fmla="*/ 2507896 w 2539611"/>
              <a:gd name="connsiteY11" fmla="*/ 1032329 h 2544763"/>
              <a:gd name="connsiteX12" fmla="*/ 2539611 w 2539611"/>
              <a:gd name="connsiteY12" fmla="*/ 1193358 h 2544763"/>
              <a:gd name="connsiteX13" fmla="*/ 2298093 w 2539611"/>
              <a:gd name="connsiteY13" fmla="*/ 1293391 h 2544763"/>
              <a:gd name="connsiteX14" fmla="*/ 2290774 w 2539611"/>
              <a:gd name="connsiteY14" fmla="*/ 1398304 h 2544763"/>
              <a:gd name="connsiteX15" fmla="*/ 2271257 w 2539611"/>
              <a:gd name="connsiteY15" fmla="*/ 1498337 h 2544763"/>
              <a:gd name="connsiteX16" fmla="*/ 2478622 w 2539611"/>
              <a:gd name="connsiteY16" fmla="*/ 1656926 h 2544763"/>
              <a:gd name="connsiteX17" fmla="*/ 2337126 w 2539611"/>
              <a:gd name="connsiteY17" fmla="*/ 1957025 h 2544763"/>
              <a:gd name="connsiteX18" fmla="*/ 2083410 w 2539611"/>
              <a:gd name="connsiteY18" fmla="*/ 1898469 h 2544763"/>
              <a:gd name="connsiteX19" fmla="*/ 1941915 w 2539611"/>
              <a:gd name="connsiteY19" fmla="*/ 2047299 h 2544763"/>
              <a:gd name="connsiteX20" fmla="*/ 2017541 w 2539611"/>
              <a:gd name="connsiteY20" fmla="*/ 2298602 h 2544763"/>
              <a:gd name="connsiteX21" fmla="*/ 1727232 w 2539611"/>
              <a:gd name="connsiteY21" fmla="*/ 2457191 h 2544763"/>
              <a:gd name="connsiteX22" fmla="*/ 1556461 w 2539611"/>
              <a:gd name="connsiteY22" fmla="*/ 2259565 h 2544763"/>
              <a:gd name="connsiteX23" fmla="*/ 1449080 w 2539611"/>
              <a:gd name="connsiteY23" fmla="*/ 2285864 h 2544763"/>
              <a:gd name="connsiteX24" fmla="*/ 1449587 w 2539611"/>
              <a:gd name="connsiteY24" fmla="*/ 2288563 h 2544763"/>
              <a:gd name="connsiteX25" fmla="*/ 1366589 w 2539611"/>
              <a:gd name="connsiteY25" fmla="*/ 2298323 h 2544763"/>
              <a:gd name="connsiteX26" fmla="*/ 1278708 w 2539611"/>
              <a:gd name="connsiteY26" fmla="*/ 2544763 h 2544763"/>
              <a:gd name="connsiteX27" fmla="*/ 951596 w 2539611"/>
              <a:gd name="connsiteY27" fmla="*/ 2503283 h 2544763"/>
              <a:gd name="connsiteX28" fmla="*/ 927185 w 2539611"/>
              <a:gd name="connsiteY28" fmla="*/ 2242203 h 2544763"/>
              <a:gd name="connsiteX29" fmla="*/ 741659 w 2539611"/>
              <a:gd name="connsiteY29" fmla="*/ 2154363 h 2544763"/>
              <a:gd name="connsiteX30" fmla="*/ 526839 w 2539611"/>
              <a:gd name="connsiteY30" fmla="*/ 2303203 h 2544763"/>
              <a:gd name="connsiteX31" fmla="*/ 285167 w 2539611"/>
              <a:gd name="connsiteY31" fmla="*/ 2076283 h 2544763"/>
              <a:gd name="connsiteX32" fmla="*/ 419429 w 2539611"/>
              <a:gd name="connsiteY32" fmla="*/ 1851803 h 2544763"/>
              <a:gd name="connsiteX33" fmla="*/ 321784 w 2539611"/>
              <a:gd name="connsiteY33" fmla="*/ 1671243 h 2544763"/>
              <a:gd name="connsiteX34" fmla="*/ 60582 w 2539611"/>
              <a:gd name="connsiteY34" fmla="*/ 1666362 h 2544763"/>
              <a:gd name="connsiteX35" fmla="*/ 39323 w 2539611"/>
              <a:gd name="connsiteY35" fmla="*/ 1555209 h 2544763"/>
              <a:gd name="connsiteX36" fmla="*/ 31267 w 2539611"/>
              <a:gd name="connsiteY36" fmla="*/ 1513090 h 2544763"/>
              <a:gd name="connsiteX37" fmla="*/ 29288 w 2539611"/>
              <a:gd name="connsiteY37" fmla="*/ 1513465 h 2544763"/>
              <a:gd name="connsiteX38" fmla="*/ 0 w 2539611"/>
              <a:gd name="connsiteY38" fmla="*/ 1352320 h 2544763"/>
              <a:gd name="connsiteX39" fmla="*/ 239185 w 2539611"/>
              <a:gd name="connsiteY39" fmla="*/ 1249773 h 2544763"/>
              <a:gd name="connsiteX40" fmla="*/ 246506 w 2539611"/>
              <a:gd name="connsiteY40" fmla="*/ 1147226 h 2544763"/>
              <a:gd name="connsiteX41" fmla="*/ 266031 w 2539611"/>
              <a:gd name="connsiteY41" fmla="*/ 1047120 h 2544763"/>
              <a:gd name="connsiteX42" fmla="*/ 58576 w 2539611"/>
              <a:gd name="connsiteY42" fmla="*/ 888417 h 2544763"/>
              <a:gd name="connsiteX43" fmla="*/ 200134 w 2539611"/>
              <a:gd name="connsiteY43" fmla="*/ 588100 h 2544763"/>
              <a:gd name="connsiteX44" fmla="*/ 453962 w 2539611"/>
              <a:gd name="connsiteY44" fmla="*/ 646699 h 2544763"/>
              <a:gd name="connsiteX45" fmla="*/ 595520 w 2539611"/>
              <a:gd name="connsiteY45" fmla="*/ 497762 h 2544763"/>
              <a:gd name="connsiteX46" fmla="*/ 519860 w 2539611"/>
              <a:gd name="connsiteY46" fmla="*/ 246277 h 2544763"/>
              <a:gd name="connsiteX47" fmla="*/ 812738 w 2539611"/>
              <a:gd name="connsiteY47" fmla="*/ 87573 h 2544763"/>
              <a:gd name="connsiteX48" fmla="*/ 981143 w 2539611"/>
              <a:gd name="connsiteY48" fmla="*/ 285343 h 2544763"/>
              <a:gd name="connsiteX49" fmla="*/ 1054504 w 2539611"/>
              <a:gd name="connsiteY49" fmla="*/ 266471 h 2544763"/>
              <a:gd name="connsiteX50" fmla="*/ 1053964 w 2539611"/>
              <a:gd name="connsiteY50" fmla="*/ 263602 h 2544763"/>
              <a:gd name="connsiteX51" fmla="*/ 1171125 w 2539611"/>
              <a:gd name="connsiteY51" fmla="*/ 246516 h 2544763"/>
              <a:gd name="connsiteX52" fmla="*/ 1258995 w 2539611"/>
              <a:gd name="connsiteY52" fmla="*/ 0 h 2544763"/>
              <a:gd name="connsiteX53" fmla="*/ 1269805 w 2539611"/>
              <a:gd name="connsiteY53" fmla="*/ 680341 h 2544763"/>
              <a:gd name="connsiteX54" fmla="*/ 677765 w 2539611"/>
              <a:gd name="connsiteY54" fmla="*/ 1272381 h 2544763"/>
              <a:gd name="connsiteX55" fmla="*/ 1269805 w 2539611"/>
              <a:gd name="connsiteY55" fmla="*/ 1864421 h 2544763"/>
              <a:gd name="connsiteX56" fmla="*/ 1861845 w 2539611"/>
              <a:gd name="connsiteY56" fmla="*/ 1272381 h 2544763"/>
              <a:gd name="connsiteX57" fmla="*/ 1269805 w 2539611"/>
              <a:gd name="connsiteY57" fmla="*/ 680341 h 2544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39611" h="2544763">
                <a:moveTo>
                  <a:pt x="1258995" y="0"/>
                </a:moveTo>
                <a:cubicBezTo>
                  <a:pt x="1258995" y="0"/>
                  <a:pt x="1258995" y="0"/>
                  <a:pt x="1588508" y="41493"/>
                </a:cubicBezTo>
                <a:cubicBezTo>
                  <a:pt x="1588508" y="41493"/>
                  <a:pt x="1588508" y="41493"/>
                  <a:pt x="1610475" y="302654"/>
                </a:cubicBezTo>
                <a:cubicBezTo>
                  <a:pt x="1676377" y="324621"/>
                  <a:pt x="1737399" y="353910"/>
                  <a:pt x="1795979" y="390521"/>
                </a:cubicBezTo>
                <a:cubicBezTo>
                  <a:pt x="1795979" y="390521"/>
                  <a:pt x="1795979" y="390521"/>
                  <a:pt x="2010772" y="241635"/>
                </a:cubicBezTo>
                <a:cubicBezTo>
                  <a:pt x="2010772" y="241635"/>
                  <a:pt x="2010772" y="241635"/>
                  <a:pt x="2252415" y="468625"/>
                </a:cubicBezTo>
                <a:cubicBezTo>
                  <a:pt x="2252415" y="468625"/>
                  <a:pt x="2252415" y="468625"/>
                  <a:pt x="2118169" y="693175"/>
                </a:cubicBezTo>
                <a:cubicBezTo>
                  <a:pt x="2157222" y="749312"/>
                  <a:pt x="2188953" y="810331"/>
                  <a:pt x="2215803" y="873790"/>
                </a:cubicBezTo>
                <a:cubicBezTo>
                  <a:pt x="2215803" y="873790"/>
                  <a:pt x="2215803" y="873790"/>
                  <a:pt x="2476972" y="878672"/>
                </a:cubicBezTo>
                <a:cubicBezTo>
                  <a:pt x="2476972" y="878672"/>
                  <a:pt x="2476972" y="878672"/>
                  <a:pt x="2498229" y="989860"/>
                </a:cubicBezTo>
                <a:lnTo>
                  <a:pt x="2506402" y="1032609"/>
                </a:lnTo>
                <a:lnTo>
                  <a:pt x="2507896" y="1032329"/>
                </a:lnTo>
                <a:cubicBezTo>
                  <a:pt x="2507896" y="1032329"/>
                  <a:pt x="2507896" y="1032329"/>
                  <a:pt x="2539611" y="1193358"/>
                </a:cubicBezTo>
                <a:cubicBezTo>
                  <a:pt x="2539611" y="1193358"/>
                  <a:pt x="2539611" y="1193358"/>
                  <a:pt x="2298093" y="1293391"/>
                </a:cubicBezTo>
                <a:cubicBezTo>
                  <a:pt x="2298093" y="1327549"/>
                  <a:pt x="2295653" y="1361707"/>
                  <a:pt x="2290774" y="1398304"/>
                </a:cubicBezTo>
                <a:cubicBezTo>
                  <a:pt x="2285895" y="1432461"/>
                  <a:pt x="2281016" y="1466620"/>
                  <a:pt x="2271257" y="1498337"/>
                </a:cubicBezTo>
                <a:cubicBezTo>
                  <a:pt x="2271257" y="1498337"/>
                  <a:pt x="2271257" y="1498337"/>
                  <a:pt x="2478622" y="1656926"/>
                </a:cubicBezTo>
                <a:cubicBezTo>
                  <a:pt x="2478622" y="1656926"/>
                  <a:pt x="2478622" y="1656926"/>
                  <a:pt x="2337126" y="1957025"/>
                </a:cubicBezTo>
                <a:cubicBezTo>
                  <a:pt x="2337126" y="1957025"/>
                  <a:pt x="2337126" y="1957025"/>
                  <a:pt x="2083410" y="1898469"/>
                </a:cubicBezTo>
                <a:cubicBezTo>
                  <a:pt x="2041937" y="1952146"/>
                  <a:pt x="1995585" y="2003382"/>
                  <a:pt x="1941915" y="2047299"/>
                </a:cubicBezTo>
                <a:cubicBezTo>
                  <a:pt x="1941915" y="2047299"/>
                  <a:pt x="1941915" y="2047299"/>
                  <a:pt x="2017541" y="2298602"/>
                </a:cubicBezTo>
                <a:cubicBezTo>
                  <a:pt x="2017541" y="2298602"/>
                  <a:pt x="2017541" y="2298602"/>
                  <a:pt x="1727232" y="2457191"/>
                </a:cubicBezTo>
                <a:cubicBezTo>
                  <a:pt x="1727232" y="2457191"/>
                  <a:pt x="1727232" y="2457191"/>
                  <a:pt x="1556461" y="2259565"/>
                </a:cubicBezTo>
                <a:lnTo>
                  <a:pt x="1449080" y="2285864"/>
                </a:lnTo>
                <a:lnTo>
                  <a:pt x="1449587" y="2288563"/>
                </a:lnTo>
                <a:cubicBezTo>
                  <a:pt x="1420294" y="2291003"/>
                  <a:pt x="1393441" y="2295883"/>
                  <a:pt x="1366589" y="2298323"/>
                </a:cubicBezTo>
                <a:cubicBezTo>
                  <a:pt x="1366589" y="2298323"/>
                  <a:pt x="1366589" y="2298323"/>
                  <a:pt x="1278708" y="2544763"/>
                </a:cubicBezTo>
                <a:cubicBezTo>
                  <a:pt x="1278708" y="2544763"/>
                  <a:pt x="1278708" y="2544763"/>
                  <a:pt x="951596" y="2503283"/>
                </a:cubicBezTo>
                <a:cubicBezTo>
                  <a:pt x="951596" y="2503283"/>
                  <a:pt x="951596" y="2503283"/>
                  <a:pt x="927185" y="2242203"/>
                </a:cubicBezTo>
                <a:cubicBezTo>
                  <a:pt x="863715" y="2220243"/>
                  <a:pt x="800246" y="2188523"/>
                  <a:pt x="741659" y="2154363"/>
                </a:cubicBezTo>
                <a:cubicBezTo>
                  <a:pt x="741659" y="2154363"/>
                  <a:pt x="741659" y="2154363"/>
                  <a:pt x="526839" y="2303203"/>
                </a:cubicBezTo>
                <a:cubicBezTo>
                  <a:pt x="526839" y="2303203"/>
                  <a:pt x="526839" y="2303203"/>
                  <a:pt x="285167" y="2076283"/>
                </a:cubicBezTo>
                <a:cubicBezTo>
                  <a:pt x="285167" y="2076283"/>
                  <a:pt x="285167" y="2076283"/>
                  <a:pt x="419429" y="1851803"/>
                </a:cubicBezTo>
                <a:cubicBezTo>
                  <a:pt x="382812" y="1795682"/>
                  <a:pt x="348636" y="1734683"/>
                  <a:pt x="321784" y="1671243"/>
                </a:cubicBezTo>
                <a:cubicBezTo>
                  <a:pt x="321784" y="1671243"/>
                  <a:pt x="321784" y="1671243"/>
                  <a:pt x="60582" y="1666362"/>
                </a:cubicBezTo>
                <a:cubicBezTo>
                  <a:pt x="60582" y="1666362"/>
                  <a:pt x="60582" y="1666362"/>
                  <a:pt x="39323" y="1555209"/>
                </a:cubicBezTo>
                <a:lnTo>
                  <a:pt x="31267" y="1513090"/>
                </a:lnTo>
                <a:lnTo>
                  <a:pt x="29288" y="1513465"/>
                </a:lnTo>
                <a:cubicBezTo>
                  <a:pt x="29288" y="1513465"/>
                  <a:pt x="29288" y="1513465"/>
                  <a:pt x="0" y="1352320"/>
                </a:cubicBezTo>
                <a:cubicBezTo>
                  <a:pt x="0" y="1352320"/>
                  <a:pt x="0" y="1352320"/>
                  <a:pt x="239185" y="1249773"/>
                </a:cubicBezTo>
                <a:cubicBezTo>
                  <a:pt x="241625" y="1215590"/>
                  <a:pt x="244066" y="1181408"/>
                  <a:pt x="246506" y="1147226"/>
                </a:cubicBezTo>
                <a:cubicBezTo>
                  <a:pt x="251387" y="1113043"/>
                  <a:pt x="258709" y="1078861"/>
                  <a:pt x="266031" y="1047120"/>
                </a:cubicBezTo>
                <a:cubicBezTo>
                  <a:pt x="266031" y="1047120"/>
                  <a:pt x="266031" y="1047120"/>
                  <a:pt x="58576" y="888417"/>
                </a:cubicBezTo>
                <a:cubicBezTo>
                  <a:pt x="58576" y="888417"/>
                  <a:pt x="58576" y="888417"/>
                  <a:pt x="200134" y="588100"/>
                </a:cubicBezTo>
                <a:cubicBezTo>
                  <a:pt x="200134" y="588100"/>
                  <a:pt x="200134" y="588100"/>
                  <a:pt x="453962" y="646699"/>
                </a:cubicBezTo>
                <a:cubicBezTo>
                  <a:pt x="495453" y="592984"/>
                  <a:pt x="544266" y="541710"/>
                  <a:pt x="595520" y="497762"/>
                </a:cubicBezTo>
                <a:cubicBezTo>
                  <a:pt x="595520" y="497762"/>
                  <a:pt x="595520" y="497762"/>
                  <a:pt x="519860" y="246277"/>
                </a:cubicBezTo>
                <a:cubicBezTo>
                  <a:pt x="519860" y="246277"/>
                  <a:pt x="519860" y="246277"/>
                  <a:pt x="812738" y="87573"/>
                </a:cubicBezTo>
                <a:cubicBezTo>
                  <a:pt x="812738" y="87573"/>
                  <a:pt x="812738" y="87573"/>
                  <a:pt x="981143" y="285343"/>
                </a:cubicBezTo>
                <a:lnTo>
                  <a:pt x="1054504" y="266471"/>
                </a:lnTo>
                <a:lnTo>
                  <a:pt x="1053964" y="263602"/>
                </a:lnTo>
                <a:cubicBezTo>
                  <a:pt x="1093018" y="256280"/>
                  <a:pt x="1132071" y="248957"/>
                  <a:pt x="1171125" y="246516"/>
                </a:cubicBezTo>
                <a:cubicBezTo>
                  <a:pt x="1171125" y="246516"/>
                  <a:pt x="1171125" y="246516"/>
                  <a:pt x="1258995" y="0"/>
                </a:cubicBezTo>
                <a:close/>
                <a:moveTo>
                  <a:pt x="1269805" y="680341"/>
                </a:moveTo>
                <a:cubicBezTo>
                  <a:pt x="942830" y="680341"/>
                  <a:pt x="677765" y="945406"/>
                  <a:pt x="677765" y="1272381"/>
                </a:cubicBezTo>
                <a:cubicBezTo>
                  <a:pt x="677765" y="1599356"/>
                  <a:pt x="942830" y="1864421"/>
                  <a:pt x="1269805" y="1864421"/>
                </a:cubicBezTo>
                <a:cubicBezTo>
                  <a:pt x="1596780" y="1864421"/>
                  <a:pt x="1861845" y="1599356"/>
                  <a:pt x="1861845" y="1272381"/>
                </a:cubicBezTo>
                <a:cubicBezTo>
                  <a:pt x="1861845" y="945406"/>
                  <a:pt x="1596780" y="680341"/>
                  <a:pt x="1269805" y="68034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Freeform 9"/>
          <p:cNvSpPr/>
          <p:nvPr/>
        </p:nvSpPr>
        <p:spPr>
          <a:xfrm rot="21168708">
            <a:off x="5534298" y="3008946"/>
            <a:ext cx="1384689" cy="1387498"/>
          </a:xfrm>
          <a:custGeom>
            <a:avLst/>
            <a:gdLst>
              <a:gd name="connsiteX0" fmla="*/ 1258995 w 2539611"/>
              <a:gd name="connsiteY0" fmla="*/ 0 h 2544763"/>
              <a:gd name="connsiteX1" fmla="*/ 1588508 w 2539611"/>
              <a:gd name="connsiteY1" fmla="*/ 41493 h 2544763"/>
              <a:gd name="connsiteX2" fmla="*/ 1610475 w 2539611"/>
              <a:gd name="connsiteY2" fmla="*/ 302654 h 2544763"/>
              <a:gd name="connsiteX3" fmla="*/ 1795979 w 2539611"/>
              <a:gd name="connsiteY3" fmla="*/ 390521 h 2544763"/>
              <a:gd name="connsiteX4" fmla="*/ 2010772 w 2539611"/>
              <a:gd name="connsiteY4" fmla="*/ 241635 h 2544763"/>
              <a:gd name="connsiteX5" fmla="*/ 2252415 w 2539611"/>
              <a:gd name="connsiteY5" fmla="*/ 468625 h 2544763"/>
              <a:gd name="connsiteX6" fmla="*/ 2118169 w 2539611"/>
              <a:gd name="connsiteY6" fmla="*/ 693175 h 2544763"/>
              <a:gd name="connsiteX7" fmla="*/ 2215803 w 2539611"/>
              <a:gd name="connsiteY7" fmla="*/ 873790 h 2544763"/>
              <a:gd name="connsiteX8" fmla="*/ 2476972 w 2539611"/>
              <a:gd name="connsiteY8" fmla="*/ 878672 h 2544763"/>
              <a:gd name="connsiteX9" fmla="*/ 2498229 w 2539611"/>
              <a:gd name="connsiteY9" fmla="*/ 989860 h 2544763"/>
              <a:gd name="connsiteX10" fmla="*/ 2506402 w 2539611"/>
              <a:gd name="connsiteY10" fmla="*/ 1032609 h 2544763"/>
              <a:gd name="connsiteX11" fmla="*/ 2507896 w 2539611"/>
              <a:gd name="connsiteY11" fmla="*/ 1032329 h 2544763"/>
              <a:gd name="connsiteX12" fmla="*/ 2539611 w 2539611"/>
              <a:gd name="connsiteY12" fmla="*/ 1193358 h 2544763"/>
              <a:gd name="connsiteX13" fmla="*/ 2298093 w 2539611"/>
              <a:gd name="connsiteY13" fmla="*/ 1293391 h 2544763"/>
              <a:gd name="connsiteX14" fmla="*/ 2290774 w 2539611"/>
              <a:gd name="connsiteY14" fmla="*/ 1398304 h 2544763"/>
              <a:gd name="connsiteX15" fmla="*/ 2271257 w 2539611"/>
              <a:gd name="connsiteY15" fmla="*/ 1498337 h 2544763"/>
              <a:gd name="connsiteX16" fmla="*/ 2478622 w 2539611"/>
              <a:gd name="connsiteY16" fmla="*/ 1656926 h 2544763"/>
              <a:gd name="connsiteX17" fmla="*/ 2337126 w 2539611"/>
              <a:gd name="connsiteY17" fmla="*/ 1957025 h 2544763"/>
              <a:gd name="connsiteX18" fmla="*/ 2083410 w 2539611"/>
              <a:gd name="connsiteY18" fmla="*/ 1898469 h 2544763"/>
              <a:gd name="connsiteX19" fmla="*/ 1941915 w 2539611"/>
              <a:gd name="connsiteY19" fmla="*/ 2047299 h 2544763"/>
              <a:gd name="connsiteX20" fmla="*/ 2017541 w 2539611"/>
              <a:gd name="connsiteY20" fmla="*/ 2298602 h 2544763"/>
              <a:gd name="connsiteX21" fmla="*/ 1727232 w 2539611"/>
              <a:gd name="connsiteY21" fmla="*/ 2457191 h 2544763"/>
              <a:gd name="connsiteX22" fmla="*/ 1556461 w 2539611"/>
              <a:gd name="connsiteY22" fmla="*/ 2259565 h 2544763"/>
              <a:gd name="connsiteX23" fmla="*/ 1449080 w 2539611"/>
              <a:gd name="connsiteY23" fmla="*/ 2285864 h 2544763"/>
              <a:gd name="connsiteX24" fmla="*/ 1449587 w 2539611"/>
              <a:gd name="connsiteY24" fmla="*/ 2288563 h 2544763"/>
              <a:gd name="connsiteX25" fmla="*/ 1366589 w 2539611"/>
              <a:gd name="connsiteY25" fmla="*/ 2298323 h 2544763"/>
              <a:gd name="connsiteX26" fmla="*/ 1278708 w 2539611"/>
              <a:gd name="connsiteY26" fmla="*/ 2544763 h 2544763"/>
              <a:gd name="connsiteX27" fmla="*/ 951596 w 2539611"/>
              <a:gd name="connsiteY27" fmla="*/ 2503283 h 2544763"/>
              <a:gd name="connsiteX28" fmla="*/ 927185 w 2539611"/>
              <a:gd name="connsiteY28" fmla="*/ 2242203 h 2544763"/>
              <a:gd name="connsiteX29" fmla="*/ 741659 w 2539611"/>
              <a:gd name="connsiteY29" fmla="*/ 2154363 h 2544763"/>
              <a:gd name="connsiteX30" fmla="*/ 526839 w 2539611"/>
              <a:gd name="connsiteY30" fmla="*/ 2303203 h 2544763"/>
              <a:gd name="connsiteX31" fmla="*/ 285167 w 2539611"/>
              <a:gd name="connsiteY31" fmla="*/ 2076283 h 2544763"/>
              <a:gd name="connsiteX32" fmla="*/ 419429 w 2539611"/>
              <a:gd name="connsiteY32" fmla="*/ 1851803 h 2544763"/>
              <a:gd name="connsiteX33" fmla="*/ 321784 w 2539611"/>
              <a:gd name="connsiteY33" fmla="*/ 1671243 h 2544763"/>
              <a:gd name="connsiteX34" fmla="*/ 60582 w 2539611"/>
              <a:gd name="connsiteY34" fmla="*/ 1666362 h 2544763"/>
              <a:gd name="connsiteX35" fmla="*/ 39323 w 2539611"/>
              <a:gd name="connsiteY35" fmla="*/ 1555209 h 2544763"/>
              <a:gd name="connsiteX36" fmla="*/ 31267 w 2539611"/>
              <a:gd name="connsiteY36" fmla="*/ 1513090 h 2544763"/>
              <a:gd name="connsiteX37" fmla="*/ 29288 w 2539611"/>
              <a:gd name="connsiteY37" fmla="*/ 1513465 h 2544763"/>
              <a:gd name="connsiteX38" fmla="*/ 0 w 2539611"/>
              <a:gd name="connsiteY38" fmla="*/ 1352320 h 2544763"/>
              <a:gd name="connsiteX39" fmla="*/ 239185 w 2539611"/>
              <a:gd name="connsiteY39" fmla="*/ 1249773 h 2544763"/>
              <a:gd name="connsiteX40" fmla="*/ 246506 w 2539611"/>
              <a:gd name="connsiteY40" fmla="*/ 1147226 h 2544763"/>
              <a:gd name="connsiteX41" fmla="*/ 266031 w 2539611"/>
              <a:gd name="connsiteY41" fmla="*/ 1047120 h 2544763"/>
              <a:gd name="connsiteX42" fmla="*/ 58576 w 2539611"/>
              <a:gd name="connsiteY42" fmla="*/ 888417 h 2544763"/>
              <a:gd name="connsiteX43" fmla="*/ 200134 w 2539611"/>
              <a:gd name="connsiteY43" fmla="*/ 588100 h 2544763"/>
              <a:gd name="connsiteX44" fmla="*/ 453962 w 2539611"/>
              <a:gd name="connsiteY44" fmla="*/ 646699 h 2544763"/>
              <a:gd name="connsiteX45" fmla="*/ 595520 w 2539611"/>
              <a:gd name="connsiteY45" fmla="*/ 497762 h 2544763"/>
              <a:gd name="connsiteX46" fmla="*/ 519860 w 2539611"/>
              <a:gd name="connsiteY46" fmla="*/ 246277 h 2544763"/>
              <a:gd name="connsiteX47" fmla="*/ 812738 w 2539611"/>
              <a:gd name="connsiteY47" fmla="*/ 87573 h 2544763"/>
              <a:gd name="connsiteX48" fmla="*/ 981143 w 2539611"/>
              <a:gd name="connsiteY48" fmla="*/ 285343 h 2544763"/>
              <a:gd name="connsiteX49" fmla="*/ 1054504 w 2539611"/>
              <a:gd name="connsiteY49" fmla="*/ 266471 h 2544763"/>
              <a:gd name="connsiteX50" fmla="*/ 1053964 w 2539611"/>
              <a:gd name="connsiteY50" fmla="*/ 263602 h 2544763"/>
              <a:gd name="connsiteX51" fmla="*/ 1171125 w 2539611"/>
              <a:gd name="connsiteY51" fmla="*/ 246516 h 2544763"/>
              <a:gd name="connsiteX52" fmla="*/ 1258995 w 2539611"/>
              <a:gd name="connsiteY52" fmla="*/ 0 h 2544763"/>
              <a:gd name="connsiteX53" fmla="*/ 1269805 w 2539611"/>
              <a:gd name="connsiteY53" fmla="*/ 680341 h 2544763"/>
              <a:gd name="connsiteX54" fmla="*/ 677765 w 2539611"/>
              <a:gd name="connsiteY54" fmla="*/ 1272381 h 2544763"/>
              <a:gd name="connsiteX55" fmla="*/ 1269805 w 2539611"/>
              <a:gd name="connsiteY55" fmla="*/ 1864421 h 2544763"/>
              <a:gd name="connsiteX56" fmla="*/ 1861845 w 2539611"/>
              <a:gd name="connsiteY56" fmla="*/ 1272381 h 2544763"/>
              <a:gd name="connsiteX57" fmla="*/ 1269805 w 2539611"/>
              <a:gd name="connsiteY57" fmla="*/ 680341 h 2544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39611" h="2544763">
                <a:moveTo>
                  <a:pt x="1258995" y="0"/>
                </a:moveTo>
                <a:cubicBezTo>
                  <a:pt x="1258995" y="0"/>
                  <a:pt x="1258995" y="0"/>
                  <a:pt x="1588508" y="41493"/>
                </a:cubicBezTo>
                <a:cubicBezTo>
                  <a:pt x="1588508" y="41493"/>
                  <a:pt x="1588508" y="41493"/>
                  <a:pt x="1610475" y="302654"/>
                </a:cubicBezTo>
                <a:cubicBezTo>
                  <a:pt x="1676377" y="324621"/>
                  <a:pt x="1737399" y="353910"/>
                  <a:pt x="1795979" y="390521"/>
                </a:cubicBezTo>
                <a:cubicBezTo>
                  <a:pt x="1795979" y="390521"/>
                  <a:pt x="1795979" y="390521"/>
                  <a:pt x="2010772" y="241635"/>
                </a:cubicBezTo>
                <a:cubicBezTo>
                  <a:pt x="2010772" y="241635"/>
                  <a:pt x="2010772" y="241635"/>
                  <a:pt x="2252415" y="468625"/>
                </a:cubicBezTo>
                <a:cubicBezTo>
                  <a:pt x="2252415" y="468625"/>
                  <a:pt x="2252415" y="468625"/>
                  <a:pt x="2118169" y="693175"/>
                </a:cubicBezTo>
                <a:cubicBezTo>
                  <a:pt x="2157222" y="749312"/>
                  <a:pt x="2188953" y="810331"/>
                  <a:pt x="2215803" y="873790"/>
                </a:cubicBezTo>
                <a:cubicBezTo>
                  <a:pt x="2215803" y="873790"/>
                  <a:pt x="2215803" y="873790"/>
                  <a:pt x="2476972" y="878672"/>
                </a:cubicBezTo>
                <a:cubicBezTo>
                  <a:pt x="2476972" y="878672"/>
                  <a:pt x="2476972" y="878672"/>
                  <a:pt x="2498229" y="989860"/>
                </a:cubicBezTo>
                <a:lnTo>
                  <a:pt x="2506402" y="1032609"/>
                </a:lnTo>
                <a:lnTo>
                  <a:pt x="2507896" y="1032329"/>
                </a:lnTo>
                <a:cubicBezTo>
                  <a:pt x="2507896" y="1032329"/>
                  <a:pt x="2507896" y="1032329"/>
                  <a:pt x="2539611" y="1193358"/>
                </a:cubicBezTo>
                <a:cubicBezTo>
                  <a:pt x="2539611" y="1193358"/>
                  <a:pt x="2539611" y="1193358"/>
                  <a:pt x="2298093" y="1293391"/>
                </a:cubicBezTo>
                <a:cubicBezTo>
                  <a:pt x="2298093" y="1327549"/>
                  <a:pt x="2295653" y="1361707"/>
                  <a:pt x="2290774" y="1398304"/>
                </a:cubicBezTo>
                <a:cubicBezTo>
                  <a:pt x="2285895" y="1432461"/>
                  <a:pt x="2281016" y="1466620"/>
                  <a:pt x="2271257" y="1498337"/>
                </a:cubicBezTo>
                <a:cubicBezTo>
                  <a:pt x="2271257" y="1498337"/>
                  <a:pt x="2271257" y="1498337"/>
                  <a:pt x="2478622" y="1656926"/>
                </a:cubicBezTo>
                <a:cubicBezTo>
                  <a:pt x="2478622" y="1656926"/>
                  <a:pt x="2478622" y="1656926"/>
                  <a:pt x="2337126" y="1957025"/>
                </a:cubicBezTo>
                <a:cubicBezTo>
                  <a:pt x="2337126" y="1957025"/>
                  <a:pt x="2337126" y="1957025"/>
                  <a:pt x="2083410" y="1898469"/>
                </a:cubicBezTo>
                <a:cubicBezTo>
                  <a:pt x="2041937" y="1952146"/>
                  <a:pt x="1995585" y="2003382"/>
                  <a:pt x="1941915" y="2047299"/>
                </a:cubicBezTo>
                <a:cubicBezTo>
                  <a:pt x="1941915" y="2047299"/>
                  <a:pt x="1941915" y="2047299"/>
                  <a:pt x="2017541" y="2298602"/>
                </a:cubicBezTo>
                <a:cubicBezTo>
                  <a:pt x="2017541" y="2298602"/>
                  <a:pt x="2017541" y="2298602"/>
                  <a:pt x="1727232" y="2457191"/>
                </a:cubicBezTo>
                <a:cubicBezTo>
                  <a:pt x="1727232" y="2457191"/>
                  <a:pt x="1727232" y="2457191"/>
                  <a:pt x="1556461" y="2259565"/>
                </a:cubicBezTo>
                <a:lnTo>
                  <a:pt x="1449080" y="2285864"/>
                </a:lnTo>
                <a:lnTo>
                  <a:pt x="1449587" y="2288563"/>
                </a:lnTo>
                <a:cubicBezTo>
                  <a:pt x="1420294" y="2291003"/>
                  <a:pt x="1393441" y="2295883"/>
                  <a:pt x="1366589" y="2298323"/>
                </a:cubicBezTo>
                <a:cubicBezTo>
                  <a:pt x="1366589" y="2298323"/>
                  <a:pt x="1366589" y="2298323"/>
                  <a:pt x="1278708" y="2544763"/>
                </a:cubicBezTo>
                <a:cubicBezTo>
                  <a:pt x="1278708" y="2544763"/>
                  <a:pt x="1278708" y="2544763"/>
                  <a:pt x="951596" y="2503283"/>
                </a:cubicBezTo>
                <a:cubicBezTo>
                  <a:pt x="951596" y="2503283"/>
                  <a:pt x="951596" y="2503283"/>
                  <a:pt x="927185" y="2242203"/>
                </a:cubicBezTo>
                <a:cubicBezTo>
                  <a:pt x="863715" y="2220243"/>
                  <a:pt x="800246" y="2188523"/>
                  <a:pt x="741659" y="2154363"/>
                </a:cubicBezTo>
                <a:cubicBezTo>
                  <a:pt x="741659" y="2154363"/>
                  <a:pt x="741659" y="2154363"/>
                  <a:pt x="526839" y="2303203"/>
                </a:cubicBezTo>
                <a:cubicBezTo>
                  <a:pt x="526839" y="2303203"/>
                  <a:pt x="526839" y="2303203"/>
                  <a:pt x="285167" y="2076283"/>
                </a:cubicBezTo>
                <a:cubicBezTo>
                  <a:pt x="285167" y="2076283"/>
                  <a:pt x="285167" y="2076283"/>
                  <a:pt x="419429" y="1851803"/>
                </a:cubicBezTo>
                <a:cubicBezTo>
                  <a:pt x="382812" y="1795682"/>
                  <a:pt x="348636" y="1734683"/>
                  <a:pt x="321784" y="1671243"/>
                </a:cubicBezTo>
                <a:cubicBezTo>
                  <a:pt x="321784" y="1671243"/>
                  <a:pt x="321784" y="1671243"/>
                  <a:pt x="60582" y="1666362"/>
                </a:cubicBezTo>
                <a:cubicBezTo>
                  <a:pt x="60582" y="1666362"/>
                  <a:pt x="60582" y="1666362"/>
                  <a:pt x="39323" y="1555209"/>
                </a:cubicBezTo>
                <a:lnTo>
                  <a:pt x="31267" y="1513090"/>
                </a:lnTo>
                <a:lnTo>
                  <a:pt x="29288" y="1513465"/>
                </a:lnTo>
                <a:cubicBezTo>
                  <a:pt x="29288" y="1513465"/>
                  <a:pt x="29288" y="1513465"/>
                  <a:pt x="0" y="1352320"/>
                </a:cubicBezTo>
                <a:cubicBezTo>
                  <a:pt x="0" y="1352320"/>
                  <a:pt x="0" y="1352320"/>
                  <a:pt x="239185" y="1249773"/>
                </a:cubicBezTo>
                <a:cubicBezTo>
                  <a:pt x="241625" y="1215590"/>
                  <a:pt x="244066" y="1181408"/>
                  <a:pt x="246506" y="1147226"/>
                </a:cubicBezTo>
                <a:cubicBezTo>
                  <a:pt x="251387" y="1113043"/>
                  <a:pt x="258709" y="1078861"/>
                  <a:pt x="266031" y="1047120"/>
                </a:cubicBezTo>
                <a:cubicBezTo>
                  <a:pt x="266031" y="1047120"/>
                  <a:pt x="266031" y="1047120"/>
                  <a:pt x="58576" y="888417"/>
                </a:cubicBezTo>
                <a:cubicBezTo>
                  <a:pt x="58576" y="888417"/>
                  <a:pt x="58576" y="888417"/>
                  <a:pt x="200134" y="588100"/>
                </a:cubicBezTo>
                <a:cubicBezTo>
                  <a:pt x="200134" y="588100"/>
                  <a:pt x="200134" y="588100"/>
                  <a:pt x="453962" y="646699"/>
                </a:cubicBezTo>
                <a:cubicBezTo>
                  <a:pt x="495453" y="592984"/>
                  <a:pt x="544266" y="541710"/>
                  <a:pt x="595520" y="497762"/>
                </a:cubicBezTo>
                <a:cubicBezTo>
                  <a:pt x="595520" y="497762"/>
                  <a:pt x="595520" y="497762"/>
                  <a:pt x="519860" y="246277"/>
                </a:cubicBezTo>
                <a:cubicBezTo>
                  <a:pt x="519860" y="246277"/>
                  <a:pt x="519860" y="246277"/>
                  <a:pt x="812738" y="87573"/>
                </a:cubicBezTo>
                <a:cubicBezTo>
                  <a:pt x="812738" y="87573"/>
                  <a:pt x="812738" y="87573"/>
                  <a:pt x="981143" y="285343"/>
                </a:cubicBezTo>
                <a:lnTo>
                  <a:pt x="1054504" y="266471"/>
                </a:lnTo>
                <a:lnTo>
                  <a:pt x="1053964" y="263602"/>
                </a:lnTo>
                <a:cubicBezTo>
                  <a:pt x="1093018" y="256280"/>
                  <a:pt x="1132071" y="248957"/>
                  <a:pt x="1171125" y="246516"/>
                </a:cubicBezTo>
                <a:cubicBezTo>
                  <a:pt x="1171125" y="246516"/>
                  <a:pt x="1171125" y="246516"/>
                  <a:pt x="1258995" y="0"/>
                </a:cubicBezTo>
                <a:close/>
                <a:moveTo>
                  <a:pt x="1269805" y="680341"/>
                </a:moveTo>
                <a:cubicBezTo>
                  <a:pt x="942830" y="680341"/>
                  <a:pt x="677765" y="945406"/>
                  <a:pt x="677765" y="1272381"/>
                </a:cubicBezTo>
                <a:cubicBezTo>
                  <a:pt x="677765" y="1599356"/>
                  <a:pt x="942830" y="1864421"/>
                  <a:pt x="1269805" y="1864421"/>
                </a:cubicBezTo>
                <a:cubicBezTo>
                  <a:pt x="1596780" y="1864421"/>
                  <a:pt x="1861845" y="1599356"/>
                  <a:pt x="1861845" y="1272381"/>
                </a:cubicBezTo>
                <a:cubicBezTo>
                  <a:pt x="1861845" y="945406"/>
                  <a:pt x="1596780" y="680341"/>
                  <a:pt x="1269805" y="68034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Freeform 10"/>
          <p:cNvSpPr/>
          <p:nvPr/>
        </p:nvSpPr>
        <p:spPr>
          <a:xfrm rot="21115418">
            <a:off x="7079385" y="3329871"/>
            <a:ext cx="1538883" cy="1542004"/>
          </a:xfrm>
          <a:custGeom>
            <a:avLst/>
            <a:gdLst>
              <a:gd name="connsiteX0" fmla="*/ 1258995 w 2539611"/>
              <a:gd name="connsiteY0" fmla="*/ 0 h 2544763"/>
              <a:gd name="connsiteX1" fmla="*/ 1588508 w 2539611"/>
              <a:gd name="connsiteY1" fmla="*/ 41493 h 2544763"/>
              <a:gd name="connsiteX2" fmla="*/ 1610475 w 2539611"/>
              <a:gd name="connsiteY2" fmla="*/ 302654 h 2544763"/>
              <a:gd name="connsiteX3" fmla="*/ 1795979 w 2539611"/>
              <a:gd name="connsiteY3" fmla="*/ 390521 h 2544763"/>
              <a:gd name="connsiteX4" fmla="*/ 2010772 w 2539611"/>
              <a:gd name="connsiteY4" fmla="*/ 241635 h 2544763"/>
              <a:gd name="connsiteX5" fmla="*/ 2252415 w 2539611"/>
              <a:gd name="connsiteY5" fmla="*/ 468625 h 2544763"/>
              <a:gd name="connsiteX6" fmla="*/ 2118169 w 2539611"/>
              <a:gd name="connsiteY6" fmla="*/ 693175 h 2544763"/>
              <a:gd name="connsiteX7" fmla="*/ 2215803 w 2539611"/>
              <a:gd name="connsiteY7" fmla="*/ 873790 h 2544763"/>
              <a:gd name="connsiteX8" fmla="*/ 2476972 w 2539611"/>
              <a:gd name="connsiteY8" fmla="*/ 878672 h 2544763"/>
              <a:gd name="connsiteX9" fmla="*/ 2498229 w 2539611"/>
              <a:gd name="connsiteY9" fmla="*/ 989860 h 2544763"/>
              <a:gd name="connsiteX10" fmla="*/ 2506402 w 2539611"/>
              <a:gd name="connsiteY10" fmla="*/ 1032609 h 2544763"/>
              <a:gd name="connsiteX11" fmla="*/ 2507896 w 2539611"/>
              <a:gd name="connsiteY11" fmla="*/ 1032329 h 2544763"/>
              <a:gd name="connsiteX12" fmla="*/ 2539611 w 2539611"/>
              <a:gd name="connsiteY12" fmla="*/ 1193358 h 2544763"/>
              <a:gd name="connsiteX13" fmla="*/ 2298093 w 2539611"/>
              <a:gd name="connsiteY13" fmla="*/ 1293391 h 2544763"/>
              <a:gd name="connsiteX14" fmla="*/ 2290774 w 2539611"/>
              <a:gd name="connsiteY14" fmla="*/ 1398304 h 2544763"/>
              <a:gd name="connsiteX15" fmla="*/ 2271257 w 2539611"/>
              <a:gd name="connsiteY15" fmla="*/ 1498337 h 2544763"/>
              <a:gd name="connsiteX16" fmla="*/ 2478622 w 2539611"/>
              <a:gd name="connsiteY16" fmla="*/ 1656926 h 2544763"/>
              <a:gd name="connsiteX17" fmla="*/ 2337126 w 2539611"/>
              <a:gd name="connsiteY17" fmla="*/ 1957025 h 2544763"/>
              <a:gd name="connsiteX18" fmla="*/ 2083410 w 2539611"/>
              <a:gd name="connsiteY18" fmla="*/ 1898469 h 2544763"/>
              <a:gd name="connsiteX19" fmla="*/ 1941915 w 2539611"/>
              <a:gd name="connsiteY19" fmla="*/ 2047299 h 2544763"/>
              <a:gd name="connsiteX20" fmla="*/ 2017541 w 2539611"/>
              <a:gd name="connsiteY20" fmla="*/ 2298602 h 2544763"/>
              <a:gd name="connsiteX21" fmla="*/ 1727232 w 2539611"/>
              <a:gd name="connsiteY21" fmla="*/ 2457191 h 2544763"/>
              <a:gd name="connsiteX22" fmla="*/ 1556461 w 2539611"/>
              <a:gd name="connsiteY22" fmla="*/ 2259565 h 2544763"/>
              <a:gd name="connsiteX23" fmla="*/ 1449080 w 2539611"/>
              <a:gd name="connsiteY23" fmla="*/ 2285864 h 2544763"/>
              <a:gd name="connsiteX24" fmla="*/ 1449587 w 2539611"/>
              <a:gd name="connsiteY24" fmla="*/ 2288563 h 2544763"/>
              <a:gd name="connsiteX25" fmla="*/ 1366589 w 2539611"/>
              <a:gd name="connsiteY25" fmla="*/ 2298323 h 2544763"/>
              <a:gd name="connsiteX26" fmla="*/ 1278708 w 2539611"/>
              <a:gd name="connsiteY26" fmla="*/ 2544763 h 2544763"/>
              <a:gd name="connsiteX27" fmla="*/ 951596 w 2539611"/>
              <a:gd name="connsiteY27" fmla="*/ 2503283 h 2544763"/>
              <a:gd name="connsiteX28" fmla="*/ 927185 w 2539611"/>
              <a:gd name="connsiteY28" fmla="*/ 2242203 h 2544763"/>
              <a:gd name="connsiteX29" fmla="*/ 741659 w 2539611"/>
              <a:gd name="connsiteY29" fmla="*/ 2154363 h 2544763"/>
              <a:gd name="connsiteX30" fmla="*/ 526839 w 2539611"/>
              <a:gd name="connsiteY30" fmla="*/ 2303203 h 2544763"/>
              <a:gd name="connsiteX31" fmla="*/ 285167 w 2539611"/>
              <a:gd name="connsiteY31" fmla="*/ 2076283 h 2544763"/>
              <a:gd name="connsiteX32" fmla="*/ 419429 w 2539611"/>
              <a:gd name="connsiteY32" fmla="*/ 1851803 h 2544763"/>
              <a:gd name="connsiteX33" fmla="*/ 321784 w 2539611"/>
              <a:gd name="connsiteY33" fmla="*/ 1671243 h 2544763"/>
              <a:gd name="connsiteX34" fmla="*/ 60582 w 2539611"/>
              <a:gd name="connsiteY34" fmla="*/ 1666362 h 2544763"/>
              <a:gd name="connsiteX35" fmla="*/ 39323 w 2539611"/>
              <a:gd name="connsiteY35" fmla="*/ 1555209 h 2544763"/>
              <a:gd name="connsiteX36" fmla="*/ 31267 w 2539611"/>
              <a:gd name="connsiteY36" fmla="*/ 1513090 h 2544763"/>
              <a:gd name="connsiteX37" fmla="*/ 29288 w 2539611"/>
              <a:gd name="connsiteY37" fmla="*/ 1513465 h 2544763"/>
              <a:gd name="connsiteX38" fmla="*/ 0 w 2539611"/>
              <a:gd name="connsiteY38" fmla="*/ 1352320 h 2544763"/>
              <a:gd name="connsiteX39" fmla="*/ 239185 w 2539611"/>
              <a:gd name="connsiteY39" fmla="*/ 1249773 h 2544763"/>
              <a:gd name="connsiteX40" fmla="*/ 246506 w 2539611"/>
              <a:gd name="connsiteY40" fmla="*/ 1147226 h 2544763"/>
              <a:gd name="connsiteX41" fmla="*/ 266031 w 2539611"/>
              <a:gd name="connsiteY41" fmla="*/ 1047120 h 2544763"/>
              <a:gd name="connsiteX42" fmla="*/ 58576 w 2539611"/>
              <a:gd name="connsiteY42" fmla="*/ 888417 h 2544763"/>
              <a:gd name="connsiteX43" fmla="*/ 200134 w 2539611"/>
              <a:gd name="connsiteY43" fmla="*/ 588100 h 2544763"/>
              <a:gd name="connsiteX44" fmla="*/ 453962 w 2539611"/>
              <a:gd name="connsiteY44" fmla="*/ 646699 h 2544763"/>
              <a:gd name="connsiteX45" fmla="*/ 595520 w 2539611"/>
              <a:gd name="connsiteY45" fmla="*/ 497762 h 2544763"/>
              <a:gd name="connsiteX46" fmla="*/ 519860 w 2539611"/>
              <a:gd name="connsiteY46" fmla="*/ 246277 h 2544763"/>
              <a:gd name="connsiteX47" fmla="*/ 812738 w 2539611"/>
              <a:gd name="connsiteY47" fmla="*/ 87573 h 2544763"/>
              <a:gd name="connsiteX48" fmla="*/ 981143 w 2539611"/>
              <a:gd name="connsiteY48" fmla="*/ 285343 h 2544763"/>
              <a:gd name="connsiteX49" fmla="*/ 1054504 w 2539611"/>
              <a:gd name="connsiteY49" fmla="*/ 266471 h 2544763"/>
              <a:gd name="connsiteX50" fmla="*/ 1053964 w 2539611"/>
              <a:gd name="connsiteY50" fmla="*/ 263602 h 2544763"/>
              <a:gd name="connsiteX51" fmla="*/ 1171125 w 2539611"/>
              <a:gd name="connsiteY51" fmla="*/ 246516 h 2544763"/>
              <a:gd name="connsiteX52" fmla="*/ 1258995 w 2539611"/>
              <a:gd name="connsiteY52" fmla="*/ 0 h 2544763"/>
              <a:gd name="connsiteX53" fmla="*/ 1269805 w 2539611"/>
              <a:gd name="connsiteY53" fmla="*/ 680341 h 2544763"/>
              <a:gd name="connsiteX54" fmla="*/ 677765 w 2539611"/>
              <a:gd name="connsiteY54" fmla="*/ 1272381 h 2544763"/>
              <a:gd name="connsiteX55" fmla="*/ 1269805 w 2539611"/>
              <a:gd name="connsiteY55" fmla="*/ 1864421 h 2544763"/>
              <a:gd name="connsiteX56" fmla="*/ 1861845 w 2539611"/>
              <a:gd name="connsiteY56" fmla="*/ 1272381 h 2544763"/>
              <a:gd name="connsiteX57" fmla="*/ 1269805 w 2539611"/>
              <a:gd name="connsiteY57" fmla="*/ 680341 h 2544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39611" h="2544763">
                <a:moveTo>
                  <a:pt x="1258995" y="0"/>
                </a:moveTo>
                <a:cubicBezTo>
                  <a:pt x="1258995" y="0"/>
                  <a:pt x="1258995" y="0"/>
                  <a:pt x="1588508" y="41493"/>
                </a:cubicBezTo>
                <a:cubicBezTo>
                  <a:pt x="1588508" y="41493"/>
                  <a:pt x="1588508" y="41493"/>
                  <a:pt x="1610475" y="302654"/>
                </a:cubicBezTo>
                <a:cubicBezTo>
                  <a:pt x="1676377" y="324621"/>
                  <a:pt x="1737399" y="353910"/>
                  <a:pt x="1795979" y="390521"/>
                </a:cubicBezTo>
                <a:cubicBezTo>
                  <a:pt x="1795979" y="390521"/>
                  <a:pt x="1795979" y="390521"/>
                  <a:pt x="2010772" y="241635"/>
                </a:cubicBezTo>
                <a:cubicBezTo>
                  <a:pt x="2010772" y="241635"/>
                  <a:pt x="2010772" y="241635"/>
                  <a:pt x="2252415" y="468625"/>
                </a:cubicBezTo>
                <a:cubicBezTo>
                  <a:pt x="2252415" y="468625"/>
                  <a:pt x="2252415" y="468625"/>
                  <a:pt x="2118169" y="693175"/>
                </a:cubicBezTo>
                <a:cubicBezTo>
                  <a:pt x="2157222" y="749312"/>
                  <a:pt x="2188953" y="810331"/>
                  <a:pt x="2215803" y="873790"/>
                </a:cubicBezTo>
                <a:cubicBezTo>
                  <a:pt x="2215803" y="873790"/>
                  <a:pt x="2215803" y="873790"/>
                  <a:pt x="2476972" y="878672"/>
                </a:cubicBezTo>
                <a:cubicBezTo>
                  <a:pt x="2476972" y="878672"/>
                  <a:pt x="2476972" y="878672"/>
                  <a:pt x="2498229" y="989860"/>
                </a:cubicBezTo>
                <a:lnTo>
                  <a:pt x="2506402" y="1032609"/>
                </a:lnTo>
                <a:lnTo>
                  <a:pt x="2507896" y="1032329"/>
                </a:lnTo>
                <a:cubicBezTo>
                  <a:pt x="2507896" y="1032329"/>
                  <a:pt x="2507896" y="1032329"/>
                  <a:pt x="2539611" y="1193358"/>
                </a:cubicBezTo>
                <a:cubicBezTo>
                  <a:pt x="2539611" y="1193358"/>
                  <a:pt x="2539611" y="1193358"/>
                  <a:pt x="2298093" y="1293391"/>
                </a:cubicBezTo>
                <a:cubicBezTo>
                  <a:pt x="2298093" y="1327549"/>
                  <a:pt x="2295653" y="1361707"/>
                  <a:pt x="2290774" y="1398304"/>
                </a:cubicBezTo>
                <a:cubicBezTo>
                  <a:pt x="2285895" y="1432461"/>
                  <a:pt x="2281016" y="1466620"/>
                  <a:pt x="2271257" y="1498337"/>
                </a:cubicBezTo>
                <a:cubicBezTo>
                  <a:pt x="2271257" y="1498337"/>
                  <a:pt x="2271257" y="1498337"/>
                  <a:pt x="2478622" y="1656926"/>
                </a:cubicBezTo>
                <a:cubicBezTo>
                  <a:pt x="2478622" y="1656926"/>
                  <a:pt x="2478622" y="1656926"/>
                  <a:pt x="2337126" y="1957025"/>
                </a:cubicBezTo>
                <a:cubicBezTo>
                  <a:pt x="2337126" y="1957025"/>
                  <a:pt x="2337126" y="1957025"/>
                  <a:pt x="2083410" y="1898469"/>
                </a:cubicBezTo>
                <a:cubicBezTo>
                  <a:pt x="2041937" y="1952146"/>
                  <a:pt x="1995585" y="2003382"/>
                  <a:pt x="1941915" y="2047299"/>
                </a:cubicBezTo>
                <a:cubicBezTo>
                  <a:pt x="1941915" y="2047299"/>
                  <a:pt x="1941915" y="2047299"/>
                  <a:pt x="2017541" y="2298602"/>
                </a:cubicBezTo>
                <a:cubicBezTo>
                  <a:pt x="2017541" y="2298602"/>
                  <a:pt x="2017541" y="2298602"/>
                  <a:pt x="1727232" y="2457191"/>
                </a:cubicBezTo>
                <a:cubicBezTo>
                  <a:pt x="1727232" y="2457191"/>
                  <a:pt x="1727232" y="2457191"/>
                  <a:pt x="1556461" y="2259565"/>
                </a:cubicBezTo>
                <a:lnTo>
                  <a:pt x="1449080" y="2285864"/>
                </a:lnTo>
                <a:lnTo>
                  <a:pt x="1449587" y="2288563"/>
                </a:lnTo>
                <a:cubicBezTo>
                  <a:pt x="1420294" y="2291003"/>
                  <a:pt x="1393441" y="2295883"/>
                  <a:pt x="1366589" y="2298323"/>
                </a:cubicBezTo>
                <a:cubicBezTo>
                  <a:pt x="1366589" y="2298323"/>
                  <a:pt x="1366589" y="2298323"/>
                  <a:pt x="1278708" y="2544763"/>
                </a:cubicBezTo>
                <a:cubicBezTo>
                  <a:pt x="1278708" y="2544763"/>
                  <a:pt x="1278708" y="2544763"/>
                  <a:pt x="951596" y="2503283"/>
                </a:cubicBezTo>
                <a:cubicBezTo>
                  <a:pt x="951596" y="2503283"/>
                  <a:pt x="951596" y="2503283"/>
                  <a:pt x="927185" y="2242203"/>
                </a:cubicBezTo>
                <a:cubicBezTo>
                  <a:pt x="863715" y="2220243"/>
                  <a:pt x="800246" y="2188523"/>
                  <a:pt x="741659" y="2154363"/>
                </a:cubicBezTo>
                <a:cubicBezTo>
                  <a:pt x="741659" y="2154363"/>
                  <a:pt x="741659" y="2154363"/>
                  <a:pt x="526839" y="2303203"/>
                </a:cubicBezTo>
                <a:cubicBezTo>
                  <a:pt x="526839" y="2303203"/>
                  <a:pt x="526839" y="2303203"/>
                  <a:pt x="285167" y="2076283"/>
                </a:cubicBezTo>
                <a:cubicBezTo>
                  <a:pt x="285167" y="2076283"/>
                  <a:pt x="285167" y="2076283"/>
                  <a:pt x="419429" y="1851803"/>
                </a:cubicBezTo>
                <a:cubicBezTo>
                  <a:pt x="382812" y="1795682"/>
                  <a:pt x="348636" y="1734683"/>
                  <a:pt x="321784" y="1671243"/>
                </a:cubicBezTo>
                <a:cubicBezTo>
                  <a:pt x="321784" y="1671243"/>
                  <a:pt x="321784" y="1671243"/>
                  <a:pt x="60582" y="1666362"/>
                </a:cubicBezTo>
                <a:cubicBezTo>
                  <a:pt x="60582" y="1666362"/>
                  <a:pt x="60582" y="1666362"/>
                  <a:pt x="39323" y="1555209"/>
                </a:cubicBezTo>
                <a:lnTo>
                  <a:pt x="31267" y="1513090"/>
                </a:lnTo>
                <a:lnTo>
                  <a:pt x="29288" y="1513465"/>
                </a:lnTo>
                <a:cubicBezTo>
                  <a:pt x="29288" y="1513465"/>
                  <a:pt x="29288" y="1513465"/>
                  <a:pt x="0" y="1352320"/>
                </a:cubicBezTo>
                <a:cubicBezTo>
                  <a:pt x="0" y="1352320"/>
                  <a:pt x="0" y="1352320"/>
                  <a:pt x="239185" y="1249773"/>
                </a:cubicBezTo>
                <a:cubicBezTo>
                  <a:pt x="241625" y="1215590"/>
                  <a:pt x="244066" y="1181408"/>
                  <a:pt x="246506" y="1147226"/>
                </a:cubicBezTo>
                <a:cubicBezTo>
                  <a:pt x="251387" y="1113043"/>
                  <a:pt x="258709" y="1078861"/>
                  <a:pt x="266031" y="1047120"/>
                </a:cubicBezTo>
                <a:cubicBezTo>
                  <a:pt x="266031" y="1047120"/>
                  <a:pt x="266031" y="1047120"/>
                  <a:pt x="58576" y="888417"/>
                </a:cubicBezTo>
                <a:cubicBezTo>
                  <a:pt x="58576" y="888417"/>
                  <a:pt x="58576" y="888417"/>
                  <a:pt x="200134" y="588100"/>
                </a:cubicBezTo>
                <a:cubicBezTo>
                  <a:pt x="200134" y="588100"/>
                  <a:pt x="200134" y="588100"/>
                  <a:pt x="453962" y="646699"/>
                </a:cubicBezTo>
                <a:cubicBezTo>
                  <a:pt x="495453" y="592984"/>
                  <a:pt x="544266" y="541710"/>
                  <a:pt x="595520" y="497762"/>
                </a:cubicBezTo>
                <a:cubicBezTo>
                  <a:pt x="595520" y="497762"/>
                  <a:pt x="595520" y="497762"/>
                  <a:pt x="519860" y="246277"/>
                </a:cubicBezTo>
                <a:cubicBezTo>
                  <a:pt x="519860" y="246277"/>
                  <a:pt x="519860" y="246277"/>
                  <a:pt x="812738" y="87573"/>
                </a:cubicBezTo>
                <a:cubicBezTo>
                  <a:pt x="812738" y="87573"/>
                  <a:pt x="812738" y="87573"/>
                  <a:pt x="981143" y="285343"/>
                </a:cubicBezTo>
                <a:lnTo>
                  <a:pt x="1054504" y="266471"/>
                </a:lnTo>
                <a:lnTo>
                  <a:pt x="1053964" y="263602"/>
                </a:lnTo>
                <a:cubicBezTo>
                  <a:pt x="1093018" y="256280"/>
                  <a:pt x="1132071" y="248957"/>
                  <a:pt x="1171125" y="246516"/>
                </a:cubicBezTo>
                <a:cubicBezTo>
                  <a:pt x="1171125" y="246516"/>
                  <a:pt x="1171125" y="246516"/>
                  <a:pt x="1258995" y="0"/>
                </a:cubicBezTo>
                <a:close/>
                <a:moveTo>
                  <a:pt x="1269805" y="680341"/>
                </a:moveTo>
                <a:cubicBezTo>
                  <a:pt x="942830" y="680341"/>
                  <a:pt x="677765" y="945406"/>
                  <a:pt x="677765" y="1272381"/>
                </a:cubicBezTo>
                <a:cubicBezTo>
                  <a:pt x="677765" y="1599356"/>
                  <a:pt x="942830" y="1864421"/>
                  <a:pt x="1269805" y="1864421"/>
                </a:cubicBezTo>
                <a:cubicBezTo>
                  <a:pt x="1596780" y="1864421"/>
                  <a:pt x="1861845" y="1599356"/>
                  <a:pt x="1861845" y="1272381"/>
                </a:cubicBezTo>
                <a:cubicBezTo>
                  <a:pt x="1861845" y="945406"/>
                  <a:pt x="1596780" y="680341"/>
                  <a:pt x="1269805" y="68034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Freeform 11"/>
          <p:cNvSpPr/>
          <p:nvPr/>
        </p:nvSpPr>
        <p:spPr>
          <a:xfrm rot="21194529">
            <a:off x="8200571" y="4630085"/>
            <a:ext cx="1210474" cy="1212929"/>
          </a:xfrm>
          <a:custGeom>
            <a:avLst/>
            <a:gdLst>
              <a:gd name="connsiteX0" fmla="*/ 1258995 w 2539611"/>
              <a:gd name="connsiteY0" fmla="*/ 0 h 2544763"/>
              <a:gd name="connsiteX1" fmla="*/ 1588508 w 2539611"/>
              <a:gd name="connsiteY1" fmla="*/ 41493 h 2544763"/>
              <a:gd name="connsiteX2" fmla="*/ 1610475 w 2539611"/>
              <a:gd name="connsiteY2" fmla="*/ 302654 h 2544763"/>
              <a:gd name="connsiteX3" fmla="*/ 1795979 w 2539611"/>
              <a:gd name="connsiteY3" fmla="*/ 390521 h 2544763"/>
              <a:gd name="connsiteX4" fmla="*/ 2010772 w 2539611"/>
              <a:gd name="connsiteY4" fmla="*/ 241635 h 2544763"/>
              <a:gd name="connsiteX5" fmla="*/ 2252415 w 2539611"/>
              <a:gd name="connsiteY5" fmla="*/ 468625 h 2544763"/>
              <a:gd name="connsiteX6" fmla="*/ 2118169 w 2539611"/>
              <a:gd name="connsiteY6" fmla="*/ 693175 h 2544763"/>
              <a:gd name="connsiteX7" fmla="*/ 2215803 w 2539611"/>
              <a:gd name="connsiteY7" fmla="*/ 873790 h 2544763"/>
              <a:gd name="connsiteX8" fmla="*/ 2476972 w 2539611"/>
              <a:gd name="connsiteY8" fmla="*/ 878672 h 2544763"/>
              <a:gd name="connsiteX9" fmla="*/ 2498229 w 2539611"/>
              <a:gd name="connsiteY9" fmla="*/ 989860 h 2544763"/>
              <a:gd name="connsiteX10" fmla="*/ 2506402 w 2539611"/>
              <a:gd name="connsiteY10" fmla="*/ 1032609 h 2544763"/>
              <a:gd name="connsiteX11" fmla="*/ 2507896 w 2539611"/>
              <a:gd name="connsiteY11" fmla="*/ 1032329 h 2544763"/>
              <a:gd name="connsiteX12" fmla="*/ 2539611 w 2539611"/>
              <a:gd name="connsiteY12" fmla="*/ 1193358 h 2544763"/>
              <a:gd name="connsiteX13" fmla="*/ 2298093 w 2539611"/>
              <a:gd name="connsiteY13" fmla="*/ 1293391 h 2544763"/>
              <a:gd name="connsiteX14" fmla="*/ 2290774 w 2539611"/>
              <a:gd name="connsiteY14" fmla="*/ 1398304 h 2544763"/>
              <a:gd name="connsiteX15" fmla="*/ 2271257 w 2539611"/>
              <a:gd name="connsiteY15" fmla="*/ 1498337 h 2544763"/>
              <a:gd name="connsiteX16" fmla="*/ 2478622 w 2539611"/>
              <a:gd name="connsiteY16" fmla="*/ 1656926 h 2544763"/>
              <a:gd name="connsiteX17" fmla="*/ 2337126 w 2539611"/>
              <a:gd name="connsiteY17" fmla="*/ 1957025 h 2544763"/>
              <a:gd name="connsiteX18" fmla="*/ 2083410 w 2539611"/>
              <a:gd name="connsiteY18" fmla="*/ 1898469 h 2544763"/>
              <a:gd name="connsiteX19" fmla="*/ 1941915 w 2539611"/>
              <a:gd name="connsiteY19" fmla="*/ 2047299 h 2544763"/>
              <a:gd name="connsiteX20" fmla="*/ 2017541 w 2539611"/>
              <a:gd name="connsiteY20" fmla="*/ 2298602 h 2544763"/>
              <a:gd name="connsiteX21" fmla="*/ 1727232 w 2539611"/>
              <a:gd name="connsiteY21" fmla="*/ 2457191 h 2544763"/>
              <a:gd name="connsiteX22" fmla="*/ 1556461 w 2539611"/>
              <a:gd name="connsiteY22" fmla="*/ 2259565 h 2544763"/>
              <a:gd name="connsiteX23" fmla="*/ 1449080 w 2539611"/>
              <a:gd name="connsiteY23" fmla="*/ 2285864 h 2544763"/>
              <a:gd name="connsiteX24" fmla="*/ 1449587 w 2539611"/>
              <a:gd name="connsiteY24" fmla="*/ 2288563 h 2544763"/>
              <a:gd name="connsiteX25" fmla="*/ 1366589 w 2539611"/>
              <a:gd name="connsiteY25" fmla="*/ 2298323 h 2544763"/>
              <a:gd name="connsiteX26" fmla="*/ 1278708 w 2539611"/>
              <a:gd name="connsiteY26" fmla="*/ 2544763 h 2544763"/>
              <a:gd name="connsiteX27" fmla="*/ 951596 w 2539611"/>
              <a:gd name="connsiteY27" fmla="*/ 2503283 h 2544763"/>
              <a:gd name="connsiteX28" fmla="*/ 927185 w 2539611"/>
              <a:gd name="connsiteY28" fmla="*/ 2242203 h 2544763"/>
              <a:gd name="connsiteX29" fmla="*/ 741659 w 2539611"/>
              <a:gd name="connsiteY29" fmla="*/ 2154363 h 2544763"/>
              <a:gd name="connsiteX30" fmla="*/ 526839 w 2539611"/>
              <a:gd name="connsiteY30" fmla="*/ 2303203 h 2544763"/>
              <a:gd name="connsiteX31" fmla="*/ 285167 w 2539611"/>
              <a:gd name="connsiteY31" fmla="*/ 2076283 h 2544763"/>
              <a:gd name="connsiteX32" fmla="*/ 419429 w 2539611"/>
              <a:gd name="connsiteY32" fmla="*/ 1851803 h 2544763"/>
              <a:gd name="connsiteX33" fmla="*/ 321784 w 2539611"/>
              <a:gd name="connsiteY33" fmla="*/ 1671243 h 2544763"/>
              <a:gd name="connsiteX34" fmla="*/ 60582 w 2539611"/>
              <a:gd name="connsiteY34" fmla="*/ 1666362 h 2544763"/>
              <a:gd name="connsiteX35" fmla="*/ 39323 w 2539611"/>
              <a:gd name="connsiteY35" fmla="*/ 1555209 h 2544763"/>
              <a:gd name="connsiteX36" fmla="*/ 31267 w 2539611"/>
              <a:gd name="connsiteY36" fmla="*/ 1513090 h 2544763"/>
              <a:gd name="connsiteX37" fmla="*/ 29288 w 2539611"/>
              <a:gd name="connsiteY37" fmla="*/ 1513465 h 2544763"/>
              <a:gd name="connsiteX38" fmla="*/ 0 w 2539611"/>
              <a:gd name="connsiteY38" fmla="*/ 1352320 h 2544763"/>
              <a:gd name="connsiteX39" fmla="*/ 239185 w 2539611"/>
              <a:gd name="connsiteY39" fmla="*/ 1249773 h 2544763"/>
              <a:gd name="connsiteX40" fmla="*/ 246506 w 2539611"/>
              <a:gd name="connsiteY40" fmla="*/ 1147226 h 2544763"/>
              <a:gd name="connsiteX41" fmla="*/ 266031 w 2539611"/>
              <a:gd name="connsiteY41" fmla="*/ 1047120 h 2544763"/>
              <a:gd name="connsiteX42" fmla="*/ 58576 w 2539611"/>
              <a:gd name="connsiteY42" fmla="*/ 888417 h 2544763"/>
              <a:gd name="connsiteX43" fmla="*/ 200134 w 2539611"/>
              <a:gd name="connsiteY43" fmla="*/ 588100 h 2544763"/>
              <a:gd name="connsiteX44" fmla="*/ 453962 w 2539611"/>
              <a:gd name="connsiteY44" fmla="*/ 646699 h 2544763"/>
              <a:gd name="connsiteX45" fmla="*/ 595520 w 2539611"/>
              <a:gd name="connsiteY45" fmla="*/ 497762 h 2544763"/>
              <a:gd name="connsiteX46" fmla="*/ 519860 w 2539611"/>
              <a:gd name="connsiteY46" fmla="*/ 246277 h 2544763"/>
              <a:gd name="connsiteX47" fmla="*/ 812738 w 2539611"/>
              <a:gd name="connsiteY47" fmla="*/ 87573 h 2544763"/>
              <a:gd name="connsiteX48" fmla="*/ 981143 w 2539611"/>
              <a:gd name="connsiteY48" fmla="*/ 285343 h 2544763"/>
              <a:gd name="connsiteX49" fmla="*/ 1054504 w 2539611"/>
              <a:gd name="connsiteY49" fmla="*/ 266471 h 2544763"/>
              <a:gd name="connsiteX50" fmla="*/ 1053964 w 2539611"/>
              <a:gd name="connsiteY50" fmla="*/ 263602 h 2544763"/>
              <a:gd name="connsiteX51" fmla="*/ 1171125 w 2539611"/>
              <a:gd name="connsiteY51" fmla="*/ 246516 h 2544763"/>
              <a:gd name="connsiteX52" fmla="*/ 1258995 w 2539611"/>
              <a:gd name="connsiteY52" fmla="*/ 0 h 2544763"/>
              <a:gd name="connsiteX53" fmla="*/ 1269805 w 2539611"/>
              <a:gd name="connsiteY53" fmla="*/ 680341 h 2544763"/>
              <a:gd name="connsiteX54" fmla="*/ 677765 w 2539611"/>
              <a:gd name="connsiteY54" fmla="*/ 1272381 h 2544763"/>
              <a:gd name="connsiteX55" fmla="*/ 1269805 w 2539611"/>
              <a:gd name="connsiteY55" fmla="*/ 1864421 h 2544763"/>
              <a:gd name="connsiteX56" fmla="*/ 1861845 w 2539611"/>
              <a:gd name="connsiteY56" fmla="*/ 1272381 h 2544763"/>
              <a:gd name="connsiteX57" fmla="*/ 1269805 w 2539611"/>
              <a:gd name="connsiteY57" fmla="*/ 680341 h 2544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39611" h="2544763">
                <a:moveTo>
                  <a:pt x="1258995" y="0"/>
                </a:moveTo>
                <a:cubicBezTo>
                  <a:pt x="1258995" y="0"/>
                  <a:pt x="1258995" y="0"/>
                  <a:pt x="1588508" y="41493"/>
                </a:cubicBezTo>
                <a:cubicBezTo>
                  <a:pt x="1588508" y="41493"/>
                  <a:pt x="1588508" y="41493"/>
                  <a:pt x="1610475" y="302654"/>
                </a:cubicBezTo>
                <a:cubicBezTo>
                  <a:pt x="1676377" y="324621"/>
                  <a:pt x="1737399" y="353910"/>
                  <a:pt x="1795979" y="390521"/>
                </a:cubicBezTo>
                <a:cubicBezTo>
                  <a:pt x="1795979" y="390521"/>
                  <a:pt x="1795979" y="390521"/>
                  <a:pt x="2010772" y="241635"/>
                </a:cubicBezTo>
                <a:cubicBezTo>
                  <a:pt x="2010772" y="241635"/>
                  <a:pt x="2010772" y="241635"/>
                  <a:pt x="2252415" y="468625"/>
                </a:cubicBezTo>
                <a:cubicBezTo>
                  <a:pt x="2252415" y="468625"/>
                  <a:pt x="2252415" y="468625"/>
                  <a:pt x="2118169" y="693175"/>
                </a:cubicBezTo>
                <a:cubicBezTo>
                  <a:pt x="2157222" y="749312"/>
                  <a:pt x="2188953" y="810331"/>
                  <a:pt x="2215803" y="873790"/>
                </a:cubicBezTo>
                <a:cubicBezTo>
                  <a:pt x="2215803" y="873790"/>
                  <a:pt x="2215803" y="873790"/>
                  <a:pt x="2476972" y="878672"/>
                </a:cubicBezTo>
                <a:cubicBezTo>
                  <a:pt x="2476972" y="878672"/>
                  <a:pt x="2476972" y="878672"/>
                  <a:pt x="2498229" y="989860"/>
                </a:cubicBezTo>
                <a:lnTo>
                  <a:pt x="2506402" y="1032609"/>
                </a:lnTo>
                <a:lnTo>
                  <a:pt x="2507896" y="1032329"/>
                </a:lnTo>
                <a:cubicBezTo>
                  <a:pt x="2507896" y="1032329"/>
                  <a:pt x="2507896" y="1032329"/>
                  <a:pt x="2539611" y="1193358"/>
                </a:cubicBezTo>
                <a:cubicBezTo>
                  <a:pt x="2539611" y="1193358"/>
                  <a:pt x="2539611" y="1193358"/>
                  <a:pt x="2298093" y="1293391"/>
                </a:cubicBezTo>
                <a:cubicBezTo>
                  <a:pt x="2298093" y="1327549"/>
                  <a:pt x="2295653" y="1361707"/>
                  <a:pt x="2290774" y="1398304"/>
                </a:cubicBezTo>
                <a:cubicBezTo>
                  <a:pt x="2285895" y="1432461"/>
                  <a:pt x="2281016" y="1466620"/>
                  <a:pt x="2271257" y="1498337"/>
                </a:cubicBezTo>
                <a:cubicBezTo>
                  <a:pt x="2271257" y="1498337"/>
                  <a:pt x="2271257" y="1498337"/>
                  <a:pt x="2478622" y="1656926"/>
                </a:cubicBezTo>
                <a:cubicBezTo>
                  <a:pt x="2478622" y="1656926"/>
                  <a:pt x="2478622" y="1656926"/>
                  <a:pt x="2337126" y="1957025"/>
                </a:cubicBezTo>
                <a:cubicBezTo>
                  <a:pt x="2337126" y="1957025"/>
                  <a:pt x="2337126" y="1957025"/>
                  <a:pt x="2083410" y="1898469"/>
                </a:cubicBezTo>
                <a:cubicBezTo>
                  <a:pt x="2041937" y="1952146"/>
                  <a:pt x="1995585" y="2003382"/>
                  <a:pt x="1941915" y="2047299"/>
                </a:cubicBezTo>
                <a:cubicBezTo>
                  <a:pt x="1941915" y="2047299"/>
                  <a:pt x="1941915" y="2047299"/>
                  <a:pt x="2017541" y="2298602"/>
                </a:cubicBezTo>
                <a:cubicBezTo>
                  <a:pt x="2017541" y="2298602"/>
                  <a:pt x="2017541" y="2298602"/>
                  <a:pt x="1727232" y="2457191"/>
                </a:cubicBezTo>
                <a:cubicBezTo>
                  <a:pt x="1727232" y="2457191"/>
                  <a:pt x="1727232" y="2457191"/>
                  <a:pt x="1556461" y="2259565"/>
                </a:cubicBezTo>
                <a:lnTo>
                  <a:pt x="1449080" y="2285864"/>
                </a:lnTo>
                <a:lnTo>
                  <a:pt x="1449587" y="2288563"/>
                </a:lnTo>
                <a:cubicBezTo>
                  <a:pt x="1420294" y="2291003"/>
                  <a:pt x="1393441" y="2295883"/>
                  <a:pt x="1366589" y="2298323"/>
                </a:cubicBezTo>
                <a:cubicBezTo>
                  <a:pt x="1366589" y="2298323"/>
                  <a:pt x="1366589" y="2298323"/>
                  <a:pt x="1278708" y="2544763"/>
                </a:cubicBezTo>
                <a:cubicBezTo>
                  <a:pt x="1278708" y="2544763"/>
                  <a:pt x="1278708" y="2544763"/>
                  <a:pt x="951596" y="2503283"/>
                </a:cubicBezTo>
                <a:cubicBezTo>
                  <a:pt x="951596" y="2503283"/>
                  <a:pt x="951596" y="2503283"/>
                  <a:pt x="927185" y="2242203"/>
                </a:cubicBezTo>
                <a:cubicBezTo>
                  <a:pt x="863715" y="2220243"/>
                  <a:pt x="800246" y="2188523"/>
                  <a:pt x="741659" y="2154363"/>
                </a:cubicBezTo>
                <a:cubicBezTo>
                  <a:pt x="741659" y="2154363"/>
                  <a:pt x="741659" y="2154363"/>
                  <a:pt x="526839" y="2303203"/>
                </a:cubicBezTo>
                <a:cubicBezTo>
                  <a:pt x="526839" y="2303203"/>
                  <a:pt x="526839" y="2303203"/>
                  <a:pt x="285167" y="2076283"/>
                </a:cubicBezTo>
                <a:cubicBezTo>
                  <a:pt x="285167" y="2076283"/>
                  <a:pt x="285167" y="2076283"/>
                  <a:pt x="419429" y="1851803"/>
                </a:cubicBezTo>
                <a:cubicBezTo>
                  <a:pt x="382812" y="1795682"/>
                  <a:pt x="348636" y="1734683"/>
                  <a:pt x="321784" y="1671243"/>
                </a:cubicBezTo>
                <a:cubicBezTo>
                  <a:pt x="321784" y="1671243"/>
                  <a:pt x="321784" y="1671243"/>
                  <a:pt x="60582" y="1666362"/>
                </a:cubicBezTo>
                <a:cubicBezTo>
                  <a:pt x="60582" y="1666362"/>
                  <a:pt x="60582" y="1666362"/>
                  <a:pt x="39323" y="1555209"/>
                </a:cubicBezTo>
                <a:lnTo>
                  <a:pt x="31267" y="1513090"/>
                </a:lnTo>
                <a:lnTo>
                  <a:pt x="29288" y="1513465"/>
                </a:lnTo>
                <a:cubicBezTo>
                  <a:pt x="29288" y="1513465"/>
                  <a:pt x="29288" y="1513465"/>
                  <a:pt x="0" y="1352320"/>
                </a:cubicBezTo>
                <a:cubicBezTo>
                  <a:pt x="0" y="1352320"/>
                  <a:pt x="0" y="1352320"/>
                  <a:pt x="239185" y="1249773"/>
                </a:cubicBezTo>
                <a:cubicBezTo>
                  <a:pt x="241625" y="1215590"/>
                  <a:pt x="244066" y="1181408"/>
                  <a:pt x="246506" y="1147226"/>
                </a:cubicBezTo>
                <a:cubicBezTo>
                  <a:pt x="251387" y="1113043"/>
                  <a:pt x="258709" y="1078861"/>
                  <a:pt x="266031" y="1047120"/>
                </a:cubicBezTo>
                <a:cubicBezTo>
                  <a:pt x="266031" y="1047120"/>
                  <a:pt x="266031" y="1047120"/>
                  <a:pt x="58576" y="888417"/>
                </a:cubicBezTo>
                <a:cubicBezTo>
                  <a:pt x="58576" y="888417"/>
                  <a:pt x="58576" y="888417"/>
                  <a:pt x="200134" y="588100"/>
                </a:cubicBezTo>
                <a:cubicBezTo>
                  <a:pt x="200134" y="588100"/>
                  <a:pt x="200134" y="588100"/>
                  <a:pt x="453962" y="646699"/>
                </a:cubicBezTo>
                <a:cubicBezTo>
                  <a:pt x="495453" y="592984"/>
                  <a:pt x="544266" y="541710"/>
                  <a:pt x="595520" y="497762"/>
                </a:cubicBezTo>
                <a:cubicBezTo>
                  <a:pt x="595520" y="497762"/>
                  <a:pt x="595520" y="497762"/>
                  <a:pt x="519860" y="246277"/>
                </a:cubicBezTo>
                <a:cubicBezTo>
                  <a:pt x="519860" y="246277"/>
                  <a:pt x="519860" y="246277"/>
                  <a:pt x="812738" y="87573"/>
                </a:cubicBezTo>
                <a:cubicBezTo>
                  <a:pt x="812738" y="87573"/>
                  <a:pt x="812738" y="87573"/>
                  <a:pt x="981143" y="285343"/>
                </a:cubicBezTo>
                <a:lnTo>
                  <a:pt x="1054504" y="266471"/>
                </a:lnTo>
                <a:lnTo>
                  <a:pt x="1053964" y="263602"/>
                </a:lnTo>
                <a:cubicBezTo>
                  <a:pt x="1093018" y="256280"/>
                  <a:pt x="1132071" y="248957"/>
                  <a:pt x="1171125" y="246516"/>
                </a:cubicBezTo>
                <a:cubicBezTo>
                  <a:pt x="1171125" y="246516"/>
                  <a:pt x="1171125" y="246516"/>
                  <a:pt x="1258995" y="0"/>
                </a:cubicBezTo>
                <a:close/>
                <a:moveTo>
                  <a:pt x="1269805" y="680341"/>
                </a:moveTo>
                <a:cubicBezTo>
                  <a:pt x="942830" y="680341"/>
                  <a:pt x="677765" y="945406"/>
                  <a:pt x="677765" y="1272381"/>
                </a:cubicBezTo>
                <a:cubicBezTo>
                  <a:pt x="677765" y="1599356"/>
                  <a:pt x="942830" y="1864421"/>
                  <a:pt x="1269805" y="1864421"/>
                </a:cubicBezTo>
                <a:cubicBezTo>
                  <a:pt x="1596780" y="1864421"/>
                  <a:pt x="1861845" y="1599356"/>
                  <a:pt x="1861845" y="1272381"/>
                </a:cubicBezTo>
                <a:cubicBezTo>
                  <a:pt x="1861845" y="945406"/>
                  <a:pt x="1596780" y="680341"/>
                  <a:pt x="1269805" y="6803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Box 13"/>
          <p:cNvSpPr txBox="1"/>
          <p:nvPr/>
        </p:nvSpPr>
        <p:spPr>
          <a:xfrm>
            <a:off x="1880287" y="5381575"/>
            <a:ext cx="2626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大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80287" y="5738294"/>
            <a:ext cx="2495167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5" dirty="0"/>
              <a:t>大</a:t>
            </a:r>
            <a:r>
              <a:rPr lang="en-US" altLang="zh-CN" sz="2135" dirty="0"/>
              <a:t>-</a:t>
            </a:r>
            <a:r>
              <a:rPr lang="zh-CN" altLang="en-US" sz="2135" dirty="0"/>
              <a:t>叙事故事大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787" y="5381575"/>
            <a:ext cx="2626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2"/>
                </a:solidFill>
              </a:rPr>
              <a:t>多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64787" y="5738294"/>
            <a:ext cx="255846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5" dirty="0"/>
              <a:t>相关股票多</a:t>
            </a:r>
            <a:endParaRPr lang="en-US" sz="2135" dirty="0"/>
          </a:p>
        </p:txBody>
      </p:sp>
      <p:sp>
        <p:nvSpPr>
          <p:cNvPr id="18" name="TextBox 17"/>
          <p:cNvSpPr txBox="1"/>
          <p:nvPr/>
        </p:nvSpPr>
        <p:spPr>
          <a:xfrm>
            <a:off x="3079527" y="1778697"/>
            <a:ext cx="2626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accent3"/>
                </a:solidFill>
              </a:rPr>
              <a:t>新</a:t>
            </a:r>
            <a:endParaRPr lang="en-US" sz="2400" b="1" dirty="0">
              <a:solidFill>
                <a:schemeClr val="accent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70553" y="2135416"/>
            <a:ext cx="243511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135" dirty="0"/>
              <a:t>大家没听过</a:t>
            </a:r>
            <a:endParaRPr lang="en-US" sz="2135" dirty="0"/>
          </a:p>
        </p:txBody>
      </p:sp>
      <p:sp>
        <p:nvSpPr>
          <p:cNvPr id="20" name="TextBox 19"/>
          <p:cNvSpPr txBox="1"/>
          <p:nvPr/>
        </p:nvSpPr>
        <p:spPr>
          <a:xfrm>
            <a:off x="8526119" y="2050991"/>
            <a:ext cx="2626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4"/>
                </a:solidFill>
              </a:rPr>
              <a:t>久</a:t>
            </a:r>
            <a:endParaRPr lang="en-US" sz="2400" b="1" dirty="0">
              <a:solidFill>
                <a:schemeClr val="accent4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26119" y="2407710"/>
            <a:ext cx="258033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5" dirty="0"/>
              <a:t>炒作的持续性久</a:t>
            </a:r>
            <a:endParaRPr lang="en-US" sz="2135" dirty="0"/>
          </a:p>
        </p:txBody>
      </p:sp>
      <p:sp>
        <p:nvSpPr>
          <p:cNvPr id="22" name="TextBox 21"/>
          <p:cNvSpPr txBox="1"/>
          <p:nvPr/>
        </p:nvSpPr>
        <p:spPr>
          <a:xfrm>
            <a:off x="9478205" y="5605792"/>
            <a:ext cx="2626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5"/>
                </a:solidFill>
              </a:rPr>
              <a:t>准</a:t>
            </a:r>
            <a:endParaRPr lang="en-US" sz="2400" b="1" dirty="0">
              <a:solidFill>
                <a:schemeClr val="accent5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78205" y="5962511"/>
            <a:ext cx="2910948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5" dirty="0"/>
              <a:t>出炉时间准</a:t>
            </a:r>
            <a:endParaRPr lang="en-US" sz="2135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377939" y="2524464"/>
            <a:ext cx="11177595" cy="2706954"/>
          </a:xfrm>
          <a:prstGeom prst="flowChartProcess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1049" b="1049"/>
          <a:stretch>
            <a:fillRect/>
          </a:stretch>
        </p:blipFill>
        <p:spPr>
          <a:xfrm flipH="1">
            <a:off x="544696" y="2081739"/>
            <a:ext cx="4443115" cy="289993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矩形 2"/>
          <p:cNvSpPr/>
          <p:nvPr/>
        </p:nvSpPr>
        <p:spPr>
          <a:xfrm>
            <a:off x="7109246" y="3882900"/>
            <a:ext cx="1548822" cy="3350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57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Fundamentals</a:t>
            </a:r>
          </a:p>
        </p:txBody>
      </p:sp>
      <p:sp>
        <p:nvSpPr>
          <p:cNvPr id="4" name="TextBox 76"/>
          <p:cNvSpPr txBox="1"/>
          <p:nvPr/>
        </p:nvSpPr>
        <p:spPr>
          <a:xfrm>
            <a:off x="5795028" y="3134854"/>
            <a:ext cx="4177259" cy="739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205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基本面</a:t>
            </a:r>
          </a:p>
        </p:txBody>
      </p:sp>
      <p:sp>
        <p:nvSpPr>
          <p:cNvPr id="6" name="TextBox 37"/>
          <p:cNvSpPr txBox="1"/>
          <p:nvPr/>
        </p:nvSpPr>
        <p:spPr>
          <a:xfrm>
            <a:off x="3529555" y="3252941"/>
            <a:ext cx="646373" cy="69755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lang="en-US" altLang="zh-CN" sz="6305" dirty="0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</a:p>
        </p:txBody>
      </p:sp>
    </p:spTree>
  </p:cSld>
  <p:clrMapOvr>
    <a:masterClrMapping/>
  </p:clrMapOvr>
  <p:transition spd="slow" advClick="0" advTm="2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3"/>
          <p:cNvSpPr txBox="1"/>
          <p:nvPr/>
        </p:nvSpPr>
        <p:spPr>
          <a:xfrm>
            <a:off x="8743950" y="1474619"/>
            <a:ext cx="441597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企业基本面分析：框架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HOW </a:t>
            </a:r>
          </a:p>
          <a:p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行业空间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商业模式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核心竞争力（行业定价权）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市场壁垒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成长性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回报率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安全性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13"/>
          <p:cNvSpPr txBox="1"/>
          <p:nvPr/>
        </p:nvSpPr>
        <p:spPr>
          <a:xfrm>
            <a:off x="778526" y="1474619"/>
            <a:ext cx="404140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基本面分析：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WHY </a:t>
            </a:r>
          </a:p>
          <a:p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底层价值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基本趋势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基本面：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Pick Directions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技术面：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Entries &amp; Exits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13"/>
          <p:cNvSpPr txBox="1"/>
          <p:nvPr/>
        </p:nvSpPr>
        <p:spPr>
          <a:xfrm>
            <a:off x="778526" y="3621110"/>
            <a:ext cx="404140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基本面分析：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WHAT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宏观流动性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市场情绪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经济周期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企业基本面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占位符 6"/>
          <p:cNvPicPr>
            <a:picLocks noGrp="1" noChangeAspect="1"/>
          </p:cNvPicPr>
          <p:nvPr/>
        </p:nvPicPr>
        <p:blipFill>
          <a:blip r:embed="rId2"/>
          <a:srcRect t="8294" b="8294"/>
          <a:stretch>
            <a:fillRect/>
          </a:stretch>
        </p:blipFill>
        <p:spPr>
          <a:xfrm>
            <a:off x="3448050" y="0"/>
            <a:ext cx="5295900" cy="6858000"/>
          </a:xfrm>
          <a:prstGeom prst="trapezoid">
            <a:avLst/>
          </a:prstGeom>
          <a:ln>
            <a:solidFill>
              <a:schemeClr val="tx1"/>
            </a:solidFill>
          </a:ln>
        </p:spPr>
      </p:pic>
      <p:sp>
        <p:nvSpPr>
          <p:cNvPr id="9" name="Oval 8"/>
          <p:cNvSpPr/>
          <p:nvPr/>
        </p:nvSpPr>
        <p:spPr>
          <a:xfrm>
            <a:off x="318655" y="1136073"/>
            <a:ext cx="459871" cy="4589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11" name="图形 10" descr="条形图 纯色填充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409" y="1189710"/>
            <a:ext cx="346364" cy="346364"/>
          </a:xfrm>
          <a:prstGeom prst="rect">
            <a:avLst/>
          </a:prstGeom>
        </p:spPr>
      </p:pic>
      <p:pic>
        <p:nvPicPr>
          <p:cNvPr id="13" name="图形 12" descr="靶心 纯色填充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5411" y="3333922"/>
            <a:ext cx="395176" cy="395176"/>
          </a:xfrm>
          <a:prstGeom prst="rect">
            <a:avLst/>
          </a:prstGeom>
        </p:spPr>
      </p:pic>
      <p:pic>
        <p:nvPicPr>
          <p:cNvPr id="15" name="图形 14" descr="业务增长 纯色填充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6274" y="1139365"/>
            <a:ext cx="457200" cy="457200"/>
          </a:xfrm>
          <a:prstGeom prst="rect">
            <a:avLst/>
          </a:prstGeom>
        </p:spPr>
      </p:pic>
      <p:sp>
        <p:nvSpPr>
          <p:cNvPr id="16" name="Oval 8"/>
          <p:cNvSpPr/>
          <p:nvPr/>
        </p:nvSpPr>
        <p:spPr>
          <a:xfrm>
            <a:off x="318655" y="3303300"/>
            <a:ext cx="459871" cy="4589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7" name="Oval 8"/>
          <p:cNvSpPr/>
          <p:nvPr/>
        </p:nvSpPr>
        <p:spPr>
          <a:xfrm>
            <a:off x="8283603" y="1133442"/>
            <a:ext cx="459871" cy="4589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227" y="1909065"/>
            <a:ext cx="7279054" cy="4122592"/>
          </a:xfrm>
          <a:prstGeom prst="rect">
            <a:avLst/>
          </a:prstGeom>
        </p:spPr>
      </p:pic>
      <p:pic>
        <p:nvPicPr>
          <p:cNvPr id="10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0172" y="1909065"/>
            <a:ext cx="7279054" cy="412259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02893" y="693087"/>
            <a:ext cx="10515600" cy="924517"/>
          </a:xfrm>
        </p:spPr>
        <p:txBody>
          <a:bodyPr>
            <a:normAutofit/>
          </a:bodyPr>
          <a:lstStyle/>
          <a:p>
            <a:pPr defTabSz="1371600"/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</a:rPr>
              <a:t>经济增速是企业盈利的重要表征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45362" y="2379075"/>
            <a:ext cx="4607985" cy="2861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l="11478" r="11478"/>
          <a:stretch>
            <a:fillRect/>
          </a:stretch>
        </p:blipFill>
        <p:spPr>
          <a:xfrm>
            <a:off x="6599098" y="2379075"/>
            <a:ext cx="4607985" cy="28613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4747496" y="6031657"/>
            <a:ext cx="2313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数据来源：</a:t>
            </a:r>
            <a:r>
              <a:rPr kumimoji="1" lang="en-US" altLang="zh-CN" sz="1200" dirty="0">
                <a:latin typeface="微软雅黑" panose="020B0503020204020204" charset="-122"/>
                <a:ea typeface="微软雅黑" panose="020B0503020204020204" charset="-122"/>
              </a:rPr>
              <a:t>Wind</a:t>
            </a:r>
            <a:r>
              <a:rPr kumimoji="1"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 中信建投期货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3"/>
          <p:cNvSpPr txBox="1"/>
          <p:nvPr/>
        </p:nvSpPr>
        <p:spPr>
          <a:xfrm>
            <a:off x="1498294" y="1843316"/>
            <a:ext cx="664044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消费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投资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出口：主要受全球经济影响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左大括号 3"/>
          <p:cNvSpPr/>
          <p:nvPr/>
        </p:nvSpPr>
        <p:spPr>
          <a:xfrm>
            <a:off x="2379640" y="1992472"/>
            <a:ext cx="440676" cy="256527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" name="直线连接符 5"/>
          <p:cNvCxnSpPr/>
          <p:nvPr/>
        </p:nvCxnSpPr>
        <p:spPr>
          <a:xfrm flipH="1">
            <a:off x="1178749" y="3249758"/>
            <a:ext cx="446184" cy="9722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线连接符 7"/>
          <p:cNvCxnSpPr/>
          <p:nvPr/>
        </p:nvCxnSpPr>
        <p:spPr>
          <a:xfrm>
            <a:off x="1171893" y="4221997"/>
            <a:ext cx="446184" cy="9557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820320" y="240295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制造业投资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820320" y="312122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房地产投资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820320" y="394687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基建投资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48618" y="406810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双引擎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095" y="572462"/>
            <a:ext cx="5476478" cy="271642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095" y="3613031"/>
            <a:ext cx="5366309" cy="2672507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42585" y="1054934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宏观基本面分析：需求框架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3"/>
          <p:cNvSpPr txBox="1"/>
          <p:nvPr/>
        </p:nvSpPr>
        <p:spPr>
          <a:xfrm>
            <a:off x="1680025" y="2053031"/>
            <a:ext cx="441597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企业盈利宏观指标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投资类指标：重点跟踪基建投资、房地产销售、制造业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PMI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消费类指标：主要跟踪社零数据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进出口类指标：主要反映我国内外需，其中进口反映内需，与名义经济增长相关性更强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其他高频指数：如工业品价格指数、发电量、汽车销售量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趋势性指数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13"/>
          <p:cNvSpPr txBox="1"/>
          <p:nvPr/>
        </p:nvSpPr>
        <p:spPr>
          <a:xfrm>
            <a:off x="6481543" y="2053031"/>
            <a:ext cx="500905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流动性分析框架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三级流动性分析：银行体系             实体部门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银行间流动性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实体流动性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剩余流动性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上弧形箭头 8"/>
          <p:cNvSpPr/>
          <p:nvPr/>
        </p:nvSpPr>
        <p:spPr>
          <a:xfrm>
            <a:off x="8689530" y="3007138"/>
            <a:ext cx="564639" cy="242838"/>
          </a:xfrm>
          <a:prstGeom prst="curved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" name="下弧形箭头 9"/>
          <p:cNvSpPr/>
          <p:nvPr/>
        </p:nvSpPr>
        <p:spPr>
          <a:xfrm>
            <a:off x="8689530" y="2368627"/>
            <a:ext cx="575656" cy="275421"/>
          </a:xfrm>
          <a:prstGeom prst="curved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9562594" y="2644048"/>
            <a:ext cx="330506" cy="13313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右箭头 16"/>
          <p:cNvSpPr/>
          <p:nvPr/>
        </p:nvSpPr>
        <p:spPr>
          <a:xfrm rot="10800000">
            <a:off x="9560711" y="2910024"/>
            <a:ext cx="330506" cy="13313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619221" y="911595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宏观基本面分析：企业盈利与宏观流动性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3"/>
          <p:cNvSpPr txBox="1"/>
          <p:nvPr/>
        </p:nvSpPr>
        <p:spPr>
          <a:xfrm>
            <a:off x="1727812" y="2628406"/>
            <a:ext cx="87363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行业空间                                                   竞争格局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成长阶段                                                  可能的变革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占位符 23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8530" b="38530"/>
          <a:stretch>
            <a:fillRect/>
          </a:stretch>
        </p:blipFill>
        <p:spPr>
          <a:xfrm>
            <a:off x="0" y="0"/>
            <a:ext cx="12192000" cy="22444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Oval 6"/>
          <p:cNvSpPr/>
          <p:nvPr/>
        </p:nvSpPr>
        <p:spPr>
          <a:xfrm>
            <a:off x="707857" y="3486577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Oval 6"/>
          <p:cNvSpPr/>
          <p:nvPr/>
        </p:nvSpPr>
        <p:spPr>
          <a:xfrm>
            <a:off x="7398327" y="3486577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Oval 6"/>
          <p:cNvSpPr/>
          <p:nvPr/>
        </p:nvSpPr>
        <p:spPr>
          <a:xfrm>
            <a:off x="707857" y="5259959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Oval 6"/>
          <p:cNvSpPr/>
          <p:nvPr/>
        </p:nvSpPr>
        <p:spPr>
          <a:xfrm>
            <a:off x="7398327" y="5259959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10" name="图形 9" descr="上升趋势条形图 纯色填充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345" y="3538814"/>
            <a:ext cx="594909" cy="594909"/>
          </a:xfrm>
          <a:prstGeom prst="rect">
            <a:avLst/>
          </a:prstGeom>
        </p:spPr>
      </p:pic>
      <p:pic>
        <p:nvPicPr>
          <p:cNvPr id="12" name="图形 11" descr="会议室 纯色填充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6622" y="5257079"/>
            <a:ext cx="699384" cy="699384"/>
          </a:xfrm>
          <a:prstGeom prst="rect">
            <a:avLst/>
          </a:prstGeom>
        </p:spPr>
      </p:pic>
      <p:pic>
        <p:nvPicPr>
          <p:cNvPr id="14" name="图形 13" descr="盲文 纯色填充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98327" y="3458281"/>
            <a:ext cx="755974" cy="755974"/>
          </a:xfrm>
          <a:prstGeom prst="rect">
            <a:avLst/>
          </a:prstGeom>
        </p:spPr>
      </p:pic>
      <p:pic>
        <p:nvPicPr>
          <p:cNvPr id="16" name="图形 15" descr="儿童与气球 纯色填充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9345" y="5286228"/>
            <a:ext cx="597550" cy="597550"/>
          </a:xfrm>
          <a:prstGeom prst="rect">
            <a:avLst/>
          </a:prstGeom>
        </p:spPr>
      </p:pic>
      <p:sp>
        <p:nvSpPr>
          <p:cNvPr id="21" name="Title 2"/>
          <p:cNvSpPr txBox="1"/>
          <p:nvPr/>
        </p:nvSpPr>
        <p:spPr>
          <a:xfrm>
            <a:off x="647700" y="431486"/>
            <a:ext cx="5046921" cy="142302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行业分析</a:t>
            </a: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3"/>
          <p:cNvSpPr txBox="1"/>
          <p:nvPr/>
        </p:nvSpPr>
        <p:spPr>
          <a:xfrm>
            <a:off x="1727812" y="2566851"/>
            <a:ext cx="87363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3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产业位置                                                   运营模式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竞争优势                                                      议价权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占位符 23"/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38530" b="38530"/>
          <a:stretch>
            <a:fillRect/>
          </a:stretch>
        </p:blipFill>
        <p:spPr>
          <a:xfrm>
            <a:off x="0" y="0"/>
            <a:ext cx="12192000" cy="22444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Oval 6"/>
          <p:cNvSpPr/>
          <p:nvPr/>
        </p:nvSpPr>
        <p:spPr>
          <a:xfrm>
            <a:off x="707857" y="3486577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Oval 6"/>
          <p:cNvSpPr/>
          <p:nvPr/>
        </p:nvSpPr>
        <p:spPr>
          <a:xfrm>
            <a:off x="707857" y="5259959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13" name="图形 12" descr="连接 纯色填充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386" y="3514855"/>
            <a:ext cx="642828" cy="642828"/>
          </a:xfrm>
          <a:prstGeom prst="rect">
            <a:avLst/>
          </a:prstGeom>
        </p:spPr>
      </p:pic>
      <p:pic>
        <p:nvPicPr>
          <p:cNvPr id="15" name="图形 14" descr="客户评价 纯色填充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0831" y="5313681"/>
            <a:ext cx="591937" cy="591937"/>
          </a:xfrm>
          <a:prstGeom prst="rect">
            <a:avLst/>
          </a:prstGeom>
        </p:spPr>
      </p:pic>
      <p:pic>
        <p:nvPicPr>
          <p:cNvPr id="17" name="图形 16" descr="数据库 纯色填充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1978" y="5274359"/>
            <a:ext cx="670583" cy="670583"/>
          </a:xfrm>
          <a:prstGeom prst="rect">
            <a:avLst/>
          </a:prstGeom>
        </p:spPr>
      </p:pic>
      <p:pic>
        <p:nvPicPr>
          <p:cNvPr id="19" name="图形 18" descr="便携式计算机 纯色填充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0505" y="3486577"/>
            <a:ext cx="613528" cy="613528"/>
          </a:xfrm>
          <a:prstGeom prst="rect">
            <a:avLst/>
          </a:prstGeom>
        </p:spPr>
      </p:pic>
      <p:sp>
        <p:nvSpPr>
          <p:cNvPr id="20" name="Oval 6"/>
          <p:cNvSpPr/>
          <p:nvPr/>
        </p:nvSpPr>
        <p:spPr>
          <a:xfrm>
            <a:off x="7398327" y="3486577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1" name="Oval 6"/>
          <p:cNvSpPr/>
          <p:nvPr/>
        </p:nvSpPr>
        <p:spPr>
          <a:xfrm>
            <a:off x="7398327" y="5259959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2" name="Title 2"/>
          <p:cNvSpPr txBox="1"/>
          <p:nvPr/>
        </p:nvSpPr>
        <p:spPr>
          <a:xfrm>
            <a:off x="647700" y="431486"/>
            <a:ext cx="5046921" cy="142302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商业模式</a:t>
            </a:r>
            <a:endParaRPr lang="en-US" sz="44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359" y="1655618"/>
            <a:ext cx="9219646" cy="522167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7513" y="821049"/>
            <a:ext cx="10515600" cy="1325563"/>
          </a:xfrm>
        </p:spPr>
        <p:txBody>
          <a:bodyPr>
            <a:normAutofit/>
          </a:bodyPr>
          <a:lstStyle/>
          <a:p>
            <a:pPr defTabSz="1371600"/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</a:rPr>
              <a:t>杜邦分析法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59735" y="2601527"/>
            <a:ext cx="1068037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盘整</a:t>
            </a:r>
            <a:endParaRPr lang="en-US" altLang="zh-CN" sz="4400" dirty="0">
              <a:solidFill>
                <a:schemeClr val="bg1"/>
              </a:solidFill>
            </a:endParaRPr>
          </a:p>
          <a:p>
            <a:r>
              <a:rPr lang="zh-CN" altLang="en-US" sz="4400" dirty="0">
                <a:solidFill>
                  <a:schemeClr val="bg1"/>
                </a:solidFill>
              </a:rPr>
              <a:t>顺大势 逆小势</a:t>
            </a:r>
            <a:endParaRPr lang="en-US" altLang="zh-CN" sz="4400" dirty="0">
              <a:solidFill>
                <a:schemeClr val="bg1"/>
              </a:solidFill>
            </a:endParaRPr>
          </a:p>
          <a:p>
            <a:endParaRPr lang="en-US" altLang="zh-CN" sz="4400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23692" y="2255801"/>
            <a:ext cx="5851643" cy="37325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13"/>
          <p:cNvSpPr txBox="1"/>
          <p:nvPr/>
        </p:nvSpPr>
        <p:spPr>
          <a:xfrm>
            <a:off x="817513" y="2819904"/>
            <a:ext cx="404140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可根据杜邦分析法将企业分为三类：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高利润高周转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低利润高周转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高杠杆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359" y="1655618"/>
            <a:ext cx="9219646" cy="522167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6342" y="722371"/>
            <a:ext cx="10515600" cy="1325563"/>
          </a:xfrm>
        </p:spPr>
        <p:txBody>
          <a:bodyPr>
            <a:normAutofit/>
          </a:bodyPr>
          <a:lstStyle/>
          <a:p>
            <a:pPr defTabSz="1371600"/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</a:rPr>
              <a:t>波特五力法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59735" y="2601527"/>
            <a:ext cx="1068037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盘整</a:t>
            </a:r>
            <a:endParaRPr lang="en-US" altLang="zh-CN" sz="4400" dirty="0">
              <a:solidFill>
                <a:schemeClr val="bg1"/>
              </a:solidFill>
            </a:endParaRPr>
          </a:p>
          <a:p>
            <a:r>
              <a:rPr lang="zh-CN" altLang="en-US" sz="4400" dirty="0">
                <a:solidFill>
                  <a:schemeClr val="bg1"/>
                </a:solidFill>
              </a:rPr>
              <a:t>顺大势 逆小势</a:t>
            </a:r>
            <a:endParaRPr lang="en-US" altLang="zh-CN" sz="4400" dirty="0">
              <a:solidFill>
                <a:schemeClr val="bg1"/>
              </a:solidFill>
            </a:endParaRPr>
          </a:p>
          <a:p>
            <a:endParaRPr lang="en-US" altLang="zh-CN" sz="4400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23692" y="2255801"/>
            <a:ext cx="5851643" cy="37325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13"/>
          <p:cNvSpPr txBox="1"/>
          <p:nvPr/>
        </p:nvSpPr>
        <p:spPr>
          <a:xfrm>
            <a:off x="756342" y="2819904"/>
            <a:ext cx="404140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波特五力法分析以下问题：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公司对上下游的议价权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与行业竞争对手的比较优势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产品的可替代性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行业的进入壁垒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359" y="1655618"/>
            <a:ext cx="9219646" cy="522167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6342" y="722371"/>
            <a:ext cx="10515600" cy="1325563"/>
          </a:xfrm>
        </p:spPr>
        <p:txBody>
          <a:bodyPr>
            <a:normAutofit/>
          </a:bodyPr>
          <a:lstStyle/>
          <a:p>
            <a:pPr defTabSz="1371600"/>
            <a:r>
              <a:rPr lang="en-US" altLang="zh-CN" sz="4800" b="1" dirty="0">
                <a:latin typeface="微软雅黑" panose="020B0503020204020204" charset="-122"/>
                <a:ea typeface="微软雅黑" panose="020B0503020204020204" charset="-122"/>
              </a:rPr>
              <a:t>SWOT</a:t>
            </a: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</a:rPr>
              <a:t>分析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59735" y="2601527"/>
            <a:ext cx="1068037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盘整</a:t>
            </a:r>
            <a:endParaRPr lang="en-US" altLang="zh-CN" sz="4400" dirty="0">
              <a:solidFill>
                <a:schemeClr val="bg1"/>
              </a:solidFill>
            </a:endParaRPr>
          </a:p>
          <a:p>
            <a:r>
              <a:rPr lang="zh-CN" altLang="en-US" sz="4400" dirty="0">
                <a:solidFill>
                  <a:schemeClr val="bg1"/>
                </a:solidFill>
              </a:rPr>
              <a:t>顺大势 逆小势</a:t>
            </a:r>
            <a:endParaRPr lang="en-US" altLang="zh-CN" sz="4400" dirty="0">
              <a:solidFill>
                <a:schemeClr val="bg1"/>
              </a:solidFill>
            </a:endParaRPr>
          </a:p>
          <a:p>
            <a:endParaRPr lang="en-US" altLang="zh-CN" sz="4400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23692" y="2269475"/>
            <a:ext cx="5851643" cy="35867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13"/>
          <p:cNvSpPr txBox="1"/>
          <p:nvPr/>
        </p:nvSpPr>
        <p:spPr>
          <a:xfrm>
            <a:off x="756342" y="2819904"/>
            <a:ext cx="404140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SWOT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分析四个内外部因素：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：企业的内部优势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W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：企业的内部问题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：企业的外部发展机遇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：企业面对的外部冲击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3"/>
          <p:cNvSpPr txBox="1"/>
          <p:nvPr/>
        </p:nvSpPr>
        <p:spPr>
          <a:xfrm>
            <a:off x="1727812" y="3107089"/>
            <a:ext cx="914800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主营收入                                                利润同比增长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成长阶段                                                   可能的变革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占位符 23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8530" b="38530"/>
          <a:stretch>
            <a:fillRect/>
          </a:stretch>
        </p:blipFill>
        <p:spPr>
          <a:xfrm>
            <a:off x="0" y="0"/>
            <a:ext cx="12192000" cy="22444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Oval 6"/>
          <p:cNvSpPr/>
          <p:nvPr/>
        </p:nvSpPr>
        <p:spPr>
          <a:xfrm>
            <a:off x="707857" y="3486577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Oval 6"/>
          <p:cNvSpPr/>
          <p:nvPr/>
        </p:nvSpPr>
        <p:spPr>
          <a:xfrm>
            <a:off x="7398327" y="3486577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Oval 6"/>
          <p:cNvSpPr/>
          <p:nvPr/>
        </p:nvSpPr>
        <p:spPr>
          <a:xfrm>
            <a:off x="707857" y="5259959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Oval 6"/>
          <p:cNvSpPr/>
          <p:nvPr/>
        </p:nvSpPr>
        <p:spPr>
          <a:xfrm>
            <a:off x="7398327" y="5259959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10" name="图形 9" descr="上升趋势条形图 纯色填充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345" y="3538814"/>
            <a:ext cx="594909" cy="594909"/>
          </a:xfrm>
          <a:prstGeom prst="rect">
            <a:avLst/>
          </a:prstGeom>
        </p:spPr>
      </p:pic>
      <p:pic>
        <p:nvPicPr>
          <p:cNvPr id="12" name="图形 11" descr="会议室 纯色填充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6622" y="5257079"/>
            <a:ext cx="699384" cy="699384"/>
          </a:xfrm>
          <a:prstGeom prst="rect">
            <a:avLst/>
          </a:prstGeom>
        </p:spPr>
      </p:pic>
      <p:pic>
        <p:nvPicPr>
          <p:cNvPr id="14" name="图形 13" descr="盲文 纯色填充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98327" y="3458281"/>
            <a:ext cx="755974" cy="755974"/>
          </a:xfrm>
          <a:prstGeom prst="rect">
            <a:avLst/>
          </a:prstGeom>
        </p:spPr>
      </p:pic>
      <p:pic>
        <p:nvPicPr>
          <p:cNvPr id="16" name="图形 15" descr="儿童与气球 纯色填充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9345" y="5286228"/>
            <a:ext cx="597550" cy="597550"/>
          </a:xfrm>
          <a:prstGeom prst="rect">
            <a:avLst/>
          </a:prstGeom>
        </p:spPr>
      </p:pic>
      <p:sp>
        <p:nvSpPr>
          <p:cNvPr id="2" name="Title 2"/>
          <p:cNvSpPr txBox="1"/>
          <p:nvPr/>
        </p:nvSpPr>
        <p:spPr>
          <a:xfrm>
            <a:off x="647700" y="431486"/>
            <a:ext cx="5046921" cy="142302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成长性</a:t>
            </a:r>
            <a:endParaRPr lang="en-US" sz="44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3"/>
          <p:cNvSpPr txBox="1"/>
          <p:nvPr/>
        </p:nvSpPr>
        <p:spPr>
          <a:xfrm>
            <a:off x="1727812" y="3107089"/>
            <a:ext cx="914800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ROE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                                               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    毛利率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派现募资比                                                分红率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占位符 23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8530" b="38530"/>
          <a:stretch>
            <a:fillRect/>
          </a:stretch>
        </p:blipFill>
        <p:spPr>
          <a:xfrm>
            <a:off x="0" y="0"/>
            <a:ext cx="12192000" cy="22444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Oval 6"/>
          <p:cNvSpPr/>
          <p:nvPr/>
        </p:nvSpPr>
        <p:spPr>
          <a:xfrm>
            <a:off x="707857" y="3486577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Oval 6"/>
          <p:cNvSpPr/>
          <p:nvPr/>
        </p:nvSpPr>
        <p:spPr>
          <a:xfrm>
            <a:off x="7398327" y="3486577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Oval 6"/>
          <p:cNvSpPr/>
          <p:nvPr/>
        </p:nvSpPr>
        <p:spPr>
          <a:xfrm>
            <a:off x="707857" y="5259959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Oval 6"/>
          <p:cNvSpPr/>
          <p:nvPr/>
        </p:nvSpPr>
        <p:spPr>
          <a:xfrm>
            <a:off x="7398327" y="5259959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10" name="图形 9" descr="上升趋势条形图 纯色填充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345" y="3538814"/>
            <a:ext cx="594909" cy="594909"/>
          </a:xfrm>
          <a:prstGeom prst="rect">
            <a:avLst/>
          </a:prstGeom>
        </p:spPr>
      </p:pic>
      <p:pic>
        <p:nvPicPr>
          <p:cNvPr id="12" name="图形 11" descr="会议室 纯色填充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6622" y="5257079"/>
            <a:ext cx="699384" cy="699384"/>
          </a:xfrm>
          <a:prstGeom prst="rect">
            <a:avLst/>
          </a:prstGeom>
        </p:spPr>
      </p:pic>
      <p:pic>
        <p:nvPicPr>
          <p:cNvPr id="14" name="图形 13" descr="盲文 纯色填充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98327" y="3458281"/>
            <a:ext cx="755974" cy="755974"/>
          </a:xfrm>
          <a:prstGeom prst="rect">
            <a:avLst/>
          </a:prstGeom>
        </p:spPr>
      </p:pic>
      <p:pic>
        <p:nvPicPr>
          <p:cNvPr id="16" name="图形 15" descr="儿童与气球 纯色填充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9345" y="5286228"/>
            <a:ext cx="597550" cy="597550"/>
          </a:xfrm>
          <a:prstGeom prst="rect">
            <a:avLst/>
          </a:prstGeom>
        </p:spPr>
      </p:pic>
      <p:sp>
        <p:nvSpPr>
          <p:cNvPr id="2" name="Title 2"/>
          <p:cNvSpPr txBox="1"/>
          <p:nvPr/>
        </p:nvSpPr>
        <p:spPr>
          <a:xfrm>
            <a:off x="647700" y="431486"/>
            <a:ext cx="5046921" cy="142302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回报率</a:t>
            </a:r>
            <a:endParaRPr lang="en-US" sz="44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角三角形 4"/>
          <p:cNvSpPr/>
          <p:nvPr/>
        </p:nvSpPr>
        <p:spPr>
          <a:xfrm rot="5400000">
            <a:off x="9338441" y="4295766"/>
            <a:ext cx="1744717" cy="1744717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58699" y="901890"/>
            <a:ext cx="8100742" cy="31235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矩形 6"/>
          <p:cNvSpPr/>
          <p:nvPr/>
        </p:nvSpPr>
        <p:spPr>
          <a:xfrm>
            <a:off x="0" y="5373205"/>
            <a:ext cx="85754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zh-CN" sz="2800" b="1" dirty="0">
                <a:latin typeface="微软雅黑" panose="020B0503020204020204" charset="-122"/>
                <a:ea typeface="微软雅黑" panose="020B0503020204020204" charset="-122"/>
              </a:rPr>
              <a:t>          </a:t>
            </a:r>
            <a:r>
              <a:rPr lang="zh-CN" altLang="fr-FR" sz="2800" b="1" dirty="0"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对贵州茅台（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600519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）的现场分析为例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132559" y="901890"/>
            <a:ext cx="1398770" cy="2829285"/>
            <a:chOff x="504497" y="441435"/>
            <a:chExt cx="1744717" cy="3487205"/>
          </a:xfrm>
        </p:grpSpPr>
        <p:sp>
          <p:nvSpPr>
            <p:cNvPr id="4" name="直角三角形 3"/>
            <p:cNvSpPr/>
            <p:nvPr/>
          </p:nvSpPr>
          <p:spPr>
            <a:xfrm rot="16200000">
              <a:off x="504497" y="441435"/>
              <a:ext cx="1744717" cy="1744717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/>
          </p:nvSpPr>
          <p:spPr>
            <a:xfrm rot="5400000">
              <a:off x="504497" y="2183923"/>
              <a:ext cx="1744717" cy="1744717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1132559" y="4406946"/>
            <a:ext cx="512832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现场演示：同花顺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</a:rPr>
              <a:t>f10</a:t>
            </a:r>
            <a:endParaRPr lang="zh-CN" altLang="en-US" sz="4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77">
        <p:fade/>
      </p:transition>
    </mc:Choice>
    <mc:Fallback xmlns="">
      <p:transition spd="med" advTm="777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377939" y="2524464"/>
            <a:ext cx="11177595" cy="2706954"/>
          </a:xfrm>
          <a:prstGeom prst="flowChartProcess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8717" r="8717"/>
          <a:stretch>
            <a:fillRect/>
          </a:stretch>
        </p:blipFill>
        <p:spPr>
          <a:xfrm flipH="1">
            <a:off x="544696" y="2081739"/>
            <a:ext cx="4443115" cy="289993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矩形 2"/>
          <p:cNvSpPr/>
          <p:nvPr/>
        </p:nvSpPr>
        <p:spPr>
          <a:xfrm>
            <a:off x="7247136" y="3950494"/>
            <a:ext cx="1273041" cy="3350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57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technology</a:t>
            </a:r>
          </a:p>
        </p:txBody>
      </p:sp>
      <p:sp>
        <p:nvSpPr>
          <p:cNvPr id="4" name="TextBox 76"/>
          <p:cNvSpPr txBox="1"/>
          <p:nvPr/>
        </p:nvSpPr>
        <p:spPr>
          <a:xfrm>
            <a:off x="5795028" y="3134854"/>
            <a:ext cx="4177259" cy="739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205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技术面</a:t>
            </a:r>
          </a:p>
        </p:txBody>
      </p:sp>
      <p:sp>
        <p:nvSpPr>
          <p:cNvPr id="6" name="TextBox 37"/>
          <p:cNvSpPr txBox="1"/>
          <p:nvPr/>
        </p:nvSpPr>
        <p:spPr>
          <a:xfrm>
            <a:off x="3529555" y="3252941"/>
            <a:ext cx="646373" cy="69755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lang="en-US" altLang="zh-CN" sz="6305" dirty="0">
                <a:solidFill>
                  <a:schemeClr val="bg1"/>
                </a:solidFill>
                <a:latin typeface="Impact" panose="020B0806030902050204" pitchFamily="34" charset="0"/>
              </a:rPr>
              <a:t>06</a:t>
            </a:r>
          </a:p>
        </p:txBody>
      </p:sp>
    </p:spTree>
  </p:cSld>
  <p:clrMapOvr>
    <a:masterClrMapping/>
  </p:clrMapOvr>
  <p:transition spd="slow" advClick="0" advTm="2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占位符 23"/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46" b="37346"/>
          <a:stretch>
            <a:fillRect/>
          </a:stretch>
        </p:blipFill>
        <p:spPr>
          <a:xfrm>
            <a:off x="0" y="0"/>
            <a:ext cx="12192000" cy="2512310"/>
          </a:xfrm>
          <a:prstGeom prst="rect">
            <a:avLst/>
          </a:prstGeom>
        </p:spPr>
      </p:pic>
      <p:sp>
        <p:nvSpPr>
          <p:cNvPr id="3" name="Title 2"/>
          <p:cNvSpPr txBox="1"/>
          <p:nvPr/>
        </p:nvSpPr>
        <p:spPr>
          <a:xfrm>
            <a:off x="647700" y="431486"/>
            <a:ext cx="5046921" cy="142302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bg1"/>
                </a:solidFill>
                <a:latin typeface="Abril Fatface" panose="02000503000000020003" pitchFamily="50" charset="0"/>
              </a:rPr>
              <a:t>About it</a:t>
            </a:r>
            <a:endParaRPr lang="en-US" sz="44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ril Fatface" panose="02000503000000020003" pitchFamily="50" charset="0"/>
            </a:endParaRPr>
          </a:p>
        </p:txBody>
      </p:sp>
      <p:sp>
        <p:nvSpPr>
          <p:cNvPr id="4" name="Text Placeholder 24"/>
          <p:cNvSpPr txBox="1"/>
          <p:nvPr/>
        </p:nvSpPr>
        <p:spPr>
          <a:xfrm>
            <a:off x="647700" y="939800"/>
            <a:ext cx="9042400" cy="406400"/>
          </a:xfrm>
          <a:prstGeom prst="rect">
            <a:avLst/>
          </a:prstGeom>
        </p:spPr>
        <p:txBody>
          <a:bodyPr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914400" y="5091816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Oval 6"/>
          <p:cNvSpPr/>
          <p:nvPr/>
        </p:nvSpPr>
        <p:spPr>
          <a:xfrm>
            <a:off x="914400" y="3486577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Oval 7"/>
          <p:cNvSpPr/>
          <p:nvPr/>
        </p:nvSpPr>
        <p:spPr>
          <a:xfrm>
            <a:off x="6419684" y="5082352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" name="Oval 8"/>
          <p:cNvSpPr/>
          <p:nvPr/>
        </p:nvSpPr>
        <p:spPr>
          <a:xfrm>
            <a:off x="6396661" y="3486577"/>
            <a:ext cx="717886" cy="6993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4" name="TextBox 13"/>
          <p:cNvSpPr txBox="1"/>
          <p:nvPr/>
        </p:nvSpPr>
        <p:spPr>
          <a:xfrm>
            <a:off x="1866900" y="3471639"/>
            <a:ext cx="330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什么是技术面，</a:t>
            </a:r>
            <a:endParaRPr lang="en-US" altLang="zh-CN" sz="2400" b="1" dirty="0"/>
          </a:p>
          <a:p>
            <a:r>
              <a:rPr lang="zh-CN" altLang="en-US" sz="2400" b="1" dirty="0"/>
              <a:t>和基本面有什么区别？</a:t>
            </a:r>
            <a:endParaRPr lang="en-US" altLang="zh-CN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930400" y="5087565"/>
            <a:ext cx="330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什么时候用到？</a:t>
            </a:r>
          </a:p>
        </p:txBody>
      </p:sp>
      <p:sp>
        <p:nvSpPr>
          <p:cNvPr id="29" name="Freeform 118"/>
          <p:cNvSpPr>
            <a:spLocks noEditPoints="1"/>
          </p:cNvSpPr>
          <p:nvPr/>
        </p:nvSpPr>
        <p:spPr bwMode="auto">
          <a:xfrm>
            <a:off x="1088796" y="3651721"/>
            <a:ext cx="369094" cy="369095"/>
          </a:xfrm>
          <a:custGeom>
            <a:avLst/>
            <a:gdLst>
              <a:gd name="T0" fmla="*/ 393 w 400"/>
              <a:gd name="T1" fmla="*/ 162 h 400"/>
              <a:gd name="T2" fmla="*/ 335 w 400"/>
              <a:gd name="T3" fmla="*/ 130 h 400"/>
              <a:gd name="T4" fmla="*/ 362 w 400"/>
              <a:gd name="T5" fmla="*/ 94 h 400"/>
              <a:gd name="T6" fmla="*/ 362 w 400"/>
              <a:gd name="T7" fmla="*/ 82 h 400"/>
              <a:gd name="T8" fmla="*/ 313 w 400"/>
              <a:gd name="T9" fmla="*/ 35 h 400"/>
              <a:gd name="T10" fmla="*/ 269 w 400"/>
              <a:gd name="T11" fmla="*/ 65 h 400"/>
              <a:gd name="T12" fmla="*/ 239 w 400"/>
              <a:gd name="T13" fmla="*/ 8 h 400"/>
              <a:gd name="T14" fmla="*/ 229 w 400"/>
              <a:gd name="T15" fmla="*/ 0 h 400"/>
              <a:gd name="T16" fmla="*/ 162 w 400"/>
              <a:gd name="T17" fmla="*/ 7 h 400"/>
              <a:gd name="T18" fmla="*/ 131 w 400"/>
              <a:gd name="T19" fmla="*/ 66 h 400"/>
              <a:gd name="T20" fmla="*/ 88 w 400"/>
              <a:gd name="T21" fmla="*/ 35 h 400"/>
              <a:gd name="T22" fmla="*/ 38 w 400"/>
              <a:gd name="T23" fmla="*/ 82 h 400"/>
              <a:gd name="T24" fmla="*/ 38 w 400"/>
              <a:gd name="T25" fmla="*/ 94 h 400"/>
              <a:gd name="T26" fmla="*/ 56 w 400"/>
              <a:gd name="T27" fmla="*/ 154 h 400"/>
              <a:gd name="T28" fmla="*/ 2 w 400"/>
              <a:gd name="T29" fmla="*/ 165 h 400"/>
              <a:gd name="T30" fmla="*/ 0 w 400"/>
              <a:gd name="T31" fmla="*/ 229 h 400"/>
              <a:gd name="T32" fmla="*/ 8 w 400"/>
              <a:gd name="T33" fmla="*/ 238 h 400"/>
              <a:gd name="T34" fmla="*/ 66 w 400"/>
              <a:gd name="T35" fmla="*/ 271 h 400"/>
              <a:gd name="T36" fmla="*/ 39 w 400"/>
              <a:gd name="T37" fmla="*/ 307 h 400"/>
              <a:gd name="T38" fmla="*/ 38 w 400"/>
              <a:gd name="T39" fmla="*/ 319 h 400"/>
              <a:gd name="T40" fmla="*/ 88 w 400"/>
              <a:gd name="T41" fmla="*/ 365 h 400"/>
              <a:gd name="T42" fmla="*/ 131 w 400"/>
              <a:gd name="T43" fmla="*/ 335 h 400"/>
              <a:gd name="T44" fmla="*/ 162 w 400"/>
              <a:gd name="T45" fmla="*/ 393 h 400"/>
              <a:gd name="T46" fmla="*/ 171 w 400"/>
              <a:gd name="T47" fmla="*/ 400 h 400"/>
              <a:gd name="T48" fmla="*/ 239 w 400"/>
              <a:gd name="T49" fmla="*/ 393 h 400"/>
              <a:gd name="T50" fmla="*/ 270 w 400"/>
              <a:gd name="T51" fmla="*/ 335 h 400"/>
              <a:gd name="T52" fmla="*/ 313 w 400"/>
              <a:gd name="T53" fmla="*/ 365 h 400"/>
              <a:gd name="T54" fmla="*/ 363 w 400"/>
              <a:gd name="T55" fmla="*/ 319 h 400"/>
              <a:gd name="T56" fmla="*/ 363 w 400"/>
              <a:gd name="T57" fmla="*/ 306 h 400"/>
              <a:gd name="T58" fmla="*/ 345 w 400"/>
              <a:gd name="T59" fmla="*/ 246 h 400"/>
              <a:gd name="T60" fmla="*/ 398 w 400"/>
              <a:gd name="T61" fmla="*/ 236 h 400"/>
              <a:gd name="T62" fmla="*/ 400 w 400"/>
              <a:gd name="T63" fmla="*/ 172 h 400"/>
              <a:gd name="T64" fmla="*/ 247 w 400"/>
              <a:gd name="T65" fmla="*/ 247 h 400"/>
              <a:gd name="T66" fmla="*/ 153 w 400"/>
              <a:gd name="T67" fmla="*/ 247 h 400"/>
              <a:gd name="T68" fmla="*/ 153 w 400"/>
              <a:gd name="T69" fmla="*/ 153 h 400"/>
              <a:gd name="T70" fmla="*/ 247 w 400"/>
              <a:gd name="T71" fmla="*/ 153 h 400"/>
              <a:gd name="T72" fmla="*/ 247 w 400"/>
              <a:gd name="T73" fmla="*/ 247 h 400"/>
              <a:gd name="T74" fmla="*/ 247 w 400"/>
              <a:gd name="T75" fmla="*/ 247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00" h="400">
                <a:moveTo>
                  <a:pt x="398" y="166"/>
                </a:moveTo>
                <a:cubicBezTo>
                  <a:pt x="397" y="164"/>
                  <a:pt x="395" y="163"/>
                  <a:pt x="393" y="162"/>
                </a:cubicBezTo>
                <a:cubicBezTo>
                  <a:pt x="345" y="155"/>
                  <a:pt x="345" y="155"/>
                  <a:pt x="345" y="155"/>
                </a:cubicBezTo>
                <a:cubicBezTo>
                  <a:pt x="343" y="147"/>
                  <a:pt x="339" y="138"/>
                  <a:pt x="335" y="130"/>
                </a:cubicBezTo>
                <a:cubicBezTo>
                  <a:pt x="338" y="125"/>
                  <a:pt x="342" y="119"/>
                  <a:pt x="349" y="111"/>
                </a:cubicBezTo>
                <a:cubicBezTo>
                  <a:pt x="355" y="103"/>
                  <a:pt x="359" y="97"/>
                  <a:pt x="362" y="94"/>
                </a:cubicBezTo>
                <a:cubicBezTo>
                  <a:pt x="363" y="92"/>
                  <a:pt x="364" y="90"/>
                  <a:pt x="364" y="88"/>
                </a:cubicBezTo>
                <a:cubicBezTo>
                  <a:pt x="364" y="85"/>
                  <a:pt x="363" y="84"/>
                  <a:pt x="362" y="82"/>
                </a:cubicBezTo>
                <a:cubicBezTo>
                  <a:pt x="356" y="73"/>
                  <a:pt x="342" y="58"/>
                  <a:pt x="319" y="38"/>
                </a:cubicBezTo>
                <a:cubicBezTo>
                  <a:pt x="317" y="36"/>
                  <a:pt x="315" y="35"/>
                  <a:pt x="313" y="35"/>
                </a:cubicBezTo>
                <a:cubicBezTo>
                  <a:pt x="310" y="35"/>
                  <a:pt x="308" y="36"/>
                  <a:pt x="306" y="38"/>
                </a:cubicBezTo>
                <a:cubicBezTo>
                  <a:pt x="269" y="65"/>
                  <a:pt x="269" y="65"/>
                  <a:pt x="269" y="65"/>
                </a:cubicBezTo>
                <a:cubicBezTo>
                  <a:pt x="262" y="62"/>
                  <a:pt x="254" y="59"/>
                  <a:pt x="246" y="56"/>
                </a:cubicBezTo>
                <a:cubicBezTo>
                  <a:pt x="239" y="8"/>
                  <a:pt x="239" y="8"/>
                  <a:pt x="239" y="8"/>
                </a:cubicBezTo>
                <a:cubicBezTo>
                  <a:pt x="238" y="6"/>
                  <a:pt x="237" y="4"/>
                  <a:pt x="236" y="2"/>
                </a:cubicBezTo>
                <a:cubicBezTo>
                  <a:pt x="234" y="1"/>
                  <a:pt x="232" y="0"/>
                  <a:pt x="229" y="0"/>
                </a:cubicBezTo>
                <a:cubicBezTo>
                  <a:pt x="171" y="0"/>
                  <a:pt x="171" y="0"/>
                  <a:pt x="171" y="0"/>
                </a:cubicBezTo>
                <a:cubicBezTo>
                  <a:pt x="166" y="0"/>
                  <a:pt x="163" y="2"/>
                  <a:pt x="162" y="7"/>
                </a:cubicBezTo>
                <a:cubicBezTo>
                  <a:pt x="160" y="16"/>
                  <a:pt x="157" y="32"/>
                  <a:pt x="154" y="56"/>
                </a:cubicBezTo>
                <a:cubicBezTo>
                  <a:pt x="146" y="58"/>
                  <a:pt x="138" y="62"/>
                  <a:pt x="131" y="66"/>
                </a:cubicBezTo>
                <a:cubicBezTo>
                  <a:pt x="95" y="38"/>
                  <a:pt x="95" y="38"/>
                  <a:pt x="95" y="38"/>
                </a:cubicBezTo>
                <a:cubicBezTo>
                  <a:pt x="92" y="36"/>
                  <a:pt x="90" y="35"/>
                  <a:pt x="88" y="35"/>
                </a:cubicBezTo>
                <a:cubicBezTo>
                  <a:pt x="84" y="35"/>
                  <a:pt x="76" y="41"/>
                  <a:pt x="63" y="54"/>
                </a:cubicBezTo>
                <a:cubicBezTo>
                  <a:pt x="51" y="66"/>
                  <a:pt x="42" y="76"/>
                  <a:pt x="38" y="82"/>
                </a:cubicBezTo>
                <a:cubicBezTo>
                  <a:pt x="36" y="84"/>
                  <a:pt x="35" y="86"/>
                  <a:pt x="35" y="88"/>
                </a:cubicBezTo>
                <a:cubicBezTo>
                  <a:pt x="35" y="90"/>
                  <a:pt x="36" y="92"/>
                  <a:pt x="38" y="94"/>
                </a:cubicBezTo>
                <a:cubicBezTo>
                  <a:pt x="49" y="108"/>
                  <a:pt x="59" y="120"/>
                  <a:pt x="66" y="130"/>
                </a:cubicBezTo>
                <a:cubicBezTo>
                  <a:pt x="61" y="138"/>
                  <a:pt x="58" y="146"/>
                  <a:pt x="56" y="154"/>
                </a:cubicBezTo>
                <a:cubicBezTo>
                  <a:pt x="7" y="161"/>
                  <a:pt x="7" y="161"/>
                  <a:pt x="7" y="161"/>
                </a:cubicBezTo>
                <a:cubicBezTo>
                  <a:pt x="5" y="162"/>
                  <a:pt x="3" y="163"/>
                  <a:pt x="2" y="165"/>
                </a:cubicBezTo>
                <a:cubicBezTo>
                  <a:pt x="1" y="167"/>
                  <a:pt x="0" y="169"/>
                  <a:pt x="0" y="171"/>
                </a:cubicBezTo>
                <a:cubicBezTo>
                  <a:pt x="0" y="229"/>
                  <a:pt x="0" y="229"/>
                  <a:pt x="0" y="229"/>
                </a:cubicBezTo>
                <a:cubicBezTo>
                  <a:pt x="0" y="231"/>
                  <a:pt x="1" y="233"/>
                  <a:pt x="2" y="235"/>
                </a:cubicBezTo>
                <a:cubicBezTo>
                  <a:pt x="3" y="237"/>
                  <a:pt x="5" y="238"/>
                  <a:pt x="8" y="238"/>
                </a:cubicBezTo>
                <a:cubicBezTo>
                  <a:pt x="55" y="245"/>
                  <a:pt x="55" y="245"/>
                  <a:pt x="55" y="245"/>
                </a:cubicBezTo>
                <a:cubicBezTo>
                  <a:pt x="58" y="254"/>
                  <a:pt x="61" y="262"/>
                  <a:pt x="66" y="271"/>
                </a:cubicBezTo>
                <a:cubicBezTo>
                  <a:pt x="63" y="275"/>
                  <a:pt x="58" y="281"/>
                  <a:pt x="52" y="289"/>
                </a:cubicBezTo>
                <a:cubicBezTo>
                  <a:pt x="46" y="297"/>
                  <a:pt x="41" y="303"/>
                  <a:pt x="39" y="307"/>
                </a:cubicBezTo>
                <a:cubicBezTo>
                  <a:pt x="37" y="309"/>
                  <a:pt x="37" y="310"/>
                  <a:pt x="37" y="313"/>
                </a:cubicBezTo>
                <a:cubicBezTo>
                  <a:pt x="37" y="315"/>
                  <a:pt x="37" y="317"/>
                  <a:pt x="38" y="319"/>
                </a:cubicBezTo>
                <a:cubicBezTo>
                  <a:pt x="45" y="328"/>
                  <a:pt x="59" y="343"/>
                  <a:pt x="81" y="362"/>
                </a:cubicBezTo>
                <a:cubicBezTo>
                  <a:pt x="83" y="364"/>
                  <a:pt x="85" y="365"/>
                  <a:pt x="88" y="365"/>
                </a:cubicBezTo>
                <a:cubicBezTo>
                  <a:pt x="90" y="365"/>
                  <a:pt x="93" y="364"/>
                  <a:pt x="94" y="363"/>
                </a:cubicBezTo>
                <a:cubicBezTo>
                  <a:pt x="131" y="335"/>
                  <a:pt x="131" y="335"/>
                  <a:pt x="131" y="335"/>
                </a:cubicBezTo>
                <a:cubicBezTo>
                  <a:pt x="138" y="339"/>
                  <a:pt x="146" y="342"/>
                  <a:pt x="155" y="345"/>
                </a:cubicBezTo>
                <a:cubicBezTo>
                  <a:pt x="162" y="393"/>
                  <a:pt x="162" y="393"/>
                  <a:pt x="162" y="393"/>
                </a:cubicBezTo>
                <a:cubicBezTo>
                  <a:pt x="162" y="395"/>
                  <a:pt x="163" y="397"/>
                  <a:pt x="165" y="398"/>
                </a:cubicBezTo>
                <a:cubicBezTo>
                  <a:pt x="167" y="400"/>
                  <a:pt x="169" y="400"/>
                  <a:pt x="171" y="400"/>
                </a:cubicBezTo>
                <a:cubicBezTo>
                  <a:pt x="229" y="400"/>
                  <a:pt x="229" y="400"/>
                  <a:pt x="229" y="400"/>
                </a:cubicBezTo>
                <a:cubicBezTo>
                  <a:pt x="234" y="400"/>
                  <a:pt x="237" y="398"/>
                  <a:pt x="239" y="393"/>
                </a:cubicBezTo>
                <a:cubicBezTo>
                  <a:pt x="241" y="384"/>
                  <a:pt x="243" y="368"/>
                  <a:pt x="246" y="345"/>
                </a:cubicBezTo>
                <a:cubicBezTo>
                  <a:pt x="254" y="342"/>
                  <a:pt x="262" y="339"/>
                  <a:pt x="270" y="335"/>
                </a:cubicBezTo>
                <a:cubicBezTo>
                  <a:pt x="306" y="363"/>
                  <a:pt x="306" y="363"/>
                  <a:pt x="306" y="363"/>
                </a:cubicBezTo>
                <a:cubicBezTo>
                  <a:pt x="308" y="364"/>
                  <a:pt x="311" y="365"/>
                  <a:pt x="313" y="365"/>
                </a:cubicBezTo>
                <a:cubicBezTo>
                  <a:pt x="316" y="365"/>
                  <a:pt x="325" y="359"/>
                  <a:pt x="337" y="347"/>
                </a:cubicBezTo>
                <a:cubicBezTo>
                  <a:pt x="350" y="334"/>
                  <a:pt x="358" y="325"/>
                  <a:pt x="363" y="319"/>
                </a:cubicBezTo>
                <a:cubicBezTo>
                  <a:pt x="364" y="317"/>
                  <a:pt x="365" y="315"/>
                  <a:pt x="365" y="313"/>
                </a:cubicBezTo>
                <a:cubicBezTo>
                  <a:pt x="365" y="310"/>
                  <a:pt x="364" y="308"/>
                  <a:pt x="363" y="306"/>
                </a:cubicBezTo>
                <a:cubicBezTo>
                  <a:pt x="350" y="291"/>
                  <a:pt x="341" y="279"/>
                  <a:pt x="335" y="270"/>
                </a:cubicBezTo>
                <a:cubicBezTo>
                  <a:pt x="338" y="264"/>
                  <a:pt x="342" y="256"/>
                  <a:pt x="345" y="246"/>
                </a:cubicBezTo>
                <a:cubicBezTo>
                  <a:pt x="393" y="239"/>
                  <a:pt x="393" y="239"/>
                  <a:pt x="393" y="239"/>
                </a:cubicBezTo>
                <a:cubicBezTo>
                  <a:pt x="395" y="239"/>
                  <a:pt x="397" y="238"/>
                  <a:pt x="398" y="236"/>
                </a:cubicBezTo>
                <a:cubicBezTo>
                  <a:pt x="400" y="234"/>
                  <a:pt x="400" y="232"/>
                  <a:pt x="400" y="230"/>
                </a:cubicBezTo>
                <a:cubicBezTo>
                  <a:pt x="400" y="172"/>
                  <a:pt x="400" y="172"/>
                  <a:pt x="400" y="172"/>
                </a:cubicBezTo>
                <a:cubicBezTo>
                  <a:pt x="400" y="170"/>
                  <a:pt x="400" y="168"/>
                  <a:pt x="398" y="166"/>
                </a:cubicBezTo>
                <a:close/>
                <a:moveTo>
                  <a:pt x="247" y="247"/>
                </a:moveTo>
                <a:cubicBezTo>
                  <a:pt x="234" y="260"/>
                  <a:pt x="219" y="267"/>
                  <a:pt x="200" y="267"/>
                </a:cubicBezTo>
                <a:cubicBezTo>
                  <a:pt x="182" y="267"/>
                  <a:pt x="166" y="260"/>
                  <a:pt x="153" y="247"/>
                </a:cubicBezTo>
                <a:cubicBezTo>
                  <a:pt x="140" y="234"/>
                  <a:pt x="133" y="219"/>
                  <a:pt x="133" y="200"/>
                </a:cubicBezTo>
                <a:cubicBezTo>
                  <a:pt x="133" y="182"/>
                  <a:pt x="140" y="166"/>
                  <a:pt x="153" y="153"/>
                </a:cubicBezTo>
                <a:cubicBezTo>
                  <a:pt x="166" y="140"/>
                  <a:pt x="182" y="133"/>
                  <a:pt x="200" y="133"/>
                </a:cubicBezTo>
                <a:cubicBezTo>
                  <a:pt x="219" y="133"/>
                  <a:pt x="234" y="140"/>
                  <a:pt x="247" y="153"/>
                </a:cubicBezTo>
                <a:cubicBezTo>
                  <a:pt x="260" y="166"/>
                  <a:pt x="267" y="182"/>
                  <a:pt x="267" y="200"/>
                </a:cubicBezTo>
                <a:cubicBezTo>
                  <a:pt x="267" y="219"/>
                  <a:pt x="260" y="234"/>
                  <a:pt x="247" y="247"/>
                </a:cubicBezTo>
                <a:close/>
                <a:moveTo>
                  <a:pt x="247" y="247"/>
                </a:moveTo>
                <a:cubicBezTo>
                  <a:pt x="247" y="247"/>
                  <a:pt x="247" y="247"/>
                  <a:pt x="247" y="247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0960" tIns="30480" rIns="60960" bIns="30480" numCol="1" anchor="t" anchorCtr="0" compatLnSpc="1"/>
          <a:lstStyle/>
          <a:p>
            <a:endParaRPr lang="en-US" sz="1400"/>
          </a:p>
        </p:txBody>
      </p:sp>
      <p:sp>
        <p:nvSpPr>
          <p:cNvPr id="30" name="Freeform 88"/>
          <p:cNvSpPr>
            <a:spLocks noEditPoints="1"/>
          </p:cNvSpPr>
          <p:nvPr/>
        </p:nvSpPr>
        <p:spPr bwMode="auto">
          <a:xfrm>
            <a:off x="1110152" y="5272457"/>
            <a:ext cx="326383" cy="338103"/>
          </a:xfrm>
          <a:custGeom>
            <a:avLst/>
            <a:gdLst>
              <a:gd name="T0" fmla="*/ 374 w 386"/>
              <a:gd name="T1" fmla="*/ 344 h 400"/>
              <a:gd name="T2" fmla="*/ 243 w 386"/>
              <a:gd name="T3" fmla="*/ 137 h 400"/>
              <a:gd name="T4" fmla="*/ 243 w 386"/>
              <a:gd name="T5" fmla="*/ 33 h 400"/>
              <a:gd name="T6" fmla="*/ 260 w 386"/>
              <a:gd name="T7" fmla="*/ 33 h 400"/>
              <a:gd name="T8" fmla="*/ 272 w 386"/>
              <a:gd name="T9" fmla="*/ 28 h 400"/>
              <a:gd name="T10" fmla="*/ 277 w 386"/>
              <a:gd name="T11" fmla="*/ 17 h 400"/>
              <a:gd name="T12" fmla="*/ 272 w 386"/>
              <a:gd name="T13" fmla="*/ 5 h 400"/>
              <a:gd name="T14" fmla="*/ 260 w 386"/>
              <a:gd name="T15" fmla="*/ 0 h 400"/>
              <a:gd name="T16" fmla="*/ 126 w 386"/>
              <a:gd name="T17" fmla="*/ 0 h 400"/>
              <a:gd name="T18" fmla="*/ 115 w 386"/>
              <a:gd name="T19" fmla="*/ 5 h 400"/>
              <a:gd name="T20" fmla="*/ 110 w 386"/>
              <a:gd name="T21" fmla="*/ 17 h 400"/>
              <a:gd name="T22" fmla="*/ 115 w 386"/>
              <a:gd name="T23" fmla="*/ 28 h 400"/>
              <a:gd name="T24" fmla="*/ 126 w 386"/>
              <a:gd name="T25" fmla="*/ 33 h 400"/>
              <a:gd name="T26" fmla="*/ 143 w 386"/>
              <a:gd name="T27" fmla="*/ 33 h 400"/>
              <a:gd name="T28" fmla="*/ 143 w 386"/>
              <a:gd name="T29" fmla="*/ 137 h 400"/>
              <a:gd name="T30" fmla="*/ 12 w 386"/>
              <a:gd name="T31" fmla="*/ 344 h 400"/>
              <a:gd name="T32" fmla="*/ 6 w 386"/>
              <a:gd name="T33" fmla="*/ 384 h 400"/>
              <a:gd name="T34" fmla="*/ 43 w 386"/>
              <a:gd name="T35" fmla="*/ 400 h 400"/>
              <a:gd name="T36" fmla="*/ 343 w 386"/>
              <a:gd name="T37" fmla="*/ 400 h 400"/>
              <a:gd name="T38" fmla="*/ 380 w 386"/>
              <a:gd name="T39" fmla="*/ 384 h 400"/>
              <a:gd name="T40" fmla="*/ 374 w 386"/>
              <a:gd name="T41" fmla="*/ 344 h 400"/>
              <a:gd name="T42" fmla="*/ 100 w 386"/>
              <a:gd name="T43" fmla="*/ 267 h 400"/>
              <a:gd name="T44" fmla="*/ 171 w 386"/>
              <a:gd name="T45" fmla="*/ 155 h 400"/>
              <a:gd name="T46" fmla="*/ 177 w 386"/>
              <a:gd name="T47" fmla="*/ 147 h 400"/>
              <a:gd name="T48" fmla="*/ 177 w 386"/>
              <a:gd name="T49" fmla="*/ 33 h 400"/>
              <a:gd name="T50" fmla="*/ 210 w 386"/>
              <a:gd name="T51" fmla="*/ 33 h 400"/>
              <a:gd name="T52" fmla="*/ 210 w 386"/>
              <a:gd name="T53" fmla="*/ 147 h 400"/>
              <a:gd name="T54" fmla="*/ 215 w 386"/>
              <a:gd name="T55" fmla="*/ 155 h 400"/>
              <a:gd name="T56" fmla="*/ 286 w 386"/>
              <a:gd name="T57" fmla="*/ 267 h 400"/>
              <a:gd name="T58" fmla="*/ 100 w 386"/>
              <a:gd name="T59" fmla="*/ 267 h 400"/>
              <a:gd name="T60" fmla="*/ 100 w 386"/>
              <a:gd name="T61" fmla="*/ 267 h 400"/>
              <a:gd name="T62" fmla="*/ 100 w 386"/>
              <a:gd name="T63" fmla="*/ 267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86" h="400">
                <a:moveTo>
                  <a:pt x="374" y="344"/>
                </a:moveTo>
                <a:cubicBezTo>
                  <a:pt x="243" y="137"/>
                  <a:pt x="243" y="137"/>
                  <a:pt x="243" y="137"/>
                </a:cubicBezTo>
                <a:cubicBezTo>
                  <a:pt x="243" y="33"/>
                  <a:pt x="243" y="33"/>
                  <a:pt x="243" y="33"/>
                </a:cubicBezTo>
                <a:cubicBezTo>
                  <a:pt x="260" y="33"/>
                  <a:pt x="260" y="33"/>
                  <a:pt x="260" y="33"/>
                </a:cubicBezTo>
                <a:cubicBezTo>
                  <a:pt x="264" y="33"/>
                  <a:pt x="268" y="32"/>
                  <a:pt x="272" y="28"/>
                </a:cubicBezTo>
                <a:cubicBezTo>
                  <a:pt x="275" y="25"/>
                  <a:pt x="277" y="21"/>
                  <a:pt x="277" y="17"/>
                </a:cubicBezTo>
                <a:cubicBezTo>
                  <a:pt x="277" y="12"/>
                  <a:pt x="275" y="8"/>
                  <a:pt x="272" y="5"/>
                </a:cubicBezTo>
                <a:cubicBezTo>
                  <a:pt x="268" y="2"/>
                  <a:pt x="264" y="0"/>
                  <a:pt x="260" y="0"/>
                </a:cubicBezTo>
                <a:cubicBezTo>
                  <a:pt x="126" y="0"/>
                  <a:pt x="126" y="0"/>
                  <a:pt x="126" y="0"/>
                </a:cubicBezTo>
                <a:cubicBezTo>
                  <a:pt x="122" y="0"/>
                  <a:pt x="118" y="2"/>
                  <a:pt x="115" y="5"/>
                </a:cubicBezTo>
                <a:cubicBezTo>
                  <a:pt x="111" y="8"/>
                  <a:pt x="110" y="12"/>
                  <a:pt x="110" y="17"/>
                </a:cubicBezTo>
                <a:cubicBezTo>
                  <a:pt x="110" y="21"/>
                  <a:pt x="111" y="25"/>
                  <a:pt x="115" y="28"/>
                </a:cubicBezTo>
                <a:cubicBezTo>
                  <a:pt x="118" y="32"/>
                  <a:pt x="122" y="33"/>
                  <a:pt x="126" y="33"/>
                </a:cubicBezTo>
                <a:cubicBezTo>
                  <a:pt x="143" y="33"/>
                  <a:pt x="143" y="33"/>
                  <a:pt x="143" y="33"/>
                </a:cubicBezTo>
                <a:cubicBezTo>
                  <a:pt x="143" y="137"/>
                  <a:pt x="143" y="137"/>
                  <a:pt x="143" y="137"/>
                </a:cubicBezTo>
                <a:cubicBezTo>
                  <a:pt x="12" y="344"/>
                  <a:pt x="12" y="344"/>
                  <a:pt x="12" y="344"/>
                </a:cubicBezTo>
                <a:cubicBezTo>
                  <a:pt x="2" y="360"/>
                  <a:pt x="0" y="373"/>
                  <a:pt x="6" y="384"/>
                </a:cubicBezTo>
                <a:cubicBezTo>
                  <a:pt x="12" y="395"/>
                  <a:pt x="25" y="400"/>
                  <a:pt x="43" y="400"/>
                </a:cubicBezTo>
                <a:cubicBezTo>
                  <a:pt x="343" y="400"/>
                  <a:pt x="343" y="400"/>
                  <a:pt x="343" y="400"/>
                </a:cubicBezTo>
                <a:cubicBezTo>
                  <a:pt x="362" y="400"/>
                  <a:pt x="374" y="395"/>
                  <a:pt x="380" y="384"/>
                </a:cubicBezTo>
                <a:cubicBezTo>
                  <a:pt x="386" y="373"/>
                  <a:pt x="384" y="360"/>
                  <a:pt x="374" y="344"/>
                </a:cubicBezTo>
                <a:close/>
                <a:moveTo>
                  <a:pt x="100" y="267"/>
                </a:moveTo>
                <a:cubicBezTo>
                  <a:pt x="171" y="155"/>
                  <a:pt x="171" y="155"/>
                  <a:pt x="171" y="155"/>
                </a:cubicBezTo>
                <a:cubicBezTo>
                  <a:pt x="177" y="147"/>
                  <a:pt x="177" y="147"/>
                  <a:pt x="177" y="147"/>
                </a:cubicBezTo>
                <a:cubicBezTo>
                  <a:pt x="177" y="33"/>
                  <a:pt x="177" y="33"/>
                  <a:pt x="177" y="33"/>
                </a:cubicBezTo>
                <a:cubicBezTo>
                  <a:pt x="210" y="33"/>
                  <a:pt x="210" y="33"/>
                  <a:pt x="210" y="33"/>
                </a:cubicBezTo>
                <a:cubicBezTo>
                  <a:pt x="210" y="147"/>
                  <a:pt x="210" y="147"/>
                  <a:pt x="210" y="147"/>
                </a:cubicBezTo>
                <a:cubicBezTo>
                  <a:pt x="215" y="155"/>
                  <a:pt x="215" y="155"/>
                  <a:pt x="215" y="155"/>
                </a:cubicBezTo>
                <a:cubicBezTo>
                  <a:pt x="286" y="267"/>
                  <a:pt x="286" y="267"/>
                  <a:pt x="286" y="267"/>
                </a:cubicBezTo>
                <a:lnTo>
                  <a:pt x="100" y="267"/>
                </a:lnTo>
                <a:close/>
                <a:moveTo>
                  <a:pt x="100" y="267"/>
                </a:moveTo>
                <a:cubicBezTo>
                  <a:pt x="100" y="267"/>
                  <a:pt x="100" y="267"/>
                  <a:pt x="100" y="267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0960" tIns="30480" rIns="60960" bIns="30480" numCol="1" anchor="t" anchorCtr="0" compatLnSpc="1"/>
          <a:lstStyle/>
          <a:p>
            <a:endParaRPr lang="en-US" sz="1400"/>
          </a:p>
        </p:txBody>
      </p:sp>
      <p:grpSp>
        <p:nvGrpSpPr>
          <p:cNvPr id="31" name="Group 30"/>
          <p:cNvGrpSpPr/>
          <p:nvPr/>
        </p:nvGrpSpPr>
        <p:grpSpPr>
          <a:xfrm>
            <a:off x="6595878" y="3699135"/>
            <a:ext cx="319451" cy="274267"/>
            <a:chOff x="10610850" y="8362950"/>
            <a:chExt cx="1762126" cy="1512888"/>
          </a:xfrm>
          <a:solidFill>
            <a:schemeClr val="tx1"/>
          </a:solidFill>
        </p:grpSpPr>
        <p:sp>
          <p:nvSpPr>
            <p:cNvPr id="32" name="Freeform 379"/>
            <p:cNvSpPr>
              <a:spLocks noEditPoints="1"/>
            </p:cNvSpPr>
            <p:nvPr/>
          </p:nvSpPr>
          <p:spPr bwMode="auto">
            <a:xfrm>
              <a:off x="10610850" y="9625013"/>
              <a:ext cx="252413" cy="250825"/>
            </a:xfrm>
            <a:custGeom>
              <a:avLst/>
              <a:gdLst>
                <a:gd name="T0" fmla="*/ 58 w 67"/>
                <a:gd name="T1" fmla="*/ 0 h 66"/>
                <a:gd name="T2" fmla="*/ 8 w 67"/>
                <a:gd name="T3" fmla="*/ 0 h 66"/>
                <a:gd name="T4" fmla="*/ 2 w 67"/>
                <a:gd name="T5" fmla="*/ 2 h 66"/>
                <a:gd name="T6" fmla="*/ 0 w 67"/>
                <a:gd name="T7" fmla="*/ 8 h 66"/>
                <a:gd name="T8" fmla="*/ 0 w 67"/>
                <a:gd name="T9" fmla="*/ 58 h 66"/>
                <a:gd name="T10" fmla="*/ 2 w 67"/>
                <a:gd name="T11" fmla="*/ 64 h 66"/>
                <a:gd name="T12" fmla="*/ 8 w 67"/>
                <a:gd name="T13" fmla="*/ 66 h 66"/>
                <a:gd name="T14" fmla="*/ 58 w 67"/>
                <a:gd name="T15" fmla="*/ 66 h 66"/>
                <a:gd name="T16" fmla="*/ 64 w 67"/>
                <a:gd name="T17" fmla="*/ 64 h 66"/>
                <a:gd name="T18" fmla="*/ 67 w 67"/>
                <a:gd name="T19" fmla="*/ 58 h 66"/>
                <a:gd name="T20" fmla="*/ 67 w 67"/>
                <a:gd name="T21" fmla="*/ 8 h 66"/>
                <a:gd name="T22" fmla="*/ 64 w 67"/>
                <a:gd name="T23" fmla="*/ 2 h 66"/>
                <a:gd name="T24" fmla="*/ 58 w 67"/>
                <a:gd name="T25" fmla="*/ 0 h 66"/>
                <a:gd name="T26" fmla="*/ 58 w 67"/>
                <a:gd name="T27" fmla="*/ 0 h 66"/>
                <a:gd name="T28" fmla="*/ 58 w 67"/>
                <a:gd name="T29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66">
                  <a:moveTo>
                    <a:pt x="5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0"/>
                    <a:pt x="2" y="2"/>
                  </a:cubicBezTo>
                  <a:cubicBezTo>
                    <a:pt x="1" y="4"/>
                    <a:pt x="0" y="6"/>
                    <a:pt x="0" y="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1"/>
                    <a:pt x="1" y="63"/>
                    <a:pt x="2" y="64"/>
                  </a:cubicBezTo>
                  <a:cubicBezTo>
                    <a:pt x="4" y="66"/>
                    <a:pt x="6" y="66"/>
                    <a:pt x="8" y="66"/>
                  </a:cubicBezTo>
                  <a:cubicBezTo>
                    <a:pt x="58" y="66"/>
                    <a:pt x="58" y="66"/>
                    <a:pt x="58" y="66"/>
                  </a:cubicBezTo>
                  <a:cubicBezTo>
                    <a:pt x="61" y="66"/>
                    <a:pt x="63" y="66"/>
                    <a:pt x="64" y="64"/>
                  </a:cubicBezTo>
                  <a:cubicBezTo>
                    <a:pt x="66" y="63"/>
                    <a:pt x="67" y="61"/>
                    <a:pt x="67" y="58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6"/>
                    <a:pt x="66" y="4"/>
                    <a:pt x="64" y="2"/>
                  </a:cubicBezTo>
                  <a:cubicBezTo>
                    <a:pt x="63" y="0"/>
                    <a:pt x="61" y="0"/>
                    <a:pt x="58" y="0"/>
                  </a:cubicBezTo>
                  <a:close/>
                  <a:moveTo>
                    <a:pt x="58" y="0"/>
                  </a:moveTo>
                  <a:cubicBezTo>
                    <a:pt x="58" y="0"/>
                    <a:pt x="58" y="0"/>
                    <a:pt x="5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0960" tIns="30480" rIns="60960" bIns="30480" numCol="1" anchor="t" anchorCtr="0" compatLnSpc="1"/>
            <a:lstStyle/>
            <a:p>
              <a:endParaRPr lang="en-US" sz="1400"/>
            </a:p>
          </p:txBody>
        </p:sp>
        <p:sp>
          <p:nvSpPr>
            <p:cNvPr id="33" name="Freeform 380"/>
            <p:cNvSpPr>
              <a:spLocks noEditPoints="1"/>
            </p:cNvSpPr>
            <p:nvPr/>
          </p:nvSpPr>
          <p:spPr bwMode="auto">
            <a:xfrm>
              <a:off x="11364913" y="9247188"/>
              <a:ext cx="254000" cy="628650"/>
            </a:xfrm>
            <a:custGeom>
              <a:avLst/>
              <a:gdLst>
                <a:gd name="T0" fmla="*/ 59 w 67"/>
                <a:gd name="T1" fmla="*/ 0 h 166"/>
                <a:gd name="T2" fmla="*/ 9 w 67"/>
                <a:gd name="T3" fmla="*/ 0 h 166"/>
                <a:gd name="T4" fmla="*/ 3 w 67"/>
                <a:gd name="T5" fmla="*/ 2 h 166"/>
                <a:gd name="T6" fmla="*/ 0 w 67"/>
                <a:gd name="T7" fmla="*/ 8 h 166"/>
                <a:gd name="T8" fmla="*/ 0 w 67"/>
                <a:gd name="T9" fmla="*/ 158 h 166"/>
                <a:gd name="T10" fmla="*/ 3 w 67"/>
                <a:gd name="T11" fmla="*/ 164 h 166"/>
                <a:gd name="T12" fmla="*/ 9 w 67"/>
                <a:gd name="T13" fmla="*/ 166 h 166"/>
                <a:gd name="T14" fmla="*/ 59 w 67"/>
                <a:gd name="T15" fmla="*/ 166 h 166"/>
                <a:gd name="T16" fmla="*/ 65 w 67"/>
                <a:gd name="T17" fmla="*/ 164 h 166"/>
                <a:gd name="T18" fmla="*/ 67 w 67"/>
                <a:gd name="T19" fmla="*/ 158 h 166"/>
                <a:gd name="T20" fmla="*/ 67 w 67"/>
                <a:gd name="T21" fmla="*/ 8 h 166"/>
                <a:gd name="T22" fmla="*/ 65 w 67"/>
                <a:gd name="T23" fmla="*/ 2 h 166"/>
                <a:gd name="T24" fmla="*/ 59 w 67"/>
                <a:gd name="T25" fmla="*/ 0 h 166"/>
                <a:gd name="T26" fmla="*/ 59 w 67"/>
                <a:gd name="T27" fmla="*/ 0 h 166"/>
                <a:gd name="T28" fmla="*/ 59 w 67"/>
                <a:gd name="T2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166">
                  <a:moveTo>
                    <a:pt x="5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6" y="0"/>
                    <a:pt x="4" y="0"/>
                    <a:pt x="3" y="2"/>
                  </a:cubicBezTo>
                  <a:cubicBezTo>
                    <a:pt x="1" y="3"/>
                    <a:pt x="0" y="5"/>
                    <a:pt x="0" y="8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61"/>
                    <a:pt x="1" y="163"/>
                    <a:pt x="3" y="164"/>
                  </a:cubicBezTo>
                  <a:cubicBezTo>
                    <a:pt x="4" y="166"/>
                    <a:pt x="6" y="166"/>
                    <a:pt x="9" y="166"/>
                  </a:cubicBezTo>
                  <a:cubicBezTo>
                    <a:pt x="59" y="166"/>
                    <a:pt x="59" y="166"/>
                    <a:pt x="59" y="166"/>
                  </a:cubicBezTo>
                  <a:cubicBezTo>
                    <a:pt x="61" y="166"/>
                    <a:pt x="63" y="166"/>
                    <a:pt x="65" y="164"/>
                  </a:cubicBezTo>
                  <a:cubicBezTo>
                    <a:pt x="66" y="163"/>
                    <a:pt x="67" y="161"/>
                    <a:pt x="67" y="158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3" y="0"/>
                    <a:pt x="61" y="0"/>
                    <a:pt x="59" y="0"/>
                  </a:cubicBezTo>
                  <a:close/>
                  <a:moveTo>
                    <a:pt x="59" y="0"/>
                  </a:moveTo>
                  <a:cubicBezTo>
                    <a:pt x="59" y="0"/>
                    <a:pt x="59" y="0"/>
                    <a:pt x="5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0960" tIns="30480" rIns="60960" bIns="30480" numCol="1" anchor="t" anchorCtr="0" compatLnSpc="1"/>
            <a:lstStyle/>
            <a:p>
              <a:endParaRPr lang="en-US" sz="1400"/>
            </a:p>
          </p:txBody>
        </p:sp>
        <p:sp>
          <p:nvSpPr>
            <p:cNvPr id="34" name="Freeform 381"/>
            <p:cNvSpPr>
              <a:spLocks noEditPoints="1"/>
            </p:cNvSpPr>
            <p:nvPr/>
          </p:nvSpPr>
          <p:spPr bwMode="auto">
            <a:xfrm>
              <a:off x="10987088" y="9496425"/>
              <a:ext cx="254000" cy="379413"/>
            </a:xfrm>
            <a:custGeom>
              <a:avLst/>
              <a:gdLst>
                <a:gd name="T0" fmla="*/ 59 w 67"/>
                <a:gd name="T1" fmla="*/ 0 h 100"/>
                <a:gd name="T2" fmla="*/ 8 w 67"/>
                <a:gd name="T3" fmla="*/ 0 h 100"/>
                <a:gd name="T4" fmla="*/ 2 w 67"/>
                <a:gd name="T5" fmla="*/ 3 h 100"/>
                <a:gd name="T6" fmla="*/ 0 w 67"/>
                <a:gd name="T7" fmla="*/ 9 h 100"/>
                <a:gd name="T8" fmla="*/ 0 w 67"/>
                <a:gd name="T9" fmla="*/ 92 h 100"/>
                <a:gd name="T10" fmla="*/ 2 w 67"/>
                <a:gd name="T11" fmla="*/ 98 h 100"/>
                <a:gd name="T12" fmla="*/ 8 w 67"/>
                <a:gd name="T13" fmla="*/ 100 h 100"/>
                <a:gd name="T14" fmla="*/ 59 w 67"/>
                <a:gd name="T15" fmla="*/ 100 h 100"/>
                <a:gd name="T16" fmla="*/ 65 w 67"/>
                <a:gd name="T17" fmla="*/ 98 h 100"/>
                <a:gd name="T18" fmla="*/ 67 w 67"/>
                <a:gd name="T19" fmla="*/ 92 h 100"/>
                <a:gd name="T20" fmla="*/ 67 w 67"/>
                <a:gd name="T21" fmla="*/ 9 h 100"/>
                <a:gd name="T22" fmla="*/ 65 w 67"/>
                <a:gd name="T23" fmla="*/ 3 h 100"/>
                <a:gd name="T24" fmla="*/ 59 w 67"/>
                <a:gd name="T25" fmla="*/ 0 h 100"/>
                <a:gd name="T26" fmla="*/ 59 w 67"/>
                <a:gd name="T27" fmla="*/ 0 h 100"/>
                <a:gd name="T28" fmla="*/ 59 w 67"/>
                <a:gd name="T2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100">
                  <a:moveTo>
                    <a:pt x="59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6"/>
                    <a:pt x="0" y="9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5"/>
                    <a:pt x="1" y="97"/>
                    <a:pt x="2" y="98"/>
                  </a:cubicBezTo>
                  <a:cubicBezTo>
                    <a:pt x="4" y="100"/>
                    <a:pt x="6" y="100"/>
                    <a:pt x="8" y="100"/>
                  </a:cubicBezTo>
                  <a:cubicBezTo>
                    <a:pt x="59" y="100"/>
                    <a:pt x="59" y="100"/>
                    <a:pt x="59" y="100"/>
                  </a:cubicBezTo>
                  <a:cubicBezTo>
                    <a:pt x="61" y="100"/>
                    <a:pt x="63" y="100"/>
                    <a:pt x="65" y="98"/>
                  </a:cubicBezTo>
                  <a:cubicBezTo>
                    <a:pt x="66" y="97"/>
                    <a:pt x="67" y="95"/>
                    <a:pt x="67" y="92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7" y="6"/>
                    <a:pt x="66" y="4"/>
                    <a:pt x="65" y="3"/>
                  </a:cubicBezTo>
                  <a:cubicBezTo>
                    <a:pt x="63" y="1"/>
                    <a:pt x="61" y="0"/>
                    <a:pt x="59" y="0"/>
                  </a:cubicBezTo>
                  <a:close/>
                  <a:moveTo>
                    <a:pt x="59" y="0"/>
                  </a:moveTo>
                  <a:cubicBezTo>
                    <a:pt x="59" y="0"/>
                    <a:pt x="59" y="0"/>
                    <a:pt x="5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0960" tIns="30480" rIns="60960" bIns="30480" numCol="1" anchor="t" anchorCtr="0" compatLnSpc="1"/>
            <a:lstStyle/>
            <a:p>
              <a:endParaRPr lang="en-US" sz="1400"/>
            </a:p>
          </p:txBody>
        </p:sp>
        <p:sp>
          <p:nvSpPr>
            <p:cNvPr id="35" name="Freeform 382"/>
            <p:cNvSpPr>
              <a:spLocks noEditPoints="1"/>
            </p:cNvSpPr>
            <p:nvPr/>
          </p:nvSpPr>
          <p:spPr bwMode="auto">
            <a:xfrm>
              <a:off x="11742738" y="8866188"/>
              <a:ext cx="252413" cy="1009650"/>
            </a:xfrm>
            <a:custGeom>
              <a:avLst/>
              <a:gdLst>
                <a:gd name="T0" fmla="*/ 59 w 67"/>
                <a:gd name="T1" fmla="*/ 0 h 267"/>
                <a:gd name="T2" fmla="*/ 9 w 67"/>
                <a:gd name="T3" fmla="*/ 0 h 267"/>
                <a:gd name="T4" fmla="*/ 3 w 67"/>
                <a:gd name="T5" fmla="*/ 3 h 267"/>
                <a:gd name="T6" fmla="*/ 0 w 67"/>
                <a:gd name="T7" fmla="*/ 9 h 267"/>
                <a:gd name="T8" fmla="*/ 0 w 67"/>
                <a:gd name="T9" fmla="*/ 259 h 267"/>
                <a:gd name="T10" fmla="*/ 3 w 67"/>
                <a:gd name="T11" fmla="*/ 265 h 267"/>
                <a:gd name="T12" fmla="*/ 9 w 67"/>
                <a:gd name="T13" fmla="*/ 267 h 267"/>
                <a:gd name="T14" fmla="*/ 59 w 67"/>
                <a:gd name="T15" fmla="*/ 267 h 267"/>
                <a:gd name="T16" fmla="*/ 65 w 67"/>
                <a:gd name="T17" fmla="*/ 265 h 267"/>
                <a:gd name="T18" fmla="*/ 67 w 67"/>
                <a:gd name="T19" fmla="*/ 259 h 267"/>
                <a:gd name="T20" fmla="*/ 67 w 67"/>
                <a:gd name="T21" fmla="*/ 9 h 267"/>
                <a:gd name="T22" fmla="*/ 65 w 67"/>
                <a:gd name="T23" fmla="*/ 3 h 267"/>
                <a:gd name="T24" fmla="*/ 59 w 67"/>
                <a:gd name="T25" fmla="*/ 0 h 267"/>
                <a:gd name="T26" fmla="*/ 59 w 67"/>
                <a:gd name="T27" fmla="*/ 0 h 267"/>
                <a:gd name="T28" fmla="*/ 59 w 67"/>
                <a:gd name="T29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267">
                  <a:moveTo>
                    <a:pt x="5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6"/>
                    <a:pt x="0" y="9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62"/>
                    <a:pt x="1" y="264"/>
                    <a:pt x="3" y="265"/>
                  </a:cubicBezTo>
                  <a:cubicBezTo>
                    <a:pt x="4" y="267"/>
                    <a:pt x="6" y="267"/>
                    <a:pt x="9" y="267"/>
                  </a:cubicBezTo>
                  <a:cubicBezTo>
                    <a:pt x="59" y="267"/>
                    <a:pt x="59" y="267"/>
                    <a:pt x="59" y="267"/>
                  </a:cubicBezTo>
                  <a:cubicBezTo>
                    <a:pt x="61" y="267"/>
                    <a:pt x="63" y="267"/>
                    <a:pt x="65" y="265"/>
                  </a:cubicBezTo>
                  <a:cubicBezTo>
                    <a:pt x="66" y="264"/>
                    <a:pt x="67" y="262"/>
                    <a:pt x="67" y="259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7" y="6"/>
                    <a:pt x="66" y="4"/>
                    <a:pt x="65" y="3"/>
                  </a:cubicBezTo>
                  <a:cubicBezTo>
                    <a:pt x="63" y="1"/>
                    <a:pt x="61" y="0"/>
                    <a:pt x="59" y="0"/>
                  </a:cubicBezTo>
                  <a:close/>
                  <a:moveTo>
                    <a:pt x="59" y="0"/>
                  </a:moveTo>
                  <a:cubicBezTo>
                    <a:pt x="59" y="0"/>
                    <a:pt x="59" y="0"/>
                    <a:pt x="5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0960" tIns="30480" rIns="60960" bIns="30480" numCol="1" anchor="t" anchorCtr="0" compatLnSpc="1"/>
            <a:lstStyle/>
            <a:p>
              <a:endParaRPr lang="en-US" sz="1400"/>
            </a:p>
          </p:txBody>
        </p:sp>
        <p:sp>
          <p:nvSpPr>
            <p:cNvPr id="36" name="Freeform 383"/>
            <p:cNvSpPr>
              <a:spLocks noEditPoints="1"/>
            </p:cNvSpPr>
            <p:nvPr/>
          </p:nvSpPr>
          <p:spPr bwMode="auto">
            <a:xfrm>
              <a:off x="12120563" y="8362950"/>
              <a:ext cx="252413" cy="1512888"/>
            </a:xfrm>
            <a:custGeom>
              <a:avLst/>
              <a:gdLst>
                <a:gd name="T0" fmla="*/ 65 w 67"/>
                <a:gd name="T1" fmla="*/ 2 h 400"/>
                <a:gd name="T2" fmla="*/ 59 w 67"/>
                <a:gd name="T3" fmla="*/ 0 h 400"/>
                <a:gd name="T4" fmla="*/ 9 w 67"/>
                <a:gd name="T5" fmla="*/ 0 h 400"/>
                <a:gd name="T6" fmla="*/ 3 w 67"/>
                <a:gd name="T7" fmla="*/ 2 h 400"/>
                <a:gd name="T8" fmla="*/ 0 w 67"/>
                <a:gd name="T9" fmla="*/ 8 h 400"/>
                <a:gd name="T10" fmla="*/ 0 w 67"/>
                <a:gd name="T11" fmla="*/ 392 h 400"/>
                <a:gd name="T12" fmla="*/ 3 w 67"/>
                <a:gd name="T13" fmla="*/ 398 h 400"/>
                <a:gd name="T14" fmla="*/ 9 w 67"/>
                <a:gd name="T15" fmla="*/ 400 h 400"/>
                <a:gd name="T16" fmla="*/ 59 w 67"/>
                <a:gd name="T17" fmla="*/ 400 h 400"/>
                <a:gd name="T18" fmla="*/ 65 w 67"/>
                <a:gd name="T19" fmla="*/ 398 h 400"/>
                <a:gd name="T20" fmla="*/ 67 w 67"/>
                <a:gd name="T21" fmla="*/ 392 h 400"/>
                <a:gd name="T22" fmla="*/ 67 w 67"/>
                <a:gd name="T23" fmla="*/ 8 h 400"/>
                <a:gd name="T24" fmla="*/ 65 w 67"/>
                <a:gd name="T25" fmla="*/ 2 h 400"/>
                <a:gd name="T26" fmla="*/ 65 w 67"/>
                <a:gd name="T27" fmla="*/ 2 h 400"/>
                <a:gd name="T28" fmla="*/ 65 w 67"/>
                <a:gd name="T29" fmla="*/ 2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400">
                  <a:moveTo>
                    <a:pt x="65" y="2"/>
                  </a:moveTo>
                  <a:cubicBezTo>
                    <a:pt x="63" y="1"/>
                    <a:pt x="61" y="0"/>
                    <a:pt x="5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0"/>
                    <a:pt x="4" y="1"/>
                    <a:pt x="3" y="2"/>
                  </a:cubicBezTo>
                  <a:cubicBezTo>
                    <a:pt x="1" y="4"/>
                    <a:pt x="0" y="6"/>
                    <a:pt x="0" y="8"/>
                  </a:cubicBezTo>
                  <a:cubicBezTo>
                    <a:pt x="0" y="392"/>
                    <a:pt x="0" y="392"/>
                    <a:pt x="0" y="392"/>
                  </a:cubicBezTo>
                  <a:cubicBezTo>
                    <a:pt x="0" y="395"/>
                    <a:pt x="1" y="397"/>
                    <a:pt x="3" y="398"/>
                  </a:cubicBezTo>
                  <a:cubicBezTo>
                    <a:pt x="4" y="400"/>
                    <a:pt x="6" y="400"/>
                    <a:pt x="9" y="400"/>
                  </a:cubicBezTo>
                  <a:cubicBezTo>
                    <a:pt x="59" y="400"/>
                    <a:pt x="59" y="400"/>
                    <a:pt x="59" y="400"/>
                  </a:cubicBezTo>
                  <a:cubicBezTo>
                    <a:pt x="61" y="400"/>
                    <a:pt x="63" y="400"/>
                    <a:pt x="65" y="398"/>
                  </a:cubicBezTo>
                  <a:cubicBezTo>
                    <a:pt x="66" y="397"/>
                    <a:pt x="67" y="395"/>
                    <a:pt x="67" y="392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6"/>
                    <a:pt x="66" y="4"/>
                    <a:pt x="65" y="2"/>
                  </a:cubicBezTo>
                  <a:close/>
                  <a:moveTo>
                    <a:pt x="65" y="2"/>
                  </a:moveTo>
                  <a:cubicBezTo>
                    <a:pt x="65" y="2"/>
                    <a:pt x="65" y="2"/>
                    <a:pt x="65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0960" tIns="30480" rIns="60960" bIns="30480" numCol="1" anchor="t" anchorCtr="0" compatLnSpc="1"/>
            <a:lstStyle/>
            <a:p>
              <a:endParaRPr lang="en-US" sz="140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595878" y="5349991"/>
            <a:ext cx="260569" cy="260569"/>
            <a:chOff x="13668375" y="8128000"/>
            <a:chExt cx="1492251" cy="1492251"/>
          </a:xfrm>
          <a:solidFill>
            <a:schemeClr val="tx1"/>
          </a:solidFill>
        </p:grpSpPr>
        <p:sp>
          <p:nvSpPr>
            <p:cNvPr id="38" name="Freeform 358"/>
            <p:cNvSpPr>
              <a:spLocks noEditPoints="1"/>
            </p:cNvSpPr>
            <p:nvPr/>
          </p:nvSpPr>
          <p:spPr bwMode="auto">
            <a:xfrm>
              <a:off x="13668375" y="8393113"/>
              <a:ext cx="1228725" cy="1227138"/>
            </a:xfrm>
            <a:custGeom>
              <a:avLst/>
              <a:gdLst>
                <a:gd name="T0" fmla="*/ 0 w 325"/>
                <a:gd name="T1" fmla="*/ 217 h 325"/>
                <a:gd name="T2" fmla="*/ 0 w 325"/>
                <a:gd name="T3" fmla="*/ 325 h 325"/>
                <a:gd name="T4" fmla="*/ 108 w 325"/>
                <a:gd name="T5" fmla="*/ 325 h 325"/>
                <a:gd name="T6" fmla="*/ 325 w 325"/>
                <a:gd name="T7" fmla="*/ 108 h 325"/>
                <a:gd name="T8" fmla="*/ 217 w 325"/>
                <a:gd name="T9" fmla="*/ 0 h 325"/>
                <a:gd name="T10" fmla="*/ 0 w 325"/>
                <a:gd name="T11" fmla="*/ 217 h 325"/>
                <a:gd name="T12" fmla="*/ 95 w 325"/>
                <a:gd name="T13" fmla="*/ 292 h 325"/>
                <a:gd name="T14" fmla="*/ 67 w 325"/>
                <a:gd name="T15" fmla="*/ 292 h 325"/>
                <a:gd name="T16" fmla="*/ 67 w 325"/>
                <a:gd name="T17" fmla="*/ 258 h 325"/>
                <a:gd name="T18" fmla="*/ 33 w 325"/>
                <a:gd name="T19" fmla="*/ 258 h 325"/>
                <a:gd name="T20" fmla="*/ 33 w 325"/>
                <a:gd name="T21" fmla="*/ 230 h 325"/>
                <a:gd name="T22" fmla="*/ 57 w 325"/>
                <a:gd name="T23" fmla="*/ 207 h 325"/>
                <a:gd name="T24" fmla="*/ 118 w 325"/>
                <a:gd name="T25" fmla="*/ 268 h 325"/>
                <a:gd name="T26" fmla="*/ 95 w 325"/>
                <a:gd name="T27" fmla="*/ 292 h 325"/>
                <a:gd name="T28" fmla="*/ 225 w 325"/>
                <a:gd name="T29" fmla="*/ 44 h 325"/>
                <a:gd name="T30" fmla="*/ 231 w 325"/>
                <a:gd name="T31" fmla="*/ 50 h 325"/>
                <a:gd name="T32" fmla="*/ 229 w 325"/>
                <a:gd name="T33" fmla="*/ 54 h 325"/>
                <a:gd name="T34" fmla="*/ 88 w 325"/>
                <a:gd name="T35" fmla="*/ 195 h 325"/>
                <a:gd name="T36" fmla="*/ 83 w 325"/>
                <a:gd name="T37" fmla="*/ 197 h 325"/>
                <a:gd name="T38" fmla="*/ 78 w 325"/>
                <a:gd name="T39" fmla="*/ 191 h 325"/>
                <a:gd name="T40" fmla="*/ 80 w 325"/>
                <a:gd name="T41" fmla="*/ 187 h 325"/>
                <a:gd name="T42" fmla="*/ 221 w 325"/>
                <a:gd name="T43" fmla="*/ 46 h 325"/>
                <a:gd name="T44" fmla="*/ 225 w 325"/>
                <a:gd name="T45" fmla="*/ 44 h 325"/>
                <a:gd name="T46" fmla="*/ 225 w 325"/>
                <a:gd name="T47" fmla="*/ 44 h 325"/>
                <a:gd name="T48" fmla="*/ 225 w 325"/>
                <a:gd name="T49" fmla="*/ 44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5" h="325">
                  <a:moveTo>
                    <a:pt x="0" y="217"/>
                  </a:moveTo>
                  <a:cubicBezTo>
                    <a:pt x="0" y="325"/>
                    <a:pt x="0" y="325"/>
                    <a:pt x="0" y="325"/>
                  </a:cubicBezTo>
                  <a:cubicBezTo>
                    <a:pt x="108" y="325"/>
                    <a:pt x="108" y="325"/>
                    <a:pt x="108" y="325"/>
                  </a:cubicBezTo>
                  <a:cubicBezTo>
                    <a:pt x="325" y="108"/>
                    <a:pt x="325" y="108"/>
                    <a:pt x="325" y="108"/>
                  </a:cubicBezTo>
                  <a:cubicBezTo>
                    <a:pt x="217" y="0"/>
                    <a:pt x="217" y="0"/>
                    <a:pt x="217" y="0"/>
                  </a:cubicBezTo>
                  <a:lnTo>
                    <a:pt x="0" y="217"/>
                  </a:lnTo>
                  <a:close/>
                  <a:moveTo>
                    <a:pt x="95" y="292"/>
                  </a:moveTo>
                  <a:cubicBezTo>
                    <a:pt x="67" y="292"/>
                    <a:pt x="67" y="292"/>
                    <a:pt x="67" y="292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33" y="258"/>
                    <a:pt x="33" y="258"/>
                    <a:pt x="33" y="258"/>
                  </a:cubicBezTo>
                  <a:cubicBezTo>
                    <a:pt x="33" y="230"/>
                    <a:pt x="33" y="230"/>
                    <a:pt x="33" y="230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118" y="268"/>
                    <a:pt x="118" y="268"/>
                    <a:pt x="118" y="268"/>
                  </a:cubicBezTo>
                  <a:lnTo>
                    <a:pt x="95" y="292"/>
                  </a:lnTo>
                  <a:close/>
                  <a:moveTo>
                    <a:pt x="225" y="44"/>
                  </a:moveTo>
                  <a:cubicBezTo>
                    <a:pt x="229" y="44"/>
                    <a:pt x="231" y="46"/>
                    <a:pt x="231" y="50"/>
                  </a:cubicBezTo>
                  <a:cubicBezTo>
                    <a:pt x="231" y="51"/>
                    <a:pt x="230" y="53"/>
                    <a:pt x="229" y="54"/>
                  </a:cubicBezTo>
                  <a:cubicBezTo>
                    <a:pt x="88" y="195"/>
                    <a:pt x="88" y="195"/>
                    <a:pt x="88" y="195"/>
                  </a:cubicBezTo>
                  <a:cubicBezTo>
                    <a:pt x="87" y="197"/>
                    <a:pt x="85" y="197"/>
                    <a:pt x="83" y="197"/>
                  </a:cubicBezTo>
                  <a:cubicBezTo>
                    <a:pt x="80" y="197"/>
                    <a:pt x="78" y="195"/>
                    <a:pt x="78" y="191"/>
                  </a:cubicBezTo>
                  <a:cubicBezTo>
                    <a:pt x="78" y="190"/>
                    <a:pt x="78" y="188"/>
                    <a:pt x="80" y="187"/>
                  </a:cubicBezTo>
                  <a:cubicBezTo>
                    <a:pt x="221" y="46"/>
                    <a:pt x="221" y="46"/>
                    <a:pt x="221" y="46"/>
                  </a:cubicBezTo>
                  <a:cubicBezTo>
                    <a:pt x="222" y="45"/>
                    <a:pt x="224" y="44"/>
                    <a:pt x="225" y="44"/>
                  </a:cubicBezTo>
                  <a:close/>
                  <a:moveTo>
                    <a:pt x="225" y="44"/>
                  </a:moveTo>
                  <a:cubicBezTo>
                    <a:pt x="225" y="44"/>
                    <a:pt x="225" y="44"/>
                    <a:pt x="225" y="4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0960" tIns="30480" rIns="60960" bIns="30480" numCol="1" anchor="t" anchorCtr="0" compatLnSpc="1"/>
            <a:lstStyle/>
            <a:p>
              <a:endParaRPr lang="en-US" sz="1400"/>
            </a:p>
          </p:txBody>
        </p:sp>
        <p:sp>
          <p:nvSpPr>
            <p:cNvPr id="39" name="Freeform 359"/>
            <p:cNvSpPr>
              <a:spLocks noEditPoints="1"/>
            </p:cNvSpPr>
            <p:nvPr/>
          </p:nvSpPr>
          <p:spPr bwMode="auto">
            <a:xfrm>
              <a:off x="14552613" y="8128000"/>
              <a:ext cx="608013" cy="608013"/>
            </a:xfrm>
            <a:custGeom>
              <a:avLst/>
              <a:gdLst>
                <a:gd name="T0" fmla="*/ 151 w 161"/>
                <a:gd name="T1" fmla="*/ 71 h 161"/>
                <a:gd name="T2" fmla="*/ 90 w 161"/>
                <a:gd name="T3" fmla="*/ 10 h 161"/>
                <a:gd name="T4" fmla="*/ 66 w 161"/>
                <a:gd name="T5" fmla="*/ 0 h 161"/>
                <a:gd name="T6" fmla="*/ 43 w 161"/>
                <a:gd name="T7" fmla="*/ 10 h 161"/>
                <a:gd name="T8" fmla="*/ 0 w 161"/>
                <a:gd name="T9" fmla="*/ 53 h 161"/>
                <a:gd name="T10" fmla="*/ 108 w 161"/>
                <a:gd name="T11" fmla="*/ 161 h 161"/>
                <a:gd name="T12" fmla="*/ 151 w 161"/>
                <a:gd name="T13" fmla="*/ 118 h 161"/>
                <a:gd name="T14" fmla="*/ 161 w 161"/>
                <a:gd name="T15" fmla="*/ 95 h 161"/>
                <a:gd name="T16" fmla="*/ 151 w 161"/>
                <a:gd name="T17" fmla="*/ 71 h 161"/>
                <a:gd name="T18" fmla="*/ 151 w 161"/>
                <a:gd name="T19" fmla="*/ 71 h 161"/>
                <a:gd name="T20" fmla="*/ 151 w 161"/>
                <a:gd name="T21" fmla="*/ 7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1" h="161">
                  <a:moveTo>
                    <a:pt x="151" y="71"/>
                  </a:moveTo>
                  <a:cubicBezTo>
                    <a:pt x="90" y="10"/>
                    <a:pt x="90" y="10"/>
                    <a:pt x="90" y="10"/>
                  </a:cubicBezTo>
                  <a:cubicBezTo>
                    <a:pt x="83" y="3"/>
                    <a:pt x="76" y="0"/>
                    <a:pt x="66" y="0"/>
                  </a:cubicBezTo>
                  <a:cubicBezTo>
                    <a:pt x="57" y="0"/>
                    <a:pt x="49" y="3"/>
                    <a:pt x="43" y="1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08" y="161"/>
                    <a:pt x="108" y="161"/>
                    <a:pt x="108" y="161"/>
                  </a:cubicBezTo>
                  <a:cubicBezTo>
                    <a:pt x="151" y="118"/>
                    <a:pt x="151" y="118"/>
                    <a:pt x="151" y="118"/>
                  </a:cubicBezTo>
                  <a:cubicBezTo>
                    <a:pt x="158" y="112"/>
                    <a:pt x="161" y="104"/>
                    <a:pt x="161" y="95"/>
                  </a:cubicBezTo>
                  <a:cubicBezTo>
                    <a:pt x="161" y="86"/>
                    <a:pt x="158" y="78"/>
                    <a:pt x="151" y="71"/>
                  </a:cubicBezTo>
                  <a:close/>
                  <a:moveTo>
                    <a:pt x="151" y="71"/>
                  </a:moveTo>
                  <a:cubicBezTo>
                    <a:pt x="151" y="71"/>
                    <a:pt x="151" y="71"/>
                    <a:pt x="151" y="7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0960" tIns="30480" rIns="60960" bIns="30480" numCol="1" anchor="t" anchorCtr="0" compatLnSpc="1"/>
            <a:lstStyle/>
            <a:p>
              <a:endParaRPr lang="en-US" sz="1400"/>
            </a:p>
          </p:txBody>
        </p:sp>
      </p:grpSp>
      <p:sp>
        <p:nvSpPr>
          <p:cNvPr id="10" name="TextBox 15"/>
          <p:cNvSpPr txBox="1"/>
          <p:nvPr/>
        </p:nvSpPr>
        <p:spPr>
          <a:xfrm>
            <a:off x="7313764" y="3590311"/>
            <a:ext cx="330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短、中、长线</a:t>
            </a:r>
          </a:p>
        </p:txBody>
      </p:sp>
      <p:sp>
        <p:nvSpPr>
          <p:cNvPr id="12" name="TextBox 15"/>
          <p:cNvSpPr txBox="1"/>
          <p:nvPr/>
        </p:nvSpPr>
        <p:spPr>
          <a:xfrm>
            <a:off x="7371033" y="5148895"/>
            <a:ext cx="330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有什么用？</a:t>
            </a:r>
          </a:p>
        </p:txBody>
      </p:sp>
    </p:spTree>
  </p:cSld>
  <p:clrMapOvr>
    <a:masterClrMapping/>
  </p:clrMapOvr>
  <p:transition spd="slow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占位符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46" b="37346"/>
          <a:stretch>
            <a:fillRect/>
          </a:stretch>
        </p:blipFill>
        <p:spPr>
          <a:xfrm>
            <a:off x="0" y="0"/>
            <a:ext cx="12192000" cy="25123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9735" y="330055"/>
            <a:ext cx="10515600" cy="1325563"/>
          </a:xfrm>
        </p:spPr>
        <p:txBody>
          <a:bodyPr/>
          <a:lstStyle/>
          <a:p>
            <a:pPr defTabSz="1371600"/>
            <a:r>
              <a:rPr lang="en-US" altLang="zh-CN" sz="4300" b="1" dirty="0">
                <a:solidFill>
                  <a:schemeClr val="bg1"/>
                </a:solidFill>
                <a:latin typeface="Abril Fatface" panose="02000503000000020003" pitchFamily="50" charset="0"/>
              </a:rPr>
              <a:t>K</a:t>
            </a:r>
            <a:r>
              <a:rPr lang="zh-CN" altLang="en-US" sz="4300" b="1" dirty="0">
                <a:solidFill>
                  <a:schemeClr val="bg1"/>
                </a:solidFill>
                <a:latin typeface="Abril Fatface" panose="02000503000000020003" pitchFamily="50" charset="0"/>
              </a:rPr>
              <a:t>线的形态与强度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440" y="2893686"/>
            <a:ext cx="5730178" cy="3231069"/>
          </a:xfr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279" y="3384830"/>
            <a:ext cx="4508892" cy="23745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占位符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46" b="37346"/>
          <a:stretch>
            <a:fillRect/>
          </a:stretch>
        </p:blipFill>
        <p:spPr>
          <a:xfrm>
            <a:off x="0" y="0"/>
            <a:ext cx="12192000" cy="25123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9735" y="330055"/>
            <a:ext cx="10515600" cy="1325563"/>
          </a:xfrm>
        </p:spPr>
        <p:txBody>
          <a:bodyPr/>
          <a:lstStyle/>
          <a:p>
            <a:pPr defTabSz="1371600"/>
            <a:r>
              <a:rPr lang="en-US" altLang="zh-CN" sz="4300" b="1" dirty="0">
                <a:solidFill>
                  <a:schemeClr val="bg1"/>
                </a:solidFill>
                <a:latin typeface="Abril Fatface" panose="02000503000000020003" pitchFamily="50" charset="0"/>
              </a:rPr>
              <a:t>K</a:t>
            </a:r>
            <a:r>
              <a:rPr lang="zh-CN" altLang="en-US" sz="4300" b="1" dirty="0">
                <a:solidFill>
                  <a:schemeClr val="bg1"/>
                </a:solidFill>
                <a:latin typeface="Abril Fatface" panose="02000503000000020003" pitchFamily="50" charset="0"/>
              </a:rPr>
              <a:t>线图的周期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59735" y="2933034"/>
            <a:ext cx="68729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Abril Fatface" panose="02000503000000020003" pitchFamily="50" charset="0"/>
              </a:rPr>
              <a:t>常用周期：</a:t>
            </a:r>
            <a:r>
              <a:rPr lang="en-US" altLang="zh-CN" sz="2400" b="1" dirty="0">
                <a:latin typeface="Abril Fatface" panose="02000503000000020003" pitchFamily="50" charset="0"/>
              </a:rPr>
              <a:t>15min, 30min, 4h, </a:t>
            </a:r>
            <a:r>
              <a:rPr lang="zh-CN" altLang="en-US" sz="2400" b="1" dirty="0">
                <a:latin typeface="Abril Fatface" panose="02000503000000020003" pitchFamily="50" charset="0"/>
              </a:rPr>
              <a:t>日线，周线，月线</a:t>
            </a:r>
            <a:endParaRPr lang="zh-CN" altLang="en-US" sz="2400" dirty="0"/>
          </a:p>
        </p:txBody>
      </p:sp>
      <p:pic>
        <p:nvPicPr>
          <p:cNvPr id="14" name="内容占位符 4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39640" y="3865237"/>
            <a:ext cx="3784710" cy="2134080"/>
          </a:xfr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650" y="3463302"/>
            <a:ext cx="5969000" cy="289820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/>
          <p:cNvPicPr>
            <a:picLocks noGrp="1" noChangeAspect="1"/>
          </p:cNvPicPr>
          <p:nvPr>
            <p:ph type="pic" sz="quarter" idx="11"/>
          </p:nvPr>
        </p:nvPicPr>
        <p:blipFill>
          <a:blip r:embed="rId2" cstate="screen"/>
          <a:srcRect/>
          <a:stretch>
            <a:fillRect/>
          </a:stretch>
        </p:blipFill>
        <p:spPr>
          <a:xfrm flipH="1">
            <a:off x="0" y="0"/>
            <a:ext cx="12192000" cy="5199108"/>
          </a:xfrm>
        </p:spPr>
      </p:pic>
      <p:sp>
        <p:nvSpPr>
          <p:cNvPr id="16" name="Rectangle 15"/>
          <p:cNvSpPr/>
          <p:nvPr/>
        </p:nvSpPr>
        <p:spPr>
          <a:xfrm>
            <a:off x="1807" y="211"/>
            <a:ext cx="12192000" cy="5199109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" name="Chevron 3"/>
          <p:cNvSpPr/>
          <p:nvPr/>
        </p:nvSpPr>
        <p:spPr>
          <a:xfrm>
            <a:off x="596668" y="3324540"/>
            <a:ext cx="203200" cy="257175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6932881" y="3300412"/>
            <a:ext cx="203200" cy="257175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4153308" y="314326"/>
            <a:ext cx="7092118" cy="63817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400" b="1" dirty="0">
              <a:solidFill>
                <a:schemeClr val="bg1"/>
              </a:solidFill>
              <a:latin typeface="Abril Fatface" panose="02000503000000020003" pitchFamily="5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4391" y="6312841"/>
            <a:ext cx="2587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Presented by IEA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98268" y="691484"/>
            <a:ext cx="34532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dirty="0">
                <a:latin typeface="Abril Fatface" panose="02000503000000020003" pitchFamily="50" charset="0"/>
              </a:rPr>
              <a:t>趋势：走势</a:t>
            </a:r>
            <a:endParaRPr lang="zh-CN" altLang="en-US" sz="4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04" y="3231594"/>
            <a:ext cx="4515528" cy="284671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193111" y="3300412"/>
            <a:ext cx="15375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Abril Fatface" panose="02000503000000020003" pitchFamily="50" charset="0"/>
              </a:rPr>
              <a:t>上涨</a:t>
            </a:r>
            <a:endParaRPr lang="zh-CN" altLang="en-US" sz="40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rcRect r="17714"/>
          <a:stretch>
            <a:fillRect/>
          </a:stretch>
        </p:blipFill>
        <p:spPr>
          <a:xfrm>
            <a:off x="7406276" y="3300412"/>
            <a:ext cx="4515528" cy="278363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10230096" y="3324540"/>
            <a:ext cx="15375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Abril Fatface" panose="02000503000000020003" pitchFamily="50" charset="0"/>
              </a:rPr>
              <a:t>下跌</a:t>
            </a:r>
            <a:endParaRPr lang="zh-CN" altLang="en-US" sz="4000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/>
          <p:cNvPicPr>
            <a:picLocks noGrp="1" noChangeAspect="1"/>
          </p:cNvPicPr>
          <p:nvPr>
            <p:ph type="pic" sz="quarter" idx="11"/>
          </p:nvPr>
        </p:nvPicPr>
        <p:blipFill>
          <a:blip r:embed="rId2" cstate="screen"/>
          <a:srcRect/>
          <a:stretch>
            <a:fillRect/>
          </a:stretch>
        </p:blipFill>
        <p:spPr>
          <a:xfrm flipH="1">
            <a:off x="0" y="0"/>
            <a:ext cx="12192000" cy="5199108"/>
          </a:xfrm>
        </p:spPr>
      </p:pic>
      <p:sp>
        <p:nvSpPr>
          <p:cNvPr id="16" name="Rectangle 15"/>
          <p:cNvSpPr/>
          <p:nvPr/>
        </p:nvSpPr>
        <p:spPr>
          <a:xfrm>
            <a:off x="1807" y="211"/>
            <a:ext cx="12192000" cy="5199109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Chevron 3"/>
          <p:cNvSpPr/>
          <p:nvPr/>
        </p:nvSpPr>
        <p:spPr>
          <a:xfrm>
            <a:off x="596668" y="3324540"/>
            <a:ext cx="203200" cy="257175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4153308" y="314326"/>
            <a:ext cx="7092118" cy="63817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400" b="1" dirty="0">
              <a:solidFill>
                <a:schemeClr val="bg1"/>
              </a:solidFill>
              <a:latin typeface="Abril Fatface" panose="02000503000000020003" pitchFamily="5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4391" y="6312841"/>
            <a:ext cx="2587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Presented by IEA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98268" y="691484"/>
            <a:ext cx="40399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dirty="0">
                <a:latin typeface="Abril Fatface" panose="02000503000000020003" pitchFamily="50" charset="0"/>
              </a:rPr>
              <a:t>趋势：盘整</a:t>
            </a:r>
            <a:endParaRPr lang="zh-CN" altLang="en-US" sz="4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10" y="3306656"/>
            <a:ext cx="6801857" cy="22696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208713" y="332624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Abril Fatface" panose="02000503000000020003" pitchFamily="50" charset="0"/>
              </a:rPr>
              <a:t>盘整</a:t>
            </a:r>
            <a:endParaRPr lang="zh-CN" alt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/>
          <p:cNvPicPr>
            <a:picLocks noGrp="1" noChangeAspect="1"/>
          </p:cNvPicPr>
          <p:nvPr>
            <p:ph type="pic" sz="quarter" idx="11"/>
          </p:nvPr>
        </p:nvPicPr>
        <p:blipFill>
          <a:blip r:embed="rId2" cstate="screen"/>
          <a:srcRect/>
          <a:stretch>
            <a:fillRect/>
          </a:stretch>
        </p:blipFill>
        <p:spPr>
          <a:xfrm flipH="1">
            <a:off x="0" y="0"/>
            <a:ext cx="12192000" cy="5199108"/>
          </a:xfrm>
        </p:spPr>
      </p:pic>
      <p:sp>
        <p:nvSpPr>
          <p:cNvPr id="16" name="Rectangle 15"/>
          <p:cNvSpPr/>
          <p:nvPr/>
        </p:nvSpPr>
        <p:spPr>
          <a:xfrm>
            <a:off x="1807" y="211"/>
            <a:ext cx="12192000" cy="5199109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Chevron 3"/>
          <p:cNvSpPr/>
          <p:nvPr/>
        </p:nvSpPr>
        <p:spPr>
          <a:xfrm>
            <a:off x="596668" y="3324540"/>
            <a:ext cx="203200" cy="257175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4153308" y="314326"/>
            <a:ext cx="7092118" cy="63817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400" b="1" dirty="0">
              <a:solidFill>
                <a:schemeClr val="bg1"/>
              </a:solidFill>
              <a:latin typeface="Abril Fatface" panose="02000503000000020003" pitchFamily="5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4391" y="6312841"/>
            <a:ext cx="2587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Presented by IEA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98268" y="691484"/>
            <a:ext cx="40399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dirty="0">
                <a:latin typeface="Abril Fatface" panose="02000503000000020003" pitchFamily="50" charset="0"/>
              </a:rPr>
              <a:t>基础指标</a:t>
            </a:r>
            <a:r>
              <a:rPr lang="en-US" altLang="zh-CN" sz="4800" b="1" dirty="0">
                <a:latin typeface="Abril Fatface" panose="02000503000000020003" pitchFamily="50" charset="0"/>
              </a:rPr>
              <a:t>1</a:t>
            </a:r>
            <a:r>
              <a:rPr lang="zh-CN" altLang="en-US" sz="4800" b="1" dirty="0">
                <a:latin typeface="Abril Fatface" panose="02000503000000020003" pitchFamily="50" charset="0"/>
              </a:rPr>
              <a:t>：移动平均线</a:t>
            </a:r>
            <a:endParaRPr lang="zh-CN" altLang="en-US" sz="4800" dirty="0"/>
          </a:p>
        </p:txBody>
      </p:sp>
      <p:sp>
        <p:nvSpPr>
          <p:cNvPr id="9" name="文本框 8"/>
          <p:cNvSpPr txBox="1"/>
          <p:nvPr/>
        </p:nvSpPr>
        <p:spPr>
          <a:xfrm>
            <a:off x="799868" y="3253072"/>
            <a:ext cx="77123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Abril Fatface" panose="02000503000000020003" pitchFamily="50" charset="0"/>
              </a:rPr>
              <a:t>SMA(Simple Moving Average)</a:t>
            </a:r>
            <a:endParaRPr lang="zh-CN" altLang="en-US" sz="1050" dirty="0"/>
          </a:p>
        </p:txBody>
      </p:sp>
      <p:sp>
        <p:nvSpPr>
          <p:cNvPr id="7" name="Chevron 3"/>
          <p:cNvSpPr/>
          <p:nvPr/>
        </p:nvSpPr>
        <p:spPr>
          <a:xfrm>
            <a:off x="596668" y="4645110"/>
            <a:ext cx="203200" cy="257175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99868" y="4561716"/>
            <a:ext cx="77123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Abril Fatface" panose="02000503000000020003" pitchFamily="50" charset="0"/>
              </a:rPr>
              <a:t>EMA(Exponential Moving Average)</a:t>
            </a:r>
            <a:endParaRPr lang="zh-CN" altLang="en-US" sz="10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648" y="1552890"/>
            <a:ext cx="5276850" cy="3543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397AFC6-D55F-D002-BAB1-623109DBE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200" y="3707789"/>
            <a:ext cx="2966122" cy="625157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/>
          <p:cNvPicPr>
            <a:picLocks noGrp="1" noChangeAspect="1"/>
          </p:cNvPicPr>
          <p:nvPr>
            <p:ph type="pic" sz="quarter" idx="11"/>
          </p:nvPr>
        </p:nvPicPr>
        <p:blipFill>
          <a:blip r:embed="rId2" cstate="screen"/>
          <a:srcRect/>
          <a:stretch>
            <a:fillRect/>
          </a:stretch>
        </p:blipFill>
        <p:spPr>
          <a:xfrm flipH="1">
            <a:off x="0" y="0"/>
            <a:ext cx="12192000" cy="5199108"/>
          </a:xfrm>
        </p:spPr>
      </p:pic>
      <p:sp>
        <p:nvSpPr>
          <p:cNvPr id="16" name="Rectangle 15"/>
          <p:cNvSpPr/>
          <p:nvPr/>
        </p:nvSpPr>
        <p:spPr>
          <a:xfrm>
            <a:off x="1807" y="211"/>
            <a:ext cx="12192000" cy="5199109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Title 1"/>
          <p:cNvSpPr txBox="1"/>
          <p:nvPr/>
        </p:nvSpPr>
        <p:spPr>
          <a:xfrm>
            <a:off x="4153308" y="314326"/>
            <a:ext cx="7092118" cy="63817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400" b="1" dirty="0">
              <a:solidFill>
                <a:schemeClr val="bg1"/>
              </a:solidFill>
              <a:latin typeface="Abril Fatface" panose="02000503000000020003" pitchFamily="5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4391" y="6312841"/>
            <a:ext cx="2587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Presented by IEA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98268" y="691484"/>
            <a:ext cx="40399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dirty="0">
                <a:latin typeface="Abril Fatface" panose="02000503000000020003" pitchFamily="50" charset="0"/>
              </a:rPr>
              <a:t>基础策略</a:t>
            </a:r>
            <a:r>
              <a:rPr lang="en-US" altLang="zh-CN" sz="4800" b="1" dirty="0">
                <a:latin typeface="Abril Fatface" panose="02000503000000020003" pitchFamily="50" charset="0"/>
              </a:rPr>
              <a:t>1</a:t>
            </a:r>
            <a:r>
              <a:rPr lang="zh-CN" altLang="en-US" sz="4800" b="1" dirty="0">
                <a:latin typeface="Abril Fatface" panose="02000503000000020003" pitchFamily="50" charset="0"/>
              </a:rPr>
              <a:t>：双均线策略</a:t>
            </a:r>
            <a:endParaRPr lang="zh-CN" altLang="en-US" sz="4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r="9340"/>
          <a:stretch>
            <a:fillRect/>
          </a:stretch>
        </p:blipFill>
        <p:spPr>
          <a:xfrm>
            <a:off x="3394037" y="2549730"/>
            <a:ext cx="5724634" cy="3529018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/>
          <p:cNvPicPr>
            <a:picLocks noGrp="1" noChangeAspect="1"/>
          </p:cNvPicPr>
          <p:nvPr>
            <p:ph type="pic" sz="quarter" idx="11"/>
          </p:nvPr>
        </p:nvPicPr>
        <p:blipFill>
          <a:blip r:embed="rId2" cstate="screen"/>
          <a:srcRect/>
          <a:stretch>
            <a:fillRect/>
          </a:stretch>
        </p:blipFill>
        <p:spPr>
          <a:xfrm flipH="1">
            <a:off x="0" y="0"/>
            <a:ext cx="12192000" cy="5199108"/>
          </a:xfrm>
        </p:spPr>
      </p:pic>
      <p:sp>
        <p:nvSpPr>
          <p:cNvPr id="16" name="Rectangle 15"/>
          <p:cNvSpPr/>
          <p:nvPr/>
        </p:nvSpPr>
        <p:spPr>
          <a:xfrm>
            <a:off x="1807" y="211"/>
            <a:ext cx="12192000" cy="5199109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0" name="Title 1"/>
          <p:cNvSpPr txBox="1"/>
          <p:nvPr/>
        </p:nvSpPr>
        <p:spPr>
          <a:xfrm>
            <a:off x="4153308" y="314326"/>
            <a:ext cx="7092118" cy="63817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400" b="1" dirty="0">
              <a:solidFill>
                <a:schemeClr val="bg1"/>
              </a:solidFill>
              <a:latin typeface="Abril Fatface" panose="02000503000000020003" pitchFamily="5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4391" y="6312841"/>
            <a:ext cx="2587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Presented by IEA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98268" y="691484"/>
            <a:ext cx="532568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dirty="0">
                <a:latin typeface="Abril Fatface" panose="02000503000000020003" pitchFamily="50" charset="0"/>
              </a:rPr>
              <a:t>基础策略</a:t>
            </a:r>
            <a:r>
              <a:rPr lang="en-US" altLang="zh-CN" sz="4800" b="1" dirty="0">
                <a:latin typeface="Abril Fatface" panose="02000503000000020003" pitchFamily="50" charset="0"/>
              </a:rPr>
              <a:t>1</a:t>
            </a:r>
            <a:r>
              <a:rPr lang="zh-CN" altLang="en-US" sz="4800" b="1" dirty="0">
                <a:latin typeface="Abril Fatface" panose="02000503000000020003" pitchFamily="50" charset="0"/>
              </a:rPr>
              <a:t>：</a:t>
            </a:r>
            <a:endParaRPr lang="en-US" altLang="zh-CN" sz="4800" b="1" dirty="0">
              <a:latin typeface="Abril Fatface" panose="02000503000000020003" pitchFamily="50" charset="0"/>
            </a:endParaRPr>
          </a:p>
          <a:p>
            <a:r>
              <a:rPr lang="en-US" altLang="zh-CN" sz="4000" b="1" dirty="0">
                <a:latin typeface="Abril Fatface" panose="02000503000000020003" pitchFamily="50" charset="0"/>
              </a:rPr>
              <a:t>Solana</a:t>
            </a:r>
            <a:r>
              <a:rPr lang="zh-CN" altLang="en-US" sz="4000" b="1" dirty="0">
                <a:latin typeface="Abril Fatface" panose="02000503000000020003" pitchFamily="50" charset="0"/>
              </a:rPr>
              <a:t>实战</a:t>
            </a:r>
            <a:r>
              <a:rPr lang="en-US" altLang="zh-CN" sz="4000" b="1" dirty="0">
                <a:latin typeface="Abril Fatface" panose="02000503000000020003" pitchFamily="50" charset="0"/>
              </a:rPr>
              <a:t>(2024-5)</a:t>
            </a:r>
            <a:endParaRPr lang="zh-CN" altLang="en-US" sz="4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509" y="2463995"/>
            <a:ext cx="8196349" cy="3765809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/>
          <p:cNvPicPr>
            <a:picLocks noGrp="1" noChangeAspect="1"/>
          </p:cNvPicPr>
          <p:nvPr>
            <p:ph type="pic" sz="quarter" idx="11"/>
          </p:nvPr>
        </p:nvPicPr>
        <p:blipFill>
          <a:blip r:embed="rId2" cstate="screen"/>
          <a:srcRect/>
          <a:stretch>
            <a:fillRect/>
          </a:stretch>
        </p:blipFill>
        <p:spPr>
          <a:xfrm flipH="1">
            <a:off x="0" y="0"/>
            <a:ext cx="12192000" cy="5199108"/>
          </a:xfrm>
        </p:spPr>
      </p:pic>
      <p:sp>
        <p:nvSpPr>
          <p:cNvPr id="16" name="Rectangle 15"/>
          <p:cNvSpPr/>
          <p:nvPr/>
        </p:nvSpPr>
        <p:spPr>
          <a:xfrm>
            <a:off x="1807" y="211"/>
            <a:ext cx="12192000" cy="5199109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0" name="Title 1"/>
          <p:cNvSpPr txBox="1"/>
          <p:nvPr/>
        </p:nvSpPr>
        <p:spPr>
          <a:xfrm>
            <a:off x="4153308" y="314326"/>
            <a:ext cx="7092118" cy="63817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400" b="1" dirty="0">
              <a:solidFill>
                <a:schemeClr val="bg1"/>
              </a:solidFill>
              <a:latin typeface="Abril Fatface" panose="02000503000000020003" pitchFamily="5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4391" y="6312841"/>
            <a:ext cx="2587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Presented by IEA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98268" y="691484"/>
            <a:ext cx="654488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dirty="0">
                <a:latin typeface="Abril Fatface" panose="02000503000000020003" pitchFamily="50" charset="0"/>
              </a:rPr>
              <a:t>基础策略</a:t>
            </a:r>
            <a:r>
              <a:rPr lang="en-US" altLang="zh-CN" sz="4800" b="1" dirty="0">
                <a:latin typeface="Abril Fatface" panose="02000503000000020003" pitchFamily="50" charset="0"/>
              </a:rPr>
              <a:t>1</a:t>
            </a:r>
            <a:r>
              <a:rPr lang="zh-CN" altLang="en-US" sz="4800" b="1" dirty="0">
                <a:latin typeface="Abril Fatface" panose="02000503000000020003" pitchFamily="50" charset="0"/>
              </a:rPr>
              <a:t>：</a:t>
            </a:r>
            <a:endParaRPr lang="en-US" altLang="zh-CN" sz="4800" b="1" dirty="0">
              <a:latin typeface="Abril Fatface" panose="02000503000000020003" pitchFamily="50" charset="0"/>
            </a:endParaRPr>
          </a:p>
          <a:p>
            <a:r>
              <a:rPr lang="en-US" altLang="zh-CN" sz="4000" b="1" dirty="0">
                <a:latin typeface="Abril Fatface" panose="02000503000000020003" pitchFamily="50" charset="0"/>
              </a:rPr>
              <a:t>Solana</a:t>
            </a:r>
            <a:r>
              <a:rPr lang="zh-CN" altLang="en-US" sz="4000" b="1" dirty="0">
                <a:latin typeface="Abril Fatface" panose="02000503000000020003" pitchFamily="50" charset="0"/>
              </a:rPr>
              <a:t>实战</a:t>
            </a:r>
            <a:r>
              <a:rPr lang="en-US" altLang="zh-CN" sz="4000" b="1" dirty="0">
                <a:latin typeface="Abril Fatface" panose="02000503000000020003" pitchFamily="50" charset="0"/>
              </a:rPr>
              <a:t>(2024-8</a:t>
            </a:r>
            <a:r>
              <a:rPr lang="zh-CN" altLang="en-US" sz="4000" b="1" dirty="0">
                <a:latin typeface="Abril Fatface" panose="02000503000000020003" pitchFamily="50" charset="0"/>
              </a:rPr>
              <a:t>、</a:t>
            </a:r>
            <a:r>
              <a:rPr lang="en-US" altLang="zh-CN" sz="4000" b="1">
                <a:latin typeface="Abril Fatface" panose="02000503000000020003" pitchFamily="50" charset="0"/>
              </a:rPr>
              <a:t>9)</a:t>
            </a:r>
            <a:endParaRPr lang="zh-CN" altLang="en-US" sz="4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1ACB47B-2DFC-4847-F266-1EF4713B9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865" y="2243859"/>
            <a:ext cx="8174182" cy="375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80832"/>
      </p:ext>
    </p:extLst>
  </p:cSld>
  <p:clrMapOvr>
    <a:masterClrMapping/>
  </p:clrMapOvr>
  <p:transition spd="slow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/>
          <p:cNvPicPr>
            <a:picLocks noGrp="1" noChangeAspect="1"/>
          </p:cNvPicPr>
          <p:nvPr>
            <p:ph type="pic" sz="quarter" idx="11"/>
          </p:nvPr>
        </p:nvPicPr>
        <p:blipFill>
          <a:blip r:embed="rId2" cstate="screen"/>
          <a:srcRect/>
          <a:stretch>
            <a:fillRect/>
          </a:stretch>
        </p:blipFill>
        <p:spPr>
          <a:xfrm flipH="1">
            <a:off x="0" y="0"/>
            <a:ext cx="12192000" cy="5199108"/>
          </a:xfrm>
        </p:spPr>
      </p:pic>
      <p:sp>
        <p:nvSpPr>
          <p:cNvPr id="16" name="Rectangle 15"/>
          <p:cNvSpPr/>
          <p:nvPr/>
        </p:nvSpPr>
        <p:spPr>
          <a:xfrm>
            <a:off x="1807" y="211"/>
            <a:ext cx="12192000" cy="5199109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Chevron 3"/>
          <p:cNvSpPr/>
          <p:nvPr/>
        </p:nvSpPr>
        <p:spPr>
          <a:xfrm>
            <a:off x="596668" y="3324540"/>
            <a:ext cx="203200" cy="257175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4153308" y="314326"/>
            <a:ext cx="7092118" cy="63817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400" b="1" dirty="0">
              <a:solidFill>
                <a:schemeClr val="bg1"/>
              </a:solidFill>
              <a:latin typeface="Abril Fatface" panose="02000503000000020003" pitchFamily="5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4391" y="6312841"/>
            <a:ext cx="2587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Presented by IEA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98268" y="691484"/>
            <a:ext cx="40399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dirty="0">
                <a:latin typeface="Abril Fatface" panose="02000503000000020003" pitchFamily="50" charset="0"/>
              </a:rPr>
              <a:t>基础指标</a:t>
            </a:r>
            <a:r>
              <a:rPr lang="en-US" altLang="zh-CN" sz="4800" b="1" dirty="0">
                <a:latin typeface="Abril Fatface" panose="02000503000000020003" pitchFamily="50" charset="0"/>
              </a:rPr>
              <a:t>2</a:t>
            </a:r>
            <a:r>
              <a:rPr lang="zh-CN" altLang="en-US" sz="4800" b="1" dirty="0">
                <a:latin typeface="Abril Fatface" panose="02000503000000020003" pitchFamily="50" charset="0"/>
              </a:rPr>
              <a:t>：布林带</a:t>
            </a:r>
            <a:endParaRPr lang="zh-CN" altLang="en-US" sz="4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76" y="3332143"/>
            <a:ext cx="3213332" cy="15752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4716" y="1937154"/>
            <a:ext cx="5505450" cy="29836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/>
          <p:cNvPicPr>
            <a:picLocks noGrp="1" noChangeAspect="1"/>
          </p:cNvPicPr>
          <p:nvPr>
            <p:ph type="pic" sz="quarter" idx="11"/>
          </p:nvPr>
        </p:nvPicPr>
        <p:blipFill>
          <a:blip r:embed="rId2" cstate="screen"/>
          <a:srcRect/>
          <a:stretch>
            <a:fillRect/>
          </a:stretch>
        </p:blipFill>
        <p:spPr>
          <a:xfrm flipH="1">
            <a:off x="0" y="0"/>
            <a:ext cx="12192000" cy="5199108"/>
          </a:xfrm>
        </p:spPr>
      </p:pic>
      <p:sp>
        <p:nvSpPr>
          <p:cNvPr id="16" name="Rectangle 15"/>
          <p:cNvSpPr/>
          <p:nvPr/>
        </p:nvSpPr>
        <p:spPr>
          <a:xfrm>
            <a:off x="1807" y="211"/>
            <a:ext cx="12192000" cy="5199109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Title 1"/>
          <p:cNvSpPr txBox="1"/>
          <p:nvPr/>
        </p:nvSpPr>
        <p:spPr>
          <a:xfrm>
            <a:off x="4153308" y="314326"/>
            <a:ext cx="7092118" cy="63817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400" b="1" dirty="0">
              <a:solidFill>
                <a:schemeClr val="bg1"/>
              </a:solidFill>
              <a:latin typeface="Abril Fatface" panose="02000503000000020003" pitchFamily="5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4391" y="6312841"/>
            <a:ext cx="2587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Presented by IEA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98268" y="691484"/>
            <a:ext cx="40399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dirty="0">
                <a:latin typeface="Abril Fatface" panose="02000503000000020003" pitchFamily="50" charset="0"/>
              </a:rPr>
              <a:t>基础策略</a:t>
            </a:r>
            <a:r>
              <a:rPr lang="en-US" altLang="zh-CN" sz="4800" b="1" dirty="0">
                <a:latin typeface="Abril Fatface" panose="02000503000000020003" pitchFamily="50" charset="0"/>
              </a:rPr>
              <a:t>2</a:t>
            </a:r>
            <a:r>
              <a:rPr lang="zh-CN" altLang="en-US" sz="4800" b="1" dirty="0">
                <a:latin typeface="Abril Fatface" panose="02000503000000020003" pitchFamily="50" charset="0"/>
              </a:rPr>
              <a:t>：布林带策略</a:t>
            </a:r>
            <a:endParaRPr lang="zh-CN" altLang="en-US" sz="4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112" y="2413080"/>
            <a:ext cx="5898740" cy="35633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 spd="slow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/>
          <a:srcRect/>
          <a:stretch>
            <a:fillRect/>
          </a:stretch>
        </p:blipFill>
        <p:spPr>
          <a:xfrm flipH="1">
            <a:off x="0" y="0"/>
            <a:ext cx="12192000" cy="5199108"/>
          </a:xfrm>
        </p:spPr>
      </p:pic>
      <p:sp>
        <p:nvSpPr>
          <p:cNvPr id="16" name="Rectangle 15"/>
          <p:cNvSpPr/>
          <p:nvPr/>
        </p:nvSpPr>
        <p:spPr>
          <a:xfrm>
            <a:off x="1807" y="211"/>
            <a:ext cx="12192000" cy="5199109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0" name="Title 1"/>
          <p:cNvSpPr txBox="1"/>
          <p:nvPr/>
        </p:nvSpPr>
        <p:spPr>
          <a:xfrm>
            <a:off x="4153308" y="314326"/>
            <a:ext cx="7092118" cy="63817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400" b="1" dirty="0">
              <a:solidFill>
                <a:schemeClr val="bg1"/>
              </a:solidFill>
              <a:latin typeface="Abril Fatface" panose="02000503000000020003" pitchFamily="5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4391" y="6312841"/>
            <a:ext cx="2587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Presented by IEA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98268" y="691484"/>
            <a:ext cx="491559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dirty="0">
                <a:latin typeface="Abril Fatface" panose="02000503000000020003" pitchFamily="50" charset="0"/>
              </a:rPr>
              <a:t>基础策略</a:t>
            </a:r>
            <a:r>
              <a:rPr lang="en-US" altLang="zh-CN" sz="4800" b="1" dirty="0">
                <a:latin typeface="Abril Fatface" panose="02000503000000020003" pitchFamily="50" charset="0"/>
              </a:rPr>
              <a:t>2</a:t>
            </a:r>
            <a:r>
              <a:rPr lang="zh-CN" altLang="en-US" sz="4800" b="1" dirty="0">
                <a:latin typeface="Abril Fatface" panose="02000503000000020003" pitchFamily="50" charset="0"/>
              </a:rPr>
              <a:t>：</a:t>
            </a:r>
            <a:endParaRPr lang="en-US" altLang="zh-CN" sz="4800" b="1" dirty="0">
              <a:latin typeface="Abril Fatface" panose="02000503000000020003" pitchFamily="50" charset="0"/>
            </a:endParaRPr>
          </a:p>
          <a:p>
            <a:r>
              <a:rPr lang="en-US" altLang="zh-CN" sz="4000" b="1" dirty="0">
                <a:latin typeface="Abril Fatface" panose="02000503000000020003" pitchFamily="50" charset="0"/>
              </a:rPr>
              <a:t>Solana</a:t>
            </a:r>
            <a:r>
              <a:rPr lang="zh-CN" altLang="en-US" sz="4000" b="1" dirty="0">
                <a:latin typeface="Abril Fatface" panose="02000503000000020003" pitchFamily="50" charset="0"/>
              </a:rPr>
              <a:t>实战</a:t>
            </a:r>
            <a:r>
              <a:rPr lang="en-US" altLang="zh-CN" sz="4000" b="1" dirty="0">
                <a:latin typeface="Abril Fatface" panose="02000503000000020003" pitchFamily="50" charset="0"/>
              </a:rPr>
              <a:t>(2024-9)</a:t>
            </a:r>
            <a:endParaRPr lang="zh-CN" altLang="en-US" sz="4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9C8E334-5886-BF33-A3AD-2AB58EB26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433" y="2215082"/>
            <a:ext cx="8182338" cy="3784069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/>
          <a:srcRect/>
          <a:stretch>
            <a:fillRect/>
          </a:stretch>
        </p:blipFill>
        <p:spPr>
          <a:xfrm flipH="1">
            <a:off x="0" y="0"/>
            <a:ext cx="12192000" cy="5199108"/>
          </a:xfrm>
        </p:spPr>
      </p:pic>
      <p:sp>
        <p:nvSpPr>
          <p:cNvPr id="16" name="Rectangle 15"/>
          <p:cNvSpPr/>
          <p:nvPr/>
        </p:nvSpPr>
        <p:spPr>
          <a:xfrm>
            <a:off x="1807" y="211"/>
            <a:ext cx="12192000" cy="5199109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0" name="Title 1"/>
          <p:cNvSpPr txBox="1"/>
          <p:nvPr/>
        </p:nvSpPr>
        <p:spPr>
          <a:xfrm>
            <a:off x="4153308" y="314326"/>
            <a:ext cx="7092118" cy="63817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400" b="1" dirty="0">
              <a:solidFill>
                <a:schemeClr val="bg1"/>
              </a:solidFill>
              <a:latin typeface="Abril Fatface" panose="02000503000000020003" pitchFamily="5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4391" y="6312841"/>
            <a:ext cx="2587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Presented by IEA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98267" y="691484"/>
            <a:ext cx="60461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dirty="0">
                <a:latin typeface="Abril Fatface" panose="02000503000000020003" pitchFamily="50" charset="0"/>
              </a:rPr>
              <a:t>基础策略</a:t>
            </a:r>
            <a:r>
              <a:rPr lang="en-US" altLang="zh-CN" sz="4800" b="1" dirty="0">
                <a:latin typeface="Abril Fatface" panose="02000503000000020003" pitchFamily="50" charset="0"/>
              </a:rPr>
              <a:t>2</a:t>
            </a:r>
            <a:r>
              <a:rPr lang="zh-CN" altLang="en-US" sz="4800" b="1" dirty="0">
                <a:latin typeface="Abril Fatface" panose="02000503000000020003" pitchFamily="50" charset="0"/>
              </a:rPr>
              <a:t>：</a:t>
            </a:r>
            <a:endParaRPr lang="en-US" altLang="zh-CN" sz="4800" b="1" dirty="0">
              <a:latin typeface="Abril Fatface" panose="02000503000000020003" pitchFamily="50" charset="0"/>
            </a:endParaRPr>
          </a:p>
          <a:p>
            <a:r>
              <a:rPr lang="en-US" altLang="zh-CN" sz="4000" b="1" dirty="0">
                <a:latin typeface="Abril Fatface" panose="02000503000000020003" pitchFamily="50" charset="0"/>
              </a:rPr>
              <a:t>Solana</a:t>
            </a:r>
            <a:r>
              <a:rPr lang="zh-CN" altLang="en-US" sz="4000" b="1" dirty="0">
                <a:latin typeface="Abril Fatface" panose="02000503000000020003" pitchFamily="50" charset="0"/>
              </a:rPr>
              <a:t>实战</a:t>
            </a:r>
            <a:r>
              <a:rPr lang="en-US" altLang="zh-CN" sz="4000" b="1" dirty="0">
                <a:latin typeface="Abril Fatface" panose="02000503000000020003" pitchFamily="50" charset="0"/>
              </a:rPr>
              <a:t>(2024-8</a:t>
            </a:r>
            <a:r>
              <a:rPr lang="zh-CN" altLang="en-US" sz="4000" b="1" dirty="0">
                <a:latin typeface="Abril Fatface" panose="02000503000000020003" pitchFamily="50" charset="0"/>
              </a:rPr>
              <a:t>、</a:t>
            </a:r>
            <a:r>
              <a:rPr lang="en-US" altLang="zh-CN" sz="4000" b="1" dirty="0">
                <a:latin typeface="Abril Fatface" panose="02000503000000020003" pitchFamily="50" charset="0"/>
              </a:rPr>
              <a:t>9)</a:t>
            </a:r>
            <a:endParaRPr lang="zh-CN" altLang="en-US" sz="4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CD07A9-98D6-25ED-6A1F-FE83AE784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469" y="2295116"/>
            <a:ext cx="7780713" cy="359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035564"/>
      </p:ext>
    </p:extLst>
  </p:cSld>
  <p:clrMapOvr>
    <a:masterClrMapping/>
  </p:clrMapOvr>
  <p:transition spd="slow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/>
          <p:cNvPicPr>
            <a:picLocks noGrp="1" noChangeAspect="1"/>
          </p:cNvPicPr>
          <p:nvPr>
            <p:ph type="pic" sz="quarter" idx="11"/>
          </p:nvPr>
        </p:nvPicPr>
        <p:blipFill>
          <a:blip r:embed="rId2" cstate="screen"/>
          <a:srcRect/>
          <a:stretch>
            <a:fillRect/>
          </a:stretch>
        </p:blipFill>
        <p:spPr>
          <a:xfrm flipH="1">
            <a:off x="0" y="0"/>
            <a:ext cx="12192000" cy="5199108"/>
          </a:xfrm>
        </p:spPr>
      </p:pic>
      <p:sp>
        <p:nvSpPr>
          <p:cNvPr id="16" name="Rectangle 15"/>
          <p:cNvSpPr/>
          <p:nvPr/>
        </p:nvSpPr>
        <p:spPr>
          <a:xfrm>
            <a:off x="1807" y="211"/>
            <a:ext cx="12192000" cy="5199109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0" name="Title 1"/>
          <p:cNvSpPr txBox="1"/>
          <p:nvPr/>
        </p:nvSpPr>
        <p:spPr>
          <a:xfrm>
            <a:off x="4153308" y="314326"/>
            <a:ext cx="7092118" cy="63817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400" b="1" dirty="0">
              <a:solidFill>
                <a:schemeClr val="bg1"/>
              </a:solidFill>
              <a:latin typeface="Abril Fatface" panose="02000503000000020003" pitchFamily="5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4391" y="6312841"/>
            <a:ext cx="2587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Presented by IEA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705524" y="1982450"/>
            <a:ext cx="984636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dirty="0">
                <a:latin typeface="Abril Fatface" panose="02000503000000020003" pitchFamily="50" charset="0"/>
              </a:rPr>
              <a:t>总结</a:t>
            </a:r>
            <a:endParaRPr lang="en-US" altLang="zh-CN" sz="4800" b="1" dirty="0">
              <a:latin typeface="Abril Fatface" panose="02000503000000020003" pitchFamily="50" charset="0"/>
            </a:endParaRPr>
          </a:p>
          <a:p>
            <a:r>
              <a:rPr lang="zh-CN" altLang="en-US" sz="4000" b="1" dirty="0">
                <a:latin typeface="Abril Fatface" panose="02000503000000020003" pitchFamily="50" charset="0"/>
              </a:rPr>
              <a:t>没有万能分析方法，关键是形成形成自己的交易模式。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567793250"/>
      </p:ext>
    </p:extLst>
  </p:cSld>
  <p:clrMapOvr>
    <a:masterClrMapping/>
  </p:clrMapOvr>
  <p:transition spd="slow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/>
          <p:cNvPicPr>
            <a:picLocks noGrp="1" noChangeAspect="1"/>
          </p:cNvPicPr>
          <p:nvPr>
            <p:ph type="pic" sz="quarter" idx="11"/>
          </p:nvPr>
        </p:nvPicPr>
        <p:blipFill>
          <a:blip r:embed="rId2" cstate="screen"/>
          <a:srcRect/>
          <a:stretch>
            <a:fillRect/>
          </a:stretch>
        </p:blipFill>
        <p:spPr>
          <a:xfrm flipH="1">
            <a:off x="0" y="0"/>
            <a:ext cx="12192000" cy="5199108"/>
          </a:xfrm>
        </p:spPr>
      </p:pic>
      <p:sp>
        <p:nvSpPr>
          <p:cNvPr id="16" name="Rectangle 15"/>
          <p:cNvSpPr/>
          <p:nvPr/>
        </p:nvSpPr>
        <p:spPr>
          <a:xfrm>
            <a:off x="1807" y="211"/>
            <a:ext cx="12192000" cy="5199109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0" name="Title 1"/>
          <p:cNvSpPr txBox="1"/>
          <p:nvPr/>
        </p:nvSpPr>
        <p:spPr>
          <a:xfrm>
            <a:off x="4153308" y="314326"/>
            <a:ext cx="7092118" cy="63817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400" b="1" dirty="0">
              <a:solidFill>
                <a:schemeClr val="bg1"/>
              </a:solidFill>
              <a:latin typeface="Abril Fatface" panose="02000503000000020003" pitchFamily="5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04391" y="6312841"/>
            <a:ext cx="2587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Presented by IEA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778095" y="1526915"/>
            <a:ext cx="984636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Abril Fatface" panose="02000503000000020003" pitchFamily="50" charset="0"/>
              </a:rPr>
              <a:t>Assignment 1</a:t>
            </a:r>
          </a:p>
          <a:p>
            <a:r>
              <a:rPr lang="zh-CN" altLang="en-US" sz="4000" b="1" dirty="0">
                <a:latin typeface="Abril Fatface" panose="02000503000000020003" pitchFamily="50" charset="0"/>
              </a:rPr>
              <a:t>以新能源行业为例，当下大盘处于超卖区间，请选择一支你觉得值得抄底的个股（用技术面基本面等分析，还有行业格局，产业端，</a:t>
            </a:r>
            <a:r>
              <a:rPr lang="en-US" altLang="zh-CN" sz="4000" b="1" dirty="0">
                <a:latin typeface="Abril Fatface" panose="02000503000000020003" pitchFamily="50" charset="0"/>
              </a:rPr>
              <a:t>swot</a:t>
            </a:r>
            <a:r>
              <a:rPr lang="zh-CN" altLang="en-US" sz="4000" b="1" dirty="0">
                <a:latin typeface="Abril Fatface" panose="02000503000000020003" pitchFamily="50" charset="0"/>
              </a:rPr>
              <a:t>分析）</a:t>
            </a:r>
            <a:r>
              <a:rPr lang="en-US" altLang="zh-CN" sz="4000" b="1" dirty="0">
                <a:latin typeface="Abril Fatface" panose="02000503000000020003" pitchFamily="50" charset="0"/>
              </a:rPr>
              <a:t>——</a:t>
            </a:r>
            <a:r>
              <a:rPr lang="zh-CN" altLang="en-US" sz="4000" b="1" dirty="0">
                <a:latin typeface="Abril Fatface" panose="02000503000000020003" pitchFamily="50" charset="0"/>
              </a:rPr>
              <a:t>下节课（抄底）</a:t>
            </a:r>
            <a:endParaRPr lang="en-US" altLang="zh-CN" sz="4000" b="1" dirty="0">
              <a:latin typeface="Abril Fatface" panose="02000503000000020003" pitchFamily="50" charset="0"/>
            </a:endParaRPr>
          </a:p>
          <a:p>
            <a:endParaRPr lang="en-US" altLang="zh-CN" sz="4000" b="1" dirty="0">
              <a:latin typeface="Abril Fatface" panose="02000503000000020003" pitchFamily="50" charset="0"/>
            </a:endParaRPr>
          </a:p>
          <a:p>
            <a:r>
              <a:rPr lang="en-US" altLang="zh-CN" sz="4000" b="1" dirty="0">
                <a:latin typeface="Abril Fatface" panose="02000503000000020003" pitchFamily="50" charset="0"/>
              </a:rPr>
              <a:t>No quiz &amp; Tutorial in this course </a:t>
            </a:r>
            <a:r>
              <a:rPr lang="en-US" altLang="zh-CN" sz="4000" b="1" dirty="0">
                <a:latin typeface="Abril Fatface" panose="02000503000000020003" pitchFamily="50" charset="0"/>
                <a:sym typeface="Wingdings" panose="05000000000000000000" pitchFamily="2" charset="2"/>
              </a:rPr>
              <a:t>:)</a:t>
            </a:r>
            <a:endParaRPr lang="en-US" altLang="zh-CN" sz="4000" b="1" dirty="0">
              <a:latin typeface="Abril Fatface" panose="02000503000000020003" pitchFamily="50" charset="0"/>
            </a:endParaRPr>
          </a:p>
          <a:p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897938626"/>
      </p:ext>
    </p:extLst>
  </p:cSld>
  <p:clrMapOvr>
    <a:masterClrMapping/>
  </p:clrMapOvr>
  <p:transition spd="slow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5393360" cy="1325563"/>
          </a:xfrm>
        </p:spPr>
        <p:txBody>
          <a:bodyPr>
            <a:normAutofit/>
          </a:bodyPr>
          <a:lstStyle/>
          <a:p>
            <a:r>
              <a:rPr lang="zh-CN" altLang="en-US" sz="2400" b="1">
                <a:latin typeface="仿宋" panose="02010609060101010101" pitchFamily="49" charset="-122"/>
                <a:ea typeface="仿宋" panose="02010609060101010101" pitchFamily="49" charset="-122"/>
              </a:rPr>
              <a:t>香港中文大学（深圳）投资启蒙协会 </a:t>
            </a:r>
            <a:br>
              <a:rPr lang="zh-CN" altLang="en-US" sz="2400"/>
            </a:br>
            <a:r>
              <a:rPr lang="en-GB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CUHKSZ Investment Enlightenment Association (IEA)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欢迎加入我们！</a:t>
            </a:r>
            <a:endParaRPr kumimoji="1"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kumimoji="1"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祝大家国庆快乐！</a:t>
            </a:r>
            <a:endParaRPr kumimoji="1"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kumimoji="1"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697" y="1531366"/>
            <a:ext cx="2852073" cy="3802764"/>
          </a:xfrm>
          <a:custGeom>
            <a:avLst/>
            <a:gdLst/>
            <a:ahLst/>
            <a:cxnLst/>
            <a:rect l="l" t="t" r="r" b="b"/>
            <a:pathLst>
              <a:path w="3064284" h="3064284">
                <a:moveTo>
                  <a:pt x="166483" y="0"/>
                </a:moveTo>
                <a:lnTo>
                  <a:pt x="2897801" y="0"/>
                </a:lnTo>
                <a:cubicBezTo>
                  <a:pt x="2989747" y="0"/>
                  <a:pt x="3064284" y="74537"/>
                  <a:pt x="3064284" y="166483"/>
                </a:cubicBezTo>
                <a:lnTo>
                  <a:pt x="3064284" y="2897801"/>
                </a:lnTo>
                <a:cubicBezTo>
                  <a:pt x="3064284" y="2989747"/>
                  <a:pt x="2989747" y="3064284"/>
                  <a:pt x="2897801" y="3064284"/>
                </a:cubicBezTo>
                <a:lnTo>
                  <a:pt x="166483" y="3064284"/>
                </a:lnTo>
                <a:cubicBezTo>
                  <a:pt x="74537" y="3064284"/>
                  <a:pt x="0" y="2989747"/>
                  <a:pt x="0" y="2897801"/>
                </a:cubicBezTo>
                <a:lnTo>
                  <a:pt x="0" y="166483"/>
                </a:lnTo>
                <a:cubicBezTo>
                  <a:pt x="0" y="74537"/>
                  <a:pt x="74537" y="0"/>
                  <a:pt x="166483" y="0"/>
                </a:cubicBezTo>
                <a:close/>
              </a:path>
            </a:pathLst>
          </a:cu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313" y="496325"/>
            <a:ext cx="2548728" cy="2548728"/>
          </a:xfrm>
          <a:custGeom>
            <a:avLst/>
            <a:gdLst/>
            <a:ahLst/>
            <a:cxnLst/>
            <a:rect l="l" t="t" r="r" b="b"/>
            <a:pathLst>
              <a:path w="2548728" h="2548728">
                <a:moveTo>
                  <a:pt x="107301" y="0"/>
                </a:moveTo>
                <a:lnTo>
                  <a:pt x="2441427" y="0"/>
                </a:lnTo>
                <a:cubicBezTo>
                  <a:pt x="2500688" y="0"/>
                  <a:pt x="2548728" y="48040"/>
                  <a:pt x="2548728" y="107301"/>
                </a:cubicBezTo>
                <a:lnTo>
                  <a:pt x="2548728" y="2441427"/>
                </a:lnTo>
                <a:cubicBezTo>
                  <a:pt x="2548728" y="2500688"/>
                  <a:pt x="2500688" y="2548728"/>
                  <a:pt x="2441427" y="2548728"/>
                </a:cubicBezTo>
                <a:lnTo>
                  <a:pt x="107301" y="2548728"/>
                </a:lnTo>
                <a:cubicBezTo>
                  <a:pt x="48040" y="2548728"/>
                  <a:pt x="0" y="2500688"/>
                  <a:pt x="0" y="2441427"/>
                </a:cubicBezTo>
                <a:lnTo>
                  <a:pt x="0" y="107301"/>
                </a:lnTo>
                <a:cubicBezTo>
                  <a:pt x="0" y="48040"/>
                  <a:pt x="48040" y="0"/>
                  <a:pt x="107301" y="0"/>
                </a:cubicBez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179" y="3212688"/>
            <a:ext cx="3952367" cy="2964275"/>
          </a:xfrm>
          <a:custGeom>
            <a:avLst/>
            <a:gdLst/>
            <a:ahLst/>
            <a:cxnLst/>
            <a:rect l="l" t="t" r="r" b="b"/>
            <a:pathLst>
              <a:path w="1999274" h="2247255">
                <a:moveTo>
                  <a:pt x="108501" y="0"/>
                </a:moveTo>
                <a:lnTo>
                  <a:pt x="1890773" y="0"/>
                </a:lnTo>
                <a:cubicBezTo>
                  <a:pt x="1950696" y="0"/>
                  <a:pt x="1999274" y="48578"/>
                  <a:pt x="1999274" y="108501"/>
                </a:cubicBezTo>
                <a:lnTo>
                  <a:pt x="1999274" y="2138754"/>
                </a:lnTo>
                <a:cubicBezTo>
                  <a:pt x="1999274" y="2198677"/>
                  <a:pt x="1950696" y="2247255"/>
                  <a:pt x="1890773" y="2247255"/>
                </a:cubicBezTo>
                <a:lnTo>
                  <a:pt x="108501" y="2247255"/>
                </a:lnTo>
                <a:cubicBezTo>
                  <a:pt x="48578" y="2247255"/>
                  <a:pt x="0" y="2198677"/>
                  <a:pt x="0" y="2138754"/>
                </a:cubicBezTo>
                <a:lnTo>
                  <a:pt x="0" y="108501"/>
                </a:lnTo>
                <a:cubicBezTo>
                  <a:pt x="0" y="48578"/>
                  <a:pt x="48578" y="0"/>
                  <a:pt x="108501" y="0"/>
                </a:cubicBez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144E209-F0BD-5A6A-5A04-226B17B861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1002" y="3045053"/>
            <a:ext cx="2433213" cy="380276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/>
          <a:srcRect/>
          <a:stretch>
            <a:fillRect/>
          </a:stretch>
        </p:blipFill>
        <p:spPr/>
      </p:pic>
      <p:grpSp>
        <p:nvGrpSpPr>
          <p:cNvPr id="12" name="Group 11"/>
          <p:cNvGrpSpPr/>
          <p:nvPr/>
        </p:nvGrpSpPr>
        <p:grpSpPr>
          <a:xfrm>
            <a:off x="0" y="0"/>
            <a:ext cx="5527317" cy="6883400"/>
            <a:chOff x="0" y="0"/>
            <a:chExt cx="8290975" cy="10325100"/>
          </a:xfrm>
        </p:grpSpPr>
        <p:grpSp>
          <p:nvGrpSpPr>
            <p:cNvPr id="9" name="Group 8"/>
            <p:cNvGrpSpPr/>
            <p:nvPr/>
          </p:nvGrpSpPr>
          <p:grpSpPr>
            <a:xfrm>
              <a:off x="137575" y="0"/>
              <a:ext cx="8153400" cy="10325100"/>
              <a:chOff x="0" y="0"/>
              <a:chExt cx="8153400" cy="10304318"/>
            </a:xfrm>
            <a:solidFill>
              <a:schemeClr val="bg1"/>
            </a:solidFill>
          </p:grpSpPr>
          <p:sp>
            <p:nvSpPr>
              <p:cNvPr id="10" name="Trapezoid 9"/>
              <p:cNvSpPr/>
              <p:nvPr/>
            </p:nvSpPr>
            <p:spPr>
              <a:xfrm flipV="1">
                <a:off x="6927" y="0"/>
                <a:ext cx="8146473" cy="10304318"/>
              </a:xfrm>
              <a:prstGeom prst="trapezoid">
                <a:avLst>
                  <a:gd name="adj" fmla="val 420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0" y="0"/>
                <a:ext cx="3733800" cy="1030431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" name="Group 1"/>
            <p:cNvGrpSpPr/>
            <p:nvPr/>
          </p:nvGrpSpPr>
          <p:grpSpPr>
            <a:xfrm>
              <a:off x="0" y="0"/>
              <a:ext cx="8153400" cy="10325100"/>
              <a:chOff x="0" y="0"/>
              <a:chExt cx="8153400" cy="10304318"/>
            </a:xfrm>
            <a:solidFill>
              <a:schemeClr val="accent1"/>
            </a:solidFill>
          </p:grpSpPr>
          <p:sp>
            <p:nvSpPr>
              <p:cNvPr id="3" name="Trapezoid 2"/>
              <p:cNvSpPr/>
              <p:nvPr/>
            </p:nvSpPr>
            <p:spPr>
              <a:xfrm flipV="1">
                <a:off x="6927" y="0"/>
                <a:ext cx="8146473" cy="10304318"/>
              </a:xfrm>
              <a:prstGeom prst="trapezoid">
                <a:avLst>
                  <a:gd name="adj" fmla="val 42092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4" name="Rectangle 3"/>
              <p:cNvSpPr/>
              <p:nvPr/>
            </p:nvSpPr>
            <p:spPr>
              <a:xfrm>
                <a:off x="0" y="0"/>
                <a:ext cx="3733800" cy="10304318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" name="TextBox 4"/>
          <p:cNvSpPr txBox="1"/>
          <p:nvPr/>
        </p:nvSpPr>
        <p:spPr>
          <a:xfrm>
            <a:off x="298027" y="4053522"/>
            <a:ext cx="42449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Presented by IEA</a:t>
            </a:r>
          </a:p>
          <a:p>
            <a:endParaRPr 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kumimoji="1" lang="zh-CN" altLang="en-US" sz="1400" dirty="0">
                <a:solidFill>
                  <a:srgbClr val="FFFFFF"/>
                </a:solidFill>
              </a:rPr>
              <a:t>本课程内容仅供交流分享，不构成投资建议</a:t>
            </a:r>
          </a:p>
          <a:p>
            <a:endParaRPr 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8027" y="1037312"/>
            <a:ext cx="4429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Abril Fatface" panose="02000503000000020003" pitchFamily="50" charset="0"/>
              </a:rPr>
              <a:t>Thanks</a:t>
            </a:r>
          </a:p>
          <a:p>
            <a:r>
              <a:rPr lang="en-US" sz="4800" b="1" dirty="0">
                <a:solidFill>
                  <a:schemeClr val="bg1"/>
                </a:solidFill>
                <a:latin typeface="Abril Fatface" panose="02000503000000020003" pitchFamily="50" charset="0"/>
              </a:rPr>
              <a:t>for</a:t>
            </a:r>
          </a:p>
          <a:p>
            <a:r>
              <a:rPr lang="en-US" sz="4800" b="1" dirty="0">
                <a:solidFill>
                  <a:schemeClr val="bg1"/>
                </a:solidFill>
                <a:latin typeface="Abril Fatface" panose="02000503000000020003" pitchFamily="50" charset="0"/>
              </a:rPr>
              <a:t>listening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hhMDQ4NmQ0YTYwN2ZmNGYxZjc0YzA2ODY3ZjUxY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04192125"/>
  <p:tag name="MH_LIBRARY" val="GRAPHIC"/>
  <p:tag name="MH_TYPE" val="Other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04192125"/>
  <p:tag name="MH_LIBRARY" val="GRAPHIC"/>
  <p:tag name="MH_TYPE" val="Other"/>
  <p:tag name="MH_ORDER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04192125"/>
  <p:tag name="MH_LIBRARY" val="GRAPHIC"/>
  <p:tag name="MH_TYPE" val="Other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04192125"/>
  <p:tag name="MH_LIBRARY" val="GRAPHIC"/>
  <p:tag name="MH_TYPE" val="Other"/>
  <p:tag name="MH_ORDER" val="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1142</Words>
  <Application>Microsoft Office PowerPoint</Application>
  <PresentationFormat>宽屏</PresentationFormat>
  <Paragraphs>340</Paragraphs>
  <Slides>46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7" baseType="lpstr">
      <vt:lpstr>等线</vt:lpstr>
      <vt:lpstr>等线 Light</vt:lpstr>
      <vt:lpstr>仿宋</vt:lpstr>
      <vt:lpstr>微软雅黑</vt:lpstr>
      <vt:lpstr>Abril Fatface</vt:lpstr>
      <vt:lpstr>Arial</vt:lpstr>
      <vt:lpstr>Impact</vt:lpstr>
      <vt:lpstr>Open Sans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如果要将薯条比作搞钱，那么码头是什么？</vt:lpstr>
      <vt:lpstr>PowerPoint 演示文稿</vt:lpstr>
      <vt:lpstr>PowerPoint 演示文稿</vt:lpstr>
      <vt:lpstr>PowerPoint 演示文稿</vt:lpstr>
      <vt:lpstr>PowerPoint 演示文稿</vt:lpstr>
      <vt:lpstr>题材类型</vt:lpstr>
      <vt:lpstr>风口-根源于信息-也是A股第一生产力</vt:lpstr>
      <vt:lpstr>PowerPoint 演示文稿</vt:lpstr>
      <vt:lpstr>PowerPoint 演示文稿</vt:lpstr>
      <vt:lpstr>经济增速是企业盈利的重要表征</vt:lpstr>
      <vt:lpstr>PowerPoint 演示文稿</vt:lpstr>
      <vt:lpstr>PowerPoint 演示文稿</vt:lpstr>
      <vt:lpstr>PowerPoint 演示文稿</vt:lpstr>
      <vt:lpstr>PowerPoint 演示文稿</vt:lpstr>
      <vt:lpstr>杜邦分析法</vt:lpstr>
      <vt:lpstr>波特五力法</vt:lpstr>
      <vt:lpstr>SWOT分析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K线的形态与强度</vt:lpstr>
      <vt:lpstr>K线图的周期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香港中文大学（深圳）投资启蒙协会  CUHKSZ Investment Enlightenment Association (IEA)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从心 王</dc:creator>
  <cp:lastModifiedBy>Lambert Lin</cp:lastModifiedBy>
  <cp:revision>43</cp:revision>
  <dcterms:created xsi:type="dcterms:W3CDTF">2024-09-17T14:55:00Z</dcterms:created>
  <dcterms:modified xsi:type="dcterms:W3CDTF">2024-09-27T06:17:55Z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C7B33047FA3447AF922F63695A29D7BA_13</vt:lpwstr>
  </property>
  <property fmtid="{D5CDD505-2E9C-101B-9397-08002B2CF9AE}" pid="3" name="KSOProductBuildVer">
    <vt:lpwstr>2052-12.1.0.18276</vt:lpwstr>
  </property>
</Properties>
</file>