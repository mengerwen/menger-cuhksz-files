
<file path=[Content_Types].xml><?xml version="1.0" encoding="utf-8"?>
<Types xmlns="http://schemas.openxmlformats.org/package/2006/content-types">
  <Default Extension="bin" ContentType="application/vnd.openxmlformats-officedocument.oleObject"/>
  <Default Extension="docx" ContentType="application/vnd.openxmlformats-officedocument.wordprocessingml.documen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1"/>
  </p:sldMasterIdLst>
  <p:notesMasterIdLst>
    <p:notesMasterId r:id="rId43"/>
  </p:notesMasterIdLst>
  <p:handoutMasterIdLst>
    <p:handoutMasterId r:id="rId44"/>
  </p:handoutMasterIdLst>
  <p:sldIdLst>
    <p:sldId id="259" r:id="rId2"/>
    <p:sldId id="388" r:id="rId3"/>
    <p:sldId id="389" r:id="rId4"/>
    <p:sldId id="390" r:id="rId5"/>
    <p:sldId id="392" r:id="rId6"/>
    <p:sldId id="393" r:id="rId7"/>
    <p:sldId id="400" r:id="rId8"/>
    <p:sldId id="561" r:id="rId9"/>
    <p:sldId id="395" r:id="rId10"/>
    <p:sldId id="396" r:id="rId11"/>
    <p:sldId id="403" r:id="rId12"/>
    <p:sldId id="402" r:id="rId13"/>
    <p:sldId id="398" r:id="rId14"/>
    <p:sldId id="405" r:id="rId15"/>
    <p:sldId id="411" r:id="rId16"/>
    <p:sldId id="474" r:id="rId17"/>
    <p:sldId id="412" r:id="rId18"/>
    <p:sldId id="414" r:id="rId19"/>
    <p:sldId id="415" r:id="rId20"/>
    <p:sldId id="413" r:id="rId21"/>
    <p:sldId id="404" r:id="rId22"/>
    <p:sldId id="416" r:id="rId23"/>
    <p:sldId id="559" r:id="rId24"/>
    <p:sldId id="418" r:id="rId25"/>
    <p:sldId id="419" r:id="rId26"/>
    <p:sldId id="420" r:id="rId27"/>
    <p:sldId id="560" r:id="rId28"/>
    <p:sldId id="417" r:id="rId29"/>
    <p:sldId id="422" r:id="rId30"/>
    <p:sldId id="427" r:id="rId31"/>
    <p:sldId id="423" r:id="rId32"/>
    <p:sldId id="425" r:id="rId33"/>
    <p:sldId id="426" r:id="rId34"/>
    <p:sldId id="428" r:id="rId35"/>
    <p:sldId id="429" r:id="rId36"/>
    <p:sldId id="430" r:id="rId37"/>
    <p:sldId id="431" r:id="rId38"/>
    <p:sldId id="432" r:id="rId39"/>
    <p:sldId id="433" r:id="rId40"/>
    <p:sldId id="557" r:id="rId41"/>
    <p:sldId id="434" r:id="rId42"/>
  </p:sldIdLst>
  <p:sldSz cx="9144000" cy="6858000" type="screen4x3"/>
  <p:notesSz cx="68580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779CC93D-E52E-4D84-901B-11D7331DD495}">
          <p14:sldIdLst>
            <p14:sldId id="259"/>
            <p14:sldId id="388"/>
            <p14:sldId id="389"/>
            <p14:sldId id="390"/>
            <p14:sldId id="392"/>
            <p14:sldId id="393"/>
            <p14:sldId id="400"/>
            <p14:sldId id="561"/>
            <p14:sldId id="395"/>
            <p14:sldId id="396"/>
            <p14:sldId id="403"/>
            <p14:sldId id="402"/>
            <p14:sldId id="398"/>
            <p14:sldId id="405"/>
            <p14:sldId id="411"/>
            <p14:sldId id="474"/>
            <p14:sldId id="412"/>
            <p14:sldId id="414"/>
            <p14:sldId id="415"/>
            <p14:sldId id="413"/>
            <p14:sldId id="404"/>
            <p14:sldId id="416"/>
            <p14:sldId id="559"/>
            <p14:sldId id="418"/>
            <p14:sldId id="419"/>
            <p14:sldId id="420"/>
            <p14:sldId id="560"/>
            <p14:sldId id="417"/>
            <p14:sldId id="422"/>
            <p14:sldId id="427"/>
            <p14:sldId id="423"/>
            <p14:sldId id="425"/>
            <p14:sldId id="426"/>
            <p14:sldId id="428"/>
            <p14:sldId id="429"/>
            <p14:sldId id="430"/>
            <p14:sldId id="431"/>
            <p14:sldId id="432"/>
            <p14:sldId id="433"/>
            <p14:sldId id="557"/>
            <p14:sldId id="434"/>
          </p14:sldIdLst>
        </p14:section>
        <p14:section name="Overview and Objectives" id="{ABA716BF-3A5C-4ADB-94C9-CFEF84EBA240}">
          <p14:sldIdLst/>
        </p14:section>
        <p14:section name="Topic 1" id="{6D9936A3-3945-4757-BC8B-B5C252D8E036}">
          <p14:sldIdLst/>
        </p14:section>
        <p14:section name="Sample Slides for Visuals" id="{BAB3A466-96C9-4230-9978-795378D75699}">
          <p14:sldIdLst/>
        </p14:section>
        <p14:section name="Case Study" id="{8C0305C9-B152-4FBA-A789-FE1976D53990}">
          <p14:sldIdLst/>
        </p14:section>
        <p14:section name="Conclusion and Summary" id="{790CEF5B-569A-4C2F-BED5-750B08C0E5AD}">
          <p14:sldIdLst/>
        </p14:section>
        <p14:section name="Appendix" id="{3F78B471-41DA-46F2-A8E4-97E471896AB3}">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28" userDrawn="1">
          <p15:clr>
            <a:srgbClr val="A4A3A4"/>
          </p15:clr>
        </p15:guide>
        <p15:guide id="2" pos="2160"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3300"/>
    <a:srgbClr val="009ED6"/>
  </p:clrMru>
  <p:extLst>
    <p:ext uri="{E76CE94A-603C-4142-B9EB-6D1370010A27}">
      <p14:discardImageEditData xmlns:p14="http://schemas.microsoft.com/office/powerpoint/2010/main" val="1"/>
    </p:ext>
    <p:ext uri="{D31A062A-798A-4329-ABDD-BBA856620510}">
      <p14:defaultImageDpi xmlns:p14="http://schemas.microsoft.com/office/powerpoint/2010/main" val="96"/>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4" autoAdjust="0"/>
    <p:restoredTop sz="83977" autoAdjust="0"/>
  </p:normalViewPr>
  <p:slideViewPr>
    <p:cSldViewPr>
      <p:cViewPr varScale="1">
        <p:scale>
          <a:sx n="163" d="100"/>
          <a:sy n="163" d="100"/>
        </p:scale>
        <p:origin x="1784" y="108"/>
      </p:cViewPr>
      <p:guideLst>
        <p:guide orient="horz" pos="2160"/>
        <p:guide pos="2880"/>
      </p:guideLst>
    </p:cSldViewPr>
  </p:slideViewPr>
  <p:notesTextViewPr>
    <p:cViewPr>
      <p:scale>
        <a:sx n="3" d="2"/>
        <a:sy n="3" d="2"/>
      </p:scale>
      <p:origin x="0" y="0"/>
    </p:cViewPr>
  </p:notesTextViewPr>
  <p:sorterViewPr>
    <p:cViewPr>
      <p:scale>
        <a:sx n="154" d="100"/>
        <a:sy n="154" d="100"/>
      </p:scale>
      <p:origin x="0" y="0"/>
    </p:cViewPr>
  </p:sorterViewPr>
  <p:notesViewPr>
    <p:cSldViewPr>
      <p:cViewPr varScale="1">
        <p:scale>
          <a:sx n="83" d="100"/>
          <a:sy n="83" d="100"/>
        </p:scale>
        <p:origin x="-3144" y="-96"/>
      </p:cViewPr>
      <p:guideLst>
        <p:guide orient="horz" pos="2928"/>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64820"/>
          </a:xfrm>
          <a:prstGeom prst="rect">
            <a:avLst/>
          </a:prstGeom>
        </p:spPr>
        <p:txBody>
          <a:bodyPr vert="horz" lIns="91429" tIns="45714" rIns="91429" bIns="45714"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64820"/>
          </a:xfrm>
          <a:prstGeom prst="rect">
            <a:avLst/>
          </a:prstGeom>
        </p:spPr>
        <p:txBody>
          <a:bodyPr vert="horz" lIns="91429" tIns="45714" rIns="91429" bIns="45714" rtlCol="0"/>
          <a:lstStyle>
            <a:lvl1pPr algn="r">
              <a:defRPr sz="1200"/>
            </a:lvl1pPr>
          </a:lstStyle>
          <a:p>
            <a:fld id="{D83FDC75-7F73-4A4A-A77C-09AADF00E0EA}" type="datetimeFigureOut">
              <a:rPr lang="en-US" smtClean="0"/>
              <a:pPr/>
              <a:t>12/4/2023</a:t>
            </a:fld>
            <a:endParaRPr lang="en-US" dirty="0"/>
          </a:p>
        </p:txBody>
      </p:sp>
      <p:sp>
        <p:nvSpPr>
          <p:cNvPr id="4" name="Footer Placeholder 3"/>
          <p:cNvSpPr>
            <a:spLocks noGrp="1"/>
          </p:cNvSpPr>
          <p:nvPr>
            <p:ph type="ftr" sz="quarter" idx="2"/>
          </p:nvPr>
        </p:nvSpPr>
        <p:spPr>
          <a:xfrm>
            <a:off x="0" y="8829967"/>
            <a:ext cx="2971800" cy="464820"/>
          </a:xfrm>
          <a:prstGeom prst="rect">
            <a:avLst/>
          </a:prstGeom>
        </p:spPr>
        <p:txBody>
          <a:bodyPr vert="horz" lIns="91429" tIns="45714" rIns="91429" bIns="45714"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829967"/>
            <a:ext cx="2971800" cy="464820"/>
          </a:xfrm>
          <a:prstGeom prst="rect">
            <a:avLst/>
          </a:prstGeom>
        </p:spPr>
        <p:txBody>
          <a:bodyPr vert="horz" lIns="91429" tIns="45714" rIns="91429" bIns="45714" rtlCol="0" anchor="b"/>
          <a:lstStyle>
            <a:lvl1pPr algn="r">
              <a:defRPr sz="1200"/>
            </a:lvl1pPr>
          </a:lstStyle>
          <a:p>
            <a:fld id="{459226BF-1F13-42D3-80DC-373E7ADD1EBC}" type="slidenum">
              <a:rPr lang="en-US" smtClean="0"/>
              <a:pPr/>
              <a:t>‹#›</a:t>
            </a:fld>
            <a:endParaRPr lang="en-US" dirty="0"/>
          </a:p>
        </p:txBody>
      </p:sp>
    </p:spTree>
    <p:extLst>
      <p:ext uri="{BB962C8B-B14F-4D97-AF65-F5344CB8AC3E}">
        <p14:creationId xmlns:p14="http://schemas.microsoft.com/office/powerpoint/2010/main" val="51581189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64820"/>
          </a:xfrm>
          <a:prstGeom prst="rect">
            <a:avLst/>
          </a:prstGeom>
        </p:spPr>
        <p:txBody>
          <a:bodyPr vert="horz" lIns="91429" tIns="45714" rIns="91429" bIns="45714" rtlCol="0"/>
          <a:lstStyle>
            <a:lvl1pPr algn="l">
              <a:defRPr sz="1200"/>
            </a:lvl1pPr>
          </a:lstStyle>
          <a:p>
            <a:endParaRPr lang="en-US" dirty="0"/>
          </a:p>
        </p:txBody>
      </p:sp>
      <p:sp>
        <p:nvSpPr>
          <p:cNvPr id="3" name="Date Placeholder 2"/>
          <p:cNvSpPr>
            <a:spLocks noGrp="1"/>
          </p:cNvSpPr>
          <p:nvPr>
            <p:ph type="dt" idx="1"/>
          </p:nvPr>
        </p:nvSpPr>
        <p:spPr>
          <a:xfrm>
            <a:off x="3884613" y="0"/>
            <a:ext cx="2971800" cy="464820"/>
          </a:xfrm>
          <a:prstGeom prst="rect">
            <a:avLst/>
          </a:prstGeom>
        </p:spPr>
        <p:txBody>
          <a:bodyPr vert="horz" lIns="91429" tIns="45714" rIns="91429" bIns="45714" rtlCol="0"/>
          <a:lstStyle>
            <a:lvl1pPr algn="r">
              <a:defRPr sz="1200"/>
            </a:lvl1pPr>
          </a:lstStyle>
          <a:p>
            <a:fld id="{48AEF76B-3757-4A0B-AF93-28494465C1DD}" type="datetimeFigureOut">
              <a:rPr lang="en-US" smtClean="0"/>
              <a:pPr/>
              <a:t>12/4/2023</a:t>
            </a:fld>
            <a:endParaRPr lang="en-US" dirty="0"/>
          </a:p>
        </p:txBody>
      </p:sp>
      <p:sp>
        <p:nvSpPr>
          <p:cNvPr id="4" name="Slide Image Placeholder 3"/>
          <p:cNvSpPr>
            <a:spLocks noGrp="1" noRot="1" noChangeAspect="1"/>
          </p:cNvSpPr>
          <p:nvPr>
            <p:ph type="sldImg" idx="2"/>
          </p:nvPr>
        </p:nvSpPr>
        <p:spPr>
          <a:xfrm>
            <a:off x="1106488" y="696913"/>
            <a:ext cx="4646612" cy="3486150"/>
          </a:xfrm>
          <a:prstGeom prst="rect">
            <a:avLst/>
          </a:prstGeom>
          <a:noFill/>
          <a:ln w="12700">
            <a:solidFill>
              <a:prstClr val="black"/>
            </a:solidFill>
          </a:ln>
        </p:spPr>
        <p:txBody>
          <a:bodyPr vert="horz" lIns="91429" tIns="45714" rIns="91429" bIns="45714" rtlCol="0" anchor="ctr"/>
          <a:lstStyle/>
          <a:p>
            <a:endParaRPr lang="en-US" dirty="0"/>
          </a:p>
        </p:txBody>
      </p:sp>
      <p:sp>
        <p:nvSpPr>
          <p:cNvPr id="5" name="Notes Placeholder 4"/>
          <p:cNvSpPr>
            <a:spLocks noGrp="1"/>
          </p:cNvSpPr>
          <p:nvPr>
            <p:ph type="body" sz="quarter" idx="3"/>
          </p:nvPr>
        </p:nvSpPr>
        <p:spPr>
          <a:xfrm>
            <a:off x="685800" y="4415790"/>
            <a:ext cx="5486400" cy="4183380"/>
          </a:xfrm>
          <a:prstGeom prst="rect">
            <a:avLst/>
          </a:prstGeom>
        </p:spPr>
        <p:txBody>
          <a:bodyPr vert="horz" lIns="91429" tIns="45714" rIns="91429" bIns="45714"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2971800" cy="464820"/>
          </a:xfrm>
          <a:prstGeom prst="rect">
            <a:avLst/>
          </a:prstGeom>
        </p:spPr>
        <p:txBody>
          <a:bodyPr vert="horz" lIns="91429" tIns="45714" rIns="91429" bIns="45714"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829967"/>
            <a:ext cx="2971800" cy="464820"/>
          </a:xfrm>
          <a:prstGeom prst="rect">
            <a:avLst/>
          </a:prstGeom>
        </p:spPr>
        <p:txBody>
          <a:bodyPr vert="horz" lIns="91429" tIns="45714" rIns="91429" bIns="45714" rtlCol="0" anchor="b"/>
          <a:lstStyle>
            <a:lvl1pPr algn="r">
              <a:defRPr sz="1200"/>
            </a:lvl1pPr>
          </a:lstStyle>
          <a:p>
            <a:fld id="{75693FD4-8F83-4EF7-AC3F-0DC0388986B0}" type="slidenum">
              <a:rPr lang="en-US" smtClean="0"/>
              <a:pPr/>
              <a:t>‹#›</a:t>
            </a:fld>
            <a:endParaRPr lang="en-US" dirty="0"/>
          </a:p>
        </p:txBody>
      </p:sp>
    </p:spTree>
    <p:extLst>
      <p:ext uri="{BB962C8B-B14F-4D97-AF65-F5344CB8AC3E}">
        <p14:creationId xmlns:p14="http://schemas.microsoft.com/office/powerpoint/2010/main" val="1735422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914286">
              <a:defRPr/>
            </a:pPr>
            <a:r>
              <a:rPr lang="en-US" dirty="0"/>
              <a:t>This template can be used as a starter file for presenting training materials in a group setting.</a:t>
            </a:r>
          </a:p>
          <a:p>
            <a:endParaRPr lang="en-US" dirty="0"/>
          </a:p>
          <a:p>
            <a:pPr lvl="0"/>
            <a:r>
              <a:rPr lang="en-US" b="1" dirty="0"/>
              <a:t>Sections</a:t>
            </a:r>
            <a:endParaRPr lang="en-US" dirty="0"/>
          </a:p>
          <a:p>
            <a:pPr lvl="0"/>
            <a:r>
              <a:rPr lang="en-US" dirty="0"/>
              <a:t>Sections can help to organize your slides or facilitate collaboration between multiple authors. On the </a:t>
            </a:r>
            <a:r>
              <a:rPr lang="en-US" b="1" dirty="0"/>
              <a:t>Home</a:t>
            </a:r>
            <a:r>
              <a:rPr lang="en-US" dirty="0"/>
              <a:t> tab under </a:t>
            </a:r>
            <a:r>
              <a:rPr lang="en-US" b="1" dirty="0"/>
              <a:t>Slides</a:t>
            </a:r>
            <a:r>
              <a:rPr lang="en-US" dirty="0"/>
              <a:t>, click </a:t>
            </a:r>
            <a:r>
              <a:rPr lang="en-US" b="1" dirty="0"/>
              <a:t>Section</a:t>
            </a:r>
            <a:r>
              <a:rPr lang="en-US" dirty="0"/>
              <a:t>, and then click </a:t>
            </a:r>
            <a:r>
              <a:rPr lang="en-US" b="1" dirty="0"/>
              <a:t>Add Section</a:t>
            </a:r>
            <a:r>
              <a:rPr lang="en-US" dirty="0"/>
              <a:t>.</a:t>
            </a:r>
          </a:p>
          <a:p>
            <a:pPr lvl="0"/>
            <a:endParaRPr lang="en-US" b="1" dirty="0"/>
          </a:p>
          <a:p>
            <a:pPr lvl="0"/>
            <a:r>
              <a:rPr lang="en-US" b="1" dirty="0"/>
              <a:t>Notes</a:t>
            </a:r>
          </a:p>
          <a:p>
            <a:pPr lvl="0"/>
            <a:r>
              <a:rPr lang="en-US" dirty="0"/>
              <a:t>Use the Notes pane for delivery notes or to provide additional details for the audience. You can see these notes in Presenter View during your presentation. </a:t>
            </a:r>
          </a:p>
          <a:p>
            <a:pPr lvl="0"/>
            <a:r>
              <a:rPr lang="en-US" dirty="0"/>
              <a:t>Keep in mind the font size (important for accessibility, visibility, videotaping, and online production)</a:t>
            </a:r>
          </a:p>
          <a:p>
            <a:pPr lvl="0"/>
            <a:endParaRPr lang="en-US" dirty="0"/>
          </a:p>
          <a:p>
            <a:pPr lvl="0">
              <a:buFontTx/>
              <a:buNone/>
            </a:pPr>
            <a:r>
              <a:rPr lang="en-US" b="1" dirty="0"/>
              <a:t>Coordinated colors </a:t>
            </a:r>
          </a:p>
          <a:p>
            <a:pPr lvl="0">
              <a:buFontTx/>
              <a:buNone/>
            </a:pPr>
            <a:r>
              <a:rPr lang="en-US" dirty="0"/>
              <a:t>Pay particular attention to the graphs, charts, and text boxes. </a:t>
            </a:r>
          </a:p>
          <a:p>
            <a:pPr lvl="0"/>
            <a:r>
              <a:rPr lang="en-US" dirty="0"/>
              <a:t>Consider that attendees will print in black and white or </a:t>
            </a:r>
            <a:r>
              <a:rPr lang="en-US" dirty="0" err="1"/>
              <a:t>grayscale</a:t>
            </a:r>
            <a:r>
              <a:rPr lang="en-US" dirty="0"/>
              <a:t>. Run a test print to make sure your colors work when printed in pure black and white and </a:t>
            </a:r>
            <a:r>
              <a:rPr lang="en-US" dirty="0" err="1"/>
              <a:t>grayscale</a:t>
            </a:r>
            <a:r>
              <a:rPr lang="en-US" dirty="0"/>
              <a:t>.</a:t>
            </a:r>
          </a:p>
          <a:p>
            <a:pPr lvl="0">
              <a:buFontTx/>
              <a:buNone/>
            </a:pPr>
            <a:endParaRPr lang="en-US" dirty="0"/>
          </a:p>
          <a:p>
            <a:pPr lvl="0">
              <a:buFontTx/>
              <a:buNone/>
            </a:pPr>
            <a:r>
              <a:rPr lang="en-US" b="1" dirty="0"/>
              <a:t>Graphics, tables, and graphs</a:t>
            </a:r>
          </a:p>
          <a:p>
            <a:pPr lvl="0"/>
            <a:r>
              <a:rPr lang="en-US" dirty="0"/>
              <a:t>Keep it simple: If possible, use consistent, non-distracting styles and colors.</a:t>
            </a:r>
          </a:p>
          <a:p>
            <a:pPr lvl="0"/>
            <a:r>
              <a:rPr lang="en-US" dirty="0"/>
              <a:t>Label all graphs and tables.</a:t>
            </a:r>
          </a:p>
          <a:p>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fld id="{EC6EAC7D-5A89-47C2-8ABA-56C9C2DEF7A4}" type="slidenum">
              <a:rPr lang="en-US" smtClean="0"/>
              <a:pPr/>
              <a:t>1</a:t>
            </a:fld>
            <a:endParaRPr lang="en-US"/>
          </a:p>
        </p:txBody>
      </p:sp>
    </p:spTree>
    <p:extLst>
      <p:ext uri="{BB962C8B-B14F-4D97-AF65-F5344CB8AC3E}">
        <p14:creationId xmlns:p14="http://schemas.microsoft.com/office/powerpoint/2010/main" val="349373287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6" name="Picture 5"/>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43543" y="0"/>
            <a:ext cx="9100457" cy="6879771"/>
          </a:xfrm>
          <a:prstGeom prst="rect">
            <a:avLst/>
          </a:prstGeom>
        </p:spPr>
      </p:pic>
      <p:sp>
        <p:nvSpPr>
          <p:cNvPr id="2" name="Title 1"/>
          <p:cNvSpPr>
            <a:spLocks noGrp="1"/>
          </p:cNvSpPr>
          <p:nvPr>
            <p:ph type="ctrTitle" hasCustomPrompt="1"/>
          </p:nvPr>
        </p:nvSpPr>
        <p:spPr>
          <a:xfrm>
            <a:off x="2590800" y="2286000"/>
            <a:ext cx="6180224" cy="1470025"/>
          </a:xfrm>
        </p:spPr>
        <p:txBody>
          <a:bodyPr anchor="t"/>
          <a:lstStyle>
            <a:lvl1pPr algn="r">
              <a:defRPr b="1" cap="small" baseline="0">
                <a:solidFill>
                  <a:srgbClr val="003300"/>
                </a:solidFill>
              </a:defRPr>
            </a:lvl1pPr>
          </a:lstStyle>
          <a:p>
            <a:r>
              <a:rPr lang="en-US" dirty="0"/>
              <a:t>Click to edit master title style</a:t>
            </a:r>
          </a:p>
        </p:txBody>
      </p:sp>
      <p:sp>
        <p:nvSpPr>
          <p:cNvPr id="3" name="Subtitle 2"/>
          <p:cNvSpPr>
            <a:spLocks noGrp="1"/>
          </p:cNvSpPr>
          <p:nvPr>
            <p:ph type="subTitle" idx="1"/>
          </p:nvPr>
        </p:nvSpPr>
        <p:spPr>
          <a:xfrm>
            <a:off x="3962400" y="4038600"/>
            <a:ext cx="4772528" cy="990600"/>
          </a:xfrm>
        </p:spPr>
        <p:txBody>
          <a:bodyPr>
            <a:normAutofit/>
          </a:bodyPr>
          <a:lstStyle>
            <a:lvl1pPr marL="0" indent="0" algn="r">
              <a:buNone/>
              <a:defRPr sz="2000" b="0">
                <a:solidFill>
                  <a:schemeClr val="tx1"/>
                </a:solidFill>
                <a:latin typeface="Georgia"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pic>
        <p:nvPicPr>
          <p:cNvPr id="7" name="Picture 6"/>
          <p:cNvPicPr>
            <a:picLocks noChangeAspect="1"/>
          </p:cNvPicPr>
          <p:nvPr userDrawn="1"/>
        </p:nvPicPr>
        <p:blipFill rotWithShape="1">
          <a:blip r:embed="rId3" cstate="email">
            <a:extLst>
              <a:ext uri="{28A0092B-C50C-407E-A947-70E740481C1C}">
                <a14:useLocalDpi xmlns:a14="http://schemas.microsoft.com/office/drawing/2010/main"/>
              </a:ext>
            </a:extLst>
          </a:blip>
          <a:srcRect/>
          <a:stretch/>
        </p:blipFill>
        <p:spPr>
          <a:xfrm>
            <a:off x="0" y="1251"/>
            <a:ext cx="3721618" cy="6858000"/>
          </a:xfrm>
          <a:prstGeom prst="rect">
            <a:avLst/>
          </a:prstGeom>
        </p:spPr>
      </p:pic>
      <p:sp>
        <p:nvSpPr>
          <p:cNvPr id="10" name="Picture Placeholder 9"/>
          <p:cNvSpPr>
            <a:spLocks noGrp="1"/>
          </p:cNvSpPr>
          <p:nvPr>
            <p:ph type="pic" sz="quarter" idx="13" hasCustomPrompt="1"/>
          </p:nvPr>
        </p:nvSpPr>
        <p:spPr>
          <a:xfrm>
            <a:off x="6858000" y="5105400"/>
            <a:ext cx="1828800" cy="990600"/>
          </a:xfrm>
        </p:spPr>
        <p:txBody>
          <a:bodyPr>
            <a:normAutofit/>
          </a:bodyPr>
          <a:lstStyle>
            <a:lvl1pPr marL="0" indent="0" algn="ctr">
              <a:buNone/>
              <a:defRPr sz="2000" baseline="0"/>
            </a:lvl1pPr>
          </a:lstStyle>
          <a:p>
            <a:r>
              <a:rPr lang="en-US" dirty="0"/>
              <a:t>Company Logo</a:t>
            </a: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43543" y="0"/>
            <a:ext cx="9100457" cy="6879771"/>
          </a:xfrm>
          <a:prstGeom prst="rect">
            <a:avLst/>
          </a:prstGeom>
        </p:spPr>
      </p:pic>
      <p:pic>
        <p:nvPicPr>
          <p:cNvPr id="8" name="Picture 7"/>
          <p:cNvPicPr>
            <a:picLocks noChangeAspect="1"/>
          </p:cNvPicPr>
          <p:nvPr userDrawn="1"/>
        </p:nvPicPr>
        <p:blipFill rotWithShape="1">
          <a:blip r:embed="rId3" cstate="email">
            <a:extLst>
              <a:ext uri="{28A0092B-C50C-407E-A947-70E740481C1C}">
                <a14:useLocalDpi xmlns:a14="http://schemas.microsoft.com/office/drawing/2010/main"/>
              </a:ext>
            </a:extLst>
          </a:blip>
          <a:srcRect/>
          <a:stretch/>
        </p:blipFill>
        <p:spPr>
          <a:xfrm rot="5400000">
            <a:off x="3161049" y="-3176815"/>
            <a:ext cx="2819400" cy="9173031"/>
          </a:xfrm>
          <a:prstGeom prst="rect">
            <a:avLst/>
          </a:prstGeom>
        </p:spPr>
      </p:pic>
      <p:sp>
        <p:nvSpPr>
          <p:cNvPr id="2" name="Title 1"/>
          <p:cNvSpPr>
            <a:spLocks noGrp="1"/>
          </p:cNvSpPr>
          <p:nvPr>
            <p:ph type="title" hasCustomPrompt="1"/>
          </p:nvPr>
        </p:nvSpPr>
        <p:spPr>
          <a:xfrm>
            <a:off x="4572000" y="3048000"/>
            <a:ext cx="4343400" cy="1362075"/>
          </a:xfrm>
        </p:spPr>
        <p:txBody>
          <a:bodyPr anchor="b" anchorCtr="0"/>
          <a:lstStyle>
            <a:lvl1pPr algn="l">
              <a:defRPr sz="4000" b="1" cap="small" baseline="0">
                <a:solidFill>
                  <a:srgbClr val="003300"/>
                </a:solidFill>
              </a:defRPr>
            </a:lvl1pPr>
          </a:lstStyle>
          <a:p>
            <a:r>
              <a:rPr lang="en-US" dirty="0"/>
              <a:t>Click to edit master title style</a:t>
            </a:r>
          </a:p>
        </p:txBody>
      </p:sp>
      <p:sp>
        <p:nvSpPr>
          <p:cNvPr id="4" name="Date Placeholder 3"/>
          <p:cNvSpPr>
            <a:spLocks noGrp="1"/>
          </p:cNvSpPr>
          <p:nvPr>
            <p:ph type="dt" sz="half" idx="10"/>
          </p:nvPr>
        </p:nvSpPr>
        <p:spPr/>
        <p:txBody>
          <a:bodyPr/>
          <a:lstStyle/>
          <a:p>
            <a:fld id="{757B281C-5159-4971-8228-52B9A72E9ED2}" type="datetimeFigureOut">
              <a:rPr lang="en-US" smtClean="0"/>
              <a:pPr/>
              <a:t>12/4/2023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3D6E5A2-EC83-451F-A719-9AC1370DD5CF}" type="slidenum">
              <a:rPr lang="en-US" smtClean="0"/>
              <a:pPr/>
              <a:t>‹#›</a:t>
            </a:fld>
            <a:endParaRPr lang="en-US" dirty="0"/>
          </a:p>
        </p:txBody>
      </p:sp>
      <p:sp>
        <p:nvSpPr>
          <p:cNvPr id="10" name="Picture Placeholder 9"/>
          <p:cNvSpPr>
            <a:spLocks noGrp="1"/>
          </p:cNvSpPr>
          <p:nvPr>
            <p:ph type="pic" sz="quarter" idx="13" hasCustomPrompt="1"/>
          </p:nvPr>
        </p:nvSpPr>
        <p:spPr>
          <a:xfrm>
            <a:off x="6781800" y="5334000"/>
            <a:ext cx="2133600" cy="990600"/>
          </a:xfrm>
        </p:spPr>
        <p:txBody>
          <a:bodyPr>
            <a:normAutofit/>
          </a:bodyPr>
          <a:lstStyle>
            <a:lvl1pPr marL="0" indent="0" algn="ctr">
              <a:buNone/>
              <a:defRPr sz="1800"/>
            </a:lvl1pPr>
          </a:lstStyle>
          <a:p>
            <a:r>
              <a:rPr lang="en-US" dirty="0"/>
              <a:t>Company Logo</a:t>
            </a:r>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62000" y="269632"/>
            <a:ext cx="8077200" cy="1143000"/>
          </a:xfrm>
        </p:spPr>
        <p:txBody>
          <a:bodyPr anchor="ctr" anchorCtr="0"/>
          <a:lstStyle>
            <a:lvl1pPr algn="l">
              <a:defRPr lang="en-US" dirty="0"/>
            </a:lvl1pPr>
          </a:lstStyle>
          <a:p>
            <a:r>
              <a:rPr lang="en-US" dirty="0"/>
              <a:t>Click To Edit Master Title Style</a:t>
            </a:r>
          </a:p>
        </p:txBody>
      </p:sp>
      <p:sp>
        <p:nvSpPr>
          <p:cNvPr id="3" name="Content Placeholder 2"/>
          <p:cNvSpPr>
            <a:spLocks noGrp="1"/>
          </p:cNvSpPr>
          <p:nvPr>
            <p:ph idx="1"/>
          </p:nvPr>
        </p:nvSpPr>
        <p:spPr>
          <a:xfrm>
            <a:off x="762000" y="1596413"/>
            <a:ext cx="8077200" cy="4297363"/>
          </a:xfrm>
        </p:spPr>
        <p:txBody>
          <a:bodyPr>
            <a:normAutofit/>
          </a:bodyPr>
          <a:lstStyle>
            <a:lvl1pPr>
              <a:defRPr sz="3200">
                <a:latin typeface="+mn-lt"/>
              </a:defRPr>
            </a:lvl1pPr>
            <a:lvl2pPr>
              <a:defRPr sz="2800">
                <a:latin typeface="+mn-lt"/>
              </a:defRPr>
            </a:lvl2pPr>
            <a:lvl3pPr>
              <a:defRPr sz="2400">
                <a:latin typeface="+mn-lt"/>
              </a:defRPr>
            </a:lvl3pPr>
            <a:lvl4pPr>
              <a:defRPr sz="2400">
                <a:latin typeface="+mn-lt"/>
              </a:defRPr>
            </a:lvl4pPr>
            <a:lvl5pPr>
              <a:defRPr sz="24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57B281C-5159-4971-8228-52B9A72E9ED2}" type="datetimeFigureOut">
              <a:rPr lang="en-US" smtClean="0"/>
              <a:pPr/>
              <a:t>12/4/2023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6705600" y="6356350"/>
            <a:ext cx="2133600" cy="365125"/>
          </a:xfrm>
        </p:spPr>
        <p:txBody>
          <a:bodyPr/>
          <a:lstStyle/>
          <a:p>
            <a:fld id="{33D6E5A2-EC83-451F-A719-9AC1370DD5CF}" type="slidenum">
              <a:rPr lang="en-US" smtClean="0"/>
              <a:pPr/>
              <a:t>‹#›</a:t>
            </a:fld>
            <a:endParaRPr lang="en-US" dirty="0"/>
          </a:p>
        </p:txBody>
      </p:sp>
    </p:spTree>
  </p:cSld>
  <p:clrMapOvr>
    <a:masterClrMapping/>
  </p:clrMapOvr>
  <p:transition spd="slow">
    <p:wipe dir="d"/>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8768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57B281C-5159-4971-8228-52B9A72E9ED2}" type="datetimeFigureOut">
              <a:rPr lang="en-US" smtClean="0"/>
              <a:pPr/>
              <a:t>12/4/2023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3D6E5A2-EC83-451F-A719-9AC1370DD5CF}" type="slidenum">
              <a:rPr lang="en-US" smtClean="0"/>
              <a:pPr/>
              <a:t>‹#›</a:t>
            </a:fld>
            <a:endParaRPr lang="en-US" dirty="0"/>
          </a:p>
        </p:txBody>
      </p:sp>
    </p:spTree>
  </p:cSld>
  <p:clrMapOvr>
    <a:masterClrMapping/>
  </p:clrMapOvr>
  <p:transition spd="slow">
    <p:wipe dir="d"/>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858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8736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8736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57B281C-5159-4971-8228-52B9A72E9ED2}" type="datetimeFigureOut">
              <a:rPr lang="en-US" smtClean="0"/>
              <a:pPr/>
              <a:t>12/4/2023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3D6E5A2-EC83-451F-A719-9AC1370DD5CF}" type="slidenum">
              <a:rPr lang="en-US" smtClean="0"/>
              <a:pPr/>
              <a:t>‹#›</a:t>
            </a:fld>
            <a:endParaRPr lang="en-US" dirty="0"/>
          </a:p>
        </p:txBody>
      </p:sp>
    </p:spTree>
  </p:cSld>
  <p:clrMapOvr>
    <a:masterClrMapping/>
  </p:clrMapOvr>
  <p:transition spd="slow">
    <p:wipe dir="d"/>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8036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858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57B281C-5159-4971-8228-52B9A72E9ED2}" type="datetimeFigureOut">
              <a:rPr lang="en-US" smtClean="0"/>
              <a:pPr/>
              <a:t>12/4/2023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3D6E5A2-EC83-451F-A719-9AC1370DD5CF}" type="slidenum">
              <a:rPr lang="en-US" smtClean="0"/>
              <a:pPr/>
              <a:t>‹#›</a:t>
            </a:fld>
            <a:endParaRPr lang="en-US" dirty="0"/>
          </a:p>
        </p:txBody>
      </p:sp>
    </p:spTree>
  </p:cSld>
  <p:clrMapOvr>
    <a:masterClrMapping/>
  </p:clrMapOvr>
  <p:transition spd="slow">
    <p:wipe dir="d"/>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Drag picture to placeholder or click icon to add</a:t>
            </a:r>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57B281C-5159-4971-8228-52B9A72E9ED2}" type="datetimeFigureOut">
              <a:rPr lang="en-US" smtClean="0"/>
              <a:pPr/>
              <a:t>12/4/2023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3D6E5A2-EC83-451F-A719-9AC1370DD5CF}" type="slidenum">
              <a:rPr lang="en-US" smtClean="0"/>
              <a:pPr/>
              <a:t>‹#›</a:t>
            </a:fld>
            <a:endParaRPr lang="en-US" dirty="0"/>
          </a:p>
        </p:txBody>
      </p:sp>
    </p:spTree>
  </p:cSld>
  <p:clrMapOvr>
    <a:masterClrMapping/>
  </p:clrMapOvr>
  <p:transition spd="slow">
    <p:wipe dir="d"/>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57B281C-5159-4971-8228-52B9A72E9ED2}" type="datetimeFigureOut">
              <a:rPr lang="en-US" smtClean="0"/>
              <a:pPr/>
              <a:t>12/4/2023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3D6E5A2-EC83-451F-A719-9AC1370DD5CF}" type="slidenum">
              <a:rPr lang="en-US" smtClean="0"/>
              <a:pPr/>
              <a:t>‹#›</a:t>
            </a:fld>
            <a:endParaRPr lang="en-US" dirty="0"/>
          </a:p>
        </p:txBody>
      </p:sp>
    </p:spTree>
  </p:cSld>
  <p:clrMapOvr>
    <a:masterClrMapping/>
  </p:clrMapOvr>
  <p:transition spd="slow">
    <p:wipe dir="d"/>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818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62000" y="274638"/>
            <a:ext cx="5867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57B281C-5159-4971-8228-52B9A72E9ED2}" type="datetimeFigureOut">
              <a:rPr lang="en-US" smtClean="0"/>
              <a:pPr/>
              <a:t>12/4/2023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3D6E5A2-EC83-451F-A719-9AC1370DD5CF}" type="slidenum">
              <a:rPr lang="en-US" smtClean="0"/>
              <a:pPr/>
              <a:t>‹#›</a:t>
            </a:fld>
            <a:endParaRPr lang="en-US" dirty="0"/>
          </a:p>
        </p:txBody>
      </p:sp>
    </p:spTree>
  </p:cSld>
  <p:clrMapOvr>
    <a:masterClrMapping/>
  </p:clrMapOvr>
  <p:transition spd="slow">
    <p:wipe dir="d"/>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57B281C-5159-4971-8228-52B9A72E9ED2}" type="datetimeFigureOut">
              <a:rPr lang="en-US" smtClean="0"/>
              <a:pPr/>
              <a:t>12/4/2023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3D6E5A2-EC83-451F-A719-9AC1370DD5CF}" type="slidenum">
              <a:rPr lang="en-US" smtClean="0"/>
              <a:pPr/>
              <a:t>‹#›</a:t>
            </a:fld>
            <a:endParaRPr lang="en-US" dirty="0"/>
          </a:p>
        </p:txBody>
      </p:sp>
    </p:spTree>
  </p:cSld>
  <p:clrMapOvr>
    <a:masterClrMapping/>
  </p:clrMapOvr>
  <p:transition spd="slow">
    <p:wipe dir="d"/>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57B281C-5159-4971-8228-52B9A72E9ED2}" type="datetimeFigureOut">
              <a:rPr lang="en-US" smtClean="0"/>
              <a:pPr/>
              <a:t>12/4/2023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3D6E5A2-EC83-451F-A719-9AC1370DD5CF}" type="slidenum">
              <a:rPr lang="en-US" smtClean="0"/>
              <a:pPr/>
              <a:t>‹#›</a:t>
            </a:fld>
            <a:endParaRPr lang="en-US" dirty="0"/>
          </a:p>
        </p:txBody>
      </p:sp>
    </p:spTree>
  </p:cSld>
  <p:clrMapOvr>
    <a:masterClrMapping/>
  </p:clrMapOvr>
  <p:transition spd="slow">
    <p:wipe dir="d"/>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Background Only">
    <p:spTree>
      <p:nvGrpSpPr>
        <p:cNvPr id="1" name=""/>
        <p:cNvGrpSpPr/>
        <p:nvPr/>
      </p:nvGrpSpPr>
      <p:grpSpPr>
        <a:xfrm>
          <a:off x="0" y="0"/>
          <a:ext cx="0" cy="0"/>
          <a:chOff x="0" y="0"/>
          <a:chExt cx="0" cy="0"/>
        </a:xfrm>
      </p:grpSpPr>
      <p:pic>
        <p:nvPicPr>
          <p:cNvPr id="2" name="Picture 1"/>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43543" y="0"/>
            <a:ext cx="9100457" cy="6879771"/>
          </a:xfrm>
          <a:prstGeom prst="rect">
            <a:avLst/>
          </a:prstGeom>
        </p:spPr>
      </p:pic>
      <p:sp>
        <p:nvSpPr>
          <p:cNvPr id="3" name="Date Placeholder 3"/>
          <p:cNvSpPr>
            <a:spLocks noGrp="1"/>
          </p:cNvSpPr>
          <p:nvPr>
            <p:ph type="dt" sz="half" idx="10"/>
          </p:nvPr>
        </p:nvSpPr>
        <p:spPr>
          <a:xfrm>
            <a:off x="762000" y="6356350"/>
            <a:ext cx="2133600" cy="365125"/>
          </a:xfrm>
        </p:spPr>
        <p:txBody>
          <a:bodyPr/>
          <a:lstStyle/>
          <a:p>
            <a:fld id="{757B281C-5159-4971-8228-52B9A72E9ED2}" type="datetimeFigureOut">
              <a:rPr lang="en-US" smtClean="0"/>
              <a:pPr/>
              <a:t>12/4/2023</a:t>
            </a:fld>
            <a:endParaRPr lang="en-US" dirty="0"/>
          </a:p>
        </p:txBody>
      </p:sp>
      <p:sp>
        <p:nvSpPr>
          <p:cNvPr id="4" name="Footer Placeholder 4"/>
          <p:cNvSpPr>
            <a:spLocks noGrp="1"/>
          </p:cNvSpPr>
          <p:nvPr>
            <p:ph type="ftr" sz="quarter" idx="11"/>
          </p:nvPr>
        </p:nvSpPr>
        <p:spPr>
          <a:xfrm>
            <a:off x="3352800" y="6356350"/>
            <a:ext cx="2895600" cy="365125"/>
          </a:xfrm>
        </p:spPr>
        <p:txBody>
          <a:bodyPr/>
          <a:lstStyle/>
          <a:p>
            <a:endParaRPr lang="en-US" dirty="0"/>
          </a:p>
        </p:txBody>
      </p:sp>
      <p:sp>
        <p:nvSpPr>
          <p:cNvPr id="5" name="Slide Number Placeholder 5"/>
          <p:cNvSpPr>
            <a:spLocks noGrp="1"/>
          </p:cNvSpPr>
          <p:nvPr>
            <p:ph type="sldNum" sz="quarter" idx="12"/>
          </p:nvPr>
        </p:nvSpPr>
        <p:spPr>
          <a:xfrm>
            <a:off x="6705600" y="6356350"/>
            <a:ext cx="2133600" cy="365125"/>
          </a:xfrm>
        </p:spPr>
        <p:txBody>
          <a:bodyPr/>
          <a:lstStyle/>
          <a:p>
            <a:fld id="{33D6E5A2-EC83-451F-A719-9AC1370DD5CF}" type="slidenum">
              <a:rPr lang="en-US" smtClean="0"/>
              <a:pPr/>
              <a:t>‹#›</a:t>
            </a:fld>
            <a:endParaRPr lang="en-US" dirty="0"/>
          </a:p>
        </p:txBody>
      </p:sp>
    </p:spTree>
  </p:cSld>
  <p:clrMapOvr>
    <a:masterClrMapping/>
  </p:clrMapOvr>
  <p:transition spd="slow">
    <p:wipe dir="d"/>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able of Contents Slide">
    <p:spTree>
      <p:nvGrpSpPr>
        <p:cNvPr id="1" name=""/>
        <p:cNvGrpSpPr/>
        <p:nvPr/>
      </p:nvGrpSpPr>
      <p:grpSpPr>
        <a:xfrm>
          <a:off x="0" y="0"/>
          <a:ext cx="0" cy="0"/>
          <a:chOff x="0" y="0"/>
          <a:chExt cx="0" cy="0"/>
        </a:xfrm>
      </p:grpSpPr>
      <p:sp>
        <p:nvSpPr>
          <p:cNvPr id="2" name="Title 1"/>
          <p:cNvSpPr>
            <a:spLocks noGrp="1"/>
          </p:cNvSpPr>
          <p:nvPr>
            <p:ph type="title"/>
          </p:nvPr>
        </p:nvSpPr>
        <p:spPr>
          <a:xfrm>
            <a:off x="2057400" y="533400"/>
            <a:ext cx="6629400" cy="548640"/>
          </a:xfrm>
        </p:spPr>
        <p:txBody>
          <a:bodyPr>
            <a:noAutofit/>
          </a:bodyPr>
          <a:lstStyle>
            <a:lvl1pPr>
              <a:defRPr sz="2400">
                <a:latin typeface="Cambria" pitchFamily="18" charset="0"/>
              </a:defRPr>
            </a:lvl1pPr>
          </a:lstStyle>
          <a:p>
            <a:r>
              <a:rPr lang="en-US" altLang="zh-CN"/>
              <a:t>Click to edit Master title style</a:t>
            </a:r>
            <a:endParaRPr lang="en-US" dirty="0"/>
          </a:p>
        </p:txBody>
      </p:sp>
      <p:sp>
        <p:nvSpPr>
          <p:cNvPr id="8" name="Table Placeholder 7"/>
          <p:cNvSpPr>
            <a:spLocks noGrp="1"/>
          </p:cNvSpPr>
          <p:nvPr>
            <p:ph type="tbl" sz="quarter" idx="13" hasCustomPrompt="1"/>
          </p:nvPr>
        </p:nvSpPr>
        <p:spPr>
          <a:xfrm>
            <a:off x="685800" y="1676400"/>
            <a:ext cx="8001000" cy="3581400"/>
          </a:xfrm>
        </p:spPr>
        <p:txBody>
          <a:bodyPr/>
          <a:lstStyle>
            <a:lvl1pPr marL="0" indent="0">
              <a:buNone/>
              <a:defRPr baseline="0">
                <a:latin typeface="Cambria" pitchFamily="18" charset="0"/>
              </a:defRPr>
            </a:lvl1pPr>
          </a:lstStyle>
          <a:p>
            <a:r>
              <a:rPr lang="en-US" dirty="0"/>
              <a:t>Click icon to insert table.</a:t>
            </a:r>
          </a:p>
        </p:txBody>
      </p:sp>
    </p:spTree>
    <p:extLst>
      <p:ext uri="{BB962C8B-B14F-4D97-AF65-F5344CB8AC3E}">
        <p14:creationId xmlns:p14="http://schemas.microsoft.com/office/powerpoint/2010/main" val="20031249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15" cstate="email">
            <a:extLst>
              <a:ext uri="{28A0092B-C50C-407E-A947-70E740481C1C}">
                <a14:useLocalDpi xmlns:a14="http://schemas.microsoft.com/office/drawing/2010/main"/>
              </a:ext>
            </a:extLst>
          </a:blip>
          <a:srcRect/>
          <a:stretch/>
        </p:blipFill>
        <p:spPr>
          <a:xfrm>
            <a:off x="43543" y="0"/>
            <a:ext cx="9100457" cy="6879771"/>
          </a:xfrm>
          <a:prstGeom prst="rect">
            <a:avLst/>
          </a:prstGeom>
        </p:spPr>
      </p:pic>
      <p:sp>
        <p:nvSpPr>
          <p:cNvPr id="2" name="Title Placeholder 1"/>
          <p:cNvSpPr>
            <a:spLocks noGrp="1"/>
          </p:cNvSpPr>
          <p:nvPr>
            <p:ph type="title"/>
          </p:nvPr>
        </p:nvSpPr>
        <p:spPr>
          <a:xfrm>
            <a:off x="762000" y="274638"/>
            <a:ext cx="8077200" cy="1143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762000" y="1600200"/>
            <a:ext cx="80772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20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57B281C-5159-4971-8228-52B9A72E9ED2}" type="datetimeFigureOut">
              <a:rPr lang="en-US" smtClean="0"/>
              <a:pPr/>
              <a:t>12/4/2023</a:t>
            </a:fld>
            <a:endParaRPr lang="en-US" dirty="0"/>
          </a:p>
        </p:txBody>
      </p:sp>
      <p:sp>
        <p:nvSpPr>
          <p:cNvPr id="5" name="Footer Placeholder 4"/>
          <p:cNvSpPr>
            <a:spLocks noGrp="1"/>
          </p:cNvSpPr>
          <p:nvPr>
            <p:ph type="ftr" sz="quarter" idx="3"/>
          </p:nvPr>
        </p:nvSpPr>
        <p:spPr>
          <a:xfrm>
            <a:off x="33528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7056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D6E5A2-EC83-451F-A719-9AC1370DD5CF}" type="slidenum">
              <a:rPr lang="en-US" smtClean="0"/>
              <a:pPr/>
              <a:t>‹#›</a:t>
            </a:fld>
            <a:endParaRPr lang="en-US" dirty="0"/>
          </a:p>
        </p:txBody>
      </p:sp>
      <p:pic>
        <p:nvPicPr>
          <p:cNvPr id="8" name="Picture 7"/>
          <p:cNvPicPr>
            <a:picLocks noChangeAspect="1"/>
          </p:cNvPicPr>
          <p:nvPr/>
        </p:nvPicPr>
        <p:blipFill rotWithShape="1">
          <a:blip r:embed="rId16" cstate="email">
            <a:extLst>
              <a:ext uri="{28A0092B-C50C-407E-A947-70E740481C1C}">
                <a14:useLocalDpi xmlns:a14="http://schemas.microsoft.com/office/drawing/2010/main"/>
              </a:ext>
            </a:extLst>
          </a:blip>
          <a:srcRect/>
          <a:stretch/>
        </p:blipFill>
        <p:spPr>
          <a:xfrm>
            <a:off x="-152400" y="-109183"/>
            <a:ext cx="818707" cy="7083189"/>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1" r:id="rId2"/>
    <p:sldLayoutId id="2147483650" r:id="rId3"/>
    <p:sldLayoutId id="2147483652" r:id="rId4"/>
    <p:sldLayoutId id="2147483653" r:id="rId5"/>
    <p:sldLayoutId id="2147483656" r:id="rId6"/>
    <p:sldLayoutId id="2147483657" r:id="rId7"/>
    <p:sldLayoutId id="2147483658" r:id="rId8"/>
    <p:sldLayoutId id="2147483659" r:id="rId9"/>
    <p:sldLayoutId id="2147483654" r:id="rId10"/>
    <p:sldLayoutId id="2147483655" r:id="rId11"/>
    <p:sldLayoutId id="2147483663" r:id="rId12"/>
    <p:sldLayoutId id="2147483664" r:id="rId13"/>
  </p:sldLayoutIdLst>
  <p:transition spd="slow">
    <p:wipe dir="d"/>
  </p:transition>
  <p:txStyles>
    <p:titleStyle>
      <a:lvl1pPr algn="l" defTabSz="914400" rtl="0" eaLnBrk="1" latinLnBrk="0" hangingPunct="1">
        <a:spcBef>
          <a:spcPct val="0"/>
        </a:spcBef>
        <a:buNone/>
        <a:defRPr lang="en-US" sz="4400" kern="1200" dirty="0" smtClean="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 Id="rId5" Type="http://schemas.openxmlformats.org/officeDocument/2006/relationships/notesSlide" Target="../notesSlides/notesSlide1.xml"/><Relationship Id="rId4"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5.png"/><Relationship Id="rId2" Type="http://schemas.openxmlformats.org/officeDocument/2006/relationships/package" Target="../embeddings/Microsoft_Word_Document.docx"/><Relationship Id="rId1" Type="http://schemas.openxmlformats.org/officeDocument/2006/relationships/slideLayout" Target="../slideLayouts/slideLayout13.xml"/><Relationship Id="rId6" Type="http://schemas.openxmlformats.org/officeDocument/2006/relationships/package" Target="../embeddings/Microsoft_Word_Document2.docx"/><Relationship Id="rId5" Type="http://schemas.openxmlformats.org/officeDocument/2006/relationships/image" Target="../media/image14.png"/><Relationship Id="rId4" Type="http://schemas.openxmlformats.org/officeDocument/2006/relationships/package" Target="../embeddings/Microsoft_Word_Document1.docx"/></Relationships>
</file>

<file path=ppt/slides/_rels/slide11.xml.rels><?xml version="1.0" encoding="UTF-8" standalone="yes"?>
<Relationships xmlns="http://schemas.openxmlformats.org/package/2006/relationships"><Relationship Id="rId2" Type="http://schemas.openxmlformats.org/officeDocument/2006/relationships/image" Target="../media/image160.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package" Target="../embeddings/Microsoft_Word_Document3.docx"/><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image" Target="../media/image181.pn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90.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210.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1.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310.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6.png"/><Relationship Id="rId1" Type="http://schemas.openxmlformats.org/officeDocument/2006/relationships/slideLayout" Target="../slideLayouts/slideLayout11.xml"/><Relationship Id="rId4" Type="http://schemas.openxmlformats.org/officeDocument/2006/relationships/image" Target="../media/image29.png"/></Relationships>
</file>

<file path=ppt/slides/_rels/slide2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11.xml"/></Relationships>
</file>

<file path=ppt/slides/_rels/slide33.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1.xml"/></Relationships>
</file>

<file path=ppt/slides/_rels/slide34.xml.rels><?xml version="1.0" encoding="UTF-8" standalone="yes"?>
<Relationships xmlns="http://schemas.openxmlformats.org/package/2006/relationships"><Relationship Id="rId3" Type="http://schemas.openxmlformats.org/officeDocument/2006/relationships/image" Target="../media/image39.emf"/><Relationship Id="rId2" Type="http://schemas.openxmlformats.org/officeDocument/2006/relationships/oleObject" Target="../embeddings/oleObject1.bin"/><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46.png"/><Relationship Id="rId1" Type="http://schemas.openxmlformats.org/officeDocument/2006/relationships/slideLayout" Target="../slideLayouts/slideLayout3.xml"/><Relationship Id="rId5" Type="http://schemas.openxmlformats.org/officeDocument/2006/relationships/image" Target="../media/image40.emf"/><Relationship Id="rId4" Type="http://schemas.openxmlformats.org/officeDocument/2006/relationships/package" Target="../embeddings/Microsoft_Word_Document4.docx"/></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11.xml"/></Relationships>
</file>

<file path=ppt/slides/_rels/slide3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3.png"/><Relationship Id="rId1" Type="http://schemas.openxmlformats.org/officeDocument/2006/relationships/slideLayout" Target="../slideLayouts/slideLayout11.xml"/><Relationship Id="rId5" Type="http://schemas.openxmlformats.org/officeDocument/2006/relationships/image" Target="../media/image48.png"/><Relationship Id="rId4" Type="http://schemas.openxmlformats.org/officeDocument/2006/relationships/image" Target="../media/image47.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custDataLst>
              <p:tags r:id="rId2"/>
            </p:custDataLst>
          </p:nvPr>
        </p:nvSpPr>
        <p:spPr>
          <a:xfrm>
            <a:off x="1905000" y="1752600"/>
            <a:ext cx="6934200" cy="1470025"/>
          </a:xfrm>
        </p:spPr>
        <p:txBody>
          <a:bodyPr>
            <a:noAutofit/>
          </a:bodyPr>
          <a:lstStyle/>
          <a:p>
            <a:pPr algn="ctr"/>
            <a:r>
              <a:rPr lang="en-US" sz="5400" dirty="0"/>
              <a:t>Multiple Linear regression</a:t>
            </a:r>
          </a:p>
        </p:txBody>
      </p:sp>
      <p:sp>
        <p:nvSpPr>
          <p:cNvPr id="3" name="Subtitle 2"/>
          <p:cNvSpPr>
            <a:spLocks noGrp="1"/>
          </p:cNvSpPr>
          <p:nvPr>
            <p:ph type="subTitle" idx="1"/>
            <p:custDataLst>
              <p:tags r:id="rId3"/>
            </p:custDataLst>
          </p:nvPr>
        </p:nvSpPr>
        <p:spPr>
          <a:xfrm>
            <a:off x="3048000" y="4038600"/>
            <a:ext cx="4772528" cy="990600"/>
          </a:xfrm>
        </p:spPr>
        <p:txBody>
          <a:bodyPr>
            <a:normAutofit/>
          </a:bodyPr>
          <a:lstStyle/>
          <a:p>
            <a:pPr algn="ctr"/>
            <a:endParaRPr lang="en-US" sz="2400" dirty="0">
              <a:latin typeface="+mn-lt"/>
            </a:endParaRPr>
          </a:p>
        </p:txBody>
      </p:sp>
    </p:spTree>
    <p:custDataLst>
      <p:tags r:id="rId1"/>
    </p:custDataLst>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23900" y="2209800"/>
            <a:ext cx="4267200" cy="4770537"/>
          </a:xfrm>
          <a:prstGeom prst="rect">
            <a:avLst/>
          </a:prstGeom>
          <a:noFill/>
        </p:spPr>
        <p:txBody>
          <a:bodyPr wrap="square" rtlCol="0">
            <a:spAutoFit/>
          </a:bodyPr>
          <a:lstStyle/>
          <a:p>
            <a:r>
              <a:rPr lang="en-US" sz="2600" i="1" dirty="0">
                <a:solidFill>
                  <a:schemeClr val="accent5">
                    <a:lumMod val="50000"/>
                  </a:schemeClr>
                </a:solidFill>
              </a:rPr>
              <a:t>The data contain salary of 68 NBA players for their 2016 contracts and some key statistics associated with each of these players including assists per game (APG), points per game (PPG), rebounds per game (RPG), and steals per game (SPG). Denote the four predictors by X1, X2, X3, X4. Let Y be the log(Salary).</a:t>
            </a:r>
            <a:endParaRPr lang="en-HK" sz="2600" dirty="0">
              <a:solidFill>
                <a:schemeClr val="accent5">
                  <a:lumMod val="50000"/>
                </a:schemeClr>
              </a:solidFill>
            </a:endParaRPr>
          </a:p>
          <a:p>
            <a:endParaRPr lang="en-US" dirty="0"/>
          </a:p>
        </p:txBody>
      </p:sp>
      <p:sp>
        <p:nvSpPr>
          <p:cNvPr id="2" name="Title 1"/>
          <p:cNvSpPr>
            <a:spLocks noGrp="1"/>
          </p:cNvSpPr>
          <p:nvPr>
            <p:ph type="title"/>
          </p:nvPr>
        </p:nvSpPr>
        <p:spPr>
          <a:xfrm>
            <a:off x="685800" y="914400"/>
            <a:ext cx="8610600" cy="548640"/>
          </a:xfrm>
        </p:spPr>
        <p:txBody>
          <a:bodyPr/>
          <a:lstStyle/>
          <a:p>
            <a:pPr algn="l"/>
            <a:br>
              <a:rPr lang="en-US" sz="3600" dirty="0">
                <a:solidFill>
                  <a:schemeClr val="tx1">
                    <a:lumMod val="50000"/>
                  </a:schemeClr>
                </a:solidFill>
              </a:rPr>
            </a:br>
            <a:r>
              <a:rPr lang="en-US" sz="4000" dirty="0">
                <a:solidFill>
                  <a:schemeClr val="tx1">
                    <a:lumMod val="50000"/>
                  </a:schemeClr>
                </a:solidFill>
                <a:latin typeface="+mj-lt"/>
              </a:rPr>
              <a:t>Example</a:t>
            </a:r>
            <a:r>
              <a:rPr lang="en-US" sz="3600" dirty="0">
                <a:solidFill>
                  <a:schemeClr val="tx1">
                    <a:lumMod val="50000"/>
                  </a:schemeClr>
                </a:solidFill>
              </a:rPr>
              <a:t>: What determine an NBA player’s salary?</a:t>
            </a:r>
          </a:p>
        </p:txBody>
      </p:sp>
      <p:pic>
        <p:nvPicPr>
          <p:cNvPr id="6" name="Picture 5"/>
          <p:cNvPicPr>
            <a:picLocks noChangeAspect="1"/>
          </p:cNvPicPr>
          <p:nvPr/>
        </p:nvPicPr>
        <p:blipFill>
          <a:blip r:embed="rId2">
            <a:alphaModFix amt="60000"/>
          </a:blip>
          <a:stretch>
            <a:fillRect/>
          </a:stretch>
        </p:blipFill>
        <p:spPr>
          <a:xfrm>
            <a:off x="5105400" y="2362200"/>
            <a:ext cx="3803534" cy="4216778"/>
          </a:xfrm>
          <a:prstGeom prst="rect">
            <a:avLst/>
          </a:prstGeom>
        </p:spPr>
      </p:pic>
    </p:spTree>
    <p:extLst>
      <p:ext uri="{BB962C8B-B14F-4D97-AF65-F5344CB8AC3E}">
        <p14:creationId xmlns:p14="http://schemas.microsoft.com/office/powerpoint/2010/main" val="24583890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990600" y="381000"/>
            <a:ext cx="7564125" cy="5943600"/>
          </a:xfrm>
          <a:prstGeom prst="rect">
            <a:avLst/>
          </a:prstGeom>
        </p:spPr>
      </p:pic>
    </p:spTree>
    <p:extLst>
      <p:ext uri="{BB962C8B-B14F-4D97-AF65-F5344CB8AC3E}">
        <p14:creationId xmlns:p14="http://schemas.microsoft.com/office/powerpoint/2010/main" val="2947843575"/>
      </p:ext>
    </p:extLst>
  </p:cSld>
  <p:clrMapOvr>
    <a:masterClrMapping/>
  </p:clrMapOvr>
  <p:transition spd="slow">
    <p:wipe dir="d"/>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Model Formulation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762000" y="1596413"/>
                <a:ext cx="8077200" cy="5261587"/>
              </a:xfrm>
            </p:spPr>
            <p:txBody>
              <a:bodyPr>
                <a:normAutofit/>
              </a:bodyPr>
              <a:lstStyle/>
              <a:p>
                <a:r>
                  <a:rPr lang="en-US" dirty="0"/>
                  <a:t>The multiple linear regression model is:</a:t>
                </a:r>
              </a:p>
              <a:p>
                <a:pPr marL="0" indent="0">
                  <a:buNone/>
                </a:pPr>
                <a14:m>
                  <m:oMathPara xmlns:m="http://schemas.openxmlformats.org/officeDocument/2006/math">
                    <m:oMathParaPr>
                      <m:jc m:val="centerGroup"/>
                    </m:oMathParaPr>
                    <m:oMath xmlns:m="http://schemas.openxmlformats.org/officeDocument/2006/math">
                      <m:sSub>
                        <m:sSubPr>
                          <m:ctrlPr>
                            <a:rPr lang="en-US" sz="2600" b="0" i="1" smtClean="0">
                              <a:solidFill>
                                <a:schemeClr val="accent6">
                                  <a:lumMod val="50000"/>
                                </a:schemeClr>
                              </a:solidFill>
                              <a:latin typeface="Cambria Math" panose="02040503050406030204" pitchFamily="18" charset="0"/>
                            </a:rPr>
                          </m:ctrlPr>
                        </m:sSubPr>
                        <m:e>
                          <m:r>
                            <a:rPr lang="en-US" sz="2600" b="0" i="1" smtClean="0">
                              <a:solidFill>
                                <a:schemeClr val="accent6">
                                  <a:lumMod val="50000"/>
                                </a:schemeClr>
                              </a:solidFill>
                              <a:latin typeface="Cambria Math" panose="02040503050406030204" pitchFamily="18" charset="0"/>
                            </a:rPr>
                            <m:t>𝑌</m:t>
                          </m:r>
                        </m:e>
                        <m:sub>
                          <m:r>
                            <a:rPr lang="en-US" sz="2600" b="0" i="1" smtClean="0">
                              <a:solidFill>
                                <a:schemeClr val="accent6">
                                  <a:lumMod val="50000"/>
                                </a:schemeClr>
                              </a:solidFill>
                              <a:latin typeface="Cambria Math" panose="02040503050406030204" pitchFamily="18" charset="0"/>
                            </a:rPr>
                            <m:t>𝑖</m:t>
                          </m:r>
                        </m:sub>
                      </m:sSub>
                      <m:r>
                        <a:rPr lang="en-US" sz="2600" b="0" i="1" smtClean="0">
                          <a:solidFill>
                            <a:schemeClr val="accent6">
                              <a:lumMod val="50000"/>
                            </a:schemeClr>
                          </a:solidFill>
                          <a:latin typeface="Cambria Math" panose="02040503050406030204" pitchFamily="18" charset="0"/>
                        </a:rPr>
                        <m:t>=</m:t>
                      </m:r>
                      <m:sSub>
                        <m:sSubPr>
                          <m:ctrlPr>
                            <a:rPr lang="en-US" sz="2600" i="1">
                              <a:solidFill>
                                <a:schemeClr val="accent6">
                                  <a:lumMod val="50000"/>
                                </a:schemeClr>
                              </a:solidFill>
                              <a:latin typeface="Cambria Math" panose="02040503050406030204" pitchFamily="18" charset="0"/>
                            </a:rPr>
                          </m:ctrlPr>
                        </m:sSubPr>
                        <m:e>
                          <m:r>
                            <a:rPr lang="en-US" sz="2600" i="1">
                              <a:solidFill>
                                <a:schemeClr val="accent6">
                                  <a:lumMod val="50000"/>
                                </a:schemeClr>
                              </a:solidFill>
                              <a:latin typeface="Cambria Math" panose="02040503050406030204" pitchFamily="18" charset="0"/>
                            </a:rPr>
                            <m:t>𝛽</m:t>
                          </m:r>
                        </m:e>
                        <m:sub>
                          <m:r>
                            <a:rPr lang="en-US" sz="2600" i="1">
                              <a:solidFill>
                                <a:schemeClr val="accent6">
                                  <a:lumMod val="50000"/>
                                </a:schemeClr>
                              </a:solidFill>
                              <a:latin typeface="Cambria Math" panose="02040503050406030204" pitchFamily="18" charset="0"/>
                            </a:rPr>
                            <m:t>0</m:t>
                          </m:r>
                        </m:sub>
                      </m:sSub>
                      <m:r>
                        <a:rPr lang="en-US" sz="2600" i="1">
                          <a:solidFill>
                            <a:schemeClr val="accent6">
                              <a:lumMod val="50000"/>
                            </a:schemeClr>
                          </a:solidFill>
                          <a:latin typeface="Cambria Math" panose="02040503050406030204" pitchFamily="18" charset="0"/>
                        </a:rPr>
                        <m:t>+</m:t>
                      </m:r>
                      <m:sSub>
                        <m:sSubPr>
                          <m:ctrlPr>
                            <a:rPr lang="en-US" sz="2600" i="1">
                              <a:solidFill>
                                <a:schemeClr val="accent6">
                                  <a:lumMod val="50000"/>
                                </a:schemeClr>
                              </a:solidFill>
                              <a:latin typeface="Cambria Math" panose="02040503050406030204" pitchFamily="18" charset="0"/>
                            </a:rPr>
                          </m:ctrlPr>
                        </m:sSubPr>
                        <m:e>
                          <m:r>
                            <a:rPr lang="en-US" sz="2600" i="1">
                              <a:solidFill>
                                <a:schemeClr val="accent6">
                                  <a:lumMod val="50000"/>
                                </a:schemeClr>
                              </a:solidFill>
                              <a:latin typeface="Cambria Math" panose="02040503050406030204" pitchFamily="18" charset="0"/>
                            </a:rPr>
                            <m:t>𝛽</m:t>
                          </m:r>
                        </m:e>
                        <m:sub>
                          <m:r>
                            <a:rPr lang="en-US" sz="2600" i="1">
                              <a:solidFill>
                                <a:schemeClr val="accent6">
                                  <a:lumMod val="50000"/>
                                </a:schemeClr>
                              </a:solidFill>
                              <a:latin typeface="Cambria Math" panose="02040503050406030204" pitchFamily="18" charset="0"/>
                            </a:rPr>
                            <m:t>1</m:t>
                          </m:r>
                        </m:sub>
                      </m:sSub>
                      <m:r>
                        <a:rPr lang="en-US" sz="2600" i="1">
                          <a:solidFill>
                            <a:schemeClr val="accent6">
                              <a:lumMod val="50000"/>
                            </a:schemeClr>
                          </a:solidFill>
                          <a:latin typeface="Cambria Math" panose="02040503050406030204" pitchFamily="18" charset="0"/>
                        </a:rPr>
                        <m:t>𝑋</m:t>
                      </m:r>
                      <m:sSub>
                        <m:sSubPr>
                          <m:ctrlPr>
                            <a:rPr lang="en-US" sz="2600" i="1">
                              <a:solidFill>
                                <a:schemeClr val="accent6">
                                  <a:lumMod val="50000"/>
                                </a:schemeClr>
                              </a:solidFill>
                              <a:latin typeface="Cambria Math" panose="02040503050406030204" pitchFamily="18" charset="0"/>
                            </a:rPr>
                          </m:ctrlPr>
                        </m:sSubPr>
                        <m:e>
                          <m:r>
                            <a:rPr lang="en-US" sz="2600" i="1">
                              <a:solidFill>
                                <a:schemeClr val="accent6">
                                  <a:lumMod val="50000"/>
                                </a:schemeClr>
                              </a:solidFill>
                              <a:latin typeface="Cambria Math" panose="02040503050406030204" pitchFamily="18" charset="0"/>
                            </a:rPr>
                            <m:t>1</m:t>
                          </m:r>
                        </m:e>
                        <m:sub>
                          <m:r>
                            <a:rPr lang="en-US" sz="2600" i="1">
                              <a:solidFill>
                                <a:schemeClr val="accent6">
                                  <a:lumMod val="50000"/>
                                </a:schemeClr>
                              </a:solidFill>
                              <a:latin typeface="Cambria Math" panose="02040503050406030204" pitchFamily="18" charset="0"/>
                            </a:rPr>
                            <m:t>𝑖</m:t>
                          </m:r>
                        </m:sub>
                      </m:sSub>
                      <m:r>
                        <a:rPr lang="en-US" sz="2600" i="1">
                          <a:solidFill>
                            <a:schemeClr val="accent6">
                              <a:lumMod val="50000"/>
                            </a:schemeClr>
                          </a:solidFill>
                          <a:latin typeface="Cambria Math" panose="02040503050406030204" pitchFamily="18" charset="0"/>
                        </a:rPr>
                        <m:t>+</m:t>
                      </m:r>
                      <m:sSub>
                        <m:sSubPr>
                          <m:ctrlPr>
                            <a:rPr lang="en-US" sz="2600" i="1">
                              <a:solidFill>
                                <a:schemeClr val="accent6">
                                  <a:lumMod val="50000"/>
                                </a:schemeClr>
                              </a:solidFill>
                              <a:latin typeface="Cambria Math" panose="02040503050406030204" pitchFamily="18" charset="0"/>
                            </a:rPr>
                          </m:ctrlPr>
                        </m:sSubPr>
                        <m:e>
                          <m:r>
                            <a:rPr lang="en-US" sz="2600" i="1">
                              <a:solidFill>
                                <a:schemeClr val="accent6">
                                  <a:lumMod val="50000"/>
                                </a:schemeClr>
                              </a:solidFill>
                              <a:latin typeface="Cambria Math" panose="02040503050406030204" pitchFamily="18" charset="0"/>
                            </a:rPr>
                            <m:t>𝛽</m:t>
                          </m:r>
                        </m:e>
                        <m:sub>
                          <m:r>
                            <a:rPr lang="en-US" sz="2600" i="1">
                              <a:solidFill>
                                <a:schemeClr val="accent6">
                                  <a:lumMod val="50000"/>
                                </a:schemeClr>
                              </a:solidFill>
                              <a:latin typeface="Cambria Math" panose="02040503050406030204" pitchFamily="18" charset="0"/>
                            </a:rPr>
                            <m:t>2</m:t>
                          </m:r>
                        </m:sub>
                      </m:sSub>
                      <m:r>
                        <a:rPr lang="en-US" sz="2600" i="1">
                          <a:solidFill>
                            <a:schemeClr val="accent6">
                              <a:lumMod val="50000"/>
                            </a:schemeClr>
                          </a:solidFill>
                          <a:latin typeface="Cambria Math" panose="02040503050406030204" pitchFamily="18" charset="0"/>
                        </a:rPr>
                        <m:t>𝑋</m:t>
                      </m:r>
                      <m:sSub>
                        <m:sSubPr>
                          <m:ctrlPr>
                            <a:rPr lang="en-US" sz="2600" i="1">
                              <a:solidFill>
                                <a:schemeClr val="accent6">
                                  <a:lumMod val="50000"/>
                                </a:schemeClr>
                              </a:solidFill>
                              <a:latin typeface="Cambria Math" panose="02040503050406030204" pitchFamily="18" charset="0"/>
                            </a:rPr>
                          </m:ctrlPr>
                        </m:sSubPr>
                        <m:e>
                          <m:r>
                            <a:rPr lang="en-US" sz="2600" i="1">
                              <a:solidFill>
                                <a:schemeClr val="accent6">
                                  <a:lumMod val="50000"/>
                                </a:schemeClr>
                              </a:solidFill>
                              <a:latin typeface="Cambria Math" panose="02040503050406030204" pitchFamily="18" charset="0"/>
                            </a:rPr>
                            <m:t>2</m:t>
                          </m:r>
                        </m:e>
                        <m:sub>
                          <m:r>
                            <a:rPr lang="en-US" sz="2600" i="1">
                              <a:solidFill>
                                <a:schemeClr val="accent6">
                                  <a:lumMod val="50000"/>
                                </a:schemeClr>
                              </a:solidFill>
                              <a:latin typeface="Cambria Math" panose="02040503050406030204" pitchFamily="18" charset="0"/>
                            </a:rPr>
                            <m:t>𝑖</m:t>
                          </m:r>
                        </m:sub>
                      </m:sSub>
                      <m:r>
                        <a:rPr lang="en-US" sz="2600" i="1">
                          <a:solidFill>
                            <a:schemeClr val="accent6">
                              <a:lumMod val="50000"/>
                            </a:schemeClr>
                          </a:solidFill>
                          <a:latin typeface="Cambria Math" panose="02040503050406030204" pitchFamily="18" charset="0"/>
                        </a:rPr>
                        <m:t>+</m:t>
                      </m:r>
                      <m:sSub>
                        <m:sSubPr>
                          <m:ctrlPr>
                            <a:rPr lang="en-US" sz="2600" i="1">
                              <a:solidFill>
                                <a:schemeClr val="accent6">
                                  <a:lumMod val="50000"/>
                                </a:schemeClr>
                              </a:solidFill>
                              <a:latin typeface="Cambria Math" panose="02040503050406030204" pitchFamily="18" charset="0"/>
                            </a:rPr>
                          </m:ctrlPr>
                        </m:sSubPr>
                        <m:e>
                          <m:r>
                            <a:rPr lang="en-US" sz="2600" i="1">
                              <a:solidFill>
                                <a:schemeClr val="accent6">
                                  <a:lumMod val="50000"/>
                                </a:schemeClr>
                              </a:solidFill>
                              <a:latin typeface="Cambria Math" panose="02040503050406030204" pitchFamily="18" charset="0"/>
                            </a:rPr>
                            <m:t>𝛽</m:t>
                          </m:r>
                        </m:e>
                        <m:sub>
                          <m:r>
                            <a:rPr lang="en-US" sz="2600" i="1">
                              <a:solidFill>
                                <a:schemeClr val="accent6">
                                  <a:lumMod val="50000"/>
                                </a:schemeClr>
                              </a:solidFill>
                              <a:latin typeface="Cambria Math" panose="02040503050406030204" pitchFamily="18" charset="0"/>
                            </a:rPr>
                            <m:t>3</m:t>
                          </m:r>
                        </m:sub>
                      </m:sSub>
                      <m:r>
                        <a:rPr lang="en-US" sz="2600" i="1">
                          <a:solidFill>
                            <a:schemeClr val="accent6">
                              <a:lumMod val="50000"/>
                            </a:schemeClr>
                          </a:solidFill>
                          <a:latin typeface="Cambria Math" panose="02040503050406030204" pitchFamily="18" charset="0"/>
                        </a:rPr>
                        <m:t>𝑋</m:t>
                      </m:r>
                      <m:sSub>
                        <m:sSubPr>
                          <m:ctrlPr>
                            <a:rPr lang="en-US" sz="2600" i="1">
                              <a:solidFill>
                                <a:schemeClr val="accent6">
                                  <a:lumMod val="50000"/>
                                </a:schemeClr>
                              </a:solidFill>
                              <a:latin typeface="Cambria Math" panose="02040503050406030204" pitchFamily="18" charset="0"/>
                            </a:rPr>
                          </m:ctrlPr>
                        </m:sSubPr>
                        <m:e>
                          <m:r>
                            <a:rPr lang="en-US" sz="2600" i="1">
                              <a:solidFill>
                                <a:schemeClr val="accent6">
                                  <a:lumMod val="50000"/>
                                </a:schemeClr>
                              </a:solidFill>
                              <a:latin typeface="Cambria Math" panose="02040503050406030204" pitchFamily="18" charset="0"/>
                            </a:rPr>
                            <m:t>3</m:t>
                          </m:r>
                        </m:e>
                        <m:sub>
                          <m:r>
                            <a:rPr lang="en-US" sz="2600" i="1">
                              <a:solidFill>
                                <a:schemeClr val="accent6">
                                  <a:lumMod val="50000"/>
                                </a:schemeClr>
                              </a:solidFill>
                              <a:latin typeface="Cambria Math" panose="02040503050406030204" pitchFamily="18" charset="0"/>
                            </a:rPr>
                            <m:t>𝑖</m:t>
                          </m:r>
                        </m:sub>
                      </m:sSub>
                      <m:r>
                        <a:rPr lang="en-US" sz="2600" i="1">
                          <a:solidFill>
                            <a:schemeClr val="accent6">
                              <a:lumMod val="50000"/>
                            </a:schemeClr>
                          </a:solidFill>
                          <a:latin typeface="Cambria Math" panose="02040503050406030204" pitchFamily="18" charset="0"/>
                        </a:rPr>
                        <m:t>+</m:t>
                      </m:r>
                      <m:sSub>
                        <m:sSubPr>
                          <m:ctrlPr>
                            <a:rPr lang="en-US" sz="2600" i="1">
                              <a:solidFill>
                                <a:schemeClr val="accent6">
                                  <a:lumMod val="50000"/>
                                </a:schemeClr>
                              </a:solidFill>
                              <a:latin typeface="Cambria Math" panose="02040503050406030204" pitchFamily="18" charset="0"/>
                            </a:rPr>
                          </m:ctrlPr>
                        </m:sSubPr>
                        <m:e>
                          <m:r>
                            <a:rPr lang="en-US" sz="2600" i="1">
                              <a:solidFill>
                                <a:schemeClr val="accent6">
                                  <a:lumMod val="50000"/>
                                </a:schemeClr>
                              </a:solidFill>
                              <a:latin typeface="Cambria Math" panose="02040503050406030204" pitchFamily="18" charset="0"/>
                            </a:rPr>
                            <m:t>𝛽</m:t>
                          </m:r>
                        </m:e>
                        <m:sub>
                          <m:r>
                            <a:rPr lang="en-US" sz="2600" i="1">
                              <a:solidFill>
                                <a:schemeClr val="accent6">
                                  <a:lumMod val="50000"/>
                                </a:schemeClr>
                              </a:solidFill>
                              <a:latin typeface="Cambria Math" panose="02040503050406030204" pitchFamily="18" charset="0"/>
                            </a:rPr>
                            <m:t>4</m:t>
                          </m:r>
                        </m:sub>
                      </m:sSub>
                      <m:r>
                        <a:rPr lang="en-US" sz="2600" i="1">
                          <a:solidFill>
                            <a:schemeClr val="accent6">
                              <a:lumMod val="50000"/>
                            </a:schemeClr>
                          </a:solidFill>
                          <a:latin typeface="Cambria Math" panose="02040503050406030204" pitchFamily="18" charset="0"/>
                        </a:rPr>
                        <m:t>𝑋</m:t>
                      </m:r>
                      <m:sSub>
                        <m:sSubPr>
                          <m:ctrlPr>
                            <a:rPr lang="en-US" sz="2600" i="1">
                              <a:solidFill>
                                <a:schemeClr val="accent6">
                                  <a:lumMod val="50000"/>
                                </a:schemeClr>
                              </a:solidFill>
                              <a:latin typeface="Cambria Math" panose="02040503050406030204" pitchFamily="18" charset="0"/>
                            </a:rPr>
                          </m:ctrlPr>
                        </m:sSubPr>
                        <m:e>
                          <m:r>
                            <a:rPr lang="en-US" sz="2600" i="1">
                              <a:solidFill>
                                <a:schemeClr val="accent6">
                                  <a:lumMod val="50000"/>
                                </a:schemeClr>
                              </a:solidFill>
                              <a:latin typeface="Cambria Math" panose="02040503050406030204" pitchFamily="18" charset="0"/>
                            </a:rPr>
                            <m:t>4</m:t>
                          </m:r>
                        </m:e>
                        <m:sub>
                          <m:r>
                            <a:rPr lang="en-US" sz="2600" i="1">
                              <a:solidFill>
                                <a:schemeClr val="accent6">
                                  <a:lumMod val="50000"/>
                                </a:schemeClr>
                              </a:solidFill>
                              <a:latin typeface="Cambria Math" panose="02040503050406030204" pitchFamily="18" charset="0"/>
                            </a:rPr>
                            <m:t>𝑖</m:t>
                          </m:r>
                        </m:sub>
                      </m:sSub>
                      <m:r>
                        <a:rPr lang="en-US" sz="2600" b="0" i="1" smtClean="0">
                          <a:solidFill>
                            <a:schemeClr val="accent6">
                              <a:lumMod val="50000"/>
                            </a:schemeClr>
                          </a:solidFill>
                          <a:latin typeface="Cambria Math" panose="02040503050406030204" pitchFamily="18" charset="0"/>
                        </a:rPr>
                        <m:t>+</m:t>
                      </m:r>
                      <m:sSub>
                        <m:sSubPr>
                          <m:ctrlPr>
                            <a:rPr lang="en-US" sz="2600" b="0" i="1" smtClean="0">
                              <a:solidFill>
                                <a:schemeClr val="accent6">
                                  <a:lumMod val="50000"/>
                                </a:schemeClr>
                              </a:solidFill>
                              <a:latin typeface="Cambria Math" panose="02040503050406030204" pitchFamily="18" charset="0"/>
                            </a:rPr>
                          </m:ctrlPr>
                        </m:sSubPr>
                        <m:e>
                          <m:r>
                            <a:rPr lang="en-US" sz="2600" b="0" i="1" smtClean="0">
                              <a:solidFill>
                                <a:schemeClr val="accent6">
                                  <a:lumMod val="50000"/>
                                </a:schemeClr>
                              </a:solidFill>
                              <a:latin typeface="Cambria Math" panose="02040503050406030204" pitchFamily="18" charset="0"/>
                            </a:rPr>
                            <m:t>𝜀</m:t>
                          </m:r>
                        </m:e>
                        <m:sub>
                          <m:r>
                            <a:rPr lang="en-US" sz="2600" b="0" i="1" smtClean="0">
                              <a:solidFill>
                                <a:schemeClr val="accent6">
                                  <a:lumMod val="50000"/>
                                </a:schemeClr>
                              </a:solidFill>
                              <a:latin typeface="Cambria Math" panose="02040503050406030204" pitchFamily="18" charset="0"/>
                            </a:rPr>
                            <m:t>𝑖</m:t>
                          </m:r>
                        </m:sub>
                      </m:sSub>
                    </m:oMath>
                  </m:oMathPara>
                </a14:m>
                <a:endParaRPr lang="en-US" sz="2600" dirty="0">
                  <a:solidFill>
                    <a:schemeClr val="accent6">
                      <a:lumMod val="50000"/>
                    </a:schemeClr>
                  </a:solidFill>
                </a:endParaRPr>
              </a:p>
              <a:p>
                <a:pPr lvl="1" indent="-342900"/>
                <a14:m>
                  <m:oMath xmlns:m="http://schemas.openxmlformats.org/officeDocument/2006/math">
                    <m:sSub>
                      <m:sSubPr>
                        <m:ctrlPr>
                          <a:rPr lang="en-US" sz="2600" i="1">
                            <a:solidFill>
                              <a:schemeClr val="accent6">
                                <a:lumMod val="50000"/>
                              </a:schemeClr>
                            </a:solidFill>
                            <a:latin typeface="Cambria Math" panose="02040503050406030204" pitchFamily="18" charset="0"/>
                          </a:rPr>
                        </m:ctrlPr>
                      </m:sSubPr>
                      <m:e>
                        <m:r>
                          <a:rPr lang="en-US" sz="2600" b="0" i="1" smtClean="0">
                            <a:solidFill>
                              <a:schemeClr val="accent6">
                                <a:lumMod val="50000"/>
                              </a:schemeClr>
                            </a:solidFill>
                            <a:latin typeface="Cambria Math" panose="02040503050406030204" pitchFamily="18" charset="0"/>
                          </a:rPr>
                          <m:t>𝛽</m:t>
                        </m:r>
                      </m:e>
                      <m:sub>
                        <m:r>
                          <a:rPr lang="en-US" sz="2600" i="1">
                            <a:solidFill>
                              <a:schemeClr val="accent6">
                                <a:lumMod val="50000"/>
                              </a:schemeClr>
                            </a:solidFill>
                            <a:latin typeface="Cambria Math" panose="02040503050406030204" pitchFamily="18" charset="0"/>
                          </a:rPr>
                          <m:t>𝑖</m:t>
                        </m:r>
                      </m:sub>
                    </m:sSub>
                  </m:oMath>
                </a14:m>
                <a:r>
                  <a:rPr lang="en-US" sz="2600" dirty="0"/>
                  <a:t>’s are called partial regression coefficients</a:t>
                </a:r>
              </a:p>
              <a:p>
                <a:pPr lvl="1" indent="-342900"/>
                <a:endParaRPr lang="en-US" sz="800" dirty="0">
                  <a:solidFill>
                    <a:schemeClr val="accent6">
                      <a:lumMod val="50000"/>
                    </a:schemeClr>
                  </a:solidFill>
                </a:endParaRPr>
              </a:p>
              <a:p>
                <a:r>
                  <a:rPr lang="en-US" dirty="0"/>
                  <a:t>Model assumptions:</a:t>
                </a:r>
              </a:p>
              <a:p>
                <a:pPr lvl="1"/>
                <a14:m>
                  <m:oMath xmlns:m="http://schemas.openxmlformats.org/officeDocument/2006/math">
                    <m:r>
                      <a:rPr lang="en-US" sz="2600" i="1">
                        <a:solidFill>
                          <a:schemeClr val="accent6">
                            <a:lumMod val="50000"/>
                          </a:schemeClr>
                        </a:solidFill>
                        <a:latin typeface="Cambria Math" panose="02040503050406030204" pitchFamily="18" charset="0"/>
                      </a:rPr>
                      <m:t>𝐸</m:t>
                    </m:r>
                    <m:d>
                      <m:dPr>
                        <m:ctrlPr>
                          <a:rPr lang="en-US" sz="2600" i="1">
                            <a:solidFill>
                              <a:schemeClr val="accent6">
                                <a:lumMod val="50000"/>
                              </a:schemeClr>
                            </a:solidFill>
                            <a:latin typeface="Cambria Math" panose="02040503050406030204" pitchFamily="18" charset="0"/>
                          </a:rPr>
                        </m:ctrlPr>
                      </m:dPr>
                      <m:e>
                        <m:sSub>
                          <m:sSubPr>
                            <m:ctrlPr>
                              <a:rPr lang="en-US" sz="2600" i="1">
                                <a:solidFill>
                                  <a:schemeClr val="accent6">
                                    <a:lumMod val="50000"/>
                                  </a:schemeClr>
                                </a:solidFill>
                                <a:latin typeface="Cambria Math" panose="02040503050406030204" pitchFamily="18" charset="0"/>
                              </a:rPr>
                            </m:ctrlPr>
                          </m:sSubPr>
                          <m:e>
                            <m:r>
                              <a:rPr lang="en-US" sz="2600" i="1">
                                <a:solidFill>
                                  <a:schemeClr val="accent6">
                                    <a:lumMod val="50000"/>
                                  </a:schemeClr>
                                </a:solidFill>
                                <a:latin typeface="Cambria Math" panose="02040503050406030204" pitchFamily="18" charset="0"/>
                              </a:rPr>
                              <m:t>𝜀</m:t>
                            </m:r>
                          </m:e>
                          <m:sub>
                            <m:r>
                              <a:rPr lang="en-US" sz="2600" i="1">
                                <a:solidFill>
                                  <a:schemeClr val="accent6">
                                    <a:lumMod val="50000"/>
                                  </a:schemeClr>
                                </a:solidFill>
                                <a:latin typeface="Cambria Math" panose="02040503050406030204" pitchFamily="18" charset="0"/>
                              </a:rPr>
                              <m:t>𝑖</m:t>
                            </m:r>
                          </m:sub>
                        </m:sSub>
                      </m:e>
                    </m:d>
                    <m:r>
                      <a:rPr lang="en-US" sz="2600" i="1">
                        <a:solidFill>
                          <a:schemeClr val="accent6">
                            <a:lumMod val="50000"/>
                          </a:schemeClr>
                        </a:solidFill>
                        <a:latin typeface="Cambria Math" panose="02040503050406030204" pitchFamily="18" charset="0"/>
                      </a:rPr>
                      <m:t>=0</m:t>
                    </m:r>
                  </m:oMath>
                </a14:m>
                <a:endParaRPr lang="en-US" sz="2600" i="1" dirty="0">
                  <a:solidFill>
                    <a:schemeClr val="accent6">
                      <a:lumMod val="50000"/>
                    </a:schemeClr>
                  </a:solidFill>
                  <a:latin typeface="Cambria Math" panose="02040503050406030204" pitchFamily="18" charset="0"/>
                </a:endParaRPr>
              </a:p>
              <a:p>
                <a:pPr lvl="1"/>
                <a14:m>
                  <m:oMath xmlns:m="http://schemas.openxmlformats.org/officeDocument/2006/math">
                    <m:sSub>
                      <m:sSubPr>
                        <m:ctrlPr>
                          <a:rPr lang="en-US" sz="2600" i="1">
                            <a:solidFill>
                              <a:schemeClr val="accent6">
                                <a:lumMod val="50000"/>
                              </a:schemeClr>
                            </a:solidFill>
                            <a:latin typeface="Cambria Math" panose="02040503050406030204" pitchFamily="18" charset="0"/>
                          </a:rPr>
                        </m:ctrlPr>
                      </m:sSubPr>
                      <m:e>
                        <m:r>
                          <a:rPr lang="en-US" sz="2600" i="1">
                            <a:solidFill>
                              <a:schemeClr val="accent6">
                                <a:lumMod val="50000"/>
                              </a:schemeClr>
                            </a:solidFill>
                            <a:latin typeface="Cambria Math" panose="02040503050406030204" pitchFamily="18" charset="0"/>
                          </a:rPr>
                          <m:t>𝜀</m:t>
                        </m:r>
                      </m:e>
                      <m:sub>
                        <m:r>
                          <a:rPr lang="en-US" sz="2600" i="1">
                            <a:solidFill>
                              <a:schemeClr val="accent6">
                                <a:lumMod val="50000"/>
                              </a:schemeClr>
                            </a:solidFill>
                            <a:latin typeface="Cambria Math" panose="02040503050406030204" pitchFamily="18" charset="0"/>
                          </a:rPr>
                          <m:t>𝑖</m:t>
                        </m:r>
                      </m:sub>
                    </m:sSub>
                  </m:oMath>
                </a14:m>
                <a:r>
                  <a:rPr lang="en-US" sz="2600" dirty="0"/>
                  <a:t>’s have constant variance, i.e., </a:t>
                </a:r>
                <a14:m>
                  <m:oMath xmlns:m="http://schemas.openxmlformats.org/officeDocument/2006/math">
                    <m:r>
                      <a:rPr lang="en-US" sz="2600" i="1">
                        <a:solidFill>
                          <a:schemeClr val="accent6">
                            <a:lumMod val="50000"/>
                          </a:schemeClr>
                        </a:solidFill>
                        <a:latin typeface="Cambria Math" panose="02040503050406030204" pitchFamily="18" charset="0"/>
                      </a:rPr>
                      <m:t>𝑉𝑎𝑟</m:t>
                    </m:r>
                    <m:d>
                      <m:dPr>
                        <m:ctrlPr>
                          <a:rPr lang="en-US" sz="2600" i="1">
                            <a:solidFill>
                              <a:schemeClr val="accent6">
                                <a:lumMod val="50000"/>
                              </a:schemeClr>
                            </a:solidFill>
                            <a:latin typeface="Cambria Math" panose="02040503050406030204" pitchFamily="18" charset="0"/>
                          </a:rPr>
                        </m:ctrlPr>
                      </m:dPr>
                      <m:e>
                        <m:sSub>
                          <m:sSubPr>
                            <m:ctrlPr>
                              <a:rPr lang="en-US" sz="2600" i="1">
                                <a:solidFill>
                                  <a:schemeClr val="accent6">
                                    <a:lumMod val="50000"/>
                                  </a:schemeClr>
                                </a:solidFill>
                                <a:latin typeface="Cambria Math" panose="02040503050406030204" pitchFamily="18" charset="0"/>
                              </a:rPr>
                            </m:ctrlPr>
                          </m:sSubPr>
                          <m:e>
                            <m:r>
                              <a:rPr lang="en-US" sz="2600" i="1">
                                <a:solidFill>
                                  <a:schemeClr val="accent6">
                                    <a:lumMod val="50000"/>
                                  </a:schemeClr>
                                </a:solidFill>
                                <a:latin typeface="Cambria Math" panose="02040503050406030204" pitchFamily="18" charset="0"/>
                              </a:rPr>
                              <m:t>𝜀</m:t>
                            </m:r>
                          </m:e>
                          <m:sub>
                            <m:r>
                              <a:rPr lang="en-US" sz="2600" i="1">
                                <a:solidFill>
                                  <a:schemeClr val="accent6">
                                    <a:lumMod val="50000"/>
                                  </a:schemeClr>
                                </a:solidFill>
                                <a:latin typeface="Cambria Math" panose="02040503050406030204" pitchFamily="18" charset="0"/>
                              </a:rPr>
                              <m:t>𝑖</m:t>
                            </m:r>
                          </m:sub>
                        </m:sSub>
                      </m:e>
                    </m:d>
                    <m:r>
                      <a:rPr lang="en-US" sz="2600" i="1">
                        <a:solidFill>
                          <a:schemeClr val="accent6">
                            <a:lumMod val="50000"/>
                          </a:schemeClr>
                        </a:solidFill>
                        <a:latin typeface="Cambria Math" panose="02040503050406030204" pitchFamily="18" charset="0"/>
                      </a:rPr>
                      <m:t>=</m:t>
                    </m:r>
                    <m:sSup>
                      <m:sSupPr>
                        <m:ctrlPr>
                          <a:rPr lang="en-US" sz="2600" i="1">
                            <a:solidFill>
                              <a:schemeClr val="accent6">
                                <a:lumMod val="50000"/>
                              </a:schemeClr>
                            </a:solidFill>
                            <a:latin typeface="Cambria Math" panose="02040503050406030204" pitchFamily="18" charset="0"/>
                          </a:rPr>
                        </m:ctrlPr>
                      </m:sSupPr>
                      <m:e>
                        <m:r>
                          <a:rPr lang="en-US" sz="2600" i="1">
                            <a:solidFill>
                              <a:schemeClr val="accent6">
                                <a:lumMod val="50000"/>
                              </a:schemeClr>
                            </a:solidFill>
                            <a:latin typeface="Cambria Math" panose="02040503050406030204" pitchFamily="18" charset="0"/>
                          </a:rPr>
                          <m:t>𝜎</m:t>
                        </m:r>
                      </m:e>
                      <m:sup>
                        <m:r>
                          <a:rPr lang="en-US" sz="2600" i="1">
                            <a:solidFill>
                              <a:schemeClr val="accent6">
                                <a:lumMod val="50000"/>
                              </a:schemeClr>
                            </a:solidFill>
                            <a:latin typeface="Cambria Math" panose="02040503050406030204" pitchFamily="18" charset="0"/>
                          </a:rPr>
                          <m:t>2</m:t>
                        </m:r>
                      </m:sup>
                    </m:sSup>
                  </m:oMath>
                </a14:m>
                <a:endParaRPr lang="en-US" sz="2600" i="1" dirty="0">
                  <a:solidFill>
                    <a:schemeClr val="accent6">
                      <a:lumMod val="50000"/>
                    </a:schemeClr>
                  </a:solidFill>
                  <a:latin typeface="Cambria Math" panose="02040503050406030204" pitchFamily="18" charset="0"/>
                </a:endParaRPr>
              </a:p>
              <a:p>
                <a:pPr lvl="1"/>
                <a14:m>
                  <m:oMath xmlns:m="http://schemas.openxmlformats.org/officeDocument/2006/math">
                    <m:sSub>
                      <m:sSubPr>
                        <m:ctrlPr>
                          <a:rPr lang="en-US" sz="2600" i="1">
                            <a:solidFill>
                              <a:schemeClr val="accent6">
                                <a:lumMod val="50000"/>
                              </a:schemeClr>
                            </a:solidFill>
                            <a:latin typeface="Cambria Math" panose="02040503050406030204" pitchFamily="18" charset="0"/>
                          </a:rPr>
                        </m:ctrlPr>
                      </m:sSubPr>
                      <m:e>
                        <m:r>
                          <a:rPr lang="en-US" sz="2600" i="1">
                            <a:solidFill>
                              <a:schemeClr val="accent6">
                                <a:lumMod val="50000"/>
                              </a:schemeClr>
                            </a:solidFill>
                            <a:latin typeface="Cambria Math" panose="02040503050406030204" pitchFamily="18" charset="0"/>
                          </a:rPr>
                          <m:t>𝜀</m:t>
                        </m:r>
                      </m:e>
                      <m:sub>
                        <m:r>
                          <a:rPr lang="en-US" sz="2600" i="1">
                            <a:solidFill>
                              <a:schemeClr val="accent6">
                                <a:lumMod val="50000"/>
                              </a:schemeClr>
                            </a:solidFill>
                            <a:latin typeface="Cambria Math" panose="02040503050406030204" pitchFamily="18" charset="0"/>
                          </a:rPr>
                          <m:t>𝑖</m:t>
                        </m:r>
                      </m:sub>
                    </m:sSub>
                  </m:oMath>
                </a14:m>
                <a:r>
                  <a:rPr lang="en-US" sz="2600" dirty="0"/>
                  <a:t>’s are independent and normally distributed</a:t>
                </a:r>
              </a:p>
              <a:p>
                <a:pPr lvl="1"/>
                <a:endParaRPr lang="en-US" sz="800" dirty="0"/>
              </a:p>
              <a:p>
                <a:r>
                  <a:rPr lang="en-US" dirty="0"/>
                  <a:t>The above assumptions imply that </a:t>
                </a:r>
              </a:p>
              <a:p>
                <a:pPr marL="0" indent="0">
                  <a:buNone/>
                </a:pPr>
                <a14:m>
                  <m:oMathPara xmlns:m="http://schemas.openxmlformats.org/officeDocument/2006/math">
                    <m:oMathParaPr>
                      <m:jc m:val="centerGroup"/>
                    </m:oMathParaPr>
                    <m:oMath xmlns:m="http://schemas.openxmlformats.org/officeDocument/2006/math">
                      <m:r>
                        <a:rPr lang="en-US" sz="2600" i="1">
                          <a:solidFill>
                            <a:schemeClr val="accent6">
                              <a:lumMod val="50000"/>
                            </a:schemeClr>
                          </a:solidFill>
                          <a:latin typeface="Cambria Math" panose="02040503050406030204" pitchFamily="18" charset="0"/>
                        </a:rPr>
                        <m:t>𝐸</m:t>
                      </m:r>
                      <m:d>
                        <m:dPr>
                          <m:ctrlPr>
                            <a:rPr lang="en-US" sz="2600" i="1">
                              <a:solidFill>
                                <a:schemeClr val="accent6">
                                  <a:lumMod val="50000"/>
                                </a:schemeClr>
                              </a:solidFill>
                              <a:latin typeface="Cambria Math" panose="02040503050406030204" pitchFamily="18" charset="0"/>
                            </a:rPr>
                          </m:ctrlPr>
                        </m:dPr>
                        <m:e>
                          <m:sSub>
                            <m:sSubPr>
                              <m:ctrlPr>
                                <a:rPr lang="en-US" sz="2600" i="1">
                                  <a:solidFill>
                                    <a:schemeClr val="accent6">
                                      <a:lumMod val="50000"/>
                                    </a:schemeClr>
                                  </a:solidFill>
                                  <a:latin typeface="Cambria Math" panose="02040503050406030204" pitchFamily="18" charset="0"/>
                                </a:rPr>
                              </m:ctrlPr>
                            </m:sSubPr>
                            <m:e>
                              <m:r>
                                <a:rPr lang="en-US" sz="2600" i="1">
                                  <a:solidFill>
                                    <a:schemeClr val="accent6">
                                      <a:lumMod val="50000"/>
                                    </a:schemeClr>
                                  </a:solidFill>
                                  <a:latin typeface="Cambria Math" panose="02040503050406030204" pitchFamily="18" charset="0"/>
                                </a:rPr>
                                <m:t>𝑌</m:t>
                              </m:r>
                            </m:e>
                            <m:sub>
                              <m:r>
                                <a:rPr lang="en-US" sz="2600" i="1">
                                  <a:solidFill>
                                    <a:schemeClr val="accent6">
                                      <a:lumMod val="50000"/>
                                    </a:schemeClr>
                                  </a:solidFill>
                                  <a:latin typeface="Cambria Math" panose="02040503050406030204" pitchFamily="18" charset="0"/>
                                </a:rPr>
                                <m:t>𝑖</m:t>
                              </m:r>
                            </m:sub>
                          </m:sSub>
                        </m:e>
                      </m:d>
                      <m:r>
                        <a:rPr lang="en-US" sz="2600" i="1">
                          <a:solidFill>
                            <a:schemeClr val="accent6">
                              <a:lumMod val="50000"/>
                            </a:schemeClr>
                          </a:solidFill>
                          <a:latin typeface="Cambria Math" panose="02040503050406030204" pitchFamily="18" charset="0"/>
                        </a:rPr>
                        <m:t>=</m:t>
                      </m:r>
                      <m:sSub>
                        <m:sSubPr>
                          <m:ctrlPr>
                            <a:rPr lang="en-US" sz="2600" i="1">
                              <a:solidFill>
                                <a:schemeClr val="accent6">
                                  <a:lumMod val="50000"/>
                                </a:schemeClr>
                              </a:solidFill>
                              <a:latin typeface="Cambria Math" panose="02040503050406030204" pitchFamily="18" charset="0"/>
                            </a:rPr>
                          </m:ctrlPr>
                        </m:sSubPr>
                        <m:e>
                          <m:r>
                            <a:rPr lang="en-US" sz="2600" i="1">
                              <a:solidFill>
                                <a:schemeClr val="accent6">
                                  <a:lumMod val="50000"/>
                                </a:schemeClr>
                              </a:solidFill>
                              <a:latin typeface="Cambria Math" panose="02040503050406030204" pitchFamily="18" charset="0"/>
                            </a:rPr>
                            <m:t>𝛽</m:t>
                          </m:r>
                        </m:e>
                        <m:sub>
                          <m:r>
                            <a:rPr lang="en-US" sz="2600" i="1">
                              <a:solidFill>
                                <a:schemeClr val="accent6">
                                  <a:lumMod val="50000"/>
                                </a:schemeClr>
                              </a:solidFill>
                              <a:latin typeface="Cambria Math" panose="02040503050406030204" pitchFamily="18" charset="0"/>
                            </a:rPr>
                            <m:t>0</m:t>
                          </m:r>
                        </m:sub>
                      </m:sSub>
                      <m:r>
                        <a:rPr lang="en-US" sz="2600" i="1">
                          <a:solidFill>
                            <a:schemeClr val="accent6">
                              <a:lumMod val="50000"/>
                            </a:schemeClr>
                          </a:solidFill>
                          <a:latin typeface="Cambria Math" panose="02040503050406030204" pitchFamily="18" charset="0"/>
                        </a:rPr>
                        <m:t>+</m:t>
                      </m:r>
                      <m:sSub>
                        <m:sSubPr>
                          <m:ctrlPr>
                            <a:rPr lang="en-US" sz="2600" i="1">
                              <a:solidFill>
                                <a:schemeClr val="accent6">
                                  <a:lumMod val="50000"/>
                                </a:schemeClr>
                              </a:solidFill>
                              <a:latin typeface="Cambria Math" panose="02040503050406030204" pitchFamily="18" charset="0"/>
                            </a:rPr>
                          </m:ctrlPr>
                        </m:sSubPr>
                        <m:e>
                          <m:r>
                            <a:rPr lang="en-US" sz="2600" i="1">
                              <a:solidFill>
                                <a:schemeClr val="accent6">
                                  <a:lumMod val="50000"/>
                                </a:schemeClr>
                              </a:solidFill>
                              <a:latin typeface="Cambria Math" panose="02040503050406030204" pitchFamily="18" charset="0"/>
                            </a:rPr>
                            <m:t>𝛽</m:t>
                          </m:r>
                        </m:e>
                        <m:sub>
                          <m:r>
                            <a:rPr lang="en-US" sz="2600" i="1">
                              <a:solidFill>
                                <a:schemeClr val="accent6">
                                  <a:lumMod val="50000"/>
                                </a:schemeClr>
                              </a:solidFill>
                              <a:latin typeface="Cambria Math" panose="02040503050406030204" pitchFamily="18" charset="0"/>
                            </a:rPr>
                            <m:t>1</m:t>
                          </m:r>
                        </m:sub>
                      </m:sSub>
                      <m:r>
                        <a:rPr lang="en-US" sz="2600" i="1">
                          <a:solidFill>
                            <a:schemeClr val="accent6">
                              <a:lumMod val="50000"/>
                            </a:schemeClr>
                          </a:solidFill>
                          <a:latin typeface="Cambria Math" panose="02040503050406030204" pitchFamily="18" charset="0"/>
                        </a:rPr>
                        <m:t>𝑋</m:t>
                      </m:r>
                      <m:sSub>
                        <m:sSubPr>
                          <m:ctrlPr>
                            <a:rPr lang="en-US" sz="2600" i="1">
                              <a:solidFill>
                                <a:schemeClr val="accent6">
                                  <a:lumMod val="50000"/>
                                </a:schemeClr>
                              </a:solidFill>
                              <a:latin typeface="Cambria Math" panose="02040503050406030204" pitchFamily="18" charset="0"/>
                            </a:rPr>
                          </m:ctrlPr>
                        </m:sSubPr>
                        <m:e>
                          <m:r>
                            <a:rPr lang="en-US" sz="2600" i="1">
                              <a:solidFill>
                                <a:schemeClr val="accent6">
                                  <a:lumMod val="50000"/>
                                </a:schemeClr>
                              </a:solidFill>
                              <a:latin typeface="Cambria Math" panose="02040503050406030204" pitchFamily="18" charset="0"/>
                            </a:rPr>
                            <m:t>1</m:t>
                          </m:r>
                        </m:e>
                        <m:sub>
                          <m:r>
                            <a:rPr lang="en-US" sz="2600" i="1">
                              <a:solidFill>
                                <a:schemeClr val="accent6">
                                  <a:lumMod val="50000"/>
                                </a:schemeClr>
                              </a:solidFill>
                              <a:latin typeface="Cambria Math" panose="02040503050406030204" pitchFamily="18" charset="0"/>
                            </a:rPr>
                            <m:t>𝑖</m:t>
                          </m:r>
                        </m:sub>
                      </m:sSub>
                      <m:r>
                        <a:rPr lang="en-US" sz="2600" i="1">
                          <a:solidFill>
                            <a:schemeClr val="accent6">
                              <a:lumMod val="50000"/>
                            </a:schemeClr>
                          </a:solidFill>
                          <a:latin typeface="Cambria Math" panose="02040503050406030204" pitchFamily="18" charset="0"/>
                        </a:rPr>
                        <m:t>+</m:t>
                      </m:r>
                      <m:sSub>
                        <m:sSubPr>
                          <m:ctrlPr>
                            <a:rPr lang="en-US" sz="2600" b="0" i="1" smtClean="0">
                              <a:solidFill>
                                <a:schemeClr val="accent6">
                                  <a:lumMod val="50000"/>
                                </a:schemeClr>
                              </a:solidFill>
                              <a:latin typeface="Cambria Math" panose="02040503050406030204" pitchFamily="18" charset="0"/>
                            </a:rPr>
                          </m:ctrlPr>
                        </m:sSubPr>
                        <m:e>
                          <m:r>
                            <a:rPr lang="en-US" sz="2600" b="0" i="1" smtClean="0">
                              <a:solidFill>
                                <a:schemeClr val="accent6">
                                  <a:lumMod val="50000"/>
                                </a:schemeClr>
                              </a:solidFill>
                              <a:latin typeface="Cambria Math" panose="02040503050406030204" pitchFamily="18" charset="0"/>
                            </a:rPr>
                            <m:t>𝛽</m:t>
                          </m:r>
                        </m:e>
                        <m:sub>
                          <m:r>
                            <a:rPr lang="en-US" sz="2600" b="0" i="1" smtClean="0">
                              <a:solidFill>
                                <a:schemeClr val="accent6">
                                  <a:lumMod val="50000"/>
                                </a:schemeClr>
                              </a:solidFill>
                              <a:latin typeface="Cambria Math" panose="02040503050406030204" pitchFamily="18" charset="0"/>
                            </a:rPr>
                            <m:t>2</m:t>
                          </m:r>
                        </m:sub>
                      </m:sSub>
                      <m:r>
                        <a:rPr lang="en-US" sz="2600" b="0" i="1" smtClean="0">
                          <a:solidFill>
                            <a:schemeClr val="accent6">
                              <a:lumMod val="50000"/>
                            </a:schemeClr>
                          </a:solidFill>
                          <a:latin typeface="Cambria Math" panose="02040503050406030204" pitchFamily="18" charset="0"/>
                        </a:rPr>
                        <m:t>𝑋</m:t>
                      </m:r>
                      <m:sSub>
                        <m:sSubPr>
                          <m:ctrlPr>
                            <a:rPr lang="en-US" sz="2600" b="0" i="1" smtClean="0">
                              <a:solidFill>
                                <a:schemeClr val="accent6">
                                  <a:lumMod val="50000"/>
                                </a:schemeClr>
                              </a:solidFill>
                              <a:latin typeface="Cambria Math" panose="02040503050406030204" pitchFamily="18" charset="0"/>
                            </a:rPr>
                          </m:ctrlPr>
                        </m:sSubPr>
                        <m:e>
                          <m:r>
                            <a:rPr lang="en-US" sz="2600" b="0" i="1" smtClean="0">
                              <a:solidFill>
                                <a:schemeClr val="accent6">
                                  <a:lumMod val="50000"/>
                                </a:schemeClr>
                              </a:solidFill>
                              <a:latin typeface="Cambria Math" panose="02040503050406030204" pitchFamily="18" charset="0"/>
                            </a:rPr>
                            <m:t>2</m:t>
                          </m:r>
                        </m:e>
                        <m:sub>
                          <m:r>
                            <a:rPr lang="en-US" sz="2600" b="0" i="1" smtClean="0">
                              <a:solidFill>
                                <a:schemeClr val="accent6">
                                  <a:lumMod val="50000"/>
                                </a:schemeClr>
                              </a:solidFill>
                              <a:latin typeface="Cambria Math" panose="02040503050406030204" pitchFamily="18" charset="0"/>
                            </a:rPr>
                            <m:t>𝑖</m:t>
                          </m:r>
                        </m:sub>
                      </m:sSub>
                      <m:r>
                        <a:rPr lang="en-US" sz="2600" b="0" i="1" smtClean="0">
                          <a:solidFill>
                            <a:schemeClr val="accent6">
                              <a:lumMod val="50000"/>
                            </a:schemeClr>
                          </a:solidFill>
                          <a:latin typeface="Cambria Math" panose="02040503050406030204" pitchFamily="18" charset="0"/>
                        </a:rPr>
                        <m:t>+</m:t>
                      </m:r>
                      <m:sSub>
                        <m:sSubPr>
                          <m:ctrlPr>
                            <a:rPr lang="en-US" sz="2600" b="0" i="1" smtClean="0">
                              <a:solidFill>
                                <a:schemeClr val="accent6">
                                  <a:lumMod val="50000"/>
                                </a:schemeClr>
                              </a:solidFill>
                              <a:latin typeface="Cambria Math" panose="02040503050406030204" pitchFamily="18" charset="0"/>
                            </a:rPr>
                          </m:ctrlPr>
                        </m:sSubPr>
                        <m:e>
                          <m:r>
                            <a:rPr lang="en-US" sz="2600" b="0" i="1" smtClean="0">
                              <a:solidFill>
                                <a:schemeClr val="accent6">
                                  <a:lumMod val="50000"/>
                                </a:schemeClr>
                              </a:solidFill>
                              <a:latin typeface="Cambria Math" panose="02040503050406030204" pitchFamily="18" charset="0"/>
                            </a:rPr>
                            <m:t>𝛽</m:t>
                          </m:r>
                        </m:e>
                        <m:sub>
                          <m:r>
                            <a:rPr lang="en-US" sz="2600" b="0" i="1" smtClean="0">
                              <a:solidFill>
                                <a:schemeClr val="accent6">
                                  <a:lumMod val="50000"/>
                                </a:schemeClr>
                              </a:solidFill>
                              <a:latin typeface="Cambria Math" panose="02040503050406030204" pitchFamily="18" charset="0"/>
                            </a:rPr>
                            <m:t>3</m:t>
                          </m:r>
                        </m:sub>
                      </m:sSub>
                      <m:r>
                        <a:rPr lang="en-US" sz="2600" b="0" i="1" smtClean="0">
                          <a:solidFill>
                            <a:schemeClr val="accent6">
                              <a:lumMod val="50000"/>
                            </a:schemeClr>
                          </a:solidFill>
                          <a:latin typeface="Cambria Math" panose="02040503050406030204" pitchFamily="18" charset="0"/>
                        </a:rPr>
                        <m:t>𝑋</m:t>
                      </m:r>
                      <m:sSub>
                        <m:sSubPr>
                          <m:ctrlPr>
                            <a:rPr lang="en-US" sz="2600" b="0" i="1" smtClean="0">
                              <a:solidFill>
                                <a:schemeClr val="accent6">
                                  <a:lumMod val="50000"/>
                                </a:schemeClr>
                              </a:solidFill>
                              <a:latin typeface="Cambria Math" panose="02040503050406030204" pitchFamily="18" charset="0"/>
                            </a:rPr>
                          </m:ctrlPr>
                        </m:sSubPr>
                        <m:e>
                          <m:r>
                            <a:rPr lang="en-US" sz="2600" b="0" i="1" smtClean="0">
                              <a:solidFill>
                                <a:schemeClr val="accent6">
                                  <a:lumMod val="50000"/>
                                </a:schemeClr>
                              </a:solidFill>
                              <a:latin typeface="Cambria Math" panose="02040503050406030204" pitchFamily="18" charset="0"/>
                            </a:rPr>
                            <m:t>3</m:t>
                          </m:r>
                        </m:e>
                        <m:sub>
                          <m:r>
                            <a:rPr lang="en-US" sz="2600" b="0" i="1" smtClean="0">
                              <a:solidFill>
                                <a:schemeClr val="accent6">
                                  <a:lumMod val="50000"/>
                                </a:schemeClr>
                              </a:solidFill>
                              <a:latin typeface="Cambria Math" panose="02040503050406030204" pitchFamily="18" charset="0"/>
                            </a:rPr>
                            <m:t>𝑖</m:t>
                          </m:r>
                        </m:sub>
                      </m:sSub>
                      <m:r>
                        <a:rPr lang="en-US" sz="2600" i="1">
                          <a:solidFill>
                            <a:schemeClr val="accent6">
                              <a:lumMod val="50000"/>
                            </a:schemeClr>
                          </a:solidFill>
                          <a:latin typeface="Cambria Math" panose="02040503050406030204" pitchFamily="18" charset="0"/>
                        </a:rPr>
                        <m:t>+</m:t>
                      </m:r>
                      <m:sSub>
                        <m:sSubPr>
                          <m:ctrlPr>
                            <a:rPr lang="en-US" sz="2600" i="1">
                              <a:solidFill>
                                <a:schemeClr val="accent6">
                                  <a:lumMod val="50000"/>
                                </a:schemeClr>
                              </a:solidFill>
                              <a:latin typeface="Cambria Math" panose="02040503050406030204" pitchFamily="18" charset="0"/>
                            </a:rPr>
                          </m:ctrlPr>
                        </m:sSubPr>
                        <m:e>
                          <m:r>
                            <a:rPr lang="en-US" sz="2600" i="1">
                              <a:solidFill>
                                <a:schemeClr val="accent6">
                                  <a:lumMod val="50000"/>
                                </a:schemeClr>
                              </a:solidFill>
                              <a:latin typeface="Cambria Math" panose="02040503050406030204" pitchFamily="18" charset="0"/>
                            </a:rPr>
                            <m:t>𝛽</m:t>
                          </m:r>
                        </m:e>
                        <m:sub>
                          <m:r>
                            <a:rPr lang="en-US" sz="2600" b="0" i="1" smtClean="0">
                              <a:solidFill>
                                <a:schemeClr val="accent6">
                                  <a:lumMod val="50000"/>
                                </a:schemeClr>
                              </a:solidFill>
                              <a:latin typeface="Cambria Math" panose="02040503050406030204" pitchFamily="18" charset="0"/>
                            </a:rPr>
                            <m:t>4</m:t>
                          </m:r>
                        </m:sub>
                      </m:sSub>
                      <m:r>
                        <a:rPr lang="en-US" sz="2600" i="1">
                          <a:solidFill>
                            <a:schemeClr val="accent6">
                              <a:lumMod val="50000"/>
                            </a:schemeClr>
                          </a:solidFill>
                          <a:latin typeface="Cambria Math" panose="02040503050406030204" pitchFamily="18" charset="0"/>
                        </a:rPr>
                        <m:t>𝑋</m:t>
                      </m:r>
                      <m:sSub>
                        <m:sSubPr>
                          <m:ctrlPr>
                            <a:rPr lang="en-US" sz="2600" b="0" i="1" smtClean="0">
                              <a:solidFill>
                                <a:schemeClr val="accent6">
                                  <a:lumMod val="50000"/>
                                </a:schemeClr>
                              </a:solidFill>
                              <a:latin typeface="Cambria Math" panose="02040503050406030204" pitchFamily="18" charset="0"/>
                            </a:rPr>
                          </m:ctrlPr>
                        </m:sSubPr>
                        <m:e>
                          <m:r>
                            <a:rPr lang="en-US" sz="2600" b="0" i="1" smtClean="0">
                              <a:solidFill>
                                <a:schemeClr val="accent6">
                                  <a:lumMod val="50000"/>
                                </a:schemeClr>
                              </a:solidFill>
                              <a:latin typeface="Cambria Math" panose="02040503050406030204" pitchFamily="18" charset="0"/>
                            </a:rPr>
                            <m:t>4</m:t>
                          </m:r>
                        </m:e>
                        <m:sub>
                          <m:r>
                            <a:rPr lang="en-US" sz="2600" b="0" i="1" smtClean="0">
                              <a:solidFill>
                                <a:schemeClr val="accent6">
                                  <a:lumMod val="50000"/>
                                </a:schemeClr>
                              </a:solidFill>
                              <a:latin typeface="Cambria Math" panose="02040503050406030204" pitchFamily="18" charset="0"/>
                            </a:rPr>
                            <m:t>𝑖</m:t>
                          </m:r>
                        </m:sub>
                      </m:sSub>
                    </m:oMath>
                  </m:oMathPara>
                </a14:m>
                <a:endParaRPr lang="en-US" sz="2600" dirty="0"/>
              </a:p>
              <a:p>
                <a:pPr marL="0" indent="0">
                  <a:buNone/>
                </a:pPr>
                <a14:m>
                  <m:oMathPara xmlns:m="http://schemas.openxmlformats.org/officeDocument/2006/math">
                    <m:oMathParaPr>
                      <m:jc m:val="centerGroup"/>
                    </m:oMathParaPr>
                    <m:oMath xmlns:m="http://schemas.openxmlformats.org/officeDocument/2006/math">
                      <m:r>
                        <a:rPr lang="en-US" sz="2600" b="0" i="1" smtClean="0">
                          <a:solidFill>
                            <a:schemeClr val="accent6">
                              <a:lumMod val="50000"/>
                            </a:schemeClr>
                          </a:solidFill>
                          <a:latin typeface="Cambria Math" panose="02040503050406030204" pitchFamily="18" charset="0"/>
                        </a:rPr>
                        <m:t>𝑉𝑎𝑟</m:t>
                      </m:r>
                      <m:d>
                        <m:dPr>
                          <m:ctrlPr>
                            <a:rPr lang="en-US" sz="2600" i="1">
                              <a:solidFill>
                                <a:schemeClr val="accent6">
                                  <a:lumMod val="50000"/>
                                </a:schemeClr>
                              </a:solidFill>
                              <a:latin typeface="Cambria Math" panose="02040503050406030204" pitchFamily="18" charset="0"/>
                            </a:rPr>
                          </m:ctrlPr>
                        </m:dPr>
                        <m:e>
                          <m:sSub>
                            <m:sSubPr>
                              <m:ctrlPr>
                                <a:rPr lang="en-US" sz="2600" i="1">
                                  <a:solidFill>
                                    <a:schemeClr val="accent6">
                                      <a:lumMod val="50000"/>
                                    </a:schemeClr>
                                  </a:solidFill>
                                  <a:latin typeface="Cambria Math" panose="02040503050406030204" pitchFamily="18" charset="0"/>
                                </a:rPr>
                              </m:ctrlPr>
                            </m:sSubPr>
                            <m:e>
                              <m:r>
                                <a:rPr lang="en-US" sz="2600" i="1">
                                  <a:solidFill>
                                    <a:schemeClr val="accent6">
                                      <a:lumMod val="50000"/>
                                    </a:schemeClr>
                                  </a:solidFill>
                                  <a:latin typeface="Cambria Math" panose="02040503050406030204" pitchFamily="18" charset="0"/>
                                </a:rPr>
                                <m:t>𝑌</m:t>
                              </m:r>
                            </m:e>
                            <m:sub>
                              <m:r>
                                <a:rPr lang="en-US" sz="2600" i="1">
                                  <a:solidFill>
                                    <a:schemeClr val="accent6">
                                      <a:lumMod val="50000"/>
                                    </a:schemeClr>
                                  </a:solidFill>
                                  <a:latin typeface="Cambria Math" panose="02040503050406030204" pitchFamily="18" charset="0"/>
                                </a:rPr>
                                <m:t>𝑖</m:t>
                              </m:r>
                            </m:sub>
                          </m:sSub>
                        </m:e>
                      </m:d>
                      <m:r>
                        <a:rPr lang="en-US" sz="2600" i="1">
                          <a:solidFill>
                            <a:schemeClr val="accent6">
                              <a:lumMod val="50000"/>
                            </a:schemeClr>
                          </a:solidFill>
                          <a:latin typeface="Cambria Math" panose="02040503050406030204" pitchFamily="18" charset="0"/>
                        </a:rPr>
                        <m:t>=</m:t>
                      </m:r>
                      <m:sSup>
                        <m:sSupPr>
                          <m:ctrlPr>
                            <a:rPr lang="en-US" sz="2600" b="0" i="1" smtClean="0">
                              <a:solidFill>
                                <a:schemeClr val="accent6">
                                  <a:lumMod val="50000"/>
                                </a:schemeClr>
                              </a:solidFill>
                              <a:latin typeface="Cambria Math" panose="02040503050406030204" pitchFamily="18" charset="0"/>
                            </a:rPr>
                          </m:ctrlPr>
                        </m:sSupPr>
                        <m:e>
                          <m:r>
                            <a:rPr lang="en-US" sz="2600" b="0" i="1" smtClean="0">
                              <a:solidFill>
                                <a:schemeClr val="accent6">
                                  <a:lumMod val="50000"/>
                                </a:schemeClr>
                              </a:solidFill>
                              <a:latin typeface="Cambria Math" panose="02040503050406030204" pitchFamily="18" charset="0"/>
                            </a:rPr>
                            <m:t>𝜎</m:t>
                          </m:r>
                        </m:e>
                        <m:sup>
                          <m:r>
                            <a:rPr lang="en-US" sz="2600" b="0" i="1" smtClean="0">
                              <a:solidFill>
                                <a:schemeClr val="accent6">
                                  <a:lumMod val="50000"/>
                                </a:schemeClr>
                              </a:solidFill>
                              <a:latin typeface="Cambria Math" panose="02040503050406030204" pitchFamily="18" charset="0"/>
                            </a:rPr>
                            <m:t>2</m:t>
                          </m:r>
                        </m:sup>
                      </m:sSup>
                    </m:oMath>
                  </m:oMathPara>
                </a14:m>
                <a:endParaRPr lang="en-US" sz="26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762000" y="1596413"/>
                <a:ext cx="8077200" cy="5261587"/>
              </a:xfrm>
              <a:blipFill rotWithShape="0">
                <a:blip r:embed="rId2"/>
                <a:stretch>
                  <a:fillRect l="-1736" t="-1506"/>
                </a:stretch>
              </a:blipFill>
            </p:spPr>
            <p:txBody>
              <a:bodyPr/>
              <a:lstStyle/>
              <a:p>
                <a:r>
                  <a:rPr lang="en-US">
                    <a:noFill/>
                  </a:rPr>
                  <a:t> </a:t>
                </a:r>
              </a:p>
            </p:txBody>
          </p:sp>
        </mc:Fallback>
      </mc:AlternateContent>
    </p:spTree>
    <p:extLst>
      <p:ext uri="{BB962C8B-B14F-4D97-AF65-F5344CB8AC3E}">
        <p14:creationId xmlns:p14="http://schemas.microsoft.com/office/powerpoint/2010/main" val="2200407664"/>
      </p:ext>
    </p:extLst>
  </p:cSld>
  <p:clrMapOvr>
    <a:masterClrMapping/>
  </p:clrMapOvr>
  <p:transition spd="slow">
    <p:wipe dir="d"/>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Interpretation of the regression coefficients</a:t>
            </a:r>
          </a:p>
        </p:txBody>
      </p:sp>
      <mc:AlternateContent xmlns:mc="http://schemas.openxmlformats.org/markup-compatibility/2006" xmlns:a14="http://schemas.microsoft.com/office/drawing/2010/main">
        <mc:Choice Requires="a14">
          <p:graphicFrame>
            <p:nvGraphicFramePr>
              <p:cNvPr id="5" name="Table Placeholder 4"/>
              <p:cNvGraphicFramePr>
                <a:graphicFrameLocks noGrp="1"/>
              </p:cNvGraphicFramePr>
              <p:nvPr>
                <p:ph idx="1"/>
                <p:extLst>
                  <p:ext uri="{D42A27DB-BD31-4B8C-83A1-F6EECF244321}">
                    <p14:modId xmlns:p14="http://schemas.microsoft.com/office/powerpoint/2010/main" val="2281115754"/>
                  </p:ext>
                </p:extLst>
              </p:nvPr>
            </p:nvGraphicFramePr>
            <p:xfrm>
              <a:off x="762000" y="1752599"/>
              <a:ext cx="8077200" cy="4114801"/>
            </p:xfrm>
            <a:graphic>
              <a:graphicData uri="http://schemas.openxmlformats.org/drawingml/2006/table">
                <a:tbl>
                  <a:tblPr firstRow="1" bandRow="1">
                    <a:tableStyleId>{BDBED569-4797-4DF1-A0F4-6AAB3CD982D8}</a:tableStyleId>
                  </a:tblPr>
                  <a:tblGrid>
                    <a:gridCol w="873211">
                      <a:extLst>
                        <a:ext uri="{9D8B030D-6E8A-4147-A177-3AD203B41FA5}">
                          <a16:colId xmlns:a16="http://schemas.microsoft.com/office/drawing/2014/main" val="20000"/>
                        </a:ext>
                      </a:extLst>
                    </a:gridCol>
                    <a:gridCol w="7203989">
                      <a:extLst>
                        <a:ext uri="{9D8B030D-6E8A-4147-A177-3AD203B41FA5}">
                          <a16:colId xmlns:a16="http://schemas.microsoft.com/office/drawing/2014/main" val="20001"/>
                        </a:ext>
                      </a:extLst>
                    </a:gridCol>
                  </a:tblGrid>
                  <a:tr h="797527">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b="1" i="1" kern="1200" dirty="0">
                              <a:solidFill>
                                <a:schemeClr val="tx1"/>
                              </a:solidFill>
                              <a:effectLst/>
                              <a:latin typeface="+mn-lt"/>
                              <a:ea typeface="+mn-ea"/>
                              <a:cs typeface="+mn-cs"/>
                            </a:rPr>
                            <a:t>   </a:t>
                          </a:r>
                          <a14:m>
                            <m:oMath xmlns:m="http://schemas.openxmlformats.org/officeDocument/2006/math">
                              <m:sSub>
                                <m:sSubPr>
                                  <m:ctrlPr>
                                    <a:rPr lang="en-US" sz="2000" i="1" kern="1200" smtClean="0">
                                      <a:solidFill>
                                        <a:schemeClr val="tx2"/>
                                      </a:solidFill>
                                      <a:latin typeface="Cambria Math" panose="02040503050406030204" pitchFamily="18" charset="0"/>
                                      <a:ea typeface="+mn-ea"/>
                                      <a:cs typeface="+mn-cs"/>
                                    </a:rPr>
                                  </m:ctrlPr>
                                </m:sSubPr>
                                <m:e>
                                  <m:r>
                                    <a:rPr lang="en-US" sz="2000" kern="1200" smtClean="0">
                                      <a:solidFill>
                                        <a:schemeClr val="tx2"/>
                                      </a:solidFill>
                                      <a:latin typeface="Cambria Math" panose="02040503050406030204" pitchFamily="18" charset="0"/>
                                      <a:ea typeface="+mn-ea"/>
                                      <a:cs typeface="+mn-cs"/>
                                    </a:rPr>
                                    <m:t>𝜷</m:t>
                                  </m:r>
                                </m:e>
                                <m:sub>
                                  <m:r>
                                    <a:rPr lang="en-US" sz="2000" kern="1200" smtClean="0">
                                      <a:solidFill>
                                        <a:schemeClr val="tx2"/>
                                      </a:solidFill>
                                      <a:latin typeface="Cambria Math" panose="02040503050406030204" pitchFamily="18" charset="0"/>
                                      <a:ea typeface="+mn-ea"/>
                                      <a:cs typeface="+mn-cs"/>
                                    </a:rPr>
                                    <m:t>𝟎</m:t>
                                  </m:r>
                                </m:sub>
                              </m:sSub>
                            </m:oMath>
                          </a14:m>
                          <a:endParaRPr lang="en-US" sz="2000" kern="1200" dirty="0">
                            <a:solidFill>
                              <a:schemeClr val="tx2"/>
                            </a:solidFill>
                            <a:latin typeface="+mn-lt"/>
                            <a:ea typeface="+mn-ea"/>
                            <a:cs typeface="+mn-cs"/>
                          </a:endParaRPr>
                        </a:p>
                      </a:txBody>
                      <a:tcPr marL="87321" marR="87321" anchor="ctr">
                        <a:lnL w="38100" cap="flat" cmpd="sng" algn="ctr">
                          <a:solidFill>
                            <a:srgbClr val="ABDEE2"/>
                          </a:solidFill>
                          <a:prstDash val="solid"/>
                          <a:round/>
                          <a:headEnd type="none" w="med" len="med"/>
                          <a:tailEnd type="none" w="med" len="med"/>
                        </a:lnL>
                        <a:lnR w="38100" cap="flat" cmpd="sng" algn="ctr">
                          <a:solidFill>
                            <a:srgbClr val="ABDEE2"/>
                          </a:solidFill>
                          <a:prstDash val="solid"/>
                          <a:round/>
                          <a:headEnd type="none" w="med" len="med"/>
                          <a:tailEnd type="none" w="med" len="med"/>
                        </a:lnR>
                        <a:lnT w="38100" cap="flat" cmpd="sng" algn="ctr">
                          <a:solidFill>
                            <a:srgbClr val="ABDEE2"/>
                          </a:solidFill>
                          <a:prstDash val="solid"/>
                          <a:round/>
                          <a:headEnd type="none" w="med" len="med"/>
                          <a:tailEnd type="none" w="med" len="med"/>
                        </a:lnT>
                        <a:lnB w="38100" cap="flat" cmpd="sng" algn="ctr">
                          <a:solidFill>
                            <a:srgbClr val="ABDEE2"/>
                          </a:solidFill>
                          <a:prstDash val="solid"/>
                          <a:round/>
                          <a:headEnd type="none" w="med" len="med"/>
                          <a:tailEnd type="none" w="med" len="med"/>
                        </a:lnB>
                      </a:tcPr>
                    </a:tc>
                    <a:tc>
                      <a:txBody>
                        <a:bodyPr/>
                        <a:lstStyle/>
                        <a:p>
                          <a:pPr algn="l"/>
                          <a:r>
                            <a:rPr lang="en-US" sz="2000" b="1" i="1" kern="1200" dirty="0">
                              <a:solidFill>
                                <a:srgbClr val="659C2A"/>
                              </a:solidFill>
                              <a:effectLst/>
                              <a:latin typeface="+mn-lt"/>
                              <a:ea typeface="+mn-ea"/>
                              <a:cs typeface="+mn-cs"/>
                            </a:rPr>
                            <a:t>is the expected </a:t>
                          </a:r>
                          <a:r>
                            <a:rPr lang="en-US" sz="2000" b="1" i="1" kern="1200" dirty="0" err="1">
                              <a:solidFill>
                                <a:srgbClr val="659C2A"/>
                              </a:solidFill>
                              <a:effectLst/>
                              <a:latin typeface="+mn-lt"/>
                              <a:ea typeface="+mn-ea"/>
                              <a:cs typeface="+mn-cs"/>
                            </a:rPr>
                            <a:t>logSalary</a:t>
                          </a:r>
                          <a:r>
                            <a:rPr lang="en-US" sz="2000" b="1" i="1" kern="1200" dirty="0">
                              <a:solidFill>
                                <a:srgbClr val="659C2A"/>
                              </a:solidFill>
                              <a:effectLst/>
                              <a:latin typeface="+mn-lt"/>
                              <a:ea typeface="+mn-ea"/>
                              <a:cs typeface="+mn-cs"/>
                            </a:rPr>
                            <a:t> for a player whose APG, PPG, RPG and</a:t>
                          </a:r>
                          <a:r>
                            <a:rPr lang="en-US" sz="2000" b="1" i="1" kern="1200" baseline="0" dirty="0">
                              <a:solidFill>
                                <a:srgbClr val="659C2A"/>
                              </a:solidFill>
                              <a:effectLst/>
                              <a:latin typeface="+mn-lt"/>
                              <a:ea typeface="+mn-ea"/>
                              <a:cs typeface="+mn-cs"/>
                            </a:rPr>
                            <a:t> </a:t>
                          </a:r>
                          <a:r>
                            <a:rPr lang="en-US" sz="2000" b="1" i="1" kern="1200" dirty="0">
                              <a:solidFill>
                                <a:srgbClr val="659C2A"/>
                              </a:solidFill>
                              <a:effectLst/>
                              <a:latin typeface="+mn-lt"/>
                              <a:ea typeface="+mn-ea"/>
                              <a:cs typeface="+mn-cs"/>
                            </a:rPr>
                            <a:t>SPG are all equal to 0</a:t>
                          </a:r>
                          <a:endParaRPr lang="en-HK" sz="2000" b="1" i="1" kern="1200" dirty="0">
                            <a:solidFill>
                              <a:srgbClr val="659C2A"/>
                            </a:solidFill>
                            <a:effectLst/>
                            <a:latin typeface="+mn-lt"/>
                            <a:ea typeface="+mn-ea"/>
                            <a:cs typeface="+mn-cs"/>
                          </a:endParaRPr>
                        </a:p>
                      </a:txBody>
                      <a:tcPr marL="87321" marR="87321" anchor="ctr">
                        <a:lnL w="38100" cap="flat" cmpd="sng" algn="ctr">
                          <a:solidFill>
                            <a:srgbClr val="ABDEE2"/>
                          </a:solidFill>
                          <a:prstDash val="solid"/>
                          <a:round/>
                          <a:headEnd type="none" w="med" len="med"/>
                          <a:tailEnd type="none" w="med" len="med"/>
                        </a:lnL>
                        <a:lnR w="38100" cap="flat" cmpd="sng" algn="ctr">
                          <a:solidFill>
                            <a:srgbClr val="ABDEE2"/>
                          </a:solidFill>
                          <a:prstDash val="solid"/>
                          <a:round/>
                          <a:headEnd type="none" w="med" len="med"/>
                          <a:tailEnd type="none" w="med" len="med"/>
                        </a:lnR>
                        <a:lnT w="38100" cap="flat" cmpd="sng" algn="ctr">
                          <a:solidFill>
                            <a:srgbClr val="ABDEE2"/>
                          </a:solidFill>
                          <a:prstDash val="solid"/>
                          <a:round/>
                          <a:headEnd type="none" w="med" len="med"/>
                          <a:tailEnd type="none" w="med" len="med"/>
                        </a:lnT>
                        <a:lnB w="38100" cap="flat" cmpd="sng" algn="ctr">
                          <a:solidFill>
                            <a:srgbClr val="ABDEE2"/>
                          </a:solidFill>
                          <a:prstDash val="solid"/>
                          <a:round/>
                          <a:headEnd type="none" w="med" len="med"/>
                          <a:tailEnd type="none" w="med" len="med"/>
                        </a:lnB>
                      </a:tcPr>
                    </a:tc>
                    <a:extLst>
                      <a:ext uri="{0D108BD9-81ED-4DB2-BD59-A6C34878D82A}">
                        <a16:rowId xmlns:a16="http://schemas.microsoft.com/office/drawing/2014/main" val="10000"/>
                      </a:ext>
                    </a:extLst>
                  </a:tr>
                  <a:tr h="80267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2000" b="1" i="1" kern="1200" smtClean="0">
                                        <a:solidFill>
                                          <a:schemeClr val="tx2"/>
                                        </a:solidFill>
                                        <a:latin typeface="Cambria Math" panose="02040503050406030204" pitchFamily="18" charset="0"/>
                                        <a:ea typeface="+mn-ea"/>
                                        <a:cs typeface="+mn-cs"/>
                                      </a:rPr>
                                    </m:ctrlPr>
                                  </m:sSubPr>
                                  <m:e>
                                    <m:r>
                                      <a:rPr lang="en-US" sz="2000" b="1" kern="1200" smtClean="0">
                                        <a:solidFill>
                                          <a:schemeClr val="tx2"/>
                                        </a:solidFill>
                                        <a:latin typeface="Cambria Math" panose="02040503050406030204" pitchFamily="18" charset="0"/>
                                        <a:ea typeface="+mn-ea"/>
                                        <a:cs typeface="+mn-cs"/>
                                      </a:rPr>
                                      <m:t>𝜷</m:t>
                                    </m:r>
                                  </m:e>
                                  <m:sub>
                                    <m:r>
                                      <a:rPr lang="en-US" sz="2000" b="1" kern="1200" smtClean="0">
                                        <a:solidFill>
                                          <a:schemeClr val="tx2"/>
                                        </a:solidFill>
                                        <a:latin typeface="Cambria Math" panose="02040503050406030204" pitchFamily="18" charset="0"/>
                                        <a:ea typeface="+mn-ea"/>
                                        <a:cs typeface="+mn-cs"/>
                                      </a:rPr>
                                      <m:t>𝟏</m:t>
                                    </m:r>
                                  </m:sub>
                                </m:sSub>
                              </m:oMath>
                            </m:oMathPara>
                          </a14:m>
                          <a:endParaRPr lang="en-US" sz="2000" b="1" kern="1200" dirty="0">
                            <a:solidFill>
                              <a:schemeClr val="tx2"/>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sz="2000" b="1" kern="1200" dirty="0">
                            <a:solidFill>
                              <a:schemeClr val="tx2"/>
                            </a:solidFill>
                            <a:latin typeface="+mn-lt"/>
                            <a:ea typeface="+mn-ea"/>
                            <a:cs typeface="+mn-cs"/>
                          </a:endParaRPr>
                        </a:p>
                      </a:txBody>
                      <a:tcPr marL="87321" marR="87321" anchor="ctr">
                        <a:lnL w="38100" cap="flat" cmpd="sng" algn="ctr">
                          <a:solidFill>
                            <a:srgbClr val="ABDEE2"/>
                          </a:solidFill>
                          <a:prstDash val="solid"/>
                          <a:round/>
                          <a:headEnd type="none" w="med" len="med"/>
                          <a:tailEnd type="none" w="med" len="med"/>
                        </a:lnL>
                        <a:lnR w="38100" cap="flat" cmpd="sng" algn="ctr">
                          <a:solidFill>
                            <a:srgbClr val="ABDEE2"/>
                          </a:solidFill>
                          <a:prstDash val="solid"/>
                          <a:round/>
                          <a:headEnd type="none" w="med" len="med"/>
                          <a:tailEnd type="none" w="med" len="med"/>
                        </a:lnR>
                        <a:lnT w="38100" cap="flat" cmpd="sng" algn="ctr">
                          <a:solidFill>
                            <a:srgbClr val="ABDEE2"/>
                          </a:solidFill>
                          <a:prstDash val="solid"/>
                          <a:round/>
                          <a:headEnd type="none" w="med" len="med"/>
                          <a:tailEnd type="none" w="med" len="med"/>
                        </a:lnT>
                        <a:lnB w="38100" cap="flat" cmpd="sng" algn="ctr">
                          <a:solidFill>
                            <a:srgbClr val="ABDEE2"/>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i="1" kern="1200" dirty="0">
                              <a:solidFill>
                                <a:srgbClr val="659C2A"/>
                              </a:solidFill>
                              <a:effectLst/>
                              <a:latin typeface="+mn-lt"/>
                              <a:ea typeface="+mn-ea"/>
                              <a:cs typeface="+mn-cs"/>
                            </a:rPr>
                            <a:t>is the change in the expected </a:t>
                          </a:r>
                          <a:r>
                            <a:rPr lang="en-US" sz="2000" b="1" i="1" kern="1200" dirty="0" err="1">
                              <a:solidFill>
                                <a:srgbClr val="659C2A"/>
                              </a:solidFill>
                              <a:effectLst/>
                              <a:latin typeface="+mn-lt"/>
                              <a:ea typeface="+mn-ea"/>
                              <a:cs typeface="+mn-cs"/>
                            </a:rPr>
                            <a:t>logSalary</a:t>
                          </a:r>
                          <a:r>
                            <a:rPr lang="en-US" sz="2000" b="1" i="1" kern="1200" dirty="0">
                              <a:solidFill>
                                <a:srgbClr val="659C2A"/>
                              </a:solidFill>
                              <a:effectLst/>
                              <a:latin typeface="+mn-lt"/>
                              <a:ea typeface="+mn-ea"/>
                              <a:cs typeface="+mn-cs"/>
                            </a:rPr>
                            <a:t> by</a:t>
                          </a:r>
                          <a:r>
                            <a:rPr lang="en-US" sz="2000" b="1" i="1" kern="1200" baseline="0" dirty="0">
                              <a:solidFill>
                                <a:srgbClr val="659C2A"/>
                              </a:solidFill>
                              <a:effectLst/>
                              <a:latin typeface="+mn-lt"/>
                              <a:ea typeface="+mn-ea"/>
                              <a:cs typeface="+mn-cs"/>
                            </a:rPr>
                            <a:t> having one more</a:t>
                          </a:r>
                          <a:r>
                            <a:rPr lang="en-US" sz="2000" b="1" i="1" kern="1200" dirty="0">
                              <a:solidFill>
                                <a:srgbClr val="659C2A"/>
                              </a:solidFill>
                              <a:effectLst/>
                              <a:latin typeface="+mn-lt"/>
                              <a:ea typeface="+mn-ea"/>
                              <a:cs typeface="+mn-cs"/>
                            </a:rPr>
                            <a:t> APG while holding</a:t>
                          </a:r>
                          <a:r>
                            <a:rPr lang="en-US" sz="2000" b="1" i="1" kern="1200" baseline="0" dirty="0">
                              <a:solidFill>
                                <a:srgbClr val="659C2A"/>
                              </a:solidFill>
                              <a:effectLst/>
                              <a:latin typeface="+mn-lt"/>
                              <a:ea typeface="+mn-ea"/>
                              <a:cs typeface="+mn-cs"/>
                            </a:rPr>
                            <a:t> PPG, RGP and SPG</a:t>
                          </a:r>
                          <a:r>
                            <a:rPr lang="en-US" sz="2000" b="1" i="1" kern="1200" dirty="0">
                              <a:solidFill>
                                <a:srgbClr val="659C2A"/>
                              </a:solidFill>
                              <a:effectLst/>
                              <a:latin typeface="+mn-lt"/>
                              <a:ea typeface="+mn-ea"/>
                              <a:cs typeface="+mn-cs"/>
                            </a:rPr>
                            <a:t> constant</a:t>
                          </a:r>
                          <a:endParaRPr lang="en-US" sz="2000" dirty="0">
                            <a:solidFill>
                              <a:srgbClr val="84898C"/>
                            </a:solidFill>
                            <a:latin typeface="Cambria" pitchFamily="18" charset="0"/>
                            <a:cs typeface="Times New Roman" pitchFamily="18" charset="0"/>
                          </a:endParaRPr>
                        </a:p>
                      </a:txBody>
                      <a:tcPr marL="87321" marR="87321" anchor="ctr">
                        <a:lnL w="38100" cap="flat" cmpd="sng" algn="ctr">
                          <a:solidFill>
                            <a:srgbClr val="ABDEE2"/>
                          </a:solidFill>
                          <a:prstDash val="solid"/>
                          <a:round/>
                          <a:headEnd type="none" w="med" len="med"/>
                          <a:tailEnd type="none" w="med" len="med"/>
                        </a:lnL>
                        <a:lnR w="38100" cap="flat" cmpd="sng" algn="ctr">
                          <a:solidFill>
                            <a:srgbClr val="ABDEE2"/>
                          </a:solidFill>
                          <a:prstDash val="solid"/>
                          <a:round/>
                          <a:headEnd type="none" w="med" len="med"/>
                          <a:tailEnd type="none" w="med" len="med"/>
                        </a:lnR>
                        <a:lnT w="38100" cap="flat" cmpd="sng" algn="ctr">
                          <a:solidFill>
                            <a:srgbClr val="ABDEE2"/>
                          </a:solidFill>
                          <a:prstDash val="solid"/>
                          <a:round/>
                          <a:headEnd type="none" w="med" len="med"/>
                          <a:tailEnd type="none" w="med" len="med"/>
                        </a:lnT>
                        <a:lnB w="38100" cap="flat" cmpd="sng" algn="ctr">
                          <a:solidFill>
                            <a:srgbClr val="ABDEE2"/>
                          </a:solidFill>
                          <a:prstDash val="solid"/>
                          <a:round/>
                          <a:headEnd type="none" w="med" len="med"/>
                          <a:tailEnd type="none" w="med" len="med"/>
                        </a:lnB>
                      </a:tcPr>
                    </a:tc>
                    <a:extLst>
                      <a:ext uri="{0D108BD9-81ED-4DB2-BD59-A6C34878D82A}">
                        <a16:rowId xmlns:a16="http://schemas.microsoft.com/office/drawing/2014/main" val="10001"/>
                      </a:ext>
                    </a:extLst>
                  </a:tr>
                  <a:tr h="86363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2000" b="1" i="1" kern="1200" smtClean="0">
                                        <a:solidFill>
                                          <a:schemeClr val="tx2"/>
                                        </a:solidFill>
                                        <a:latin typeface="Cambria Math" panose="02040503050406030204" pitchFamily="18" charset="0"/>
                                        <a:ea typeface="+mn-ea"/>
                                        <a:cs typeface="+mn-cs"/>
                                      </a:rPr>
                                    </m:ctrlPr>
                                  </m:sSubPr>
                                  <m:e>
                                    <m:r>
                                      <a:rPr lang="en-US" sz="2000" b="1" kern="1200" smtClean="0">
                                        <a:solidFill>
                                          <a:schemeClr val="tx2"/>
                                        </a:solidFill>
                                        <a:latin typeface="Cambria Math" panose="02040503050406030204" pitchFamily="18" charset="0"/>
                                        <a:ea typeface="+mn-ea"/>
                                        <a:cs typeface="+mn-cs"/>
                                      </a:rPr>
                                      <m:t>𝜷</m:t>
                                    </m:r>
                                  </m:e>
                                  <m:sub>
                                    <m:r>
                                      <a:rPr lang="en-US" sz="2000" b="1" kern="1200" smtClean="0">
                                        <a:solidFill>
                                          <a:schemeClr val="tx2"/>
                                        </a:solidFill>
                                        <a:latin typeface="Cambria Math" panose="02040503050406030204" pitchFamily="18" charset="0"/>
                                        <a:ea typeface="+mn-ea"/>
                                        <a:cs typeface="+mn-cs"/>
                                      </a:rPr>
                                      <m:t>𝟐</m:t>
                                    </m:r>
                                  </m:sub>
                                </m:sSub>
                              </m:oMath>
                            </m:oMathPara>
                          </a14:m>
                          <a:endParaRPr lang="en-US" sz="2000" b="1" kern="1200" dirty="0">
                            <a:solidFill>
                              <a:schemeClr val="tx2"/>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sz="2000" b="1" kern="1200" dirty="0">
                            <a:solidFill>
                              <a:schemeClr val="tx2"/>
                            </a:solidFill>
                            <a:latin typeface="+mn-lt"/>
                            <a:ea typeface="+mn-ea"/>
                            <a:cs typeface="+mn-cs"/>
                          </a:endParaRPr>
                        </a:p>
                      </a:txBody>
                      <a:tcPr marL="87321" marR="87321" anchor="ctr">
                        <a:lnL w="38100" cap="flat" cmpd="sng" algn="ctr">
                          <a:solidFill>
                            <a:srgbClr val="ABDEE2"/>
                          </a:solidFill>
                          <a:prstDash val="solid"/>
                          <a:round/>
                          <a:headEnd type="none" w="med" len="med"/>
                          <a:tailEnd type="none" w="med" len="med"/>
                        </a:lnL>
                        <a:lnR w="38100" cap="flat" cmpd="sng" algn="ctr">
                          <a:solidFill>
                            <a:srgbClr val="ABDEE2"/>
                          </a:solidFill>
                          <a:prstDash val="solid"/>
                          <a:round/>
                          <a:headEnd type="none" w="med" len="med"/>
                          <a:tailEnd type="none" w="med" len="med"/>
                        </a:lnR>
                        <a:lnT w="38100" cap="flat" cmpd="sng" algn="ctr">
                          <a:solidFill>
                            <a:srgbClr val="ABDEE2"/>
                          </a:solidFill>
                          <a:prstDash val="solid"/>
                          <a:round/>
                          <a:headEnd type="none" w="med" len="med"/>
                          <a:tailEnd type="none" w="med" len="med"/>
                        </a:lnT>
                        <a:lnB w="38100" cap="flat" cmpd="sng" algn="ctr">
                          <a:solidFill>
                            <a:srgbClr val="ABDEE2"/>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i="1" kern="1200" dirty="0">
                              <a:solidFill>
                                <a:srgbClr val="659C2A"/>
                              </a:solidFill>
                              <a:effectLst/>
                              <a:latin typeface="+mn-lt"/>
                              <a:ea typeface="+mn-ea"/>
                              <a:cs typeface="+mn-cs"/>
                            </a:rPr>
                            <a:t>is the change in the expected </a:t>
                          </a:r>
                          <a:r>
                            <a:rPr lang="en-US" sz="2000" b="1" i="1" kern="1200" dirty="0" err="1">
                              <a:solidFill>
                                <a:srgbClr val="659C2A"/>
                              </a:solidFill>
                              <a:effectLst/>
                              <a:latin typeface="+mn-lt"/>
                              <a:ea typeface="+mn-ea"/>
                              <a:cs typeface="+mn-cs"/>
                            </a:rPr>
                            <a:t>logSalary</a:t>
                          </a:r>
                          <a:r>
                            <a:rPr lang="en-US" sz="2000" b="1" i="1" kern="1200" dirty="0">
                              <a:solidFill>
                                <a:srgbClr val="659C2A"/>
                              </a:solidFill>
                              <a:effectLst/>
                              <a:latin typeface="+mn-lt"/>
                              <a:ea typeface="+mn-ea"/>
                              <a:cs typeface="+mn-cs"/>
                            </a:rPr>
                            <a:t> by having one more PPG while holding APG, RGP and SPG constant</a:t>
                          </a:r>
                          <a:endParaRPr lang="en-HK" sz="2000" b="1" i="1" kern="1200" dirty="0">
                            <a:solidFill>
                              <a:srgbClr val="659C2A"/>
                            </a:solidFill>
                            <a:effectLst/>
                            <a:latin typeface="+mn-lt"/>
                            <a:ea typeface="+mn-ea"/>
                            <a:cs typeface="+mn-cs"/>
                          </a:endParaRPr>
                        </a:p>
                      </a:txBody>
                      <a:tcPr marL="87321" marR="87321" anchor="ctr">
                        <a:lnL w="38100" cap="flat" cmpd="sng" algn="ctr">
                          <a:solidFill>
                            <a:srgbClr val="ABDEE2"/>
                          </a:solidFill>
                          <a:prstDash val="solid"/>
                          <a:round/>
                          <a:headEnd type="none" w="med" len="med"/>
                          <a:tailEnd type="none" w="med" len="med"/>
                        </a:lnL>
                        <a:lnR w="38100" cap="flat" cmpd="sng" algn="ctr">
                          <a:solidFill>
                            <a:srgbClr val="ABDEE2"/>
                          </a:solidFill>
                          <a:prstDash val="solid"/>
                          <a:round/>
                          <a:headEnd type="none" w="med" len="med"/>
                          <a:tailEnd type="none" w="med" len="med"/>
                        </a:lnR>
                        <a:lnT w="38100" cap="flat" cmpd="sng" algn="ctr">
                          <a:solidFill>
                            <a:srgbClr val="ABDEE2"/>
                          </a:solidFill>
                          <a:prstDash val="solid"/>
                          <a:round/>
                          <a:headEnd type="none" w="med" len="med"/>
                          <a:tailEnd type="none" w="med" len="med"/>
                        </a:lnT>
                        <a:lnB w="38100" cap="flat" cmpd="sng" algn="ctr">
                          <a:solidFill>
                            <a:srgbClr val="ABDEE2"/>
                          </a:solidFill>
                          <a:prstDash val="solid"/>
                          <a:round/>
                          <a:headEnd type="none" w="med" len="med"/>
                          <a:tailEnd type="none" w="med" len="med"/>
                        </a:lnB>
                      </a:tcPr>
                    </a:tc>
                    <a:extLst>
                      <a:ext uri="{0D108BD9-81ED-4DB2-BD59-A6C34878D82A}">
                        <a16:rowId xmlns:a16="http://schemas.microsoft.com/office/drawing/2014/main" val="10002"/>
                      </a:ext>
                    </a:extLst>
                  </a:tr>
                  <a:tr h="81276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2000" b="1" i="1" kern="1200" smtClean="0">
                                        <a:solidFill>
                                          <a:schemeClr val="tx2"/>
                                        </a:solidFill>
                                        <a:latin typeface="Cambria Math" panose="02040503050406030204" pitchFamily="18" charset="0"/>
                                        <a:ea typeface="+mn-ea"/>
                                        <a:cs typeface="+mn-cs"/>
                                      </a:rPr>
                                    </m:ctrlPr>
                                  </m:sSubPr>
                                  <m:e>
                                    <m:r>
                                      <a:rPr lang="en-US" sz="2000" b="1" kern="1200" smtClean="0">
                                        <a:solidFill>
                                          <a:schemeClr val="tx2"/>
                                        </a:solidFill>
                                        <a:latin typeface="Cambria Math" panose="02040503050406030204" pitchFamily="18" charset="0"/>
                                        <a:ea typeface="+mn-ea"/>
                                        <a:cs typeface="+mn-cs"/>
                                      </a:rPr>
                                      <m:t>𝜷</m:t>
                                    </m:r>
                                  </m:e>
                                  <m:sub>
                                    <m:r>
                                      <a:rPr lang="en-US" sz="2000" b="1" kern="1200" smtClean="0">
                                        <a:solidFill>
                                          <a:schemeClr val="tx2"/>
                                        </a:solidFill>
                                        <a:latin typeface="Cambria Math" panose="02040503050406030204" pitchFamily="18" charset="0"/>
                                        <a:ea typeface="+mn-ea"/>
                                        <a:cs typeface="+mn-cs"/>
                                      </a:rPr>
                                      <m:t>𝟑</m:t>
                                    </m:r>
                                  </m:sub>
                                </m:sSub>
                              </m:oMath>
                            </m:oMathPara>
                          </a14:m>
                          <a:endParaRPr lang="en-US" sz="2000" b="1" kern="1200" dirty="0">
                            <a:solidFill>
                              <a:schemeClr val="tx2"/>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sz="2000" b="1" kern="1200" dirty="0">
                            <a:solidFill>
                              <a:schemeClr val="tx2"/>
                            </a:solidFill>
                            <a:latin typeface="+mn-lt"/>
                            <a:ea typeface="+mn-ea"/>
                            <a:cs typeface="+mn-cs"/>
                          </a:endParaRPr>
                        </a:p>
                      </a:txBody>
                      <a:tcPr marL="87321" marR="87321" anchor="ctr">
                        <a:lnL w="38100" cap="flat" cmpd="sng" algn="ctr">
                          <a:solidFill>
                            <a:srgbClr val="ABDEE2"/>
                          </a:solidFill>
                          <a:prstDash val="solid"/>
                          <a:round/>
                          <a:headEnd type="none" w="med" len="med"/>
                          <a:tailEnd type="none" w="med" len="med"/>
                        </a:lnL>
                        <a:lnR w="38100" cap="flat" cmpd="sng" algn="ctr">
                          <a:solidFill>
                            <a:srgbClr val="ABDEE2"/>
                          </a:solidFill>
                          <a:prstDash val="solid"/>
                          <a:round/>
                          <a:headEnd type="none" w="med" len="med"/>
                          <a:tailEnd type="none" w="med" len="med"/>
                        </a:lnR>
                        <a:lnT w="38100" cap="flat" cmpd="sng" algn="ctr">
                          <a:solidFill>
                            <a:srgbClr val="ABDEE2"/>
                          </a:solidFill>
                          <a:prstDash val="solid"/>
                          <a:round/>
                          <a:headEnd type="none" w="med" len="med"/>
                          <a:tailEnd type="none" w="med" len="med"/>
                        </a:lnT>
                        <a:lnB w="38100" cap="flat" cmpd="sng" algn="ctr">
                          <a:solidFill>
                            <a:srgbClr val="ABDEE2"/>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i="1" kern="1200" dirty="0">
                              <a:solidFill>
                                <a:srgbClr val="659C2A"/>
                              </a:solidFill>
                              <a:effectLst/>
                              <a:latin typeface="+mn-lt"/>
                              <a:ea typeface="+mn-ea"/>
                              <a:cs typeface="+mn-cs"/>
                            </a:rPr>
                            <a:t>is the change in the expected </a:t>
                          </a:r>
                          <a:r>
                            <a:rPr lang="en-US" sz="2000" b="1" i="1" kern="1200" dirty="0" err="1">
                              <a:solidFill>
                                <a:srgbClr val="659C2A"/>
                              </a:solidFill>
                              <a:effectLst/>
                              <a:latin typeface="+mn-lt"/>
                              <a:ea typeface="+mn-ea"/>
                              <a:cs typeface="+mn-cs"/>
                            </a:rPr>
                            <a:t>logSalary</a:t>
                          </a:r>
                          <a:r>
                            <a:rPr lang="en-US" sz="2000" b="1" i="1" kern="1200" dirty="0">
                              <a:solidFill>
                                <a:srgbClr val="659C2A"/>
                              </a:solidFill>
                              <a:effectLst/>
                              <a:latin typeface="+mn-lt"/>
                              <a:ea typeface="+mn-ea"/>
                              <a:cs typeface="+mn-cs"/>
                            </a:rPr>
                            <a:t> by having one more RPG while holding APG, PGP and SPG constant</a:t>
                          </a:r>
                          <a:endParaRPr lang="en-HK" sz="2000" b="1" i="1" kern="1200" dirty="0">
                            <a:solidFill>
                              <a:srgbClr val="659C2A"/>
                            </a:solidFill>
                            <a:effectLst/>
                            <a:latin typeface="+mn-lt"/>
                            <a:ea typeface="+mn-ea"/>
                            <a:cs typeface="+mn-cs"/>
                          </a:endParaRPr>
                        </a:p>
                      </a:txBody>
                      <a:tcPr marL="87321" marR="87321" anchor="ctr">
                        <a:lnL w="38100" cap="flat" cmpd="sng" algn="ctr">
                          <a:solidFill>
                            <a:srgbClr val="ABDEE2"/>
                          </a:solidFill>
                          <a:prstDash val="solid"/>
                          <a:round/>
                          <a:headEnd type="none" w="med" len="med"/>
                          <a:tailEnd type="none" w="med" len="med"/>
                        </a:lnL>
                        <a:lnR w="38100" cap="flat" cmpd="sng" algn="ctr">
                          <a:solidFill>
                            <a:srgbClr val="ABDEE2"/>
                          </a:solidFill>
                          <a:prstDash val="solid"/>
                          <a:round/>
                          <a:headEnd type="none" w="med" len="med"/>
                          <a:tailEnd type="none" w="med" len="med"/>
                        </a:lnR>
                        <a:lnT w="38100" cap="flat" cmpd="sng" algn="ctr">
                          <a:solidFill>
                            <a:srgbClr val="ABDEE2"/>
                          </a:solidFill>
                          <a:prstDash val="solid"/>
                          <a:round/>
                          <a:headEnd type="none" w="med" len="med"/>
                          <a:tailEnd type="none" w="med" len="med"/>
                        </a:lnT>
                        <a:lnB w="38100" cap="flat" cmpd="sng" algn="ctr">
                          <a:solidFill>
                            <a:srgbClr val="ABDEE2"/>
                          </a:solidFill>
                          <a:prstDash val="solid"/>
                          <a:round/>
                          <a:headEnd type="none" w="med" len="med"/>
                          <a:tailEnd type="none" w="med" len="med"/>
                        </a:lnB>
                      </a:tcPr>
                    </a:tc>
                    <a:extLst>
                      <a:ext uri="{0D108BD9-81ED-4DB2-BD59-A6C34878D82A}">
                        <a16:rowId xmlns:a16="http://schemas.microsoft.com/office/drawing/2014/main" val="10003"/>
                      </a:ext>
                    </a:extLst>
                  </a:tr>
                  <a:tr h="8382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2000" b="1" i="1" kern="1200" smtClean="0">
                                        <a:solidFill>
                                          <a:schemeClr val="tx2"/>
                                        </a:solidFill>
                                        <a:latin typeface="Cambria Math" panose="02040503050406030204" pitchFamily="18" charset="0"/>
                                        <a:ea typeface="+mn-ea"/>
                                        <a:cs typeface="+mn-cs"/>
                                      </a:rPr>
                                    </m:ctrlPr>
                                  </m:sSubPr>
                                  <m:e>
                                    <m:r>
                                      <a:rPr lang="en-US" sz="2000" b="1" kern="1200" smtClean="0">
                                        <a:solidFill>
                                          <a:schemeClr val="tx2"/>
                                        </a:solidFill>
                                        <a:latin typeface="Cambria Math" panose="02040503050406030204" pitchFamily="18" charset="0"/>
                                        <a:ea typeface="+mn-ea"/>
                                        <a:cs typeface="+mn-cs"/>
                                      </a:rPr>
                                      <m:t>𝜷</m:t>
                                    </m:r>
                                  </m:e>
                                  <m:sub>
                                    <m:r>
                                      <a:rPr lang="en-US" sz="2000" b="1" kern="1200" smtClean="0">
                                        <a:solidFill>
                                          <a:schemeClr val="tx2"/>
                                        </a:solidFill>
                                        <a:latin typeface="Cambria Math" panose="02040503050406030204" pitchFamily="18" charset="0"/>
                                        <a:ea typeface="+mn-ea"/>
                                        <a:cs typeface="+mn-cs"/>
                                      </a:rPr>
                                      <m:t>𝟒</m:t>
                                    </m:r>
                                  </m:sub>
                                </m:sSub>
                              </m:oMath>
                            </m:oMathPara>
                          </a14:m>
                          <a:endParaRPr lang="en-US" sz="2000" b="1" kern="1200" dirty="0">
                            <a:solidFill>
                              <a:schemeClr val="tx2"/>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sz="2000" b="1" kern="1200" dirty="0">
                            <a:solidFill>
                              <a:schemeClr val="tx2"/>
                            </a:solidFill>
                            <a:latin typeface="+mn-lt"/>
                            <a:ea typeface="+mn-ea"/>
                            <a:cs typeface="+mn-cs"/>
                          </a:endParaRPr>
                        </a:p>
                      </a:txBody>
                      <a:tcPr marL="87321" marR="87321" anchor="ctr">
                        <a:lnL w="38100" cap="flat" cmpd="sng" algn="ctr">
                          <a:solidFill>
                            <a:srgbClr val="ABDEE2"/>
                          </a:solidFill>
                          <a:prstDash val="solid"/>
                          <a:round/>
                          <a:headEnd type="none" w="med" len="med"/>
                          <a:tailEnd type="none" w="med" len="med"/>
                        </a:lnL>
                        <a:lnR w="38100" cap="flat" cmpd="sng" algn="ctr">
                          <a:solidFill>
                            <a:srgbClr val="ABDEE2"/>
                          </a:solidFill>
                          <a:prstDash val="solid"/>
                          <a:round/>
                          <a:headEnd type="none" w="med" len="med"/>
                          <a:tailEnd type="none" w="med" len="med"/>
                        </a:lnR>
                        <a:lnT w="38100" cap="flat" cmpd="sng" algn="ctr">
                          <a:solidFill>
                            <a:srgbClr val="ABDEE2"/>
                          </a:solidFill>
                          <a:prstDash val="solid"/>
                          <a:round/>
                          <a:headEnd type="none" w="med" len="med"/>
                          <a:tailEnd type="none" w="med" len="med"/>
                        </a:lnT>
                        <a:lnB w="38100" cap="flat" cmpd="sng" algn="ctr">
                          <a:solidFill>
                            <a:srgbClr val="ABDEE2"/>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i="1" kern="1200" dirty="0">
                              <a:solidFill>
                                <a:srgbClr val="659C2A"/>
                              </a:solidFill>
                              <a:effectLst/>
                              <a:latin typeface="+mn-lt"/>
                              <a:ea typeface="+mn-ea"/>
                              <a:cs typeface="+mn-cs"/>
                            </a:rPr>
                            <a:t>is the change in the expected </a:t>
                          </a:r>
                          <a:r>
                            <a:rPr lang="en-US" sz="2000" b="1" i="1" kern="1200" dirty="0" err="1">
                              <a:solidFill>
                                <a:srgbClr val="659C2A"/>
                              </a:solidFill>
                              <a:effectLst/>
                              <a:latin typeface="+mn-lt"/>
                              <a:ea typeface="+mn-ea"/>
                              <a:cs typeface="+mn-cs"/>
                            </a:rPr>
                            <a:t>logSalary</a:t>
                          </a:r>
                          <a:r>
                            <a:rPr lang="en-US" sz="2000" b="1" i="1" kern="1200" dirty="0">
                              <a:solidFill>
                                <a:srgbClr val="659C2A"/>
                              </a:solidFill>
                              <a:effectLst/>
                              <a:latin typeface="+mn-lt"/>
                              <a:ea typeface="+mn-ea"/>
                              <a:cs typeface="+mn-cs"/>
                            </a:rPr>
                            <a:t> by having one more SPG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i="1" kern="1200" dirty="0">
                              <a:solidFill>
                                <a:srgbClr val="659C2A"/>
                              </a:solidFill>
                              <a:effectLst/>
                              <a:latin typeface="+mn-lt"/>
                              <a:ea typeface="+mn-ea"/>
                              <a:cs typeface="+mn-cs"/>
                            </a:rPr>
                            <a:t>while holding APG, PGP and RPG constant</a:t>
                          </a:r>
                        </a:p>
                      </a:txBody>
                      <a:tcPr marL="87321" marR="87321" anchor="ctr">
                        <a:lnL w="38100" cap="flat" cmpd="sng" algn="ctr">
                          <a:solidFill>
                            <a:srgbClr val="ABDEE2"/>
                          </a:solidFill>
                          <a:prstDash val="solid"/>
                          <a:round/>
                          <a:headEnd type="none" w="med" len="med"/>
                          <a:tailEnd type="none" w="med" len="med"/>
                        </a:lnL>
                        <a:lnR w="38100" cap="flat" cmpd="sng" algn="ctr">
                          <a:solidFill>
                            <a:srgbClr val="ABDEE2"/>
                          </a:solidFill>
                          <a:prstDash val="solid"/>
                          <a:round/>
                          <a:headEnd type="none" w="med" len="med"/>
                          <a:tailEnd type="none" w="med" len="med"/>
                        </a:lnR>
                        <a:lnT w="38100" cap="flat" cmpd="sng" algn="ctr">
                          <a:solidFill>
                            <a:srgbClr val="ABDEE2"/>
                          </a:solidFill>
                          <a:prstDash val="solid"/>
                          <a:round/>
                          <a:headEnd type="none" w="med" len="med"/>
                          <a:tailEnd type="none" w="med" len="med"/>
                        </a:lnT>
                        <a:lnB w="38100" cap="flat" cmpd="sng" algn="ctr">
                          <a:solidFill>
                            <a:srgbClr val="ABDEE2"/>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mc:Choice>
        <mc:Fallback xmlns="">
          <p:graphicFrame>
            <p:nvGraphicFramePr>
              <p:cNvPr id="5" name="Table Placeholder 4"/>
              <p:cNvGraphicFramePr>
                <a:graphicFrameLocks noGrp="1"/>
              </p:cNvGraphicFramePr>
              <p:nvPr>
                <p:ph idx="1"/>
                <p:extLst>
                  <p:ext uri="{D42A27DB-BD31-4B8C-83A1-F6EECF244321}">
                    <p14:modId xmlns:p14="http://schemas.microsoft.com/office/powerpoint/2010/main" val="2281115754"/>
                  </p:ext>
                </p:extLst>
              </p:nvPr>
            </p:nvGraphicFramePr>
            <p:xfrm>
              <a:off x="762000" y="1752599"/>
              <a:ext cx="8077200" cy="4114801"/>
            </p:xfrm>
            <a:graphic>
              <a:graphicData uri="http://schemas.openxmlformats.org/drawingml/2006/table">
                <a:tbl>
                  <a:tblPr firstRow="1" bandRow="1">
                    <a:tableStyleId>{BDBED569-4797-4DF1-A0F4-6AAB3CD982D8}</a:tableStyleId>
                  </a:tblPr>
                  <a:tblGrid>
                    <a:gridCol w="873211">
                      <a:extLst>
                        <a:ext uri="{9D8B030D-6E8A-4147-A177-3AD203B41FA5}">
                          <a16:colId xmlns="" xmlns:a16="http://schemas.microsoft.com/office/drawing/2014/main" val="20000"/>
                        </a:ext>
                      </a:extLst>
                    </a:gridCol>
                    <a:gridCol w="7203989">
                      <a:extLst>
                        <a:ext uri="{9D8B030D-6E8A-4147-A177-3AD203B41FA5}">
                          <a16:colId xmlns="" xmlns:a16="http://schemas.microsoft.com/office/drawing/2014/main" val="20001"/>
                        </a:ext>
                      </a:extLst>
                    </a:gridCol>
                  </a:tblGrid>
                  <a:tr h="797527">
                    <a:tc>
                      <a:txBody>
                        <a:bodyPr/>
                        <a:lstStyle/>
                        <a:p>
                          <a:endParaRPr lang="en-US"/>
                        </a:p>
                      </a:txBody>
                      <a:tcPr marL="87321" marR="87321" anchor="ctr">
                        <a:lnL w="38100" cap="flat" cmpd="sng" algn="ctr">
                          <a:solidFill>
                            <a:srgbClr val="ABDEE2"/>
                          </a:solidFill>
                          <a:prstDash val="solid"/>
                          <a:round/>
                          <a:headEnd type="none" w="med" len="med"/>
                          <a:tailEnd type="none" w="med" len="med"/>
                        </a:lnL>
                        <a:lnR w="38100" cap="flat" cmpd="sng" algn="ctr">
                          <a:solidFill>
                            <a:srgbClr val="ABDEE2"/>
                          </a:solidFill>
                          <a:prstDash val="solid"/>
                          <a:round/>
                          <a:headEnd type="none" w="med" len="med"/>
                          <a:tailEnd type="none" w="med" len="med"/>
                        </a:lnR>
                        <a:lnT w="38100" cap="flat" cmpd="sng" algn="ctr">
                          <a:solidFill>
                            <a:srgbClr val="ABDEE2"/>
                          </a:solidFill>
                          <a:prstDash val="solid"/>
                          <a:round/>
                          <a:headEnd type="none" w="med" len="med"/>
                          <a:tailEnd type="none" w="med" len="med"/>
                        </a:lnT>
                        <a:lnB w="38100" cap="flat" cmpd="sng" algn="ctr">
                          <a:solidFill>
                            <a:srgbClr val="ABDEE2"/>
                          </a:solidFill>
                          <a:prstDash val="solid"/>
                          <a:round/>
                          <a:headEnd type="none" w="med" len="med"/>
                          <a:tailEnd type="none" w="med" len="med"/>
                        </a:lnB>
                        <a:blipFill rotWithShape="0">
                          <a:blip r:embed="rId2"/>
                          <a:stretch>
                            <a:fillRect l="-2797" t="-2290" r="-831469" b="-420611"/>
                          </a:stretch>
                        </a:blipFill>
                      </a:tcPr>
                    </a:tc>
                    <a:tc>
                      <a:txBody>
                        <a:bodyPr/>
                        <a:lstStyle/>
                        <a:p>
                          <a:pPr algn="l"/>
                          <a:r>
                            <a:rPr lang="en-US" sz="2000" b="1" i="1" kern="1200" dirty="0" smtClean="0">
                              <a:solidFill>
                                <a:srgbClr val="659C2A"/>
                              </a:solidFill>
                              <a:effectLst/>
                              <a:latin typeface="+mn-lt"/>
                              <a:ea typeface="+mn-ea"/>
                              <a:cs typeface="+mn-cs"/>
                            </a:rPr>
                            <a:t>is the expected </a:t>
                          </a:r>
                          <a:r>
                            <a:rPr lang="en-US" sz="2000" b="1" i="1" kern="1200" dirty="0" err="1" smtClean="0">
                              <a:solidFill>
                                <a:srgbClr val="659C2A"/>
                              </a:solidFill>
                              <a:effectLst/>
                              <a:latin typeface="+mn-lt"/>
                              <a:ea typeface="+mn-ea"/>
                              <a:cs typeface="+mn-cs"/>
                            </a:rPr>
                            <a:t>logSalary</a:t>
                          </a:r>
                          <a:r>
                            <a:rPr lang="en-US" sz="2000" b="1" i="1" kern="1200" dirty="0" smtClean="0">
                              <a:solidFill>
                                <a:srgbClr val="659C2A"/>
                              </a:solidFill>
                              <a:effectLst/>
                              <a:latin typeface="+mn-lt"/>
                              <a:ea typeface="+mn-ea"/>
                              <a:cs typeface="+mn-cs"/>
                            </a:rPr>
                            <a:t> for a player whose APG, PPG, RPG and</a:t>
                          </a:r>
                          <a:r>
                            <a:rPr lang="en-US" sz="2000" b="1" i="1" kern="1200" baseline="0" dirty="0" smtClean="0">
                              <a:solidFill>
                                <a:srgbClr val="659C2A"/>
                              </a:solidFill>
                              <a:effectLst/>
                              <a:latin typeface="+mn-lt"/>
                              <a:ea typeface="+mn-ea"/>
                              <a:cs typeface="+mn-cs"/>
                            </a:rPr>
                            <a:t> </a:t>
                          </a:r>
                          <a:r>
                            <a:rPr lang="en-US" sz="2000" b="1" i="1" kern="1200" dirty="0" smtClean="0">
                              <a:solidFill>
                                <a:srgbClr val="659C2A"/>
                              </a:solidFill>
                              <a:effectLst/>
                              <a:latin typeface="+mn-lt"/>
                              <a:ea typeface="+mn-ea"/>
                              <a:cs typeface="+mn-cs"/>
                            </a:rPr>
                            <a:t>SPG are all equal to 0</a:t>
                          </a:r>
                          <a:endParaRPr lang="en-HK" sz="2000" b="1" i="1" kern="1200" dirty="0" smtClean="0">
                            <a:solidFill>
                              <a:srgbClr val="659C2A"/>
                            </a:solidFill>
                            <a:effectLst/>
                            <a:latin typeface="+mn-lt"/>
                            <a:ea typeface="+mn-ea"/>
                            <a:cs typeface="+mn-cs"/>
                          </a:endParaRPr>
                        </a:p>
                      </a:txBody>
                      <a:tcPr marL="87321" marR="87321" anchor="ctr">
                        <a:lnL w="38100" cap="flat" cmpd="sng" algn="ctr">
                          <a:solidFill>
                            <a:srgbClr val="ABDEE2"/>
                          </a:solidFill>
                          <a:prstDash val="solid"/>
                          <a:round/>
                          <a:headEnd type="none" w="med" len="med"/>
                          <a:tailEnd type="none" w="med" len="med"/>
                        </a:lnL>
                        <a:lnR w="38100" cap="flat" cmpd="sng" algn="ctr">
                          <a:solidFill>
                            <a:srgbClr val="ABDEE2"/>
                          </a:solidFill>
                          <a:prstDash val="solid"/>
                          <a:round/>
                          <a:headEnd type="none" w="med" len="med"/>
                          <a:tailEnd type="none" w="med" len="med"/>
                        </a:lnR>
                        <a:lnT w="38100" cap="flat" cmpd="sng" algn="ctr">
                          <a:solidFill>
                            <a:srgbClr val="ABDEE2"/>
                          </a:solidFill>
                          <a:prstDash val="solid"/>
                          <a:round/>
                          <a:headEnd type="none" w="med" len="med"/>
                          <a:tailEnd type="none" w="med" len="med"/>
                        </a:lnT>
                        <a:lnB w="38100" cap="flat" cmpd="sng" algn="ctr">
                          <a:solidFill>
                            <a:srgbClr val="ABDEE2"/>
                          </a:solidFill>
                          <a:prstDash val="solid"/>
                          <a:round/>
                          <a:headEnd type="none" w="med" len="med"/>
                          <a:tailEnd type="none" w="med" len="med"/>
                        </a:lnB>
                      </a:tcPr>
                    </a:tc>
                    <a:extLst>
                      <a:ext uri="{0D108BD9-81ED-4DB2-BD59-A6C34878D82A}">
                        <a16:rowId xmlns="" xmlns:a16="http://schemas.microsoft.com/office/drawing/2014/main" val="10000"/>
                      </a:ext>
                    </a:extLst>
                  </a:tr>
                  <a:tr h="802674">
                    <a:tc>
                      <a:txBody>
                        <a:bodyPr/>
                        <a:lstStyle/>
                        <a:p>
                          <a:endParaRPr lang="en-US"/>
                        </a:p>
                      </a:txBody>
                      <a:tcPr marL="87321" marR="87321" anchor="ctr">
                        <a:lnL w="38100" cap="flat" cmpd="sng" algn="ctr">
                          <a:solidFill>
                            <a:srgbClr val="ABDEE2"/>
                          </a:solidFill>
                          <a:prstDash val="solid"/>
                          <a:round/>
                          <a:headEnd type="none" w="med" len="med"/>
                          <a:tailEnd type="none" w="med" len="med"/>
                        </a:lnL>
                        <a:lnR w="38100" cap="flat" cmpd="sng" algn="ctr">
                          <a:solidFill>
                            <a:srgbClr val="ABDEE2"/>
                          </a:solidFill>
                          <a:prstDash val="solid"/>
                          <a:round/>
                          <a:headEnd type="none" w="med" len="med"/>
                          <a:tailEnd type="none" w="med" len="med"/>
                        </a:lnR>
                        <a:lnT w="38100" cap="flat" cmpd="sng" algn="ctr">
                          <a:solidFill>
                            <a:srgbClr val="ABDEE2"/>
                          </a:solidFill>
                          <a:prstDash val="solid"/>
                          <a:round/>
                          <a:headEnd type="none" w="med" len="med"/>
                          <a:tailEnd type="none" w="med" len="med"/>
                        </a:lnT>
                        <a:lnB w="38100" cap="flat" cmpd="sng" algn="ctr">
                          <a:solidFill>
                            <a:srgbClr val="ABDEE2"/>
                          </a:solidFill>
                          <a:prstDash val="solid"/>
                          <a:round/>
                          <a:headEnd type="none" w="med" len="med"/>
                          <a:tailEnd type="none" w="med" len="med"/>
                        </a:lnB>
                        <a:blipFill rotWithShape="0">
                          <a:blip r:embed="rId2"/>
                          <a:stretch>
                            <a:fillRect l="-2797" t="-101515" r="-831469" b="-317424"/>
                          </a:stretch>
                        </a:blip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i="1" kern="1200" dirty="0" smtClean="0">
                              <a:solidFill>
                                <a:srgbClr val="659C2A"/>
                              </a:solidFill>
                              <a:effectLst/>
                              <a:latin typeface="+mn-lt"/>
                              <a:ea typeface="+mn-ea"/>
                              <a:cs typeface="+mn-cs"/>
                            </a:rPr>
                            <a:t>is the change in the expected </a:t>
                          </a:r>
                          <a:r>
                            <a:rPr lang="en-US" sz="2000" b="1" i="1" kern="1200" dirty="0" err="1" smtClean="0">
                              <a:solidFill>
                                <a:srgbClr val="659C2A"/>
                              </a:solidFill>
                              <a:effectLst/>
                              <a:latin typeface="+mn-lt"/>
                              <a:ea typeface="+mn-ea"/>
                              <a:cs typeface="+mn-cs"/>
                            </a:rPr>
                            <a:t>logSalary</a:t>
                          </a:r>
                          <a:r>
                            <a:rPr lang="en-US" sz="2000" b="1" i="1" kern="1200" dirty="0" smtClean="0">
                              <a:solidFill>
                                <a:srgbClr val="659C2A"/>
                              </a:solidFill>
                              <a:effectLst/>
                              <a:latin typeface="+mn-lt"/>
                              <a:ea typeface="+mn-ea"/>
                              <a:cs typeface="+mn-cs"/>
                            </a:rPr>
                            <a:t> by</a:t>
                          </a:r>
                          <a:r>
                            <a:rPr lang="en-US" sz="2000" b="1" i="1" kern="1200" baseline="0" dirty="0" smtClean="0">
                              <a:solidFill>
                                <a:srgbClr val="659C2A"/>
                              </a:solidFill>
                              <a:effectLst/>
                              <a:latin typeface="+mn-lt"/>
                              <a:ea typeface="+mn-ea"/>
                              <a:cs typeface="+mn-cs"/>
                            </a:rPr>
                            <a:t> having one more</a:t>
                          </a:r>
                          <a:r>
                            <a:rPr lang="en-US" sz="2000" b="1" i="1" kern="1200" dirty="0" smtClean="0">
                              <a:solidFill>
                                <a:srgbClr val="659C2A"/>
                              </a:solidFill>
                              <a:effectLst/>
                              <a:latin typeface="+mn-lt"/>
                              <a:ea typeface="+mn-ea"/>
                              <a:cs typeface="+mn-cs"/>
                            </a:rPr>
                            <a:t> APG while holding</a:t>
                          </a:r>
                          <a:r>
                            <a:rPr lang="en-US" sz="2000" b="1" i="1" kern="1200" baseline="0" dirty="0" smtClean="0">
                              <a:solidFill>
                                <a:srgbClr val="659C2A"/>
                              </a:solidFill>
                              <a:effectLst/>
                              <a:latin typeface="+mn-lt"/>
                              <a:ea typeface="+mn-ea"/>
                              <a:cs typeface="+mn-cs"/>
                            </a:rPr>
                            <a:t> PPG, RGP and SPG</a:t>
                          </a:r>
                          <a:r>
                            <a:rPr lang="en-US" sz="2000" b="1" i="1" kern="1200" dirty="0" smtClean="0">
                              <a:solidFill>
                                <a:srgbClr val="659C2A"/>
                              </a:solidFill>
                              <a:effectLst/>
                              <a:latin typeface="+mn-lt"/>
                              <a:ea typeface="+mn-ea"/>
                              <a:cs typeface="+mn-cs"/>
                            </a:rPr>
                            <a:t> constant</a:t>
                          </a:r>
                          <a:endParaRPr lang="en-US" sz="2000" dirty="0">
                            <a:solidFill>
                              <a:srgbClr val="84898C"/>
                            </a:solidFill>
                            <a:latin typeface="Cambria" pitchFamily="18" charset="0"/>
                            <a:cs typeface="Times New Roman" pitchFamily="18" charset="0"/>
                          </a:endParaRPr>
                        </a:p>
                      </a:txBody>
                      <a:tcPr marL="87321" marR="87321" anchor="ctr">
                        <a:lnL w="38100" cap="flat" cmpd="sng" algn="ctr">
                          <a:solidFill>
                            <a:srgbClr val="ABDEE2"/>
                          </a:solidFill>
                          <a:prstDash val="solid"/>
                          <a:round/>
                          <a:headEnd type="none" w="med" len="med"/>
                          <a:tailEnd type="none" w="med" len="med"/>
                        </a:lnL>
                        <a:lnR w="38100" cap="flat" cmpd="sng" algn="ctr">
                          <a:solidFill>
                            <a:srgbClr val="ABDEE2"/>
                          </a:solidFill>
                          <a:prstDash val="solid"/>
                          <a:round/>
                          <a:headEnd type="none" w="med" len="med"/>
                          <a:tailEnd type="none" w="med" len="med"/>
                        </a:lnR>
                        <a:lnT w="38100" cap="flat" cmpd="sng" algn="ctr">
                          <a:solidFill>
                            <a:srgbClr val="ABDEE2"/>
                          </a:solidFill>
                          <a:prstDash val="solid"/>
                          <a:round/>
                          <a:headEnd type="none" w="med" len="med"/>
                          <a:tailEnd type="none" w="med" len="med"/>
                        </a:lnT>
                        <a:lnB w="38100" cap="flat" cmpd="sng" algn="ctr">
                          <a:solidFill>
                            <a:srgbClr val="ABDEE2"/>
                          </a:solidFill>
                          <a:prstDash val="solid"/>
                          <a:round/>
                          <a:headEnd type="none" w="med" len="med"/>
                          <a:tailEnd type="none" w="med" len="med"/>
                        </a:lnB>
                      </a:tcPr>
                    </a:tc>
                    <a:extLst>
                      <a:ext uri="{0D108BD9-81ED-4DB2-BD59-A6C34878D82A}">
                        <a16:rowId xmlns="" xmlns:a16="http://schemas.microsoft.com/office/drawing/2014/main" val="10001"/>
                      </a:ext>
                    </a:extLst>
                  </a:tr>
                  <a:tr h="863633">
                    <a:tc>
                      <a:txBody>
                        <a:bodyPr/>
                        <a:lstStyle/>
                        <a:p>
                          <a:endParaRPr lang="en-US"/>
                        </a:p>
                      </a:txBody>
                      <a:tcPr marL="87321" marR="87321" anchor="ctr">
                        <a:lnL w="38100" cap="flat" cmpd="sng" algn="ctr">
                          <a:solidFill>
                            <a:srgbClr val="ABDEE2"/>
                          </a:solidFill>
                          <a:prstDash val="solid"/>
                          <a:round/>
                          <a:headEnd type="none" w="med" len="med"/>
                          <a:tailEnd type="none" w="med" len="med"/>
                        </a:lnL>
                        <a:lnR w="38100" cap="flat" cmpd="sng" algn="ctr">
                          <a:solidFill>
                            <a:srgbClr val="ABDEE2"/>
                          </a:solidFill>
                          <a:prstDash val="solid"/>
                          <a:round/>
                          <a:headEnd type="none" w="med" len="med"/>
                          <a:tailEnd type="none" w="med" len="med"/>
                        </a:lnR>
                        <a:lnT w="38100" cap="flat" cmpd="sng" algn="ctr">
                          <a:solidFill>
                            <a:srgbClr val="ABDEE2"/>
                          </a:solidFill>
                          <a:prstDash val="solid"/>
                          <a:round/>
                          <a:headEnd type="none" w="med" len="med"/>
                          <a:tailEnd type="none" w="med" len="med"/>
                        </a:lnT>
                        <a:lnB w="38100" cap="flat" cmpd="sng" algn="ctr">
                          <a:solidFill>
                            <a:srgbClr val="ABDEE2"/>
                          </a:solidFill>
                          <a:prstDash val="solid"/>
                          <a:round/>
                          <a:headEnd type="none" w="med" len="med"/>
                          <a:tailEnd type="none" w="med" len="med"/>
                        </a:lnB>
                        <a:blipFill rotWithShape="0">
                          <a:blip r:embed="rId2"/>
                          <a:stretch>
                            <a:fillRect l="-2797" t="-187324" r="-831469" b="-195070"/>
                          </a:stretch>
                        </a:blip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i="1" kern="1200" dirty="0" smtClean="0">
                              <a:solidFill>
                                <a:srgbClr val="659C2A"/>
                              </a:solidFill>
                              <a:effectLst/>
                              <a:latin typeface="+mn-lt"/>
                              <a:ea typeface="+mn-ea"/>
                              <a:cs typeface="+mn-cs"/>
                            </a:rPr>
                            <a:t>is the change in the expected </a:t>
                          </a:r>
                          <a:r>
                            <a:rPr lang="en-US" sz="2000" b="1" i="1" kern="1200" dirty="0" err="1" smtClean="0">
                              <a:solidFill>
                                <a:srgbClr val="659C2A"/>
                              </a:solidFill>
                              <a:effectLst/>
                              <a:latin typeface="+mn-lt"/>
                              <a:ea typeface="+mn-ea"/>
                              <a:cs typeface="+mn-cs"/>
                            </a:rPr>
                            <a:t>logSalary</a:t>
                          </a:r>
                          <a:r>
                            <a:rPr lang="en-US" sz="2000" b="1" i="1" kern="1200" dirty="0" smtClean="0">
                              <a:solidFill>
                                <a:srgbClr val="659C2A"/>
                              </a:solidFill>
                              <a:effectLst/>
                              <a:latin typeface="+mn-lt"/>
                              <a:ea typeface="+mn-ea"/>
                              <a:cs typeface="+mn-cs"/>
                            </a:rPr>
                            <a:t> by having one more PPG while holding APG, RGP and SPG constant</a:t>
                          </a:r>
                          <a:endParaRPr lang="en-HK" sz="2000" b="1" i="1" kern="1200" dirty="0" smtClean="0">
                            <a:solidFill>
                              <a:srgbClr val="659C2A"/>
                            </a:solidFill>
                            <a:effectLst/>
                            <a:latin typeface="+mn-lt"/>
                            <a:ea typeface="+mn-ea"/>
                            <a:cs typeface="+mn-cs"/>
                          </a:endParaRPr>
                        </a:p>
                      </a:txBody>
                      <a:tcPr marL="87321" marR="87321" anchor="ctr">
                        <a:lnL w="38100" cap="flat" cmpd="sng" algn="ctr">
                          <a:solidFill>
                            <a:srgbClr val="ABDEE2"/>
                          </a:solidFill>
                          <a:prstDash val="solid"/>
                          <a:round/>
                          <a:headEnd type="none" w="med" len="med"/>
                          <a:tailEnd type="none" w="med" len="med"/>
                        </a:lnL>
                        <a:lnR w="38100" cap="flat" cmpd="sng" algn="ctr">
                          <a:solidFill>
                            <a:srgbClr val="ABDEE2"/>
                          </a:solidFill>
                          <a:prstDash val="solid"/>
                          <a:round/>
                          <a:headEnd type="none" w="med" len="med"/>
                          <a:tailEnd type="none" w="med" len="med"/>
                        </a:lnR>
                        <a:lnT w="38100" cap="flat" cmpd="sng" algn="ctr">
                          <a:solidFill>
                            <a:srgbClr val="ABDEE2"/>
                          </a:solidFill>
                          <a:prstDash val="solid"/>
                          <a:round/>
                          <a:headEnd type="none" w="med" len="med"/>
                          <a:tailEnd type="none" w="med" len="med"/>
                        </a:lnT>
                        <a:lnB w="38100" cap="flat" cmpd="sng" algn="ctr">
                          <a:solidFill>
                            <a:srgbClr val="ABDEE2"/>
                          </a:solidFill>
                          <a:prstDash val="solid"/>
                          <a:round/>
                          <a:headEnd type="none" w="med" len="med"/>
                          <a:tailEnd type="none" w="med" len="med"/>
                        </a:lnB>
                      </a:tcPr>
                    </a:tc>
                    <a:extLst>
                      <a:ext uri="{0D108BD9-81ED-4DB2-BD59-A6C34878D82A}">
                        <a16:rowId xmlns="" xmlns:a16="http://schemas.microsoft.com/office/drawing/2014/main" val="10002"/>
                      </a:ext>
                    </a:extLst>
                  </a:tr>
                  <a:tr h="812767">
                    <a:tc>
                      <a:txBody>
                        <a:bodyPr/>
                        <a:lstStyle/>
                        <a:p>
                          <a:endParaRPr lang="en-US"/>
                        </a:p>
                      </a:txBody>
                      <a:tcPr marL="87321" marR="87321" anchor="ctr">
                        <a:lnL w="38100" cap="flat" cmpd="sng" algn="ctr">
                          <a:solidFill>
                            <a:srgbClr val="ABDEE2"/>
                          </a:solidFill>
                          <a:prstDash val="solid"/>
                          <a:round/>
                          <a:headEnd type="none" w="med" len="med"/>
                          <a:tailEnd type="none" w="med" len="med"/>
                        </a:lnL>
                        <a:lnR w="38100" cap="flat" cmpd="sng" algn="ctr">
                          <a:solidFill>
                            <a:srgbClr val="ABDEE2"/>
                          </a:solidFill>
                          <a:prstDash val="solid"/>
                          <a:round/>
                          <a:headEnd type="none" w="med" len="med"/>
                          <a:tailEnd type="none" w="med" len="med"/>
                        </a:lnR>
                        <a:lnT w="38100" cap="flat" cmpd="sng" algn="ctr">
                          <a:solidFill>
                            <a:srgbClr val="ABDEE2"/>
                          </a:solidFill>
                          <a:prstDash val="solid"/>
                          <a:round/>
                          <a:headEnd type="none" w="med" len="med"/>
                          <a:tailEnd type="none" w="med" len="med"/>
                        </a:lnT>
                        <a:lnB w="38100" cap="flat" cmpd="sng" algn="ctr">
                          <a:solidFill>
                            <a:srgbClr val="ABDEE2"/>
                          </a:solidFill>
                          <a:prstDash val="solid"/>
                          <a:round/>
                          <a:headEnd type="none" w="med" len="med"/>
                          <a:tailEnd type="none" w="med" len="med"/>
                        </a:lnB>
                        <a:blipFill rotWithShape="0">
                          <a:blip r:embed="rId2"/>
                          <a:stretch>
                            <a:fillRect l="-2797" t="-306767" r="-831469" b="-108271"/>
                          </a:stretch>
                        </a:blip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i="1" kern="1200" dirty="0" smtClean="0">
                              <a:solidFill>
                                <a:srgbClr val="659C2A"/>
                              </a:solidFill>
                              <a:effectLst/>
                              <a:latin typeface="+mn-lt"/>
                              <a:ea typeface="+mn-ea"/>
                              <a:cs typeface="+mn-cs"/>
                            </a:rPr>
                            <a:t>is the change in the expected </a:t>
                          </a:r>
                          <a:r>
                            <a:rPr lang="en-US" sz="2000" b="1" i="1" kern="1200" dirty="0" err="1" smtClean="0">
                              <a:solidFill>
                                <a:srgbClr val="659C2A"/>
                              </a:solidFill>
                              <a:effectLst/>
                              <a:latin typeface="+mn-lt"/>
                              <a:ea typeface="+mn-ea"/>
                              <a:cs typeface="+mn-cs"/>
                            </a:rPr>
                            <a:t>logSalary</a:t>
                          </a:r>
                          <a:r>
                            <a:rPr lang="en-US" sz="2000" b="1" i="1" kern="1200" dirty="0" smtClean="0">
                              <a:solidFill>
                                <a:srgbClr val="659C2A"/>
                              </a:solidFill>
                              <a:effectLst/>
                              <a:latin typeface="+mn-lt"/>
                              <a:ea typeface="+mn-ea"/>
                              <a:cs typeface="+mn-cs"/>
                            </a:rPr>
                            <a:t> by having one more RPG while holding APG, PGP and SPG constant</a:t>
                          </a:r>
                          <a:endParaRPr lang="en-HK" sz="2000" b="1" i="1" kern="1200" dirty="0" smtClean="0">
                            <a:solidFill>
                              <a:srgbClr val="659C2A"/>
                            </a:solidFill>
                            <a:effectLst/>
                            <a:latin typeface="+mn-lt"/>
                            <a:ea typeface="+mn-ea"/>
                            <a:cs typeface="+mn-cs"/>
                          </a:endParaRPr>
                        </a:p>
                      </a:txBody>
                      <a:tcPr marL="87321" marR="87321" anchor="ctr">
                        <a:lnL w="38100" cap="flat" cmpd="sng" algn="ctr">
                          <a:solidFill>
                            <a:srgbClr val="ABDEE2"/>
                          </a:solidFill>
                          <a:prstDash val="solid"/>
                          <a:round/>
                          <a:headEnd type="none" w="med" len="med"/>
                          <a:tailEnd type="none" w="med" len="med"/>
                        </a:lnL>
                        <a:lnR w="38100" cap="flat" cmpd="sng" algn="ctr">
                          <a:solidFill>
                            <a:srgbClr val="ABDEE2"/>
                          </a:solidFill>
                          <a:prstDash val="solid"/>
                          <a:round/>
                          <a:headEnd type="none" w="med" len="med"/>
                          <a:tailEnd type="none" w="med" len="med"/>
                        </a:lnR>
                        <a:lnT w="38100" cap="flat" cmpd="sng" algn="ctr">
                          <a:solidFill>
                            <a:srgbClr val="ABDEE2"/>
                          </a:solidFill>
                          <a:prstDash val="solid"/>
                          <a:round/>
                          <a:headEnd type="none" w="med" len="med"/>
                          <a:tailEnd type="none" w="med" len="med"/>
                        </a:lnT>
                        <a:lnB w="38100" cap="flat" cmpd="sng" algn="ctr">
                          <a:solidFill>
                            <a:srgbClr val="ABDEE2"/>
                          </a:solidFill>
                          <a:prstDash val="solid"/>
                          <a:round/>
                          <a:headEnd type="none" w="med" len="med"/>
                          <a:tailEnd type="none" w="med" len="med"/>
                        </a:lnB>
                      </a:tcPr>
                    </a:tc>
                    <a:extLst>
                      <a:ext uri="{0D108BD9-81ED-4DB2-BD59-A6C34878D82A}">
                        <a16:rowId xmlns="" xmlns:a16="http://schemas.microsoft.com/office/drawing/2014/main" val="10003"/>
                      </a:ext>
                    </a:extLst>
                  </a:tr>
                  <a:tr h="838200">
                    <a:tc>
                      <a:txBody>
                        <a:bodyPr/>
                        <a:lstStyle/>
                        <a:p>
                          <a:endParaRPr lang="en-US"/>
                        </a:p>
                      </a:txBody>
                      <a:tcPr marL="87321" marR="87321" anchor="ctr">
                        <a:lnL w="38100" cap="flat" cmpd="sng" algn="ctr">
                          <a:solidFill>
                            <a:srgbClr val="ABDEE2"/>
                          </a:solidFill>
                          <a:prstDash val="solid"/>
                          <a:round/>
                          <a:headEnd type="none" w="med" len="med"/>
                          <a:tailEnd type="none" w="med" len="med"/>
                        </a:lnL>
                        <a:lnR w="38100" cap="flat" cmpd="sng" algn="ctr">
                          <a:solidFill>
                            <a:srgbClr val="ABDEE2"/>
                          </a:solidFill>
                          <a:prstDash val="solid"/>
                          <a:round/>
                          <a:headEnd type="none" w="med" len="med"/>
                          <a:tailEnd type="none" w="med" len="med"/>
                        </a:lnR>
                        <a:lnT w="38100" cap="flat" cmpd="sng" algn="ctr">
                          <a:solidFill>
                            <a:srgbClr val="ABDEE2"/>
                          </a:solidFill>
                          <a:prstDash val="solid"/>
                          <a:round/>
                          <a:headEnd type="none" w="med" len="med"/>
                          <a:tailEnd type="none" w="med" len="med"/>
                        </a:lnT>
                        <a:lnB w="38100" cap="flat" cmpd="sng" algn="ctr">
                          <a:solidFill>
                            <a:srgbClr val="ABDEE2"/>
                          </a:solidFill>
                          <a:prstDash val="solid"/>
                          <a:round/>
                          <a:headEnd type="none" w="med" len="med"/>
                          <a:tailEnd type="none" w="med" len="med"/>
                        </a:lnB>
                        <a:blipFill rotWithShape="0">
                          <a:blip r:embed="rId2"/>
                          <a:stretch>
                            <a:fillRect l="-2797" t="-392029" r="-831469" b="-4348"/>
                          </a:stretch>
                        </a:blip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i="1" kern="1200" dirty="0" smtClean="0">
                              <a:solidFill>
                                <a:srgbClr val="659C2A"/>
                              </a:solidFill>
                              <a:effectLst/>
                              <a:latin typeface="+mn-lt"/>
                              <a:ea typeface="+mn-ea"/>
                              <a:cs typeface="+mn-cs"/>
                            </a:rPr>
                            <a:t>is the change in the expected </a:t>
                          </a:r>
                          <a:r>
                            <a:rPr lang="en-US" sz="2000" b="1" i="1" kern="1200" dirty="0" err="1" smtClean="0">
                              <a:solidFill>
                                <a:srgbClr val="659C2A"/>
                              </a:solidFill>
                              <a:effectLst/>
                              <a:latin typeface="+mn-lt"/>
                              <a:ea typeface="+mn-ea"/>
                              <a:cs typeface="+mn-cs"/>
                            </a:rPr>
                            <a:t>logSalary</a:t>
                          </a:r>
                          <a:r>
                            <a:rPr lang="en-US" sz="2000" b="1" i="1" kern="1200" dirty="0" smtClean="0">
                              <a:solidFill>
                                <a:srgbClr val="659C2A"/>
                              </a:solidFill>
                              <a:effectLst/>
                              <a:latin typeface="+mn-lt"/>
                              <a:ea typeface="+mn-ea"/>
                              <a:cs typeface="+mn-cs"/>
                            </a:rPr>
                            <a:t> by having one more SPG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i="1" kern="1200" dirty="0" smtClean="0">
                              <a:solidFill>
                                <a:srgbClr val="659C2A"/>
                              </a:solidFill>
                              <a:effectLst/>
                              <a:latin typeface="+mn-lt"/>
                              <a:ea typeface="+mn-ea"/>
                              <a:cs typeface="+mn-cs"/>
                            </a:rPr>
                            <a:t>while holding APG, PGP and RPG constant</a:t>
                          </a:r>
                          <a:endParaRPr lang="en-US" sz="2000" b="1" i="1" kern="1200" dirty="0">
                            <a:solidFill>
                              <a:srgbClr val="659C2A"/>
                            </a:solidFill>
                            <a:effectLst/>
                            <a:latin typeface="+mn-lt"/>
                            <a:ea typeface="+mn-ea"/>
                            <a:cs typeface="+mn-cs"/>
                          </a:endParaRPr>
                        </a:p>
                      </a:txBody>
                      <a:tcPr marL="87321" marR="87321" anchor="ctr">
                        <a:lnL w="38100" cap="flat" cmpd="sng" algn="ctr">
                          <a:solidFill>
                            <a:srgbClr val="ABDEE2"/>
                          </a:solidFill>
                          <a:prstDash val="solid"/>
                          <a:round/>
                          <a:headEnd type="none" w="med" len="med"/>
                          <a:tailEnd type="none" w="med" len="med"/>
                        </a:lnL>
                        <a:lnR w="38100" cap="flat" cmpd="sng" algn="ctr">
                          <a:solidFill>
                            <a:srgbClr val="ABDEE2"/>
                          </a:solidFill>
                          <a:prstDash val="solid"/>
                          <a:round/>
                          <a:headEnd type="none" w="med" len="med"/>
                          <a:tailEnd type="none" w="med" len="med"/>
                        </a:lnR>
                        <a:lnT w="38100" cap="flat" cmpd="sng" algn="ctr">
                          <a:solidFill>
                            <a:srgbClr val="ABDEE2"/>
                          </a:solidFill>
                          <a:prstDash val="solid"/>
                          <a:round/>
                          <a:headEnd type="none" w="med" len="med"/>
                          <a:tailEnd type="none" w="med" len="med"/>
                        </a:lnT>
                        <a:lnB w="38100" cap="flat" cmpd="sng" algn="ctr">
                          <a:solidFill>
                            <a:srgbClr val="ABDEE2"/>
                          </a:solidFill>
                          <a:prstDash val="solid"/>
                          <a:round/>
                          <a:headEnd type="none" w="med" len="med"/>
                          <a:tailEnd type="none" w="med" len="med"/>
                        </a:lnB>
                      </a:tcPr>
                    </a:tc>
                  </a:tr>
                </a:tbl>
              </a:graphicData>
            </a:graphic>
          </p:graphicFrame>
        </mc:Fallback>
      </mc:AlternateContent>
    </p:spTree>
    <p:extLst>
      <p:ext uri="{BB962C8B-B14F-4D97-AF65-F5344CB8AC3E}">
        <p14:creationId xmlns:p14="http://schemas.microsoft.com/office/powerpoint/2010/main" val="1078513492"/>
      </p:ext>
    </p:extLst>
  </p:cSld>
  <p:clrMapOvr>
    <a:masterClrMapping/>
  </p:clrMapOvr>
  <p:transition spd="slow">
    <p:wipe dir="d"/>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p:cNvSpPr>
                <a:spLocks noGrp="1"/>
              </p:cNvSpPr>
              <p:nvPr>
                <p:ph idx="1"/>
              </p:nvPr>
            </p:nvSpPr>
            <p:spPr>
              <a:xfrm>
                <a:off x="795379" y="1219200"/>
                <a:ext cx="8271933" cy="5486400"/>
              </a:xfrm>
            </p:spPr>
            <p:txBody>
              <a:bodyPr>
                <a:normAutofit/>
              </a:bodyPr>
              <a:lstStyle/>
              <a:p>
                <a:r>
                  <a:rPr lang="en-US" dirty="0"/>
                  <a:t>Define the </a:t>
                </a:r>
                <a:r>
                  <a:rPr lang="en-US" sz="2800" b="1" i="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deviation</a:t>
                </a:r>
                <a:r>
                  <a:rPr lang="en-US" sz="2800" i="1" dirty="0"/>
                  <a:t>: </a:t>
                </a:r>
                <a14:m>
                  <m:oMath xmlns:m="http://schemas.openxmlformats.org/officeDocument/2006/math">
                    <m:sSub>
                      <m:sSubPr>
                        <m:ctrlPr>
                          <a:rPr lang="en-US" sz="2800" i="1" smtClean="0">
                            <a:solidFill>
                              <a:schemeClr val="accent6">
                                <a:lumMod val="50000"/>
                              </a:schemeClr>
                            </a:solidFill>
                            <a:latin typeface="Cambria Math" panose="02040503050406030204" pitchFamily="18" charset="0"/>
                          </a:rPr>
                        </m:ctrlPr>
                      </m:sSubPr>
                      <m:e>
                        <m:r>
                          <a:rPr lang="en-US" sz="2800" b="0" i="1">
                            <a:solidFill>
                              <a:schemeClr val="accent6">
                                <a:lumMod val="50000"/>
                              </a:schemeClr>
                            </a:solidFill>
                            <a:latin typeface="Cambria Math" panose="02040503050406030204" pitchFamily="18" charset="0"/>
                          </a:rPr>
                          <m:t>𝑌</m:t>
                        </m:r>
                      </m:e>
                      <m:sub>
                        <m:r>
                          <a:rPr lang="en-US" sz="2800" b="0" i="1">
                            <a:solidFill>
                              <a:schemeClr val="accent6">
                                <a:lumMod val="50000"/>
                              </a:schemeClr>
                            </a:solidFill>
                            <a:latin typeface="Cambria Math" panose="02040503050406030204" pitchFamily="18" charset="0"/>
                          </a:rPr>
                          <m:t>𝑖</m:t>
                        </m:r>
                      </m:sub>
                    </m:sSub>
                    <m:r>
                      <a:rPr lang="en-US" sz="2800" b="0" i="1">
                        <a:solidFill>
                          <a:schemeClr val="accent6">
                            <a:lumMod val="50000"/>
                          </a:schemeClr>
                        </a:solidFill>
                        <a:latin typeface="Cambria Math" panose="02040503050406030204" pitchFamily="18" charset="0"/>
                      </a:rPr>
                      <m:t>−</m:t>
                    </m:r>
                    <m:d>
                      <m:dPr>
                        <m:ctrlPr>
                          <a:rPr lang="en-US" sz="2800" i="1">
                            <a:solidFill>
                              <a:schemeClr val="accent6">
                                <a:lumMod val="50000"/>
                              </a:schemeClr>
                            </a:solidFill>
                            <a:latin typeface="Cambria Math" panose="02040503050406030204" pitchFamily="18" charset="0"/>
                          </a:rPr>
                        </m:ctrlPr>
                      </m:dPr>
                      <m:e>
                        <m:sSub>
                          <m:sSubPr>
                            <m:ctrlPr>
                              <a:rPr lang="en-US" sz="2800" i="1">
                                <a:solidFill>
                                  <a:schemeClr val="accent6">
                                    <a:lumMod val="50000"/>
                                  </a:schemeClr>
                                </a:solidFill>
                                <a:latin typeface="Cambria Math" panose="02040503050406030204" pitchFamily="18" charset="0"/>
                              </a:rPr>
                            </m:ctrlPr>
                          </m:sSubPr>
                          <m:e>
                            <m:r>
                              <a:rPr lang="en-US" sz="2800" b="0" i="1">
                                <a:solidFill>
                                  <a:schemeClr val="accent6">
                                    <a:lumMod val="50000"/>
                                  </a:schemeClr>
                                </a:solidFill>
                                <a:latin typeface="Cambria Math" panose="02040503050406030204" pitchFamily="18" charset="0"/>
                              </a:rPr>
                              <m:t>𝛽</m:t>
                            </m:r>
                          </m:e>
                          <m:sub>
                            <m:r>
                              <a:rPr lang="en-US" sz="2800" b="0" i="1">
                                <a:solidFill>
                                  <a:schemeClr val="accent6">
                                    <a:lumMod val="50000"/>
                                  </a:schemeClr>
                                </a:solidFill>
                                <a:latin typeface="Cambria Math" panose="02040503050406030204" pitchFamily="18" charset="0"/>
                              </a:rPr>
                              <m:t>0</m:t>
                            </m:r>
                          </m:sub>
                        </m:sSub>
                        <m:r>
                          <a:rPr lang="en-US" sz="2800" b="0" i="1">
                            <a:solidFill>
                              <a:schemeClr val="accent6">
                                <a:lumMod val="50000"/>
                              </a:schemeClr>
                            </a:solidFill>
                            <a:latin typeface="Cambria Math" panose="02040503050406030204" pitchFamily="18" charset="0"/>
                          </a:rPr>
                          <m:t>+</m:t>
                        </m:r>
                        <m:sSub>
                          <m:sSubPr>
                            <m:ctrlPr>
                              <a:rPr lang="en-US" sz="2800" i="1">
                                <a:solidFill>
                                  <a:schemeClr val="accent6">
                                    <a:lumMod val="50000"/>
                                  </a:schemeClr>
                                </a:solidFill>
                                <a:latin typeface="Cambria Math" panose="02040503050406030204" pitchFamily="18" charset="0"/>
                              </a:rPr>
                            </m:ctrlPr>
                          </m:sSubPr>
                          <m:e>
                            <m:r>
                              <a:rPr lang="en-US" sz="2800" b="0" i="1">
                                <a:solidFill>
                                  <a:schemeClr val="accent6">
                                    <a:lumMod val="50000"/>
                                  </a:schemeClr>
                                </a:solidFill>
                                <a:latin typeface="Cambria Math" panose="02040503050406030204" pitchFamily="18" charset="0"/>
                              </a:rPr>
                              <m:t>𝛽</m:t>
                            </m:r>
                          </m:e>
                          <m:sub>
                            <m:r>
                              <a:rPr lang="en-US" sz="2800" b="0" i="1" smtClean="0">
                                <a:solidFill>
                                  <a:schemeClr val="accent6">
                                    <a:lumMod val="50000"/>
                                  </a:schemeClr>
                                </a:solidFill>
                                <a:latin typeface="Cambria Math" panose="02040503050406030204" pitchFamily="18" charset="0"/>
                              </a:rPr>
                              <m:t>1</m:t>
                            </m:r>
                          </m:sub>
                        </m:sSub>
                        <m:sSub>
                          <m:sSubPr>
                            <m:ctrlPr>
                              <a:rPr lang="en-US" sz="2800" i="1">
                                <a:solidFill>
                                  <a:schemeClr val="accent6">
                                    <a:lumMod val="50000"/>
                                  </a:schemeClr>
                                </a:solidFill>
                                <a:latin typeface="Cambria Math" panose="02040503050406030204" pitchFamily="18" charset="0"/>
                              </a:rPr>
                            </m:ctrlPr>
                          </m:sSubPr>
                          <m:e>
                            <m:r>
                              <a:rPr lang="en-US" sz="2800" b="0" i="1">
                                <a:solidFill>
                                  <a:schemeClr val="accent6">
                                    <a:lumMod val="50000"/>
                                  </a:schemeClr>
                                </a:solidFill>
                                <a:latin typeface="Cambria Math" panose="02040503050406030204" pitchFamily="18" charset="0"/>
                              </a:rPr>
                              <m:t>𝑋</m:t>
                            </m:r>
                            <m:r>
                              <a:rPr lang="en-US" sz="2800" b="0" i="1" smtClean="0">
                                <a:solidFill>
                                  <a:schemeClr val="accent6">
                                    <a:lumMod val="50000"/>
                                  </a:schemeClr>
                                </a:solidFill>
                                <a:latin typeface="Cambria Math" panose="02040503050406030204" pitchFamily="18" charset="0"/>
                              </a:rPr>
                              <m:t>1</m:t>
                            </m:r>
                          </m:e>
                          <m:sub>
                            <m:r>
                              <a:rPr lang="en-US" sz="2800" b="0" i="1">
                                <a:solidFill>
                                  <a:schemeClr val="accent6">
                                    <a:lumMod val="50000"/>
                                  </a:schemeClr>
                                </a:solidFill>
                                <a:latin typeface="Cambria Math" panose="02040503050406030204" pitchFamily="18" charset="0"/>
                              </a:rPr>
                              <m:t>𝑖</m:t>
                            </m:r>
                          </m:sub>
                        </m:sSub>
                        <m:r>
                          <a:rPr lang="en-US" sz="2800" b="0" i="1" smtClean="0">
                            <a:solidFill>
                              <a:schemeClr val="accent6">
                                <a:lumMod val="50000"/>
                              </a:schemeClr>
                            </a:solidFill>
                            <a:latin typeface="Cambria Math" panose="02040503050406030204" pitchFamily="18" charset="0"/>
                          </a:rPr>
                          <m:t>+</m:t>
                        </m:r>
                        <m:sSub>
                          <m:sSubPr>
                            <m:ctrlPr>
                              <a:rPr lang="en-US" sz="2800" b="0" i="1" smtClean="0">
                                <a:solidFill>
                                  <a:schemeClr val="accent6">
                                    <a:lumMod val="50000"/>
                                  </a:schemeClr>
                                </a:solidFill>
                                <a:latin typeface="Cambria Math" panose="02040503050406030204" pitchFamily="18" charset="0"/>
                              </a:rPr>
                            </m:ctrlPr>
                          </m:sSubPr>
                          <m:e>
                            <m:r>
                              <a:rPr lang="en-US" sz="2800" b="0" i="1" smtClean="0">
                                <a:solidFill>
                                  <a:schemeClr val="accent6">
                                    <a:lumMod val="50000"/>
                                  </a:schemeClr>
                                </a:solidFill>
                                <a:latin typeface="Cambria Math" panose="02040503050406030204" pitchFamily="18" charset="0"/>
                              </a:rPr>
                              <m:t>𝛽</m:t>
                            </m:r>
                          </m:e>
                          <m:sub>
                            <m:r>
                              <a:rPr lang="en-US" sz="2800" b="0" i="1" smtClean="0">
                                <a:solidFill>
                                  <a:schemeClr val="accent6">
                                    <a:lumMod val="50000"/>
                                  </a:schemeClr>
                                </a:solidFill>
                                <a:latin typeface="Cambria Math" panose="02040503050406030204" pitchFamily="18" charset="0"/>
                              </a:rPr>
                              <m:t>2</m:t>
                            </m:r>
                          </m:sub>
                        </m:sSub>
                        <m:r>
                          <a:rPr lang="en-US" sz="2800" b="0" i="1" smtClean="0">
                            <a:solidFill>
                              <a:schemeClr val="accent6">
                                <a:lumMod val="50000"/>
                              </a:schemeClr>
                            </a:solidFill>
                            <a:latin typeface="Cambria Math" panose="02040503050406030204" pitchFamily="18" charset="0"/>
                          </a:rPr>
                          <m:t>𝑋</m:t>
                        </m:r>
                        <m:sSub>
                          <m:sSubPr>
                            <m:ctrlPr>
                              <a:rPr lang="en-US" sz="2800" b="0" i="1" smtClean="0">
                                <a:solidFill>
                                  <a:schemeClr val="accent6">
                                    <a:lumMod val="50000"/>
                                  </a:schemeClr>
                                </a:solidFill>
                                <a:latin typeface="Cambria Math" panose="02040503050406030204" pitchFamily="18" charset="0"/>
                              </a:rPr>
                            </m:ctrlPr>
                          </m:sSubPr>
                          <m:e>
                            <m:r>
                              <a:rPr lang="en-US" sz="2800" b="0" i="1" smtClean="0">
                                <a:solidFill>
                                  <a:schemeClr val="accent6">
                                    <a:lumMod val="50000"/>
                                  </a:schemeClr>
                                </a:solidFill>
                                <a:latin typeface="Cambria Math" panose="02040503050406030204" pitchFamily="18" charset="0"/>
                              </a:rPr>
                              <m:t>2</m:t>
                            </m:r>
                          </m:e>
                          <m:sub>
                            <m:r>
                              <a:rPr lang="en-US" sz="2800" b="0" i="1" smtClean="0">
                                <a:solidFill>
                                  <a:schemeClr val="accent6">
                                    <a:lumMod val="50000"/>
                                  </a:schemeClr>
                                </a:solidFill>
                                <a:latin typeface="Cambria Math" panose="02040503050406030204" pitchFamily="18" charset="0"/>
                              </a:rPr>
                              <m:t>𝑖</m:t>
                            </m:r>
                          </m:sub>
                        </m:sSub>
                        <m:r>
                          <a:rPr lang="en-US" sz="2800" b="0" i="1" smtClean="0">
                            <a:solidFill>
                              <a:schemeClr val="accent6">
                                <a:lumMod val="50000"/>
                              </a:schemeClr>
                            </a:solidFill>
                            <a:latin typeface="Cambria Math" panose="02040503050406030204" pitchFamily="18" charset="0"/>
                          </a:rPr>
                          <m:t>+</m:t>
                        </m:r>
                        <m:sSub>
                          <m:sSubPr>
                            <m:ctrlPr>
                              <a:rPr lang="en-US" sz="2800" b="0" i="1" smtClean="0">
                                <a:solidFill>
                                  <a:schemeClr val="accent6">
                                    <a:lumMod val="50000"/>
                                  </a:schemeClr>
                                </a:solidFill>
                                <a:latin typeface="Cambria Math" panose="02040503050406030204" pitchFamily="18" charset="0"/>
                              </a:rPr>
                            </m:ctrlPr>
                          </m:sSubPr>
                          <m:e>
                            <m:r>
                              <a:rPr lang="en-US" sz="2800" b="0" i="1" smtClean="0">
                                <a:solidFill>
                                  <a:schemeClr val="accent6">
                                    <a:lumMod val="50000"/>
                                  </a:schemeClr>
                                </a:solidFill>
                                <a:latin typeface="Cambria Math" panose="02040503050406030204" pitchFamily="18" charset="0"/>
                              </a:rPr>
                              <m:t>𝛽</m:t>
                            </m:r>
                          </m:e>
                          <m:sub>
                            <m:r>
                              <a:rPr lang="en-US" sz="2800" b="0" i="1" smtClean="0">
                                <a:solidFill>
                                  <a:schemeClr val="accent6">
                                    <a:lumMod val="50000"/>
                                  </a:schemeClr>
                                </a:solidFill>
                                <a:latin typeface="Cambria Math" panose="02040503050406030204" pitchFamily="18" charset="0"/>
                              </a:rPr>
                              <m:t>3</m:t>
                            </m:r>
                          </m:sub>
                        </m:sSub>
                        <m:r>
                          <a:rPr lang="en-US" sz="2800" b="0" i="1" smtClean="0">
                            <a:solidFill>
                              <a:schemeClr val="accent6">
                                <a:lumMod val="50000"/>
                              </a:schemeClr>
                            </a:solidFill>
                            <a:latin typeface="Cambria Math" panose="02040503050406030204" pitchFamily="18" charset="0"/>
                          </a:rPr>
                          <m:t>𝑋</m:t>
                        </m:r>
                        <m:sSub>
                          <m:sSubPr>
                            <m:ctrlPr>
                              <a:rPr lang="en-US" sz="2800" b="0" i="1" smtClean="0">
                                <a:solidFill>
                                  <a:schemeClr val="accent6">
                                    <a:lumMod val="50000"/>
                                  </a:schemeClr>
                                </a:solidFill>
                                <a:latin typeface="Cambria Math" panose="02040503050406030204" pitchFamily="18" charset="0"/>
                              </a:rPr>
                            </m:ctrlPr>
                          </m:sSubPr>
                          <m:e>
                            <m:r>
                              <a:rPr lang="en-US" sz="2800" b="0" i="1" smtClean="0">
                                <a:solidFill>
                                  <a:schemeClr val="accent6">
                                    <a:lumMod val="50000"/>
                                  </a:schemeClr>
                                </a:solidFill>
                                <a:latin typeface="Cambria Math" panose="02040503050406030204" pitchFamily="18" charset="0"/>
                              </a:rPr>
                              <m:t>3</m:t>
                            </m:r>
                          </m:e>
                          <m:sub>
                            <m:r>
                              <a:rPr lang="en-US" sz="2800" b="0" i="1" smtClean="0">
                                <a:solidFill>
                                  <a:schemeClr val="accent6">
                                    <a:lumMod val="50000"/>
                                  </a:schemeClr>
                                </a:solidFill>
                                <a:latin typeface="Cambria Math" panose="02040503050406030204" pitchFamily="18" charset="0"/>
                              </a:rPr>
                              <m:t>𝑖</m:t>
                            </m:r>
                          </m:sub>
                        </m:sSub>
                        <m:r>
                          <a:rPr lang="en-US" sz="2800" b="0" i="1" smtClean="0">
                            <a:solidFill>
                              <a:schemeClr val="accent6">
                                <a:lumMod val="50000"/>
                              </a:schemeClr>
                            </a:solidFill>
                            <a:latin typeface="Cambria Math" panose="02040503050406030204" pitchFamily="18" charset="0"/>
                          </a:rPr>
                          <m:t>+</m:t>
                        </m:r>
                        <m:sSub>
                          <m:sSubPr>
                            <m:ctrlPr>
                              <a:rPr lang="en-US" sz="2800" i="1">
                                <a:solidFill>
                                  <a:schemeClr val="accent6">
                                    <a:lumMod val="50000"/>
                                  </a:schemeClr>
                                </a:solidFill>
                                <a:latin typeface="Cambria Math" panose="02040503050406030204" pitchFamily="18" charset="0"/>
                              </a:rPr>
                            </m:ctrlPr>
                          </m:sSubPr>
                          <m:e>
                            <m:r>
                              <a:rPr lang="en-US" sz="2800" b="0" i="1">
                                <a:solidFill>
                                  <a:schemeClr val="accent6">
                                    <a:lumMod val="50000"/>
                                  </a:schemeClr>
                                </a:solidFill>
                                <a:latin typeface="Cambria Math" panose="02040503050406030204" pitchFamily="18" charset="0"/>
                              </a:rPr>
                              <m:t>𝛽</m:t>
                            </m:r>
                          </m:e>
                          <m:sub>
                            <m:r>
                              <a:rPr lang="en-US" sz="2800" b="0" i="1" smtClean="0">
                                <a:solidFill>
                                  <a:schemeClr val="accent6">
                                    <a:lumMod val="50000"/>
                                  </a:schemeClr>
                                </a:solidFill>
                                <a:latin typeface="Cambria Math" panose="02040503050406030204" pitchFamily="18" charset="0"/>
                              </a:rPr>
                              <m:t>4</m:t>
                            </m:r>
                          </m:sub>
                        </m:sSub>
                        <m:sSub>
                          <m:sSubPr>
                            <m:ctrlPr>
                              <a:rPr lang="en-US" sz="2800" i="1">
                                <a:solidFill>
                                  <a:schemeClr val="accent6">
                                    <a:lumMod val="50000"/>
                                  </a:schemeClr>
                                </a:solidFill>
                                <a:latin typeface="Cambria Math" panose="02040503050406030204" pitchFamily="18" charset="0"/>
                              </a:rPr>
                            </m:ctrlPr>
                          </m:sSubPr>
                          <m:e>
                            <m:r>
                              <a:rPr lang="en-US" sz="2800" b="0" i="1">
                                <a:solidFill>
                                  <a:schemeClr val="accent6">
                                    <a:lumMod val="50000"/>
                                  </a:schemeClr>
                                </a:solidFill>
                                <a:latin typeface="Cambria Math" panose="02040503050406030204" pitchFamily="18" charset="0"/>
                              </a:rPr>
                              <m:t>𝑋</m:t>
                            </m:r>
                            <m:r>
                              <a:rPr lang="en-US" sz="2800" b="0" i="1" smtClean="0">
                                <a:solidFill>
                                  <a:schemeClr val="accent6">
                                    <a:lumMod val="50000"/>
                                  </a:schemeClr>
                                </a:solidFill>
                                <a:latin typeface="Cambria Math" panose="02040503050406030204" pitchFamily="18" charset="0"/>
                              </a:rPr>
                              <m:t>4</m:t>
                            </m:r>
                          </m:e>
                          <m:sub>
                            <m:r>
                              <a:rPr lang="en-US" sz="2800" b="0" i="1">
                                <a:solidFill>
                                  <a:schemeClr val="accent6">
                                    <a:lumMod val="50000"/>
                                  </a:schemeClr>
                                </a:solidFill>
                                <a:latin typeface="Cambria Math" panose="02040503050406030204" pitchFamily="18" charset="0"/>
                              </a:rPr>
                              <m:t>𝑖</m:t>
                            </m:r>
                          </m:sub>
                        </m:sSub>
                      </m:e>
                    </m:d>
                  </m:oMath>
                </a14:m>
                <a:endParaRPr lang="en-US" sz="2800" i="1" dirty="0"/>
              </a:p>
              <a:p>
                <a:r>
                  <a:rPr lang="en-US" dirty="0"/>
                  <a:t>Define the </a:t>
                </a:r>
                <a:r>
                  <a:rPr lang="en-US" sz="2800" b="1" i="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sum of squared deviations</a:t>
                </a:r>
                <a:r>
                  <a:rPr lang="en-US" sz="2800" i="1" dirty="0"/>
                  <a:t>:</a:t>
                </a:r>
              </a:p>
              <a:p>
                <a:pPr marL="0" indent="0">
                  <a:buNone/>
                </a:pPr>
                <a14:m>
                  <m:oMathPara xmlns:m="http://schemas.openxmlformats.org/officeDocument/2006/math">
                    <m:oMathParaPr>
                      <m:jc m:val="centerGroup"/>
                    </m:oMathParaPr>
                    <m:oMath xmlns:m="http://schemas.openxmlformats.org/officeDocument/2006/math">
                      <m:r>
                        <a:rPr lang="en-US" sz="2600" b="0" i="1" smtClean="0">
                          <a:solidFill>
                            <a:schemeClr val="accent6">
                              <a:lumMod val="50000"/>
                            </a:schemeClr>
                          </a:solidFill>
                          <a:latin typeface="Cambria Math" panose="02040503050406030204" pitchFamily="18" charset="0"/>
                        </a:rPr>
                        <m:t>𝑄</m:t>
                      </m:r>
                      <m:r>
                        <a:rPr lang="en-US" sz="2600" b="0" i="0" smtClean="0">
                          <a:solidFill>
                            <a:schemeClr val="accent6">
                              <a:lumMod val="50000"/>
                            </a:schemeClr>
                          </a:solidFill>
                          <a:latin typeface="Cambria Math" panose="02040503050406030204" pitchFamily="18" charset="0"/>
                        </a:rPr>
                        <m:t>=</m:t>
                      </m:r>
                      <m:nary>
                        <m:naryPr>
                          <m:chr m:val="∑"/>
                          <m:limLoc m:val="undOvr"/>
                          <m:ctrlPr>
                            <a:rPr lang="en-US" sz="2600" i="1">
                              <a:solidFill>
                                <a:schemeClr val="accent6">
                                  <a:lumMod val="50000"/>
                                </a:schemeClr>
                              </a:solidFill>
                              <a:latin typeface="Cambria Math" panose="02040503050406030204" pitchFamily="18" charset="0"/>
                            </a:rPr>
                          </m:ctrlPr>
                        </m:naryPr>
                        <m:sub>
                          <m:r>
                            <a:rPr lang="en-US" sz="2600" i="1">
                              <a:solidFill>
                                <a:schemeClr val="accent6">
                                  <a:lumMod val="50000"/>
                                </a:schemeClr>
                              </a:solidFill>
                              <a:latin typeface="Cambria Math" panose="02040503050406030204" pitchFamily="18" charset="0"/>
                            </a:rPr>
                            <m:t>𝑖</m:t>
                          </m:r>
                          <m:r>
                            <a:rPr lang="en-US" sz="2600" i="1">
                              <a:solidFill>
                                <a:schemeClr val="accent6">
                                  <a:lumMod val="50000"/>
                                </a:schemeClr>
                              </a:solidFill>
                              <a:latin typeface="Cambria Math" panose="02040503050406030204" pitchFamily="18" charset="0"/>
                            </a:rPr>
                            <m:t>=1</m:t>
                          </m:r>
                        </m:sub>
                        <m:sup>
                          <m:r>
                            <a:rPr lang="en-US" sz="2600" i="1">
                              <a:solidFill>
                                <a:schemeClr val="accent6">
                                  <a:lumMod val="50000"/>
                                </a:schemeClr>
                              </a:solidFill>
                              <a:latin typeface="Cambria Math" panose="02040503050406030204" pitchFamily="18" charset="0"/>
                            </a:rPr>
                            <m:t>𝑛</m:t>
                          </m:r>
                        </m:sup>
                        <m:e>
                          <m:sSup>
                            <m:sSupPr>
                              <m:ctrlPr>
                                <a:rPr lang="en-US" sz="2600" i="1">
                                  <a:solidFill>
                                    <a:schemeClr val="accent6">
                                      <a:lumMod val="50000"/>
                                    </a:schemeClr>
                                  </a:solidFill>
                                  <a:latin typeface="Cambria Math" panose="02040503050406030204" pitchFamily="18" charset="0"/>
                                </a:rPr>
                              </m:ctrlPr>
                            </m:sSupPr>
                            <m:e>
                              <m:r>
                                <a:rPr lang="en-US" sz="2600" i="1">
                                  <a:solidFill>
                                    <a:schemeClr val="accent6">
                                      <a:lumMod val="50000"/>
                                    </a:schemeClr>
                                  </a:solidFill>
                                  <a:latin typeface="Cambria Math" panose="02040503050406030204" pitchFamily="18" charset="0"/>
                                </a:rPr>
                                <m:t>(</m:t>
                              </m:r>
                              <m:sSub>
                                <m:sSubPr>
                                  <m:ctrlPr>
                                    <a:rPr lang="en-US" sz="2600" i="1">
                                      <a:solidFill>
                                        <a:schemeClr val="accent6">
                                          <a:lumMod val="50000"/>
                                        </a:schemeClr>
                                      </a:solidFill>
                                      <a:latin typeface="Cambria Math" panose="02040503050406030204" pitchFamily="18" charset="0"/>
                                    </a:rPr>
                                  </m:ctrlPr>
                                </m:sSubPr>
                                <m:e>
                                  <m:r>
                                    <a:rPr lang="en-US" sz="2600" i="1">
                                      <a:solidFill>
                                        <a:schemeClr val="accent6">
                                          <a:lumMod val="50000"/>
                                        </a:schemeClr>
                                      </a:solidFill>
                                      <a:latin typeface="Cambria Math" panose="02040503050406030204" pitchFamily="18" charset="0"/>
                                    </a:rPr>
                                    <m:t>𝑌</m:t>
                                  </m:r>
                                </m:e>
                                <m:sub>
                                  <m:r>
                                    <a:rPr lang="en-US" sz="2600" i="1">
                                      <a:solidFill>
                                        <a:schemeClr val="accent6">
                                          <a:lumMod val="50000"/>
                                        </a:schemeClr>
                                      </a:solidFill>
                                      <a:latin typeface="Cambria Math" panose="02040503050406030204" pitchFamily="18" charset="0"/>
                                    </a:rPr>
                                    <m:t>𝑖</m:t>
                                  </m:r>
                                </m:sub>
                              </m:sSub>
                              <m:r>
                                <a:rPr lang="en-US" sz="2600" i="1">
                                  <a:solidFill>
                                    <a:schemeClr val="accent6">
                                      <a:lumMod val="50000"/>
                                    </a:schemeClr>
                                  </a:solidFill>
                                  <a:latin typeface="Cambria Math" panose="02040503050406030204" pitchFamily="18" charset="0"/>
                                </a:rPr>
                                <m:t>−</m:t>
                              </m:r>
                              <m:sSub>
                                <m:sSubPr>
                                  <m:ctrlPr>
                                    <a:rPr lang="en-US" sz="2600" i="1">
                                      <a:solidFill>
                                        <a:schemeClr val="accent6">
                                          <a:lumMod val="50000"/>
                                        </a:schemeClr>
                                      </a:solidFill>
                                      <a:latin typeface="Cambria Math" panose="02040503050406030204" pitchFamily="18" charset="0"/>
                                    </a:rPr>
                                  </m:ctrlPr>
                                </m:sSubPr>
                                <m:e>
                                  <m:r>
                                    <a:rPr lang="en-US" sz="2600" i="1">
                                      <a:solidFill>
                                        <a:schemeClr val="accent6">
                                          <a:lumMod val="50000"/>
                                        </a:schemeClr>
                                      </a:solidFill>
                                      <a:latin typeface="Cambria Math" panose="02040503050406030204" pitchFamily="18" charset="0"/>
                                    </a:rPr>
                                    <m:t>𝛽</m:t>
                                  </m:r>
                                </m:e>
                                <m:sub>
                                  <m:r>
                                    <a:rPr lang="en-US" sz="2600" i="1">
                                      <a:solidFill>
                                        <a:schemeClr val="accent6">
                                          <a:lumMod val="50000"/>
                                        </a:schemeClr>
                                      </a:solidFill>
                                      <a:latin typeface="Cambria Math" panose="02040503050406030204" pitchFamily="18" charset="0"/>
                                    </a:rPr>
                                    <m:t>0</m:t>
                                  </m:r>
                                </m:sub>
                              </m:sSub>
                              <m:r>
                                <a:rPr lang="en-US" sz="2600" i="1">
                                  <a:solidFill>
                                    <a:schemeClr val="accent6">
                                      <a:lumMod val="50000"/>
                                    </a:schemeClr>
                                  </a:solidFill>
                                  <a:latin typeface="Cambria Math" panose="02040503050406030204" pitchFamily="18" charset="0"/>
                                </a:rPr>
                                <m:t>−</m:t>
                              </m:r>
                              <m:sSub>
                                <m:sSubPr>
                                  <m:ctrlPr>
                                    <a:rPr lang="en-US" sz="2600" i="1">
                                      <a:solidFill>
                                        <a:schemeClr val="accent6">
                                          <a:lumMod val="50000"/>
                                        </a:schemeClr>
                                      </a:solidFill>
                                      <a:latin typeface="Cambria Math" panose="02040503050406030204" pitchFamily="18" charset="0"/>
                                    </a:rPr>
                                  </m:ctrlPr>
                                </m:sSubPr>
                                <m:e>
                                  <m:r>
                                    <a:rPr lang="en-US" sz="2600" i="1">
                                      <a:solidFill>
                                        <a:schemeClr val="accent6">
                                          <a:lumMod val="50000"/>
                                        </a:schemeClr>
                                      </a:solidFill>
                                      <a:latin typeface="Cambria Math" panose="02040503050406030204" pitchFamily="18" charset="0"/>
                                    </a:rPr>
                                    <m:t>𝛽</m:t>
                                  </m:r>
                                </m:e>
                                <m:sub>
                                  <m:r>
                                    <a:rPr lang="en-US" sz="2600" i="1">
                                      <a:solidFill>
                                        <a:schemeClr val="accent6">
                                          <a:lumMod val="50000"/>
                                        </a:schemeClr>
                                      </a:solidFill>
                                      <a:latin typeface="Cambria Math" panose="02040503050406030204" pitchFamily="18" charset="0"/>
                                    </a:rPr>
                                    <m:t>1</m:t>
                                  </m:r>
                                </m:sub>
                              </m:sSub>
                              <m:sSub>
                                <m:sSubPr>
                                  <m:ctrlPr>
                                    <a:rPr lang="en-US" sz="2600" i="1">
                                      <a:solidFill>
                                        <a:schemeClr val="accent6">
                                          <a:lumMod val="50000"/>
                                        </a:schemeClr>
                                      </a:solidFill>
                                      <a:latin typeface="Cambria Math" panose="02040503050406030204" pitchFamily="18" charset="0"/>
                                    </a:rPr>
                                  </m:ctrlPr>
                                </m:sSubPr>
                                <m:e>
                                  <m:r>
                                    <a:rPr lang="en-US" sz="2600" i="1">
                                      <a:solidFill>
                                        <a:schemeClr val="accent6">
                                          <a:lumMod val="50000"/>
                                        </a:schemeClr>
                                      </a:solidFill>
                                      <a:latin typeface="Cambria Math" panose="02040503050406030204" pitchFamily="18" charset="0"/>
                                    </a:rPr>
                                    <m:t>𝑋</m:t>
                                  </m:r>
                                  <m:r>
                                    <a:rPr lang="en-US" sz="2600" i="1">
                                      <a:solidFill>
                                        <a:schemeClr val="accent6">
                                          <a:lumMod val="50000"/>
                                        </a:schemeClr>
                                      </a:solidFill>
                                      <a:latin typeface="Cambria Math" panose="02040503050406030204" pitchFamily="18" charset="0"/>
                                    </a:rPr>
                                    <m:t>1</m:t>
                                  </m:r>
                                </m:e>
                                <m:sub>
                                  <m:r>
                                    <a:rPr lang="en-US" sz="2600" i="1">
                                      <a:solidFill>
                                        <a:schemeClr val="accent6">
                                          <a:lumMod val="50000"/>
                                        </a:schemeClr>
                                      </a:solidFill>
                                      <a:latin typeface="Cambria Math" panose="02040503050406030204" pitchFamily="18" charset="0"/>
                                    </a:rPr>
                                    <m:t>𝑖</m:t>
                                  </m:r>
                                </m:sub>
                              </m:sSub>
                              <m:r>
                                <a:rPr lang="en-US" sz="2600" i="1">
                                  <a:solidFill>
                                    <a:schemeClr val="accent6">
                                      <a:lumMod val="50000"/>
                                    </a:schemeClr>
                                  </a:solidFill>
                                  <a:latin typeface="Cambria Math" panose="02040503050406030204" pitchFamily="18" charset="0"/>
                                </a:rPr>
                                <m:t>−</m:t>
                              </m:r>
                              <m:sSub>
                                <m:sSubPr>
                                  <m:ctrlPr>
                                    <a:rPr lang="en-US" sz="2600" i="1">
                                      <a:solidFill>
                                        <a:schemeClr val="accent6">
                                          <a:lumMod val="50000"/>
                                        </a:schemeClr>
                                      </a:solidFill>
                                      <a:latin typeface="Cambria Math" panose="02040503050406030204" pitchFamily="18" charset="0"/>
                                    </a:rPr>
                                  </m:ctrlPr>
                                </m:sSubPr>
                                <m:e>
                                  <m:r>
                                    <a:rPr lang="en-US" sz="2600" i="1">
                                      <a:solidFill>
                                        <a:schemeClr val="accent6">
                                          <a:lumMod val="50000"/>
                                        </a:schemeClr>
                                      </a:solidFill>
                                      <a:latin typeface="Cambria Math" panose="02040503050406030204" pitchFamily="18" charset="0"/>
                                    </a:rPr>
                                    <m:t>𝛽</m:t>
                                  </m:r>
                                </m:e>
                                <m:sub>
                                  <m:r>
                                    <a:rPr lang="en-US" sz="2600" i="1">
                                      <a:solidFill>
                                        <a:schemeClr val="accent6">
                                          <a:lumMod val="50000"/>
                                        </a:schemeClr>
                                      </a:solidFill>
                                      <a:latin typeface="Cambria Math" panose="02040503050406030204" pitchFamily="18" charset="0"/>
                                    </a:rPr>
                                    <m:t>2</m:t>
                                  </m:r>
                                </m:sub>
                              </m:sSub>
                              <m:r>
                                <a:rPr lang="en-US" sz="2600" i="1">
                                  <a:solidFill>
                                    <a:schemeClr val="accent6">
                                      <a:lumMod val="50000"/>
                                    </a:schemeClr>
                                  </a:solidFill>
                                  <a:latin typeface="Cambria Math" panose="02040503050406030204" pitchFamily="18" charset="0"/>
                                </a:rPr>
                                <m:t>𝑋</m:t>
                              </m:r>
                              <m:sSub>
                                <m:sSubPr>
                                  <m:ctrlPr>
                                    <a:rPr lang="en-US" sz="2600" i="1">
                                      <a:solidFill>
                                        <a:schemeClr val="accent6">
                                          <a:lumMod val="50000"/>
                                        </a:schemeClr>
                                      </a:solidFill>
                                      <a:latin typeface="Cambria Math" panose="02040503050406030204" pitchFamily="18" charset="0"/>
                                    </a:rPr>
                                  </m:ctrlPr>
                                </m:sSubPr>
                                <m:e>
                                  <m:r>
                                    <a:rPr lang="en-US" sz="2600" i="1">
                                      <a:solidFill>
                                        <a:schemeClr val="accent6">
                                          <a:lumMod val="50000"/>
                                        </a:schemeClr>
                                      </a:solidFill>
                                      <a:latin typeface="Cambria Math" panose="02040503050406030204" pitchFamily="18" charset="0"/>
                                    </a:rPr>
                                    <m:t>2</m:t>
                                  </m:r>
                                </m:e>
                                <m:sub>
                                  <m:r>
                                    <a:rPr lang="en-US" sz="2600" i="1">
                                      <a:solidFill>
                                        <a:schemeClr val="accent6">
                                          <a:lumMod val="50000"/>
                                        </a:schemeClr>
                                      </a:solidFill>
                                      <a:latin typeface="Cambria Math" panose="02040503050406030204" pitchFamily="18" charset="0"/>
                                    </a:rPr>
                                    <m:t>𝑖</m:t>
                                  </m:r>
                                </m:sub>
                              </m:sSub>
                              <m:r>
                                <a:rPr lang="en-US" sz="2600" i="1">
                                  <a:solidFill>
                                    <a:schemeClr val="accent6">
                                      <a:lumMod val="50000"/>
                                    </a:schemeClr>
                                  </a:solidFill>
                                  <a:latin typeface="Cambria Math" panose="02040503050406030204" pitchFamily="18" charset="0"/>
                                </a:rPr>
                                <m:t>−</m:t>
                              </m:r>
                              <m:sSub>
                                <m:sSubPr>
                                  <m:ctrlPr>
                                    <a:rPr lang="en-US" sz="2600" i="1">
                                      <a:solidFill>
                                        <a:schemeClr val="accent6">
                                          <a:lumMod val="50000"/>
                                        </a:schemeClr>
                                      </a:solidFill>
                                      <a:latin typeface="Cambria Math" panose="02040503050406030204" pitchFamily="18" charset="0"/>
                                    </a:rPr>
                                  </m:ctrlPr>
                                </m:sSubPr>
                                <m:e>
                                  <m:r>
                                    <a:rPr lang="en-US" sz="2600" i="1">
                                      <a:solidFill>
                                        <a:schemeClr val="accent6">
                                          <a:lumMod val="50000"/>
                                        </a:schemeClr>
                                      </a:solidFill>
                                      <a:latin typeface="Cambria Math" panose="02040503050406030204" pitchFamily="18" charset="0"/>
                                    </a:rPr>
                                    <m:t>𝛽</m:t>
                                  </m:r>
                                </m:e>
                                <m:sub>
                                  <m:r>
                                    <a:rPr lang="en-US" sz="2600" i="1">
                                      <a:solidFill>
                                        <a:schemeClr val="accent6">
                                          <a:lumMod val="50000"/>
                                        </a:schemeClr>
                                      </a:solidFill>
                                      <a:latin typeface="Cambria Math" panose="02040503050406030204" pitchFamily="18" charset="0"/>
                                    </a:rPr>
                                    <m:t>3</m:t>
                                  </m:r>
                                </m:sub>
                              </m:sSub>
                              <m:r>
                                <a:rPr lang="en-US" sz="2600" i="1">
                                  <a:solidFill>
                                    <a:schemeClr val="accent6">
                                      <a:lumMod val="50000"/>
                                    </a:schemeClr>
                                  </a:solidFill>
                                  <a:latin typeface="Cambria Math" panose="02040503050406030204" pitchFamily="18" charset="0"/>
                                </a:rPr>
                                <m:t>𝑋</m:t>
                              </m:r>
                              <m:sSub>
                                <m:sSubPr>
                                  <m:ctrlPr>
                                    <a:rPr lang="en-US" sz="2600" i="1">
                                      <a:solidFill>
                                        <a:schemeClr val="accent6">
                                          <a:lumMod val="50000"/>
                                        </a:schemeClr>
                                      </a:solidFill>
                                      <a:latin typeface="Cambria Math" panose="02040503050406030204" pitchFamily="18" charset="0"/>
                                    </a:rPr>
                                  </m:ctrlPr>
                                </m:sSubPr>
                                <m:e>
                                  <m:r>
                                    <a:rPr lang="en-US" sz="2600" i="1">
                                      <a:solidFill>
                                        <a:schemeClr val="accent6">
                                          <a:lumMod val="50000"/>
                                        </a:schemeClr>
                                      </a:solidFill>
                                      <a:latin typeface="Cambria Math" panose="02040503050406030204" pitchFamily="18" charset="0"/>
                                    </a:rPr>
                                    <m:t>3</m:t>
                                  </m:r>
                                </m:e>
                                <m:sub>
                                  <m:r>
                                    <a:rPr lang="en-US" sz="2600" i="1">
                                      <a:solidFill>
                                        <a:schemeClr val="accent6">
                                          <a:lumMod val="50000"/>
                                        </a:schemeClr>
                                      </a:solidFill>
                                      <a:latin typeface="Cambria Math" panose="02040503050406030204" pitchFamily="18" charset="0"/>
                                    </a:rPr>
                                    <m:t>𝑖</m:t>
                                  </m:r>
                                </m:sub>
                              </m:sSub>
                              <m:r>
                                <a:rPr lang="en-US" sz="2600" i="1">
                                  <a:solidFill>
                                    <a:schemeClr val="accent6">
                                      <a:lumMod val="50000"/>
                                    </a:schemeClr>
                                  </a:solidFill>
                                  <a:latin typeface="Cambria Math" panose="02040503050406030204" pitchFamily="18" charset="0"/>
                                </a:rPr>
                                <m:t>−</m:t>
                              </m:r>
                              <m:sSub>
                                <m:sSubPr>
                                  <m:ctrlPr>
                                    <a:rPr lang="en-US" sz="2600" i="1">
                                      <a:solidFill>
                                        <a:schemeClr val="accent6">
                                          <a:lumMod val="50000"/>
                                        </a:schemeClr>
                                      </a:solidFill>
                                      <a:latin typeface="Cambria Math" panose="02040503050406030204" pitchFamily="18" charset="0"/>
                                    </a:rPr>
                                  </m:ctrlPr>
                                </m:sSubPr>
                                <m:e>
                                  <m:r>
                                    <a:rPr lang="en-US" sz="2600" i="1">
                                      <a:solidFill>
                                        <a:schemeClr val="accent6">
                                          <a:lumMod val="50000"/>
                                        </a:schemeClr>
                                      </a:solidFill>
                                      <a:latin typeface="Cambria Math" panose="02040503050406030204" pitchFamily="18" charset="0"/>
                                    </a:rPr>
                                    <m:t>𝛽</m:t>
                                  </m:r>
                                </m:e>
                                <m:sub>
                                  <m:r>
                                    <a:rPr lang="en-US" sz="2600" i="1">
                                      <a:solidFill>
                                        <a:schemeClr val="accent6">
                                          <a:lumMod val="50000"/>
                                        </a:schemeClr>
                                      </a:solidFill>
                                      <a:latin typeface="Cambria Math" panose="02040503050406030204" pitchFamily="18" charset="0"/>
                                    </a:rPr>
                                    <m:t>4</m:t>
                                  </m:r>
                                </m:sub>
                              </m:sSub>
                              <m:r>
                                <a:rPr lang="en-US" sz="2600" i="1">
                                  <a:solidFill>
                                    <a:schemeClr val="accent6">
                                      <a:lumMod val="50000"/>
                                    </a:schemeClr>
                                  </a:solidFill>
                                  <a:latin typeface="Cambria Math" panose="02040503050406030204" pitchFamily="18" charset="0"/>
                                </a:rPr>
                                <m:t>𝑋</m:t>
                              </m:r>
                              <m:sSub>
                                <m:sSubPr>
                                  <m:ctrlPr>
                                    <a:rPr lang="en-US" sz="2600" i="1">
                                      <a:solidFill>
                                        <a:schemeClr val="accent6">
                                          <a:lumMod val="50000"/>
                                        </a:schemeClr>
                                      </a:solidFill>
                                      <a:latin typeface="Cambria Math" panose="02040503050406030204" pitchFamily="18" charset="0"/>
                                    </a:rPr>
                                  </m:ctrlPr>
                                </m:sSubPr>
                                <m:e>
                                  <m:r>
                                    <a:rPr lang="en-US" sz="2600" i="1">
                                      <a:solidFill>
                                        <a:schemeClr val="accent6">
                                          <a:lumMod val="50000"/>
                                        </a:schemeClr>
                                      </a:solidFill>
                                      <a:latin typeface="Cambria Math" panose="02040503050406030204" pitchFamily="18" charset="0"/>
                                    </a:rPr>
                                    <m:t>4</m:t>
                                  </m:r>
                                </m:e>
                                <m:sub>
                                  <m:r>
                                    <a:rPr lang="en-US" sz="2600" i="1">
                                      <a:solidFill>
                                        <a:schemeClr val="accent6">
                                          <a:lumMod val="50000"/>
                                        </a:schemeClr>
                                      </a:solidFill>
                                      <a:latin typeface="Cambria Math" panose="02040503050406030204" pitchFamily="18" charset="0"/>
                                    </a:rPr>
                                    <m:t>𝑖</m:t>
                                  </m:r>
                                </m:sub>
                              </m:sSub>
                              <m:r>
                                <a:rPr lang="en-US" sz="2600" i="1">
                                  <a:solidFill>
                                    <a:schemeClr val="accent6">
                                      <a:lumMod val="50000"/>
                                    </a:schemeClr>
                                  </a:solidFill>
                                  <a:latin typeface="Cambria Math" panose="02040503050406030204" pitchFamily="18" charset="0"/>
                                </a:rPr>
                                <m:t>)</m:t>
                              </m:r>
                            </m:e>
                            <m:sup>
                              <m:r>
                                <a:rPr lang="en-US" sz="2600" i="1">
                                  <a:solidFill>
                                    <a:schemeClr val="accent6">
                                      <a:lumMod val="50000"/>
                                    </a:schemeClr>
                                  </a:solidFill>
                                  <a:latin typeface="Cambria Math" panose="02040503050406030204" pitchFamily="18" charset="0"/>
                                </a:rPr>
                                <m:t>2</m:t>
                              </m:r>
                            </m:sup>
                          </m:sSup>
                        </m:e>
                      </m:nary>
                    </m:oMath>
                  </m:oMathPara>
                </a14:m>
                <a:endParaRPr lang="en-US" sz="2600" i="1" dirty="0"/>
              </a:p>
              <a:p>
                <a:pPr marL="0" indent="0">
                  <a:buNone/>
                </a:pPr>
                <a:endParaRPr lang="en-US" sz="900" i="1" dirty="0"/>
              </a:p>
              <a:p>
                <a:r>
                  <a:rPr lang="en-US" dirty="0"/>
                  <a:t>Find </a:t>
                </a:r>
                <a14:m>
                  <m:oMath xmlns:m="http://schemas.openxmlformats.org/officeDocument/2006/math">
                    <m:acc>
                      <m:accPr>
                        <m:chr m:val="̂"/>
                        <m:ctrlPr>
                          <a:rPr lang="en-US" sz="2800" i="1" smtClean="0">
                            <a:solidFill>
                              <a:srgbClr val="FF0000"/>
                            </a:solidFill>
                            <a:latin typeface="Cambria Math" panose="02040503050406030204" pitchFamily="18" charset="0"/>
                          </a:rPr>
                        </m:ctrlPr>
                      </m:accPr>
                      <m:e>
                        <m:sSub>
                          <m:sSubPr>
                            <m:ctrlPr>
                              <a:rPr lang="en-US" sz="2800" i="1">
                                <a:solidFill>
                                  <a:srgbClr val="FF0000"/>
                                </a:solidFill>
                                <a:latin typeface="Cambria Math" panose="02040503050406030204" pitchFamily="18" charset="0"/>
                              </a:rPr>
                            </m:ctrlPr>
                          </m:sSubPr>
                          <m:e>
                            <m:r>
                              <a:rPr lang="en-US" sz="2800" i="1">
                                <a:solidFill>
                                  <a:srgbClr val="FF0000"/>
                                </a:solidFill>
                                <a:latin typeface="Cambria Math" panose="02040503050406030204" pitchFamily="18" charset="0"/>
                              </a:rPr>
                              <m:t>𝛽</m:t>
                            </m:r>
                          </m:e>
                          <m:sub>
                            <m:r>
                              <a:rPr lang="en-US" sz="2800" i="1">
                                <a:solidFill>
                                  <a:srgbClr val="FF0000"/>
                                </a:solidFill>
                                <a:latin typeface="Cambria Math" panose="02040503050406030204" pitchFamily="18" charset="0"/>
                              </a:rPr>
                              <m:t>𝑖</m:t>
                            </m:r>
                          </m:sub>
                        </m:sSub>
                      </m:e>
                    </m:acc>
                    <m:r>
                      <a:rPr lang="en-US" sz="2800" i="1">
                        <a:solidFill>
                          <a:srgbClr val="FF0000"/>
                        </a:solidFill>
                        <a:latin typeface="Cambria Math" panose="02040503050406030204" pitchFamily="18" charset="0"/>
                      </a:rPr>
                      <m:t>=</m:t>
                    </m:r>
                    <m:sSub>
                      <m:sSubPr>
                        <m:ctrlPr>
                          <a:rPr lang="en-US" sz="2800" i="1">
                            <a:solidFill>
                              <a:srgbClr val="FF0000"/>
                            </a:solidFill>
                            <a:latin typeface="Cambria Math" panose="02040503050406030204" pitchFamily="18" charset="0"/>
                          </a:rPr>
                        </m:ctrlPr>
                      </m:sSubPr>
                      <m:e>
                        <m:r>
                          <a:rPr lang="en-US" sz="2800" i="1">
                            <a:solidFill>
                              <a:srgbClr val="FF0000"/>
                            </a:solidFill>
                            <a:latin typeface="Cambria Math" panose="02040503050406030204" pitchFamily="18" charset="0"/>
                          </a:rPr>
                          <m:t>𝑏</m:t>
                        </m:r>
                      </m:e>
                      <m:sub>
                        <m:r>
                          <a:rPr lang="en-US" sz="2800" i="1">
                            <a:solidFill>
                              <a:srgbClr val="FF0000"/>
                            </a:solidFill>
                            <a:latin typeface="Cambria Math" panose="02040503050406030204" pitchFamily="18" charset="0"/>
                          </a:rPr>
                          <m:t>𝑖</m:t>
                        </m:r>
                      </m:sub>
                    </m:sSub>
                    <m:r>
                      <a:rPr lang="en-US" sz="2800" i="1">
                        <a:solidFill>
                          <a:srgbClr val="FF0000"/>
                        </a:solidFill>
                        <a:latin typeface="Cambria Math" panose="02040503050406030204" pitchFamily="18" charset="0"/>
                      </a:rPr>
                      <m:t>, </m:t>
                    </m:r>
                    <m:r>
                      <a:rPr lang="en-US" sz="2800" i="1">
                        <a:solidFill>
                          <a:srgbClr val="FF0000"/>
                        </a:solidFill>
                        <a:latin typeface="Cambria Math" panose="02040503050406030204" pitchFamily="18" charset="0"/>
                      </a:rPr>
                      <m:t>𝑖</m:t>
                    </m:r>
                    <m:r>
                      <a:rPr lang="en-US" sz="2800" i="1">
                        <a:solidFill>
                          <a:srgbClr val="FF0000"/>
                        </a:solidFill>
                        <a:latin typeface="Cambria Math" panose="02040503050406030204" pitchFamily="18" charset="0"/>
                      </a:rPr>
                      <m:t>=0,⋯,4</m:t>
                    </m:r>
                  </m:oMath>
                </a14:m>
                <a:r>
                  <a:rPr lang="en-US" dirty="0"/>
                  <a:t> such that Q is minimized.</a:t>
                </a:r>
              </a:p>
              <a:p>
                <a:r>
                  <a:rPr lang="en-US" dirty="0"/>
                  <a:t>The fitted sample regression line is </a:t>
                </a:r>
              </a:p>
              <a:p>
                <a:pPr marL="0" indent="0">
                  <a:buNone/>
                </a:pPr>
                <a14:m>
                  <m:oMathPara xmlns:m="http://schemas.openxmlformats.org/officeDocument/2006/math">
                    <m:oMathParaPr>
                      <m:jc m:val="centerGroup"/>
                    </m:oMathParaPr>
                    <m:oMath xmlns:m="http://schemas.openxmlformats.org/officeDocument/2006/math">
                      <m:acc>
                        <m:accPr>
                          <m:chr m:val="̂"/>
                          <m:ctrlPr>
                            <a:rPr lang="en-US" sz="2800" b="0" i="1" smtClean="0">
                              <a:solidFill>
                                <a:schemeClr val="accent6">
                                  <a:lumMod val="50000"/>
                                </a:schemeClr>
                              </a:solidFill>
                              <a:latin typeface="Cambria Math" panose="02040503050406030204" pitchFamily="18" charset="0"/>
                            </a:rPr>
                          </m:ctrlPr>
                        </m:accPr>
                        <m:e>
                          <m:r>
                            <a:rPr lang="en-US" sz="2800" b="0" i="1" smtClean="0">
                              <a:solidFill>
                                <a:schemeClr val="accent6">
                                  <a:lumMod val="50000"/>
                                </a:schemeClr>
                              </a:solidFill>
                              <a:latin typeface="Cambria Math" panose="02040503050406030204" pitchFamily="18" charset="0"/>
                            </a:rPr>
                            <m:t>𝑌</m:t>
                          </m:r>
                        </m:e>
                      </m:acc>
                      <m:r>
                        <a:rPr lang="en-US" sz="2800">
                          <a:solidFill>
                            <a:schemeClr val="accent6">
                              <a:lumMod val="50000"/>
                            </a:schemeClr>
                          </a:solidFill>
                          <a:latin typeface="Cambria Math" panose="02040503050406030204" pitchFamily="18" charset="0"/>
                        </a:rPr>
                        <m:t>=</m:t>
                      </m:r>
                      <m:sSub>
                        <m:sSubPr>
                          <m:ctrlPr>
                            <a:rPr lang="en-US" sz="2800" i="1">
                              <a:solidFill>
                                <a:schemeClr val="accent6">
                                  <a:lumMod val="50000"/>
                                </a:schemeClr>
                              </a:solidFill>
                              <a:latin typeface="Cambria Math" panose="02040503050406030204" pitchFamily="18" charset="0"/>
                            </a:rPr>
                          </m:ctrlPr>
                        </m:sSubPr>
                        <m:e>
                          <m:r>
                            <a:rPr lang="en-US" sz="2800" i="1">
                              <a:solidFill>
                                <a:schemeClr val="accent6">
                                  <a:lumMod val="50000"/>
                                </a:schemeClr>
                              </a:solidFill>
                              <a:latin typeface="Cambria Math" panose="02040503050406030204" pitchFamily="18" charset="0"/>
                            </a:rPr>
                            <m:t>𝑏</m:t>
                          </m:r>
                        </m:e>
                        <m:sub>
                          <m:r>
                            <a:rPr lang="en-US" sz="2800" i="1">
                              <a:solidFill>
                                <a:schemeClr val="accent6">
                                  <a:lumMod val="50000"/>
                                </a:schemeClr>
                              </a:solidFill>
                              <a:latin typeface="Cambria Math" panose="02040503050406030204" pitchFamily="18" charset="0"/>
                            </a:rPr>
                            <m:t>0</m:t>
                          </m:r>
                        </m:sub>
                      </m:sSub>
                      <m:r>
                        <a:rPr lang="en-US" sz="2800" i="1">
                          <a:solidFill>
                            <a:schemeClr val="accent6">
                              <a:lumMod val="50000"/>
                            </a:schemeClr>
                          </a:solidFill>
                          <a:latin typeface="Cambria Math" panose="02040503050406030204" pitchFamily="18" charset="0"/>
                        </a:rPr>
                        <m:t>+</m:t>
                      </m:r>
                      <m:sSub>
                        <m:sSubPr>
                          <m:ctrlPr>
                            <a:rPr lang="en-US" sz="2800" i="1">
                              <a:solidFill>
                                <a:schemeClr val="accent6">
                                  <a:lumMod val="50000"/>
                                </a:schemeClr>
                              </a:solidFill>
                              <a:latin typeface="Cambria Math" panose="02040503050406030204" pitchFamily="18" charset="0"/>
                            </a:rPr>
                          </m:ctrlPr>
                        </m:sSubPr>
                        <m:e>
                          <m:r>
                            <a:rPr lang="en-US" sz="2800" i="1">
                              <a:solidFill>
                                <a:schemeClr val="accent6">
                                  <a:lumMod val="50000"/>
                                </a:schemeClr>
                              </a:solidFill>
                              <a:latin typeface="Cambria Math" panose="02040503050406030204" pitchFamily="18" charset="0"/>
                            </a:rPr>
                            <m:t>𝑏</m:t>
                          </m:r>
                        </m:e>
                        <m:sub>
                          <m:r>
                            <a:rPr lang="en-US" sz="2800" i="1">
                              <a:solidFill>
                                <a:schemeClr val="accent6">
                                  <a:lumMod val="50000"/>
                                </a:schemeClr>
                              </a:solidFill>
                              <a:latin typeface="Cambria Math" panose="02040503050406030204" pitchFamily="18" charset="0"/>
                            </a:rPr>
                            <m:t>1</m:t>
                          </m:r>
                        </m:sub>
                      </m:sSub>
                      <m:r>
                        <a:rPr lang="en-US" sz="2800" i="1">
                          <a:solidFill>
                            <a:schemeClr val="accent6">
                              <a:lumMod val="50000"/>
                            </a:schemeClr>
                          </a:solidFill>
                          <a:latin typeface="Cambria Math" panose="02040503050406030204" pitchFamily="18" charset="0"/>
                        </a:rPr>
                        <m:t>𝑋</m:t>
                      </m:r>
                      <m:r>
                        <a:rPr lang="en-US" sz="2800" b="0" i="1" smtClean="0">
                          <a:solidFill>
                            <a:schemeClr val="accent6">
                              <a:lumMod val="50000"/>
                            </a:schemeClr>
                          </a:solidFill>
                          <a:latin typeface="Cambria Math" panose="02040503050406030204" pitchFamily="18" charset="0"/>
                        </a:rPr>
                        <m:t>1</m:t>
                      </m:r>
                      <m:r>
                        <a:rPr lang="en-US" sz="2800" i="1">
                          <a:solidFill>
                            <a:schemeClr val="accent6">
                              <a:lumMod val="50000"/>
                            </a:schemeClr>
                          </a:solidFill>
                          <a:latin typeface="Cambria Math" panose="02040503050406030204" pitchFamily="18" charset="0"/>
                        </a:rPr>
                        <m:t>+⋯+</m:t>
                      </m:r>
                      <m:sSub>
                        <m:sSubPr>
                          <m:ctrlPr>
                            <a:rPr lang="en-US" sz="2800" i="1">
                              <a:solidFill>
                                <a:schemeClr val="accent6">
                                  <a:lumMod val="50000"/>
                                </a:schemeClr>
                              </a:solidFill>
                              <a:latin typeface="Cambria Math" panose="02040503050406030204" pitchFamily="18" charset="0"/>
                            </a:rPr>
                          </m:ctrlPr>
                        </m:sSubPr>
                        <m:e>
                          <m:r>
                            <a:rPr lang="en-US" sz="2800" i="1">
                              <a:solidFill>
                                <a:schemeClr val="accent6">
                                  <a:lumMod val="50000"/>
                                </a:schemeClr>
                              </a:solidFill>
                              <a:latin typeface="Cambria Math" panose="02040503050406030204" pitchFamily="18" charset="0"/>
                            </a:rPr>
                            <m:t>𝑏</m:t>
                          </m:r>
                        </m:e>
                        <m:sub>
                          <m:r>
                            <a:rPr lang="en-US" sz="2800" b="0" i="1" smtClean="0">
                              <a:solidFill>
                                <a:schemeClr val="accent6">
                                  <a:lumMod val="50000"/>
                                </a:schemeClr>
                              </a:solidFill>
                              <a:latin typeface="Cambria Math" panose="02040503050406030204" pitchFamily="18" charset="0"/>
                            </a:rPr>
                            <m:t>4</m:t>
                          </m:r>
                        </m:sub>
                      </m:sSub>
                      <m:r>
                        <a:rPr lang="en-US" sz="2800" i="1">
                          <a:solidFill>
                            <a:schemeClr val="accent6">
                              <a:lumMod val="50000"/>
                            </a:schemeClr>
                          </a:solidFill>
                          <a:latin typeface="Cambria Math" panose="02040503050406030204" pitchFamily="18" charset="0"/>
                        </a:rPr>
                        <m:t>𝑋</m:t>
                      </m:r>
                      <m:r>
                        <a:rPr lang="en-US" sz="2800" b="0" i="1" smtClean="0">
                          <a:solidFill>
                            <a:schemeClr val="accent6">
                              <a:lumMod val="50000"/>
                            </a:schemeClr>
                          </a:solidFill>
                          <a:latin typeface="Cambria Math" panose="02040503050406030204" pitchFamily="18" charset="0"/>
                        </a:rPr>
                        <m:t>4</m:t>
                      </m:r>
                    </m:oMath>
                  </m:oMathPara>
                </a14:m>
                <a:endParaRPr lang="en-US" sz="2800" dirty="0"/>
              </a:p>
              <a:p>
                <a:pPr marL="0" indent="0">
                  <a:buNone/>
                </a:pPr>
                <a:endParaRPr lang="en-US" sz="2800" i="1" dirty="0"/>
              </a:p>
              <a:p>
                <a:endParaRPr lang="en-US" sz="2800" i="1" dirty="0"/>
              </a:p>
              <a:p>
                <a:endParaRPr lang="en-US" sz="2800" i="1" dirty="0"/>
              </a:p>
              <a:p>
                <a:endParaRPr lang="en-US" sz="2800" i="1" dirty="0"/>
              </a:p>
              <a:p>
                <a:endParaRPr lang="en-US" sz="2800" i="1" dirty="0"/>
              </a:p>
              <a:p>
                <a:endParaRPr lang="en-US" sz="2800" i="1" dirty="0"/>
              </a:p>
              <a:p>
                <a:endParaRPr lang="en-US" sz="2800" i="1" dirty="0"/>
              </a:p>
              <a:p>
                <a:pPr marL="0" indent="0">
                  <a:buNone/>
                </a:pPr>
                <a:endParaRPr lang="en-US" sz="2800" i="1" dirty="0"/>
              </a:p>
            </p:txBody>
          </p:sp>
        </mc:Choice>
        <mc:Fallback xmlns="">
          <p:sp>
            <p:nvSpPr>
              <p:cNvPr id="2" name="Content Placeholder 1"/>
              <p:cNvSpPr>
                <a:spLocks noGrp="1" noRot="1" noChangeAspect="1" noMove="1" noResize="1" noEditPoints="1" noAdjustHandles="1" noChangeArrowheads="1" noChangeShapeType="1" noTextEdit="1"/>
              </p:cNvSpPr>
              <p:nvPr>
                <p:ph idx="1"/>
              </p:nvPr>
            </p:nvSpPr>
            <p:spPr>
              <a:xfrm>
                <a:off x="795379" y="1219200"/>
                <a:ext cx="8271933" cy="5486400"/>
              </a:xfrm>
              <a:blipFill>
                <a:blip r:embed="rId2"/>
                <a:stretch>
                  <a:fillRect l="-1695" t="-1444"/>
                </a:stretch>
              </a:blipFill>
            </p:spPr>
            <p:txBody>
              <a:bodyPr/>
              <a:lstStyle/>
              <a:p>
                <a:r>
                  <a:rPr lang="en-US">
                    <a:noFill/>
                  </a:rPr>
                  <a:t> </a:t>
                </a:r>
              </a:p>
            </p:txBody>
          </p:sp>
        </mc:Fallback>
      </mc:AlternateContent>
      <p:sp>
        <p:nvSpPr>
          <p:cNvPr id="3" name="Title 2"/>
          <p:cNvSpPr>
            <a:spLocks noGrp="1"/>
          </p:cNvSpPr>
          <p:nvPr>
            <p:ph type="title"/>
          </p:nvPr>
        </p:nvSpPr>
        <p:spPr>
          <a:xfrm>
            <a:off x="685800" y="313436"/>
            <a:ext cx="8229600" cy="1210564"/>
          </a:xfrm>
        </p:spPr>
        <p:txBody>
          <a:bodyPr>
            <a:noAutofit/>
          </a:bodyPr>
          <a:lstStyle/>
          <a:p>
            <a:pPr algn="l"/>
            <a:r>
              <a:rPr lang="en-US" b="1" dirty="0"/>
              <a:t>The Method of Least Squares </a:t>
            </a:r>
            <a:br>
              <a:rPr lang="en-US" b="1" dirty="0"/>
            </a:br>
            <a:endParaRPr lang="en-US" b="1" dirty="0"/>
          </a:p>
        </p:txBody>
      </p:sp>
    </p:spTree>
    <p:extLst>
      <p:ext uri="{BB962C8B-B14F-4D97-AF65-F5344CB8AC3E}">
        <p14:creationId xmlns:p14="http://schemas.microsoft.com/office/powerpoint/2010/main" val="1155697788"/>
      </p:ext>
    </p:extLst>
  </p:cSld>
  <p:clrMapOvr>
    <a:masterClrMapping/>
  </p:clrMapOvr>
  <p:transition spd="slow">
    <p:wipe dir="d"/>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solidFill>
                  <a:schemeClr val="tx1">
                    <a:lumMod val="50000"/>
                  </a:schemeClr>
                </a:solidFill>
              </a:rPr>
              <a:t>Example: What determine a NBA player’s salary?</a:t>
            </a:r>
            <a:endParaRPr lang="en-US" dirty="0"/>
          </a:p>
        </p:txBody>
      </p:sp>
      <p:sp>
        <p:nvSpPr>
          <p:cNvPr id="3" name="Content Placeholder 2"/>
          <p:cNvSpPr>
            <a:spLocks noGrp="1"/>
          </p:cNvSpPr>
          <p:nvPr>
            <p:ph idx="1"/>
          </p:nvPr>
        </p:nvSpPr>
        <p:spPr/>
        <p:txBody>
          <a:bodyPr/>
          <a:lstStyle/>
          <a:p>
            <a:r>
              <a:rPr lang="en-US" dirty="0"/>
              <a:t>Write out the sample regression line and interpret the regression coefficients</a:t>
            </a:r>
          </a:p>
        </p:txBody>
      </p:sp>
      <p:pic>
        <p:nvPicPr>
          <p:cNvPr id="4" name="Picture 3"/>
          <p:cNvPicPr>
            <a:picLocks noChangeAspect="1"/>
          </p:cNvPicPr>
          <p:nvPr/>
        </p:nvPicPr>
        <p:blipFill>
          <a:blip r:embed="rId2"/>
          <a:stretch>
            <a:fillRect/>
          </a:stretch>
        </p:blipFill>
        <p:spPr>
          <a:xfrm>
            <a:off x="1447800" y="2743200"/>
            <a:ext cx="5549880" cy="776288"/>
          </a:xfrm>
          <a:prstGeom prst="rect">
            <a:avLst/>
          </a:prstGeom>
        </p:spPr>
      </p:pic>
    </p:spTree>
    <p:extLst>
      <p:ext uri="{BB962C8B-B14F-4D97-AF65-F5344CB8AC3E}">
        <p14:creationId xmlns:p14="http://schemas.microsoft.com/office/powerpoint/2010/main" val="2244581171"/>
      </p:ext>
    </p:extLst>
  </p:cSld>
  <p:clrMapOvr>
    <a:masterClrMapping/>
  </p:clrMapOvr>
  <p:transition spd="slow">
    <p:wipe dir="d"/>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Matrix Representation</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759204" y="1524000"/>
                <a:ext cx="8077200" cy="4953000"/>
              </a:xfrm>
            </p:spPr>
            <p:txBody>
              <a:bodyPr>
                <a:normAutofit fontScale="55000" lnSpcReduction="20000"/>
              </a:bodyPr>
              <a:lstStyle/>
              <a:p>
                <a:pPr marL="0" indent="0">
                  <a:buNone/>
                </a:pPr>
                <a:r>
                  <a:rPr lang="en-US" dirty="0"/>
                  <a:t>Write</a:t>
                </a:r>
                <a:r>
                  <a:rPr lang="en-US" b="0" dirty="0"/>
                  <a:t> </a:t>
                </a:r>
                <a14:m>
                  <m:oMath xmlns:m="http://schemas.openxmlformats.org/officeDocument/2006/math">
                    <m:r>
                      <a:rPr lang="en-US" b="0" i="1" smtClean="0">
                        <a:latin typeface="Cambria Math" panose="02040503050406030204" pitchFamily="18" charset="0"/>
                      </a:rPr>
                      <m:t>𝑌</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1"/>
                                  <m:mcJc m:val="center"/>
                                </m:mcPr>
                              </m:mc>
                            </m:mcs>
                            <m:ctrlPr>
                              <a:rPr lang="en-US" i="1">
                                <a:latin typeface="Cambria Math" panose="02040503050406030204" pitchFamily="18" charset="0"/>
                              </a:rPr>
                            </m:ctrlPr>
                          </m:mPr>
                          <m:mr>
                            <m:e>
                              <m:sSub>
                                <m:sSubPr>
                                  <m:ctrlPr>
                                    <a:rPr lang="en-US" i="1">
                                      <a:latin typeface="Cambria Math" panose="02040503050406030204" pitchFamily="18" charset="0"/>
                                    </a:rPr>
                                  </m:ctrlPr>
                                </m:sSubPr>
                                <m:e>
                                  <m:r>
                                    <m:rPr>
                                      <m:brk m:alnAt="7"/>
                                    </m:rPr>
                                    <a:rPr lang="en-US" i="1">
                                      <a:latin typeface="Cambria Math" panose="02040503050406030204" pitchFamily="18" charset="0"/>
                                    </a:rPr>
                                    <m:t>𝑌</m:t>
                                  </m:r>
                                </m:e>
                                <m:sub>
                                  <m:r>
                                    <m:rPr>
                                      <m:brk m:alnAt="7"/>
                                    </m:rPr>
                                    <a:rPr lang="en-US" i="1">
                                      <a:latin typeface="Cambria Math" panose="02040503050406030204" pitchFamily="18" charset="0"/>
                                    </a:rPr>
                                    <m:t>1</m:t>
                                  </m:r>
                                </m:sub>
                              </m:sSub>
                            </m:e>
                          </m:mr>
                          <m:mr>
                            <m:e>
                              <m:sSub>
                                <m:sSubPr>
                                  <m:ctrlPr>
                                    <a:rPr lang="en-US" i="1">
                                      <a:latin typeface="Cambria Math" panose="02040503050406030204" pitchFamily="18" charset="0"/>
                                    </a:rPr>
                                  </m:ctrlPr>
                                </m:sSubPr>
                                <m:e>
                                  <m:r>
                                    <a:rPr lang="en-US" i="1">
                                      <a:latin typeface="Cambria Math" panose="02040503050406030204" pitchFamily="18" charset="0"/>
                                    </a:rPr>
                                    <m:t>𝑌</m:t>
                                  </m:r>
                                </m:e>
                                <m:sub>
                                  <m:r>
                                    <a:rPr lang="en-US" i="1">
                                      <a:latin typeface="Cambria Math" panose="02040503050406030204" pitchFamily="18" charset="0"/>
                                    </a:rPr>
                                    <m:t>2</m:t>
                                  </m:r>
                                </m:sub>
                              </m:sSub>
                            </m:e>
                          </m:mr>
                          <m:mr>
                            <m:e>
                              <m:eqArr>
                                <m:eqArrPr>
                                  <m:ctrlPr>
                                    <a:rPr lang="en-US" i="1">
                                      <a:latin typeface="Cambria Math" panose="02040503050406030204" pitchFamily="18" charset="0"/>
                                    </a:rPr>
                                  </m:ctrlPr>
                                </m:eqArrPr>
                                <m:e>
                                  <m:r>
                                    <a:rPr lang="en-US" i="1">
                                      <a:latin typeface="Cambria Math" panose="02040503050406030204" pitchFamily="18" charset="0"/>
                                    </a:rPr>
                                    <m:t>⋮</m:t>
                                  </m:r>
                                </m:e>
                                <m:e>
                                  <m:sSub>
                                    <m:sSubPr>
                                      <m:ctrlPr>
                                        <a:rPr lang="en-US" i="1">
                                          <a:latin typeface="Cambria Math" panose="02040503050406030204" pitchFamily="18" charset="0"/>
                                        </a:rPr>
                                      </m:ctrlPr>
                                    </m:sSubPr>
                                    <m:e>
                                      <m:r>
                                        <a:rPr lang="en-US" i="1">
                                          <a:latin typeface="Cambria Math" panose="02040503050406030204" pitchFamily="18" charset="0"/>
                                        </a:rPr>
                                        <m:t>𝑌</m:t>
                                      </m:r>
                                    </m:e>
                                    <m:sub>
                                      <m:r>
                                        <a:rPr lang="en-US" i="1">
                                          <a:latin typeface="Cambria Math" panose="02040503050406030204" pitchFamily="18" charset="0"/>
                                        </a:rPr>
                                        <m:t>𝑛</m:t>
                                      </m:r>
                                    </m:sub>
                                  </m:sSub>
                                </m:e>
                              </m:eqArr>
                            </m:e>
                          </m:mr>
                        </m:m>
                      </m:e>
                    </m:d>
                  </m:oMath>
                </a14:m>
                <a:r>
                  <a:rPr lang="en-US" dirty="0"/>
                  <a:t>, </a:t>
                </a:r>
                <a14:m>
                  <m:oMath xmlns:m="http://schemas.openxmlformats.org/officeDocument/2006/math">
                    <m:r>
                      <a:rPr lang="en-US" b="0" i="1" smtClean="0">
                        <a:latin typeface="Cambria Math" panose="02040503050406030204" pitchFamily="18" charset="0"/>
                      </a:rPr>
                      <m:t>𝑋</m:t>
                    </m:r>
                    <m:r>
                      <a:rPr lang="en-US" b="0" i="0" smtClean="0">
                        <a:latin typeface="Cambria Math" panose="02040503050406030204" pitchFamily="18" charset="0"/>
                      </a:rPr>
                      <m:t>=</m:t>
                    </m:r>
                    <m:d>
                      <m:dPr>
                        <m:ctrlPr>
                          <a:rPr lang="en-US" i="1" smtClean="0">
                            <a:latin typeface="Cambria Math" panose="02040503050406030204" pitchFamily="18" charset="0"/>
                          </a:rPr>
                        </m:ctrlPr>
                      </m:dPr>
                      <m:e>
                        <m:m>
                          <m:mPr>
                            <m:mcs>
                              <m:mc>
                                <m:mcPr>
                                  <m:count m:val="4"/>
                                  <m:mcJc m:val="center"/>
                                </m:mcPr>
                              </m:mc>
                            </m:mcs>
                            <m:ctrlPr>
                              <a:rPr lang="en-US" i="1" smtClean="0">
                                <a:latin typeface="Cambria Math" panose="02040503050406030204" pitchFamily="18" charset="0"/>
                              </a:rPr>
                            </m:ctrlPr>
                          </m:mPr>
                          <m:mr>
                            <m:e>
                              <m:r>
                                <m:rPr>
                                  <m:brk m:alnAt="7"/>
                                </m:rPr>
                                <a:rPr lang="en-US" b="0" i="1" smtClean="0">
                                  <a:latin typeface="Cambria Math" panose="02040503050406030204" pitchFamily="18" charset="0"/>
                                </a:rPr>
                                <m:t>1</m:t>
                              </m:r>
                            </m:e>
                            <m:e>
                              <m:r>
                                <a:rPr lang="en-US" b="0" i="1" smtClean="0">
                                  <a:latin typeface="Cambria Math" panose="02040503050406030204" pitchFamily="18" charset="0"/>
                                </a:rPr>
                                <m:t>𝑋</m:t>
                              </m:r>
                              <m:sSub>
                                <m:sSubPr>
                                  <m:ctrlPr>
                                    <a:rPr lang="en-US" b="0" i="1" smtClean="0">
                                      <a:latin typeface="Cambria Math" panose="02040503050406030204" pitchFamily="18" charset="0"/>
                                    </a:rPr>
                                  </m:ctrlPr>
                                </m:sSubPr>
                                <m:e>
                                  <m:r>
                                    <a:rPr lang="en-US" b="0" i="1" smtClean="0">
                                      <a:latin typeface="Cambria Math" panose="02040503050406030204" pitchFamily="18" charset="0"/>
                                    </a:rPr>
                                    <m:t>1</m:t>
                                  </m:r>
                                </m:e>
                                <m:sub>
                                  <m:r>
                                    <a:rPr lang="en-US" b="0" i="1" smtClean="0">
                                      <a:latin typeface="Cambria Math" panose="02040503050406030204" pitchFamily="18" charset="0"/>
                                    </a:rPr>
                                    <m:t>1</m:t>
                                  </m:r>
                                </m:sub>
                              </m:sSub>
                            </m:e>
                            <m:e>
                              <m:r>
                                <a:rPr lang="en-US" i="1" smtClean="0">
                                  <a:latin typeface="Cambria Math" panose="02040503050406030204" pitchFamily="18" charset="0"/>
                                </a:rPr>
                                <m:t>⋯</m:t>
                              </m:r>
                            </m:e>
                            <m:e>
                              <m:r>
                                <a:rPr lang="en-US" b="0" i="1" smtClean="0">
                                  <a:latin typeface="Cambria Math" panose="02040503050406030204" pitchFamily="18" charset="0"/>
                                </a:rPr>
                                <m:t>𝑋</m:t>
                              </m:r>
                              <m:sSub>
                                <m:sSubPr>
                                  <m:ctrlPr>
                                    <a:rPr lang="en-US" b="0" i="1" smtClean="0">
                                      <a:latin typeface="Cambria Math" panose="02040503050406030204" pitchFamily="18" charset="0"/>
                                    </a:rPr>
                                  </m:ctrlPr>
                                </m:sSubPr>
                                <m:e>
                                  <m:r>
                                    <a:rPr lang="en-US" b="0" i="1" smtClean="0">
                                      <a:latin typeface="Cambria Math" panose="02040503050406030204" pitchFamily="18" charset="0"/>
                                    </a:rPr>
                                    <m:t>4</m:t>
                                  </m:r>
                                </m:e>
                                <m:sub>
                                  <m:r>
                                    <a:rPr lang="en-US" b="0" i="1" smtClean="0">
                                      <a:latin typeface="Cambria Math" panose="02040503050406030204" pitchFamily="18" charset="0"/>
                                    </a:rPr>
                                    <m:t>1</m:t>
                                  </m:r>
                                </m:sub>
                              </m:sSub>
                            </m:e>
                          </m:mr>
                          <m:mr>
                            <m:e>
                              <m:r>
                                <a:rPr lang="en-US" b="0" i="1" smtClean="0">
                                  <a:latin typeface="Cambria Math" panose="02040503050406030204" pitchFamily="18" charset="0"/>
                                </a:rPr>
                                <m:t>1</m:t>
                              </m:r>
                            </m:e>
                            <m:e>
                              <m:r>
                                <a:rPr lang="en-US" b="0" i="1" smtClean="0">
                                  <a:latin typeface="Cambria Math" panose="02040503050406030204" pitchFamily="18" charset="0"/>
                                </a:rPr>
                                <m:t>𝑋</m:t>
                              </m:r>
                              <m:sSub>
                                <m:sSubPr>
                                  <m:ctrlPr>
                                    <a:rPr lang="en-US" b="0" i="1" smtClean="0">
                                      <a:latin typeface="Cambria Math" panose="02040503050406030204" pitchFamily="18" charset="0"/>
                                    </a:rPr>
                                  </m:ctrlPr>
                                </m:sSubPr>
                                <m:e>
                                  <m:r>
                                    <a:rPr lang="en-US" b="0" i="1" smtClean="0">
                                      <a:latin typeface="Cambria Math" panose="02040503050406030204" pitchFamily="18" charset="0"/>
                                    </a:rPr>
                                    <m:t>1</m:t>
                                  </m:r>
                                </m:e>
                                <m:sub>
                                  <m:r>
                                    <a:rPr lang="en-US" b="0" i="1" smtClean="0">
                                      <a:latin typeface="Cambria Math" panose="02040503050406030204" pitchFamily="18" charset="0"/>
                                    </a:rPr>
                                    <m:t>2</m:t>
                                  </m:r>
                                </m:sub>
                              </m:sSub>
                            </m:e>
                            <m:e>
                              <m:r>
                                <a:rPr lang="en-US" i="1">
                                  <a:solidFill>
                                    <a:prstClr val="black"/>
                                  </a:solidFill>
                                  <a:latin typeface="Cambria Math" panose="02040503050406030204" pitchFamily="18" charset="0"/>
                                </a:rPr>
                                <m:t>⋯</m:t>
                              </m:r>
                            </m:e>
                            <m:e>
                              <m:r>
                                <a:rPr lang="en-US" b="0" i="1" smtClean="0">
                                  <a:latin typeface="Cambria Math" panose="02040503050406030204" pitchFamily="18" charset="0"/>
                                </a:rPr>
                                <m:t>𝑋</m:t>
                              </m:r>
                              <m:sSub>
                                <m:sSubPr>
                                  <m:ctrlPr>
                                    <a:rPr lang="en-US" b="0" i="1" smtClean="0">
                                      <a:latin typeface="Cambria Math" panose="02040503050406030204" pitchFamily="18" charset="0"/>
                                    </a:rPr>
                                  </m:ctrlPr>
                                </m:sSubPr>
                                <m:e>
                                  <m:r>
                                    <a:rPr lang="en-US" b="0" i="1" smtClean="0">
                                      <a:latin typeface="Cambria Math" panose="02040503050406030204" pitchFamily="18" charset="0"/>
                                    </a:rPr>
                                    <m:t>4</m:t>
                                  </m:r>
                                </m:e>
                                <m:sub>
                                  <m:r>
                                    <a:rPr lang="en-US" b="0" i="1" smtClean="0">
                                      <a:latin typeface="Cambria Math" panose="02040503050406030204" pitchFamily="18" charset="0"/>
                                    </a:rPr>
                                    <m:t>2</m:t>
                                  </m:r>
                                </m:sub>
                              </m:sSub>
                            </m:e>
                          </m:mr>
                          <m:mr>
                            <m:e>
                              <m:r>
                                <a:rPr lang="en-US" i="1" smtClean="0">
                                  <a:latin typeface="Cambria Math" panose="02040503050406030204" pitchFamily="18" charset="0"/>
                                </a:rPr>
                                <m:t>⋮</m:t>
                              </m:r>
                            </m:e>
                            <m:e>
                              <m:r>
                                <a:rPr lang="en-US" i="1">
                                  <a:solidFill>
                                    <a:prstClr val="black"/>
                                  </a:solidFill>
                                  <a:latin typeface="Cambria Math" panose="02040503050406030204" pitchFamily="18" charset="0"/>
                                </a:rPr>
                                <m:t>⋮</m:t>
                              </m:r>
                            </m:e>
                            <m:e>
                              <m:r>
                                <a:rPr lang="en-US" i="1" smtClean="0">
                                  <a:latin typeface="Cambria Math" panose="02040503050406030204" pitchFamily="18" charset="0"/>
                                </a:rPr>
                                <m:t>⋱</m:t>
                              </m:r>
                            </m:e>
                            <m:e>
                              <m:r>
                                <a:rPr lang="en-US" i="1" smtClean="0">
                                  <a:latin typeface="Cambria Math" panose="02040503050406030204" pitchFamily="18" charset="0"/>
                                </a:rPr>
                                <m:t>⋮</m:t>
                              </m:r>
                            </m:e>
                          </m:mr>
                          <m:mr>
                            <m:e>
                              <m:r>
                                <a:rPr lang="en-US" b="0" i="1" smtClean="0">
                                  <a:latin typeface="Cambria Math" panose="02040503050406030204" pitchFamily="18" charset="0"/>
                                </a:rPr>
                                <m:t>1</m:t>
                              </m:r>
                            </m:e>
                            <m:e>
                              <m:r>
                                <a:rPr lang="en-US" b="0" i="1" smtClean="0">
                                  <a:latin typeface="Cambria Math" panose="02040503050406030204" pitchFamily="18" charset="0"/>
                                </a:rPr>
                                <m:t>𝑋</m:t>
                              </m:r>
                              <m:sSub>
                                <m:sSubPr>
                                  <m:ctrlPr>
                                    <a:rPr lang="en-US" b="0" i="1" smtClean="0">
                                      <a:latin typeface="Cambria Math" panose="02040503050406030204" pitchFamily="18" charset="0"/>
                                    </a:rPr>
                                  </m:ctrlPr>
                                </m:sSubPr>
                                <m:e>
                                  <m:r>
                                    <a:rPr lang="en-US" b="0" i="1" smtClean="0">
                                      <a:latin typeface="Cambria Math" panose="02040503050406030204" pitchFamily="18" charset="0"/>
                                    </a:rPr>
                                    <m:t>1</m:t>
                                  </m:r>
                                </m:e>
                                <m:sub>
                                  <m:r>
                                    <a:rPr lang="en-US" b="0" i="1" smtClean="0">
                                      <a:latin typeface="Cambria Math" panose="02040503050406030204" pitchFamily="18" charset="0"/>
                                    </a:rPr>
                                    <m:t>𝑛</m:t>
                                  </m:r>
                                </m:sub>
                              </m:sSub>
                            </m:e>
                            <m:e>
                              <m:r>
                                <a:rPr lang="en-US" i="1" smtClean="0">
                                  <a:latin typeface="Cambria Math" panose="02040503050406030204" pitchFamily="18" charset="0"/>
                                </a:rPr>
                                <m:t>⋯</m:t>
                              </m:r>
                            </m:e>
                            <m:e>
                              <m:r>
                                <a:rPr lang="en-US" b="0" i="1" smtClean="0">
                                  <a:latin typeface="Cambria Math" panose="02040503050406030204" pitchFamily="18" charset="0"/>
                                </a:rPr>
                                <m:t>𝑋</m:t>
                              </m:r>
                              <m:sSub>
                                <m:sSubPr>
                                  <m:ctrlPr>
                                    <a:rPr lang="en-US" b="0" i="1" smtClean="0">
                                      <a:latin typeface="Cambria Math" panose="02040503050406030204" pitchFamily="18" charset="0"/>
                                    </a:rPr>
                                  </m:ctrlPr>
                                </m:sSubPr>
                                <m:e>
                                  <m:r>
                                    <a:rPr lang="en-US" b="0" i="1" smtClean="0">
                                      <a:latin typeface="Cambria Math" panose="02040503050406030204" pitchFamily="18" charset="0"/>
                                    </a:rPr>
                                    <m:t>4</m:t>
                                  </m:r>
                                </m:e>
                                <m:sub>
                                  <m:r>
                                    <a:rPr lang="en-US" b="0" i="1" smtClean="0">
                                      <a:latin typeface="Cambria Math" panose="02040503050406030204" pitchFamily="18" charset="0"/>
                                    </a:rPr>
                                    <m:t>𝑛</m:t>
                                  </m:r>
                                </m:sub>
                              </m:sSub>
                            </m:e>
                          </m:mr>
                        </m:m>
                      </m:e>
                    </m:d>
                  </m:oMath>
                </a14:m>
                <a:r>
                  <a:rPr lang="en-US" dirty="0"/>
                  <a:t>, </a:t>
                </a:r>
              </a:p>
              <a:p>
                <a:pPr marL="0" indent="0">
                  <a:buNone/>
                </a:pPr>
                <a:endParaRPr lang="en-US" b="0" i="1" dirty="0">
                  <a:latin typeface="Cambria Math" panose="02040503050406030204" pitchFamily="18" charset="0"/>
                </a:endParaRPr>
              </a:p>
              <a:p>
                <a:pPr marL="0" indent="0">
                  <a:buNone/>
                </a:pPr>
                <a14:m>
                  <m:oMath xmlns:m="http://schemas.openxmlformats.org/officeDocument/2006/math">
                    <m:r>
                      <a:rPr lang="en-US" b="0" i="1" smtClean="0">
                        <a:latin typeface="Cambria Math" panose="02040503050406030204" pitchFamily="18" charset="0"/>
                      </a:rPr>
                      <m:t>𝛽</m:t>
                    </m:r>
                    <m:r>
                      <a:rPr lang="en-US" i="1">
                        <a:latin typeface="Cambria Math" panose="02040503050406030204" pitchFamily="18" charset="0"/>
                      </a:rPr>
                      <m:t>=</m:t>
                    </m:r>
                    <m:d>
                      <m:dPr>
                        <m:begChr m:val="["/>
                        <m:endChr m:val="]"/>
                        <m:ctrlPr>
                          <a:rPr lang="en-US" i="1">
                            <a:latin typeface="Cambria Math" panose="02040503050406030204" pitchFamily="18" charset="0"/>
                          </a:rPr>
                        </m:ctrlPr>
                      </m:dPr>
                      <m:e>
                        <m:m>
                          <m:mPr>
                            <m:mcs>
                              <m:mc>
                                <m:mcPr>
                                  <m:count m:val="1"/>
                                  <m:mcJc m:val="center"/>
                                </m:mcPr>
                              </m:mc>
                            </m:mcs>
                            <m:ctrlPr>
                              <a:rPr lang="en-US" i="1">
                                <a:latin typeface="Cambria Math" panose="02040503050406030204" pitchFamily="18" charset="0"/>
                              </a:rPr>
                            </m:ctrlPr>
                          </m:mPr>
                          <m:mr>
                            <m:e>
                              <m:sSub>
                                <m:sSubPr>
                                  <m:ctrlPr>
                                    <a:rPr lang="en-US" i="1">
                                      <a:latin typeface="Cambria Math" panose="02040503050406030204" pitchFamily="18" charset="0"/>
                                    </a:rPr>
                                  </m:ctrlPr>
                                </m:sSubPr>
                                <m:e>
                                  <m:r>
                                    <a:rPr lang="en-US" b="0" i="1" smtClean="0">
                                      <a:latin typeface="Cambria Math" panose="02040503050406030204" pitchFamily="18" charset="0"/>
                                    </a:rPr>
                                    <m:t>𝛽</m:t>
                                  </m:r>
                                </m:e>
                                <m:sub>
                                  <m:r>
                                    <a:rPr lang="en-US" b="0" i="1" smtClean="0">
                                      <a:latin typeface="Cambria Math" panose="02040503050406030204" pitchFamily="18" charset="0"/>
                                    </a:rPr>
                                    <m:t>0</m:t>
                                  </m:r>
                                </m:sub>
                              </m:sSub>
                            </m:e>
                          </m:mr>
                          <m:mr>
                            <m:e>
                              <m:sSub>
                                <m:sSubPr>
                                  <m:ctrlPr>
                                    <a:rPr lang="en-US" i="1">
                                      <a:latin typeface="Cambria Math" panose="02040503050406030204" pitchFamily="18" charset="0"/>
                                    </a:rPr>
                                  </m:ctrlPr>
                                </m:sSubPr>
                                <m:e>
                                  <m:r>
                                    <a:rPr lang="en-US" b="0" i="1" smtClean="0">
                                      <a:latin typeface="Cambria Math" panose="02040503050406030204" pitchFamily="18" charset="0"/>
                                    </a:rPr>
                                    <m:t>𝛽</m:t>
                                  </m:r>
                                </m:e>
                                <m:sub>
                                  <m:r>
                                    <a:rPr lang="en-US" b="0" i="1" smtClean="0">
                                      <a:latin typeface="Cambria Math" panose="02040503050406030204" pitchFamily="18" charset="0"/>
                                    </a:rPr>
                                    <m:t>1</m:t>
                                  </m:r>
                                </m:sub>
                              </m:sSub>
                            </m:e>
                          </m:mr>
                          <m:mr>
                            <m:e>
                              <m:eqArr>
                                <m:eqArrPr>
                                  <m:ctrlPr>
                                    <a:rPr lang="en-US" i="1">
                                      <a:latin typeface="Cambria Math" panose="02040503050406030204" pitchFamily="18" charset="0"/>
                                    </a:rPr>
                                  </m:ctrlPr>
                                </m:eqArrPr>
                                <m:e>
                                  <m:r>
                                    <a:rPr lang="en-US" i="1">
                                      <a:latin typeface="Cambria Math" panose="02040503050406030204" pitchFamily="18" charset="0"/>
                                    </a:rPr>
                                    <m:t>⋮</m:t>
                                  </m:r>
                                </m:e>
                                <m:e>
                                  <m:sSub>
                                    <m:sSubPr>
                                      <m:ctrlPr>
                                        <a:rPr lang="en-US" i="1">
                                          <a:latin typeface="Cambria Math" panose="02040503050406030204" pitchFamily="18" charset="0"/>
                                        </a:rPr>
                                      </m:ctrlPr>
                                    </m:sSubPr>
                                    <m:e>
                                      <m:r>
                                        <a:rPr lang="en-US" b="0" i="1" smtClean="0">
                                          <a:latin typeface="Cambria Math" panose="02040503050406030204" pitchFamily="18" charset="0"/>
                                        </a:rPr>
                                        <m:t>𝛽</m:t>
                                      </m:r>
                                    </m:e>
                                    <m:sub>
                                      <m:r>
                                        <a:rPr lang="en-US" b="0" i="1" smtClean="0">
                                          <a:latin typeface="Cambria Math" panose="02040503050406030204" pitchFamily="18" charset="0"/>
                                        </a:rPr>
                                        <m:t>4</m:t>
                                      </m:r>
                                    </m:sub>
                                  </m:sSub>
                                </m:e>
                              </m:eqArr>
                            </m:e>
                          </m:mr>
                        </m:m>
                      </m:e>
                    </m:d>
                  </m:oMath>
                </a14:m>
                <a:r>
                  <a:rPr lang="en-US" dirty="0"/>
                  <a:t>, </a:t>
                </a:r>
                <a14:m>
                  <m:oMath xmlns:m="http://schemas.openxmlformats.org/officeDocument/2006/math">
                    <m:r>
                      <a:rPr lang="en-US" b="0" i="1" smtClean="0">
                        <a:latin typeface="Cambria Math" panose="02040503050406030204" pitchFamily="18" charset="0"/>
                      </a:rPr>
                      <m:t>𝜖</m:t>
                    </m:r>
                    <m:r>
                      <a:rPr lang="en-US" i="1">
                        <a:latin typeface="Cambria Math" panose="02040503050406030204" pitchFamily="18" charset="0"/>
                      </a:rPr>
                      <m:t>=</m:t>
                    </m:r>
                    <m:d>
                      <m:dPr>
                        <m:begChr m:val="["/>
                        <m:endChr m:val="]"/>
                        <m:ctrlPr>
                          <a:rPr lang="en-US" i="1">
                            <a:latin typeface="Cambria Math" panose="02040503050406030204" pitchFamily="18" charset="0"/>
                          </a:rPr>
                        </m:ctrlPr>
                      </m:dPr>
                      <m:e>
                        <m:m>
                          <m:mPr>
                            <m:mcs>
                              <m:mc>
                                <m:mcPr>
                                  <m:count m:val="1"/>
                                  <m:mcJc m:val="center"/>
                                </m:mcPr>
                              </m:mc>
                            </m:mcs>
                            <m:ctrlPr>
                              <a:rPr lang="en-US" i="1">
                                <a:latin typeface="Cambria Math" panose="02040503050406030204" pitchFamily="18" charset="0"/>
                              </a:rPr>
                            </m:ctrlPr>
                          </m:mPr>
                          <m:mr>
                            <m:e>
                              <m:sSub>
                                <m:sSubPr>
                                  <m:ctrlPr>
                                    <a:rPr lang="en-US" i="1">
                                      <a:latin typeface="Cambria Math" panose="02040503050406030204" pitchFamily="18" charset="0"/>
                                    </a:rPr>
                                  </m:ctrlPr>
                                </m:sSubPr>
                                <m:e>
                                  <m:r>
                                    <a:rPr lang="en-US" b="0" i="1" smtClean="0">
                                      <a:latin typeface="Cambria Math" panose="02040503050406030204" pitchFamily="18" charset="0"/>
                                    </a:rPr>
                                    <m:t>𝜖</m:t>
                                  </m:r>
                                </m:e>
                                <m:sub>
                                  <m:r>
                                    <m:rPr>
                                      <m:brk m:alnAt="7"/>
                                    </m:rPr>
                                    <a:rPr lang="en-US" i="1">
                                      <a:latin typeface="Cambria Math" panose="02040503050406030204" pitchFamily="18" charset="0"/>
                                    </a:rPr>
                                    <m:t>1</m:t>
                                  </m:r>
                                </m:sub>
                              </m:sSub>
                            </m:e>
                          </m:mr>
                          <m:mr>
                            <m:e>
                              <m:sSub>
                                <m:sSubPr>
                                  <m:ctrlPr>
                                    <a:rPr lang="en-US" i="1">
                                      <a:latin typeface="Cambria Math" panose="02040503050406030204" pitchFamily="18" charset="0"/>
                                    </a:rPr>
                                  </m:ctrlPr>
                                </m:sSubPr>
                                <m:e>
                                  <m:r>
                                    <a:rPr lang="en-US" b="0" i="1" smtClean="0">
                                      <a:latin typeface="Cambria Math" panose="02040503050406030204" pitchFamily="18" charset="0"/>
                                    </a:rPr>
                                    <m:t>𝜖</m:t>
                                  </m:r>
                                </m:e>
                                <m:sub>
                                  <m:r>
                                    <a:rPr lang="en-US" i="1">
                                      <a:latin typeface="Cambria Math" panose="02040503050406030204" pitchFamily="18" charset="0"/>
                                    </a:rPr>
                                    <m:t>2</m:t>
                                  </m:r>
                                </m:sub>
                              </m:sSub>
                            </m:e>
                          </m:mr>
                          <m:mr>
                            <m:e>
                              <m:eqArr>
                                <m:eqArrPr>
                                  <m:ctrlPr>
                                    <a:rPr lang="en-US" i="1">
                                      <a:latin typeface="Cambria Math" panose="02040503050406030204" pitchFamily="18" charset="0"/>
                                    </a:rPr>
                                  </m:ctrlPr>
                                </m:eqArrPr>
                                <m:e>
                                  <m:r>
                                    <a:rPr lang="en-US" i="1">
                                      <a:latin typeface="Cambria Math" panose="02040503050406030204" pitchFamily="18" charset="0"/>
                                    </a:rPr>
                                    <m:t>⋮</m:t>
                                  </m:r>
                                </m:e>
                                <m:e>
                                  <m:sSub>
                                    <m:sSubPr>
                                      <m:ctrlPr>
                                        <a:rPr lang="en-US" i="1">
                                          <a:latin typeface="Cambria Math" panose="02040503050406030204" pitchFamily="18" charset="0"/>
                                        </a:rPr>
                                      </m:ctrlPr>
                                    </m:sSubPr>
                                    <m:e>
                                      <m:r>
                                        <a:rPr lang="en-US" b="0" i="1" smtClean="0">
                                          <a:latin typeface="Cambria Math" panose="02040503050406030204" pitchFamily="18" charset="0"/>
                                        </a:rPr>
                                        <m:t>𝜖</m:t>
                                      </m:r>
                                    </m:e>
                                    <m:sub>
                                      <m:r>
                                        <a:rPr lang="en-US" i="1">
                                          <a:latin typeface="Cambria Math" panose="02040503050406030204" pitchFamily="18" charset="0"/>
                                        </a:rPr>
                                        <m:t>𝑛</m:t>
                                      </m:r>
                                    </m:sub>
                                  </m:sSub>
                                </m:e>
                              </m:eqArr>
                            </m:e>
                          </m:mr>
                        </m:m>
                      </m:e>
                    </m:d>
                  </m:oMath>
                </a14:m>
                <a:r>
                  <a:rPr lang="en-US" dirty="0"/>
                  <a:t>, </a:t>
                </a:r>
                <a14:m>
                  <m:oMath xmlns:m="http://schemas.openxmlformats.org/officeDocument/2006/math">
                    <m:r>
                      <a:rPr lang="en-US" b="0" i="1" smtClean="0">
                        <a:latin typeface="Cambria Math" panose="02040503050406030204" pitchFamily="18" charset="0"/>
                      </a:rPr>
                      <m:t>𝑏</m:t>
                    </m:r>
                    <m:r>
                      <a:rPr lang="en-US" i="1">
                        <a:latin typeface="Cambria Math" panose="02040503050406030204" pitchFamily="18" charset="0"/>
                      </a:rPr>
                      <m:t>=</m:t>
                    </m:r>
                    <m:d>
                      <m:dPr>
                        <m:begChr m:val="["/>
                        <m:endChr m:val="]"/>
                        <m:ctrlPr>
                          <a:rPr lang="en-US" i="1">
                            <a:latin typeface="Cambria Math" panose="02040503050406030204" pitchFamily="18" charset="0"/>
                          </a:rPr>
                        </m:ctrlPr>
                      </m:dPr>
                      <m:e>
                        <m:m>
                          <m:mPr>
                            <m:mcs>
                              <m:mc>
                                <m:mcPr>
                                  <m:count m:val="1"/>
                                  <m:mcJc m:val="center"/>
                                </m:mcPr>
                              </m:mc>
                            </m:mcs>
                            <m:ctrlPr>
                              <a:rPr lang="en-US" i="1">
                                <a:latin typeface="Cambria Math" panose="02040503050406030204" pitchFamily="18" charset="0"/>
                              </a:rPr>
                            </m:ctrlPr>
                          </m:mPr>
                          <m:mr>
                            <m:e>
                              <m:sSub>
                                <m:sSubPr>
                                  <m:ctrlPr>
                                    <a:rPr lang="en-US" i="1">
                                      <a:latin typeface="Cambria Math" panose="02040503050406030204" pitchFamily="18" charset="0"/>
                                    </a:rPr>
                                  </m:ctrlPr>
                                </m:sSubPr>
                                <m:e>
                                  <m:r>
                                    <a:rPr lang="en-US" b="0" i="1" smtClean="0">
                                      <a:latin typeface="Cambria Math" panose="02040503050406030204" pitchFamily="18" charset="0"/>
                                    </a:rPr>
                                    <m:t>𝑏</m:t>
                                  </m:r>
                                </m:e>
                                <m:sub>
                                  <m:r>
                                    <a:rPr lang="en-US" i="1">
                                      <a:latin typeface="Cambria Math" panose="02040503050406030204" pitchFamily="18" charset="0"/>
                                    </a:rPr>
                                    <m:t>0</m:t>
                                  </m:r>
                                </m:sub>
                              </m:sSub>
                            </m:e>
                          </m:mr>
                          <m:mr>
                            <m:e>
                              <m:sSub>
                                <m:sSubPr>
                                  <m:ctrlPr>
                                    <a:rPr lang="en-US" i="1">
                                      <a:latin typeface="Cambria Math" panose="02040503050406030204" pitchFamily="18" charset="0"/>
                                    </a:rPr>
                                  </m:ctrlPr>
                                </m:sSubPr>
                                <m:e>
                                  <m:r>
                                    <a:rPr lang="en-US" b="0" i="1" smtClean="0">
                                      <a:latin typeface="Cambria Math" panose="02040503050406030204" pitchFamily="18" charset="0"/>
                                    </a:rPr>
                                    <m:t>𝑏</m:t>
                                  </m:r>
                                </m:e>
                                <m:sub>
                                  <m:r>
                                    <a:rPr lang="en-US" i="1">
                                      <a:latin typeface="Cambria Math" panose="02040503050406030204" pitchFamily="18" charset="0"/>
                                    </a:rPr>
                                    <m:t>1</m:t>
                                  </m:r>
                                </m:sub>
                              </m:sSub>
                            </m:e>
                          </m:mr>
                          <m:mr>
                            <m:e>
                              <m:eqArr>
                                <m:eqArrPr>
                                  <m:ctrlPr>
                                    <a:rPr lang="en-US" i="1">
                                      <a:latin typeface="Cambria Math" panose="02040503050406030204" pitchFamily="18" charset="0"/>
                                    </a:rPr>
                                  </m:ctrlPr>
                                </m:eqArrPr>
                                <m:e>
                                  <m:r>
                                    <a:rPr lang="en-US" i="1">
                                      <a:latin typeface="Cambria Math" panose="02040503050406030204" pitchFamily="18" charset="0"/>
                                    </a:rPr>
                                    <m:t>⋮</m:t>
                                  </m:r>
                                </m:e>
                                <m:e>
                                  <m:sSub>
                                    <m:sSubPr>
                                      <m:ctrlPr>
                                        <a:rPr lang="en-US" i="1">
                                          <a:latin typeface="Cambria Math" panose="02040503050406030204" pitchFamily="18" charset="0"/>
                                        </a:rPr>
                                      </m:ctrlPr>
                                    </m:sSubPr>
                                    <m:e>
                                      <m:r>
                                        <a:rPr lang="en-US" b="0" i="1" smtClean="0">
                                          <a:latin typeface="Cambria Math" panose="02040503050406030204" pitchFamily="18" charset="0"/>
                                        </a:rPr>
                                        <m:t>𝑏</m:t>
                                      </m:r>
                                    </m:e>
                                    <m:sub>
                                      <m:r>
                                        <a:rPr lang="en-US" i="1">
                                          <a:latin typeface="Cambria Math" panose="02040503050406030204" pitchFamily="18" charset="0"/>
                                        </a:rPr>
                                        <m:t>4</m:t>
                                      </m:r>
                                    </m:sub>
                                  </m:sSub>
                                </m:e>
                              </m:eqArr>
                            </m:e>
                          </m:mr>
                        </m:m>
                      </m:e>
                    </m:d>
                  </m:oMath>
                </a14:m>
                <a:endParaRPr lang="en-US" dirty="0"/>
              </a:p>
              <a:p>
                <a:pPr marL="0" indent="0">
                  <a:buNone/>
                </a:pPr>
                <a:endParaRPr lang="en-US" dirty="0"/>
              </a:p>
              <a:p>
                <a:pPr marL="0" indent="0">
                  <a:buNone/>
                </a:pPr>
                <a:r>
                  <a:rPr lang="en-US" dirty="0"/>
                  <a:t>Then </a:t>
                </a:r>
                <a14:m>
                  <m:oMath xmlns:m="http://schemas.openxmlformats.org/officeDocument/2006/math">
                    <m:r>
                      <a:rPr lang="en-US" i="1" smtClean="0">
                        <a:latin typeface="Cambria Math" panose="02040503050406030204" pitchFamily="18" charset="0"/>
                      </a:rPr>
                      <m:t>𝑌</m:t>
                    </m:r>
                    <m:r>
                      <a:rPr lang="en-US" i="1">
                        <a:latin typeface="Cambria Math" panose="02040503050406030204" pitchFamily="18" charset="0"/>
                      </a:rPr>
                      <m:t>=</m:t>
                    </m:r>
                    <m:r>
                      <a:rPr lang="en-US" b="0" i="1" smtClean="0">
                        <a:latin typeface="Cambria Math" panose="02040503050406030204" pitchFamily="18" charset="0"/>
                      </a:rPr>
                      <m:t>𝑋</m:t>
                    </m:r>
                    <m:r>
                      <a:rPr lang="en-US" b="0" i="1" smtClean="0">
                        <a:latin typeface="Cambria Math" panose="02040503050406030204" pitchFamily="18" charset="0"/>
                      </a:rPr>
                      <m:t>𝛽</m:t>
                    </m:r>
                    <m:r>
                      <a:rPr lang="en-US" b="0" i="1" smtClean="0">
                        <a:latin typeface="Cambria Math" panose="02040503050406030204" pitchFamily="18" charset="0"/>
                      </a:rPr>
                      <m:t>+</m:t>
                    </m:r>
                    <m:r>
                      <a:rPr lang="en-US" b="0" i="1" smtClean="0">
                        <a:latin typeface="Cambria Math" panose="02040503050406030204" pitchFamily="18" charset="0"/>
                      </a:rPr>
                      <m:t>𝜖</m:t>
                    </m:r>
                  </m:oMath>
                </a14:m>
                <a:r>
                  <a:rPr lang="en-US" dirty="0"/>
                  <a:t> and </a:t>
                </a:r>
                <a14:m>
                  <m:oMath xmlns:m="http://schemas.openxmlformats.org/officeDocument/2006/math">
                    <m:r>
                      <a:rPr lang="en-US" b="0" i="1" smtClean="0">
                        <a:latin typeface="Cambria Math" panose="02040503050406030204" pitchFamily="18" charset="0"/>
                      </a:rPr>
                      <m:t>𝑏</m:t>
                    </m:r>
                    <m:r>
                      <a:rPr lang="en-US" i="1">
                        <a:latin typeface="Cambria Math" panose="02040503050406030204" pitchFamily="18" charset="0"/>
                      </a:rPr>
                      <m:t>=</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𝑋</m:t>
                                </m:r>
                              </m:e>
                              <m:sup>
                                <m:r>
                                  <a:rPr lang="en-US" b="0" i="1" smtClean="0">
                                    <a:latin typeface="Cambria Math" panose="02040503050406030204" pitchFamily="18" charset="0"/>
                                  </a:rPr>
                                  <m:t>𝑇</m:t>
                                </m:r>
                              </m:sup>
                            </m:sSup>
                            <m:r>
                              <a:rPr lang="en-US" i="1">
                                <a:latin typeface="Cambria Math" panose="02040503050406030204" pitchFamily="18" charset="0"/>
                              </a:rPr>
                              <m:t>𝑋</m:t>
                            </m:r>
                          </m:e>
                        </m:d>
                      </m:e>
                      <m:sup>
                        <m:r>
                          <a:rPr lang="en-US" b="0" i="1" smtClean="0">
                            <a:latin typeface="Cambria Math" panose="02040503050406030204" pitchFamily="18" charset="0"/>
                          </a:rPr>
                          <m:t>−1</m:t>
                        </m:r>
                      </m:sup>
                    </m:sSup>
                    <m:sSup>
                      <m:sSupPr>
                        <m:ctrlPr>
                          <a:rPr lang="en-US" b="0" i="1" smtClean="0">
                            <a:latin typeface="Cambria Math" panose="02040503050406030204" pitchFamily="18" charset="0"/>
                          </a:rPr>
                        </m:ctrlPr>
                      </m:sSupPr>
                      <m:e>
                        <m:r>
                          <a:rPr lang="en-US" b="0" i="1" smtClean="0">
                            <a:latin typeface="Cambria Math" panose="02040503050406030204" pitchFamily="18" charset="0"/>
                          </a:rPr>
                          <m:t>𝑋</m:t>
                        </m:r>
                      </m:e>
                      <m:sup>
                        <m:r>
                          <a:rPr lang="en-US" b="0" i="1" smtClean="0">
                            <a:latin typeface="Cambria Math" panose="02040503050406030204" pitchFamily="18" charset="0"/>
                          </a:rPr>
                          <m:t>𝑇</m:t>
                        </m:r>
                      </m:sup>
                    </m:sSup>
                    <m:r>
                      <a:rPr lang="en-US" b="0" i="1" smtClean="0">
                        <a:latin typeface="Cambria Math" panose="02040503050406030204" pitchFamily="18" charset="0"/>
                      </a:rPr>
                      <m:t>𝑌</m:t>
                    </m:r>
                  </m:oMath>
                </a14:m>
                <a:r>
                  <a:rPr lang="en-US" dirty="0"/>
                  <a:t>, </a:t>
                </a:r>
                <a14:m>
                  <m:oMath xmlns:m="http://schemas.openxmlformats.org/officeDocument/2006/math">
                    <m:r>
                      <a:rPr lang="en-US" i="1">
                        <a:latin typeface="Cambria Math" panose="02040503050406030204" pitchFamily="18" charset="0"/>
                      </a:rPr>
                      <m:t>𝑋</m:t>
                    </m:r>
                  </m:oMath>
                </a14:m>
                <a:r>
                  <a:rPr lang="en-US" dirty="0"/>
                  <a:t> is often referred as the design matrix.</a:t>
                </a:r>
              </a:p>
              <a:p>
                <a:pPr marL="0" indent="0">
                  <a:buNone/>
                </a:pPr>
                <a:endParaRPr lang="en-US" dirty="0"/>
              </a:p>
              <a:p>
                <a:pPr marL="0" indent="0">
                  <a:buNone/>
                </a:pP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𝐼</m:t>
                        </m:r>
                      </m:e>
                      <m:sub>
                        <m:r>
                          <a:rPr lang="en-US" b="0" i="1" smtClean="0">
                            <a:latin typeface="Cambria Math" panose="02040503050406030204" pitchFamily="18" charset="0"/>
                          </a:rPr>
                          <m:t>𝑛</m:t>
                        </m:r>
                      </m:sub>
                    </m:sSub>
                  </m:oMath>
                </a14:m>
                <a:r>
                  <a:rPr lang="en-US" dirty="0"/>
                  <a:t>is an </a:t>
                </a:r>
                <a14:m>
                  <m:oMath xmlns:m="http://schemas.openxmlformats.org/officeDocument/2006/math">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𝑛</m:t>
                    </m:r>
                  </m:oMath>
                </a14:m>
                <a:r>
                  <a:rPr lang="en-US" dirty="0"/>
                  <a:t> </a:t>
                </a:r>
                <a:r>
                  <a:rPr lang="en-US" b="1" dirty="0">
                    <a:solidFill>
                      <a:srgbClr val="00B0F0"/>
                    </a:solidFill>
                  </a:rPr>
                  <a:t>identity</a:t>
                </a:r>
                <a:r>
                  <a:rPr lang="en-US" dirty="0"/>
                  <a:t> matrix; its diagonal elements are all 1 and off-diagonal elements are all 0. </a:t>
                </a:r>
              </a:p>
              <a:p>
                <a:pPr marL="0" indent="0">
                  <a:buNone/>
                </a:pPr>
                <a:endParaRPr lang="en-US" dirty="0"/>
              </a:p>
              <a:p>
                <a:pPr marL="0" indent="0">
                  <a:buNone/>
                </a:pPr>
                <a:r>
                  <a:rPr lang="en-US" dirty="0"/>
                  <a:t>Consider two </a:t>
                </a:r>
                <a14:m>
                  <m:oMath xmlns:m="http://schemas.openxmlformats.org/officeDocument/2006/math">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𝑛</m:t>
                    </m:r>
                  </m:oMath>
                </a14:m>
                <a:r>
                  <a:rPr lang="en-US" dirty="0"/>
                  <a:t> matrices </a:t>
                </a:r>
                <a14:m>
                  <m:oMath xmlns:m="http://schemas.openxmlformats.org/officeDocument/2006/math">
                    <m:r>
                      <a:rPr lang="en-US" b="0" i="1" smtClean="0">
                        <a:latin typeface="Cambria Math" panose="02040503050406030204" pitchFamily="18" charset="0"/>
                      </a:rPr>
                      <m:t>𝐴</m:t>
                    </m:r>
                    <m:r>
                      <a:rPr lang="en-US" b="0" i="1" smtClean="0">
                        <a:latin typeface="Cambria Math" panose="02040503050406030204" pitchFamily="18" charset="0"/>
                      </a:rPr>
                      <m:t> </m:t>
                    </m:r>
                    <m:r>
                      <m:rPr>
                        <m:sty m:val="p"/>
                      </m:rPr>
                      <a:rPr lang="en-US" b="0" i="0" smtClean="0">
                        <a:latin typeface="Cambria Math" panose="02040503050406030204" pitchFamily="18" charset="0"/>
                      </a:rPr>
                      <m:t>and</m:t>
                    </m:r>
                    <m:r>
                      <a:rPr lang="en-US" b="0" i="1" smtClean="0">
                        <a:latin typeface="Cambria Math" panose="02040503050406030204" pitchFamily="18" charset="0"/>
                      </a:rPr>
                      <m:t> </m:t>
                    </m:r>
                    <m:r>
                      <a:rPr lang="en-US" b="0" i="1" smtClean="0">
                        <a:latin typeface="Cambria Math" panose="02040503050406030204" pitchFamily="18" charset="0"/>
                      </a:rPr>
                      <m:t>𝐵</m:t>
                    </m:r>
                  </m:oMath>
                </a14:m>
                <a:r>
                  <a:rPr lang="en-US" dirty="0"/>
                  <a:t>, if </a:t>
                </a:r>
                <a14:m>
                  <m:oMath xmlns:m="http://schemas.openxmlformats.org/officeDocument/2006/math">
                    <m:r>
                      <a:rPr lang="en-US" b="0" i="1" smtClean="0">
                        <a:latin typeface="Cambria Math" panose="02040503050406030204" pitchFamily="18" charset="0"/>
                      </a:rPr>
                      <m:t>𝐴𝐵</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𝐼</m:t>
                        </m:r>
                      </m:e>
                      <m:sub>
                        <m:r>
                          <a:rPr lang="en-US" b="0" i="1" smtClean="0">
                            <a:latin typeface="Cambria Math" panose="02040503050406030204" pitchFamily="18" charset="0"/>
                          </a:rPr>
                          <m:t>𝑛</m:t>
                        </m:r>
                      </m:sub>
                    </m:sSub>
                  </m:oMath>
                </a14:m>
                <a:r>
                  <a:rPr lang="en-US" dirty="0"/>
                  <a:t>, then we say </a:t>
                </a:r>
                <a14:m>
                  <m:oMath xmlns:m="http://schemas.openxmlformats.org/officeDocument/2006/math">
                    <m:r>
                      <a:rPr lang="en-US" b="0" i="1" smtClean="0">
                        <a:latin typeface="Cambria Math" panose="02040503050406030204" pitchFamily="18" charset="0"/>
                      </a:rPr>
                      <m:t>𝐵</m:t>
                    </m:r>
                    <m:r>
                      <a:rPr lang="en-US" i="1">
                        <a:latin typeface="Cambria Math" panose="02040503050406030204" pitchFamily="18" charset="0"/>
                      </a:rPr>
                      <m:t> </m:t>
                    </m:r>
                    <m:r>
                      <m:rPr>
                        <m:sty m:val="p"/>
                      </m:rPr>
                      <a:rPr lang="en-US" b="0" i="0" smtClean="0">
                        <a:latin typeface="Cambria Math" panose="02040503050406030204" pitchFamily="18" charset="0"/>
                      </a:rPr>
                      <m:t>is</m:t>
                    </m:r>
                    <m:r>
                      <a:rPr lang="en-US" b="0" i="0" smtClean="0">
                        <a:latin typeface="Cambria Math" panose="02040503050406030204" pitchFamily="18" charset="0"/>
                      </a:rPr>
                      <m:t> </m:t>
                    </m:r>
                    <m:r>
                      <m:rPr>
                        <m:sty m:val="p"/>
                      </m:rPr>
                      <a:rPr lang="en-US" b="0" i="0" smtClean="0">
                        <a:latin typeface="Cambria Math" panose="02040503050406030204" pitchFamily="18" charset="0"/>
                      </a:rPr>
                      <m:t>the</m:t>
                    </m:r>
                    <m:r>
                      <a:rPr lang="en-US" b="0" i="0" smtClean="0">
                        <a:latin typeface="Cambria Math" panose="02040503050406030204" pitchFamily="18" charset="0"/>
                      </a:rPr>
                      <m:t> </m:t>
                    </m:r>
                    <m:r>
                      <m:rPr>
                        <m:sty m:val="p"/>
                      </m:rPr>
                      <a:rPr lang="en-US" b="0" i="0" smtClean="0">
                        <a:latin typeface="Cambria Math" panose="02040503050406030204" pitchFamily="18" charset="0"/>
                      </a:rPr>
                      <m:t>inverse</m:t>
                    </m:r>
                    <m:r>
                      <a:rPr lang="en-US" b="0" i="0" smtClean="0">
                        <a:latin typeface="Cambria Math" panose="02040503050406030204" pitchFamily="18" charset="0"/>
                      </a:rPr>
                      <m:t> </m:t>
                    </m:r>
                    <m:r>
                      <m:rPr>
                        <m:sty m:val="p"/>
                      </m:rPr>
                      <a:rPr lang="en-US" b="0" i="0" smtClean="0">
                        <a:latin typeface="Cambria Math" panose="02040503050406030204" pitchFamily="18" charset="0"/>
                      </a:rPr>
                      <m:t>of</m:t>
                    </m:r>
                    <m:r>
                      <a:rPr lang="en-US" i="1">
                        <a:latin typeface="Cambria Math" panose="02040503050406030204" pitchFamily="18" charset="0"/>
                      </a:rPr>
                      <m:t> </m:t>
                    </m:r>
                    <m:r>
                      <a:rPr lang="en-US" b="0" i="1" smtClean="0">
                        <a:latin typeface="Cambria Math" panose="02040503050406030204" pitchFamily="18" charset="0"/>
                      </a:rPr>
                      <m:t>𝐴</m:t>
                    </m:r>
                  </m:oMath>
                </a14:m>
                <a:r>
                  <a:rPr lang="en-US" dirty="0"/>
                  <a:t>; we write </a:t>
                </a:r>
                <a14:m>
                  <m:oMath xmlns:m="http://schemas.openxmlformats.org/officeDocument/2006/math">
                    <m:r>
                      <a:rPr lang="en-US" b="0" i="1" smtClean="0">
                        <a:latin typeface="Cambria Math" panose="02040503050406030204" pitchFamily="18" charset="0"/>
                      </a:rPr>
                      <m:t>𝐵</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−1</m:t>
                        </m:r>
                      </m:sup>
                    </m:sSup>
                  </m:oMath>
                </a14:m>
                <a:r>
                  <a:rPr lang="en-US" dirty="0"/>
                  <a:t>.</a:t>
                </a:r>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759204" y="1524000"/>
                <a:ext cx="8077200" cy="4953000"/>
              </a:xfrm>
              <a:blipFill>
                <a:blip r:embed="rId2"/>
                <a:stretch>
                  <a:fillRect l="-679" t="-1722" r="-604"/>
                </a:stretch>
              </a:blipFill>
            </p:spPr>
            <p:txBody>
              <a:bodyPr/>
              <a:lstStyle/>
              <a:p>
                <a:r>
                  <a:rPr lang="en-US">
                    <a:noFill/>
                  </a:rPr>
                  <a:t> </a:t>
                </a:r>
              </a:p>
            </p:txBody>
          </p:sp>
        </mc:Fallback>
      </mc:AlternateContent>
    </p:spTree>
    <p:extLst>
      <p:ext uri="{BB962C8B-B14F-4D97-AF65-F5344CB8AC3E}">
        <p14:creationId xmlns:p14="http://schemas.microsoft.com/office/powerpoint/2010/main" val="3216766909"/>
      </p:ext>
    </p:extLst>
  </p:cSld>
  <p:clrMapOvr>
    <a:masterClrMapping/>
  </p:clrMapOvr>
  <p:transition spd="slow">
    <p:wipe dir="d"/>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38200" y="1295400"/>
            <a:ext cx="7408333" cy="5105400"/>
          </a:xfrm>
        </p:spPr>
        <p:txBody>
          <a:bodyPr>
            <a:normAutofit fontScale="85000" lnSpcReduction="20000"/>
          </a:bodyPr>
          <a:lstStyle/>
          <a:p>
            <a:endParaRPr lang="en-US" sz="800" dirty="0"/>
          </a:p>
          <a:p>
            <a:r>
              <a:rPr lang="en-US" dirty="0"/>
              <a:t>How can the model help explain the variability in the data (</a:t>
            </a:r>
            <a:r>
              <a:rPr lang="en-US" dirty="0">
                <a:solidFill>
                  <a:srgbClr val="0070C0"/>
                </a:solidFill>
              </a:rPr>
              <a:t>ANOVA</a:t>
            </a:r>
            <a:r>
              <a:rPr lang="en-US" dirty="0"/>
              <a:t>)? </a:t>
            </a:r>
          </a:p>
          <a:p>
            <a:r>
              <a:rPr lang="en-US" dirty="0"/>
              <a:t>What can we say about the regression coefficients (</a:t>
            </a:r>
            <a:r>
              <a:rPr lang="en-US" dirty="0">
                <a:solidFill>
                  <a:srgbClr val="0070C0"/>
                </a:solidFill>
              </a:rPr>
              <a:t>confidence intervals, hypothesis testing</a:t>
            </a:r>
            <a:r>
              <a:rPr lang="en-US" dirty="0"/>
              <a:t>)?</a:t>
            </a:r>
          </a:p>
          <a:p>
            <a:r>
              <a:rPr lang="en-US" dirty="0"/>
              <a:t>How do we obtain </a:t>
            </a:r>
            <a:r>
              <a:rPr lang="en-US" dirty="0">
                <a:solidFill>
                  <a:srgbClr val="0070C0"/>
                </a:solidFill>
              </a:rPr>
              <a:t>confidence and prediction intervals</a:t>
            </a:r>
            <a:r>
              <a:rPr lang="en-US" dirty="0"/>
              <a:t> for the response?</a:t>
            </a:r>
          </a:p>
          <a:p>
            <a:r>
              <a:rPr lang="en-US" dirty="0"/>
              <a:t>Does the fitted model fit the data well? Are any model assumptions being violated (</a:t>
            </a:r>
            <a:r>
              <a:rPr lang="en-US" dirty="0">
                <a:solidFill>
                  <a:srgbClr val="0070C0"/>
                </a:solidFill>
              </a:rPr>
              <a:t>residual diagnostics</a:t>
            </a:r>
            <a:r>
              <a:rPr lang="en-US" dirty="0"/>
              <a:t>)? </a:t>
            </a:r>
          </a:p>
          <a:p>
            <a:r>
              <a:rPr lang="en-US" dirty="0"/>
              <a:t>If there is a problem, what do we do (</a:t>
            </a:r>
            <a:r>
              <a:rPr lang="en-US" dirty="0">
                <a:solidFill>
                  <a:srgbClr val="7030A0"/>
                </a:solidFill>
              </a:rPr>
              <a:t>transformations</a:t>
            </a:r>
            <a:r>
              <a:rPr lang="en-US" dirty="0"/>
              <a:t> </a:t>
            </a:r>
            <a:r>
              <a:rPr lang="en-US" dirty="0" err="1"/>
              <a:t>etc</a:t>
            </a:r>
            <a:r>
              <a:rPr lang="en-US" dirty="0"/>
              <a:t>)?</a:t>
            </a:r>
          </a:p>
          <a:p>
            <a:r>
              <a:rPr lang="en-US" dirty="0"/>
              <a:t>How do we determine a “</a:t>
            </a:r>
            <a:r>
              <a:rPr lang="en-US" dirty="0">
                <a:solidFill>
                  <a:srgbClr val="0070C0"/>
                </a:solidFill>
              </a:rPr>
              <a:t>good</a:t>
            </a:r>
            <a:r>
              <a:rPr lang="en-US" dirty="0"/>
              <a:t>” model?</a:t>
            </a:r>
          </a:p>
        </p:txBody>
      </p:sp>
      <p:sp>
        <p:nvSpPr>
          <p:cNvPr id="3" name="Title 2"/>
          <p:cNvSpPr>
            <a:spLocks noGrp="1"/>
          </p:cNvSpPr>
          <p:nvPr>
            <p:ph type="title"/>
          </p:nvPr>
        </p:nvSpPr>
        <p:spPr/>
        <p:txBody>
          <a:bodyPr>
            <a:normAutofit/>
          </a:bodyPr>
          <a:lstStyle/>
          <a:p>
            <a:r>
              <a:rPr lang="en-US" b="1" dirty="0"/>
              <a:t>Things to look at</a:t>
            </a:r>
          </a:p>
        </p:txBody>
      </p:sp>
    </p:spTree>
    <p:extLst>
      <p:ext uri="{BB962C8B-B14F-4D97-AF65-F5344CB8AC3E}">
        <p14:creationId xmlns:p14="http://schemas.microsoft.com/office/powerpoint/2010/main" val="1693193389"/>
      </p:ext>
    </p:extLst>
  </p:cSld>
  <p:clrMapOvr>
    <a:masterClrMapping/>
  </p:clrMapOvr>
  <p:transition spd="slow">
    <p:wipe dir="d"/>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0836" y="609600"/>
            <a:ext cx="6629400" cy="548640"/>
          </a:xfrm>
        </p:spPr>
        <p:txBody>
          <a:bodyPr/>
          <a:lstStyle/>
          <a:p>
            <a:r>
              <a:rPr lang="en-US" sz="3600" b="1" dirty="0">
                <a:latin typeface="+mj-lt"/>
              </a:rPr>
              <a:t>ANOVA – partitioning of squares</a:t>
            </a:r>
          </a:p>
        </p:txBody>
      </p:sp>
      <p:graphicFrame>
        <p:nvGraphicFramePr>
          <p:cNvPr id="4" name="Object 3"/>
          <p:cNvGraphicFramePr>
            <a:graphicFrameLocks noChangeAspect="1"/>
          </p:cNvGraphicFramePr>
          <p:nvPr/>
        </p:nvGraphicFramePr>
        <p:xfrm>
          <a:off x="762000" y="1752599"/>
          <a:ext cx="7287072" cy="1066801"/>
        </p:xfrm>
        <a:graphic>
          <a:graphicData uri="http://schemas.openxmlformats.org/presentationml/2006/ole">
            <mc:AlternateContent xmlns:mc="http://schemas.openxmlformats.org/markup-compatibility/2006">
              <mc:Choice xmlns:v="urn:schemas-microsoft-com:vml" Requires="v">
                <p:oleObj name="Document" r:id="rId2" imgW="5638800" imgH="825500" progId="Word.Document.12">
                  <p:embed/>
                </p:oleObj>
              </mc:Choice>
              <mc:Fallback>
                <p:oleObj name="Document" r:id="rId2" imgW="5638800" imgH="825500" progId="Word.Document.12">
                  <p:embed/>
                  <p:pic>
                    <p:nvPicPr>
                      <p:cNvPr id="4" name="Object 3"/>
                      <p:cNvPicPr/>
                      <p:nvPr/>
                    </p:nvPicPr>
                    <p:blipFill>
                      <a:blip r:embed="rId3"/>
                      <a:stretch>
                        <a:fillRect/>
                      </a:stretch>
                    </p:blipFill>
                    <p:spPr>
                      <a:xfrm>
                        <a:off x="762000" y="1752599"/>
                        <a:ext cx="7287072" cy="1066801"/>
                      </a:xfrm>
                      <a:prstGeom prst="rect">
                        <a:avLst/>
                      </a:prstGeom>
                      <a:solidFill>
                        <a:schemeClr val="tx1"/>
                      </a:solidFill>
                      <a:ln>
                        <a:solidFill>
                          <a:schemeClr val="tx1"/>
                        </a:solidFill>
                      </a:ln>
                    </p:spPr>
                  </p:pic>
                </p:oleObj>
              </mc:Fallback>
            </mc:AlternateContent>
          </a:graphicData>
        </a:graphic>
      </p:graphicFrame>
      <p:graphicFrame>
        <p:nvGraphicFramePr>
          <p:cNvPr id="5" name="Object 4"/>
          <p:cNvGraphicFramePr>
            <a:graphicFrameLocks noChangeAspect="1"/>
          </p:cNvGraphicFramePr>
          <p:nvPr/>
        </p:nvGraphicFramePr>
        <p:xfrm>
          <a:off x="761999" y="3047999"/>
          <a:ext cx="7330451" cy="990601"/>
        </p:xfrm>
        <a:graphic>
          <a:graphicData uri="http://schemas.openxmlformats.org/presentationml/2006/ole">
            <mc:AlternateContent xmlns:mc="http://schemas.openxmlformats.org/markup-compatibility/2006">
              <mc:Choice xmlns:v="urn:schemas-microsoft-com:vml" Requires="v">
                <p:oleObj name="Document" r:id="rId4" imgW="5638800" imgH="762000" progId="Word.Document.12">
                  <p:embed/>
                </p:oleObj>
              </mc:Choice>
              <mc:Fallback>
                <p:oleObj name="Document" r:id="rId4" imgW="5638800" imgH="762000" progId="Word.Document.12">
                  <p:embed/>
                  <p:pic>
                    <p:nvPicPr>
                      <p:cNvPr id="5" name="Object 4"/>
                      <p:cNvPicPr/>
                      <p:nvPr/>
                    </p:nvPicPr>
                    <p:blipFill>
                      <a:blip r:embed="rId5"/>
                      <a:stretch>
                        <a:fillRect/>
                      </a:stretch>
                    </p:blipFill>
                    <p:spPr>
                      <a:xfrm>
                        <a:off x="761999" y="3047999"/>
                        <a:ext cx="7330451" cy="990601"/>
                      </a:xfrm>
                      <a:prstGeom prst="rect">
                        <a:avLst/>
                      </a:prstGeom>
                      <a:ln>
                        <a:solidFill>
                          <a:srgbClr val="87CB3D"/>
                        </a:solidFill>
                      </a:ln>
                    </p:spPr>
                  </p:pic>
                </p:oleObj>
              </mc:Fallback>
            </mc:AlternateContent>
          </a:graphicData>
        </a:graphic>
      </p:graphicFrame>
      <p:graphicFrame>
        <p:nvGraphicFramePr>
          <p:cNvPr id="6" name="Object 5"/>
          <p:cNvGraphicFramePr>
            <a:graphicFrameLocks noChangeAspect="1"/>
          </p:cNvGraphicFramePr>
          <p:nvPr/>
        </p:nvGraphicFramePr>
        <p:xfrm>
          <a:off x="762000" y="4190999"/>
          <a:ext cx="7391400" cy="998838"/>
        </p:xfrm>
        <a:graphic>
          <a:graphicData uri="http://schemas.openxmlformats.org/presentationml/2006/ole">
            <mc:AlternateContent xmlns:mc="http://schemas.openxmlformats.org/markup-compatibility/2006">
              <mc:Choice xmlns:v="urn:schemas-microsoft-com:vml" Requires="v">
                <p:oleObj name="Document" r:id="rId6" imgW="5638800" imgH="762000" progId="Word.Document.12">
                  <p:embed/>
                </p:oleObj>
              </mc:Choice>
              <mc:Fallback>
                <p:oleObj name="Document" r:id="rId6" imgW="5638800" imgH="762000" progId="Word.Document.12">
                  <p:embed/>
                  <p:pic>
                    <p:nvPicPr>
                      <p:cNvPr id="6" name="Object 5"/>
                      <p:cNvPicPr/>
                      <p:nvPr/>
                    </p:nvPicPr>
                    <p:blipFill>
                      <a:blip r:embed="rId7"/>
                      <a:stretch>
                        <a:fillRect/>
                      </a:stretch>
                    </p:blipFill>
                    <p:spPr>
                      <a:xfrm>
                        <a:off x="762000" y="4190999"/>
                        <a:ext cx="7391400" cy="998838"/>
                      </a:xfrm>
                      <a:prstGeom prst="rect">
                        <a:avLst/>
                      </a:prstGeom>
                      <a:ln>
                        <a:solidFill>
                          <a:srgbClr val="87CB3D"/>
                        </a:solidFill>
                      </a:ln>
                    </p:spPr>
                  </p:pic>
                </p:oleObj>
              </mc:Fallback>
            </mc:AlternateContent>
          </a:graphicData>
        </a:graphic>
      </p:graphicFrame>
      <p:sp>
        <p:nvSpPr>
          <p:cNvPr id="7" name="TextBox 6"/>
          <p:cNvSpPr txBox="1"/>
          <p:nvPr/>
        </p:nvSpPr>
        <p:spPr>
          <a:xfrm>
            <a:off x="3124200" y="1752600"/>
            <a:ext cx="4028667" cy="3539430"/>
          </a:xfrm>
          <a:prstGeom prst="rect">
            <a:avLst/>
          </a:prstGeom>
          <a:noFill/>
        </p:spPr>
        <p:txBody>
          <a:bodyPr wrap="none" rtlCol="0">
            <a:spAutoFit/>
          </a:bodyPr>
          <a:lstStyle/>
          <a:p>
            <a:endParaRPr lang="en-US" sz="2800" i="1" dirty="0"/>
          </a:p>
          <a:p>
            <a:r>
              <a:rPr lang="en-US" sz="2800" i="1" dirty="0"/>
              <a:t>Sum of squared total</a:t>
            </a:r>
            <a:endParaRPr lang="en-HK" sz="2800" dirty="0"/>
          </a:p>
          <a:p>
            <a:r>
              <a:rPr lang="en-US" sz="2800" i="1" dirty="0"/>
              <a:t> </a:t>
            </a:r>
            <a:endParaRPr lang="en-HK" sz="2800" dirty="0"/>
          </a:p>
          <a:p>
            <a:endParaRPr lang="en-US" sz="2800" i="1" dirty="0"/>
          </a:p>
          <a:p>
            <a:r>
              <a:rPr lang="en-US" sz="2800" i="1" dirty="0"/>
              <a:t>Sum of squared error</a:t>
            </a:r>
            <a:endParaRPr lang="en-HK" sz="2800" dirty="0"/>
          </a:p>
          <a:p>
            <a:r>
              <a:rPr lang="en-US" sz="2800" i="1" dirty="0"/>
              <a:t> </a:t>
            </a:r>
            <a:endParaRPr lang="en-HK" sz="2800" dirty="0"/>
          </a:p>
          <a:p>
            <a:r>
              <a:rPr lang="en-US" sz="2800" i="1" dirty="0"/>
              <a:t>Sum of squared regression</a:t>
            </a:r>
            <a:endParaRPr lang="en-HK" sz="2800" dirty="0"/>
          </a:p>
          <a:p>
            <a:endParaRPr lang="en-US" sz="2800" dirty="0"/>
          </a:p>
        </p:txBody>
      </p:sp>
    </p:spTree>
    <p:extLst>
      <p:ext uri="{BB962C8B-B14F-4D97-AF65-F5344CB8AC3E}">
        <p14:creationId xmlns:p14="http://schemas.microsoft.com/office/powerpoint/2010/main" val="38549508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85800" y="685800"/>
            <a:ext cx="7425631" cy="584776"/>
          </a:xfrm>
          <a:prstGeom prst="rect">
            <a:avLst/>
          </a:prstGeom>
        </p:spPr>
        <p:txBody>
          <a:bodyPr wrap="none">
            <a:spAutoFit/>
          </a:bodyPr>
          <a:lstStyle/>
          <a:p>
            <a:r>
              <a:rPr lang="en-US" sz="3200" b="1" dirty="0"/>
              <a:t>The Coefficient of Multiple Determination</a:t>
            </a:r>
            <a:endParaRPr lang="en-HK" sz="3200" b="1" dirty="0"/>
          </a:p>
        </p:txBody>
      </p:sp>
      <mc:AlternateContent xmlns:mc="http://schemas.openxmlformats.org/markup-compatibility/2006" xmlns:a14="http://schemas.microsoft.com/office/drawing/2010/main">
        <mc:Choice Requires="a14">
          <p:sp>
            <p:nvSpPr>
              <p:cNvPr id="6" name="TextBox 5"/>
              <p:cNvSpPr txBox="1"/>
              <p:nvPr/>
            </p:nvSpPr>
            <p:spPr>
              <a:xfrm>
                <a:off x="698269" y="1661193"/>
                <a:ext cx="8382000" cy="457375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sz="2600" b="0" i="1" smtClean="0">
                              <a:solidFill>
                                <a:schemeClr val="accent6">
                                  <a:lumMod val="50000"/>
                                </a:schemeClr>
                              </a:solidFill>
                              <a:latin typeface="Cambria Math" panose="02040503050406030204" pitchFamily="18" charset="0"/>
                            </a:rPr>
                          </m:ctrlPr>
                        </m:sSupPr>
                        <m:e>
                          <m:r>
                            <a:rPr lang="en-US" sz="2600" b="0" i="1" smtClean="0">
                              <a:solidFill>
                                <a:schemeClr val="accent6">
                                  <a:lumMod val="50000"/>
                                </a:schemeClr>
                              </a:solidFill>
                              <a:latin typeface="Cambria Math" panose="02040503050406030204" pitchFamily="18" charset="0"/>
                            </a:rPr>
                            <m:t>𝑅</m:t>
                          </m:r>
                        </m:e>
                        <m:sup>
                          <m:r>
                            <a:rPr lang="en-US" sz="2600" b="0" i="1" smtClean="0">
                              <a:solidFill>
                                <a:schemeClr val="accent6">
                                  <a:lumMod val="50000"/>
                                </a:schemeClr>
                              </a:solidFill>
                              <a:latin typeface="Cambria Math" panose="02040503050406030204" pitchFamily="18" charset="0"/>
                            </a:rPr>
                            <m:t>2</m:t>
                          </m:r>
                        </m:sup>
                      </m:sSup>
                      <m:r>
                        <a:rPr lang="en-US" sz="2600" b="0" i="1" smtClean="0">
                          <a:solidFill>
                            <a:schemeClr val="accent6">
                              <a:lumMod val="50000"/>
                            </a:schemeClr>
                          </a:solidFill>
                          <a:latin typeface="Cambria Math" panose="02040503050406030204" pitchFamily="18" charset="0"/>
                        </a:rPr>
                        <m:t>=</m:t>
                      </m:r>
                      <m:f>
                        <m:fPr>
                          <m:ctrlPr>
                            <a:rPr lang="en-US" sz="2600" b="0" i="1" smtClean="0">
                              <a:solidFill>
                                <a:schemeClr val="accent6">
                                  <a:lumMod val="50000"/>
                                </a:schemeClr>
                              </a:solidFill>
                              <a:latin typeface="Cambria Math" panose="02040503050406030204" pitchFamily="18" charset="0"/>
                            </a:rPr>
                          </m:ctrlPr>
                        </m:fPr>
                        <m:num>
                          <m:r>
                            <a:rPr lang="en-US" sz="2600" b="0" i="1" smtClean="0">
                              <a:solidFill>
                                <a:schemeClr val="accent6">
                                  <a:lumMod val="50000"/>
                                </a:schemeClr>
                              </a:solidFill>
                              <a:latin typeface="Cambria Math" panose="02040503050406030204" pitchFamily="18" charset="0"/>
                            </a:rPr>
                            <m:t>𝑆𝑆𝑅</m:t>
                          </m:r>
                        </m:num>
                        <m:den>
                          <m:r>
                            <a:rPr lang="en-US" sz="2600" b="0" i="1" smtClean="0">
                              <a:solidFill>
                                <a:schemeClr val="accent6">
                                  <a:lumMod val="50000"/>
                                </a:schemeClr>
                              </a:solidFill>
                              <a:latin typeface="Cambria Math" panose="02040503050406030204" pitchFamily="18" charset="0"/>
                            </a:rPr>
                            <m:t>𝑆𝑆𝑇𝑂</m:t>
                          </m:r>
                        </m:den>
                      </m:f>
                      <m:r>
                        <a:rPr lang="en-US" sz="2600" b="0" i="1" smtClean="0">
                          <a:solidFill>
                            <a:schemeClr val="accent6">
                              <a:lumMod val="50000"/>
                            </a:schemeClr>
                          </a:solidFill>
                          <a:latin typeface="Cambria Math" panose="02040503050406030204" pitchFamily="18" charset="0"/>
                        </a:rPr>
                        <m:t>=1−</m:t>
                      </m:r>
                      <m:f>
                        <m:fPr>
                          <m:ctrlPr>
                            <a:rPr lang="en-US" sz="2600" b="0" i="1" smtClean="0">
                              <a:solidFill>
                                <a:schemeClr val="accent6">
                                  <a:lumMod val="50000"/>
                                </a:schemeClr>
                              </a:solidFill>
                              <a:latin typeface="Cambria Math" panose="02040503050406030204" pitchFamily="18" charset="0"/>
                            </a:rPr>
                          </m:ctrlPr>
                        </m:fPr>
                        <m:num>
                          <m:r>
                            <a:rPr lang="en-US" sz="2600" b="0" i="1" smtClean="0">
                              <a:solidFill>
                                <a:schemeClr val="accent6">
                                  <a:lumMod val="50000"/>
                                </a:schemeClr>
                              </a:solidFill>
                              <a:latin typeface="Cambria Math" panose="02040503050406030204" pitchFamily="18" charset="0"/>
                            </a:rPr>
                            <m:t>𝑆𝑆𝐸</m:t>
                          </m:r>
                        </m:num>
                        <m:den>
                          <m:r>
                            <a:rPr lang="en-US" sz="2600" b="0" i="1" smtClean="0">
                              <a:solidFill>
                                <a:schemeClr val="accent6">
                                  <a:lumMod val="50000"/>
                                </a:schemeClr>
                              </a:solidFill>
                              <a:latin typeface="Cambria Math" panose="02040503050406030204" pitchFamily="18" charset="0"/>
                            </a:rPr>
                            <m:t>𝑆𝑆𝑇𝑂</m:t>
                          </m:r>
                        </m:den>
                      </m:f>
                      <m:r>
                        <a:rPr lang="en-US" sz="2600" b="0" i="1" smtClean="0">
                          <a:solidFill>
                            <a:schemeClr val="accent6">
                              <a:lumMod val="50000"/>
                            </a:schemeClr>
                          </a:solidFill>
                          <a:latin typeface="Cambria Math" panose="02040503050406030204" pitchFamily="18" charset="0"/>
                        </a:rPr>
                        <m:t>           0≤</m:t>
                      </m:r>
                      <m:sSup>
                        <m:sSupPr>
                          <m:ctrlPr>
                            <a:rPr lang="en-US" sz="2600" b="0" i="1" smtClean="0">
                              <a:solidFill>
                                <a:schemeClr val="accent6">
                                  <a:lumMod val="50000"/>
                                </a:schemeClr>
                              </a:solidFill>
                              <a:latin typeface="Cambria Math" panose="02040503050406030204" pitchFamily="18" charset="0"/>
                            </a:rPr>
                          </m:ctrlPr>
                        </m:sSupPr>
                        <m:e>
                          <m:r>
                            <a:rPr lang="en-US" sz="2600" b="0" i="1" smtClean="0">
                              <a:solidFill>
                                <a:schemeClr val="accent6">
                                  <a:lumMod val="50000"/>
                                </a:schemeClr>
                              </a:solidFill>
                              <a:latin typeface="Cambria Math" panose="02040503050406030204" pitchFamily="18" charset="0"/>
                            </a:rPr>
                            <m:t>𝑅</m:t>
                          </m:r>
                        </m:e>
                        <m:sup>
                          <m:r>
                            <a:rPr lang="en-US" sz="2600" b="0" i="1" smtClean="0">
                              <a:solidFill>
                                <a:schemeClr val="accent6">
                                  <a:lumMod val="50000"/>
                                </a:schemeClr>
                              </a:solidFill>
                              <a:latin typeface="Cambria Math" panose="02040503050406030204" pitchFamily="18" charset="0"/>
                            </a:rPr>
                            <m:t>2</m:t>
                          </m:r>
                        </m:sup>
                      </m:sSup>
                      <m:r>
                        <a:rPr lang="en-US" sz="2600" b="0" i="1" smtClean="0">
                          <a:solidFill>
                            <a:schemeClr val="accent6">
                              <a:lumMod val="50000"/>
                            </a:schemeClr>
                          </a:solidFill>
                          <a:latin typeface="Cambria Math" panose="02040503050406030204" pitchFamily="18" charset="0"/>
                        </a:rPr>
                        <m:t>≤1</m:t>
                      </m:r>
                    </m:oMath>
                  </m:oMathPara>
                </a14:m>
                <a:endParaRPr lang="en-US" sz="2600" dirty="0">
                  <a:solidFill>
                    <a:schemeClr val="accent6">
                      <a:lumMod val="50000"/>
                    </a:schemeClr>
                  </a:solidFill>
                </a:endParaRPr>
              </a:p>
              <a:p>
                <a:endParaRPr lang="en-US" sz="800" dirty="0"/>
              </a:p>
              <a:p>
                <a:r>
                  <a:rPr lang="en-US" sz="2400" dirty="0"/>
                  <a:t>measures the proportional reduction in the variability in Y with the use of X1, X2, ……,X(p-1) as predictor variables, where (p-1) is the number of predictors. </a:t>
                </a:r>
              </a:p>
              <a:p>
                <a:endParaRPr lang="en-US" sz="800" i="1" dirty="0">
                  <a:solidFill>
                    <a:srgbClr val="44681C"/>
                  </a:solidFill>
                </a:endParaRPr>
              </a:p>
              <a:p>
                <a:r>
                  <a:rPr lang="en-US" sz="2800" dirty="0">
                    <a:solidFill>
                      <a:srgbClr val="0070C0"/>
                    </a:solidFill>
                  </a:rPr>
                  <a:t>Caution: adding more variables to the model will only increase R</a:t>
                </a:r>
                <a:r>
                  <a:rPr lang="en-US" sz="2800" baseline="30000" dirty="0">
                    <a:solidFill>
                      <a:srgbClr val="0070C0"/>
                    </a:solidFill>
                  </a:rPr>
                  <a:t>2</a:t>
                </a:r>
                <a:r>
                  <a:rPr lang="en-US" sz="2800" dirty="0">
                    <a:solidFill>
                      <a:srgbClr val="0070C0"/>
                    </a:solidFill>
                  </a:rPr>
                  <a:t>!! </a:t>
                </a:r>
              </a:p>
              <a:p>
                <a:endParaRPr lang="en-US" sz="800" b="1" dirty="0"/>
              </a:p>
              <a:p>
                <a:r>
                  <a:rPr lang="en-US" sz="2800" b="1" i="1" dirty="0"/>
                  <a:t>Adjusted R</a:t>
                </a:r>
                <a:r>
                  <a:rPr lang="en-US" sz="2800" b="1" i="1" baseline="30000" dirty="0"/>
                  <a:t>2</a:t>
                </a:r>
                <a:r>
                  <a:rPr lang="en-HK" sz="2800" dirty="0"/>
                  <a:t>:</a:t>
                </a:r>
                <a:r>
                  <a:rPr lang="en-HK" sz="2400" i="1" dirty="0">
                    <a:solidFill>
                      <a:schemeClr val="accent6">
                        <a:lumMod val="50000"/>
                      </a:schemeClr>
                    </a:solidFill>
                    <a:latin typeface="Cambria Math" panose="02040503050406030204" pitchFamily="18" charset="0"/>
                  </a:rPr>
                  <a:t> </a:t>
                </a:r>
                <a14:m>
                  <m:oMath xmlns:m="http://schemas.openxmlformats.org/officeDocument/2006/math">
                    <m:sSubSup>
                      <m:sSubSupPr>
                        <m:ctrlPr>
                          <a:rPr lang="en-US" sz="2800" i="1">
                            <a:solidFill>
                              <a:schemeClr val="accent6">
                                <a:lumMod val="50000"/>
                              </a:schemeClr>
                            </a:solidFill>
                            <a:latin typeface="Cambria Math" panose="02040503050406030204" pitchFamily="18" charset="0"/>
                          </a:rPr>
                        </m:ctrlPr>
                      </m:sSubSupPr>
                      <m:e>
                        <m:r>
                          <a:rPr lang="en-US" sz="2800" i="1">
                            <a:solidFill>
                              <a:schemeClr val="accent6">
                                <a:lumMod val="50000"/>
                              </a:schemeClr>
                            </a:solidFill>
                            <a:latin typeface="Cambria Math" panose="02040503050406030204" pitchFamily="18" charset="0"/>
                          </a:rPr>
                          <m:t>𝑅</m:t>
                        </m:r>
                      </m:e>
                      <m:sub>
                        <m:r>
                          <a:rPr lang="en-US" sz="2800" i="1">
                            <a:solidFill>
                              <a:schemeClr val="accent6">
                                <a:lumMod val="50000"/>
                              </a:schemeClr>
                            </a:solidFill>
                            <a:latin typeface="Cambria Math" panose="02040503050406030204" pitchFamily="18" charset="0"/>
                          </a:rPr>
                          <m:t>𝑎𝑑𝑗</m:t>
                        </m:r>
                      </m:sub>
                      <m:sup>
                        <m:r>
                          <a:rPr lang="en-US" sz="2800" i="1">
                            <a:solidFill>
                              <a:schemeClr val="accent6">
                                <a:lumMod val="50000"/>
                              </a:schemeClr>
                            </a:solidFill>
                            <a:latin typeface="Cambria Math" panose="02040503050406030204" pitchFamily="18" charset="0"/>
                          </a:rPr>
                          <m:t>2</m:t>
                        </m:r>
                      </m:sup>
                    </m:sSubSup>
                    <m:r>
                      <a:rPr lang="en-US" sz="2800" i="1">
                        <a:solidFill>
                          <a:schemeClr val="accent6">
                            <a:lumMod val="50000"/>
                          </a:schemeClr>
                        </a:solidFill>
                        <a:latin typeface="Cambria Math" panose="02040503050406030204" pitchFamily="18" charset="0"/>
                      </a:rPr>
                      <m:t>=1−</m:t>
                    </m:r>
                    <m:f>
                      <m:fPr>
                        <m:ctrlPr>
                          <a:rPr lang="en-US" sz="2800" i="1">
                            <a:solidFill>
                              <a:schemeClr val="accent6">
                                <a:lumMod val="50000"/>
                              </a:schemeClr>
                            </a:solidFill>
                            <a:latin typeface="Cambria Math" panose="02040503050406030204" pitchFamily="18" charset="0"/>
                          </a:rPr>
                        </m:ctrlPr>
                      </m:fPr>
                      <m:num>
                        <m:r>
                          <a:rPr lang="en-US" sz="2800" i="1">
                            <a:solidFill>
                              <a:schemeClr val="accent6">
                                <a:lumMod val="50000"/>
                              </a:schemeClr>
                            </a:solidFill>
                            <a:latin typeface="Cambria Math" panose="02040503050406030204" pitchFamily="18" charset="0"/>
                          </a:rPr>
                          <m:t>𝑆𝑆𝐸</m:t>
                        </m:r>
                        <m:r>
                          <a:rPr lang="en-US" sz="2800" i="1">
                            <a:solidFill>
                              <a:schemeClr val="accent6">
                                <a:lumMod val="50000"/>
                              </a:schemeClr>
                            </a:solidFill>
                            <a:latin typeface="Cambria Math" panose="02040503050406030204" pitchFamily="18" charset="0"/>
                          </a:rPr>
                          <m:t>/(</m:t>
                        </m:r>
                        <m:r>
                          <a:rPr lang="en-US" sz="2800" i="1">
                            <a:solidFill>
                              <a:schemeClr val="accent6">
                                <a:lumMod val="50000"/>
                              </a:schemeClr>
                            </a:solidFill>
                            <a:latin typeface="Cambria Math" panose="02040503050406030204" pitchFamily="18" charset="0"/>
                          </a:rPr>
                          <m:t>𝑛</m:t>
                        </m:r>
                        <m:r>
                          <a:rPr lang="en-US" sz="2800" i="1">
                            <a:solidFill>
                              <a:schemeClr val="accent6">
                                <a:lumMod val="50000"/>
                              </a:schemeClr>
                            </a:solidFill>
                            <a:latin typeface="Cambria Math" panose="02040503050406030204" pitchFamily="18" charset="0"/>
                          </a:rPr>
                          <m:t>−</m:t>
                        </m:r>
                        <m:r>
                          <a:rPr lang="en-US" sz="2800" i="1">
                            <a:solidFill>
                              <a:schemeClr val="accent6">
                                <a:lumMod val="50000"/>
                              </a:schemeClr>
                            </a:solidFill>
                            <a:latin typeface="Cambria Math" panose="02040503050406030204" pitchFamily="18" charset="0"/>
                          </a:rPr>
                          <m:t>𝑝</m:t>
                        </m:r>
                        <m:r>
                          <a:rPr lang="en-US" sz="2800" i="1">
                            <a:solidFill>
                              <a:schemeClr val="accent6">
                                <a:lumMod val="50000"/>
                              </a:schemeClr>
                            </a:solidFill>
                            <a:latin typeface="Cambria Math" panose="02040503050406030204" pitchFamily="18" charset="0"/>
                          </a:rPr>
                          <m:t>)</m:t>
                        </m:r>
                      </m:num>
                      <m:den>
                        <m:r>
                          <a:rPr lang="en-US" sz="2800" i="1">
                            <a:solidFill>
                              <a:schemeClr val="accent6">
                                <a:lumMod val="50000"/>
                              </a:schemeClr>
                            </a:solidFill>
                            <a:latin typeface="Cambria Math" panose="02040503050406030204" pitchFamily="18" charset="0"/>
                          </a:rPr>
                          <m:t>𝑆𝑆𝑇𝑂</m:t>
                        </m:r>
                        <m:r>
                          <a:rPr lang="en-US" sz="2800" i="1">
                            <a:solidFill>
                              <a:schemeClr val="accent6">
                                <a:lumMod val="50000"/>
                              </a:schemeClr>
                            </a:solidFill>
                            <a:latin typeface="Cambria Math" panose="02040503050406030204" pitchFamily="18" charset="0"/>
                          </a:rPr>
                          <m:t>/(</m:t>
                        </m:r>
                        <m:r>
                          <a:rPr lang="en-US" sz="2800" i="1">
                            <a:solidFill>
                              <a:schemeClr val="accent6">
                                <a:lumMod val="50000"/>
                              </a:schemeClr>
                            </a:solidFill>
                            <a:latin typeface="Cambria Math" panose="02040503050406030204" pitchFamily="18" charset="0"/>
                          </a:rPr>
                          <m:t>𝑛</m:t>
                        </m:r>
                        <m:r>
                          <a:rPr lang="en-US" sz="2800" i="1">
                            <a:solidFill>
                              <a:schemeClr val="accent6">
                                <a:lumMod val="50000"/>
                              </a:schemeClr>
                            </a:solidFill>
                            <a:latin typeface="Cambria Math" panose="02040503050406030204" pitchFamily="18" charset="0"/>
                          </a:rPr>
                          <m:t>−1)</m:t>
                        </m:r>
                      </m:den>
                    </m:f>
                  </m:oMath>
                </a14:m>
                <a:r>
                  <a:rPr lang="en-HK" sz="2400" dirty="0"/>
                  <a:t>, where </a:t>
                </a:r>
                <a:r>
                  <a:rPr lang="en-HK" sz="2400" i="1" dirty="0"/>
                  <a:t>n</a:t>
                </a:r>
                <a:r>
                  <a:rPr lang="en-HK" sz="2400" dirty="0"/>
                  <a:t> is the sample size.</a:t>
                </a:r>
              </a:p>
              <a:p>
                <a:endParaRPr lang="en-US" dirty="0"/>
              </a:p>
            </p:txBody>
          </p:sp>
        </mc:Choice>
        <mc:Fallback xmlns="">
          <p:sp>
            <p:nvSpPr>
              <p:cNvPr id="6" name="TextBox 5"/>
              <p:cNvSpPr txBox="1">
                <a:spLocks noRot="1" noChangeAspect="1" noMove="1" noResize="1" noEditPoints="1" noAdjustHandles="1" noChangeArrowheads="1" noChangeShapeType="1" noTextEdit="1"/>
              </p:cNvSpPr>
              <p:nvPr/>
            </p:nvSpPr>
            <p:spPr>
              <a:xfrm>
                <a:off x="698269" y="1661193"/>
                <a:ext cx="8382000" cy="4573753"/>
              </a:xfrm>
              <a:prstGeom prst="rect">
                <a:avLst/>
              </a:prstGeom>
              <a:blipFill>
                <a:blip r:embed="rId2"/>
                <a:stretch>
                  <a:fillRect l="-1527"/>
                </a:stretch>
              </a:blipFill>
            </p:spPr>
            <p:txBody>
              <a:bodyPr/>
              <a:lstStyle/>
              <a:p>
                <a:r>
                  <a:rPr lang="en-US">
                    <a:noFill/>
                  </a:rPr>
                  <a:t> </a:t>
                </a:r>
              </a:p>
            </p:txBody>
          </p:sp>
        </mc:Fallback>
      </mc:AlternateContent>
    </p:spTree>
    <p:extLst>
      <p:ext uri="{BB962C8B-B14F-4D97-AF65-F5344CB8AC3E}">
        <p14:creationId xmlns:p14="http://schemas.microsoft.com/office/powerpoint/2010/main" val="22529237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914400"/>
            <a:ext cx="6629400" cy="548640"/>
          </a:xfrm>
        </p:spPr>
        <p:txBody>
          <a:bodyPr/>
          <a:lstStyle/>
          <a:p>
            <a:pPr algn="l"/>
            <a:r>
              <a:rPr lang="en-US" sz="3600" dirty="0">
                <a:solidFill>
                  <a:srgbClr val="44681C"/>
                </a:solidFill>
              </a:rPr>
              <a:t>ANOVA Table</a:t>
            </a:r>
          </a:p>
        </p:txBody>
      </p:sp>
      <p:graphicFrame>
        <p:nvGraphicFramePr>
          <p:cNvPr id="4" name="Object 3"/>
          <p:cNvGraphicFramePr>
            <a:graphicFrameLocks noChangeAspect="1"/>
          </p:cNvGraphicFramePr>
          <p:nvPr/>
        </p:nvGraphicFramePr>
        <p:xfrm>
          <a:off x="685800" y="2133600"/>
          <a:ext cx="8074479" cy="4495800"/>
        </p:xfrm>
        <a:graphic>
          <a:graphicData uri="http://schemas.openxmlformats.org/presentationml/2006/ole">
            <mc:AlternateContent xmlns:mc="http://schemas.openxmlformats.org/markup-compatibility/2006">
              <mc:Choice xmlns:v="urn:schemas-microsoft-com:vml" Requires="v">
                <p:oleObj name="Document" r:id="rId2" imgW="6159500" imgH="2133600" progId="Word.Document.12">
                  <p:embed/>
                </p:oleObj>
              </mc:Choice>
              <mc:Fallback>
                <p:oleObj name="Document" r:id="rId2" imgW="6159500" imgH="2133600" progId="Word.Document.12">
                  <p:embed/>
                  <p:pic>
                    <p:nvPicPr>
                      <p:cNvPr id="4" name="Object 3"/>
                      <p:cNvPicPr/>
                      <p:nvPr/>
                    </p:nvPicPr>
                    <p:blipFill>
                      <a:blip r:embed="rId3"/>
                      <a:stretch>
                        <a:fillRect/>
                      </a:stretch>
                    </p:blipFill>
                    <p:spPr>
                      <a:xfrm>
                        <a:off x="685800" y="2133600"/>
                        <a:ext cx="8074479" cy="4495800"/>
                      </a:xfrm>
                      <a:prstGeom prst="rect">
                        <a:avLst/>
                      </a:prstGeom>
                    </p:spPr>
                  </p:pic>
                </p:oleObj>
              </mc:Fallback>
            </mc:AlternateContent>
          </a:graphicData>
        </a:graphic>
      </p:graphicFrame>
    </p:spTree>
    <p:extLst>
      <p:ext uri="{BB962C8B-B14F-4D97-AF65-F5344CB8AC3E}">
        <p14:creationId xmlns:p14="http://schemas.microsoft.com/office/powerpoint/2010/main" val="41130502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066800" y="838200"/>
            <a:ext cx="8001000" cy="5909310"/>
          </a:xfrm>
          <a:prstGeom prst="rect">
            <a:avLst/>
          </a:prstGeom>
          <a:noFill/>
        </p:spPr>
        <p:txBody>
          <a:bodyPr wrap="square" rtlCol="0">
            <a:spAutoFit/>
          </a:bodyPr>
          <a:lstStyle/>
          <a:p>
            <a:r>
              <a:rPr lang="en-US" sz="2400" b="1" dirty="0">
                <a:solidFill>
                  <a:srgbClr val="44681C"/>
                </a:solidFill>
              </a:rPr>
              <a:t>    </a:t>
            </a:r>
            <a:r>
              <a:rPr lang="en-US" sz="2400" b="1" dirty="0"/>
              <a:t>We use this F statistic to test the overall regression relationship.</a:t>
            </a:r>
          </a:p>
          <a:p>
            <a:endParaRPr lang="en-US" sz="2400" b="1" i="1" dirty="0">
              <a:solidFill>
                <a:srgbClr val="44681C"/>
              </a:solidFill>
            </a:endParaRPr>
          </a:p>
          <a:p>
            <a:endParaRPr lang="en-US" sz="2400" b="1" i="1" dirty="0">
              <a:solidFill>
                <a:srgbClr val="44681C"/>
              </a:solidFill>
            </a:endParaRPr>
          </a:p>
          <a:p>
            <a:endParaRPr lang="en-US" sz="2400" b="1" i="1" dirty="0">
              <a:solidFill>
                <a:srgbClr val="44681C"/>
              </a:solidFill>
            </a:endParaRPr>
          </a:p>
          <a:p>
            <a:endParaRPr lang="en-US" sz="2400" b="1" i="1" dirty="0">
              <a:solidFill>
                <a:srgbClr val="44681C"/>
              </a:solidFill>
            </a:endParaRPr>
          </a:p>
          <a:p>
            <a:endParaRPr lang="en-US" sz="2400" i="1" dirty="0"/>
          </a:p>
          <a:p>
            <a:r>
              <a:rPr lang="en-US" sz="2400" b="1" dirty="0">
                <a:solidFill>
                  <a:srgbClr val="0070C0"/>
                </a:solidFill>
              </a:rPr>
              <a:t>Rejects for large F statistics as quantified by the p-value.  If the p-value is less than the level of significance, then reject, otherwise do not reject.</a:t>
            </a:r>
            <a:endParaRPr lang="en-HK" sz="2400" b="1" dirty="0">
              <a:solidFill>
                <a:srgbClr val="0070C0"/>
              </a:solidFill>
            </a:endParaRPr>
          </a:p>
          <a:p>
            <a:r>
              <a:rPr lang="en-US" sz="2400" b="1" dirty="0">
                <a:solidFill>
                  <a:srgbClr val="44681C"/>
                </a:solidFill>
              </a:rPr>
              <a:t> </a:t>
            </a:r>
            <a:endParaRPr lang="en-HK" sz="2400" b="1" dirty="0">
              <a:solidFill>
                <a:srgbClr val="44681C"/>
              </a:solidFill>
            </a:endParaRPr>
          </a:p>
          <a:p>
            <a:r>
              <a:rPr lang="en-US" sz="2400" i="1" dirty="0"/>
              <a:t>Note: If you reject  in multiple linear regression, you do not know which  or how many are not zero.  You only know that at least one is not zero.</a:t>
            </a:r>
            <a:endParaRPr lang="en-HK" sz="2400" dirty="0"/>
          </a:p>
          <a:p>
            <a:endParaRPr lang="en-HK" sz="2400" b="1" dirty="0">
              <a:solidFill>
                <a:srgbClr val="44681C"/>
              </a:solidFill>
            </a:endParaRPr>
          </a:p>
          <a:p>
            <a:endParaRPr lang="en-US" dirty="0"/>
          </a:p>
        </p:txBody>
      </p:sp>
      <mc:AlternateContent xmlns:mc="http://schemas.openxmlformats.org/markup-compatibility/2006" xmlns:a14="http://schemas.microsoft.com/office/drawing/2010/main">
        <mc:Choice Requires="a14">
          <p:sp>
            <p:nvSpPr>
              <p:cNvPr id="2" name="TextBox 1"/>
              <p:cNvSpPr txBox="1"/>
              <p:nvPr/>
            </p:nvSpPr>
            <p:spPr>
              <a:xfrm>
                <a:off x="2354385" y="1809262"/>
                <a:ext cx="4063677" cy="1228863"/>
              </a:xfrm>
              <a:prstGeom prst="rect">
                <a:avLst/>
              </a:prstGeom>
              <a:noFill/>
            </p:spPr>
            <p:txBody>
              <a:bodyPr wrap="none" rtlCol="0">
                <a:spAutoFit/>
              </a:bodyPr>
              <a:lstStyle/>
              <a:p>
                <a:pPr/>
                <a14:m>
                  <m:oMathPara xmlns:m="http://schemas.openxmlformats.org/officeDocument/2006/math">
                    <m:oMathParaPr>
                      <m:jc m:val="left"/>
                    </m:oMathParaPr>
                    <m:oMath xmlns:m="http://schemas.openxmlformats.org/officeDocument/2006/math">
                      <m:sSub>
                        <m:sSubPr>
                          <m:ctrlPr>
                            <a:rPr lang="en-US" sz="2400" i="1" smtClean="0">
                              <a:solidFill>
                                <a:schemeClr val="accent6">
                                  <a:lumMod val="50000"/>
                                </a:schemeClr>
                              </a:solidFill>
                              <a:latin typeface="Cambria Math" panose="02040503050406030204" pitchFamily="18" charset="0"/>
                            </a:rPr>
                          </m:ctrlPr>
                        </m:sSubPr>
                        <m:e>
                          <m:r>
                            <a:rPr lang="en-US" sz="2400" b="0" i="1" smtClean="0">
                              <a:solidFill>
                                <a:schemeClr val="accent6">
                                  <a:lumMod val="50000"/>
                                </a:schemeClr>
                              </a:solidFill>
                              <a:latin typeface="Cambria Math"/>
                            </a:rPr>
                            <m:t>𝐻</m:t>
                          </m:r>
                        </m:e>
                        <m:sub>
                          <m:r>
                            <a:rPr lang="en-US" sz="2400" b="0" i="1" smtClean="0">
                              <a:solidFill>
                                <a:schemeClr val="accent6">
                                  <a:lumMod val="50000"/>
                                </a:schemeClr>
                              </a:solidFill>
                              <a:latin typeface="Cambria Math"/>
                            </a:rPr>
                            <m:t>0</m:t>
                          </m:r>
                        </m:sub>
                      </m:sSub>
                      <m:r>
                        <a:rPr lang="en-US" sz="2400" b="0" i="1" smtClean="0">
                          <a:solidFill>
                            <a:schemeClr val="accent6">
                              <a:lumMod val="50000"/>
                            </a:schemeClr>
                          </a:solidFill>
                          <a:latin typeface="Cambria Math"/>
                        </a:rPr>
                        <m:t>: </m:t>
                      </m:r>
                      <m:sSub>
                        <m:sSubPr>
                          <m:ctrlPr>
                            <a:rPr lang="en-US" sz="2400" i="1" smtClean="0">
                              <a:solidFill>
                                <a:schemeClr val="accent6">
                                  <a:lumMod val="50000"/>
                                </a:schemeClr>
                              </a:solidFill>
                              <a:latin typeface="Cambria Math" panose="02040503050406030204" pitchFamily="18" charset="0"/>
                            </a:rPr>
                          </m:ctrlPr>
                        </m:sSubPr>
                        <m:e>
                          <m:r>
                            <a:rPr lang="en-US" sz="2400" b="0" i="1" smtClean="0">
                              <a:solidFill>
                                <a:schemeClr val="accent6">
                                  <a:lumMod val="50000"/>
                                </a:schemeClr>
                              </a:solidFill>
                              <a:latin typeface="Cambria Math"/>
                              <a:ea typeface="Cambria Math"/>
                            </a:rPr>
                            <m:t>𝛽</m:t>
                          </m:r>
                        </m:e>
                        <m:sub>
                          <m:r>
                            <a:rPr lang="en-US" sz="2400" b="0" i="1" smtClean="0">
                              <a:solidFill>
                                <a:schemeClr val="accent6">
                                  <a:lumMod val="50000"/>
                                </a:schemeClr>
                              </a:solidFill>
                              <a:latin typeface="Cambria Math"/>
                            </a:rPr>
                            <m:t>1</m:t>
                          </m:r>
                        </m:sub>
                      </m:sSub>
                      <m:r>
                        <a:rPr lang="en-US" sz="2400" b="0" i="1" smtClean="0">
                          <a:solidFill>
                            <a:schemeClr val="accent6">
                              <a:lumMod val="50000"/>
                            </a:schemeClr>
                          </a:solidFill>
                          <a:latin typeface="Cambria Math"/>
                        </a:rPr>
                        <m:t>=</m:t>
                      </m:r>
                      <m:sSub>
                        <m:sSubPr>
                          <m:ctrlPr>
                            <a:rPr lang="en-US" sz="2400" i="1" smtClean="0">
                              <a:solidFill>
                                <a:schemeClr val="accent6">
                                  <a:lumMod val="50000"/>
                                </a:schemeClr>
                              </a:solidFill>
                              <a:latin typeface="Cambria Math" panose="02040503050406030204" pitchFamily="18" charset="0"/>
                            </a:rPr>
                          </m:ctrlPr>
                        </m:sSubPr>
                        <m:e>
                          <m:r>
                            <a:rPr lang="en-US" sz="2400" b="0" i="1" smtClean="0">
                              <a:solidFill>
                                <a:schemeClr val="accent6">
                                  <a:lumMod val="50000"/>
                                </a:schemeClr>
                              </a:solidFill>
                              <a:latin typeface="Cambria Math"/>
                              <a:ea typeface="Cambria Math"/>
                            </a:rPr>
                            <m:t>𝛽</m:t>
                          </m:r>
                        </m:e>
                        <m:sub>
                          <m:r>
                            <a:rPr lang="en-US" sz="2400" b="0" i="1" smtClean="0">
                              <a:solidFill>
                                <a:schemeClr val="accent6">
                                  <a:lumMod val="50000"/>
                                </a:schemeClr>
                              </a:solidFill>
                              <a:latin typeface="Cambria Math"/>
                            </a:rPr>
                            <m:t>2</m:t>
                          </m:r>
                        </m:sub>
                      </m:sSub>
                      <m:r>
                        <a:rPr lang="en-US" sz="2400" b="0" i="1" smtClean="0">
                          <a:solidFill>
                            <a:schemeClr val="accent6">
                              <a:lumMod val="50000"/>
                            </a:schemeClr>
                          </a:solidFill>
                          <a:latin typeface="Cambria Math"/>
                        </a:rPr>
                        <m:t>=…=</m:t>
                      </m:r>
                      <m:sSub>
                        <m:sSubPr>
                          <m:ctrlPr>
                            <a:rPr lang="en-US" sz="2400" i="1" smtClean="0">
                              <a:solidFill>
                                <a:schemeClr val="accent6">
                                  <a:lumMod val="50000"/>
                                </a:schemeClr>
                              </a:solidFill>
                              <a:latin typeface="Cambria Math" panose="02040503050406030204" pitchFamily="18" charset="0"/>
                            </a:rPr>
                          </m:ctrlPr>
                        </m:sSubPr>
                        <m:e>
                          <m:r>
                            <a:rPr lang="en-US" sz="2400" b="0" i="1" smtClean="0">
                              <a:solidFill>
                                <a:schemeClr val="accent6">
                                  <a:lumMod val="50000"/>
                                </a:schemeClr>
                              </a:solidFill>
                              <a:latin typeface="Cambria Math"/>
                              <a:ea typeface="Cambria Math"/>
                            </a:rPr>
                            <m:t>𝛽</m:t>
                          </m:r>
                        </m:e>
                        <m:sub>
                          <m:r>
                            <a:rPr lang="en-US" sz="2400" b="0" i="1" smtClean="0">
                              <a:solidFill>
                                <a:schemeClr val="accent6">
                                  <a:lumMod val="50000"/>
                                </a:schemeClr>
                              </a:solidFill>
                              <a:latin typeface="Cambria Math" panose="02040503050406030204" pitchFamily="18" charset="0"/>
                              <a:ea typeface="Cambria Math"/>
                            </a:rPr>
                            <m:t>𝑝</m:t>
                          </m:r>
                          <m:r>
                            <a:rPr lang="en-US" sz="2400" b="0" i="1" smtClean="0">
                              <a:solidFill>
                                <a:schemeClr val="accent6">
                                  <a:lumMod val="50000"/>
                                </a:schemeClr>
                              </a:solidFill>
                              <a:latin typeface="Cambria Math"/>
                            </a:rPr>
                            <m:t>−1</m:t>
                          </m:r>
                        </m:sub>
                      </m:sSub>
                      <m:r>
                        <a:rPr lang="en-US" sz="2400" b="0" i="1" smtClean="0">
                          <a:solidFill>
                            <a:schemeClr val="accent6">
                              <a:lumMod val="50000"/>
                            </a:schemeClr>
                          </a:solidFill>
                          <a:latin typeface="Cambria Math"/>
                        </a:rPr>
                        <m:t>=0</m:t>
                      </m:r>
                    </m:oMath>
                  </m:oMathPara>
                </a14:m>
                <a:endParaRPr lang="en-US" sz="2400" dirty="0">
                  <a:solidFill>
                    <a:schemeClr val="accent6">
                      <a:lumMod val="50000"/>
                    </a:schemeClr>
                  </a:solidFill>
                </a:endParaRPr>
              </a:p>
              <a:p>
                <a:endParaRPr lang="en-US" sz="2400" dirty="0">
                  <a:solidFill>
                    <a:schemeClr val="accent6">
                      <a:lumMod val="50000"/>
                    </a:schemeClr>
                  </a:solidFill>
                </a:endParaRPr>
              </a:p>
              <a:p>
                <a:pPr/>
                <a14:m>
                  <m:oMathPara xmlns:m="http://schemas.openxmlformats.org/officeDocument/2006/math">
                    <m:oMathParaPr>
                      <m:jc m:val="left"/>
                    </m:oMathParaPr>
                    <m:oMath xmlns:m="http://schemas.openxmlformats.org/officeDocument/2006/math">
                      <m:sSub>
                        <m:sSubPr>
                          <m:ctrlPr>
                            <a:rPr lang="en-US" sz="2400" i="1" smtClean="0">
                              <a:solidFill>
                                <a:schemeClr val="accent6">
                                  <a:lumMod val="50000"/>
                                </a:schemeClr>
                              </a:solidFill>
                              <a:latin typeface="Cambria Math" panose="02040503050406030204" pitchFamily="18" charset="0"/>
                            </a:rPr>
                          </m:ctrlPr>
                        </m:sSubPr>
                        <m:e>
                          <m:r>
                            <a:rPr lang="en-US" sz="2400" b="0" i="1" smtClean="0">
                              <a:solidFill>
                                <a:schemeClr val="accent6">
                                  <a:lumMod val="50000"/>
                                </a:schemeClr>
                              </a:solidFill>
                              <a:latin typeface="Cambria Math"/>
                            </a:rPr>
                            <m:t>𝐻</m:t>
                          </m:r>
                        </m:e>
                        <m:sub>
                          <m:r>
                            <a:rPr lang="en-US" sz="2400" b="0" i="1" smtClean="0">
                              <a:solidFill>
                                <a:schemeClr val="accent6">
                                  <a:lumMod val="50000"/>
                                </a:schemeClr>
                              </a:solidFill>
                              <a:latin typeface="Cambria Math"/>
                            </a:rPr>
                            <m:t>𝑎</m:t>
                          </m:r>
                          <m:r>
                            <a:rPr lang="en-US" sz="2400" b="0" i="1" smtClean="0">
                              <a:solidFill>
                                <a:schemeClr val="accent6">
                                  <a:lumMod val="50000"/>
                                </a:schemeClr>
                              </a:solidFill>
                              <a:latin typeface="Cambria Math"/>
                            </a:rPr>
                            <m:t>:</m:t>
                          </m:r>
                        </m:sub>
                      </m:sSub>
                      <m:r>
                        <a:rPr lang="en-US" sz="2400" b="0" i="1" smtClean="0">
                          <a:solidFill>
                            <a:schemeClr val="accent6">
                              <a:lumMod val="50000"/>
                            </a:schemeClr>
                          </a:solidFill>
                          <a:latin typeface="Cambria Math"/>
                        </a:rPr>
                        <m:t> </m:t>
                      </m:r>
                      <m:r>
                        <a:rPr lang="en-US" sz="2400" b="0" i="1" smtClean="0">
                          <a:solidFill>
                            <a:schemeClr val="accent6">
                              <a:lumMod val="50000"/>
                            </a:schemeClr>
                          </a:solidFill>
                          <a:latin typeface="Cambria Math"/>
                        </a:rPr>
                        <m:t>𝑎𝑡</m:t>
                      </m:r>
                      <m:r>
                        <a:rPr lang="en-US" sz="2400" b="0" i="1" smtClean="0">
                          <a:solidFill>
                            <a:schemeClr val="accent6">
                              <a:lumMod val="50000"/>
                            </a:schemeClr>
                          </a:solidFill>
                          <a:latin typeface="Cambria Math"/>
                        </a:rPr>
                        <m:t> </m:t>
                      </m:r>
                      <m:r>
                        <a:rPr lang="en-US" sz="2400" b="0" i="1" smtClean="0">
                          <a:solidFill>
                            <a:schemeClr val="accent6">
                              <a:lumMod val="50000"/>
                            </a:schemeClr>
                          </a:solidFill>
                          <a:latin typeface="Cambria Math"/>
                        </a:rPr>
                        <m:t>𝑙𝑒𝑎𝑠𝑡</m:t>
                      </m:r>
                      <m:r>
                        <a:rPr lang="en-US" sz="2400" b="0" i="1" smtClean="0">
                          <a:solidFill>
                            <a:schemeClr val="accent6">
                              <a:lumMod val="50000"/>
                            </a:schemeClr>
                          </a:solidFill>
                          <a:latin typeface="Cambria Math"/>
                        </a:rPr>
                        <m:t> </m:t>
                      </m:r>
                      <m:r>
                        <a:rPr lang="en-US" sz="2400" b="0" i="1" smtClean="0">
                          <a:solidFill>
                            <a:schemeClr val="accent6">
                              <a:lumMod val="50000"/>
                            </a:schemeClr>
                          </a:solidFill>
                          <a:latin typeface="Cambria Math"/>
                        </a:rPr>
                        <m:t>𝑜𝑛𝑒</m:t>
                      </m:r>
                      <m:r>
                        <a:rPr lang="en-US" sz="2400" b="0" i="1" smtClean="0">
                          <a:solidFill>
                            <a:schemeClr val="accent6">
                              <a:lumMod val="50000"/>
                            </a:schemeClr>
                          </a:solidFill>
                          <a:latin typeface="Cambria Math"/>
                        </a:rPr>
                        <m:t> </m:t>
                      </m:r>
                      <m:sSub>
                        <m:sSubPr>
                          <m:ctrlPr>
                            <a:rPr lang="en-US" sz="2400" i="1" smtClean="0">
                              <a:solidFill>
                                <a:schemeClr val="accent6">
                                  <a:lumMod val="50000"/>
                                </a:schemeClr>
                              </a:solidFill>
                              <a:latin typeface="Cambria Math" panose="02040503050406030204" pitchFamily="18" charset="0"/>
                            </a:rPr>
                          </m:ctrlPr>
                        </m:sSubPr>
                        <m:e>
                          <m:r>
                            <a:rPr lang="en-US" sz="2400" b="0" i="1" smtClean="0">
                              <a:solidFill>
                                <a:schemeClr val="accent6">
                                  <a:lumMod val="50000"/>
                                </a:schemeClr>
                              </a:solidFill>
                              <a:latin typeface="Cambria Math"/>
                              <a:ea typeface="Cambria Math"/>
                            </a:rPr>
                            <m:t>𝛽</m:t>
                          </m:r>
                        </m:e>
                        <m:sub>
                          <m:r>
                            <a:rPr lang="en-US" sz="2400" b="0" i="1" smtClean="0">
                              <a:solidFill>
                                <a:schemeClr val="accent6">
                                  <a:lumMod val="50000"/>
                                </a:schemeClr>
                              </a:solidFill>
                              <a:latin typeface="Cambria Math"/>
                            </a:rPr>
                            <m:t>𝑘</m:t>
                          </m:r>
                        </m:sub>
                      </m:sSub>
                      <m:r>
                        <a:rPr lang="en-US" sz="2400" b="0" i="1" smtClean="0">
                          <a:solidFill>
                            <a:schemeClr val="accent6">
                              <a:lumMod val="50000"/>
                            </a:schemeClr>
                          </a:solidFill>
                          <a:latin typeface="Cambria Math"/>
                          <a:ea typeface="Cambria Math"/>
                        </a:rPr>
                        <m:t>≠0</m:t>
                      </m:r>
                    </m:oMath>
                  </m:oMathPara>
                </a14:m>
                <a:endParaRPr lang="en-US" sz="2400" dirty="0">
                  <a:solidFill>
                    <a:schemeClr val="accent6">
                      <a:lumMod val="50000"/>
                    </a:schemeClr>
                  </a:solidFill>
                </a:endParaRPr>
              </a:p>
            </p:txBody>
          </p:sp>
        </mc:Choice>
        <mc:Fallback xmlns="">
          <p:sp>
            <p:nvSpPr>
              <p:cNvPr id="2" name="TextBox 1"/>
              <p:cNvSpPr txBox="1">
                <a:spLocks noRot="1" noChangeAspect="1" noMove="1" noResize="1" noEditPoints="1" noAdjustHandles="1" noChangeArrowheads="1" noChangeShapeType="1" noTextEdit="1"/>
              </p:cNvSpPr>
              <p:nvPr/>
            </p:nvSpPr>
            <p:spPr>
              <a:xfrm>
                <a:off x="2354385" y="1809262"/>
                <a:ext cx="4063677" cy="1228863"/>
              </a:xfrm>
              <a:prstGeom prst="rect">
                <a:avLst/>
              </a:prstGeom>
              <a:blipFill>
                <a:blip r:embed="rId2"/>
                <a:stretch>
                  <a:fillRect l="-300" b="-6468"/>
                </a:stretch>
              </a:blipFill>
            </p:spPr>
            <p:txBody>
              <a:bodyPr/>
              <a:lstStyle/>
              <a:p>
                <a:r>
                  <a:rPr lang="en-US">
                    <a:noFill/>
                  </a:rPr>
                  <a:t> </a:t>
                </a:r>
              </a:p>
            </p:txBody>
          </p:sp>
        </mc:Fallback>
      </mc:AlternateContent>
    </p:spTree>
    <p:extLst>
      <p:ext uri="{BB962C8B-B14F-4D97-AF65-F5344CB8AC3E}">
        <p14:creationId xmlns:p14="http://schemas.microsoft.com/office/powerpoint/2010/main" val="29405255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solidFill>
                  <a:schemeClr val="tx1">
                    <a:lumMod val="50000"/>
                  </a:schemeClr>
                </a:solidFill>
              </a:rPr>
              <a:t>Example: What determine an NBA player’s salary?</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762000" y="1524001"/>
                <a:ext cx="8077200" cy="4369776"/>
              </a:xfrm>
            </p:spPr>
            <p:txBody>
              <a:bodyPr/>
              <a:lstStyle/>
              <a:p>
                <a:r>
                  <a:rPr lang="en-US" dirty="0"/>
                  <a:t>The function </a:t>
                </a:r>
                <a:r>
                  <a:rPr lang="en-US" dirty="0">
                    <a:solidFill>
                      <a:srgbClr val="7030A0"/>
                    </a:solidFill>
                  </a:rPr>
                  <a:t>summary() </a:t>
                </a:r>
                <a:r>
                  <a:rPr lang="en-US" dirty="0"/>
                  <a:t>gives the </a:t>
                </a:r>
                <a14:m>
                  <m:oMath xmlns:m="http://schemas.openxmlformats.org/officeDocument/2006/math">
                    <m:sSup>
                      <m:sSupPr>
                        <m:ctrlPr>
                          <a:rPr lang="en-US" b="0" i="1" smtClean="0">
                            <a:solidFill>
                              <a:schemeClr val="accent6">
                                <a:lumMod val="50000"/>
                              </a:schemeClr>
                            </a:solidFill>
                            <a:latin typeface="Cambria Math" panose="02040503050406030204" pitchFamily="18" charset="0"/>
                          </a:rPr>
                        </m:ctrlPr>
                      </m:sSupPr>
                      <m:e>
                        <m:r>
                          <a:rPr lang="en-US" b="0" i="1" smtClean="0">
                            <a:solidFill>
                              <a:schemeClr val="accent6">
                                <a:lumMod val="50000"/>
                              </a:schemeClr>
                            </a:solidFill>
                            <a:latin typeface="Cambria Math" panose="02040503050406030204" pitchFamily="18" charset="0"/>
                          </a:rPr>
                          <m:t>𝑅</m:t>
                        </m:r>
                      </m:e>
                      <m:sup>
                        <m:r>
                          <a:rPr lang="en-US" b="0" i="1" smtClean="0">
                            <a:solidFill>
                              <a:schemeClr val="accent6">
                                <a:lumMod val="50000"/>
                              </a:schemeClr>
                            </a:solidFill>
                            <a:latin typeface="Cambria Math" panose="02040503050406030204" pitchFamily="18" charset="0"/>
                          </a:rPr>
                          <m:t>2</m:t>
                        </m:r>
                      </m:sup>
                    </m:sSup>
                  </m:oMath>
                </a14:m>
                <a:r>
                  <a:rPr lang="en-US" dirty="0"/>
                  <a:t>, adjusted </a:t>
                </a:r>
                <a14:m>
                  <m:oMath xmlns:m="http://schemas.openxmlformats.org/officeDocument/2006/math">
                    <m:sSup>
                      <m:sSupPr>
                        <m:ctrlPr>
                          <a:rPr lang="en-US" i="1">
                            <a:solidFill>
                              <a:schemeClr val="accent6">
                                <a:lumMod val="50000"/>
                              </a:schemeClr>
                            </a:solidFill>
                            <a:latin typeface="Cambria Math" panose="02040503050406030204" pitchFamily="18" charset="0"/>
                          </a:rPr>
                        </m:ctrlPr>
                      </m:sSupPr>
                      <m:e>
                        <m:r>
                          <a:rPr lang="en-US" i="1">
                            <a:solidFill>
                              <a:schemeClr val="accent6">
                                <a:lumMod val="50000"/>
                              </a:schemeClr>
                            </a:solidFill>
                            <a:latin typeface="Cambria Math" panose="02040503050406030204" pitchFamily="18" charset="0"/>
                          </a:rPr>
                          <m:t>𝑅</m:t>
                        </m:r>
                      </m:e>
                      <m:sup>
                        <m:r>
                          <a:rPr lang="en-US" i="1">
                            <a:solidFill>
                              <a:schemeClr val="accent6">
                                <a:lumMod val="50000"/>
                              </a:schemeClr>
                            </a:solidFill>
                            <a:latin typeface="Cambria Math" panose="02040503050406030204" pitchFamily="18" charset="0"/>
                          </a:rPr>
                          <m:t>2</m:t>
                        </m:r>
                      </m:sup>
                    </m:sSup>
                  </m:oMath>
                </a14:m>
                <a:r>
                  <a:rPr lang="en-US" dirty="0"/>
                  <a:t>, and the </a:t>
                </a:r>
                <a:r>
                  <a:rPr lang="en-US" dirty="0">
                    <a:solidFill>
                      <a:schemeClr val="accent6">
                        <a:lumMod val="50000"/>
                      </a:schemeClr>
                    </a:solidFill>
                  </a:rPr>
                  <a:t>F-test</a:t>
                </a:r>
                <a:r>
                  <a:rPr lang="en-US" dirty="0"/>
                  <a:t> result. </a:t>
                </a:r>
              </a:p>
              <a:p>
                <a:endParaRPr 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762000" y="1524001"/>
                <a:ext cx="8077200" cy="4369776"/>
              </a:xfrm>
              <a:blipFill>
                <a:blip r:embed="rId2"/>
                <a:stretch>
                  <a:fillRect l="-1736" t="-1674"/>
                </a:stretch>
              </a:blipFill>
            </p:spPr>
            <p:txBody>
              <a:bodyPr/>
              <a:lstStyle/>
              <a:p>
                <a:r>
                  <a:rPr lang="en-US">
                    <a:noFill/>
                  </a:rPr>
                  <a:t> </a:t>
                </a:r>
              </a:p>
            </p:txBody>
          </p:sp>
        </mc:Fallback>
      </mc:AlternateContent>
      <p:pic>
        <p:nvPicPr>
          <p:cNvPr id="5" name="Picture 4"/>
          <p:cNvPicPr>
            <a:picLocks noChangeAspect="1"/>
          </p:cNvPicPr>
          <p:nvPr/>
        </p:nvPicPr>
        <p:blipFill>
          <a:blip r:embed="rId3"/>
          <a:stretch>
            <a:fillRect/>
          </a:stretch>
        </p:blipFill>
        <p:spPr>
          <a:xfrm>
            <a:off x="2209800" y="2701891"/>
            <a:ext cx="5181600" cy="3655157"/>
          </a:xfrm>
          <a:prstGeom prst="rect">
            <a:avLst/>
          </a:prstGeom>
        </p:spPr>
      </p:pic>
    </p:spTree>
    <p:extLst>
      <p:ext uri="{BB962C8B-B14F-4D97-AF65-F5344CB8AC3E}">
        <p14:creationId xmlns:p14="http://schemas.microsoft.com/office/powerpoint/2010/main" val="3415198458"/>
      </p:ext>
    </p:extLst>
  </p:cSld>
  <p:clrMapOvr>
    <a:masterClrMapping/>
  </p:clrMapOvr>
  <p:transition spd="slow">
    <p:wipe dir="d"/>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a:xfrm>
                <a:off x="838200" y="128753"/>
                <a:ext cx="8077200" cy="1143000"/>
              </a:xfrm>
            </p:spPr>
            <p:txBody>
              <a:bodyPr>
                <a:normAutofit fontScale="90000"/>
              </a:bodyPr>
              <a:lstStyle/>
              <a:p>
                <a:r>
                  <a:rPr lang="en-US" b="1" dirty="0"/>
                  <a:t>Inference</a:t>
                </a:r>
                <a:r>
                  <a:rPr lang="en-US" sz="3200" dirty="0"/>
                  <a:t> </a:t>
                </a:r>
                <a:r>
                  <a:rPr lang="en-US" b="1" dirty="0"/>
                  <a:t>about </a:t>
                </a:r>
                <a14:m>
                  <m:oMath xmlns:m="http://schemas.openxmlformats.org/officeDocument/2006/math">
                    <m:sSub>
                      <m:sSubPr>
                        <m:ctrlPr>
                          <a:rPr lang="en-US" b="1" i="1">
                            <a:latin typeface="Cambria Math" panose="02040503050406030204" pitchFamily="18" charset="0"/>
                          </a:rPr>
                        </m:ctrlPr>
                      </m:sSubPr>
                      <m:e>
                        <m:r>
                          <a:rPr lang="en-US" b="1">
                            <a:latin typeface="Cambria Math" panose="02040503050406030204" pitchFamily="18" charset="0"/>
                          </a:rPr>
                          <m:t>𝛽</m:t>
                        </m:r>
                      </m:e>
                      <m:sub>
                        <m:r>
                          <a:rPr lang="en-US" b="1">
                            <a:latin typeface="Cambria Math" panose="02040503050406030204" pitchFamily="18" charset="0"/>
                          </a:rPr>
                          <m:t>𝑘</m:t>
                        </m:r>
                      </m:sub>
                    </m:sSub>
                  </m:oMath>
                </a14:m>
                <a:r>
                  <a:rPr lang="en-US" dirty="0"/>
                  <a:t>: </a:t>
                </a:r>
                <a:r>
                  <a:rPr lang="en-US" b="1" dirty="0"/>
                  <a:t>confidence interval</a:t>
                </a:r>
              </a:p>
            </p:txBody>
          </p:sp>
        </mc:Choice>
        <mc:Fallback xmlns="">
          <p:sp>
            <p:nvSpPr>
              <p:cNvPr id="2" name="Title 1"/>
              <p:cNvSpPr>
                <a:spLocks noGrp="1" noRot="1" noChangeAspect="1" noMove="1" noResize="1" noEditPoints="1" noAdjustHandles="1" noChangeArrowheads="1" noChangeShapeType="1" noTextEdit="1"/>
              </p:cNvSpPr>
              <p:nvPr>
                <p:ph type="title"/>
              </p:nvPr>
            </p:nvSpPr>
            <p:spPr>
              <a:xfrm>
                <a:off x="838200" y="128753"/>
                <a:ext cx="8077200" cy="1143000"/>
              </a:xfrm>
              <a:blipFill>
                <a:blip r:embed="rId2"/>
                <a:stretch>
                  <a:fillRect l="-2717" t="-17021" b="-29787"/>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762000" y="1295400"/>
                <a:ext cx="8077200" cy="5486399"/>
              </a:xfrm>
            </p:spPr>
            <p:txBody>
              <a:bodyPr>
                <a:normAutofit/>
              </a:bodyPr>
              <a:lstStyle/>
              <a:p>
                <a:r>
                  <a:rPr lang="en-US" dirty="0"/>
                  <a:t>Confidence interval: </a:t>
                </a:r>
                <a14:m>
                  <m:oMath xmlns:m="http://schemas.openxmlformats.org/officeDocument/2006/math">
                    <m:sSub>
                      <m:sSubPr>
                        <m:ctrlPr>
                          <a:rPr lang="en-US" i="1" smtClean="0">
                            <a:solidFill>
                              <a:schemeClr val="accent6">
                                <a:lumMod val="50000"/>
                              </a:schemeClr>
                            </a:solidFill>
                            <a:latin typeface="Cambria Math" panose="02040503050406030204" pitchFamily="18" charset="0"/>
                          </a:rPr>
                        </m:ctrlPr>
                      </m:sSubPr>
                      <m:e>
                        <m:r>
                          <a:rPr lang="en-US" b="0" i="1">
                            <a:solidFill>
                              <a:schemeClr val="accent6">
                                <a:lumMod val="50000"/>
                              </a:schemeClr>
                            </a:solidFill>
                            <a:latin typeface="Cambria Math" panose="02040503050406030204" pitchFamily="18" charset="0"/>
                          </a:rPr>
                          <m:t>𝑏</m:t>
                        </m:r>
                      </m:e>
                      <m:sub>
                        <m:r>
                          <a:rPr lang="en-US" b="0" i="1">
                            <a:solidFill>
                              <a:schemeClr val="accent6">
                                <a:lumMod val="50000"/>
                              </a:schemeClr>
                            </a:solidFill>
                            <a:latin typeface="Cambria Math" panose="02040503050406030204" pitchFamily="18" charset="0"/>
                          </a:rPr>
                          <m:t>𝑘</m:t>
                        </m:r>
                      </m:sub>
                    </m:sSub>
                    <m:r>
                      <a:rPr lang="en-US" b="0" i="1">
                        <a:solidFill>
                          <a:schemeClr val="accent6">
                            <a:lumMod val="50000"/>
                          </a:schemeClr>
                        </a:solidFill>
                        <a:latin typeface="Cambria Math" panose="02040503050406030204" pitchFamily="18" charset="0"/>
                      </a:rPr>
                      <m:t>±</m:t>
                    </m:r>
                    <m:sSub>
                      <m:sSubPr>
                        <m:ctrlPr>
                          <a:rPr lang="en-US" i="1">
                            <a:solidFill>
                              <a:schemeClr val="accent6">
                                <a:lumMod val="50000"/>
                              </a:schemeClr>
                            </a:solidFill>
                            <a:latin typeface="Cambria Math" panose="02040503050406030204" pitchFamily="18" charset="0"/>
                          </a:rPr>
                        </m:ctrlPr>
                      </m:sSubPr>
                      <m:e>
                        <m:r>
                          <a:rPr lang="en-US" b="0" i="1">
                            <a:solidFill>
                              <a:schemeClr val="accent6">
                                <a:lumMod val="50000"/>
                              </a:schemeClr>
                            </a:solidFill>
                            <a:latin typeface="Cambria Math" panose="02040503050406030204" pitchFamily="18" charset="0"/>
                          </a:rPr>
                          <m:t>𝑡</m:t>
                        </m:r>
                      </m:e>
                      <m:sub>
                        <m:r>
                          <a:rPr lang="en-US" b="0" i="1">
                            <a:solidFill>
                              <a:schemeClr val="accent6">
                                <a:lumMod val="50000"/>
                              </a:schemeClr>
                            </a:solidFill>
                            <a:latin typeface="Cambria Math" panose="02040503050406030204" pitchFamily="18" charset="0"/>
                          </a:rPr>
                          <m:t>𝛼</m:t>
                        </m:r>
                        <m:r>
                          <a:rPr lang="en-US" b="0" i="1">
                            <a:solidFill>
                              <a:schemeClr val="accent6">
                                <a:lumMod val="50000"/>
                              </a:schemeClr>
                            </a:solidFill>
                            <a:latin typeface="Cambria Math" panose="02040503050406030204" pitchFamily="18" charset="0"/>
                          </a:rPr>
                          <m:t>/2,</m:t>
                        </m:r>
                        <m:r>
                          <a:rPr lang="en-US" b="0" i="1">
                            <a:solidFill>
                              <a:schemeClr val="accent6">
                                <a:lumMod val="50000"/>
                              </a:schemeClr>
                            </a:solidFill>
                            <a:latin typeface="Cambria Math" panose="02040503050406030204" pitchFamily="18" charset="0"/>
                          </a:rPr>
                          <m:t>𝑛</m:t>
                        </m:r>
                        <m:r>
                          <a:rPr lang="en-US" b="0" i="1">
                            <a:solidFill>
                              <a:schemeClr val="accent6">
                                <a:lumMod val="50000"/>
                              </a:schemeClr>
                            </a:solidFill>
                            <a:latin typeface="Cambria Math" panose="02040503050406030204" pitchFamily="18" charset="0"/>
                          </a:rPr>
                          <m:t>−</m:t>
                        </m:r>
                        <m:r>
                          <a:rPr lang="en-US" b="0" i="1" smtClean="0">
                            <a:solidFill>
                              <a:schemeClr val="accent6">
                                <a:lumMod val="50000"/>
                              </a:schemeClr>
                            </a:solidFill>
                            <a:latin typeface="Cambria Math" panose="02040503050406030204" pitchFamily="18" charset="0"/>
                          </a:rPr>
                          <m:t>𝑝</m:t>
                        </m:r>
                      </m:sub>
                    </m:sSub>
                    <m:r>
                      <a:rPr lang="en-US" b="0" i="1">
                        <a:solidFill>
                          <a:schemeClr val="accent6">
                            <a:lumMod val="50000"/>
                          </a:schemeClr>
                        </a:solidFill>
                        <a:latin typeface="Cambria Math" panose="02040503050406030204" pitchFamily="18" charset="0"/>
                      </a:rPr>
                      <m:t> </m:t>
                    </m:r>
                    <m:r>
                      <a:rPr lang="en-US" b="0" i="1">
                        <a:solidFill>
                          <a:schemeClr val="accent6">
                            <a:lumMod val="50000"/>
                          </a:schemeClr>
                        </a:solidFill>
                        <a:latin typeface="Cambria Math" panose="02040503050406030204" pitchFamily="18" charset="0"/>
                      </a:rPr>
                      <m:t>𝑠</m:t>
                    </m:r>
                    <m:r>
                      <a:rPr lang="en-US" b="0" i="1">
                        <a:solidFill>
                          <a:schemeClr val="accent6">
                            <a:lumMod val="50000"/>
                          </a:schemeClr>
                        </a:solidFill>
                        <a:latin typeface="Cambria Math" panose="02040503050406030204" pitchFamily="18" charset="0"/>
                      </a:rPr>
                      <m:t>(</m:t>
                    </m:r>
                    <m:sSub>
                      <m:sSubPr>
                        <m:ctrlPr>
                          <a:rPr lang="en-US" i="1">
                            <a:solidFill>
                              <a:schemeClr val="accent6">
                                <a:lumMod val="50000"/>
                              </a:schemeClr>
                            </a:solidFill>
                            <a:latin typeface="Cambria Math" panose="02040503050406030204" pitchFamily="18" charset="0"/>
                          </a:rPr>
                        </m:ctrlPr>
                      </m:sSubPr>
                      <m:e>
                        <m:r>
                          <a:rPr lang="en-US" b="0" i="1">
                            <a:solidFill>
                              <a:schemeClr val="accent6">
                                <a:lumMod val="50000"/>
                              </a:schemeClr>
                            </a:solidFill>
                            <a:latin typeface="Cambria Math" panose="02040503050406030204" pitchFamily="18" charset="0"/>
                          </a:rPr>
                          <m:t>𝑏</m:t>
                        </m:r>
                      </m:e>
                      <m:sub>
                        <m:r>
                          <a:rPr lang="en-US" b="0" i="1">
                            <a:solidFill>
                              <a:schemeClr val="accent6">
                                <a:lumMod val="50000"/>
                              </a:schemeClr>
                            </a:solidFill>
                            <a:latin typeface="Cambria Math" panose="02040503050406030204" pitchFamily="18" charset="0"/>
                          </a:rPr>
                          <m:t>𝑘</m:t>
                        </m:r>
                      </m:sub>
                    </m:sSub>
                    <m:r>
                      <a:rPr lang="en-US" b="0" i="1">
                        <a:solidFill>
                          <a:schemeClr val="accent6">
                            <a:lumMod val="50000"/>
                          </a:schemeClr>
                        </a:solidFill>
                        <a:latin typeface="Cambria Math" panose="02040503050406030204" pitchFamily="18" charset="0"/>
                      </a:rPr>
                      <m:t>)</m:t>
                    </m:r>
                  </m:oMath>
                </a14:m>
                <a:endParaRPr lang="en-US" dirty="0"/>
              </a:p>
              <a:p>
                <a:pPr lvl="1"/>
                <a14:m>
                  <m:oMath xmlns:m="http://schemas.openxmlformats.org/officeDocument/2006/math">
                    <m:sSub>
                      <m:sSubPr>
                        <m:ctrlPr>
                          <a:rPr lang="en-US" i="1" smtClean="0">
                            <a:solidFill>
                              <a:schemeClr val="accent6">
                                <a:lumMod val="50000"/>
                              </a:schemeClr>
                            </a:solidFill>
                            <a:latin typeface="Cambria Math" panose="02040503050406030204" pitchFamily="18" charset="0"/>
                          </a:rPr>
                        </m:ctrlPr>
                      </m:sSubPr>
                      <m:e>
                        <m:r>
                          <a:rPr lang="en-US" i="1">
                            <a:solidFill>
                              <a:schemeClr val="accent6">
                                <a:lumMod val="50000"/>
                              </a:schemeClr>
                            </a:solidFill>
                            <a:latin typeface="Cambria Math" panose="02040503050406030204" pitchFamily="18" charset="0"/>
                          </a:rPr>
                          <m:t>𝑏</m:t>
                        </m:r>
                      </m:e>
                      <m:sub>
                        <m:r>
                          <a:rPr lang="en-US" i="1">
                            <a:solidFill>
                              <a:schemeClr val="accent6">
                                <a:lumMod val="50000"/>
                              </a:schemeClr>
                            </a:solidFill>
                            <a:latin typeface="Cambria Math" panose="02040503050406030204" pitchFamily="18" charset="0"/>
                          </a:rPr>
                          <m:t>𝑘</m:t>
                        </m:r>
                      </m:sub>
                    </m:sSub>
                  </m:oMath>
                </a14:m>
                <a:r>
                  <a:rPr lang="en-US" dirty="0">
                    <a:solidFill>
                      <a:schemeClr val="accent6">
                        <a:lumMod val="50000"/>
                      </a:schemeClr>
                    </a:solidFill>
                  </a:rPr>
                  <a:t>:</a:t>
                </a:r>
                <a:r>
                  <a:rPr lang="en-US" dirty="0"/>
                  <a:t> estimated regression coefficient</a:t>
                </a:r>
              </a:p>
              <a:p>
                <a:pPr lvl="1"/>
                <a14:m>
                  <m:oMath xmlns:m="http://schemas.openxmlformats.org/officeDocument/2006/math">
                    <m:r>
                      <a:rPr lang="en-US" i="1" smtClean="0">
                        <a:solidFill>
                          <a:schemeClr val="accent6">
                            <a:lumMod val="50000"/>
                          </a:schemeClr>
                        </a:solidFill>
                        <a:latin typeface="Cambria Math" panose="02040503050406030204" pitchFamily="18" charset="0"/>
                      </a:rPr>
                      <m:t>𝑠</m:t>
                    </m:r>
                    <m:r>
                      <a:rPr lang="en-US" i="1" smtClean="0">
                        <a:solidFill>
                          <a:schemeClr val="accent6">
                            <a:lumMod val="50000"/>
                          </a:schemeClr>
                        </a:solidFill>
                        <a:latin typeface="Cambria Math" panose="02040503050406030204" pitchFamily="18" charset="0"/>
                      </a:rPr>
                      <m:t>(</m:t>
                    </m:r>
                    <m:sSub>
                      <m:sSubPr>
                        <m:ctrlPr>
                          <a:rPr lang="en-US" i="1">
                            <a:solidFill>
                              <a:schemeClr val="accent6">
                                <a:lumMod val="50000"/>
                              </a:schemeClr>
                            </a:solidFill>
                            <a:latin typeface="Cambria Math" panose="02040503050406030204" pitchFamily="18" charset="0"/>
                          </a:rPr>
                        </m:ctrlPr>
                      </m:sSubPr>
                      <m:e>
                        <m:r>
                          <a:rPr lang="en-US" i="1">
                            <a:solidFill>
                              <a:schemeClr val="accent6">
                                <a:lumMod val="50000"/>
                              </a:schemeClr>
                            </a:solidFill>
                            <a:latin typeface="Cambria Math" panose="02040503050406030204" pitchFamily="18" charset="0"/>
                          </a:rPr>
                          <m:t>𝑏</m:t>
                        </m:r>
                      </m:e>
                      <m:sub>
                        <m:r>
                          <a:rPr lang="en-US" i="1">
                            <a:solidFill>
                              <a:schemeClr val="accent6">
                                <a:lumMod val="50000"/>
                              </a:schemeClr>
                            </a:solidFill>
                            <a:latin typeface="Cambria Math" panose="02040503050406030204" pitchFamily="18" charset="0"/>
                          </a:rPr>
                          <m:t>𝑘</m:t>
                        </m:r>
                      </m:sub>
                    </m:sSub>
                    <m:r>
                      <a:rPr lang="en-US" i="1">
                        <a:solidFill>
                          <a:schemeClr val="accent6">
                            <a:lumMod val="50000"/>
                          </a:schemeClr>
                        </a:solidFill>
                        <a:latin typeface="Cambria Math" panose="02040503050406030204" pitchFamily="18" charset="0"/>
                      </a:rPr>
                      <m:t>) </m:t>
                    </m:r>
                  </m:oMath>
                </a14:m>
                <a:r>
                  <a:rPr lang="en-US" dirty="0">
                    <a:solidFill>
                      <a:schemeClr val="accent6">
                        <a:lumMod val="50000"/>
                      </a:schemeClr>
                    </a:solidFill>
                  </a:rPr>
                  <a:t>:</a:t>
                </a:r>
                <a:r>
                  <a:rPr lang="en-US" dirty="0"/>
                  <a:t> standard error of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𝑏</m:t>
                        </m:r>
                      </m:e>
                      <m:sub>
                        <m:r>
                          <a:rPr lang="en-US" i="1">
                            <a:latin typeface="Cambria Math" panose="02040503050406030204" pitchFamily="18" charset="0"/>
                          </a:rPr>
                          <m:t>𝑘</m:t>
                        </m:r>
                      </m:sub>
                    </m:sSub>
                  </m:oMath>
                </a14:m>
                <a:endParaRPr lang="en-US" dirty="0"/>
              </a:p>
              <a:p>
                <a:pPr lvl="1"/>
                <a:r>
                  <a:rPr lang="en-US" i="1" dirty="0">
                    <a:solidFill>
                      <a:schemeClr val="accent6">
                        <a:lumMod val="50000"/>
                      </a:schemeClr>
                    </a:solidFill>
                    <a:latin typeface="Cambria Math" panose="02040503050406030204" pitchFamily="18" charset="0"/>
                  </a:rPr>
                  <a:t>n</a:t>
                </a:r>
                <a:r>
                  <a:rPr lang="en-US" dirty="0"/>
                  <a:t>: sample size</a:t>
                </a:r>
              </a:p>
              <a:p>
                <a:pPr lvl="1"/>
                <a:r>
                  <a:rPr lang="en-US" i="1" dirty="0">
                    <a:solidFill>
                      <a:schemeClr val="accent6">
                        <a:lumMod val="50000"/>
                      </a:schemeClr>
                    </a:solidFill>
                  </a:rPr>
                  <a:t>p</a:t>
                </a:r>
                <a:r>
                  <a:rPr lang="en-US" dirty="0">
                    <a:solidFill>
                      <a:schemeClr val="accent6">
                        <a:lumMod val="50000"/>
                      </a:schemeClr>
                    </a:solidFill>
                  </a:rPr>
                  <a:t>:</a:t>
                </a:r>
                <a:r>
                  <a:rPr lang="en-US" dirty="0"/>
                  <a:t> number of regression coefficients</a:t>
                </a:r>
              </a:p>
              <a:p>
                <a:pPr lvl="1"/>
                <a14:m>
                  <m:oMath xmlns:m="http://schemas.openxmlformats.org/officeDocument/2006/math">
                    <m:sSub>
                      <m:sSubPr>
                        <m:ctrlPr>
                          <a:rPr lang="en-US" i="1">
                            <a:solidFill>
                              <a:schemeClr val="accent6">
                                <a:lumMod val="50000"/>
                              </a:schemeClr>
                            </a:solidFill>
                            <a:latin typeface="Cambria Math" panose="02040503050406030204" pitchFamily="18" charset="0"/>
                          </a:rPr>
                        </m:ctrlPr>
                      </m:sSubPr>
                      <m:e>
                        <m:r>
                          <a:rPr lang="en-US" i="1">
                            <a:solidFill>
                              <a:schemeClr val="accent6">
                                <a:lumMod val="50000"/>
                              </a:schemeClr>
                            </a:solidFill>
                            <a:latin typeface="Cambria Math" panose="02040503050406030204" pitchFamily="18" charset="0"/>
                          </a:rPr>
                          <m:t>𝑡</m:t>
                        </m:r>
                      </m:e>
                      <m:sub>
                        <m:r>
                          <a:rPr lang="en-US" i="1">
                            <a:solidFill>
                              <a:schemeClr val="accent6">
                                <a:lumMod val="50000"/>
                              </a:schemeClr>
                            </a:solidFill>
                            <a:latin typeface="Cambria Math" panose="02040503050406030204" pitchFamily="18" charset="0"/>
                          </a:rPr>
                          <m:t>𝛼</m:t>
                        </m:r>
                        <m:r>
                          <a:rPr lang="en-US" i="1">
                            <a:solidFill>
                              <a:schemeClr val="accent6">
                                <a:lumMod val="50000"/>
                              </a:schemeClr>
                            </a:solidFill>
                            <a:latin typeface="Cambria Math" panose="02040503050406030204" pitchFamily="18" charset="0"/>
                          </a:rPr>
                          <m:t>/2,</m:t>
                        </m:r>
                        <m:r>
                          <a:rPr lang="en-US" i="1">
                            <a:solidFill>
                              <a:schemeClr val="accent6">
                                <a:lumMod val="50000"/>
                              </a:schemeClr>
                            </a:solidFill>
                            <a:latin typeface="Cambria Math" panose="02040503050406030204" pitchFamily="18" charset="0"/>
                          </a:rPr>
                          <m:t>𝑛</m:t>
                        </m:r>
                        <m:r>
                          <a:rPr lang="en-US" i="1">
                            <a:solidFill>
                              <a:schemeClr val="accent6">
                                <a:lumMod val="50000"/>
                              </a:schemeClr>
                            </a:solidFill>
                            <a:latin typeface="Cambria Math" panose="02040503050406030204" pitchFamily="18" charset="0"/>
                          </a:rPr>
                          <m:t>−</m:t>
                        </m:r>
                        <m:r>
                          <a:rPr lang="en-US" i="1">
                            <a:solidFill>
                              <a:schemeClr val="accent6">
                                <a:lumMod val="50000"/>
                              </a:schemeClr>
                            </a:solidFill>
                            <a:latin typeface="Cambria Math" panose="02040503050406030204" pitchFamily="18" charset="0"/>
                          </a:rPr>
                          <m:t>𝑝</m:t>
                        </m:r>
                      </m:sub>
                    </m:sSub>
                  </m:oMath>
                </a14:m>
                <a:r>
                  <a:rPr lang="en-US" dirty="0"/>
                  <a:t>: the</a:t>
                </a:r>
                <a:r>
                  <a:rPr lang="zh-CN" altLang="en-US" dirty="0"/>
                  <a:t> </a:t>
                </a:r>
                <a:r>
                  <a:rPr lang="en-US" dirty="0"/>
                  <a:t>t</a:t>
                </a:r>
                <a:r>
                  <a:rPr lang="en-US" altLang="zh-CN" dirty="0"/>
                  <a:t>-</a:t>
                </a:r>
                <a:r>
                  <a:rPr lang="en-US" dirty="0"/>
                  <a:t>value</a:t>
                </a:r>
                <a:r>
                  <a:rPr lang="zh-CN" altLang="en-US" dirty="0"/>
                  <a:t> </a:t>
                </a:r>
                <a:r>
                  <a:rPr lang="en-US" dirty="0"/>
                  <a:t>that</a:t>
                </a:r>
                <a:r>
                  <a:rPr lang="zh-CN" altLang="en-US" dirty="0"/>
                  <a:t> </a:t>
                </a:r>
                <a:r>
                  <a:rPr lang="en-US" dirty="0"/>
                  <a:t>cuts</a:t>
                </a:r>
                <a:r>
                  <a:rPr lang="zh-CN" altLang="en-US" dirty="0"/>
                  <a:t> </a:t>
                </a:r>
                <a:r>
                  <a:rPr lang="en-US" dirty="0"/>
                  <a:t>off α/2</a:t>
                </a:r>
                <a:r>
                  <a:rPr lang="zh-CN" altLang="en-US" dirty="0"/>
                  <a:t> </a:t>
                </a:r>
                <a:r>
                  <a:rPr lang="en-US" dirty="0"/>
                  <a:t>area</a:t>
                </a:r>
                <a:r>
                  <a:rPr lang="zh-CN" altLang="en-US" dirty="0"/>
                  <a:t> </a:t>
                </a:r>
                <a:r>
                  <a:rPr lang="en-US" dirty="0"/>
                  <a:t>to</a:t>
                </a:r>
                <a:r>
                  <a:rPr lang="zh-CN" altLang="en-US" dirty="0"/>
                  <a:t> </a:t>
                </a:r>
                <a:r>
                  <a:rPr lang="en-US" dirty="0"/>
                  <a:t>its</a:t>
                </a:r>
                <a:r>
                  <a:rPr lang="zh-CN" altLang="en-US" dirty="0"/>
                  <a:t> </a:t>
                </a:r>
                <a:r>
                  <a:rPr lang="en-US" altLang="zh-CN"/>
                  <a:t>right</a:t>
                </a:r>
                <a:r>
                  <a:rPr lang="zh-CN" altLang="en-US"/>
                  <a:t>  </a:t>
                </a:r>
                <a:r>
                  <a:rPr lang="en-US" altLang="zh-CN" dirty="0"/>
                  <a:t>for a t distribution with (n-p) degrees of freedom</a:t>
                </a:r>
                <a:endParaRPr lang="en-US" dirty="0"/>
              </a:p>
              <a:p>
                <a:pPr marL="0" indent="0">
                  <a:buNone/>
                </a:pPr>
                <a:endParaRPr lang="en-US" dirty="0"/>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762000" y="1295400"/>
                <a:ext cx="8077200" cy="5486399"/>
              </a:xfrm>
              <a:blipFill>
                <a:blip r:embed="rId3"/>
                <a:stretch>
                  <a:fillRect l="-1736" t="-1335"/>
                </a:stretch>
              </a:blipFill>
            </p:spPr>
            <p:txBody>
              <a:bodyPr/>
              <a:lstStyle/>
              <a:p>
                <a:r>
                  <a:rPr lang="en-US">
                    <a:noFill/>
                  </a:rPr>
                  <a:t> </a:t>
                </a:r>
              </a:p>
            </p:txBody>
          </p:sp>
        </mc:Fallback>
      </mc:AlternateContent>
    </p:spTree>
    <p:extLst>
      <p:ext uri="{BB962C8B-B14F-4D97-AF65-F5344CB8AC3E}">
        <p14:creationId xmlns:p14="http://schemas.microsoft.com/office/powerpoint/2010/main" val="1551339319"/>
      </p:ext>
    </p:extLst>
  </p:cSld>
  <p:clrMapOvr>
    <a:masterClrMapping/>
  </p:clrMapOvr>
  <p:transition spd="slow">
    <p:wipe dir="d"/>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p:txBody>
              <a:bodyPr>
                <a:normAutofit fontScale="90000"/>
              </a:bodyPr>
              <a:lstStyle/>
              <a:p>
                <a:r>
                  <a:rPr lang="en-US" b="1" dirty="0"/>
                  <a:t>Inference</a:t>
                </a:r>
                <a:r>
                  <a:rPr lang="en-US" sz="3200" dirty="0"/>
                  <a:t> </a:t>
                </a:r>
                <a:r>
                  <a:rPr lang="en-US" b="1" dirty="0"/>
                  <a:t>about </a:t>
                </a:r>
                <a14:m>
                  <m:oMath xmlns:m="http://schemas.openxmlformats.org/officeDocument/2006/math">
                    <m:sSub>
                      <m:sSubPr>
                        <m:ctrlPr>
                          <a:rPr lang="en-US" b="1" i="1">
                            <a:latin typeface="Cambria Math" panose="02040503050406030204" pitchFamily="18" charset="0"/>
                          </a:rPr>
                        </m:ctrlPr>
                      </m:sSubPr>
                      <m:e>
                        <m:r>
                          <a:rPr lang="en-US" b="1">
                            <a:latin typeface="Cambria Math" panose="02040503050406030204" pitchFamily="18" charset="0"/>
                          </a:rPr>
                          <m:t>𝛽</m:t>
                        </m:r>
                      </m:e>
                      <m:sub>
                        <m:r>
                          <a:rPr lang="en-US" b="1">
                            <a:latin typeface="Cambria Math" panose="02040503050406030204" pitchFamily="18" charset="0"/>
                          </a:rPr>
                          <m:t>𝑘</m:t>
                        </m:r>
                      </m:sub>
                    </m:sSub>
                  </m:oMath>
                </a14:m>
                <a:r>
                  <a:rPr lang="en-US" dirty="0"/>
                  <a:t>: </a:t>
                </a:r>
                <a:r>
                  <a:rPr lang="en-US" b="1" dirty="0"/>
                  <a:t>hypothesis testing</a:t>
                </a:r>
                <a:endParaRPr lang="en-US" dirty="0"/>
              </a:p>
            </p:txBody>
          </p:sp>
        </mc:Choice>
        <mc:Fallback xmlns="">
          <p:sp>
            <p:nvSpPr>
              <p:cNvPr id="2" name="Title 1"/>
              <p:cNvSpPr>
                <a:spLocks noGrp="1" noRot="1" noChangeAspect="1" noMove="1" noResize="1" noEditPoints="1" noAdjustHandles="1" noChangeArrowheads="1" noChangeShapeType="1" noTextEdit="1"/>
              </p:cNvSpPr>
              <p:nvPr>
                <p:ph type="title"/>
              </p:nvPr>
            </p:nvSpPr>
            <p:spPr>
              <a:blipFill>
                <a:blip r:embed="rId2"/>
                <a:stretch>
                  <a:fillRect l="-2642" t="-17021" b="-297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Hypotheses testing:</a:t>
                </a:r>
              </a:p>
              <a:p>
                <a:pPr marL="0" indent="0">
                  <a:buNone/>
                </a:pPr>
                <a:endParaRPr lang="en-US" sz="900" i="1" dirty="0">
                  <a:solidFill>
                    <a:schemeClr val="accent6">
                      <a:lumMod val="50000"/>
                    </a:schemeClr>
                  </a:solidFill>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US" i="1">
                              <a:solidFill>
                                <a:schemeClr val="accent6">
                                  <a:lumMod val="50000"/>
                                </a:schemeClr>
                              </a:solidFill>
                              <a:latin typeface="Cambria Math" panose="02040503050406030204" pitchFamily="18" charset="0"/>
                            </a:rPr>
                          </m:ctrlPr>
                        </m:sSubPr>
                        <m:e>
                          <m:r>
                            <a:rPr lang="en-US" i="1">
                              <a:solidFill>
                                <a:schemeClr val="accent6">
                                  <a:lumMod val="50000"/>
                                </a:schemeClr>
                              </a:solidFill>
                              <a:latin typeface="Cambria Math" panose="02040503050406030204" pitchFamily="18" charset="0"/>
                            </a:rPr>
                            <m:t>𝐻</m:t>
                          </m:r>
                        </m:e>
                        <m:sub>
                          <m:r>
                            <a:rPr lang="en-US" i="1">
                              <a:solidFill>
                                <a:schemeClr val="accent6">
                                  <a:lumMod val="50000"/>
                                </a:schemeClr>
                              </a:solidFill>
                              <a:latin typeface="Cambria Math" panose="02040503050406030204" pitchFamily="18" charset="0"/>
                            </a:rPr>
                            <m:t>0</m:t>
                          </m:r>
                        </m:sub>
                      </m:sSub>
                      <m:r>
                        <a:rPr lang="en-US" i="1">
                          <a:solidFill>
                            <a:schemeClr val="accent6">
                              <a:lumMod val="50000"/>
                            </a:schemeClr>
                          </a:solidFill>
                          <a:latin typeface="Cambria Math" panose="02040503050406030204" pitchFamily="18" charset="0"/>
                        </a:rPr>
                        <m:t>:</m:t>
                      </m:r>
                      <m:sSub>
                        <m:sSubPr>
                          <m:ctrlPr>
                            <a:rPr lang="en-US" i="1">
                              <a:solidFill>
                                <a:schemeClr val="accent6">
                                  <a:lumMod val="50000"/>
                                </a:schemeClr>
                              </a:solidFill>
                              <a:latin typeface="Cambria Math" panose="02040503050406030204" pitchFamily="18" charset="0"/>
                            </a:rPr>
                          </m:ctrlPr>
                        </m:sSubPr>
                        <m:e>
                          <m:r>
                            <a:rPr lang="en-US" i="1">
                              <a:solidFill>
                                <a:schemeClr val="accent6">
                                  <a:lumMod val="50000"/>
                                </a:schemeClr>
                              </a:solidFill>
                              <a:latin typeface="Cambria Math" panose="02040503050406030204" pitchFamily="18" charset="0"/>
                            </a:rPr>
                            <m:t>𝛽</m:t>
                          </m:r>
                        </m:e>
                        <m:sub>
                          <m:r>
                            <a:rPr lang="en-US" i="1">
                              <a:solidFill>
                                <a:schemeClr val="accent6">
                                  <a:lumMod val="50000"/>
                                </a:schemeClr>
                              </a:solidFill>
                              <a:latin typeface="Cambria Math" panose="02040503050406030204" pitchFamily="18" charset="0"/>
                            </a:rPr>
                            <m:t>𝑘</m:t>
                          </m:r>
                        </m:sub>
                      </m:sSub>
                      <m:r>
                        <a:rPr lang="en-US" i="1">
                          <a:solidFill>
                            <a:schemeClr val="accent6">
                              <a:lumMod val="50000"/>
                            </a:schemeClr>
                          </a:solidFill>
                          <a:latin typeface="Cambria Math" panose="02040503050406030204" pitchFamily="18" charset="0"/>
                        </a:rPr>
                        <m:t>=0    </m:t>
                      </m:r>
                      <m:r>
                        <a:rPr lang="en-US" i="1">
                          <a:solidFill>
                            <a:schemeClr val="accent6">
                              <a:lumMod val="50000"/>
                            </a:schemeClr>
                          </a:solidFill>
                          <a:latin typeface="Cambria Math" panose="02040503050406030204" pitchFamily="18" charset="0"/>
                        </a:rPr>
                        <m:t>𝑣𝑠</m:t>
                      </m:r>
                      <m:r>
                        <a:rPr lang="en-US" i="1">
                          <a:solidFill>
                            <a:schemeClr val="accent6">
                              <a:lumMod val="50000"/>
                            </a:schemeClr>
                          </a:solidFill>
                          <a:latin typeface="Cambria Math" panose="02040503050406030204" pitchFamily="18" charset="0"/>
                        </a:rPr>
                        <m:t>    </m:t>
                      </m:r>
                      <m:sSub>
                        <m:sSubPr>
                          <m:ctrlPr>
                            <a:rPr lang="en-US" i="1">
                              <a:solidFill>
                                <a:schemeClr val="accent6">
                                  <a:lumMod val="50000"/>
                                </a:schemeClr>
                              </a:solidFill>
                              <a:latin typeface="Cambria Math" panose="02040503050406030204" pitchFamily="18" charset="0"/>
                            </a:rPr>
                          </m:ctrlPr>
                        </m:sSubPr>
                        <m:e>
                          <m:r>
                            <a:rPr lang="en-US" i="1">
                              <a:solidFill>
                                <a:schemeClr val="accent6">
                                  <a:lumMod val="50000"/>
                                </a:schemeClr>
                              </a:solidFill>
                              <a:latin typeface="Cambria Math" panose="02040503050406030204" pitchFamily="18" charset="0"/>
                            </a:rPr>
                            <m:t>𝐻</m:t>
                          </m:r>
                        </m:e>
                        <m:sub>
                          <m:r>
                            <a:rPr lang="en-US" i="1">
                              <a:solidFill>
                                <a:schemeClr val="accent6">
                                  <a:lumMod val="50000"/>
                                </a:schemeClr>
                              </a:solidFill>
                              <a:latin typeface="Cambria Math" panose="02040503050406030204" pitchFamily="18" charset="0"/>
                            </a:rPr>
                            <m:t>𝑎</m:t>
                          </m:r>
                        </m:sub>
                      </m:sSub>
                      <m:r>
                        <a:rPr lang="en-US" i="1">
                          <a:solidFill>
                            <a:schemeClr val="accent6">
                              <a:lumMod val="50000"/>
                            </a:schemeClr>
                          </a:solidFill>
                          <a:latin typeface="Cambria Math" panose="02040503050406030204" pitchFamily="18" charset="0"/>
                        </a:rPr>
                        <m:t>:</m:t>
                      </m:r>
                      <m:sSub>
                        <m:sSubPr>
                          <m:ctrlPr>
                            <a:rPr lang="en-US" i="1">
                              <a:solidFill>
                                <a:schemeClr val="accent6">
                                  <a:lumMod val="50000"/>
                                </a:schemeClr>
                              </a:solidFill>
                              <a:latin typeface="Cambria Math" panose="02040503050406030204" pitchFamily="18" charset="0"/>
                            </a:rPr>
                          </m:ctrlPr>
                        </m:sSubPr>
                        <m:e>
                          <m:r>
                            <a:rPr lang="en-US" i="1">
                              <a:solidFill>
                                <a:schemeClr val="accent6">
                                  <a:lumMod val="50000"/>
                                </a:schemeClr>
                              </a:solidFill>
                              <a:latin typeface="Cambria Math" panose="02040503050406030204" pitchFamily="18" charset="0"/>
                            </a:rPr>
                            <m:t>𝛽</m:t>
                          </m:r>
                        </m:e>
                        <m:sub>
                          <m:r>
                            <a:rPr lang="en-US" i="1">
                              <a:solidFill>
                                <a:schemeClr val="accent6">
                                  <a:lumMod val="50000"/>
                                </a:schemeClr>
                              </a:solidFill>
                              <a:latin typeface="Cambria Math" panose="02040503050406030204" pitchFamily="18" charset="0"/>
                            </a:rPr>
                            <m:t>𝑘</m:t>
                          </m:r>
                        </m:sub>
                      </m:sSub>
                      <m:r>
                        <a:rPr lang="en-US" i="1">
                          <a:solidFill>
                            <a:schemeClr val="accent6">
                              <a:lumMod val="50000"/>
                            </a:schemeClr>
                          </a:solidFill>
                          <a:latin typeface="Cambria Math" panose="02040503050406030204" pitchFamily="18" charset="0"/>
                        </a:rPr>
                        <m:t>≠0</m:t>
                      </m:r>
                    </m:oMath>
                  </m:oMathPara>
                </a14:m>
                <a:endParaRPr lang="en-US" dirty="0">
                  <a:solidFill>
                    <a:schemeClr val="accent6">
                      <a:lumMod val="50000"/>
                    </a:schemeClr>
                  </a:solidFill>
                </a:endParaRPr>
              </a:p>
              <a:p>
                <a:r>
                  <a:rPr lang="en-US" dirty="0"/>
                  <a:t>The test statistic </a:t>
                </a:r>
                <a14:m>
                  <m:oMath xmlns:m="http://schemas.openxmlformats.org/officeDocument/2006/math">
                    <m:r>
                      <a:rPr lang="en-US" i="1">
                        <a:solidFill>
                          <a:schemeClr val="accent6">
                            <a:lumMod val="50000"/>
                          </a:schemeClr>
                        </a:solidFill>
                        <a:latin typeface="Cambria Math" panose="02040503050406030204" pitchFamily="18" charset="0"/>
                      </a:rPr>
                      <m:t>𝑡</m:t>
                    </m:r>
                    <m:r>
                      <a:rPr lang="en-US" i="1">
                        <a:solidFill>
                          <a:schemeClr val="accent6">
                            <a:lumMod val="50000"/>
                          </a:schemeClr>
                        </a:solidFill>
                        <a:latin typeface="Cambria Math" panose="02040503050406030204" pitchFamily="18" charset="0"/>
                      </a:rPr>
                      <m:t>=</m:t>
                    </m:r>
                    <m:f>
                      <m:fPr>
                        <m:ctrlPr>
                          <a:rPr lang="en-US" i="1">
                            <a:solidFill>
                              <a:schemeClr val="accent6">
                                <a:lumMod val="50000"/>
                              </a:schemeClr>
                            </a:solidFill>
                            <a:latin typeface="Cambria Math" panose="02040503050406030204" pitchFamily="18" charset="0"/>
                          </a:rPr>
                        </m:ctrlPr>
                      </m:fPr>
                      <m:num>
                        <m:sSub>
                          <m:sSubPr>
                            <m:ctrlPr>
                              <a:rPr lang="en-US" i="1">
                                <a:solidFill>
                                  <a:schemeClr val="accent6">
                                    <a:lumMod val="50000"/>
                                  </a:schemeClr>
                                </a:solidFill>
                                <a:latin typeface="Cambria Math" panose="02040503050406030204" pitchFamily="18" charset="0"/>
                              </a:rPr>
                            </m:ctrlPr>
                          </m:sSubPr>
                          <m:e>
                            <m:r>
                              <a:rPr lang="en-US" i="1">
                                <a:solidFill>
                                  <a:schemeClr val="accent6">
                                    <a:lumMod val="50000"/>
                                  </a:schemeClr>
                                </a:solidFill>
                                <a:latin typeface="Cambria Math" panose="02040503050406030204" pitchFamily="18" charset="0"/>
                              </a:rPr>
                              <m:t>𝑏</m:t>
                            </m:r>
                          </m:e>
                          <m:sub>
                            <m:r>
                              <a:rPr lang="en-US" i="1">
                                <a:solidFill>
                                  <a:schemeClr val="accent6">
                                    <a:lumMod val="50000"/>
                                  </a:schemeClr>
                                </a:solidFill>
                                <a:latin typeface="Cambria Math" panose="02040503050406030204" pitchFamily="18" charset="0"/>
                              </a:rPr>
                              <m:t>𝑘</m:t>
                            </m:r>
                          </m:sub>
                        </m:sSub>
                      </m:num>
                      <m:den>
                        <m:r>
                          <a:rPr lang="en-US" i="1">
                            <a:solidFill>
                              <a:schemeClr val="accent6">
                                <a:lumMod val="50000"/>
                              </a:schemeClr>
                            </a:solidFill>
                            <a:latin typeface="Cambria Math" panose="02040503050406030204" pitchFamily="18" charset="0"/>
                          </a:rPr>
                          <m:t>𝑠</m:t>
                        </m:r>
                        <m:r>
                          <a:rPr lang="en-US" i="1">
                            <a:solidFill>
                              <a:schemeClr val="accent6">
                                <a:lumMod val="50000"/>
                              </a:schemeClr>
                            </a:solidFill>
                            <a:latin typeface="Cambria Math" panose="02040503050406030204" pitchFamily="18" charset="0"/>
                          </a:rPr>
                          <m:t>(</m:t>
                        </m:r>
                        <m:sSub>
                          <m:sSubPr>
                            <m:ctrlPr>
                              <a:rPr lang="en-US" i="1">
                                <a:solidFill>
                                  <a:schemeClr val="accent6">
                                    <a:lumMod val="50000"/>
                                  </a:schemeClr>
                                </a:solidFill>
                                <a:latin typeface="Cambria Math" panose="02040503050406030204" pitchFamily="18" charset="0"/>
                              </a:rPr>
                            </m:ctrlPr>
                          </m:sSubPr>
                          <m:e>
                            <m:r>
                              <a:rPr lang="en-US" i="1">
                                <a:solidFill>
                                  <a:schemeClr val="accent6">
                                    <a:lumMod val="50000"/>
                                  </a:schemeClr>
                                </a:solidFill>
                                <a:latin typeface="Cambria Math" panose="02040503050406030204" pitchFamily="18" charset="0"/>
                              </a:rPr>
                              <m:t>𝑏</m:t>
                            </m:r>
                          </m:e>
                          <m:sub>
                            <m:r>
                              <a:rPr lang="en-US" i="1">
                                <a:solidFill>
                                  <a:schemeClr val="accent6">
                                    <a:lumMod val="50000"/>
                                  </a:schemeClr>
                                </a:solidFill>
                                <a:latin typeface="Cambria Math" panose="02040503050406030204" pitchFamily="18" charset="0"/>
                              </a:rPr>
                              <m:t>𝑘</m:t>
                            </m:r>
                          </m:sub>
                        </m:sSub>
                        <m:r>
                          <a:rPr lang="en-US" i="1">
                            <a:solidFill>
                              <a:schemeClr val="accent6">
                                <a:lumMod val="50000"/>
                              </a:schemeClr>
                            </a:solidFill>
                            <a:latin typeface="Cambria Math" panose="02040503050406030204" pitchFamily="18" charset="0"/>
                          </a:rPr>
                          <m:t>)</m:t>
                        </m:r>
                      </m:den>
                    </m:f>
                  </m:oMath>
                </a14:m>
                <a:r>
                  <a:rPr lang="en-US" dirty="0"/>
                  <a:t> follows a </a:t>
                </a:r>
                <a:r>
                  <a:rPr lang="en-US" i="1" dirty="0">
                    <a:solidFill>
                      <a:schemeClr val="accent6">
                        <a:lumMod val="50000"/>
                      </a:schemeClr>
                    </a:solidFill>
                  </a:rPr>
                  <a:t>t</a:t>
                </a:r>
                <a:r>
                  <a:rPr lang="en-US" dirty="0"/>
                  <a:t> distribution with (</a:t>
                </a:r>
                <a:r>
                  <a:rPr lang="en-US" i="1" dirty="0">
                    <a:solidFill>
                      <a:schemeClr val="accent6">
                        <a:lumMod val="50000"/>
                      </a:schemeClr>
                    </a:solidFill>
                  </a:rPr>
                  <a:t>n-p</a:t>
                </a:r>
                <a:r>
                  <a:rPr lang="en-US" dirty="0"/>
                  <a:t>) degrees of freedom</a:t>
                </a:r>
              </a:p>
              <a:p>
                <a:r>
                  <a:rPr lang="en-US" dirty="0"/>
                  <a:t>This test is for the </a:t>
                </a:r>
                <a:r>
                  <a:rPr lang="en-US" dirty="0">
                    <a:solidFill>
                      <a:srgbClr val="7030A0"/>
                    </a:solidFill>
                  </a:rPr>
                  <a:t>marginal value </a:t>
                </a:r>
                <a:r>
                  <a:rPr lang="en-US" dirty="0"/>
                  <a:t>of including </a:t>
                </a:r>
                <a:r>
                  <a:rPr lang="en-US" dirty="0" err="1"/>
                  <a:t>Xk</a:t>
                </a:r>
                <a:r>
                  <a:rPr lang="en-US" dirty="0"/>
                  <a:t> in the model provided X1, X2,……,X(k-1),X(k+1),…..,X(p-1) are already included.</a:t>
                </a: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1736" t="-1844" r="-2038" b="-2411"/>
                </a:stretch>
              </a:blipFill>
            </p:spPr>
            <p:txBody>
              <a:bodyPr/>
              <a:lstStyle/>
              <a:p>
                <a:r>
                  <a:rPr lang="en-US">
                    <a:noFill/>
                  </a:rPr>
                  <a:t> </a:t>
                </a:r>
              </a:p>
            </p:txBody>
          </p:sp>
        </mc:Fallback>
      </mc:AlternateContent>
    </p:spTree>
    <p:extLst>
      <p:ext uri="{BB962C8B-B14F-4D97-AF65-F5344CB8AC3E}">
        <p14:creationId xmlns:p14="http://schemas.microsoft.com/office/powerpoint/2010/main" val="11942963"/>
      </p:ext>
    </p:extLst>
  </p:cSld>
  <p:clrMapOvr>
    <a:masterClrMapping/>
  </p:clrMapOvr>
  <p:transition spd="slow">
    <p:wipe dir="d"/>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838200" y="533400"/>
            <a:ext cx="8077200" cy="5673725"/>
          </a:xfrm>
        </p:spPr>
        <p:txBody>
          <a:bodyPr>
            <a:noAutofit/>
          </a:bodyPr>
          <a:lstStyle/>
          <a:p>
            <a:pPr marL="457200" indent="-52388">
              <a:buFont typeface="Arial"/>
              <a:buChar char="•"/>
            </a:pPr>
            <a:endParaRPr lang="en-US" sz="800" i="1" dirty="0"/>
          </a:p>
          <a:p>
            <a:pPr marL="457200" indent="-457200">
              <a:buFont typeface="Arial"/>
              <a:buChar char="•"/>
            </a:pPr>
            <a:r>
              <a:rPr lang="en-US" dirty="0"/>
              <a:t>If you </a:t>
            </a:r>
            <a:r>
              <a:rPr lang="en-US" b="1" dirty="0">
                <a:solidFill>
                  <a:srgbClr val="44681C"/>
                </a:solidFill>
              </a:rPr>
              <a:t>reject</a:t>
            </a:r>
            <a:r>
              <a:rPr lang="en-US" dirty="0"/>
              <a:t>, you are concluding that </a:t>
            </a:r>
            <a:r>
              <a:rPr lang="en-US" dirty="0" err="1"/>
              <a:t>Xk</a:t>
            </a:r>
            <a:r>
              <a:rPr lang="en-US" dirty="0"/>
              <a:t> does provide additional explanatory value given the other variables are already included.</a:t>
            </a:r>
            <a:endParaRPr lang="en-HK" dirty="0"/>
          </a:p>
          <a:p>
            <a:pPr marL="0" indent="0">
              <a:buNone/>
            </a:pPr>
            <a:endParaRPr lang="en-HK" dirty="0"/>
          </a:p>
          <a:p>
            <a:pPr marL="457200" indent="-457200">
              <a:buFont typeface="Arial"/>
              <a:buChar char="•"/>
            </a:pPr>
            <a:r>
              <a:rPr lang="en-US" dirty="0"/>
              <a:t>If you </a:t>
            </a:r>
            <a:r>
              <a:rPr lang="en-US" b="1" dirty="0">
                <a:solidFill>
                  <a:srgbClr val="44681C"/>
                </a:solidFill>
              </a:rPr>
              <a:t>fail to reject  </a:t>
            </a:r>
            <a:r>
              <a:rPr lang="en-US" dirty="0"/>
              <a:t>you are concluding that </a:t>
            </a:r>
            <a:r>
              <a:rPr lang="en-US" dirty="0" err="1"/>
              <a:t>Xk</a:t>
            </a:r>
            <a:r>
              <a:rPr lang="en-US" dirty="0"/>
              <a:t> does not provide additional explanatory value given the other variables are included in the model.</a:t>
            </a:r>
          </a:p>
          <a:p>
            <a:pPr marL="457200" indent="-457200">
              <a:buFont typeface="Arial"/>
              <a:buChar char="•"/>
            </a:pPr>
            <a:endParaRPr lang="en-US" dirty="0"/>
          </a:p>
          <a:p>
            <a:pPr marL="457200" indent="-457200">
              <a:buFont typeface="Arial"/>
              <a:buChar char="•"/>
            </a:pPr>
            <a:r>
              <a:rPr lang="en-US" dirty="0"/>
              <a:t>If the p-value is smaller than the level of significance</a:t>
            </a:r>
            <a:r>
              <a:rPr lang="en-US" altLang="zh-CN" dirty="0"/>
              <a:t>,</a:t>
            </a:r>
            <a:r>
              <a:rPr lang="en-US" dirty="0"/>
              <a:t> reject</a:t>
            </a:r>
            <a:r>
              <a:rPr lang="zh-CN" altLang="en-US" dirty="0"/>
              <a:t> </a:t>
            </a:r>
            <a:r>
              <a:rPr lang="en-US" altLang="zh-CN" dirty="0"/>
              <a:t>H</a:t>
            </a:r>
            <a:r>
              <a:rPr lang="en-US" altLang="zh-CN" baseline="-25000" dirty="0"/>
              <a:t>0</a:t>
            </a:r>
            <a:r>
              <a:rPr lang="en-US" dirty="0"/>
              <a:t> , otherwise fail to reject H</a:t>
            </a:r>
            <a:r>
              <a:rPr lang="en-US" altLang="zh-CN" baseline="-25000" dirty="0"/>
              <a:t>0</a:t>
            </a:r>
            <a:r>
              <a:rPr lang="zh-CN" altLang="en-US" baseline="-25000" dirty="0"/>
              <a:t> </a:t>
            </a:r>
            <a:r>
              <a:rPr lang="en-US" dirty="0"/>
              <a:t>.</a:t>
            </a:r>
          </a:p>
        </p:txBody>
      </p:sp>
    </p:spTree>
    <p:extLst>
      <p:ext uri="{BB962C8B-B14F-4D97-AF65-F5344CB8AC3E}">
        <p14:creationId xmlns:p14="http://schemas.microsoft.com/office/powerpoint/2010/main" val="3870734994"/>
      </p:ext>
    </p:extLst>
  </p:cSld>
  <p:clrMapOvr>
    <a:masterClrMapping/>
  </p:clrMapOvr>
  <p:transition spd="slow">
    <p:wipe dir="d"/>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solidFill>
                  <a:schemeClr val="tx1">
                    <a:lumMod val="50000"/>
                  </a:schemeClr>
                </a:solidFill>
              </a:rPr>
              <a:t>Example: What determine an NBA player’s salary?</a:t>
            </a:r>
            <a:endParaRPr lang="en-US" dirty="0"/>
          </a:p>
        </p:txBody>
      </p:sp>
      <p:sp>
        <p:nvSpPr>
          <p:cNvPr id="3" name="Content Placeholder 2"/>
          <p:cNvSpPr>
            <a:spLocks noGrp="1"/>
          </p:cNvSpPr>
          <p:nvPr>
            <p:ph idx="1"/>
          </p:nvPr>
        </p:nvSpPr>
        <p:spPr/>
        <p:txBody>
          <a:bodyPr/>
          <a:lstStyle/>
          <a:p>
            <a:r>
              <a:rPr lang="en-US" dirty="0"/>
              <a:t>Obtain and interpret the 95% confidence intervals for the regression coefficients.</a:t>
            </a:r>
          </a:p>
          <a:p>
            <a:endParaRPr lang="en-US" dirty="0"/>
          </a:p>
          <a:p>
            <a:endParaRPr lang="en-US" dirty="0"/>
          </a:p>
        </p:txBody>
      </p:sp>
      <p:pic>
        <p:nvPicPr>
          <p:cNvPr id="4" name="Picture 3"/>
          <p:cNvPicPr>
            <a:picLocks noChangeAspect="1"/>
          </p:cNvPicPr>
          <p:nvPr/>
        </p:nvPicPr>
        <p:blipFill>
          <a:blip r:embed="rId2"/>
          <a:stretch>
            <a:fillRect/>
          </a:stretch>
        </p:blipFill>
        <p:spPr>
          <a:xfrm>
            <a:off x="1981200" y="2819400"/>
            <a:ext cx="5396189" cy="2176463"/>
          </a:xfrm>
          <a:prstGeom prst="rect">
            <a:avLst/>
          </a:prstGeom>
        </p:spPr>
      </p:pic>
    </p:spTree>
    <p:extLst>
      <p:ext uri="{BB962C8B-B14F-4D97-AF65-F5344CB8AC3E}">
        <p14:creationId xmlns:p14="http://schemas.microsoft.com/office/powerpoint/2010/main" val="3049419591"/>
      </p:ext>
    </p:extLst>
  </p:cSld>
  <p:clrMapOvr>
    <a:masterClrMapping/>
  </p:clrMapOvr>
  <p:transition spd="slow">
    <p:wipe dir="d"/>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761999" y="457200"/>
            <a:ext cx="8077200" cy="4297363"/>
          </a:xfrm>
        </p:spPr>
        <p:txBody>
          <a:bodyPr/>
          <a:lstStyle/>
          <a:p>
            <a:r>
              <a:rPr lang="en-US" dirty="0"/>
              <a:t>Test whether the regression coefficients are significantly different from zero. Interpret your results.</a:t>
            </a:r>
          </a:p>
        </p:txBody>
      </p:sp>
      <p:pic>
        <p:nvPicPr>
          <p:cNvPr id="4" name="Picture 3"/>
          <p:cNvPicPr>
            <a:picLocks noChangeAspect="1"/>
          </p:cNvPicPr>
          <p:nvPr/>
        </p:nvPicPr>
        <p:blipFill>
          <a:blip r:embed="rId2"/>
          <a:stretch>
            <a:fillRect/>
          </a:stretch>
        </p:blipFill>
        <p:spPr>
          <a:xfrm>
            <a:off x="1841943" y="1828800"/>
            <a:ext cx="5917311" cy="3543300"/>
          </a:xfrm>
          <a:prstGeom prst="rect">
            <a:avLst/>
          </a:prstGeom>
        </p:spPr>
      </p:pic>
    </p:spTree>
    <p:extLst>
      <p:ext uri="{BB962C8B-B14F-4D97-AF65-F5344CB8AC3E}">
        <p14:creationId xmlns:p14="http://schemas.microsoft.com/office/powerpoint/2010/main" val="2219306760"/>
      </p:ext>
    </p:extLst>
  </p:cSld>
  <p:clrMapOvr>
    <a:masterClrMapping/>
  </p:clrMapOvr>
  <p:transition spd="slow">
    <p:wipe dir="d"/>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Confidence and prediction intervals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762000" y="1295401"/>
                <a:ext cx="8077200" cy="5334000"/>
              </a:xfrm>
            </p:spPr>
            <p:txBody>
              <a:bodyPr>
                <a:normAutofit fontScale="92500" lnSpcReduction="10000"/>
              </a:bodyPr>
              <a:lstStyle/>
              <a:p>
                <a:r>
                  <a:rPr lang="en-US" dirty="0"/>
                  <a:t>Consider a new data point taking values </a:t>
                </a:r>
                <a14:m>
                  <m:oMath xmlns:m="http://schemas.openxmlformats.org/officeDocument/2006/math">
                    <m:sSub>
                      <m:sSubPr>
                        <m:ctrlPr>
                          <a:rPr lang="en-US" i="1">
                            <a:solidFill>
                              <a:schemeClr val="accent6">
                                <a:lumMod val="50000"/>
                              </a:schemeClr>
                            </a:solidFill>
                            <a:latin typeface="Cambria Math" panose="02040503050406030204" pitchFamily="18" charset="0"/>
                          </a:rPr>
                        </m:ctrlPr>
                      </m:sSubPr>
                      <m:e>
                        <m:r>
                          <a:rPr lang="en-US" i="1">
                            <a:solidFill>
                              <a:schemeClr val="accent6">
                                <a:lumMod val="50000"/>
                              </a:schemeClr>
                            </a:solidFill>
                            <a:latin typeface="Cambria Math" panose="02040503050406030204" pitchFamily="18" charset="0"/>
                          </a:rPr>
                          <m:t>𝑋</m:t>
                        </m:r>
                        <m:r>
                          <a:rPr lang="en-US" i="1">
                            <a:solidFill>
                              <a:schemeClr val="accent6">
                                <a:lumMod val="50000"/>
                              </a:schemeClr>
                            </a:solidFill>
                            <a:latin typeface="Cambria Math" panose="02040503050406030204" pitchFamily="18" charset="0"/>
                          </a:rPr>
                          <m:t>1</m:t>
                        </m:r>
                      </m:e>
                      <m:sub>
                        <m:r>
                          <a:rPr lang="en-US" i="1">
                            <a:solidFill>
                              <a:schemeClr val="accent6">
                                <a:lumMod val="50000"/>
                              </a:schemeClr>
                            </a:solidFill>
                            <a:latin typeface="Cambria Math" panose="02040503050406030204" pitchFamily="18" charset="0"/>
                          </a:rPr>
                          <m:t>h</m:t>
                        </m:r>
                      </m:sub>
                    </m:sSub>
                    <m:r>
                      <a:rPr lang="en-US" i="1">
                        <a:solidFill>
                          <a:schemeClr val="accent6">
                            <a:lumMod val="50000"/>
                          </a:schemeClr>
                        </a:solidFill>
                        <a:latin typeface="Cambria Math" panose="02040503050406030204" pitchFamily="18" charset="0"/>
                      </a:rPr>
                      <m:t>, </m:t>
                    </m:r>
                    <m:r>
                      <a:rPr lang="en-US" i="1">
                        <a:solidFill>
                          <a:schemeClr val="accent6">
                            <a:lumMod val="50000"/>
                          </a:schemeClr>
                        </a:solidFill>
                        <a:latin typeface="Cambria Math" panose="02040503050406030204" pitchFamily="18" charset="0"/>
                      </a:rPr>
                      <m:t>𝑋</m:t>
                    </m:r>
                    <m:sSub>
                      <m:sSubPr>
                        <m:ctrlPr>
                          <a:rPr lang="en-US" i="1">
                            <a:solidFill>
                              <a:schemeClr val="accent6">
                                <a:lumMod val="50000"/>
                              </a:schemeClr>
                            </a:solidFill>
                            <a:latin typeface="Cambria Math" panose="02040503050406030204" pitchFamily="18" charset="0"/>
                          </a:rPr>
                        </m:ctrlPr>
                      </m:sSubPr>
                      <m:e>
                        <m:r>
                          <a:rPr lang="en-US" i="1">
                            <a:solidFill>
                              <a:schemeClr val="accent6">
                                <a:lumMod val="50000"/>
                              </a:schemeClr>
                            </a:solidFill>
                            <a:latin typeface="Cambria Math" panose="02040503050406030204" pitchFamily="18" charset="0"/>
                          </a:rPr>
                          <m:t>2</m:t>
                        </m:r>
                      </m:e>
                      <m:sub>
                        <m:r>
                          <a:rPr lang="en-US" i="1">
                            <a:solidFill>
                              <a:schemeClr val="accent6">
                                <a:lumMod val="50000"/>
                              </a:schemeClr>
                            </a:solidFill>
                            <a:latin typeface="Cambria Math" panose="02040503050406030204" pitchFamily="18" charset="0"/>
                          </a:rPr>
                          <m:t>h</m:t>
                        </m:r>
                      </m:sub>
                    </m:sSub>
                    <m:r>
                      <a:rPr lang="en-US" i="1">
                        <a:solidFill>
                          <a:schemeClr val="accent6">
                            <a:lumMod val="50000"/>
                          </a:schemeClr>
                        </a:solidFill>
                        <a:latin typeface="Cambria Math" panose="02040503050406030204" pitchFamily="18" charset="0"/>
                      </a:rPr>
                      <m:t>, ⋯,</m:t>
                    </m:r>
                    <m:r>
                      <a:rPr lang="en-US" i="1">
                        <a:solidFill>
                          <a:schemeClr val="accent6">
                            <a:lumMod val="50000"/>
                          </a:schemeClr>
                        </a:solidFill>
                        <a:latin typeface="Cambria Math" panose="02040503050406030204" pitchFamily="18" charset="0"/>
                      </a:rPr>
                      <m:t>𝑋</m:t>
                    </m:r>
                    <m:sSub>
                      <m:sSubPr>
                        <m:ctrlPr>
                          <a:rPr lang="en-US" i="1">
                            <a:solidFill>
                              <a:schemeClr val="accent6">
                                <a:lumMod val="50000"/>
                              </a:schemeClr>
                            </a:solidFill>
                            <a:latin typeface="Cambria Math" panose="02040503050406030204" pitchFamily="18" charset="0"/>
                          </a:rPr>
                        </m:ctrlPr>
                      </m:sSubPr>
                      <m:e>
                        <m:d>
                          <m:dPr>
                            <m:ctrlPr>
                              <a:rPr lang="en-US" i="1">
                                <a:solidFill>
                                  <a:schemeClr val="accent6">
                                    <a:lumMod val="50000"/>
                                  </a:schemeClr>
                                </a:solidFill>
                                <a:latin typeface="Cambria Math" panose="02040503050406030204" pitchFamily="18" charset="0"/>
                              </a:rPr>
                            </m:ctrlPr>
                          </m:dPr>
                          <m:e>
                            <m:r>
                              <a:rPr lang="en-US" i="1">
                                <a:solidFill>
                                  <a:schemeClr val="accent6">
                                    <a:lumMod val="50000"/>
                                  </a:schemeClr>
                                </a:solidFill>
                                <a:latin typeface="Cambria Math" panose="02040503050406030204" pitchFamily="18" charset="0"/>
                              </a:rPr>
                              <m:t>𝑝</m:t>
                            </m:r>
                            <m:r>
                              <a:rPr lang="en-US" i="1">
                                <a:solidFill>
                                  <a:schemeClr val="accent6">
                                    <a:lumMod val="50000"/>
                                  </a:schemeClr>
                                </a:solidFill>
                                <a:latin typeface="Cambria Math" panose="02040503050406030204" pitchFamily="18" charset="0"/>
                              </a:rPr>
                              <m:t>−1</m:t>
                            </m:r>
                          </m:e>
                        </m:d>
                      </m:e>
                      <m:sub>
                        <m:r>
                          <a:rPr lang="en-US" i="1">
                            <a:solidFill>
                              <a:schemeClr val="accent6">
                                <a:lumMod val="50000"/>
                              </a:schemeClr>
                            </a:solidFill>
                            <a:latin typeface="Cambria Math" panose="02040503050406030204" pitchFamily="18" charset="0"/>
                          </a:rPr>
                          <m:t>h</m:t>
                        </m:r>
                      </m:sub>
                    </m:sSub>
                    <m:r>
                      <a:rPr lang="en-US" i="1">
                        <a:solidFill>
                          <a:schemeClr val="accent6">
                            <a:lumMod val="50000"/>
                          </a:schemeClr>
                        </a:solidFill>
                        <a:latin typeface="Cambria Math" panose="02040503050406030204" pitchFamily="18" charset="0"/>
                      </a:rPr>
                      <m:t> </m:t>
                    </m:r>
                  </m:oMath>
                </a14:m>
                <a:r>
                  <a:rPr lang="en-US" dirty="0"/>
                  <a:t>, the fitted value for this new data point is given by</a:t>
                </a:r>
              </a:p>
              <a:p>
                <a:pPr marL="0" indent="0">
                  <a:buNone/>
                </a:pPr>
                <a14:m>
                  <m:oMathPara xmlns:m="http://schemas.openxmlformats.org/officeDocument/2006/math">
                    <m:oMathParaPr>
                      <m:jc m:val="centerGroup"/>
                    </m:oMathParaPr>
                    <m:oMath xmlns:m="http://schemas.openxmlformats.org/officeDocument/2006/math">
                      <m:sSub>
                        <m:sSubPr>
                          <m:ctrlPr>
                            <a:rPr lang="en-US" b="0" i="1" smtClean="0">
                              <a:solidFill>
                                <a:schemeClr val="accent6">
                                  <a:lumMod val="50000"/>
                                </a:schemeClr>
                              </a:solidFill>
                              <a:latin typeface="Cambria Math" panose="02040503050406030204" pitchFamily="18" charset="0"/>
                            </a:rPr>
                          </m:ctrlPr>
                        </m:sSubPr>
                        <m:e>
                          <m:acc>
                            <m:accPr>
                              <m:chr m:val="̂"/>
                              <m:ctrlPr>
                                <a:rPr lang="en-US" i="1" smtClean="0">
                                  <a:solidFill>
                                    <a:schemeClr val="accent6">
                                      <a:lumMod val="50000"/>
                                    </a:schemeClr>
                                  </a:solidFill>
                                  <a:latin typeface="Cambria Math" panose="02040503050406030204" pitchFamily="18" charset="0"/>
                                </a:rPr>
                              </m:ctrlPr>
                            </m:accPr>
                            <m:e>
                              <m:r>
                                <a:rPr lang="en-US" i="1">
                                  <a:solidFill>
                                    <a:schemeClr val="accent6">
                                      <a:lumMod val="50000"/>
                                    </a:schemeClr>
                                  </a:solidFill>
                                  <a:latin typeface="Cambria Math" panose="02040503050406030204" pitchFamily="18" charset="0"/>
                                </a:rPr>
                                <m:t>𝑌</m:t>
                              </m:r>
                            </m:e>
                          </m:acc>
                        </m:e>
                        <m:sub>
                          <m:r>
                            <a:rPr lang="en-US" b="0" i="1" smtClean="0">
                              <a:solidFill>
                                <a:schemeClr val="accent6">
                                  <a:lumMod val="50000"/>
                                </a:schemeClr>
                              </a:solidFill>
                              <a:latin typeface="Cambria Math" panose="02040503050406030204" pitchFamily="18" charset="0"/>
                            </a:rPr>
                            <m:t>h</m:t>
                          </m:r>
                        </m:sub>
                      </m:sSub>
                      <m:r>
                        <a:rPr lang="en-US">
                          <a:solidFill>
                            <a:schemeClr val="accent6">
                              <a:lumMod val="50000"/>
                            </a:schemeClr>
                          </a:solidFill>
                          <a:latin typeface="Cambria Math" panose="02040503050406030204" pitchFamily="18" charset="0"/>
                        </a:rPr>
                        <m:t>=</m:t>
                      </m:r>
                      <m:sSub>
                        <m:sSubPr>
                          <m:ctrlPr>
                            <a:rPr lang="en-US" i="1">
                              <a:solidFill>
                                <a:schemeClr val="accent6">
                                  <a:lumMod val="50000"/>
                                </a:schemeClr>
                              </a:solidFill>
                              <a:latin typeface="Cambria Math" panose="02040503050406030204" pitchFamily="18" charset="0"/>
                            </a:rPr>
                          </m:ctrlPr>
                        </m:sSubPr>
                        <m:e>
                          <m:r>
                            <a:rPr lang="en-US" i="1">
                              <a:solidFill>
                                <a:schemeClr val="accent6">
                                  <a:lumMod val="50000"/>
                                </a:schemeClr>
                              </a:solidFill>
                              <a:latin typeface="Cambria Math" panose="02040503050406030204" pitchFamily="18" charset="0"/>
                            </a:rPr>
                            <m:t>𝑏</m:t>
                          </m:r>
                        </m:e>
                        <m:sub>
                          <m:r>
                            <a:rPr lang="en-US" i="1">
                              <a:solidFill>
                                <a:schemeClr val="accent6">
                                  <a:lumMod val="50000"/>
                                </a:schemeClr>
                              </a:solidFill>
                              <a:latin typeface="Cambria Math" panose="02040503050406030204" pitchFamily="18" charset="0"/>
                            </a:rPr>
                            <m:t>0</m:t>
                          </m:r>
                        </m:sub>
                      </m:sSub>
                      <m:r>
                        <a:rPr lang="en-US" i="1">
                          <a:solidFill>
                            <a:schemeClr val="accent6">
                              <a:lumMod val="50000"/>
                            </a:schemeClr>
                          </a:solidFill>
                          <a:latin typeface="Cambria Math" panose="02040503050406030204" pitchFamily="18" charset="0"/>
                        </a:rPr>
                        <m:t>+</m:t>
                      </m:r>
                      <m:sSub>
                        <m:sSubPr>
                          <m:ctrlPr>
                            <a:rPr lang="en-US" i="1">
                              <a:solidFill>
                                <a:schemeClr val="accent6">
                                  <a:lumMod val="50000"/>
                                </a:schemeClr>
                              </a:solidFill>
                              <a:latin typeface="Cambria Math" panose="02040503050406030204" pitchFamily="18" charset="0"/>
                            </a:rPr>
                          </m:ctrlPr>
                        </m:sSubPr>
                        <m:e>
                          <m:r>
                            <a:rPr lang="en-US" i="1">
                              <a:solidFill>
                                <a:schemeClr val="accent6">
                                  <a:lumMod val="50000"/>
                                </a:schemeClr>
                              </a:solidFill>
                              <a:latin typeface="Cambria Math" panose="02040503050406030204" pitchFamily="18" charset="0"/>
                            </a:rPr>
                            <m:t>𝑏</m:t>
                          </m:r>
                        </m:e>
                        <m:sub>
                          <m:r>
                            <a:rPr lang="en-US" i="1">
                              <a:solidFill>
                                <a:schemeClr val="accent6">
                                  <a:lumMod val="50000"/>
                                </a:schemeClr>
                              </a:solidFill>
                              <a:latin typeface="Cambria Math" panose="02040503050406030204" pitchFamily="18" charset="0"/>
                            </a:rPr>
                            <m:t>1</m:t>
                          </m:r>
                        </m:sub>
                      </m:sSub>
                      <m:r>
                        <a:rPr lang="en-US" i="1">
                          <a:solidFill>
                            <a:schemeClr val="accent6">
                              <a:lumMod val="50000"/>
                            </a:schemeClr>
                          </a:solidFill>
                          <a:latin typeface="Cambria Math" panose="02040503050406030204" pitchFamily="18" charset="0"/>
                        </a:rPr>
                        <m:t>𝑋</m:t>
                      </m:r>
                      <m:sSub>
                        <m:sSubPr>
                          <m:ctrlPr>
                            <a:rPr lang="en-US" b="0" i="1" smtClean="0">
                              <a:solidFill>
                                <a:schemeClr val="accent6">
                                  <a:lumMod val="50000"/>
                                </a:schemeClr>
                              </a:solidFill>
                              <a:latin typeface="Cambria Math" panose="02040503050406030204" pitchFamily="18" charset="0"/>
                            </a:rPr>
                          </m:ctrlPr>
                        </m:sSubPr>
                        <m:e>
                          <m:r>
                            <a:rPr lang="en-US" i="1">
                              <a:solidFill>
                                <a:schemeClr val="accent6">
                                  <a:lumMod val="50000"/>
                                </a:schemeClr>
                              </a:solidFill>
                              <a:latin typeface="Cambria Math" panose="02040503050406030204" pitchFamily="18" charset="0"/>
                            </a:rPr>
                            <m:t>1</m:t>
                          </m:r>
                        </m:e>
                        <m:sub>
                          <m:r>
                            <a:rPr lang="en-US" b="0" i="1" smtClean="0">
                              <a:solidFill>
                                <a:schemeClr val="accent6">
                                  <a:lumMod val="50000"/>
                                </a:schemeClr>
                              </a:solidFill>
                              <a:latin typeface="Cambria Math" panose="02040503050406030204" pitchFamily="18" charset="0"/>
                            </a:rPr>
                            <m:t>h</m:t>
                          </m:r>
                        </m:sub>
                      </m:sSub>
                      <m:r>
                        <a:rPr lang="en-US" i="1">
                          <a:solidFill>
                            <a:schemeClr val="accent6">
                              <a:lumMod val="50000"/>
                            </a:schemeClr>
                          </a:solidFill>
                          <a:latin typeface="Cambria Math" panose="02040503050406030204" pitchFamily="18" charset="0"/>
                        </a:rPr>
                        <m:t>+⋯+</m:t>
                      </m:r>
                      <m:sSub>
                        <m:sSubPr>
                          <m:ctrlPr>
                            <a:rPr lang="en-US" i="1">
                              <a:solidFill>
                                <a:schemeClr val="accent6">
                                  <a:lumMod val="50000"/>
                                </a:schemeClr>
                              </a:solidFill>
                              <a:latin typeface="Cambria Math" panose="02040503050406030204" pitchFamily="18" charset="0"/>
                            </a:rPr>
                          </m:ctrlPr>
                        </m:sSubPr>
                        <m:e>
                          <m:r>
                            <a:rPr lang="en-US" i="1">
                              <a:solidFill>
                                <a:schemeClr val="accent6">
                                  <a:lumMod val="50000"/>
                                </a:schemeClr>
                              </a:solidFill>
                              <a:latin typeface="Cambria Math" panose="02040503050406030204" pitchFamily="18" charset="0"/>
                            </a:rPr>
                            <m:t>𝑏</m:t>
                          </m:r>
                        </m:e>
                        <m:sub>
                          <m:r>
                            <a:rPr lang="en-US" b="0" i="1" smtClean="0">
                              <a:solidFill>
                                <a:schemeClr val="accent6">
                                  <a:lumMod val="50000"/>
                                </a:schemeClr>
                              </a:solidFill>
                              <a:latin typeface="Cambria Math" panose="02040503050406030204" pitchFamily="18" charset="0"/>
                            </a:rPr>
                            <m:t>𝑝</m:t>
                          </m:r>
                          <m:r>
                            <a:rPr lang="en-US" b="0" i="1" smtClean="0">
                              <a:solidFill>
                                <a:schemeClr val="accent6">
                                  <a:lumMod val="50000"/>
                                </a:schemeClr>
                              </a:solidFill>
                              <a:latin typeface="Cambria Math" panose="02040503050406030204" pitchFamily="18" charset="0"/>
                            </a:rPr>
                            <m:t>−1</m:t>
                          </m:r>
                        </m:sub>
                      </m:sSub>
                      <m:r>
                        <a:rPr lang="en-US" i="1">
                          <a:solidFill>
                            <a:schemeClr val="accent6">
                              <a:lumMod val="50000"/>
                            </a:schemeClr>
                          </a:solidFill>
                          <a:latin typeface="Cambria Math" panose="02040503050406030204" pitchFamily="18" charset="0"/>
                        </a:rPr>
                        <m:t>𝑋</m:t>
                      </m:r>
                      <m:sSub>
                        <m:sSubPr>
                          <m:ctrlPr>
                            <a:rPr lang="en-US" b="0" i="1" smtClean="0">
                              <a:solidFill>
                                <a:schemeClr val="accent6">
                                  <a:lumMod val="50000"/>
                                </a:schemeClr>
                              </a:solidFill>
                              <a:latin typeface="Cambria Math" panose="02040503050406030204" pitchFamily="18" charset="0"/>
                            </a:rPr>
                          </m:ctrlPr>
                        </m:sSubPr>
                        <m:e>
                          <m:d>
                            <m:dPr>
                              <m:ctrlPr>
                                <a:rPr lang="en-US" b="0" i="1" smtClean="0">
                                  <a:solidFill>
                                    <a:schemeClr val="accent6">
                                      <a:lumMod val="50000"/>
                                    </a:schemeClr>
                                  </a:solidFill>
                                  <a:latin typeface="Cambria Math" panose="02040503050406030204" pitchFamily="18" charset="0"/>
                                </a:rPr>
                              </m:ctrlPr>
                            </m:dPr>
                            <m:e>
                              <m:r>
                                <a:rPr lang="en-US" b="0" i="1" smtClean="0">
                                  <a:solidFill>
                                    <a:schemeClr val="accent6">
                                      <a:lumMod val="50000"/>
                                    </a:schemeClr>
                                  </a:solidFill>
                                  <a:latin typeface="Cambria Math" panose="02040503050406030204" pitchFamily="18" charset="0"/>
                                </a:rPr>
                                <m:t>𝑝</m:t>
                              </m:r>
                              <m:r>
                                <a:rPr lang="en-US" b="0" i="1" smtClean="0">
                                  <a:solidFill>
                                    <a:schemeClr val="accent6">
                                      <a:lumMod val="50000"/>
                                    </a:schemeClr>
                                  </a:solidFill>
                                  <a:latin typeface="Cambria Math" panose="02040503050406030204" pitchFamily="18" charset="0"/>
                                </a:rPr>
                                <m:t>−1</m:t>
                              </m:r>
                            </m:e>
                          </m:d>
                        </m:e>
                        <m:sub>
                          <m:r>
                            <a:rPr lang="en-US" b="0" i="1" smtClean="0">
                              <a:solidFill>
                                <a:schemeClr val="accent6">
                                  <a:lumMod val="50000"/>
                                </a:schemeClr>
                              </a:solidFill>
                              <a:latin typeface="Cambria Math" panose="02040503050406030204" pitchFamily="18" charset="0"/>
                            </a:rPr>
                            <m:t>h</m:t>
                          </m:r>
                        </m:sub>
                      </m:sSub>
                    </m:oMath>
                  </m:oMathPara>
                </a14:m>
                <a:endParaRPr lang="en-US" dirty="0"/>
              </a:p>
              <a:p>
                <a:r>
                  <a:rPr lang="en-US" dirty="0"/>
                  <a:t>Confidence interval for the mean response:</a:t>
                </a:r>
              </a:p>
              <a:p>
                <a:pPr marL="0" indent="0">
                  <a:buNone/>
                </a:pPr>
                <a14:m>
                  <m:oMathPara xmlns:m="http://schemas.openxmlformats.org/officeDocument/2006/math">
                    <m:oMathParaPr>
                      <m:jc m:val="centerGroup"/>
                    </m:oMathParaPr>
                    <m:oMath xmlns:m="http://schemas.openxmlformats.org/officeDocument/2006/math">
                      <m:sSub>
                        <m:sSubPr>
                          <m:ctrlPr>
                            <a:rPr lang="en-US" i="1">
                              <a:solidFill>
                                <a:schemeClr val="accent6">
                                  <a:lumMod val="50000"/>
                                </a:schemeClr>
                              </a:solidFill>
                              <a:latin typeface="Cambria Math" panose="02040503050406030204" pitchFamily="18" charset="0"/>
                            </a:rPr>
                          </m:ctrlPr>
                        </m:sSubPr>
                        <m:e>
                          <m:acc>
                            <m:accPr>
                              <m:chr m:val="̂"/>
                              <m:ctrlPr>
                                <a:rPr lang="en-US" b="0" i="1" smtClean="0">
                                  <a:solidFill>
                                    <a:schemeClr val="accent6">
                                      <a:lumMod val="50000"/>
                                    </a:schemeClr>
                                  </a:solidFill>
                                  <a:latin typeface="Cambria Math" panose="02040503050406030204" pitchFamily="18" charset="0"/>
                                </a:rPr>
                              </m:ctrlPr>
                            </m:accPr>
                            <m:e>
                              <m:r>
                                <a:rPr lang="en-US" b="0" i="1" smtClean="0">
                                  <a:solidFill>
                                    <a:schemeClr val="accent6">
                                      <a:lumMod val="50000"/>
                                    </a:schemeClr>
                                  </a:solidFill>
                                  <a:latin typeface="Cambria Math" panose="02040503050406030204" pitchFamily="18" charset="0"/>
                                </a:rPr>
                                <m:t>𝑌</m:t>
                              </m:r>
                            </m:e>
                          </m:acc>
                        </m:e>
                        <m:sub>
                          <m:r>
                            <a:rPr lang="en-US" b="0" i="1" smtClean="0">
                              <a:solidFill>
                                <a:schemeClr val="accent6">
                                  <a:lumMod val="50000"/>
                                </a:schemeClr>
                              </a:solidFill>
                              <a:latin typeface="Cambria Math" panose="02040503050406030204" pitchFamily="18" charset="0"/>
                            </a:rPr>
                            <m:t>h</m:t>
                          </m:r>
                        </m:sub>
                      </m:sSub>
                      <m:r>
                        <a:rPr lang="en-US" i="1">
                          <a:solidFill>
                            <a:schemeClr val="accent6">
                              <a:lumMod val="50000"/>
                            </a:schemeClr>
                          </a:solidFill>
                          <a:latin typeface="Cambria Math" panose="02040503050406030204" pitchFamily="18" charset="0"/>
                        </a:rPr>
                        <m:t>±</m:t>
                      </m:r>
                      <m:sSub>
                        <m:sSubPr>
                          <m:ctrlPr>
                            <a:rPr lang="en-US" i="1">
                              <a:solidFill>
                                <a:schemeClr val="accent6">
                                  <a:lumMod val="50000"/>
                                </a:schemeClr>
                              </a:solidFill>
                              <a:latin typeface="Cambria Math" panose="02040503050406030204" pitchFamily="18" charset="0"/>
                            </a:rPr>
                          </m:ctrlPr>
                        </m:sSubPr>
                        <m:e>
                          <m:r>
                            <a:rPr lang="en-US" i="1">
                              <a:solidFill>
                                <a:schemeClr val="accent6">
                                  <a:lumMod val="50000"/>
                                </a:schemeClr>
                              </a:solidFill>
                              <a:latin typeface="Cambria Math" panose="02040503050406030204" pitchFamily="18" charset="0"/>
                            </a:rPr>
                            <m:t>𝑡</m:t>
                          </m:r>
                        </m:e>
                        <m:sub>
                          <m:r>
                            <a:rPr lang="en-US" i="1">
                              <a:solidFill>
                                <a:schemeClr val="accent6">
                                  <a:lumMod val="50000"/>
                                </a:schemeClr>
                              </a:solidFill>
                              <a:latin typeface="Cambria Math" panose="02040503050406030204" pitchFamily="18" charset="0"/>
                            </a:rPr>
                            <m:t>𝛼</m:t>
                          </m:r>
                          <m:r>
                            <a:rPr lang="en-US" i="1">
                              <a:solidFill>
                                <a:schemeClr val="accent6">
                                  <a:lumMod val="50000"/>
                                </a:schemeClr>
                              </a:solidFill>
                              <a:latin typeface="Cambria Math" panose="02040503050406030204" pitchFamily="18" charset="0"/>
                            </a:rPr>
                            <m:t>/2,</m:t>
                          </m:r>
                          <m:r>
                            <a:rPr lang="en-US" i="1">
                              <a:solidFill>
                                <a:schemeClr val="accent6">
                                  <a:lumMod val="50000"/>
                                </a:schemeClr>
                              </a:solidFill>
                              <a:latin typeface="Cambria Math" panose="02040503050406030204" pitchFamily="18" charset="0"/>
                            </a:rPr>
                            <m:t>𝑛</m:t>
                          </m:r>
                          <m:r>
                            <a:rPr lang="en-US" i="1">
                              <a:solidFill>
                                <a:schemeClr val="accent6">
                                  <a:lumMod val="50000"/>
                                </a:schemeClr>
                              </a:solidFill>
                              <a:latin typeface="Cambria Math" panose="02040503050406030204" pitchFamily="18" charset="0"/>
                            </a:rPr>
                            <m:t>−</m:t>
                          </m:r>
                          <m:r>
                            <a:rPr lang="en-US" i="1">
                              <a:solidFill>
                                <a:schemeClr val="accent6">
                                  <a:lumMod val="50000"/>
                                </a:schemeClr>
                              </a:solidFill>
                              <a:latin typeface="Cambria Math" panose="02040503050406030204" pitchFamily="18" charset="0"/>
                            </a:rPr>
                            <m:t>𝑝</m:t>
                          </m:r>
                        </m:sub>
                      </m:sSub>
                      <m:r>
                        <a:rPr lang="en-US" i="1">
                          <a:solidFill>
                            <a:schemeClr val="accent6">
                              <a:lumMod val="50000"/>
                            </a:schemeClr>
                          </a:solidFill>
                          <a:latin typeface="Cambria Math" panose="02040503050406030204" pitchFamily="18" charset="0"/>
                        </a:rPr>
                        <m:t> </m:t>
                      </m:r>
                      <m:r>
                        <a:rPr lang="en-US" i="1">
                          <a:solidFill>
                            <a:schemeClr val="accent6">
                              <a:lumMod val="50000"/>
                            </a:schemeClr>
                          </a:solidFill>
                          <a:latin typeface="Cambria Math" panose="02040503050406030204" pitchFamily="18" charset="0"/>
                        </a:rPr>
                        <m:t>𝑠</m:t>
                      </m:r>
                      <m:r>
                        <a:rPr lang="en-US" i="1">
                          <a:solidFill>
                            <a:schemeClr val="accent6">
                              <a:lumMod val="50000"/>
                            </a:schemeClr>
                          </a:solidFill>
                          <a:latin typeface="Cambria Math" panose="02040503050406030204" pitchFamily="18" charset="0"/>
                        </a:rPr>
                        <m:t>(</m:t>
                      </m:r>
                      <m:sSub>
                        <m:sSubPr>
                          <m:ctrlPr>
                            <a:rPr lang="en-US" i="1">
                              <a:solidFill>
                                <a:schemeClr val="accent6">
                                  <a:lumMod val="50000"/>
                                </a:schemeClr>
                              </a:solidFill>
                              <a:latin typeface="Cambria Math" panose="02040503050406030204" pitchFamily="18" charset="0"/>
                            </a:rPr>
                          </m:ctrlPr>
                        </m:sSubPr>
                        <m:e>
                          <m:acc>
                            <m:accPr>
                              <m:chr m:val="̂"/>
                              <m:ctrlPr>
                                <a:rPr lang="en-US" i="1">
                                  <a:solidFill>
                                    <a:schemeClr val="accent6">
                                      <a:lumMod val="50000"/>
                                    </a:schemeClr>
                                  </a:solidFill>
                                  <a:latin typeface="Cambria Math" panose="02040503050406030204" pitchFamily="18" charset="0"/>
                                </a:rPr>
                              </m:ctrlPr>
                            </m:accPr>
                            <m:e>
                              <m:r>
                                <a:rPr lang="en-US" i="1">
                                  <a:solidFill>
                                    <a:schemeClr val="accent6">
                                      <a:lumMod val="50000"/>
                                    </a:schemeClr>
                                  </a:solidFill>
                                  <a:latin typeface="Cambria Math" panose="02040503050406030204" pitchFamily="18" charset="0"/>
                                </a:rPr>
                                <m:t>𝑌</m:t>
                              </m:r>
                            </m:e>
                          </m:acc>
                        </m:e>
                        <m:sub>
                          <m:r>
                            <a:rPr lang="en-US" i="1">
                              <a:solidFill>
                                <a:schemeClr val="accent6">
                                  <a:lumMod val="50000"/>
                                </a:schemeClr>
                              </a:solidFill>
                              <a:latin typeface="Cambria Math" panose="02040503050406030204" pitchFamily="18" charset="0"/>
                            </a:rPr>
                            <m:t>h</m:t>
                          </m:r>
                        </m:sub>
                      </m:sSub>
                      <m:r>
                        <a:rPr lang="en-US" i="1">
                          <a:solidFill>
                            <a:schemeClr val="accent6">
                              <a:lumMod val="50000"/>
                            </a:schemeClr>
                          </a:solidFill>
                          <a:latin typeface="Cambria Math" panose="02040503050406030204" pitchFamily="18" charset="0"/>
                        </a:rPr>
                        <m:t>)</m:t>
                      </m:r>
                    </m:oMath>
                  </m:oMathPara>
                </a14:m>
                <a:endParaRPr lang="en-US" dirty="0"/>
              </a:p>
              <a:p>
                <a:pPr lvl="1"/>
                <a14:m>
                  <m:oMath xmlns:m="http://schemas.openxmlformats.org/officeDocument/2006/math">
                    <m:r>
                      <a:rPr lang="en-US" i="1">
                        <a:solidFill>
                          <a:schemeClr val="accent6">
                            <a:lumMod val="50000"/>
                          </a:schemeClr>
                        </a:solidFill>
                        <a:latin typeface="Cambria Math" panose="02040503050406030204" pitchFamily="18" charset="0"/>
                      </a:rPr>
                      <m:t>𝑠</m:t>
                    </m:r>
                    <m:r>
                      <a:rPr lang="en-US" i="1">
                        <a:solidFill>
                          <a:schemeClr val="accent6">
                            <a:lumMod val="50000"/>
                          </a:schemeClr>
                        </a:solidFill>
                        <a:latin typeface="Cambria Math" panose="02040503050406030204" pitchFamily="18" charset="0"/>
                      </a:rPr>
                      <m:t>(</m:t>
                    </m:r>
                    <m:sSub>
                      <m:sSubPr>
                        <m:ctrlPr>
                          <a:rPr lang="en-US" i="1">
                            <a:solidFill>
                              <a:schemeClr val="accent6">
                                <a:lumMod val="50000"/>
                              </a:schemeClr>
                            </a:solidFill>
                            <a:latin typeface="Cambria Math" panose="02040503050406030204" pitchFamily="18" charset="0"/>
                          </a:rPr>
                        </m:ctrlPr>
                      </m:sSubPr>
                      <m:e>
                        <m:acc>
                          <m:accPr>
                            <m:chr m:val="̂"/>
                            <m:ctrlPr>
                              <a:rPr lang="en-US" i="1">
                                <a:solidFill>
                                  <a:schemeClr val="accent6">
                                    <a:lumMod val="50000"/>
                                  </a:schemeClr>
                                </a:solidFill>
                                <a:latin typeface="Cambria Math" panose="02040503050406030204" pitchFamily="18" charset="0"/>
                              </a:rPr>
                            </m:ctrlPr>
                          </m:accPr>
                          <m:e>
                            <m:r>
                              <a:rPr lang="en-US" i="1">
                                <a:solidFill>
                                  <a:schemeClr val="accent6">
                                    <a:lumMod val="50000"/>
                                  </a:schemeClr>
                                </a:solidFill>
                                <a:latin typeface="Cambria Math" panose="02040503050406030204" pitchFamily="18" charset="0"/>
                              </a:rPr>
                              <m:t>𝑌</m:t>
                            </m:r>
                          </m:e>
                        </m:acc>
                      </m:e>
                      <m:sub>
                        <m:r>
                          <a:rPr lang="en-US" i="1">
                            <a:solidFill>
                              <a:schemeClr val="accent6">
                                <a:lumMod val="50000"/>
                              </a:schemeClr>
                            </a:solidFill>
                            <a:latin typeface="Cambria Math" panose="02040503050406030204" pitchFamily="18" charset="0"/>
                          </a:rPr>
                          <m:t>h</m:t>
                        </m:r>
                      </m:sub>
                    </m:sSub>
                    <m:r>
                      <a:rPr lang="en-US" i="1">
                        <a:solidFill>
                          <a:schemeClr val="accent6">
                            <a:lumMod val="50000"/>
                          </a:schemeClr>
                        </a:solidFill>
                        <a:latin typeface="Cambria Math" panose="02040503050406030204" pitchFamily="18" charset="0"/>
                      </a:rPr>
                      <m:t>)</m:t>
                    </m:r>
                  </m:oMath>
                </a14:m>
                <a:r>
                  <a:rPr lang="en-US" dirty="0"/>
                  <a:t>: standard error estimate of </a:t>
                </a:r>
                <a14:m>
                  <m:oMath xmlns:m="http://schemas.openxmlformats.org/officeDocument/2006/math">
                    <m:sSub>
                      <m:sSubPr>
                        <m:ctrlPr>
                          <a:rPr lang="en-US" i="1">
                            <a:solidFill>
                              <a:schemeClr val="accent6">
                                <a:lumMod val="50000"/>
                              </a:schemeClr>
                            </a:solidFill>
                            <a:latin typeface="Cambria Math" panose="02040503050406030204" pitchFamily="18" charset="0"/>
                          </a:rPr>
                        </m:ctrlPr>
                      </m:sSubPr>
                      <m:e>
                        <m:acc>
                          <m:accPr>
                            <m:chr m:val="̂"/>
                            <m:ctrlPr>
                              <a:rPr lang="en-US" i="1">
                                <a:solidFill>
                                  <a:schemeClr val="accent6">
                                    <a:lumMod val="50000"/>
                                  </a:schemeClr>
                                </a:solidFill>
                                <a:latin typeface="Cambria Math" panose="02040503050406030204" pitchFamily="18" charset="0"/>
                              </a:rPr>
                            </m:ctrlPr>
                          </m:accPr>
                          <m:e>
                            <m:r>
                              <a:rPr lang="en-US" i="1">
                                <a:solidFill>
                                  <a:schemeClr val="accent6">
                                    <a:lumMod val="50000"/>
                                  </a:schemeClr>
                                </a:solidFill>
                                <a:latin typeface="Cambria Math" panose="02040503050406030204" pitchFamily="18" charset="0"/>
                              </a:rPr>
                              <m:t>𝑌</m:t>
                            </m:r>
                          </m:e>
                        </m:acc>
                      </m:e>
                      <m:sub>
                        <m:r>
                          <a:rPr lang="en-US" i="1">
                            <a:solidFill>
                              <a:schemeClr val="accent6">
                                <a:lumMod val="50000"/>
                              </a:schemeClr>
                            </a:solidFill>
                            <a:latin typeface="Cambria Math" panose="02040503050406030204" pitchFamily="18" charset="0"/>
                          </a:rPr>
                          <m:t>h</m:t>
                        </m:r>
                      </m:sub>
                    </m:sSub>
                  </m:oMath>
                </a14:m>
                <a:endParaRPr lang="en-US" dirty="0"/>
              </a:p>
              <a:p>
                <a:r>
                  <a:rPr lang="en-US" dirty="0"/>
                  <a:t>Prediction interval for a new observation:</a:t>
                </a:r>
              </a:p>
              <a:p>
                <a:pPr marL="0" indent="0">
                  <a:buNone/>
                </a:pPr>
                <a14:m>
                  <m:oMathPara xmlns:m="http://schemas.openxmlformats.org/officeDocument/2006/math">
                    <m:oMathParaPr>
                      <m:jc m:val="centerGroup"/>
                    </m:oMathParaPr>
                    <m:oMath xmlns:m="http://schemas.openxmlformats.org/officeDocument/2006/math">
                      <m:sSub>
                        <m:sSubPr>
                          <m:ctrlPr>
                            <a:rPr lang="en-US" i="1">
                              <a:solidFill>
                                <a:schemeClr val="accent6">
                                  <a:lumMod val="50000"/>
                                </a:schemeClr>
                              </a:solidFill>
                              <a:latin typeface="Cambria Math" panose="02040503050406030204" pitchFamily="18" charset="0"/>
                            </a:rPr>
                          </m:ctrlPr>
                        </m:sSubPr>
                        <m:e>
                          <m:acc>
                            <m:accPr>
                              <m:chr m:val="̂"/>
                              <m:ctrlPr>
                                <a:rPr lang="en-US" i="1">
                                  <a:solidFill>
                                    <a:schemeClr val="accent6">
                                      <a:lumMod val="50000"/>
                                    </a:schemeClr>
                                  </a:solidFill>
                                  <a:latin typeface="Cambria Math" panose="02040503050406030204" pitchFamily="18" charset="0"/>
                                </a:rPr>
                              </m:ctrlPr>
                            </m:accPr>
                            <m:e>
                              <m:r>
                                <a:rPr lang="en-US" i="1">
                                  <a:solidFill>
                                    <a:schemeClr val="accent6">
                                      <a:lumMod val="50000"/>
                                    </a:schemeClr>
                                  </a:solidFill>
                                  <a:latin typeface="Cambria Math" panose="02040503050406030204" pitchFamily="18" charset="0"/>
                                </a:rPr>
                                <m:t>𝑌</m:t>
                              </m:r>
                            </m:e>
                          </m:acc>
                        </m:e>
                        <m:sub>
                          <m:r>
                            <a:rPr lang="en-US" i="1">
                              <a:solidFill>
                                <a:schemeClr val="accent6">
                                  <a:lumMod val="50000"/>
                                </a:schemeClr>
                              </a:solidFill>
                              <a:latin typeface="Cambria Math" panose="02040503050406030204" pitchFamily="18" charset="0"/>
                            </a:rPr>
                            <m:t>h</m:t>
                          </m:r>
                        </m:sub>
                      </m:sSub>
                      <m:r>
                        <a:rPr lang="en-US" i="1">
                          <a:solidFill>
                            <a:schemeClr val="accent6">
                              <a:lumMod val="50000"/>
                            </a:schemeClr>
                          </a:solidFill>
                          <a:latin typeface="Cambria Math" panose="02040503050406030204" pitchFamily="18" charset="0"/>
                        </a:rPr>
                        <m:t>±</m:t>
                      </m:r>
                      <m:sSub>
                        <m:sSubPr>
                          <m:ctrlPr>
                            <a:rPr lang="en-US" i="1">
                              <a:solidFill>
                                <a:schemeClr val="accent6">
                                  <a:lumMod val="50000"/>
                                </a:schemeClr>
                              </a:solidFill>
                              <a:latin typeface="Cambria Math" panose="02040503050406030204" pitchFamily="18" charset="0"/>
                            </a:rPr>
                          </m:ctrlPr>
                        </m:sSubPr>
                        <m:e>
                          <m:r>
                            <a:rPr lang="en-US" i="1">
                              <a:solidFill>
                                <a:schemeClr val="accent6">
                                  <a:lumMod val="50000"/>
                                </a:schemeClr>
                              </a:solidFill>
                              <a:latin typeface="Cambria Math" panose="02040503050406030204" pitchFamily="18" charset="0"/>
                            </a:rPr>
                            <m:t>𝑡</m:t>
                          </m:r>
                        </m:e>
                        <m:sub>
                          <m:r>
                            <a:rPr lang="en-US" i="1">
                              <a:solidFill>
                                <a:schemeClr val="accent6">
                                  <a:lumMod val="50000"/>
                                </a:schemeClr>
                              </a:solidFill>
                              <a:latin typeface="Cambria Math" panose="02040503050406030204" pitchFamily="18" charset="0"/>
                            </a:rPr>
                            <m:t>𝛼</m:t>
                          </m:r>
                          <m:r>
                            <a:rPr lang="en-US" i="1">
                              <a:solidFill>
                                <a:schemeClr val="accent6">
                                  <a:lumMod val="50000"/>
                                </a:schemeClr>
                              </a:solidFill>
                              <a:latin typeface="Cambria Math" panose="02040503050406030204" pitchFamily="18" charset="0"/>
                            </a:rPr>
                            <m:t>/2,</m:t>
                          </m:r>
                          <m:r>
                            <a:rPr lang="en-US" i="1">
                              <a:solidFill>
                                <a:schemeClr val="accent6">
                                  <a:lumMod val="50000"/>
                                </a:schemeClr>
                              </a:solidFill>
                              <a:latin typeface="Cambria Math" panose="02040503050406030204" pitchFamily="18" charset="0"/>
                            </a:rPr>
                            <m:t>𝑛</m:t>
                          </m:r>
                          <m:r>
                            <a:rPr lang="en-US" i="1">
                              <a:solidFill>
                                <a:schemeClr val="accent6">
                                  <a:lumMod val="50000"/>
                                </a:schemeClr>
                              </a:solidFill>
                              <a:latin typeface="Cambria Math" panose="02040503050406030204" pitchFamily="18" charset="0"/>
                            </a:rPr>
                            <m:t>−</m:t>
                          </m:r>
                          <m:r>
                            <a:rPr lang="en-US" i="1">
                              <a:solidFill>
                                <a:schemeClr val="accent6">
                                  <a:lumMod val="50000"/>
                                </a:schemeClr>
                              </a:solidFill>
                              <a:latin typeface="Cambria Math" panose="02040503050406030204" pitchFamily="18" charset="0"/>
                            </a:rPr>
                            <m:t>𝑝</m:t>
                          </m:r>
                        </m:sub>
                      </m:sSub>
                      <m:r>
                        <a:rPr lang="en-US" i="1">
                          <a:solidFill>
                            <a:schemeClr val="accent6">
                              <a:lumMod val="50000"/>
                            </a:schemeClr>
                          </a:solidFill>
                          <a:latin typeface="Cambria Math" panose="02040503050406030204" pitchFamily="18" charset="0"/>
                        </a:rPr>
                        <m:t> </m:t>
                      </m:r>
                      <m:r>
                        <a:rPr lang="en-US" i="1">
                          <a:solidFill>
                            <a:schemeClr val="accent6">
                              <a:lumMod val="50000"/>
                            </a:schemeClr>
                          </a:solidFill>
                          <a:latin typeface="Cambria Math" panose="02040503050406030204" pitchFamily="18" charset="0"/>
                        </a:rPr>
                        <m:t>𝑠</m:t>
                      </m:r>
                      <m:r>
                        <a:rPr lang="en-US" i="1">
                          <a:solidFill>
                            <a:schemeClr val="accent6">
                              <a:lumMod val="50000"/>
                            </a:schemeClr>
                          </a:solidFill>
                          <a:latin typeface="Cambria Math" panose="02040503050406030204" pitchFamily="18" charset="0"/>
                        </a:rPr>
                        <m:t>(</m:t>
                      </m:r>
                      <m:sSub>
                        <m:sSubPr>
                          <m:ctrlPr>
                            <a:rPr lang="en-US" b="0" i="1" smtClean="0">
                              <a:solidFill>
                                <a:schemeClr val="accent6">
                                  <a:lumMod val="50000"/>
                                </a:schemeClr>
                              </a:solidFill>
                              <a:latin typeface="Cambria Math" panose="02040503050406030204" pitchFamily="18" charset="0"/>
                            </a:rPr>
                          </m:ctrlPr>
                        </m:sSubPr>
                        <m:e>
                          <m:r>
                            <a:rPr lang="en-US" b="0" i="1" smtClean="0">
                              <a:solidFill>
                                <a:schemeClr val="accent6">
                                  <a:lumMod val="50000"/>
                                </a:schemeClr>
                              </a:solidFill>
                              <a:latin typeface="Cambria Math" panose="02040503050406030204" pitchFamily="18" charset="0"/>
                            </a:rPr>
                            <m:t>𝑌</m:t>
                          </m:r>
                        </m:e>
                        <m:sub>
                          <m:r>
                            <a:rPr lang="en-US" b="0" i="1" smtClean="0">
                              <a:solidFill>
                                <a:schemeClr val="accent6">
                                  <a:lumMod val="50000"/>
                                </a:schemeClr>
                              </a:solidFill>
                              <a:latin typeface="Cambria Math" panose="02040503050406030204" pitchFamily="18" charset="0"/>
                            </a:rPr>
                            <m:t>h</m:t>
                          </m:r>
                          <m:d>
                            <m:dPr>
                              <m:ctrlPr>
                                <a:rPr lang="en-US" b="0" i="1" smtClean="0">
                                  <a:solidFill>
                                    <a:schemeClr val="accent6">
                                      <a:lumMod val="50000"/>
                                    </a:schemeClr>
                                  </a:solidFill>
                                  <a:latin typeface="Cambria Math" panose="02040503050406030204" pitchFamily="18" charset="0"/>
                                </a:rPr>
                              </m:ctrlPr>
                            </m:dPr>
                            <m:e>
                              <m:r>
                                <a:rPr lang="en-US" b="0" i="1" smtClean="0">
                                  <a:solidFill>
                                    <a:schemeClr val="accent6">
                                      <a:lumMod val="50000"/>
                                    </a:schemeClr>
                                  </a:solidFill>
                                  <a:latin typeface="Cambria Math" panose="02040503050406030204" pitchFamily="18" charset="0"/>
                                </a:rPr>
                                <m:t>𝑛𝑒𝑤</m:t>
                              </m:r>
                            </m:e>
                          </m:d>
                        </m:sub>
                      </m:sSub>
                      <m:r>
                        <a:rPr lang="en-US" b="0" i="1" smtClean="0">
                          <a:solidFill>
                            <a:schemeClr val="accent6">
                              <a:lumMod val="50000"/>
                            </a:schemeClr>
                          </a:solidFill>
                          <a:latin typeface="Cambria Math" panose="02040503050406030204" pitchFamily="18" charset="0"/>
                        </a:rPr>
                        <m:t>−</m:t>
                      </m:r>
                      <m:sSub>
                        <m:sSubPr>
                          <m:ctrlPr>
                            <a:rPr lang="en-US" i="1" smtClean="0">
                              <a:solidFill>
                                <a:schemeClr val="accent6">
                                  <a:lumMod val="50000"/>
                                </a:schemeClr>
                              </a:solidFill>
                              <a:latin typeface="Cambria Math" panose="02040503050406030204" pitchFamily="18" charset="0"/>
                            </a:rPr>
                          </m:ctrlPr>
                        </m:sSubPr>
                        <m:e>
                          <m:acc>
                            <m:accPr>
                              <m:chr m:val="̂"/>
                              <m:ctrlPr>
                                <a:rPr lang="en-US" i="1">
                                  <a:solidFill>
                                    <a:schemeClr val="accent6">
                                      <a:lumMod val="50000"/>
                                    </a:schemeClr>
                                  </a:solidFill>
                                  <a:latin typeface="Cambria Math" panose="02040503050406030204" pitchFamily="18" charset="0"/>
                                </a:rPr>
                              </m:ctrlPr>
                            </m:accPr>
                            <m:e>
                              <m:r>
                                <a:rPr lang="en-US" i="1">
                                  <a:solidFill>
                                    <a:schemeClr val="accent6">
                                      <a:lumMod val="50000"/>
                                    </a:schemeClr>
                                  </a:solidFill>
                                  <a:latin typeface="Cambria Math" panose="02040503050406030204" pitchFamily="18" charset="0"/>
                                </a:rPr>
                                <m:t>𝑌</m:t>
                              </m:r>
                            </m:e>
                          </m:acc>
                        </m:e>
                        <m:sub>
                          <m:r>
                            <a:rPr lang="en-US" i="1">
                              <a:solidFill>
                                <a:schemeClr val="accent6">
                                  <a:lumMod val="50000"/>
                                </a:schemeClr>
                              </a:solidFill>
                              <a:latin typeface="Cambria Math" panose="02040503050406030204" pitchFamily="18" charset="0"/>
                            </a:rPr>
                            <m:t>h</m:t>
                          </m:r>
                        </m:sub>
                      </m:sSub>
                      <m:r>
                        <a:rPr lang="en-US" i="1">
                          <a:solidFill>
                            <a:schemeClr val="accent6">
                              <a:lumMod val="50000"/>
                            </a:schemeClr>
                          </a:solidFill>
                          <a:latin typeface="Cambria Math" panose="02040503050406030204" pitchFamily="18" charset="0"/>
                        </a:rPr>
                        <m:t>)</m:t>
                      </m:r>
                    </m:oMath>
                  </m:oMathPara>
                </a14:m>
                <a:endParaRPr lang="en-US" dirty="0"/>
              </a:p>
              <a:p>
                <a:pPr lvl="1"/>
                <a14:m>
                  <m:oMath xmlns:m="http://schemas.openxmlformats.org/officeDocument/2006/math">
                    <m:r>
                      <a:rPr lang="en-US" i="1">
                        <a:solidFill>
                          <a:schemeClr val="accent6">
                            <a:lumMod val="50000"/>
                          </a:schemeClr>
                        </a:solidFill>
                        <a:latin typeface="Cambria Math" panose="02040503050406030204" pitchFamily="18" charset="0"/>
                      </a:rPr>
                      <m:t>𝑠</m:t>
                    </m:r>
                    <m:r>
                      <a:rPr lang="en-US" i="1">
                        <a:solidFill>
                          <a:schemeClr val="accent6">
                            <a:lumMod val="50000"/>
                          </a:schemeClr>
                        </a:solidFill>
                        <a:latin typeface="Cambria Math" panose="02040503050406030204" pitchFamily="18" charset="0"/>
                      </a:rPr>
                      <m:t>(</m:t>
                    </m:r>
                    <m:sSub>
                      <m:sSubPr>
                        <m:ctrlPr>
                          <a:rPr lang="en-US" i="1">
                            <a:solidFill>
                              <a:schemeClr val="accent6">
                                <a:lumMod val="50000"/>
                              </a:schemeClr>
                            </a:solidFill>
                            <a:latin typeface="Cambria Math" panose="02040503050406030204" pitchFamily="18" charset="0"/>
                          </a:rPr>
                        </m:ctrlPr>
                      </m:sSubPr>
                      <m:e>
                        <m:r>
                          <a:rPr lang="en-US" i="1">
                            <a:solidFill>
                              <a:schemeClr val="accent6">
                                <a:lumMod val="50000"/>
                              </a:schemeClr>
                            </a:solidFill>
                            <a:latin typeface="Cambria Math" panose="02040503050406030204" pitchFamily="18" charset="0"/>
                          </a:rPr>
                          <m:t>𝑌</m:t>
                        </m:r>
                      </m:e>
                      <m:sub>
                        <m:r>
                          <a:rPr lang="en-US" i="1">
                            <a:solidFill>
                              <a:schemeClr val="accent6">
                                <a:lumMod val="50000"/>
                              </a:schemeClr>
                            </a:solidFill>
                            <a:latin typeface="Cambria Math" panose="02040503050406030204" pitchFamily="18" charset="0"/>
                          </a:rPr>
                          <m:t>h</m:t>
                        </m:r>
                        <m:d>
                          <m:dPr>
                            <m:ctrlPr>
                              <a:rPr lang="en-US" i="1">
                                <a:solidFill>
                                  <a:schemeClr val="accent6">
                                    <a:lumMod val="50000"/>
                                  </a:schemeClr>
                                </a:solidFill>
                                <a:latin typeface="Cambria Math" panose="02040503050406030204" pitchFamily="18" charset="0"/>
                              </a:rPr>
                            </m:ctrlPr>
                          </m:dPr>
                          <m:e>
                            <m:r>
                              <a:rPr lang="en-US" i="1">
                                <a:solidFill>
                                  <a:schemeClr val="accent6">
                                    <a:lumMod val="50000"/>
                                  </a:schemeClr>
                                </a:solidFill>
                                <a:latin typeface="Cambria Math" panose="02040503050406030204" pitchFamily="18" charset="0"/>
                              </a:rPr>
                              <m:t>𝑛𝑒𝑤</m:t>
                            </m:r>
                          </m:e>
                        </m:d>
                      </m:sub>
                    </m:sSub>
                    <m:r>
                      <a:rPr lang="en-US" i="1">
                        <a:solidFill>
                          <a:schemeClr val="accent6">
                            <a:lumMod val="50000"/>
                          </a:schemeClr>
                        </a:solidFill>
                        <a:latin typeface="Cambria Math" panose="02040503050406030204" pitchFamily="18" charset="0"/>
                      </a:rPr>
                      <m:t>−</m:t>
                    </m:r>
                    <m:sSub>
                      <m:sSubPr>
                        <m:ctrlPr>
                          <a:rPr lang="en-US" i="1">
                            <a:solidFill>
                              <a:schemeClr val="accent6">
                                <a:lumMod val="50000"/>
                              </a:schemeClr>
                            </a:solidFill>
                            <a:latin typeface="Cambria Math" panose="02040503050406030204" pitchFamily="18" charset="0"/>
                          </a:rPr>
                        </m:ctrlPr>
                      </m:sSubPr>
                      <m:e>
                        <m:acc>
                          <m:accPr>
                            <m:chr m:val="̂"/>
                            <m:ctrlPr>
                              <a:rPr lang="en-US" i="1">
                                <a:solidFill>
                                  <a:schemeClr val="accent6">
                                    <a:lumMod val="50000"/>
                                  </a:schemeClr>
                                </a:solidFill>
                                <a:latin typeface="Cambria Math" panose="02040503050406030204" pitchFamily="18" charset="0"/>
                              </a:rPr>
                            </m:ctrlPr>
                          </m:accPr>
                          <m:e>
                            <m:r>
                              <a:rPr lang="en-US" i="1">
                                <a:solidFill>
                                  <a:schemeClr val="accent6">
                                    <a:lumMod val="50000"/>
                                  </a:schemeClr>
                                </a:solidFill>
                                <a:latin typeface="Cambria Math" panose="02040503050406030204" pitchFamily="18" charset="0"/>
                              </a:rPr>
                              <m:t>𝑌</m:t>
                            </m:r>
                          </m:e>
                        </m:acc>
                      </m:e>
                      <m:sub>
                        <m:r>
                          <a:rPr lang="en-US" i="1">
                            <a:solidFill>
                              <a:schemeClr val="accent6">
                                <a:lumMod val="50000"/>
                              </a:schemeClr>
                            </a:solidFill>
                            <a:latin typeface="Cambria Math" panose="02040503050406030204" pitchFamily="18" charset="0"/>
                          </a:rPr>
                          <m:t>h</m:t>
                        </m:r>
                      </m:sub>
                    </m:sSub>
                    <m:r>
                      <a:rPr lang="en-US" i="1">
                        <a:solidFill>
                          <a:schemeClr val="accent6">
                            <a:lumMod val="50000"/>
                          </a:schemeClr>
                        </a:solidFill>
                        <a:latin typeface="Cambria Math" panose="02040503050406030204" pitchFamily="18" charset="0"/>
                      </a:rPr>
                      <m:t>)</m:t>
                    </m:r>
                  </m:oMath>
                </a14:m>
                <a:r>
                  <a:rPr lang="en-US" dirty="0"/>
                  <a:t>: standard error estimate of </a:t>
                </a:r>
                <a14:m>
                  <m:oMath xmlns:m="http://schemas.openxmlformats.org/officeDocument/2006/math">
                    <m:sSub>
                      <m:sSubPr>
                        <m:ctrlPr>
                          <a:rPr lang="en-US" i="1">
                            <a:solidFill>
                              <a:schemeClr val="accent6">
                                <a:lumMod val="50000"/>
                              </a:schemeClr>
                            </a:solidFill>
                            <a:latin typeface="Cambria Math" panose="02040503050406030204" pitchFamily="18" charset="0"/>
                          </a:rPr>
                        </m:ctrlPr>
                      </m:sSubPr>
                      <m:e>
                        <m:r>
                          <a:rPr lang="en-US" i="1">
                            <a:solidFill>
                              <a:schemeClr val="accent6">
                                <a:lumMod val="50000"/>
                              </a:schemeClr>
                            </a:solidFill>
                            <a:latin typeface="Cambria Math" panose="02040503050406030204" pitchFamily="18" charset="0"/>
                          </a:rPr>
                          <m:t>𝑌</m:t>
                        </m:r>
                      </m:e>
                      <m:sub>
                        <m:r>
                          <a:rPr lang="en-US" i="1">
                            <a:solidFill>
                              <a:schemeClr val="accent6">
                                <a:lumMod val="50000"/>
                              </a:schemeClr>
                            </a:solidFill>
                            <a:latin typeface="Cambria Math" panose="02040503050406030204" pitchFamily="18" charset="0"/>
                          </a:rPr>
                          <m:t>h</m:t>
                        </m:r>
                        <m:d>
                          <m:dPr>
                            <m:ctrlPr>
                              <a:rPr lang="en-US" i="1">
                                <a:solidFill>
                                  <a:schemeClr val="accent6">
                                    <a:lumMod val="50000"/>
                                  </a:schemeClr>
                                </a:solidFill>
                                <a:latin typeface="Cambria Math" panose="02040503050406030204" pitchFamily="18" charset="0"/>
                              </a:rPr>
                            </m:ctrlPr>
                          </m:dPr>
                          <m:e>
                            <m:r>
                              <a:rPr lang="en-US" i="1">
                                <a:solidFill>
                                  <a:schemeClr val="accent6">
                                    <a:lumMod val="50000"/>
                                  </a:schemeClr>
                                </a:solidFill>
                                <a:latin typeface="Cambria Math" panose="02040503050406030204" pitchFamily="18" charset="0"/>
                              </a:rPr>
                              <m:t>𝑛𝑒𝑤</m:t>
                            </m:r>
                          </m:e>
                        </m:d>
                      </m:sub>
                    </m:sSub>
                    <m:r>
                      <a:rPr lang="en-US" i="1">
                        <a:solidFill>
                          <a:schemeClr val="accent6">
                            <a:lumMod val="50000"/>
                          </a:schemeClr>
                        </a:solidFill>
                        <a:latin typeface="Cambria Math" panose="02040503050406030204" pitchFamily="18" charset="0"/>
                      </a:rPr>
                      <m:t>−</m:t>
                    </m:r>
                    <m:sSub>
                      <m:sSubPr>
                        <m:ctrlPr>
                          <a:rPr lang="en-US" i="1">
                            <a:solidFill>
                              <a:schemeClr val="accent6">
                                <a:lumMod val="50000"/>
                              </a:schemeClr>
                            </a:solidFill>
                            <a:latin typeface="Cambria Math" panose="02040503050406030204" pitchFamily="18" charset="0"/>
                          </a:rPr>
                        </m:ctrlPr>
                      </m:sSubPr>
                      <m:e>
                        <m:acc>
                          <m:accPr>
                            <m:chr m:val="̂"/>
                            <m:ctrlPr>
                              <a:rPr lang="en-US" i="1">
                                <a:solidFill>
                                  <a:schemeClr val="accent6">
                                    <a:lumMod val="50000"/>
                                  </a:schemeClr>
                                </a:solidFill>
                                <a:latin typeface="Cambria Math" panose="02040503050406030204" pitchFamily="18" charset="0"/>
                              </a:rPr>
                            </m:ctrlPr>
                          </m:accPr>
                          <m:e>
                            <m:r>
                              <a:rPr lang="en-US" i="1">
                                <a:solidFill>
                                  <a:schemeClr val="accent6">
                                    <a:lumMod val="50000"/>
                                  </a:schemeClr>
                                </a:solidFill>
                                <a:latin typeface="Cambria Math" panose="02040503050406030204" pitchFamily="18" charset="0"/>
                              </a:rPr>
                              <m:t>𝑌</m:t>
                            </m:r>
                          </m:e>
                        </m:acc>
                      </m:e>
                      <m:sub>
                        <m:r>
                          <a:rPr lang="en-US" i="1">
                            <a:solidFill>
                              <a:schemeClr val="accent6">
                                <a:lumMod val="50000"/>
                              </a:schemeClr>
                            </a:solidFill>
                            <a:latin typeface="Cambria Math" panose="02040503050406030204" pitchFamily="18" charset="0"/>
                          </a:rPr>
                          <m:t>h</m:t>
                        </m:r>
                      </m:sub>
                    </m:sSub>
                  </m:oMath>
                </a14:m>
                <a:endParaRPr 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762000" y="1295401"/>
                <a:ext cx="8077200" cy="5334000"/>
              </a:xfrm>
              <a:blipFill>
                <a:blip r:embed="rId2"/>
                <a:stretch>
                  <a:fillRect l="-1509" t="-2286"/>
                </a:stretch>
              </a:blipFill>
            </p:spPr>
            <p:txBody>
              <a:bodyPr/>
              <a:lstStyle/>
              <a:p>
                <a:r>
                  <a:rPr lang="en-US">
                    <a:noFill/>
                  </a:rPr>
                  <a:t> </a:t>
                </a:r>
              </a:p>
            </p:txBody>
          </p:sp>
        </mc:Fallback>
      </mc:AlternateContent>
    </p:spTree>
    <p:extLst>
      <p:ext uri="{BB962C8B-B14F-4D97-AF65-F5344CB8AC3E}">
        <p14:creationId xmlns:p14="http://schemas.microsoft.com/office/powerpoint/2010/main" val="3872250670"/>
      </p:ext>
    </p:extLst>
  </p:cSld>
  <p:clrMapOvr>
    <a:masterClrMapping/>
  </p:clrMapOvr>
  <p:transition spd="slow">
    <p:wipe dir="d"/>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dirty="0">
                <a:solidFill>
                  <a:schemeClr val="tx1">
                    <a:lumMod val="50000"/>
                  </a:schemeClr>
                </a:solidFill>
              </a:rPr>
              <a:t>Example: What determine an NBA player’s salary?</a:t>
            </a:r>
            <a:endParaRPr lang="en-US" dirty="0"/>
          </a:p>
        </p:txBody>
      </p:sp>
      <p:sp>
        <p:nvSpPr>
          <p:cNvPr id="5" name="Content Placeholder 4"/>
          <p:cNvSpPr>
            <a:spLocks noGrp="1"/>
          </p:cNvSpPr>
          <p:nvPr>
            <p:ph idx="1"/>
          </p:nvPr>
        </p:nvSpPr>
        <p:spPr/>
        <p:txBody>
          <a:bodyPr>
            <a:normAutofit/>
          </a:bodyPr>
          <a:lstStyle/>
          <a:p>
            <a:r>
              <a:rPr lang="en-US" dirty="0" err="1"/>
              <a:t>Dwyane</a:t>
            </a:r>
            <a:r>
              <a:rPr lang="en-US" dirty="0"/>
              <a:t> Wade’s 2015 statistics were</a:t>
            </a:r>
          </a:p>
          <a:p>
            <a:endParaRPr lang="en-US" dirty="0"/>
          </a:p>
          <a:p>
            <a:endParaRPr lang="en-US" dirty="0"/>
          </a:p>
          <a:p>
            <a:r>
              <a:rPr lang="en-US" dirty="0"/>
              <a:t>Estimate the average Salary for a player with the same performance statistics. </a:t>
            </a:r>
          </a:p>
          <a:p>
            <a:endParaRPr lang="en-US" dirty="0"/>
          </a:p>
          <a:p>
            <a:endParaRPr lang="en-US" dirty="0"/>
          </a:p>
        </p:txBody>
      </p:sp>
      <p:pic>
        <p:nvPicPr>
          <p:cNvPr id="7" name="Picture 6"/>
          <p:cNvPicPr>
            <a:picLocks noChangeAspect="1"/>
          </p:cNvPicPr>
          <p:nvPr/>
        </p:nvPicPr>
        <p:blipFill>
          <a:blip r:embed="rId2"/>
          <a:stretch>
            <a:fillRect/>
          </a:stretch>
        </p:blipFill>
        <p:spPr>
          <a:xfrm>
            <a:off x="1752600" y="4464368"/>
            <a:ext cx="6302709" cy="1707831"/>
          </a:xfrm>
          <a:prstGeom prst="rect">
            <a:avLst/>
          </a:prstGeom>
        </p:spPr>
      </p:pic>
      <p:pic>
        <p:nvPicPr>
          <p:cNvPr id="8" name="Picture 7"/>
          <p:cNvPicPr>
            <a:picLocks noChangeAspect="1"/>
          </p:cNvPicPr>
          <p:nvPr/>
        </p:nvPicPr>
        <p:blipFill>
          <a:blip r:embed="rId3"/>
          <a:stretch>
            <a:fillRect/>
          </a:stretch>
        </p:blipFill>
        <p:spPr>
          <a:xfrm>
            <a:off x="2057400" y="2209800"/>
            <a:ext cx="4870174" cy="1066800"/>
          </a:xfrm>
          <a:prstGeom prst="rect">
            <a:avLst/>
          </a:prstGeom>
        </p:spPr>
      </p:pic>
    </p:spTree>
    <p:extLst>
      <p:ext uri="{BB962C8B-B14F-4D97-AF65-F5344CB8AC3E}">
        <p14:creationId xmlns:p14="http://schemas.microsoft.com/office/powerpoint/2010/main" val="3121652456"/>
      </p:ext>
    </p:extLst>
  </p:cSld>
  <p:clrMapOvr>
    <a:masterClrMapping/>
  </p:clrMapOvr>
  <p:transition spd="slow">
    <p:wipe dir="d"/>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914400" y="609600"/>
            <a:ext cx="8077200" cy="5791199"/>
          </a:xfrm>
        </p:spPr>
        <p:txBody>
          <a:bodyPr>
            <a:normAutofit lnSpcReduction="10000"/>
          </a:bodyPr>
          <a:lstStyle/>
          <a:p>
            <a:r>
              <a:rPr lang="en-US" sz="3200" dirty="0"/>
              <a:t>Obtain a prediction interval for the actual Salary for a player with the same statistics.</a:t>
            </a:r>
          </a:p>
          <a:p>
            <a:endParaRPr lang="en-US" dirty="0"/>
          </a:p>
          <a:p>
            <a:endParaRPr lang="en-US" dirty="0"/>
          </a:p>
          <a:p>
            <a:endParaRPr lang="en-US" dirty="0"/>
          </a:p>
          <a:p>
            <a:endParaRPr lang="en-US" dirty="0"/>
          </a:p>
          <a:p>
            <a:r>
              <a:rPr lang="en-US" sz="3200" dirty="0" err="1"/>
              <a:t>Dwyane</a:t>
            </a:r>
            <a:r>
              <a:rPr lang="en-US" sz="3200" dirty="0"/>
              <a:t> Wade’s actual Salary for 2016 is 23,200,000. Do you think that he got a good contract? The Heat initially offered him 10,000,000 for the 2016. Would that have been a fair offer based on his past performance?</a:t>
            </a:r>
          </a:p>
        </p:txBody>
      </p:sp>
      <p:pic>
        <p:nvPicPr>
          <p:cNvPr id="6" name="Picture 5"/>
          <p:cNvPicPr>
            <a:picLocks noChangeAspect="1"/>
          </p:cNvPicPr>
          <p:nvPr/>
        </p:nvPicPr>
        <p:blipFill>
          <a:blip r:embed="rId2"/>
          <a:stretch>
            <a:fillRect/>
          </a:stretch>
        </p:blipFill>
        <p:spPr>
          <a:xfrm>
            <a:off x="1371600" y="1676400"/>
            <a:ext cx="7010400" cy="1677703"/>
          </a:xfrm>
          <a:prstGeom prst="rect">
            <a:avLst/>
          </a:prstGeom>
        </p:spPr>
      </p:pic>
    </p:spTree>
    <p:extLst>
      <p:ext uri="{BB962C8B-B14F-4D97-AF65-F5344CB8AC3E}">
        <p14:creationId xmlns:p14="http://schemas.microsoft.com/office/powerpoint/2010/main" val="2453474691"/>
      </p:ext>
    </p:extLst>
  </p:cSld>
  <p:clrMapOvr>
    <a:masterClrMapping/>
  </p:clrMapOvr>
  <p:transition spd="slow">
    <p:wipe dir="d"/>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152400"/>
            <a:ext cx="8077200" cy="1143000"/>
          </a:xfrm>
        </p:spPr>
        <p:txBody>
          <a:bodyPr/>
          <a:lstStyle/>
          <a:p>
            <a:r>
              <a:rPr lang="en-US" b="1" dirty="0"/>
              <a:t>Diagnostics</a:t>
            </a:r>
            <a:r>
              <a:rPr lang="en-US" dirty="0"/>
              <a:t> </a:t>
            </a:r>
            <a:r>
              <a:rPr lang="en-US" b="1" dirty="0"/>
              <a:t>about the predictors</a:t>
            </a:r>
            <a:endParaRPr lang="en-US" dirty="0"/>
          </a:p>
        </p:txBody>
      </p:sp>
      <p:sp>
        <p:nvSpPr>
          <p:cNvPr id="3" name="Content Placeholder 2"/>
          <p:cNvSpPr>
            <a:spLocks noGrp="1"/>
          </p:cNvSpPr>
          <p:nvPr>
            <p:ph idx="1"/>
          </p:nvPr>
        </p:nvSpPr>
        <p:spPr>
          <a:xfrm>
            <a:off x="685800" y="1219200"/>
            <a:ext cx="8077200" cy="5638800"/>
          </a:xfrm>
        </p:spPr>
        <p:txBody>
          <a:bodyPr>
            <a:normAutofit fontScale="92500" lnSpcReduction="10000"/>
          </a:bodyPr>
          <a:lstStyle/>
          <a:p>
            <a:r>
              <a:rPr lang="en-US" dirty="0"/>
              <a:t>Each data point tries to pull the sample regression line towards itself. </a:t>
            </a:r>
          </a:p>
          <a:p>
            <a:r>
              <a:rPr lang="en-US" dirty="0"/>
              <a:t>Points with extreme predictor values (e.g. the red point in 2</a:t>
            </a:r>
            <a:r>
              <a:rPr lang="en-US" baseline="30000" dirty="0"/>
              <a:t>nd</a:t>
            </a:r>
            <a:r>
              <a:rPr lang="en-US" dirty="0"/>
              <a:t> graph) have more leverage. </a:t>
            </a:r>
          </a:p>
          <a:p>
            <a:endParaRPr lang="en-US" dirty="0"/>
          </a:p>
          <a:p>
            <a:endParaRPr lang="en-US" dirty="0"/>
          </a:p>
          <a:p>
            <a:endParaRPr lang="en-US" dirty="0"/>
          </a:p>
          <a:p>
            <a:endParaRPr lang="en-US" dirty="0"/>
          </a:p>
          <a:p>
            <a:endParaRPr lang="en-US" dirty="0"/>
          </a:p>
          <a:p>
            <a:endParaRPr lang="en-US" dirty="0"/>
          </a:p>
          <a:p>
            <a:r>
              <a:rPr lang="en-US" dirty="0"/>
              <a:t>How to find such points with many predictors?</a:t>
            </a:r>
          </a:p>
        </p:txBody>
      </p:sp>
      <p:pic>
        <p:nvPicPr>
          <p:cNvPr id="5" name="Picture 4"/>
          <p:cNvPicPr>
            <a:picLocks noChangeAspect="1"/>
          </p:cNvPicPr>
          <p:nvPr/>
        </p:nvPicPr>
        <p:blipFill>
          <a:blip r:embed="rId2"/>
          <a:stretch>
            <a:fillRect/>
          </a:stretch>
        </p:blipFill>
        <p:spPr>
          <a:xfrm>
            <a:off x="1524000" y="3124200"/>
            <a:ext cx="6172900" cy="2883792"/>
          </a:xfrm>
          <a:prstGeom prst="rect">
            <a:avLst/>
          </a:prstGeom>
        </p:spPr>
      </p:pic>
    </p:spTree>
    <p:extLst>
      <p:ext uri="{BB962C8B-B14F-4D97-AF65-F5344CB8AC3E}">
        <p14:creationId xmlns:p14="http://schemas.microsoft.com/office/powerpoint/2010/main" val="2542754457"/>
      </p:ext>
    </p:extLst>
  </p:cSld>
  <p:clrMapOvr>
    <a:masterClrMapping/>
  </p:clrMapOvr>
  <p:transition spd="slow">
    <p:wipe dir="d"/>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Diagnostics</a:t>
            </a:r>
            <a:r>
              <a:rPr lang="en-US" dirty="0"/>
              <a:t> </a:t>
            </a:r>
            <a:r>
              <a:rPr lang="en-US" b="1" dirty="0"/>
              <a:t>about the predictors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762000" y="1412633"/>
                <a:ext cx="8077200" cy="5064368"/>
              </a:xfrm>
            </p:spPr>
            <p:txBody>
              <a:bodyPr>
                <a:normAutofit fontScale="77500" lnSpcReduction="20000"/>
              </a:bodyPr>
              <a:lstStyle/>
              <a:p>
                <a:r>
                  <a:rPr lang="en-US" dirty="0"/>
                  <a:t>A </a:t>
                </a:r>
                <a:r>
                  <a:rPr lang="en-US" b="1" dirty="0">
                    <a:solidFill>
                      <a:srgbClr val="0070C0"/>
                    </a:solidFill>
                  </a:rPr>
                  <a:t>high leverage point </a:t>
                </a:r>
                <a:r>
                  <a:rPr lang="en-US" dirty="0"/>
                  <a:t>is an outlier in terms of the predictor values.</a:t>
                </a:r>
              </a:p>
              <a:p>
                <a:endParaRPr lang="en-US" sz="1000" dirty="0"/>
              </a:p>
              <a:p>
                <a:r>
                  <a:rPr lang="en-US" dirty="0"/>
                  <a:t>The </a:t>
                </a:r>
                <a:r>
                  <a:rPr lang="en-US" dirty="0" err="1"/>
                  <a:t>i</a:t>
                </a:r>
                <a:r>
                  <a:rPr lang="en-US" baseline="30000" dirty="0" err="1"/>
                  <a:t>th</a:t>
                </a:r>
                <a:r>
                  <a:rPr lang="en-US" baseline="30000" dirty="0"/>
                  <a:t> </a:t>
                </a:r>
                <a:r>
                  <a:rPr lang="en-US" dirty="0"/>
                  <a:t>diagonal element of the so-called </a:t>
                </a:r>
                <a:r>
                  <a:rPr lang="en-US" dirty="0">
                    <a:solidFill>
                      <a:srgbClr val="0070C0"/>
                    </a:solidFill>
                  </a:rPr>
                  <a:t>Hat matrix</a:t>
                </a:r>
                <a:r>
                  <a:rPr lang="en-US" dirty="0"/>
                  <a:t>, </a:t>
                </a:r>
                <a:r>
                  <a:rPr lang="en-US" dirty="0">
                    <a:solidFill>
                      <a:srgbClr val="FF0000"/>
                    </a:solidFill>
                  </a:rPr>
                  <a:t>H</a:t>
                </a:r>
                <a:r>
                  <a:rPr lang="en-US" baseline="-25000" dirty="0">
                    <a:solidFill>
                      <a:srgbClr val="FF0000"/>
                    </a:solidFill>
                  </a:rPr>
                  <a:t>i</a:t>
                </a:r>
                <a:r>
                  <a:rPr lang="en-US" dirty="0"/>
                  <a:t>, is a measure of the distance between the X value for the </a:t>
                </a:r>
                <a:r>
                  <a:rPr lang="en-US" dirty="0" err="1"/>
                  <a:t>i</a:t>
                </a:r>
                <a:r>
                  <a:rPr lang="en-US" baseline="30000" dirty="0" err="1"/>
                  <a:t>th</a:t>
                </a:r>
                <a:r>
                  <a:rPr lang="en-US" dirty="0"/>
                  <a:t> case and the average of the X values for all n cases. </a:t>
                </a:r>
              </a:p>
              <a:p>
                <a:pPr marL="68580" indent="0">
                  <a:buNone/>
                </a:pPr>
                <a:endParaRPr lang="en-US" sz="1050" dirty="0"/>
              </a:p>
              <a:p>
                <a:r>
                  <a:rPr lang="en-US" dirty="0"/>
                  <a:t>H</a:t>
                </a:r>
                <a:r>
                  <a:rPr lang="en-US" baseline="-25000" dirty="0"/>
                  <a:t>i</a:t>
                </a:r>
                <a:r>
                  <a:rPr lang="en-US" dirty="0"/>
                  <a:t> is called the </a:t>
                </a:r>
                <a:r>
                  <a:rPr lang="en-US" dirty="0">
                    <a:solidFill>
                      <a:srgbClr val="0070C0"/>
                    </a:solidFill>
                  </a:rPr>
                  <a:t>leverage</a:t>
                </a:r>
                <a:r>
                  <a:rPr lang="en-US" dirty="0"/>
                  <a:t> for the </a:t>
                </a:r>
                <a:r>
                  <a:rPr lang="en-US" dirty="0" err="1"/>
                  <a:t>i</a:t>
                </a:r>
                <a:r>
                  <a:rPr lang="en-US" baseline="30000" dirty="0" err="1"/>
                  <a:t>th</a:t>
                </a:r>
                <a:r>
                  <a:rPr lang="en-US" dirty="0"/>
                  <a:t> case.</a:t>
                </a:r>
              </a:p>
              <a:p>
                <a:endParaRPr lang="en-US" sz="1050" dirty="0"/>
              </a:p>
              <a:p>
                <a:r>
                  <a:rPr lang="en-US" dirty="0"/>
                  <a:t>So, a large value of H</a:t>
                </a:r>
                <a:r>
                  <a:rPr lang="en-US" baseline="-25000" dirty="0"/>
                  <a:t>i</a:t>
                </a:r>
                <a:r>
                  <a:rPr lang="en-US" dirty="0"/>
                  <a:t> can indicate a high leverage point, which means this case is distant from the center of all X observations. </a:t>
                </a:r>
              </a:p>
              <a:p>
                <a:endParaRPr lang="en-US" sz="1050" dirty="0"/>
              </a:p>
              <a:p>
                <a:r>
                  <a:rPr lang="en-US" dirty="0"/>
                  <a:t>It is known that </a:t>
                </a:r>
                <a:r>
                  <a:rPr lang="en-US" i="1" dirty="0">
                    <a:solidFill>
                      <a:schemeClr val="accent6">
                        <a:lumMod val="75000"/>
                      </a:schemeClr>
                    </a:solidFill>
                  </a:rPr>
                  <a:t>0&lt;H</a:t>
                </a:r>
                <a:r>
                  <a:rPr lang="en-US" i="1" baseline="-25000" dirty="0">
                    <a:solidFill>
                      <a:schemeClr val="accent6">
                        <a:lumMod val="75000"/>
                      </a:schemeClr>
                    </a:solidFill>
                  </a:rPr>
                  <a:t>i</a:t>
                </a:r>
                <a:r>
                  <a:rPr lang="en-US" i="1" dirty="0">
                    <a:solidFill>
                      <a:schemeClr val="accent6">
                        <a:lumMod val="75000"/>
                      </a:schemeClr>
                    </a:solidFill>
                  </a:rPr>
                  <a:t>&lt;1</a:t>
                </a:r>
                <a:r>
                  <a:rPr lang="en-US" i="1" dirty="0">
                    <a:solidFill>
                      <a:srgbClr val="74A510"/>
                    </a:solidFill>
                  </a:rPr>
                  <a:t> </a:t>
                </a:r>
                <a:r>
                  <a:rPr lang="en-US" dirty="0"/>
                  <a:t>and </a:t>
                </a:r>
                <a14:m>
                  <m:oMath xmlns:m="http://schemas.openxmlformats.org/officeDocument/2006/math">
                    <m:nary>
                      <m:naryPr>
                        <m:chr m:val="∑"/>
                        <m:ctrlPr>
                          <a:rPr lang="en-US" i="1">
                            <a:solidFill>
                              <a:schemeClr val="accent6">
                                <a:lumMod val="75000"/>
                              </a:schemeClr>
                            </a:solidFill>
                            <a:latin typeface="Cambria Math" panose="02040503050406030204" pitchFamily="18" charset="0"/>
                          </a:rPr>
                        </m:ctrlPr>
                      </m:naryPr>
                      <m:sub>
                        <m:r>
                          <a:rPr lang="en-US" i="1">
                            <a:solidFill>
                              <a:schemeClr val="accent6">
                                <a:lumMod val="75000"/>
                              </a:schemeClr>
                            </a:solidFill>
                            <a:latin typeface="Cambria Math" panose="02040503050406030204" pitchFamily="18" charset="0"/>
                          </a:rPr>
                          <m:t>𝑖</m:t>
                        </m:r>
                        <m:r>
                          <a:rPr lang="en-US" i="1">
                            <a:solidFill>
                              <a:schemeClr val="accent6">
                                <a:lumMod val="75000"/>
                              </a:schemeClr>
                            </a:solidFill>
                            <a:latin typeface="Cambria Math" panose="02040503050406030204" pitchFamily="18" charset="0"/>
                          </a:rPr>
                          <m:t>=1</m:t>
                        </m:r>
                      </m:sub>
                      <m:sup>
                        <m:r>
                          <a:rPr lang="en-US" i="1">
                            <a:solidFill>
                              <a:schemeClr val="accent6">
                                <a:lumMod val="75000"/>
                              </a:schemeClr>
                            </a:solidFill>
                            <a:latin typeface="Cambria Math" panose="02040503050406030204" pitchFamily="18" charset="0"/>
                          </a:rPr>
                          <m:t>𝑛</m:t>
                        </m:r>
                      </m:sup>
                      <m:e>
                        <m:sSub>
                          <m:sSubPr>
                            <m:ctrlPr>
                              <a:rPr lang="en-US" i="1">
                                <a:solidFill>
                                  <a:schemeClr val="accent6">
                                    <a:lumMod val="75000"/>
                                  </a:schemeClr>
                                </a:solidFill>
                                <a:latin typeface="Cambria Math" panose="02040503050406030204" pitchFamily="18" charset="0"/>
                              </a:rPr>
                            </m:ctrlPr>
                          </m:sSubPr>
                          <m:e>
                            <m:r>
                              <a:rPr lang="en-US" i="1">
                                <a:solidFill>
                                  <a:schemeClr val="accent6">
                                    <a:lumMod val="75000"/>
                                  </a:schemeClr>
                                </a:solidFill>
                                <a:latin typeface="Cambria Math" panose="02040503050406030204" pitchFamily="18" charset="0"/>
                              </a:rPr>
                              <m:t>𝐻</m:t>
                            </m:r>
                          </m:e>
                          <m:sub>
                            <m:r>
                              <a:rPr lang="en-US" i="1">
                                <a:solidFill>
                                  <a:schemeClr val="accent6">
                                    <a:lumMod val="75000"/>
                                  </a:schemeClr>
                                </a:solidFill>
                                <a:latin typeface="Cambria Math" panose="02040503050406030204" pitchFamily="18" charset="0"/>
                              </a:rPr>
                              <m:t>𝑖</m:t>
                            </m:r>
                          </m:sub>
                        </m:sSub>
                        <m:r>
                          <a:rPr lang="en-US" i="1">
                            <a:solidFill>
                              <a:schemeClr val="accent6">
                                <a:lumMod val="75000"/>
                              </a:schemeClr>
                            </a:solidFill>
                            <a:latin typeface="Cambria Math" panose="02040503050406030204" pitchFamily="18" charset="0"/>
                          </a:rPr>
                          <m:t>=</m:t>
                        </m:r>
                        <m:r>
                          <a:rPr lang="en-US" i="1">
                            <a:solidFill>
                              <a:schemeClr val="accent6">
                                <a:lumMod val="75000"/>
                              </a:schemeClr>
                            </a:solidFill>
                            <a:latin typeface="Cambria Math" panose="02040503050406030204" pitchFamily="18" charset="0"/>
                          </a:rPr>
                          <m:t>𝑝</m:t>
                        </m:r>
                      </m:e>
                    </m:nary>
                  </m:oMath>
                </a14:m>
                <a:r>
                  <a:rPr lang="en-US" dirty="0"/>
                  <a:t>, so a point is considered to have a high leverage when H</a:t>
                </a:r>
                <a:r>
                  <a:rPr lang="en-US" baseline="-25000" dirty="0"/>
                  <a:t>i</a:t>
                </a:r>
                <a:r>
                  <a:rPr lang="en-US" dirty="0"/>
                  <a:t> is larger than </a:t>
                </a:r>
                <a14:m>
                  <m:oMath xmlns:m="http://schemas.openxmlformats.org/officeDocument/2006/math">
                    <m:r>
                      <a:rPr lang="en-US">
                        <a:latin typeface="Cambria Math" panose="02040503050406030204" pitchFamily="18" charset="0"/>
                      </a:rPr>
                      <m:t>(</m:t>
                    </m:r>
                    <m:r>
                      <a:rPr lang="en-US" i="1">
                        <a:latin typeface="Cambria Math" panose="02040503050406030204" pitchFamily="18" charset="0"/>
                      </a:rPr>
                      <m:t>2</m:t>
                    </m:r>
                    <m:r>
                      <a:rPr lang="en-US" i="1">
                        <a:latin typeface="Cambria Math" panose="02040503050406030204" pitchFamily="18" charset="0"/>
                      </a:rPr>
                      <m:t>𝑝</m:t>
                    </m:r>
                    <m:r>
                      <a:rPr lang="en-US" i="1">
                        <a:latin typeface="Cambria Math" panose="02040503050406030204" pitchFamily="18" charset="0"/>
                      </a:rPr>
                      <m:t>)/</m:t>
                    </m:r>
                    <m:r>
                      <a:rPr lang="en-US" i="1">
                        <a:latin typeface="Cambria Math" panose="02040503050406030204" pitchFamily="18" charset="0"/>
                      </a:rPr>
                      <m:t>𝑛</m:t>
                    </m:r>
                  </m:oMath>
                </a14:m>
                <a:r>
                  <a:rPr lang="en-US" dirty="0"/>
                  <a:t> (=0.147 for the NBA Salary example). </a:t>
                </a:r>
              </a:p>
              <a:p>
                <a:endParaRPr lang="en-US" dirty="0"/>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762000" y="1412633"/>
                <a:ext cx="8077200" cy="5064368"/>
              </a:xfrm>
              <a:blipFill>
                <a:blip r:embed="rId2"/>
                <a:stretch>
                  <a:fillRect l="-1057" t="-2286" r="-2038"/>
                </a:stretch>
              </a:blipFill>
            </p:spPr>
            <p:txBody>
              <a:bodyPr/>
              <a:lstStyle/>
              <a:p>
                <a:r>
                  <a:rPr lang="en-US">
                    <a:noFill/>
                  </a:rPr>
                  <a:t> </a:t>
                </a:r>
              </a:p>
            </p:txBody>
          </p:sp>
        </mc:Fallback>
      </mc:AlternateContent>
    </p:spTree>
    <p:extLst>
      <p:ext uri="{BB962C8B-B14F-4D97-AF65-F5344CB8AC3E}">
        <p14:creationId xmlns:p14="http://schemas.microsoft.com/office/powerpoint/2010/main" val="3251909035"/>
      </p:ext>
    </p:extLst>
  </p:cSld>
  <p:clrMapOvr>
    <a:masterClrMapping/>
  </p:clrMapOvr>
  <p:transition spd="slow">
    <p:wipe dir="d"/>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2644877" y="1219200"/>
            <a:ext cx="5029199" cy="4513384"/>
          </a:xfrm>
          <a:prstGeom prst="rect">
            <a:avLst/>
          </a:prstGeom>
        </p:spPr>
      </p:pic>
      <p:pic>
        <p:nvPicPr>
          <p:cNvPr id="10" name="Picture 9"/>
          <p:cNvPicPr>
            <a:picLocks noChangeAspect="1"/>
          </p:cNvPicPr>
          <p:nvPr/>
        </p:nvPicPr>
        <p:blipFill>
          <a:blip r:embed="rId3"/>
          <a:stretch>
            <a:fillRect/>
          </a:stretch>
        </p:blipFill>
        <p:spPr>
          <a:xfrm>
            <a:off x="3124200" y="5791200"/>
            <a:ext cx="4070555" cy="685800"/>
          </a:xfrm>
          <a:prstGeom prst="rect">
            <a:avLst/>
          </a:prstGeom>
        </p:spPr>
      </p:pic>
      <p:pic>
        <p:nvPicPr>
          <p:cNvPr id="2" name="Picture 1"/>
          <p:cNvPicPr>
            <a:picLocks noChangeAspect="1"/>
          </p:cNvPicPr>
          <p:nvPr/>
        </p:nvPicPr>
        <p:blipFill>
          <a:blip r:embed="rId4"/>
          <a:stretch>
            <a:fillRect/>
          </a:stretch>
        </p:blipFill>
        <p:spPr>
          <a:xfrm>
            <a:off x="2895600" y="227134"/>
            <a:ext cx="4371975" cy="933450"/>
          </a:xfrm>
          <a:prstGeom prst="rect">
            <a:avLst/>
          </a:prstGeom>
        </p:spPr>
      </p:pic>
    </p:spTree>
    <p:extLst>
      <p:ext uri="{BB962C8B-B14F-4D97-AF65-F5344CB8AC3E}">
        <p14:creationId xmlns:p14="http://schemas.microsoft.com/office/powerpoint/2010/main" val="1834678707"/>
      </p:ext>
    </p:extLst>
  </p:cSld>
  <p:clrMapOvr>
    <a:masterClrMapping/>
  </p:clrMapOvr>
  <p:transition spd="slow">
    <p:wipe dir="d"/>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209800" y="1295400"/>
            <a:ext cx="5410200" cy="5140004"/>
          </a:xfrm>
          <a:prstGeom prst="rect">
            <a:avLst/>
          </a:prstGeom>
        </p:spPr>
      </p:pic>
      <p:pic>
        <p:nvPicPr>
          <p:cNvPr id="3" name="Picture 2"/>
          <p:cNvPicPr>
            <a:picLocks noChangeAspect="1"/>
          </p:cNvPicPr>
          <p:nvPr/>
        </p:nvPicPr>
        <p:blipFill>
          <a:blip r:embed="rId3"/>
          <a:stretch>
            <a:fillRect/>
          </a:stretch>
        </p:blipFill>
        <p:spPr>
          <a:xfrm>
            <a:off x="2455926" y="609600"/>
            <a:ext cx="4917948" cy="533400"/>
          </a:xfrm>
          <a:prstGeom prst="rect">
            <a:avLst/>
          </a:prstGeom>
        </p:spPr>
      </p:pic>
    </p:spTree>
    <p:extLst>
      <p:ext uri="{BB962C8B-B14F-4D97-AF65-F5344CB8AC3E}">
        <p14:creationId xmlns:p14="http://schemas.microsoft.com/office/powerpoint/2010/main" val="3965652245"/>
      </p:ext>
    </p:extLst>
  </p:cSld>
  <p:clrMapOvr>
    <a:masterClrMapping/>
  </p:clrMapOvr>
  <p:transition spd="slow">
    <p:wipe dir="d"/>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152400"/>
            <a:ext cx="8077200" cy="1143000"/>
          </a:xfrm>
        </p:spPr>
        <p:txBody>
          <a:bodyPr>
            <a:normAutofit fontScale="90000"/>
          </a:bodyPr>
          <a:lstStyle/>
          <a:p>
            <a:r>
              <a:rPr lang="en-US" b="1" dirty="0"/>
              <a:t>Detect Extrapolation Beyond the Range of the Data (not</a:t>
            </a:r>
            <a:r>
              <a:rPr lang="zh-CN" altLang="en-US" b="1" dirty="0"/>
              <a:t> </a:t>
            </a:r>
            <a:r>
              <a:rPr lang="en-US" altLang="zh-CN" b="1" dirty="0"/>
              <a:t>required)</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85800" y="1447800"/>
                <a:ext cx="8077200" cy="5257800"/>
              </a:xfrm>
            </p:spPr>
            <p:txBody>
              <a:bodyPr>
                <a:normAutofit fontScale="92500" lnSpcReduction="20000"/>
              </a:bodyPr>
              <a:lstStyle/>
              <a:p>
                <a:r>
                  <a:rPr lang="en-US" dirty="0"/>
                  <a:t>It can be shown that </a:t>
                </a:r>
                <a14:m>
                  <m:oMath xmlns:m="http://schemas.openxmlformats.org/officeDocument/2006/math">
                    <m:sSub>
                      <m:sSubPr>
                        <m:ctrlPr>
                          <a:rPr lang="en-US" i="1">
                            <a:solidFill>
                              <a:schemeClr val="accent6">
                                <a:lumMod val="75000"/>
                              </a:schemeClr>
                            </a:solidFill>
                            <a:latin typeface="Cambria Math" panose="02040503050406030204" pitchFamily="18" charset="0"/>
                          </a:rPr>
                        </m:ctrlPr>
                      </m:sSubPr>
                      <m:e>
                        <m:r>
                          <a:rPr lang="en-US" b="0" i="1" smtClean="0">
                            <a:solidFill>
                              <a:schemeClr val="accent6">
                                <a:lumMod val="75000"/>
                              </a:schemeClr>
                            </a:solidFill>
                            <a:latin typeface="Cambria Math" panose="02040503050406030204" pitchFamily="18" charset="0"/>
                          </a:rPr>
                          <m:t>𝑣𝑎𝑟</m:t>
                        </m:r>
                        <m:d>
                          <m:dPr>
                            <m:ctrlPr>
                              <a:rPr lang="en-US" b="0" i="1" smtClean="0">
                                <a:solidFill>
                                  <a:schemeClr val="accent6">
                                    <a:lumMod val="75000"/>
                                  </a:schemeClr>
                                </a:solidFill>
                                <a:latin typeface="Cambria Math" panose="02040503050406030204" pitchFamily="18" charset="0"/>
                              </a:rPr>
                            </m:ctrlPr>
                          </m:dPr>
                          <m:e>
                            <m:sSub>
                              <m:sSubPr>
                                <m:ctrlPr>
                                  <a:rPr lang="en-US" b="0" i="1" smtClean="0">
                                    <a:solidFill>
                                      <a:schemeClr val="accent6">
                                        <a:lumMod val="75000"/>
                                      </a:schemeClr>
                                    </a:solidFill>
                                    <a:latin typeface="Cambria Math" panose="02040503050406030204" pitchFamily="18" charset="0"/>
                                  </a:rPr>
                                </m:ctrlPr>
                              </m:sSubPr>
                              <m:e>
                                <m:acc>
                                  <m:accPr>
                                    <m:chr m:val="̂"/>
                                    <m:ctrlPr>
                                      <a:rPr lang="en-US" b="0" i="1" smtClean="0">
                                        <a:solidFill>
                                          <a:schemeClr val="accent6">
                                            <a:lumMod val="75000"/>
                                          </a:schemeClr>
                                        </a:solidFill>
                                        <a:latin typeface="Cambria Math" panose="02040503050406030204" pitchFamily="18" charset="0"/>
                                      </a:rPr>
                                    </m:ctrlPr>
                                  </m:accPr>
                                  <m:e>
                                    <m:r>
                                      <a:rPr lang="en-US" b="0" i="1" smtClean="0">
                                        <a:solidFill>
                                          <a:schemeClr val="accent6">
                                            <a:lumMod val="75000"/>
                                          </a:schemeClr>
                                        </a:solidFill>
                                        <a:latin typeface="Cambria Math" panose="02040503050406030204" pitchFamily="18" charset="0"/>
                                      </a:rPr>
                                      <m:t>𝑌</m:t>
                                    </m:r>
                                  </m:e>
                                </m:acc>
                              </m:e>
                              <m:sub>
                                <m:r>
                                  <a:rPr lang="en-US" b="0" i="1" smtClean="0">
                                    <a:solidFill>
                                      <a:schemeClr val="accent6">
                                        <a:lumMod val="75000"/>
                                      </a:schemeClr>
                                    </a:solidFill>
                                    <a:latin typeface="Cambria Math" panose="02040503050406030204" pitchFamily="18" charset="0"/>
                                  </a:rPr>
                                  <m:t>𝑖</m:t>
                                </m:r>
                              </m:sub>
                            </m:sSub>
                          </m:e>
                        </m:d>
                        <m:r>
                          <a:rPr lang="en-US" b="0" i="1" smtClean="0">
                            <a:solidFill>
                              <a:schemeClr val="accent6">
                                <a:lumMod val="75000"/>
                              </a:schemeClr>
                            </a:solidFill>
                            <a:latin typeface="Cambria Math" panose="02040503050406030204" pitchFamily="18" charset="0"/>
                          </a:rPr>
                          <m:t>=</m:t>
                        </m:r>
                        <m:sSup>
                          <m:sSupPr>
                            <m:ctrlPr>
                              <a:rPr lang="en-US" b="0" i="1" smtClean="0">
                                <a:solidFill>
                                  <a:schemeClr val="accent6">
                                    <a:lumMod val="75000"/>
                                  </a:schemeClr>
                                </a:solidFill>
                                <a:latin typeface="Cambria Math" panose="02040503050406030204" pitchFamily="18" charset="0"/>
                              </a:rPr>
                            </m:ctrlPr>
                          </m:sSupPr>
                          <m:e>
                            <m:r>
                              <a:rPr lang="en-US" b="0" i="1" smtClean="0">
                                <a:solidFill>
                                  <a:schemeClr val="accent6">
                                    <a:lumMod val="75000"/>
                                  </a:schemeClr>
                                </a:solidFill>
                                <a:latin typeface="Cambria Math" panose="02040503050406030204" pitchFamily="18" charset="0"/>
                              </a:rPr>
                              <m:t>𝜎</m:t>
                            </m:r>
                          </m:e>
                          <m:sup>
                            <m:r>
                              <a:rPr lang="en-US" b="0" i="1" smtClean="0">
                                <a:solidFill>
                                  <a:schemeClr val="accent6">
                                    <a:lumMod val="75000"/>
                                  </a:schemeClr>
                                </a:solidFill>
                                <a:latin typeface="Cambria Math" panose="02040503050406030204" pitchFamily="18" charset="0"/>
                              </a:rPr>
                              <m:t>2</m:t>
                            </m:r>
                          </m:sup>
                        </m:sSup>
                        <m:r>
                          <a:rPr lang="en-US" i="1">
                            <a:solidFill>
                              <a:schemeClr val="accent6">
                                <a:lumMod val="75000"/>
                              </a:schemeClr>
                            </a:solidFill>
                            <a:latin typeface="Cambria Math" panose="02040503050406030204" pitchFamily="18" charset="0"/>
                          </a:rPr>
                          <m:t>𝐻</m:t>
                        </m:r>
                      </m:e>
                      <m:sub>
                        <m:r>
                          <a:rPr lang="en-US" i="1">
                            <a:solidFill>
                              <a:schemeClr val="accent6">
                                <a:lumMod val="75000"/>
                              </a:schemeClr>
                            </a:solidFill>
                            <a:latin typeface="Cambria Math" panose="02040503050406030204" pitchFamily="18" charset="0"/>
                          </a:rPr>
                          <m:t>𝑖</m:t>
                        </m:r>
                      </m:sub>
                    </m:sSub>
                  </m:oMath>
                </a14:m>
                <a:r>
                  <a:rPr lang="en-US" dirty="0"/>
                  <a:t>. Thus, there is a larger variability in </a:t>
                </a:r>
                <a14:m>
                  <m:oMath xmlns:m="http://schemas.openxmlformats.org/officeDocument/2006/math">
                    <m:sSub>
                      <m:sSubPr>
                        <m:ctrlPr>
                          <a:rPr lang="en-US" i="1">
                            <a:solidFill>
                              <a:schemeClr val="accent6">
                                <a:lumMod val="75000"/>
                              </a:schemeClr>
                            </a:solidFill>
                            <a:latin typeface="Cambria Math" panose="02040503050406030204" pitchFamily="18" charset="0"/>
                          </a:rPr>
                        </m:ctrlPr>
                      </m:sSubPr>
                      <m:e>
                        <m:acc>
                          <m:accPr>
                            <m:chr m:val="̂"/>
                            <m:ctrlPr>
                              <a:rPr lang="en-US" i="1">
                                <a:solidFill>
                                  <a:schemeClr val="accent6">
                                    <a:lumMod val="75000"/>
                                  </a:schemeClr>
                                </a:solidFill>
                                <a:latin typeface="Cambria Math" panose="02040503050406030204" pitchFamily="18" charset="0"/>
                              </a:rPr>
                            </m:ctrlPr>
                          </m:accPr>
                          <m:e>
                            <m:r>
                              <a:rPr lang="en-US" i="1">
                                <a:solidFill>
                                  <a:schemeClr val="accent6">
                                    <a:lumMod val="75000"/>
                                  </a:schemeClr>
                                </a:solidFill>
                                <a:latin typeface="Cambria Math" panose="02040503050406030204" pitchFamily="18" charset="0"/>
                              </a:rPr>
                              <m:t>𝑌</m:t>
                            </m:r>
                          </m:e>
                        </m:acc>
                      </m:e>
                      <m:sub>
                        <m:r>
                          <a:rPr lang="en-US" i="1">
                            <a:solidFill>
                              <a:schemeClr val="accent6">
                                <a:lumMod val="75000"/>
                              </a:schemeClr>
                            </a:solidFill>
                            <a:latin typeface="Cambria Math" panose="02040503050406030204" pitchFamily="18" charset="0"/>
                          </a:rPr>
                          <m:t>𝑖</m:t>
                        </m:r>
                      </m:sub>
                    </m:sSub>
                  </m:oMath>
                </a14:m>
                <a:r>
                  <a:rPr lang="en-US" dirty="0"/>
                  <a:t> if the </a:t>
                </a:r>
                <a:r>
                  <a:rPr lang="en-US" dirty="0" err="1"/>
                  <a:t>i</a:t>
                </a:r>
                <a:r>
                  <a:rPr lang="en-US" baseline="30000" dirty="0" err="1"/>
                  <a:t>th</a:t>
                </a:r>
                <a:r>
                  <a:rPr lang="en-US" dirty="0"/>
                  <a:t> data point’s predictor values are extreme.</a:t>
                </a:r>
              </a:p>
              <a:p>
                <a:r>
                  <a:rPr lang="en-US" dirty="0"/>
                  <a:t>Let </a:t>
                </a:r>
                <a14:m>
                  <m:oMath xmlns:m="http://schemas.openxmlformats.org/officeDocument/2006/math">
                    <m:r>
                      <a:rPr lang="en-US" i="1">
                        <a:solidFill>
                          <a:schemeClr val="accent6">
                            <a:lumMod val="75000"/>
                          </a:schemeClr>
                        </a:solidFill>
                        <a:latin typeface="Cambria Math" panose="02040503050406030204" pitchFamily="18" charset="0"/>
                      </a:rPr>
                      <m:t>𝑋</m:t>
                    </m:r>
                  </m:oMath>
                </a14:m>
                <a:r>
                  <a:rPr lang="en-US" i="1" dirty="0"/>
                  <a:t> </a:t>
                </a:r>
                <a:r>
                  <a:rPr lang="en-US" dirty="0"/>
                  <a:t>be the design matrix</a:t>
                </a:r>
              </a:p>
              <a:p>
                <a:r>
                  <a:rPr lang="en-US" dirty="0"/>
                  <a:t>Let </a:t>
                </a:r>
                <a14:m>
                  <m:oMath xmlns:m="http://schemas.openxmlformats.org/officeDocument/2006/math">
                    <m:sSub>
                      <m:sSubPr>
                        <m:ctrlPr>
                          <a:rPr lang="en-US" i="1">
                            <a:solidFill>
                              <a:schemeClr val="accent6">
                                <a:lumMod val="75000"/>
                              </a:schemeClr>
                            </a:solidFill>
                            <a:latin typeface="Cambria Math" panose="02040503050406030204" pitchFamily="18" charset="0"/>
                          </a:rPr>
                        </m:ctrlPr>
                      </m:sSubPr>
                      <m:e>
                        <m:r>
                          <a:rPr lang="en-US" b="0" i="1" smtClean="0">
                            <a:solidFill>
                              <a:schemeClr val="accent6">
                                <a:lumMod val="75000"/>
                              </a:schemeClr>
                            </a:solidFill>
                            <a:latin typeface="Cambria Math" panose="02040503050406030204" pitchFamily="18" charset="0"/>
                          </a:rPr>
                          <m:t>𝑋</m:t>
                        </m:r>
                      </m:e>
                      <m:sub>
                        <m:r>
                          <a:rPr lang="en-US" b="0" i="1" smtClean="0">
                            <a:solidFill>
                              <a:schemeClr val="accent6">
                                <a:lumMod val="75000"/>
                              </a:schemeClr>
                            </a:solidFill>
                            <a:latin typeface="Cambria Math" panose="02040503050406030204" pitchFamily="18" charset="0"/>
                          </a:rPr>
                          <m:t>h</m:t>
                        </m:r>
                      </m:sub>
                    </m:sSub>
                    <m:r>
                      <a:rPr lang="en-US" i="1">
                        <a:solidFill>
                          <a:schemeClr val="accent6">
                            <a:lumMod val="75000"/>
                          </a:schemeClr>
                        </a:solidFill>
                        <a:latin typeface="Cambria Math" panose="02040503050406030204" pitchFamily="18" charset="0"/>
                      </a:rPr>
                      <m:t>=</m:t>
                    </m:r>
                    <m:sSup>
                      <m:sSupPr>
                        <m:ctrlPr>
                          <a:rPr lang="en-US" b="0" i="1" smtClean="0">
                            <a:solidFill>
                              <a:schemeClr val="accent6">
                                <a:lumMod val="75000"/>
                              </a:schemeClr>
                            </a:solidFill>
                            <a:latin typeface="Cambria Math" panose="02040503050406030204" pitchFamily="18" charset="0"/>
                          </a:rPr>
                        </m:ctrlPr>
                      </m:sSupPr>
                      <m:e>
                        <m:d>
                          <m:dPr>
                            <m:ctrlPr>
                              <a:rPr lang="en-US" b="0" i="1" smtClean="0">
                                <a:solidFill>
                                  <a:schemeClr val="accent6">
                                    <a:lumMod val="75000"/>
                                  </a:schemeClr>
                                </a:solidFill>
                                <a:latin typeface="Cambria Math" panose="02040503050406030204" pitchFamily="18" charset="0"/>
                              </a:rPr>
                            </m:ctrlPr>
                          </m:dPr>
                          <m:e>
                            <m:r>
                              <a:rPr lang="en-US" b="0" i="1" smtClean="0">
                                <a:solidFill>
                                  <a:schemeClr val="accent6">
                                    <a:lumMod val="75000"/>
                                  </a:schemeClr>
                                </a:solidFill>
                                <a:latin typeface="Cambria Math" panose="02040503050406030204" pitchFamily="18" charset="0"/>
                              </a:rPr>
                              <m:t>1,</m:t>
                            </m:r>
                            <m:r>
                              <a:rPr lang="en-US" b="0" i="1" smtClean="0">
                                <a:solidFill>
                                  <a:schemeClr val="accent6">
                                    <a:lumMod val="75000"/>
                                  </a:schemeClr>
                                </a:solidFill>
                                <a:latin typeface="Cambria Math" panose="02040503050406030204" pitchFamily="18" charset="0"/>
                              </a:rPr>
                              <m:t>𝑋</m:t>
                            </m:r>
                            <m:sSub>
                              <m:sSubPr>
                                <m:ctrlPr>
                                  <a:rPr lang="en-US" b="0" i="1" smtClean="0">
                                    <a:solidFill>
                                      <a:schemeClr val="accent6">
                                        <a:lumMod val="75000"/>
                                      </a:schemeClr>
                                    </a:solidFill>
                                    <a:latin typeface="Cambria Math" panose="02040503050406030204" pitchFamily="18" charset="0"/>
                                  </a:rPr>
                                </m:ctrlPr>
                              </m:sSubPr>
                              <m:e>
                                <m:r>
                                  <a:rPr lang="en-US" b="0" i="1" smtClean="0">
                                    <a:solidFill>
                                      <a:schemeClr val="accent6">
                                        <a:lumMod val="75000"/>
                                      </a:schemeClr>
                                    </a:solidFill>
                                    <a:latin typeface="Cambria Math" panose="02040503050406030204" pitchFamily="18" charset="0"/>
                                  </a:rPr>
                                  <m:t>1</m:t>
                                </m:r>
                              </m:e>
                              <m:sub>
                                <m:r>
                                  <a:rPr lang="en-US" b="0" i="1" smtClean="0">
                                    <a:solidFill>
                                      <a:schemeClr val="accent6">
                                        <a:lumMod val="75000"/>
                                      </a:schemeClr>
                                    </a:solidFill>
                                    <a:latin typeface="Cambria Math" panose="02040503050406030204" pitchFamily="18" charset="0"/>
                                  </a:rPr>
                                  <m:t>h</m:t>
                                </m:r>
                              </m:sub>
                            </m:sSub>
                            <m:r>
                              <a:rPr lang="en-US" b="0" i="1" smtClean="0">
                                <a:solidFill>
                                  <a:schemeClr val="accent6">
                                    <a:lumMod val="75000"/>
                                  </a:schemeClr>
                                </a:solidFill>
                                <a:latin typeface="Cambria Math" panose="02040503050406030204" pitchFamily="18" charset="0"/>
                              </a:rPr>
                              <m:t>,⋯,</m:t>
                            </m:r>
                            <m:r>
                              <a:rPr lang="en-US" b="0" i="1" smtClean="0">
                                <a:solidFill>
                                  <a:schemeClr val="accent6">
                                    <a:lumMod val="75000"/>
                                  </a:schemeClr>
                                </a:solidFill>
                                <a:latin typeface="Cambria Math" panose="02040503050406030204" pitchFamily="18" charset="0"/>
                              </a:rPr>
                              <m:t>𝑋</m:t>
                            </m:r>
                            <m:sSub>
                              <m:sSubPr>
                                <m:ctrlPr>
                                  <a:rPr lang="en-US" b="0" i="1" smtClean="0">
                                    <a:solidFill>
                                      <a:schemeClr val="accent6">
                                        <a:lumMod val="75000"/>
                                      </a:schemeClr>
                                    </a:solidFill>
                                    <a:latin typeface="Cambria Math" panose="02040503050406030204" pitchFamily="18" charset="0"/>
                                  </a:rPr>
                                </m:ctrlPr>
                              </m:sSubPr>
                              <m:e>
                                <m:d>
                                  <m:dPr>
                                    <m:ctrlPr>
                                      <a:rPr lang="en-US" b="0" i="1" smtClean="0">
                                        <a:solidFill>
                                          <a:schemeClr val="accent6">
                                            <a:lumMod val="75000"/>
                                          </a:schemeClr>
                                        </a:solidFill>
                                        <a:latin typeface="Cambria Math" panose="02040503050406030204" pitchFamily="18" charset="0"/>
                                      </a:rPr>
                                    </m:ctrlPr>
                                  </m:dPr>
                                  <m:e>
                                    <m:r>
                                      <a:rPr lang="en-US" b="0" i="1" smtClean="0">
                                        <a:solidFill>
                                          <a:schemeClr val="accent6">
                                            <a:lumMod val="75000"/>
                                          </a:schemeClr>
                                        </a:solidFill>
                                        <a:latin typeface="Cambria Math" panose="02040503050406030204" pitchFamily="18" charset="0"/>
                                      </a:rPr>
                                      <m:t>𝑝</m:t>
                                    </m:r>
                                    <m:r>
                                      <a:rPr lang="en-US" b="0" i="1" smtClean="0">
                                        <a:solidFill>
                                          <a:schemeClr val="accent6">
                                            <a:lumMod val="75000"/>
                                          </a:schemeClr>
                                        </a:solidFill>
                                        <a:latin typeface="Cambria Math" panose="02040503050406030204" pitchFamily="18" charset="0"/>
                                      </a:rPr>
                                      <m:t>−1</m:t>
                                    </m:r>
                                  </m:e>
                                </m:d>
                              </m:e>
                              <m:sub>
                                <m:r>
                                  <a:rPr lang="en-US" b="0" i="1" smtClean="0">
                                    <a:solidFill>
                                      <a:schemeClr val="accent6">
                                        <a:lumMod val="75000"/>
                                      </a:schemeClr>
                                    </a:solidFill>
                                    <a:latin typeface="Cambria Math" panose="02040503050406030204" pitchFamily="18" charset="0"/>
                                  </a:rPr>
                                  <m:t>h</m:t>
                                </m:r>
                              </m:sub>
                            </m:sSub>
                          </m:e>
                        </m:d>
                      </m:e>
                      <m:sup>
                        <m:r>
                          <a:rPr lang="en-US" b="0" i="1" smtClean="0">
                            <a:solidFill>
                              <a:schemeClr val="accent6">
                                <a:lumMod val="75000"/>
                              </a:schemeClr>
                            </a:solidFill>
                            <a:latin typeface="Cambria Math" panose="02040503050406030204" pitchFamily="18" charset="0"/>
                          </a:rPr>
                          <m:t>𝑇</m:t>
                        </m:r>
                      </m:sup>
                    </m:sSup>
                  </m:oMath>
                </a14:m>
                <a:r>
                  <a:rPr lang="en-US" dirty="0"/>
                  <a:t> be a column vector of predictor values at a new level </a:t>
                </a:r>
                <a14:m>
                  <m:oMath xmlns:m="http://schemas.openxmlformats.org/officeDocument/2006/math">
                    <m:r>
                      <a:rPr lang="en-US" i="1">
                        <a:solidFill>
                          <a:schemeClr val="accent6">
                            <a:lumMod val="75000"/>
                          </a:schemeClr>
                        </a:solidFill>
                        <a:latin typeface="Cambria Math" panose="02040503050406030204" pitchFamily="18" charset="0"/>
                      </a:rPr>
                      <m:t>h</m:t>
                    </m:r>
                  </m:oMath>
                </a14:m>
                <a:r>
                  <a:rPr lang="en-US" dirty="0"/>
                  <a:t>. It can be shown</a:t>
                </a:r>
                <a14:m>
                  <m:oMath xmlns:m="http://schemas.openxmlformats.org/officeDocument/2006/math">
                    <m:r>
                      <a:rPr lang="en-US" sz="2800" dirty="0">
                        <a:solidFill>
                          <a:schemeClr val="accent6">
                            <a:lumMod val="75000"/>
                          </a:schemeClr>
                        </a:solidFill>
                        <a:latin typeface="Cambria Math" panose="02040503050406030204" pitchFamily="18" charset="0"/>
                      </a:rPr>
                      <m:t> </m:t>
                    </m:r>
                  </m:oMath>
                </a14:m>
                <a:endParaRPr lang="en-US" sz="2800" dirty="0">
                  <a:solidFill>
                    <a:schemeClr val="accent6">
                      <a:lumMod val="75000"/>
                    </a:schemeClr>
                  </a:solidFill>
                  <a:latin typeface="Cambria Math" panose="02040503050406030204" pitchFamily="18" charset="0"/>
                </a:endParaRPr>
              </a:p>
              <a:p>
                <a:pPr marL="0" indent="0">
                  <a:buNone/>
                </a:pPr>
                <a:r>
                  <a:rPr lang="en-US" sz="2800" dirty="0">
                    <a:solidFill>
                      <a:schemeClr val="accent6">
                        <a:lumMod val="75000"/>
                      </a:schemeClr>
                    </a:solidFill>
                  </a:rPr>
                  <a:t>    </a:t>
                </a:r>
                <a14:m>
                  <m:oMath xmlns:m="http://schemas.openxmlformats.org/officeDocument/2006/math">
                    <m:r>
                      <a:rPr lang="en-US" b="0" i="0" smtClean="0">
                        <a:solidFill>
                          <a:schemeClr val="accent6">
                            <a:lumMod val="75000"/>
                          </a:schemeClr>
                        </a:solidFill>
                        <a:latin typeface="Cambria Math" panose="02040503050406030204" pitchFamily="18" charset="0"/>
                      </a:rPr>
                      <m:t>               </m:t>
                    </m:r>
                    <m:r>
                      <a:rPr lang="en-US" i="1">
                        <a:solidFill>
                          <a:schemeClr val="accent6">
                            <a:lumMod val="75000"/>
                          </a:schemeClr>
                        </a:solidFill>
                        <a:latin typeface="Cambria Math" panose="02040503050406030204" pitchFamily="18" charset="0"/>
                      </a:rPr>
                      <m:t>𝑣𝑎𝑟</m:t>
                    </m:r>
                    <m:d>
                      <m:dPr>
                        <m:ctrlPr>
                          <a:rPr lang="en-US" i="1">
                            <a:solidFill>
                              <a:schemeClr val="accent6">
                                <a:lumMod val="75000"/>
                              </a:schemeClr>
                            </a:solidFill>
                            <a:latin typeface="Cambria Math" panose="02040503050406030204" pitchFamily="18" charset="0"/>
                          </a:rPr>
                        </m:ctrlPr>
                      </m:dPr>
                      <m:e>
                        <m:sSub>
                          <m:sSubPr>
                            <m:ctrlPr>
                              <a:rPr lang="en-US" i="1">
                                <a:solidFill>
                                  <a:schemeClr val="accent6">
                                    <a:lumMod val="75000"/>
                                  </a:schemeClr>
                                </a:solidFill>
                                <a:latin typeface="Cambria Math" panose="02040503050406030204" pitchFamily="18" charset="0"/>
                              </a:rPr>
                            </m:ctrlPr>
                          </m:sSubPr>
                          <m:e>
                            <m:acc>
                              <m:accPr>
                                <m:chr m:val="̂"/>
                                <m:ctrlPr>
                                  <a:rPr lang="en-US" i="1">
                                    <a:solidFill>
                                      <a:schemeClr val="accent6">
                                        <a:lumMod val="75000"/>
                                      </a:schemeClr>
                                    </a:solidFill>
                                    <a:latin typeface="Cambria Math" panose="02040503050406030204" pitchFamily="18" charset="0"/>
                                  </a:rPr>
                                </m:ctrlPr>
                              </m:accPr>
                              <m:e>
                                <m:r>
                                  <a:rPr lang="en-US" i="1">
                                    <a:solidFill>
                                      <a:schemeClr val="accent6">
                                        <a:lumMod val="75000"/>
                                      </a:schemeClr>
                                    </a:solidFill>
                                    <a:latin typeface="Cambria Math" panose="02040503050406030204" pitchFamily="18" charset="0"/>
                                  </a:rPr>
                                  <m:t>𝑌</m:t>
                                </m:r>
                              </m:e>
                            </m:acc>
                          </m:e>
                          <m:sub>
                            <m:r>
                              <a:rPr lang="en-US" b="0" i="1" smtClean="0">
                                <a:solidFill>
                                  <a:schemeClr val="accent6">
                                    <a:lumMod val="75000"/>
                                  </a:schemeClr>
                                </a:solidFill>
                                <a:latin typeface="Cambria Math" panose="02040503050406030204" pitchFamily="18" charset="0"/>
                              </a:rPr>
                              <m:t>h</m:t>
                            </m:r>
                          </m:sub>
                        </m:sSub>
                      </m:e>
                    </m:d>
                    <m:r>
                      <a:rPr lang="en-US" i="1">
                        <a:solidFill>
                          <a:schemeClr val="accent6">
                            <a:lumMod val="75000"/>
                          </a:schemeClr>
                        </a:solidFill>
                        <a:latin typeface="Cambria Math" panose="02040503050406030204" pitchFamily="18" charset="0"/>
                      </a:rPr>
                      <m:t>=</m:t>
                    </m:r>
                    <m:sSup>
                      <m:sSupPr>
                        <m:ctrlPr>
                          <a:rPr lang="en-US" i="1">
                            <a:solidFill>
                              <a:schemeClr val="accent6">
                                <a:lumMod val="75000"/>
                              </a:schemeClr>
                            </a:solidFill>
                            <a:latin typeface="Cambria Math" panose="02040503050406030204" pitchFamily="18" charset="0"/>
                          </a:rPr>
                        </m:ctrlPr>
                      </m:sSupPr>
                      <m:e>
                        <m:r>
                          <a:rPr lang="en-US" i="1">
                            <a:solidFill>
                              <a:schemeClr val="accent6">
                                <a:lumMod val="75000"/>
                              </a:schemeClr>
                            </a:solidFill>
                            <a:latin typeface="Cambria Math" panose="02040503050406030204" pitchFamily="18" charset="0"/>
                          </a:rPr>
                          <m:t>𝜎</m:t>
                        </m:r>
                      </m:e>
                      <m:sup>
                        <m:r>
                          <a:rPr lang="en-US" i="1">
                            <a:solidFill>
                              <a:schemeClr val="accent6">
                                <a:lumMod val="75000"/>
                              </a:schemeClr>
                            </a:solidFill>
                            <a:latin typeface="Cambria Math" panose="02040503050406030204" pitchFamily="18" charset="0"/>
                          </a:rPr>
                          <m:t>2</m:t>
                        </m:r>
                      </m:sup>
                    </m:sSup>
                    <m:sSup>
                      <m:sSupPr>
                        <m:ctrlPr>
                          <a:rPr lang="en-US" i="1">
                            <a:solidFill>
                              <a:schemeClr val="accent6">
                                <a:lumMod val="75000"/>
                              </a:schemeClr>
                            </a:solidFill>
                            <a:latin typeface="Cambria Math" panose="02040503050406030204" pitchFamily="18" charset="0"/>
                          </a:rPr>
                        </m:ctrlPr>
                      </m:sSupPr>
                      <m:e>
                        <m:d>
                          <m:dPr>
                            <m:ctrlPr>
                              <a:rPr lang="en-US" i="1">
                                <a:solidFill>
                                  <a:schemeClr val="accent6">
                                    <a:lumMod val="75000"/>
                                  </a:schemeClr>
                                </a:solidFill>
                                <a:latin typeface="Cambria Math" panose="02040503050406030204" pitchFamily="18" charset="0"/>
                              </a:rPr>
                            </m:ctrlPr>
                          </m:dPr>
                          <m:e>
                            <m:sSub>
                              <m:sSubPr>
                                <m:ctrlPr>
                                  <a:rPr lang="en-US" i="1">
                                    <a:solidFill>
                                      <a:schemeClr val="accent6">
                                        <a:lumMod val="75000"/>
                                      </a:schemeClr>
                                    </a:solidFill>
                                    <a:latin typeface="Cambria Math" panose="02040503050406030204" pitchFamily="18" charset="0"/>
                                  </a:rPr>
                                </m:ctrlPr>
                              </m:sSubPr>
                              <m:e>
                                <m:r>
                                  <a:rPr lang="en-US" i="1">
                                    <a:solidFill>
                                      <a:schemeClr val="accent6">
                                        <a:lumMod val="75000"/>
                                      </a:schemeClr>
                                    </a:solidFill>
                                    <a:latin typeface="Cambria Math" panose="02040503050406030204" pitchFamily="18" charset="0"/>
                                  </a:rPr>
                                  <m:t>𝑋</m:t>
                                </m:r>
                              </m:e>
                              <m:sub>
                                <m:r>
                                  <a:rPr lang="en-US" b="0" i="1" smtClean="0">
                                    <a:solidFill>
                                      <a:schemeClr val="accent6">
                                        <a:lumMod val="75000"/>
                                      </a:schemeClr>
                                    </a:solidFill>
                                    <a:latin typeface="Cambria Math" panose="02040503050406030204" pitchFamily="18" charset="0"/>
                                  </a:rPr>
                                  <m:t>h</m:t>
                                </m:r>
                              </m:sub>
                            </m:sSub>
                          </m:e>
                        </m:d>
                      </m:e>
                      <m:sup>
                        <m:r>
                          <a:rPr lang="en-US" i="1">
                            <a:solidFill>
                              <a:schemeClr val="accent6">
                                <a:lumMod val="75000"/>
                              </a:schemeClr>
                            </a:solidFill>
                            <a:latin typeface="Cambria Math" panose="02040503050406030204" pitchFamily="18" charset="0"/>
                          </a:rPr>
                          <m:t>𝑇</m:t>
                        </m:r>
                      </m:sup>
                    </m:sSup>
                    <m:sSup>
                      <m:sSupPr>
                        <m:ctrlPr>
                          <a:rPr lang="en-US" i="1">
                            <a:solidFill>
                              <a:schemeClr val="accent6">
                                <a:lumMod val="75000"/>
                              </a:schemeClr>
                            </a:solidFill>
                            <a:latin typeface="Cambria Math" panose="02040503050406030204" pitchFamily="18" charset="0"/>
                          </a:rPr>
                        </m:ctrlPr>
                      </m:sSupPr>
                      <m:e>
                        <m:d>
                          <m:dPr>
                            <m:ctrlPr>
                              <a:rPr lang="en-US" i="1">
                                <a:solidFill>
                                  <a:schemeClr val="accent6">
                                    <a:lumMod val="75000"/>
                                  </a:schemeClr>
                                </a:solidFill>
                                <a:latin typeface="Cambria Math" panose="02040503050406030204" pitchFamily="18" charset="0"/>
                              </a:rPr>
                            </m:ctrlPr>
                          </m:dPr>
                          <m:e>
                            <m:sSup>
                              <m:sSupPr>
                                <m:ctrlPr>
                                  <a:rPr lang="en-US" i="1">
                                    <a:solidFill>
                                      <a:schemeClr val="accent6">
                                        <a:lumMod val="75000"/>
                                      </a:schemeClr>
                                    </a:solidFill>
                                    <a:latin typeface="Cambria Math" panose="02040503050406030204" pitchFamily="18" charset="0"/>
                                  </a:rPr>
                                </m:ctrlPr>
                              </m:sSupPr>
                              <m:e>
                                <m:r>
                                  <a:rPr lang="en-US" i="1">
                                    <a:solidFill>
                                      <a:schemeClr val="accent6">
                                        <a:lumMod val="75000"/>
                                      </a:schemeClr>
                                    </a:solidFill>
                                    <a:latin typeface="Cambria Math" panose="02040503050406030204" pitchFamily="18" charset="0"/>
                                  </a:rPr>
                                  <m:t>𝑋</m:t>
                                </m:r>
                              </m:e>
                              <m:sup>
                                <m:r>
                                  <a:rPr lang="en-US" i="1">
                                    <a:solidFill>
                                      <a:schemeClr val="accent6">
                                        <a:lumMod val="75000"/>
                                      </a:schemeClr>
                                    </a:solidFill>
                                    <a:latin typeface="Cambria Math" panose="02040503050406030204" pitchFamily="18" charset="0"/>
                                  </a:rPr>
                                  <m:t>𝑇</m:t>
                                </m:r>
                              </m:sup>
                            </m:sSup>
                            <m:r>
                              <a:rPr lang="en-US" i="1">
                                <a:solidFill>
                                  <a:schemeClr val="accent6">
                                    <a:lumMod val="75000"/>
                                  </a:schemeClr>
                                </a:solidFill>
                                <a:latin typeface="Cambria Math" panose="02040503050406030204" pitchFamily="18" charset="0"/>
                              </a:rPr>
                              <m:t>𝑋</m:t>
                            </m:r>
                          </m:e>
                        </m:d>
                      </m:e>
                      <m:sup>
                        <m:r>
                          <a:rPr lang="en-US" i="1">
                            <a:solidFill>
                              <a:schemeClr val="accent6">
                                <a:lumMod val="75000"/>
                              </a:schemeClr>
                            </a:solidFill>
                            <a:latin typeface="Cambria Math" panose="02040503050406030204" pitchFamily="18" charset="0"/>
                          </a:rPr>
                          <m:t>−1</m:t>
                        </m:r>
                      </m:sup>
                    </m:sSup>
                    <m:sSub>
                      <m:sSubPr>
                        <m:ctrlPr>
                          <a:rPr lang="en-US" i="1">
                            <a:solidFill>
                              <a:schemeClr val="accent6">
                                <a:lumMod val="75000"/>
                              </a:schemeClr>
                            </a:solidFill>
                            <a:latin typeface="Cambria Math" panose="02040503050406030204" pitchFamily="18" charset="0"/>
                          </a:rPr>
                        </m:ctrlPr>
                      </m:sSubPr>
                      <m:e>
                        <m:r>
                          <a:rPr lang="en-US" i="1">
                            <a:solidFill>
                              <a:schemeClr val="accent6">
                                <a:lumMod val="75000"/>
                              </a:schemeClr>
                            </a:solidFill>
                            <a:latin typeface="Cambria Math" panose="02040503050406030204" pitchFamily="18" charset="0"/>
                          </a:rPr>
                          <m:t>𝑋</m:t>
                        </m:r>
                      </m:e>
                      <m:sub>
                        <m:r>
                          <a:rPr lang="en-US" b="0" i="1" smtClean="0">
                            <a:solidFill>
                              <a:schemeClr val="accent6">
                                <a:lumMod val="75000"/>
                              </a:schemeClr>
                            </a:solidFill>
                            <a:latin typeface="Cambria Math" panose="02040503050406030204" pitchFamily="18" charset="0"/>
                          </a:rPr>
                          <m:t>h</m:t>
                        </m:r>
                      </m:sub>
                    </m:sSub>
                  </m:oMath>
                </a14:m>
                <a:r>
                  <a:rPr lang="en-US" dirty="0"/>
                  <a:t> </a:t>
                </a:r>
              </a:p>
              <a:p>
                <a:r>
                  <a:rPr lang="en-US" dirty="0"/>
                  <a:t>A large value of </a:t>
                </a:r>
                <a14:m>
                  <m:oMath xmlns:m="http://schemas.openxmlformats.org/officeDocument/2006/math">
                    <m:sSup>
                      <m:sSupPr>
                        <m:ctrlPr>
                          <a:rPr lang="en-US" i="1">
                            <a:solidFill>
                              <a:schemeClr val="accent6">
                                <a:lumMod val="75000"/>
                              </a:schemeClr>
                            </a:solidFill>
                            <a:latin typeface="Cambria Math" panose="02040503050406030204" pitchFamily="18" charset="0"/>
                          </a:rPr>
                        </m:ctrlPr>
                      </m:sSupPr>
                      <m:e>
                        <m:d>
                          <m:dPr>
                            <m:ctrlPr>
                              <a:rPr lang="en-US" i="1">
                                <a:solidFill>
                                  <a:schemeClr val="accent6">
                                    <a:lumMod val="75000"/>
                                  </a:schemeClr>
                                </a:solidFill>
                                <a:latin typeface="Cambria Math" panose="02040503050406030204" pitchFamily="18" charset="0"/>
                              </a:rPr>
                            </m:ctrlPr>
                          </m:dPr>
                          <m:e>
                            <m:sSub>
                              <m:sSubPr>
                                <m:ctrlPr>
                                  <a:rPr lang="en-US" i="1">
                                    <a:solidFill>
                                      <a:schemeClr val="accent6">
                                        <a:lumMod val="75000"/>
                                      </a:schemeClr>
                                    </a:solidFill>
                                    <a:latin typeface="Cambria Math" panose="02040503050406030204" pitchFamily="18" charset="0"/>
                                  </a:rPr>
                                </m:ctrlPr>
                              </m:sSubPr>
                              <m:e>
                                <m:r>
                                  <a:rPr lang="en-US" i="1">
                                    <a:solidFill>
                                      <a:schemeClr val="accent6">
                                        <a:lumMod val="75000"/>
                                      </a:schemeClr>
                                    </a:solidFill>
                                    <a:latin typeface="Cambria Math" panose="02040503050406030204" pitchFamily="18" charset="0"/>
                                  </a:rPr>
                                  <m:t>𝑋</m:t>
                                </m:r>
                              </m:e>
                              <m:sub>
                                <m:r>
                                  <a:rPr lang="en-US" i="1">
                                    <a:solidFill>
                                      <a:schemeClr val="accent6">
                                        <a:lumMod val="75000"/>
                                      </a:schemeClr>
                                    </a:solidFill>
                                    <a:latin typeface="Cambria Math" panose="02040503050406030204" pitchFamily="18" charset="0"/>
                                  </a:rPr>
                                  <m:t>h</m:t>
                                </m:r>
                              </m:sub>
                            </m:sSub>
                          </m:e>
                        </m:d>
                      </m:e>
                      <m:sup>
                        <m:r>
                          <a:rPr lang="en-US" i="1">
                            <a:solidFill>
                              <a:schemeClr val="accent6">
                                <a:lumMod val="75000"/>
                              </a:schemeClr>
                            </a:solidFill>
                            <a:latin typeface="Cambria Math" panose="02040503050406030204" pitchFamily="18" charset="0"/>
                          </a:rPr>
                          <m:t>𝑇</m:t>
                        </m:r>
                      </m:sup>
                    </m:sSup>
                    <m:sSup>
                      <m:sSupPr>
                        <m:ctrlPr>
                          <a:rPr lang="en-US" i="1">
                            <a:solidFill>
                              <a:schemeClr val="accent6">
                                <a:lumMod val="75000"/>
                              </a:schemeClr>
                            </a:solidFill>
                            <a:latin typeface="Cambria Math" panose="02040503050406030204" pitchFamily="18" charset="0"/>
                          </a:rPr>
                        </m:ctrlPr>
                      </m:sSupPr>
                      <m:e>
                        <m:d>
                          <m:dPr>
                            <m:ctrlPr>
                              <a:rPr lang="en-US" i="1">
                                <a:solidFill>
                                  <a:schemeClr val="accent6">
                                    <a:lumMod val="75000"/>
                                  </a:schemeClr>
                                </a:solidFill>
                                <a:latin typeface="Cambria Math" panose="02040503050406030204" pitchFamily="18" charset="0"/>
                              </a:rPr>
                            </m:ctrlPr>
                          </m:dPr>
                          <m:e>
                            <m:sSup>
                              <m:sSupPr>
                                <m:ctrlPr>
                                  <a:rPr lang="en-US" i="1">
                                    <a:solidFill>
                                      <a:schemeClr val="accent6">
                                        <a:lumMod val="75000"/>
                                      </a:schemeClr>
                                    </a:solidFill>
                                    <a:latin typeface="Cambria Math" panose="02040503050406030204" pitchFamily="18" charset="0"/>
                                  </a:rPr>
                                </m:ctrlPr>
                              </m:sSupPr>
                              <m:e>
                                <m:r>
                                  <a:rPr lang="en-US" i="1">
                                    <a:solidFill>
                                      <a:schemeClr val="accent6">
                                        <a:lumMod val="75000"/>
                                      </a:schemeClr>
                                    </a:solidFill>
                                    <a:latin typeface="Cambria Math" panose="02040503050406030204" pitchFamily="18" charset="0"/>
                                  </a:rPr>
                                  <m:t>𝑋</m:t>
                                </m:r>
                              </m:e>
                              <m:sup>
                                <m:r>
                                  <a:rPr lang="en-US" i="1">
                                    <a:solidFill>
                                      <a:schemeClr val="accent6">
                                        <a:lumMod val="75000"/>
                                      </a:schemeClr>
                                    </a:solidFill>
                                    <a:latin typeface="Cambria Math" panose="02040503050406030204" pitchFamily="18" charset="0"/>
                                  </a:rPr>
                                  <m:t>𝑇</m:t>
                                </m:r>
                              </m:sup>
                            </m:sSup>
                            <m:r>
                              <a:rPr lang="en-US" i="1">
                                <a:solidFill>
                                  <a:schemeClr val="accent6">
                                    <a:lumMod val="75000"/>
                                  </a:schemeClr>
                                </a:solidFill>
                                <a:latin typeface="Cambria Math" panose="02040503050406030204" pitchFamily="18" charset="0"/>
                              </a:rPr>
                              <m:t>𝑋</m:t>
                            </m:r>
                          </m:e>
                        </m:d>
                      </m:e>
                      <m:sup>
                        <m:r>
                          <a:rPr lang="en-US" i="1">
                            <a:solidFill>
                              <a:schemeClr val="accent6">
                                <a:lumMod val="75000"/>
                              </a:schemeClr>
                            </a:solidFill>
                            <a:latin typeface="Cambria Math" panose="02040503050406030204" pitchFamily="18" charset="0"/>
                          </a:rPr>
                          <m:t>−1</m:t>
                        </m:r>
                      </m:sup>
                    </m:sSup>
                    <m:sSub>
                      <m:sSubPr>
                        <m:ctrlPr>
                          <a:rPr lang="en-US" i="1">
                            <a:solidFill>
                              <a:schemeClr val="accent6">
                                <a:lumMod val="75000"/>
                              </a:schemeClr>
                            </a:solidFill>
                            <a:latin typeface="Cambria Math" panose="02040503050406030204" pitchFamily="18" charset="0"/>
                          </a:rPr>
                        </m:ctrlPr>
                      </m:sSubPr>
                      <m:e>
                        <m:r>
                          <a:rPr lang="en-US" i="1">
                            <a:solidFill>
                              <a:schemeClr val="accent6">
                                <a:lumMod val="75000"/>
                              </a:schemeClr>
                            </a:solidFill>
                            <a:latin typeface="Cambria Math" panose="02040503050406030204" pitchFamily="18" charset="0"/>
                          </a:rPr>
                          <m:t>𝑋</m:t>
                        </m:r>
                      </m:e>
                      <m:sub>
                        <m:r>
                          <a:rPr lang="en-US" i="1">
                            <a:solidFill>
                              <a:schemeClr val="accent6">
                                <a:lumMod val="75000"/>
                              </a:schemeClr>
                            </a:solidFill>
                            <a:latin typeface="Cambria Math" panose="02040503050406030204" pitchFamily="18" charset="0"/>
                          </a:rPr>
                          <m:t>h</m:t>
                        </m:r>
                      </m:sub>
                    </m:sSub>
                  </m:oMath>
                </a14:m>
                <a:r>
                  <a:rPr lang="en-US" dirty="0"/>
                  <a:t> indicates that the estimate </a:t>
                </a:r>
                <a14:m>
                  <m:oMath xmlns:m="http://schemas.openxmlformats.org/officeDocument/2006/math">
                    <m:sSub>
                      <m:sSubPr>
                        <m:ctrlPr>
                          <a:rPr lang="en-US" i="1">
                            <a:solidFill>
                              <a:schemeClr val="accent6">
                                <a:lumMod val="75000"/>
                              </a:schemeClr>
                            </a:solidFill>
                            <a:latin typeface="Cambria Math" panose="02040503050406030204" pitchFamily="18" charset="0"/>
                          </a:rPr>
                        </m:ctrlPr>
                      </m:sSubPr>
                      <m:e>
                        <m:acc>
                          <m:accPr>
                            <m:chr m:val="̂"/>
                            <m:ctrlPr>
                              <a:rPr lang="en-US" i="1">
                                <a:solidFill>
                                  <a:schemeClr val="accent6">
                                    <a:lumMod val="75000"/>
                                  </a:schemeClr>
                                </a:solidFill>
                                <a:latin typeface="Cambria Math" panose="02040503050406030204" pitchFamily="18" charset="0"/>
                              </a:rPr>
                            </m:ctrlPr>
                          </m:accPr>
                          <m:e>
                            <m:r>
                              <a:rPr lang="en-US" i="1">
                                <a:solidFill>
                                  <a:schemeClr val="accent6">
                                    <a:lumMod val="75000"/>
                                  </a:schemeClr>
                                </a:solidFill>
                                <a:latin typeface="Cambria Math" panose="02040503050406030204" pitchFamily="18" charset="0"/>
                              </a:rPr>
                              <m:t>𝑌</m:t>
                            </m:r>
                          </m:e>
                        </m:acc>
                      </m:e>
                      <m:sub>
                        <m:r>
                          <a:rPr lang="en-US" i="1">
                            <a:solidFill>
                              <a:schemeClr val="accent6">
                                <a:lumMod val="75000"/>
                              </a:schemeClr>
                            </a:solidFill>
                            <a:latin typeface="Cambria Math" panose="02040503050406030204" pitchFamily="18" charset="0"/>
                          </a:rPr>
                          <m:t>h</m:t>
                        </m:r>
                      </m:sub>
                    </m:sSub>
                  </m:oMath>
                </a14:m>
                <a:r>
                  <a:rPr lang="en-US" dirty="0"/>
                  <a:t> may not be reliable, which can be used as evidence for possible extrapolation beyond the range of the data.</a:t>
                </a:r>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85800" y="1447800"/>
                <a:ext cx="8077200" cy="5257800"/>
              </a:xfrm>
              <a:blipFill>
                <a:blip r:embed="rId2"/>
                <a:stretch>
                  <a:fillRect l="-1585" t="-2320" r="-2038" b="-2900"/>
                </a:stretch>
              </a:blipFill>
            </p:spPr>
            <p:txBody>
              <a:bodyPr/>
              <a:lstStyle/>
              <a:p>
                <a:r>
                  <a:rPr lang="en-US">
                    <a:noFill/>
                  </a:rPr>
                  <a:t> </a:t>
                </a:r>
              </a:p>
            </p:txBody>
          </p:sp>
        </mc:Fallback>
      </mc:AlternateContent>
    </p:spTree>
    <p:extLst>
      <p:ext uri="{BB962C8B-B14F-4D97-AF65-F5344CB8AC3E}">
        <p14:creationId xmlns:p14="http://schemas.microsoft.com/office/powerpoint/2010/main" val="3202577470"/>
      </p:ext>
    </p:extLst>
  </p:cSld>
  <p:clrMapOvr>
    <a:masterClrMapping/>
  </p:clrMapOvr>
  <p:transition spd="slow">
    <p:wipe dir="d"/>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Residual Diagnostics</a:t>
            </a:r>
          </a:p>
        </p:txBody>
      </p:sp>
      <p:sp>
        <p:nvSpPr>
          <p:cNvPr id="3" name="Content Placeholder 2"/>
          <p:cNvSpPr>
            <a:spLocks noGrp="1"/>
          </p:cNvSpPr>
          <p:nvPr>
            <p:ph idx="1"/>
          </p:nvPr>
        </p:nvSpPr>
        <p:spPr>
          <a:xfrm>
            <a:off x="457200" y="1676400"/>
            <a:ext cx="8077200" cy="4297363"/>
          </a:xfrm>
        </p:spPr>
        <p:txBody>
          <a:bodyPr>
            <a:normAutofit fontScale="92500" lnSpcReduction="20000"/>
          </a:bodyPr>
          <a:lstStyle/>
          <a:p>
            <a:pPr lvl="1">
              <a:buFont typeface="Arial"/>
              <a:buChar char="•"/>
            </a:pPr>
            <a:r>
              <a:rPr lang="en-US" dirty="0"/>
              <a:t>If the multiple linear regression model is appropriate (use </a:t>
            </a:r>
            <a:r>
              <a:rPr lang="en-US" dirty="0">
                <a:solidFill>
                  <a:srgbClr val="00B050"/>
                </a:solidFill>
              </a:rPr>
              <a:t>Residuals vs Fitted</a:t>
            </a:r>
            <a:r>
              <a:rPr lang="en-US" dirty="0"/>
              <a:t>) </a:t>
            </a:r>
          </a:p>
          <a:p>
            <a:pPr lvl="1">
              <a:buFont typeface="Arial"/>
              <a:buChar char="•"/>
            </a:pPr>
            <a:r>
              <a:rPr lang="en-US" dirty="0"/>
              <a:t>If the errors have constant variance (use </a:t>
            </a:r>
            <a:r>
              <a:rPr lang="en-US" dirty="0">
                <a:solidFill>
                  <a:srgbClr val="00B050"/>
                </a:solidFill>
              </a:rPr>
              <a:t>Residuals vs Fitted</a:t>
            </a:r>
            <a:r>
              <a:rPr lang="en-US" dirty="0"/>
              <a:t> and/or </a:t>
            </a:r>
            <a:r>
              <a:rPr lang="en-US" dirty="0">
                <a:solidFill>
                  <a:srgbClr val="00B050"/>
                </a:solidFill>
              </a:rPr>
              <a:t>Scale-Location</a:t>
            </a:r>
            <a:r>
              <a:rPr lang="en-US" dirty="0"/>
              <a:t>)</a:t>
            </a:r>
          </a:p>
          <a:p>
            <a:pPr lvl="1">
              <a:buFont typeface="Arial"/>
              <a:buChar char="•"/>
            </a:pPr>
            <a:r>
              <a:rPr lang="en-US" dirty="0"/>
              <a:t>If the errors are independent (plot </a:t>
            </a:r>
            <a:r>
              <a:rPr lang="en-US" dirty="0">
                <a:solidFill>
                  <a:srgbClr val="00B050"/>
                </a:solidFill>
              </a:rPr>
              <a:t>residuals against time</a:t>
            </a:r>
            <a:r>
              <a:rPr lang="en-US" dirty="0"/>
              <a:t>) </a:t>
            </a:r>
          </a:p>
          <a:p>
            <a:pPr lvl="1">
              <a:buFont typeface="Arial"/>
              <a:buChar char="•"/>
            </a:pPr>
            <a:r>
              <a:rPr lang="en-US" dirty="0"/>
              <a:t>If there are outliers present (use </a:t>
            </a:r>
            <a:r>
              <a:rPr lang="en-US" dirty="0">
                <a:solidFill>
                  <a:srgbClr val="00B050"/>
                </a:solidFill>
              </a:rPr>
              <a:t>Residuals vs Fitted </a:t>
            </a:r>
            <a:r>
              <a:rPr lang="en-US" dirty="0"/>
              <a:t>and/or </a:t>
            </a:r>
            <a:r>
              <a:rPr lang="en-US" dirty="0">
                <a:solidFill>
                  <a:srgbClr val="00B050"/>
                </a:solidFill>
              </a:rPr>
              <a:t>Residuals vs Leverage</a:t>
            </a:r>
            <a:r>
              <a:rPr lang="en-US" dirty="0"/>
              <a:t>)</a:t>
            </a:r>
          </a:p>
          <a:p>
            <a:pPr lvl="1">
              <a:buFont typeface="Arial"/>
              <a:buChar char="•"/>
            </a:pPr>
            <a:r>
              <a:rPr lang="en-US" dirty="0"/>
              <a:t>If the errors are normally distributed (use </a:t>
            </a:r>
            <a:r>
              <a:rPr lang="en-US" dirty="0">
                <a:solidFill>
                  <a:srgbClr val="00B050"/>
                </a:solidFill>
              </a:rPr>
              <a:t>Normal Q-Q plot</a:t>
            </a:r>
            <a:r>
              <a:rPr lang="en-US" dirty="0"/>
              <a:t>)</a:t>
            </a:r>
          </a:p>
          <a:p>
            <a:pPr lvl="1">
              <a:buFont typeface="Arial"/>
              <a:buChar char="•"/>
            </a:pPr>
            <a:r>
              <a:rPr lang="en-US" dirty="0"/>
              <a:t>If there are any influential points (use </a:t>
            </a:r>
            <a:r>
              <a:rPr lang="en-US" dirty="0">
                <a:solidFill>
                  <a:srgbClr val="00B050"/>
                </a:solidFill>
              </a:rPr>
              <a:t>Cook’s distance</a:t>
            </a:r>
            <a:r>
              <a:rPr lang="en-US" dirty="0"/>
              <a:t>) </a:t>
            </a:r>
          </a:p>
          <a:p>
            <a:endParaRPr lang="en-US" dirty="0"/>
          </a:p>
        </p:txBody>
      </p:sp>
    </p:spTree>
    <p:extLst>
      <p:ext uri="{BB962C8B-B14F-4D97-AF65-F5344CB8AC3E}">
        <p14:creationId xmlns:p14="http://schemas.microsoft.com/office/powerpoint/2010/main" val="2300389382"/>
      </p:ext>
    </p:extLst>
  </p:cSld>
  <p:clrMapOvr>
    <a:masterClrMapping/>
  </p:clrMapOvr>
  <p:transition spd="slow">
    <p:wipe dir="d"/>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solidFill>
                  <a:schemeClr val="tx1">
                    <a:lumMod val="50000"/>
                  </a:schemeClr>
                </a:solidFill>
              </a:rPr>
              <a:t>Example: What determine an NBA player’s salary?</a:t>
            </a:r>
            <a:endParaRPr lang="en-US" dirty="0"/>
          </a:p>
        </p:txBody>
      </p:sp>
      <p:pic>
        <p:nvPicPr>
          <p:cNvPr id="4" name="Content Placeholder 3"/>
          <p:cNvPicPr>
            <a:picLocks noGrp="1" noChangeAspect="1"/>
          </p:cNvPicPr>
          <p:nvPr>
            <p:ph idx="1"/>
          </p:nvPr>
        </p:nvPicPr>
        <p:blipFill>
          <a:blip r:embed="rId2"/>
          <a:stretch>
            <a:fillRect/>
          </a:stretch>
        </p:blipFill>
        <p:spPr>
          <a:xfrm>
            <a:off x="3429000" y="1524000"/>
            <a:ext cx="4924042" cy="4916716"/>
          </a:xfrm>
          <a:prstGeom prst="rect">
            <a:avLst/>
          </a:prstGeom>
        </p:spPr>
      </p:pic>
      <p:pic>
        <p:nvPicPr>
          <p:cNvPr id="5" name="Picture 4"/>
          <p:cNvPicPr>
            <a:picLocks noChangeAspect="1"/>
          </p:cNvPicPr>
          <p:nvPr/>
        </p:nvPicPr>
        <p:blipFill>
          <a:blip r:embed="rId3"/>
          <a:stretch>
            <a:fillRect/>
          </a:stretch>
        </p:blipFill>
        <p:spPr>
          <a:xfrm>
            <a:off x="838200" y="1752600"/>
            <a:ext cx="2362200" cy="533400"/>
          </a:xfrm>
          <a:prstGeom prst="rect">
            <a:avLst/>
          </a:prstGeom>
        </p:spPr>
      </p:pic>
    </p:spTree>
    <p:extLst>
      <p:ext uri="{BB962C8B-B14F-4D97-AF65-F5344CB8AC3E}">
        <p14:creationId xmlns:p14="http://schemas.microsoft.com/office/powerpoint/2010/main" val="2267562936"/>
      </p:ext>
    </p:extLst>
  </p:cSld>
  <p:clrMapOvr>
    <a:masterClrMapping/>
  </p:clrMapOvr>
  <p:transition spd="slow">
    <p:wipe dir="d"/>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762000" y="762000"/>
            <a:ext cx="8077200" cy="4297363"/>
          </a:xfrm>
        </p:spPr>
        <p:txBody>
          <a:bodyPr/>
          <a:lstStyle/>
          <a:p>
            <a:r>
              <a:rPr lang="en-US" dirty="0"/>
              <a:t>Comment on whether the various model assumptions are satisfied based on the residual plots shown in the previous slide.</a:t>
            </a:r>
          </a:p>
        </p:txBody>
      </p:sp>
    </p:spTree>
    <p:extLst>
      <p:ext uri="{BB962C8B-B14F-4D97-AF65-F5344CB8AC3E}">
        <p14:creationId xmlns:p14="http://schemas.microsoft.com/office/powerpoint/2010/main" val="2905814628"/>
      </p:ext>
    </p:extLst>
  </p:cSld>
  <p:clrMapOvr>
    <a:masterClrMapping/>
  </p:clrMapOvr>
  <p:transition spd="slow">
    <p:wipe dir="d"/>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Make residual plots of your own</a:t>
            </a:r>
          </a:p>
        </p:txBody>
      </p:sp>
      <p:sp>
        <p:nvSpPr>
          <p:cNvPr id="3" name="Content Placeholder 2"/>
          <p:cNvSpPr>
            <a:spLocks noGrp="1"/>
          </p:cNvSpPr>
          <p:nvPr>
            <p:ph idx="1"/>
          </p:nvPr>
        </p:nvSpPr>
        <p:spPr/>
        <p:txBody>
          <a:bodyPr/>
          <a:lstStyle/>
          <a:p>
            <a:r>
              <a:rPr lang="en-US" dirty="0"/>
              <a:t>You can use the functions </a:t>
            </a:r>
            <a:r>
              <a:rPr lang="en-US" dirty="0" err="1">
                <a:solidFill>
                  <a:srgbClr val="00B0F0"/>
                </a:solidFill>
              </a:rPr>
              <a:t>rstandard</a:t>
            </a:r>
            <a:r>
              <a:rPr lang="en-US" dirty="0">
                <a:solidFill>
                  <a:srgbClr val="00B0F0"/>
                </a:solidFill>
              </a:rPr>
              <a:t>() </a:t>
            </a:r>
            <a:r>
              <a:rPr lang="en-US" dirty="0"/>
              <a:t>and </a:t>
            </a:r>
            <a:r>
              <a:rPr lang="en-US" dirty="0" err="1">
                <a:solidFill>
                  <a:srgbClr val="00B0F0"/>
                </a:solidFill>
              </a:rPr>
              <a:t>rstudent</a:t>
            </a:r>
            <a:r>
              <a:rPr lang="en-US" dirty="0">
                <a:solidFill>
                  <a:srgbClr val="00B0F0"/>
                </a:solidFill>
              </a:rPr>
              <a:t>()</a:t>
            </a:r>
            <a:r>
              <a:rPr lang="en-US" dirty="0"/>
              <a:t> in R to get the </a:t>
            </a:r>
            <a:r>
              <a:rPr lang="en-US" dirty="0">
                <a:solidFill>
                  <a:schemeClr val="accent6">
                    <a:lumMod val="50000"/>
                  </a:schemeClr>
                </a:solidFill>
              </a:rPr>
              <a:t>standardized</a:t>
            </a:r>
            <a:r>
              <a:rPr lang="en-US" dirty="0"/>
              <a:t> and </a:t>
            </a:r>
            <a:r>
              <a:rPr lang="en-US" dirty="0" err="1">
                <a:solidFill>
                  <a:schemeClr val="accent6">
                    <a:lumMod val="50000"/>
                  </a:schemeClr>
                </a:solidFill>
              </a:rPr>
              <a:t>studentized</a:t>
            </a:r>
            <a:r>
              <a:rPr lang="en-US" dirty="0">
                <a:solidFill>
                  <a:schemeClr val="accent6">
                    <a:lumMod val="50000"/>
                  </a:schemeClr>
                </a:solidFill>
              </a:rPr>
              <a:t> deleted </a:t>
            </a:r>
            <a:r>
              <a:rPr lang="en-US" dirty="0"/>
              <a:t>residuals.</a:t>
            </a:r>
          </a:p>
          <a:p>
            <a:endParaRPr lang="en-US" dirty="0"/>
          </a:p>
        </p:txBody>
      </p:sp>
      <p:pic>
        <p:nvPicPr>
          <p:cNvPr id="5" name="Picture 4"/>
          <p:cNvPicPr>
            <a:picLocks noChangeAspect="1"/>
          </p:cNvPicPr>
          <p:nvPr/>
        </p:nvPicPr>
        <p:blipFill>
          <a:blip r:embed="rId2"/>
          <a:stretch>
            <a:fillRect/>
          </a:stretch>
        </p:blipFill>
        <p:spPr>
          <a:xfrm>
            <a:off x="990600" y="3352800"/>
            <a:ext cx="7960274" cy="1447800"/>
          </a:xfrm>
          <a:prstGeom prst="rect">
            <a:avLst/>
          </a:prstGeom>
        </p:spPr>
      </p:pic>
    </p:spTree>
    <p:extLst>
      <p:ext uri="{BB962C8B-B14F-4D97-AF65-F5344CB8AC3E}">
        <p14:creationId xmlns:p14="http://schemas.microsoft.com/office/powerpoint/2010/main" val="544294986"/>
      </p:ext>
    </p:extLst>
  </p:cSld>
  <p:clrMapOvr>
    <a:masterClrMapping/>
  </p:clrMapOvr>
  <p:transition spd="slow">
    <p:wipe dir="d"/>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2209800" y="533401"/>
            <a:ext cx="5334000" cy="4953000"/>
          </a:xfrm>
          <a:prstGeom prst="rect">
            <a:avLst/>
          </a:prstGeom>
        </p:spPr>
      </p:pic>
      <p:pic>
        <p:nvPicPr>
          <p:cNvPr id="2" name="Picture 1"/>
          <p:cNvPicPr>
            <a:picLocks noChangeAspect="1"/>
          </p:cNvPicPr>
          <p:nvPr/>
        </p:nvPicPr>
        <p:blipFill>
          <a:blip r:embed="rId3"/>
          <a:stretch>
            <a:fillRect/>
          </a:stretch>
        </p:blipFill>
        <p:spPr>
          <a:xfrm>
            <a:off x="3048000" y="5638800"/>
            <a:ext cx="4077547" cy="533400"/>
          </a:xfrm>
          <a:prstGeom prst="rect">
            <a:avLst/>
          </a:prstGeom>
        </p:spPr>
      </p:pic>
    </p:spTree>
    <p:extLst>
      <p:ext uri="{BB962C8B-B14F-4D97-AF65-F5344CB8AC3E}">
        <p14:creationId xmlns:p14="http://schemas.microsoft.com/office/powerpoint/2010/main" val="598566597"/>
      </p:ext>
    </p:extLst>
  </p:cSld>
  <p:clrMapOvr>
    <a:masterClrMapping/>
  </p:clrMapOvr>
  <p:transition spd="slow">
    <p:wipe dir="d"/>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447800" y="381000"/>
            <a:ext cx="6785376" cy="5791200"/>
          </a:xfrm>
          <a:prstGeom prst="rect">
            <a:avLst/>
          </a:prstGeom>
        </p:spPr>
      </p:pic>
    </p:spTree>
    <p:extLst>
      <p:ext uri="{BB962C8B-B14F-4D97-AF65-F5344CB8AC3E}">
        <p14:creationId xmlns:p14="http://schemas.microsoft.com/office/powerpoint/2010/main" val="1184544174"/>
      </p:ext>
    </p:extLst>
  </p:cSld>
  <p:clrMapOvr>
    <a:masterClrMapping/>
  </p:clrMapOvr>
  <p:transition spd="slow">
    <p:wipe dir="d"/>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4519" y="457200"/>
            <a:ext cx="7024744" cy="1143000"/>
          </a:xfrm>
        </p:spPr>
        <p:txBody>
          <a:bodyPr>
            <a:normAutofit/>
          </a:bodyPr>
          <a:lstStyle/>
          <a:p>
            <a:r>
              <a:rPr lang="en-US" b="1" dirty="0"/>
              <a:t>Detecting influential cases</a:t>
            </a:r>
          </a:p>
        </p:txBody>
      </p:sp>
      <p:sp>
        <p:nvSpPr>
          <p:cNvPr id="3" name="Content Placeholder 2"/>
          <p:cNvSpPr>
            <a:spLocks noGrp="1"/>
          </p:cNvSpPr>
          <p:nvPr>
            <p:ph idx="1"/>
          </p:nvPr>
        </p:nvSpPr>
        <p:spPr>
          <a:xfrm>
            <a:off x="1074519" y="1752600"/>
            <a:ext cx="6777317" cy="4648200"/>
          </a:xfrm>
        </p:spPr>
        <p:txBody>
          <a:bodyPr>
            <a:normAutofit fontScale="92500" lnSpcReduction="10000"/>
          </a:bodyPr>
          <a:lstStyle/>
          <a:p>
            <a:r>
              <a:rPr lang="en-US" b="1" dirty="0">
                <a:solidFill>
                  <a:srgbClr val="0070C0"/>
                </a:solidFill>
              </a:rPr>
              <a:t>DFITS</a:t>
            </a:r>
            <a:r>
              <a:rPr lang="en-US" dirty="0"/>
              <a:t> gives differences in fitted values when the </a:t>
            </a:r>
            <a:r>
              <a:rPr lang="en-US" dirty="0" err="1"/>
              <a:t>i</a:t>
            </a:r>
            <a:r>
              <a:rPr lang="en-US" baseline="30000" dirty="0" err="1"/>
              <a:t>th</a:t>
            </a:r>
            <a:r>
              <a:rPr lang="en-US" dirty="0"/>
              <a:t> case is deleted. </a:t>
            </a:r>
          </a:p>
          <a:p>
            <a:endParaRPr lang="en-US" dirty="0"/>
          </a:p>
          <a:p>
            <a:endParaRPr lang="en-US" dirty="0"/>
          </a:p>
          <a:p>
            <a:endParaRPr lang="en-US" dirty="0"/>
          </a:p>
          <a:p>
            <a:endParaRPr lang="en-US" dirty="0"/>
          </a:p>
          <a:p>
            <a:r>
              <a:rPr lang="en-US" dirty="0"/>
              <a:t>It measures the relative change in the fitted value for the </a:t>
            </a:r>
            <a:r>
              <a:rPr lang="en-US" dirty="0" err="1"/>
              <a:t>i</a:t>
            </a:r>
            <a:r>
              <a:rPr lang="en-US" baseline="30000" dirty="0" err="1"/>
              <a:t>th</a:t>
            </a:r>
            <a:r>
              <a:rPr lang="en-US" dirty="0"/>
              <a:t> case when the </a:t>
            </a:r>
            <a:r>
              <a:rPr lang="en-US" dirty="0" err="1"/>
              <a:t>i</a:t>
            </a:r>
            <a:r>
              <a:rPr lang="en-US" baseline="30000" dirty="0" err="1"/>
              <a:t>th</a:t>
            </a:r>
            <a:r>
              <a:rPr lang="en-US" baseline="30000" dirty="0"/>
              <a:t> </a:t>
            </a:r>
            <a:r>
              <a:rPr lang="en-US" dirty="0"/>
              <a:t>case is deleted. </a:t>
            </a:r>
          </a:p>
          <a:p>
            <a:endParaRPr lang="en-US" dirty="0"/>
          </a:p>
          <a:p>
            <a:pPr marL="68580" indent="0">
              <a:buNone/>
            </a:pPr>
            <a:endParaRPr lang="en-US" dirty="0"/>
          </a:p>
        </p:txBody>
      </p:sp>
      <p:graphicFrame>
        <p:nvGraphicFramePr>
          <p:cNvPr id="4" name="Object 3"/>
          <p:cNvGraphicFramePr>
            <a:graphicFrameLocks noChangeAspect="1"/>
          </p:cNvGraphicFramePr>
          <p:nvPr>
            <p:extLst>
              <p:ext uri="{D42A27DB-BD31-4B8C-83A1-F6EECF244321}">
                <p14:modId xmlns:p14="http://schemas.microsoft.com/office/powerpoint/2010/main" val="3867975402"/>
              </p:ext>
            </p:extLst>
          </p:nvPr>
        </p:nvGraphicFramePr>
        <p:xfrm>
          <a:off x="1447800" y="2743200"/>
          <a:ext cx="6233509" cy="1696900"/>
        </p:xfrm>
        <a:graphic>
          <a:graphicData uri="http://schemas.openxmlformats.org/presentationml/2006/ole">
            <mc:AlternateContent xmlns:mc="http://schemas.openxmlformats.org/markup-compatibility/2006">
              <mc:Choice xmlns:v="urn:schemas-microsoft-com:vml" Requires="v">
                <p:oleObj name="Document" r:id="rId2" imgW="6872357" imgH="1866501" progId="Word.Document.12">
                  <p:embed/>
                </p:oleObj>
              </mc:Choice>
              <mc:Fallback>
                <p:oleObj name="Document" r:id="rId2" imgW="6872357" imgH="1866501" progId="Word.Document.12">
                  <p:embed/>
                  <p:pic>
                    <p:nvPicPr>
                      <p:cNvPr id="4" name="Object 3"/>
                      <p:cNvPicPr/>
                      <p:nvPr/>
                    </p:nvPicPr>
                    <p:blipFill>
                      <a:blip r:embed="rId3"/>
                      <a:stretch>
                        <a:fillRect/>
                      </a:stretch>
                    </p:blipFill>
                    <p:spPr>
                      <a:xfrm>
                        <a:off x="1447800" y="2743200"/>
                        <a:ext cx="6233509" cy="1696900"/>
                      </a:xfrm>
                      <a:prstGeom prst="rect">
                        <a:avLst/>
                      </a:prstGeom>
                    </p:spPr>
                  </p:pic>
                </p:oleObj>
              </mc:Fallback>
            </mc:AlternateContent>
          </a:graphicData>
        </a:graphic>
      </p:graphicFrame>
    </p:spTree>
    <p:extLst>
      <p:ext uri="{BB962C8B-B14F-4D97-AF65-F5344CB8AC3E}">
        <p14:creationId xmlns:p14="http://schemas.microsoft.com/office/powerpoint/2010/main" val="4258163812"/>
      </p:ext>
    </p:extLst>
  </p:cSld>
  <p:clrMapOvr>
    <a:masterClrMapping/>
  </p:clrMapOvr>
  <p:transition spd="slow">
    <p:wipe dir="d"/>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043492" y="685800"/>
                <a:ext cx="7024742" cy="6019800"/>
              </a:xfrm>
            </p:spPr>
            <p:txBody>
              <a:bodyPr>
                <a:normAutofit fontScale="92500" lnSpcReduction="20000"/>
              </a:bodyPr>
              <a:lstStyle/>
              <a:p>
                <a:pPr marL="68580" indent="0">
                  <a:buNone/>
                </a:pPr>
                <a:r>
                  <a:rPr lang="en-US" dirty="0"/>
                  <a:t>It can be shown that </a:t>
                </a:r>
              </a:p>
              <a:p>
                <a:pPr marL="68580" indent="0">
                  <a:buNone/>
                </a:pPr>
                <a14:m>
                  <m:oMathPara xmlns:m="http://schemas.openxmlformats.org/officeDocument/2006/math">
                    <m:oMathParaPr>
                      <m:jc m:val="centerGroup"/>
                    </m:oMathParaPr>
                    <m:oMath xmlns:m="http://schemas.openxmlformats.org/officeDocument/2006/math">
                      <m:sSub>
                        <m:sSubPr>
                          <m:ctrlPr>
                            <a:rPr lang="en-US" sz="3000" b="1" i="1" smtClean="0">
                              <a:solidFill>
                                <a:schemeClr val="accent6">
                                  <a:lumMod val="50000"/>
                                </a:schemeClr>
                              </a:solidFill>
                              <a:latin typeface="Cambria Math" panose="02040503050406030204" pitchFamily="18" charset="0"/>
                            </a:rPr>
                          </m:ctrlPr>
                        </m:sSubPr>
                        <m:e>
                          <m:r>
                            <a:rPr lang="en-US" sz="3000" b="1" i="1">
                              <a:solidFill>
                                <a:schemeClr val="accent6">
                                  <a:lumMod val="50000"/>
                                </a:schemeClr>
                              </a:solidFill>
                              <a:latin typeface="Cambria Math" panose="02040503050406030204" pitchFamily="18" charset="0"/>
                            </a:rPr>
                            <m:t>𝑫𝑭𝑰𝑻𝑺</m:t>
                          </m:r>
                        </m:e>
                        <m:sub>
                          <m:r>
                            <a:rPr lang="en-US" sz="3000" b="1" i="1">
                              <a:solidFill>
                                <a:schemeClr val="accent6">
                                  <a:lumMod val="50000"/>
                                </a:schemeClr>
                              </a:solidFill>
                              <a:latin typeface="Cambria Math" panose="02040503050406030204" pitchFamily="18" charset="0"/>
                            </a:rPr>
                            <m:t>𝒊</m:t>
                          </m:r>
                        </m:sub>
                      </m:sSub>
                      <m:r>
                        <a:rPr lang="en-US" sz="3000" b="1" i="1">
                          <a:solidFill>
                            <a:schemeClr val="accent6">
                              <a:lumMod val="50000"/>
                            </a:schemeClr>
                          </a:solidFill>
                          <a:latin typeface="Cambria Math" panose="02040503050406030204" pitchFamily="18" charset="0"/>
                        </a:rPr>
                        <m:t>=</m:t>
                      </m:r>
                      <m:sSub>
                        <m:sSubPr>
                          <m:ctrlPr>
                            <a:rPr lang="en-US" sz="3000" b="1" i="1">
                              <a:solidFill>
                                <a:schemeClr val="accent6">
                                  <a:lumMod val="50000"/>
                                </a:schemeClr>
                              </a:solidFill>
                              <a:latin typeface="Cambria Math" panose="02040503050406030204" pitchFamily="18" charset="0"/>
                            </a:rPr>
                          </m:ctrlPr>
                        </m:sSubPr>
                        <m:e>
                          <m:r>
                            <a:rPr lang="en-US" sz="3000" b="1" i="1">
                              <a:solidFill>
                                <a:schemeClr val="accent6">
                                  <a:lumMod val="50000"/>
                                </a:schemeClr>
                              </a:solidFill>
                              <a:latin typeface="Cambria Math" panose="02040503050406030204" pitchFamily="18" charset="0"/>
                            </a:rPr>
                            <m:t>𝒕</m:t>
                          </m:r>
                        </m:e>
                        <m:sub>
                          <m:r>
                            <a:rPr lang="en-US" sz="3000" b="1" i="1">
                              <a:solidFill>
                                <a:schemeClr val="accent6">
                                  <a:lumMod val="50000"/>
                                </a:schemeClr>
                              </a:solidFill>
                              <a:latin typeface="Cambria Math" panose="02040503050406030204" pitchFamily="18" charset="0"/>
                            </a:rPr>
                            <m:t>𝒊</m:t>
                          </m:r>
                        </m:sub>
                      </m:sSub>
                      <m:sSup>
                        <m:sSupPr>
                          <m:ctrlPr>
                            <a:rPr lang="en-US" sz="3000" b="1" i="1">
                              <a:solidFill>
                                <a:schemeClr val="accent6">
                                  <a:lumMod val="50000"/>
                                </a:schemeClr>
                              </a:solidFill>
                              <a:latin typeface="Cambria Math" panose="02040503050406030204" pitchFamily="18" charset="0"/>
                            </a:rPr>
                          </m:ctrlPr>
                        </m:sSupPr>
                        <m:e>
                          <m:r>
                            <a:rPr lang="en-US" sz="3000" b="1" i="1">
                              <a:solidFill>
                                <a:schemeClr val="accent6">
                                  <a:lumMod val="50000"/>
                                </a:schemeClr>
                              </a:solidFill>
                              <a:latin typeface="Cambria Math" panose="02040503050406030204" pitchFamily="18" charset="0"/>
                            </a:rPr>
                            <m:t>(</m:t>
                          </m:r>
                          <m:f>
                            <m:fPr>
                              <m:ctrlPr>
                                <a:rPr lang="en-US" sz="3000" b="1" i="1">
                                  <a:solidFill>
                                    <a:schemeClr val="accent6">
                                      <a:lumMod val="50000"/>
                                    </a:schemeClr>
                                  </a:solidFill>
                                  <a:latin typeface="Cambria Math" panose="02040503050406030204" pitchFamily="18" charset="0"/>
                                </a:rPr>
                              </m:ctrlPr>
                            </m:fPr>
                            <m:num>
                              <m:sSub>
                                <m:sSubPr>
                                  <m:ctrlPr>
                                    <a:rPr lang="en-US" sz="3000" b="1" i="1">
                                      <a:solidFill>
                                        <a:schemeClr val="accent6">
                                          <a:lumMod val="50000"/>
                                        </a:schemeClr>
                                      </a:solidFill>
                                      <a:latin typeface="Cambria Math" panose="02040503050406030204" pitchFamily="18" charset="0"/>
                                    </a:rPr>
                                  </m:ctrlPr>
                                </m:sSubPr>
                                <m:e>
                                  <m:r>
                                    <a:rPr lang="en-US" sz="3000" b="1" i="1">
                                      <a:solidFill>
                                        <a:schemeClr val="accent6">
                                          <a:lumMod val="50000"/>
                                        </a:schemeClr>
                                      </a:solidFill>
                                      <a:latin typeface="Cambria Math" panose="02040503050406030204" pitchFamily="18" charset="0"/>
                                    </a:rPr>
                                    <m:t>𝑯</m:t>
                                  </m:r>
                                </m:e>
                                <m:sub>
                                  <m:r>
                                    <a:rPr lang="en-US" sz="3000" b="1" i="1">
                                      <a:solidFill>
                                        <a:schemeClr val="accent6">
                                          <a:lumMod val="50000"/>
                                        </a:schemeClr>
                                      </a:solidFill>
                                      <a:latin typeface="Cambria Math" panose="02040503050406030204" pitchFamily="18" charset="0"/>
                                    </a:rPr>
                                    <m:t>𝒊</m:t>
                                  </m:r>
                                </m:sub>
                              </m:sSub>
                            </m:num>
                            <m:den>
                              <m:r>
                                <a:rPr lang="en-US" sz="3000" b="1" i="1">
                                  <a:solidFill>
                                    <a:schemeClr val="accent6">
                                      <a:lumMod val="50000"/>
                                    </a:schemeClr>
                                  </a:solidFill>
                                  <a:latin typeface="Cambria Math" panose="02040503050406030204" pitchFamily="18" charset="0"/>
                                </a:rPr>
                                <m:t>𝟏</m:t>
                              </m:r>
                              <m:r>
                                <a:rPr lang="en-US" sz="3000" b="1" i="1">
                                  <a:solidFill>
                                    <a:schemeClr val="accent6">
                                      <a:lumMod val="50000"/>
                                    </a:schemeClr>
                                  </a:solidFill>
                                  <a:latin typeface="Cambria Math" panose="02040503050406030204" pitchFamily="18" charset="0"/>
                                </a:rPr>
                                <m:t>−</m:t>
                              </m:r>
                              <m:sSub>
                                <m:sSubPr>
                                  <m:ctrlPr>
                                    <a:rPr lang="en-US" sz="3000" b="1" i="1">
                                      <a:solidFill>
                                        <a:schemeClr val="accent6">
                                          <a:lumMod val="50000"/>
                                        </a:schemeClr>
                                      </a:solidFill>
                                      <a:latin typeface="Cambria Math" panose="02040503050406030204" pitchFamily="18" charset="0"/>
                                    </a:rPr>
                                  </m:ctrlPr>
                                </m:sSubPr>
                                <m:e>
                                  <m:r>
                                    <a:rPr lang="en-US" sz="3000" b="1" i="1">
                                      <a:solidFill>
                                        <a:schemeClr val="accent6">
                                          <a:lumMod val="50000"/>
                                        </a:schemeClr>
                                      </a:solidFill>
                                      <a:latin typeface="Cambria Math" panose="02040503050406030204" pitchFamily="18" charset="0"/>
                                    </a:rPr>
                                    <m:t>𝑯</m:t>
                                  </m:r>
                                </m:e>
                                <m:sub>
                                  <m:r>
                                    <a:rPr lang="en-US" sz="3000" b="1" i="1">
                                      <a:solidFill>
                                        <a:schemeClr val="accent6">
                                          <a:lumMod val="50000"/>
                                        </a:schemeClr>
                                      </a:solidFill>
                                      <a:latin typeface="Cambria Math" panose="02040503050406030204" pitchFamily="18" charset="0"/>
                                    </a:rPr>
                                    <m:t>𝒊</m:t>
                                  </m:r>
                                </m:sub>
                              </m:sSub>
                            </m:den>
                          </m:f>
                          <m:r>
                            <a:rPr lang="en-US" sz="3000" b="1" i="1">
                              <a:solidFill>
                                <a:schemeClr val="accent6">
                                  <a:lumMod val="50000"/>
                                </a:schemeClr>
                              </a:solidFill>
                              <a:latin typeface="Cambria Math" panose="02040503050406030204" pitchFamily="18" charset="0"/>
                            </a:rPr>
                            <m:t>)</m:t>
                          </m:r>
                        </m:e>
                        <m:sup>
                          <m:r>
                            <a:rPr lang="en-US" sz="3000" b="1" i="1">
                              <a:solidFill>
                                <a:schemeClr val="accent6">
                                  <a:lumMod val="50000"/>
                                </a:schemeClr>
                              </a:solidFill>
                              <a:latin typeface="Cambria Math" panose="02040503050406030204" pitchFamily="18" charset="0"/>
                            </a:rPr>
                            <m:t>𝟏</m:t>
                          </m:r>
                          <m:r>
                            <a:rPr lang="en-US" sz="3000" b="1" i="1">
                              <a:solidFill>
                                <a:schemeClr val="accent6">
                                  <a:lumMod val="50000"/>
                                </a:schemeClr>
                              </a:solidFill>
                              <a:latin typeface="Cambria Math" panose="02040503050406030204" pitchFamily="18" charset="0"/>
                            </a:rPr>
                            <m:t>/</m:t>
                          </m:r>
                          <m:r>
                            <a:rPr lang="en-US" sz="3000" b="1" i="1">
                              <a:solidFill>
                                <a:schemeClr val="accent6">
                                  <a:lumMod val="50000"/>
                                </a:schemeClr>
                              </a:solidFill>
                              <a:latin typeface="Cambria Math" panose="02040503050406030204" pitchFamily="18" charset="0"/>
                            </a:rPr>
                            <m:t>𝟐</m:t>
                          </m:r>
                        </m:sup>
                      </m:sSup>
                    </m:oMath>
                  </m:oMathPara>
                </a14:m>
                <a:endParaRPr lang="en-US" sz="3000" i="1" dirty="0"/>
              </a:p>
              <a:p>
                <a:pPr marL="68580" indent="0">
                  <a:buNone/>
                </a:pPr>
                <a:endParaRPr lang="en-US" sz="1600" dirty="0"/>
              </a:p>
              <a:p>
                <a:pPr marL="68580" indent="0">
                  <a:buNone/>
                </a:pPr>
                <a:r>
                  <a:rPr lang="en-US" dirty="0"/>
                  <a:t>So when will DFITS be large? Here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𝑖</m:t>
                        </m:r>
                      </m:sub>
                    </m:sSub>
                  </m:oMath>
                </a14:m>
                <a:r>
                  <a:rPr lang="en-US" i="1" dirty="0"/>
                  <a:t> </a:t>
                </a:r>
                <a:r>
                  <a:rPr lang="en-US" dirty="0"/>
                  <a:t>is the </a:t>
                </a:r>
                <a:r>
                  <a:rPr lang="en-US" dirty="0" err="1"/>
                  <a:t>studentized</a:t>
                </a:r>
                <a:r>
                  <a:rPr lang="en-US" dirty="0"/>
                  <a:t> deleted residual for the </a:t>
                </a:r>
                <a:r>
                  <a:rPr lang="en-US" dirty="0" err="1"/>
                  <a:t>i</a:t>
                </a:r>
                <a:r>
                  <a:rPr lang="en-US" baseline="30000" dirty="0" err="1"/>
                  <a:t>th</a:t>
                </a:r>
                <a:r>
                  <a:rPr lang="en-US" dirty="0"/>
                  <a:t> case.</a:t>
                </a:r>
              </a:p>
              <a:p>
                <a:pPr marL="68580" indent="0">
                  <a:buNone/>
                </a:pPr>
                <a:endParaRPr lang="en-US" i="1" dirty="0"/>
              </a:p>
              <a:p>
                <a:pPr marL="68580" indent="0">
                  <a:buNone/>
                </a:pPr>
                <a:endParaRPr lang="en-US" i="1" dirty="0"/>
              </a:p>
              <a:p>
                <a:pPr marL="68580" indent="0">
                  <a:buNone/>
                </a:pPr>
                <a:r>
                  <a:rPr lang="en-US" dirty="0"/>
                  <a:t>If the absolute value of </a:t>
                </a:r>
                <a:r>
                  <a:rPr lang="en-US" b="1" dirty="0">
                    <a:solidFill>
                      <a:srgbClr val="0070C0"/>
                    </a:solidFill>
                  </a:rPr>
                  <a:t>DFITS</a:t>
                </a:r>
                <a:r>
                  <a:rPr lang="en-US" dirty="0"/>
                  <a:t> exceeds </a:t>
                </a:r>
                <a14:m>
                  <m:oMath xmlns:m="http://schemas.openxmlformats.org/officeDocument/2006/math">
                    <m:r>
                      <a:rPr lang="en-US" b="0" i="1" smtClean="0">
                        <a:solidFill>
                          <a:schemeClr val="accent6">
                            <a:lumMod val="50000"/>
                          </a:schemeClr>
                        </a:solidFill>
                        <a:latin typeface="Cambria Math" panose="02040503050406030204" pitchFamily="18" charset="0"/>
                      </a:rPr>
                      <m:t>2</m:t>
                    </m:r>
                    <m:rad>
                      <m:radPr>
                        <m:degHide m:val="on"/>
                        <m:ctrlPr>
                          <a:rPr lang="en-US" b="0" i="1" smtClean="0">
                            <a:solidFill>
                              <a:schemeClr val="accent6">
                                <a:lumMod val="50000"/>
                              </a:schemeClr>
                            </a:solidFill>
                            <a:latin typeface="Cambria Math" panose="02040503050406030204" pitchFamily="18" charset="0"/>
                          </a:rPr>
                        </m:ctrlPr>
                      </m:radPr>
                      <m:deg/>
                      <m:e>
                        <m:r>
                          <a:rPr lang="en-US" b="0" i="1" smtClean="0">
                            <a:solidFill>
                              <a:schemeClr val="accent6">
                                <a:lumMod val="50000"/>
                              </a:schemeClr>
                            </a:solidFill>
                            <a:latin typeface="Cambria Math" panose="02040503050406030204" pitchFamily="18" charset="0"/>
                          </a:rPr>
                          <m:t>𝑝</m:t>
                        </m:r>
                        <m:r>
                          <a:rPr lang="en-US" b="0" i="1" smtClean="0">
                            <a:solidFill>
                              <a:schemeClr val="accent6">
                                <a:lumMod val="50000"/>
                              </a:schemeClr>
                            </a:solidFill>
                            <a:latin typeface="Cambria Math" panose="02040503050406030204" pitchFamily="18" charset="0"/>
                          </a:rPr>
                          <m:t>/</m:t>
                        </m:r>
                        <m:r>
                          <a:rPr lang="en-US" b="0" i="1" smtClean="0">
                            <a:solidFill>
                              <a:schemeClr val="accent6">
                                <a:lumMod val="50000"/>
                              </a:schemeClr>
                            </a:solidFill>
                            <a:latin typeface="Cambria Math" panose="02040503050406030204" pitchFamily="18" charset="0"/>
                          </a:rPr>
                          <m:t>𝑛</m:t>
                        </m:r>
                      </m:e>
                    </m:rad>
                  </m:oMath>
                </a14:m>
                <a:r>
                  <a:rPr lang="en-US" dirty="0"/>
                  <a:t>  for a particular case, that case is considered influential. </a:t>
                </a:r>
              </a:p>
              <a:p>
                <a:pPr marL="68580" indent="0">
                  <a:buNone/>
                </a:pPr>
                <a:endParaRPr lang="en-US" dirty="0"/>
              </a:p>
              <a:p>
                <a:pPr marL="68580" indent="0">
                  <a:buNone/>
                </a:pPr>
                <a:r>
                  <a:rPr lang="en-US" dirty="0"/>
                  <a:t>You can use the function </a:t>
                </a:r>
                <a:r>
                  <a:rPr lang="en-US" b="1" dirty="0" err="1">
                    <a:solidFill>
                      <a:srgbClr val="0070C0"/>
                    </a:solidFill>
                  </a:rPr>
                  <a:t>dffits</a:t>
                </a:r>
                <a:r>
                  <a:rPr lang="en-US" b="1" dirty="0">
                    <a:solidFill>
                      <a:srgbClr val="0070C0"/>
                    </a:solidFill>
                  </a:rPr>
                  <a:t>() </a:t>
                </a:r>
                <a:r>
                  <a:rPr lang="en-US" dirty="0"/>
                  <a:t>in R to get the DFITS values.</a:t>
                </a:r>
              </a:p>
              <a:p>
                <a:pPr marL="68580" indent="0">
                  <a:buNone/>
                </a:pPr>
                <a:endParaRPr lang="en-US" dirty="0"/>
              </a:p>
              <a:p>
                <a:pPr marL="6858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043492" y="685800"/>
                <a:ext cx="7024742" cy="6019800"/>
              </a:xfrm>
              <a:blipFill>
                <a:blip r:embed="rId2"/>
                <a:stretch>
                  <a:fillRect l="-1041" t="-2634" r="-1821" b="-304"/>
                </a:stretch>
              </a:blipFill>
            </p:spPr>
            <p:txBody>
              <a:bodyPr/>
              <a:lstStyle/>
              <a:p>
                <a:r>
                  <a:rPr lang="en-US">
                    <a:noFill/>
                  </a:rPr>
                  <a:t> </a:t>
                </a:r>
              </a:p>
            </p:txBody>
          </p:sp>
        </mc:Fallback>
      </mc:AlternateContent>
    </p:spTree>
    <p:extLst>
      <p:ext uri="{BB962C8B-B14F-4D97-AF65-F5344CB8AC3E}">
        <p14:creationId xmlns:p14="http://schemas.microsoft.com/office/powerpoint/2010/main" val="1456680173"/>
      </p:ext>
    </p:extLst>
  </p:cSld>
  <p:clrMapOvr>
    <a:masterClrMapping/>
  </p:clrMapOvr>
  <p:transition spd="slow">
    <p:wipe dir="d"/>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043492" y="762001"/>
                <a:ext cx="6777317" cy="5486400"/>
              </a:xfrm>
            </p:spPr>
            <p:txBody>
              <a:bodyPr>
                <a:normAutofit fontScale="92500" lnSpcReduction="10000"/>
              </a:bodyPr>
              <a:lstStyle/>
              <a:p>
                <a:pPr marL="525780" indent="-457200"/>
                <a:r>
                  <a:rPr lang="en-US" dirty="0"/>
                  <a:t>The </a:t>
                </a:r>
                <a:r>
                  <a:rPr lang="en-US" b="1" dirty="0">
                    <a:solidFill>
                      <a:schemeClr val="accent6">
                        <a:lumMod val="50000"/>
                      </a:schemeClr>
                    </a:solidFill>
                  </a:rPr>
                  <a:t>Cook’s distance </a:t>
                </a:r>
                <a:r>
                  <a:rPr lang="en-US" dirty="0"/>
                  <a:t>measures the difference in the predicted value when each case is deleted, but considers the impact of deleting each case on all other cases. </a:t>
                </a:r>
              </a:p>
              <a:p>
                <a:pPr marL="68580" indent="0">
                  <a:buNone/>
                </a:pPr>
                <a:endParaRPr lang="en-US" dirty="0"/>
              </a:p>
              <a:p>
                <a:pPr marL="68580" indent="0">
                  <a:buNone/>
                </a:pPr>
                <a:endParaRPr lang="en-US" dirty="0"/>
              </a:p>
              <a:p>
                <a:pPr marL="68580" indent="0">
                  <a:buNone/>
                </a:pPr>
                <a:endParaRPr lang="en-US" sz="800" dirty="0"/>
              </a:p>
              <a:p>
                <a:pPr marL="525780" indent="-457200"/>
                <a:r>
                  <a:rPr lang="en-US" dirty="0"/>
                  <a:t>A large Cook’s distance for a particular point suggests that that point is highly influential. When will </a:t>
                </a:r>
                <a14:m>
                  <m:oMath xmlns:m="http://schemas.openxmlformats.org/officeDocument/2006/math">
                    <m:sSub>
                      <m:sSubPr>
                        <m:ctrlPr>
                          <a:rPr lang="en-US" i="1">
                            <a:latin typeface="Cambria Math" panose="02040503050406030204" pitchFamily="18" charset="0"/>
                          </a:rPr>
                        </m:ctrlPr>
                      </m:sSubPr>
                      <m:e>
                        <m:r>
                          <a:rPr lang="en-US" i="1" smtClean="0">
                            <a:latin typeface="Cambria Math" panose="02040503050406030204" pitchFamily="18" charset="0"/>
                          </a:rPr>
                          <m:t>𝐷</m:t>
                        </m:r>
                      </m:e>
                      <m:sub>
                        <m:r>
                          <a:rPr lang="en-US" i="1" smtClean="0">
                            <a:latin typeface="Cambria Math" panose="02040503050406030204" pitchFamily="18" charset="0"/>
                          </a:rPr>
                          <m:t>𝑖</m:t>
                        </m:r>
                      </m:sub>
                    </m:sSub>
                  </m:oMath>
                </a14:m>
                <a:r>
                  <a:rPr lang="en-US" dirty="0"/>
                  <a:t> be large? Here </a:t>
                </a:r>
                <a14:m>
                  <m:oMath xmlns:m="http://schemas.openxmlformats.org/officeDocument/2006/math">
                    <m:sSub>
                      <m:sSubPr>
                        <m:ctrlPr>
                          <a:rPr lang="en-US" i="1">
                            <a:latin typeface="Cambria Math" panose="02040503050406030204" pitchFamily="18" charset="0"/>
                          </a:rPr>
                        </m:ctrlPr>
                      </m:sSubPr>
                      <m:e>
                        <m:r>
                          <a:rPr lang="en-US" b="0" i="1" smtClean="0">
                            <a:latin typeface="Cambria Math" panose="02040503050406030204" pitchFamily="18" charset="0"/>
                          </a:rPr>
                          <m:t>𝑒</m:t>
                        </m:r>
                      </m:e>
                      <m:sub>
                        <m:r>
                          <a:rPr lang="en-US" i="1">
                            <a:latin typeface="Cambria Math" panose="02040503050406030204" pitchFamily="18" charset="0"/>
                          </a:rPr>
                          <m:t>𝑖</m:t>
                        </m:r>
                      </m:sub>
                    </m:sSub>
                  </m:oMath>
                </a14:m>
                <a:r>
                  <a:rPr lang="en-US" i="1" dirty="0"/>
                  <a:t> </a:t>
                </a:r>
                <a:r>
                  <a:rPr lang="en-US" dirty="0"/>
                  <a:t>is the regular residual for the </a:t>
                </a:r>
                <a:r>
                  <a:rPr lang="en-US" dirty="0" err="1"/>
                  <a:t>i</a:t>
                </a:r>
                <a:r>
                  <a:rPr lang="en-US" baseline="30000" dirty="0" err="1"/>
                  <a:t>th</a:t>
                </a:r>
                <a:r>
                  <a:rPr lang="en-US" dirty="0"/>
                  <a:t> case.</a:t>
                </a:r>
              </a:p>
              <a:p>
                <a:pPr marL="525780" indent="-457200"/>
                <a:endParaRPr lang="en-US" b="1"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043492" y="762001"/>
                <a:ext cx="6777317" cy="5486400"/>
              </a:xfrm>
              <a:blipFill>
                <a:blip r:embed="rId3"/>
                <a:stretch>
                  <a:fillRect l="-809" t="-2222" r="-1709" b="-2333"/>
                </a:stretch>
              </a:blipFill>
            </p:spPr>
            <p:txBody>
              <a:bodyPr/>
              <a:lstStyle/>
              <a:p>
                <a:r>
                  <a:rPr lang="en-US">
                    <a:noFill/>
                  </a:rPr>
                  <a:t> </a:t>
                </a:r>
              </a:p>
            </p:txBody>
          </p:sp>
        </mc:Fallback>
      </mc:AlternateContent>
      <p:graphicFrame>
        <p:nvGraphicFramePr>
          <p:cNvPr id="4" name="Object 3"/>
          <p:cNvGraphicFramePr>
            <a:graphicFrameLocks noChangeAspect="1"/>
          </p:cNvGraphicFramePr>
          <p:nvPr/>
        </p:nvGraphicFramePr>
        <p:xfrm>
          <a:off x="962809" y="3200400"/>
          <a:ext cx="6858000" cy="838200"/>
        </p:xfrm>
        <a:graphic>
          <a:graphicData uri="http://schemas.openxmlformats.org/presentationml/2006/ole">
            <mc:AlternateContent xmlns:mc="http://schemas.openxmlformats.org/markup-compatibility/2006">
              <mc:Choice xmlns:v="urn:schemas-microsoft-com:vml" Requires="v">
                <p:oleObj name="Document" r:id="rId4" imgW="6860843" imgH="836043" progId="Word.Document.12">
                  <p:embed/>
                </p:oleObj>
              </mc:Choice>
              <mc:Fallback>
                <p:oleObj name="Document" r:id="rId4" imgW="6860843" imgH="836043" progId="Word.Document.12">
                  <p:embed/>
                  <p:pic>
                    <p:nvPicPr>
                      <p:cNvPr id="4" name="Object 3"/>
                      <p:cNvPicPr/>
                      <p:nvPr/>
                    </p:nvPicPr>
                    <p:blipFill>
                      <a:blip r:embed="rId5"/>
                      <a:stretch>
                        <a:fillRect/>
                      </a:stretch>
                    </p:blipFill>
                    <p:spPr>
                      <a:xfrm>
                        <a:off x="962809" y="3200400"/>
                        <a:ext cx="6858000" cy="838200"/>
                      </a:xfrm>
                      <a:prstGeom prst="rect">
                        <a:avLst/>
                      </a:prstGeom>
                    </p:spPr>
                  </p:pic>
                </p:oleObj>
              </mc:Fallback>
            </mc:AlternateContent>
          </a:graphicData>
        </a:graphic>
      </p:graphicFrame>
    </p:spTree>
    <p:extLst>
      <p:ext uri="{BB962C8B-B14F-4D97-AF65-F5344CB8AC3E}">
        <p14:creationId xmlns:p14="http://schemas.microsoft.com/office/powerpoint/2010/main" val="3790559509"/>
      </p:ext>
    </p:extLst>
  </p:cSld>
  <p:clrMapOvr>
    <a:masterClrMapping/>
  </p:clrMapOvr>
  <p:transition spd="slow">
    <p:wipe dir="d"/>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3490" y="621749"/>
            <a:ext cx="7024744" cy="1143000"/>
          </a:xfrm>
        </p:spPr>
        <p:txBody>
          <a:bodyPr>
            <a:normAutofit/>
          </a:bodyPr>
          <a:lstStyle/>
          <a:p>
            <a:r>
              <a:rPr lang="en-US" b="1" dirty="0"/>
              <a:t>How large is large enough? </a:t>
            </a:r>
          </a:p>
        </p:txBody>
      </p:sp>
      <p:sp>
        <p:nvSpPr>
          <p:cNvPr id="3" name="Content Placeholder 2"/>
          <p:cNvSpPr>
            <a:spLocks noGrp="1"/>
          </p:cNvSpPr>
          <p:nvPr>
            <p:ph idx="1"/>
          </p:nvPr>
        </p:nvSpPr>
        <p:spPr>
          <a:xfrm>
            <a:off x="1043492" y="1905000"/>
            <a:ext cx="6777317" cy="4249196"/>
          </a:xfrm>
        </p:spPr>
        <p:txBody>
          <a:bodyPr>
            <a:normAutofit fontScale="85000" lnSpcReduction="20000"/>
          </a:bodyPr>
          <a:lstStyle/>
          <a:p>
            <a:r>
              <a:rPr lang="en-US" dirty="0"/>
              <a:t>Compare it to the F(</a:t>
            </a:r>
            <a:r>
              <a:rPr lang="en-US" dirty="0" err="1"/>
              <a:t>p,n</a:t>
            </a:r>
            <a:r>
              <a:rPr lang="en-US" dirty="0"/>
              <a:t>-p) distribution: if the corresponding percentile is less than about 10 or 20 percent, then the point has little influence; if the percentile is near 50 percent or more, then there is high influence. </a:t>
            </a:r>
          </a:p>
          <a:p>
            <a:pPr marL="68580" indent="0">
              <a:buNone/>
            </a:pPr>
            <a:endParaRPr lang="en-US" dirty="0"/>
          </a:p>
          <a:p>
            <a:r>
              <a:rPr lang="en-US" dirty="0"/>
              <a:t>The best thing to do is to determine if the Cook’s distance is large relative to the other n-1 Cook’s distances for that sample. A value with a Cook’s distance that is large relative to the other n-1 Cook’s distances is considered highly influential. </a:t>
            </a:r>
          </a:p>
          <a:p>
            <a:endParaRPr lang="en-US" b="1" dirty="0"/>
          </a:p>
        </p:txBody>
      </p:sp>
    </p:spTree>
    <p:extLst>
      <p:ext uri="{BB962C8B-B14F-4D97-AF65-F5344CB8AC3E}">
        <p14:creationId xmlns:p14="http://schemas.microsoft.com/office/powerpoint/2010/main" val="4052213559"/>
      </p:ext>
    </p:extLst>
  </p:cSld>
  <p:clrMapOvr>
    <a:masterClrMapping/>
  </p:clrMapOvr>
  <p:transition spd="slow">
    <p:wipe dir="d"/>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752600" y="838200"/>
            <a:ext cx="6477000" cy="5724930"/>
          </a:xfrm>
          <a:prstGeom prst="rect">
            <a:avLst/>
          </a:prstGeom>
        </p:spPr>
      </p:pic>
      <p:pic>
        <p:nvPicPr>
          <p:cNvPr id="2" name="Picture 1"/>
          <p:cNvPicPr>
            <a:picLocks noChangeAspect="1"/>
          </p:cNvPicPr>
          <p:nvPr/>
        </p:nvPicPr>
        <p:blipFill>
          <a:blip r:embed="rId3"/>
          <a:stretch>
            <a:fillRect/>
          </a:stretch>
        </p:blipFill>
        <p:spPr>
          <a:xfrm>
            <a:off x="2286000" y="152400"/>
            <a:ext cx="5181600" cy="554410"/>
          </a:xfrm>
          <a:prstGeom prst="rect">
            <a:avLst/>
          </a:prstGeom>
        </p:spPr>
      </p:pic>
    </p:spTree>
    <p:extLst>
      <p:ext uri="{BB962C8B-B14F-4D97-AF65-F5344CB8AC3E}">
        <p14:creationId xmlns:p14="http://schemas.microsoft.com/office/powerpoint/2010/main" val="2640228819"/>
      </p:ext>
    </p:extLst>
  </p:cSld>
  <p:clrMapOvr>
    <a:masterClrMapping/>
  </p:clrMapOvr>
  <p:transition spd="slow">
    <p:wipe dir="d"/>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1295400" y="5789961"/>
            <a:ext cx="3982947" cy="575440"/>
          </a:xfrm>
          <a:prstGeom prst="rect">
            <a:avLst/>
          </a:prstGeom>
        </p:spPr>
      </p:pic>
      <p:pic>
        <p:nvPicPr>
          <p:cNvPr id="6" name="Picture 5"/>
          <p:cNvPicPr>
            <a:picLocks noChangeAspect="1"/>
          </p:cNvPicPr>
          <p:nvPr/>
        </p:nvPicPr>
        <p:blipFill>
          <a:blip r:embed="rId3"/>
          <a:stretch>
            <a:fillRect/>
          </a:stretch>
        </p:blipFill>
        <p:spPr>
          <a:xfrm>
            <a:off x="2514600" y="685800"/>
            <a:ext cx="5064919" cy="4962266"/>
          </a:xfrm>
          <a:prstGeom prst="rect">
            <a:avLst/>
          </a:prstGeom>
        </p:spPr>
      </p:pic>
      <p:pic>
        <p:nvPicPr>
          <p:cNvPr id="7" name="Picture 6"/>
          <p:cNvPicPr>
            <a:picLocks noChangeAspect="1"/>
          </p:cNvPicPr>
          <p:nvPr/>
        </p:nvPicPr>
        <p:blipFill>
          <a:blip r:embed="rId4"/>
          <a:stretch>
            <a:fillRect/>
          </a:stretch>
        </p:blipFill>
        <p:spPr>
          <a:xfrm>
            <a:off x="5486399" y="5789961"/>
            <a:ext cx="3262827" cy="539893"/>
          </a:xfrm>
          <a:prstGeom prst="rect">
            <a:avLst/>
          </a:prstGeom>
        </p:spPr>
      </p:pic>
      <p:pic>
        <p:nvPicPr>
          <p:cNvPr id="2" name="Picture 1"/>
          <p:cNvPicPr>
            <a:picLocks noChangeAspect="1"/>
          </p:cNvPicPr>
          <p:nvPr/>
        </p:nvPicPr>
        <p:blipFill>
          <a:blip r:embed="rId5"/>
          <a:stretch>
            <a:fillRect/>
          </a:stretch>
        </p:blipFill>
        <p:spPr>
          <a:xfrm>
            <a:off x="3200400" y="160539"/>
            <a:ext cx="3429000" cy="383366"/>
          </a:xfrm>
          <a:prstGeom prst="rect">
            <a:avLst/>
          </a:prstGeom>
        </p:spPr>
      </p:pic>
    </p:spTree>
    <p:extLst>
      <p:ext uri="{BB962C8B-B14F-4D97-AF65-F5344CB8AC3E}">
        <p14:creationId xmlns:p14="http://schemas.microsoft.com/office/powerpoint/2010/main" val="1330461693"/>
      </p:ext>
    </p:extLst>
  </p:cSld>
  <p:clrMapOvr>
    <a:masterClrMapping/>
  </p:clrMapOvr>
  <p:transition spd="slow">
    <p:wipe dir="d"/>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43492" y="685800"/>
            <a:ext cx="7024742" cy="6019800"/>
          </a:xfrm>
        </p:spPr>
        <p:txBody>
          <a:bodyPr>
            <a:normAutofit/>
          </a:bodyPr>
          <a:lstStyle/>
          <a:p>
            <a:pPr marL="525780" indent="-457200"/>
            <a:r>
              <a:rPr lang="en-US" dirty="0"/>
              <a:t>The function </a:t>
            </a:r>
            <a:r>
              <a:rPr lang="en-US" sz="3000" b="1" dirty="0" err="1">
                <a:solidFill>
                  <a:srgbClr val="0070C0"/>
                </a:solidFill>
              </a:rPr>
              <a:t>influencePlot</a:t>
            </a:r>
            <a:r>
              <a:rPr lang="en-US" sz="3000" b="1" dirty="0">
                <a:solidFill>
                  <a:srgbClr val="0070C0"/>
                </a:solidFill>
              </a:rPr>
              <a:t>() </a:t>
            </a:r>
            <a:r>
              <a:rPr lang="en-US" dirty="0"/>
              <a:t>creates a “bubble” plot of </a:t>
            </a:r>
            <a:r>
              <a:rPr lang="en-US" dirty="0" err="1">
                <a:solidFill>
                  <a:srgbClr val="FF0000"/>
                </a:solidFill>
              </a:rPr>
              <a:t>Studentized</a:t>
            </a:r>
            <a:r>
              <a:rPr lang="en-US" dirty="0">
                <a:solidFill>
                  <a:srgbClr val="FF0000"/>
                </a:solidFill>
              </a:rPr>
              <a:t> residuals </a:t>
            </a:r>
            <a:r>
              <a:rPr lang="en-US" dirty="0"/>
              <a:t>by </a:t>
            </a:r>
            <a:r>
              <a:rPr lang="en-US" dirty="0">
                <a:solidFill>
                  <a:srgbClr val="FF0000"/>
                </a:solidFill>
              </a:rPr>
              <a:t>hat values</a:t>
            </a:r>
            <a:r>
              <a:rPr lang="en-US" dirty="0"/>
              <a:t>, with the areas of the circles representing the observations proportional to </a:t>
            </a:r>
            <a:r>
              <a:rPr lang="en-US" dirty="0">
                <a:solidFill>
                  <a:srgbClr val="FF0000"/>
                </a:solidFill>
              </a:rPr>
              <a:t>Cook's distances</a:t>
            </a:r>
            <a:r>
              <a:rPr lang="en-US" dirty="0"/>
              <a:t>.</a:t>
            </a:r>
          </a:p>
          <a:p>
            <a:pPr marL="525780" indent="-457200"/>
            <a:r>
              <a:rPr lang="en-US" dirty="0"/>
              <a:t>Vertical reference lines are drawn at </a:t>
            </a:r>
            <a:r>
              <a:rPr lang="en-US" dirty="0">
                <a:solidFill>
                  <a:srgbClr val="FF0000"/>
                </a:solidFill>
              </a:rPr>
              <a:t>twice and three times </a:t>
            </a:r>
            <a:r>
              <a:rPr lang="en-US" dirty="0"/>
              <a:t>the average hat value. </a:t>
            </a:r>
          </a:p>
          <a:p>
            <a:pPr marL="525780" indent="-457200"/>
            <a:r>
              <a:rPr lang="en-US" dirty="0"/>
              <a:t>Horizontal reference lines at -2, 0, and 2 on the </a:t>
            </a:r>
            <a:r>
              <a:rPr lang="en-US" dirty="0" err="1"/>
              <a:t>Studentized</a:t>
            </a:r>
            <a:r>
              <a:rPr lang="en-US" dirty="0"/>
              <a:t>-residual scale.</a:t>
            </a:r>
          </a:p>
          <a:p>
            <a:pPr marL="68580" indent="0">
              <a:buNone/>
            </a:pPr>
            <a:endParaRPr lang="en-US" dirty="0"/>
          </a:p>
        </p:txBody>
      </p:sp>
    </p:spTree>
    <p:extLst>
      <p:ext uri="{BB962C8B-B14F-4D97-AF65-F5344CB8AC3E}">
        <p14:creationId xmlns:p14="http://schemas.microsoft.com/office/powerpoint/2010/main" val="305716913"/>
      </p:ext>
    </p:extLst>
  </p:cSld>
  <p:clrMapOvr>
    <a:masterClrMapping/>
  </p:clrMapOvr>
  <p:transition spd="slow">
    <p:wipe dir="d"/>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828800" y="228600"/>
            <a:ext cx="5867400" cy="5802442"/>
          </a:xfrm>
          <a:prstGeom prst="rect">
            <a:avLst/>
          </a:prstGeom>
        </p:spPr>
      </p:pic>
      <p:pic>
        <p:nvPicPr>
          <p:cNvPr id="3" name="Picture 2"/>
          <p:cNvPicPr>
            <a:picLocks noChangeAspect="1"/>
          </p:cNvPicPr>
          <p:nvPr/>
        </p:nvPicPr>
        <p:blipFill>
          <a:blip r:embed="rId3"/>
          <a:stretch>
            <a:fillRect/>
          </a:stretch>
        </p:blipFill>
        <p:spPr>
          <a:xfrm>
            <a:off x="2667000" y="6172200"/>
            <a:ext cx="4473677" cy="381000"/>
          </a:xfrm>
          <a:prstGeom prst="rect">
            <a:avLst/>
          </a:prstGeom>
        </p:spPr>
      </p:pic>
    </p:spTree>
    <p:extLst>
      <p:ext uri="{BB962C8B-B14F-4D97-AF65-F5344CB8AC3E}">
        <p14:creationId xmlns:p14="http://schemas.microsoft.com/office/powerpoint/2010/main" val="2385341675"/>
      </p:ext>
    </p:extLst>
  </p:cSld>
  <p:clrMapOvr>
    <a:masterClrMapping/>
  </p:clrMapOvr>
  <p:transition spd="slow">
    <p:wipe dir="d"/>
  </p:transition>
</p:sld>
</file>

<file path=ppt/tags/tag1.xml><?xml version="1.0" encoding="utf-8"?>
<p:tagLst xmlns:a="http://schemas.openxmlformats.org/drawingml/2006/main" xmlns:r="http://schemas.openxmlformats.org/officeDocument/2006/relationships" xmlns:p="http://schemas.openxmlformats.org/presentationml/2006/main">
  <p:tag name="DVSECTIONID" val="yI2DOt6RzRcU51QxdhNewL"/>
</p:tagLst>
</file>

<file path=ppt/tags/tag2.xml><?xml version="1.0" encoding="utf-8"?>
<p:tagLst xmlns:a="http://schemas.openxmlformats.org/drawingml/2006/main" xmlns:r="http://schemas.openxmlformats.org/officeDocument/2006/relationships" xmlns:p="http://schemas.openxmlformats.org/presentationml/2006/main">
  <p:tag name="DVSHAPEID" val="HAGzTPKJNXuuOK4v20iPS7"/>
</p:tagLst>
</file>

<file path=ppt/tags/tag3.xml><?xml version="1.0" encoding="utf-8"?>
<p:tagLst xmlns:a="http://schemas.openxmlformats.org/drawingml/2006/main" xmlns:r="http://schemas.openxmlformats.org/officeDocument/2006/relationships" xmlns:p="http://schemas.openxmlformats.org/presentationml/2006/main">
  <p:tag name="DVSHAPEID" val="0uhWvCQomImT50qU5y4Znw"/>
</p:tagLst>
</file>

<file path=ppt/theme/theme1.xml><?xml version="1.0" encoding="utf-8"?>
<a:theme xmlns:a="http://schemas.openxmlformats.org/drawingml/2006/main" name="Training New Employe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2119</Words>
  <Application>Microsoft Office PowerPoint</Application>
  <PresentationFormat>On-screen Show (4:3)</PresentationFormat>
  <Paragraphs>218</Paragraphs>
  <Slides>41</Slides>
  <Notes>1</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41</vt:i4>
      </vt:variant>
    </vt:vector>
  </HeadingPairs>
  <TitlesOfParts>
    <vt:vector size="48" baseType="lpstr">
      <vt:lpstr>Arial</vt:lpstr>
      <vt:lpstr>Calibri</vt:lpstr>
      <vt:lpstr>Cambria</vt:lpstr>
      <vt:lpstr>Cambria Math</vt:lpstr>
      <vt:lpstr>Georgia</vt:lpstr>
      <vt:lpstr>Training New Employees</vt:lpstr>
      <vt:lpstr>Document</vt:lpstr>
      <vt:lpstr>Multiple Linear regression</vt:lpstr>
      <vt:lpstr> Example: What determine an NBA player’s salary?</vt:lpstr>
      <vt:lpstr>PowerPoint Presentation</vt:lpstr>
      <vt:lpstr>Model Formulation</vt:lpstr>
      <vt:lpstr>Interpretation of the regression coefficients</vt:lpstr>
      <vt:lpstr>The Method of Least Squares  </vt:lpstr>
      <vt:lpstr>Example: What determine a NBA player’s salary?</vt:lpstr>
      <vt:lpstr>Matrix Representation</vt:lpstr>
      <vt:lpstr>Things to look at</vt:lpstr>
      <vt:lpstr>ANOVA – partitioning of squares</vt:lpstr>
      <vt:lpstr>PowerPoint Presentation</vt:lpstr>
      <vt:lpstr>ANOVA Table</vt:lpstr>
      <vt:lpstr>PowerPoint Presentation</vt:lpstr>
      <vt:lpstr>Example: What determine an NBA player’s salary?</vt:lpstr>
      <vt:lpstr>Inference about β_k: confidence interval</vt:lpstr>
      <vt:lpstr>Inference about β_k: hypothesis testing</vt:lpstr>
      <vt:lpstr>PowerPoint Presentation</vt:lpstr>
      <vt:lpstr>Example: What determine an NBA player’s salary?</vt:lpstr>
      <vt:lpstr>PowerPoint Presentation</vt:lpstr>
      <vt:lpstr>Confidence and prediction intervals</vt:lpstr>
      <vt:lpstr>Example: What determine an NBA player’s salary?</vt:lpstr>
      <vt:lpstr>PowerPoint Presentation</vt:lpstr>
      <vt:lpstr>Diagnostics about the predictors</vt:lpstr>
      <vt:lpstr>Diagnostics about the predictors</vt:lpstr>
      <vt:lpstr>PowerPoint Presentation</vt:lpstr>
      <vt:lpstr>PowerPoint Presentation</vt:lpstr>
      <vt:lpstr>Detect Extrapolation Beyond the Range of the Data (not required)</vt:lpstr>
      <vt:lpstr>Residual Diagnostics</vt:lpstr>
      <vt:lpstr>Example: What determine an NBA player’s salary?</vt:lpstr>
      <vt:lpstr>PowerPoint Presentation</vt:lpstr>
      <vt:lpstr>Make residual plots of your own</vt:lpstr>
      <vt:lpstr>PowerPoint Presentation</vt:lpstr>
      <vt:lpstr>PowerPoint Presentation</vt:lpstr>
      <vt:lpstr>Detecting influential cases</vt:lpstr>
      <vt:lpstr>PowerPoint Presentation</vt:lpstr>
      <vt:lpstr>PowerPoint Presentation</vt:lpstr>
      <vt:lpstr>How large is large enough? </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
  <cp:revision>1</cp:revision>
  <dcterms:created xsi:type="dcterms:W3CDTF">2010-02-01T21:33:28Z</dcterms:created>
  <dcterms:modified xsi:type="dcterms:W3CDTF">2023-12-04T10:25:44Z</dcterms:modified>
</cp:coreProperties>
</file>