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64" r:id="rId2"/>
    <p:sldId id="256" r:id="rId3"/>
    <p:sldId id="261" r:id="rId4"/>
    <p:sldId id="267" r:id="rId5"/>
    <p:sldId id="268" r:id="rId6"/>
    <p:sldId id="271" r:id="rId7"/>
    <p:sldId id="273" r:id="rId8"/>
    <p:sldId id="263" r:id="rId9"/>
    <p:sldId id="265" r:id="rId10"/>
    <p:sldId id="272" r:id="rId11"/>
    <p:sldId id="269" r:id="rId12"/>
    <p:sldId id="270" r:id="rId13"/>
    <p:sldId id="283" r:id="rId14"/>
    <p:sldId id="257" r:id="rId15"/>
    <p:sldId id="258" r:id="rId16"/>
    <p:sldId id="260" r:id="rId17"/>
    <p:sldId id="259" r:id="rId18"/>
    <p:sldId id="274" r:id="rId19"/>
    <p:sldId id="275" r:id="rId20"/>
    <p:sldId id="276" r:id="rId21"/>
    <p:sldId id="321" r:id="rId22"/>
    <p:sldId id="324" r:id="rId23"/>
    <p:sldId id="282" r:id="rId24"/>
    <p:sldId id="278" r:id="rId25"/>
    <p:sldId id="281" r:id="rId26"/>
    <p:sldId id="280" r:id="rId27"/>
    <p:sldId id="277"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285"/>
    <p:restoredTop sz="94675"/>
  </p:normalViewPr>
  <p:slideViewPr>
    <p:cSldViewPr snapToGrid="0" snapToObjects="1">
      <p:cViewPr varScale="1">
        <p:scale>
          <a:sx n="61" d="100"/>
          <a:sy n="61" d="100"/>
        </p:scale>
        <p:origin x="25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44BDAE-A2D1-3B4B-9510-AE78CA401BCE}" type="datetimeFigureOut">
              <a:rPr lang="en-US" smtClean="0"/>
              <a:t>9/24/2023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E6522-AF0B-5B40-9433-E1AC10800894}" type="slidenum">
              <a:rPr lang="en-US" smtClean="0"/>
              <a:t>‹#›</a:t>
            </a:fld>
            <a:endParaRPr lang="en-US"/>
          </a:p>
        </p:txBody>
      </p:sp>
    </p:spTree>
    <p:extLst>
      <p:ext uri="{BB962C8B-B14F-4D97-AF65-F5344CB8AC3E}">
        <p14:creationId xmlns:p14="http://schemas.microsoft.com/office/powerpoint/2010/main" val="1877762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2E6522-AF0B-5B40-9433-E1AC10800894}" type="slidenum">
              <a:rPr lang="en-US" smtClean="0"/>
              <a:t>5</a:t>
            </a:fld>
            <a:endParaRPr lang="en-US"/>
          </a:p>
        </p:txBody>
      </p:sp>
    </p:spTree>
    <p:extLst>
      <p:ext uri="{BB962C8B-B14F-4D97-AF65-F5344CB8AC3E}">
        <p14:creationId xmlns:p14="http://schemas.microsoft.com/office/powerpoint/2010/main" val="47287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2E6522-AF0B-5B40-9433-E1AC10800894}" type="slidenum">
              <a:rPr lang="en-US" smtClean="0"/>
              <a:t>12</a:t>
            </a:fld>
            <a:endParaRPr lang="en-US"/>
          </a:p>
        </p:txBody>
      </p:sp>
    </p:spTree>
    <p:extLst>
      <p:ext uri="{BB962C8B-B14F-4D97-AF65-F5344CB8AC3E}">
        <p14:creationId xmlns:p14="http://schemas.microsoft.com/office/powerpoint/2010/main" val="36358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2E6522-AF0B-5B40-9433-E1AC10800894}" type="slidenum">
              <a:rPr lang="en-US" smtClean="0"/>
              <a:t>14</a:t>
            </a:fld>
            <a:endParaRPr lang="en-US"/>
          </a:p>
        </p:txBody>
      </p:sp>
    </p:spTree>
    <p:extLst>
      <p:ext uri="{BB962C8B-B14F-4D97-AF65-F5344CB8AC3E}">
        <p14:creationId xmlns:p14="http://schemas.microsoft.com/office/powerpoint/2010/main" val="77989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1617-7C7F-0E4E-8D67-96FD12CA48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9B9602-B5E7-304F-B159-1D11442C2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AADCB0-5EAB-F946-BCE7-8E739F790265}"/>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5872796D-DBC1-904D-A6D6-5EE0CEFFF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1ADE2-06D2-3845-B0B7-87AC0719D939}"/>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4165659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D5496-E03F-4845-8560-AC27C0FE43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DEE3A4-1A51-2246-85E1-BCE14D5265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63307-E054-1049-AE9C-B935E09BE986}"/>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07978F40-21C8-FB4C-A372-F5228D213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BED9D-184F-EA43-A05D-48C492583E9F}"/>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4073595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E362-E519-C44C-BA1A-4B8F68B897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AD6891-1B65-524A-A603-8D8A321274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E3F1AA-A156-774A-9052-E47575973870}"/>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7C385322-B0C0-CC4B-A87B-C43A7B1EA3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E53D9-09D3-5A45-9A9C-6386D2964756}"/>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2123472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6D6F-571A-8949-B934-8E5AA1CFD2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1F41B5-A03F-AA49-BA02-1149960F52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4FE66E-9A96-564B-8527-49D80EB5D3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143E6C-24AA-2644-9F3F-F34CA53E2F0B}"/>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6" name="Footer Placeholder 5">
            <a:extLst>
              <a:ext uri="{FF2B5EF4-FFF2-40B4-BE49-F238E27FC236}">
                <a16:creationId xmlns:a16="http://schemas.microsoft.com/office/drawing/2014/main" id="{A9E091B1-3BDA-9544-92C6-02D89A294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8E7A64-68CF-1B4D-9961-030519957D5C}"/>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770557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75C7-72F2-1543-94AF-5B0BC7355A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754475-4F58-2740-985F-92B808A10D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2BB2FB-52A1-4F4B-9666-A425CDCF20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97CFA2-234B-AD45-8EC4-5F768CD6D0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ED0A80-9E2D-7C4C-A052-60C47C4F8B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3D1BC7-2D20-4D4B-A9D3-D994C62C20CF}"/>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8" name="Footer Placeholder 7">
            <a:extLst>
              <a:ext uri="{FF2B5EF4-FFF2-40B4-BE49-F238E27FC236}">
                <a16:creationId xmlns:a16="http://schemas.microsoft.com/office/drawing/2014/main" id="{F0168A4D-1DF4-1443-8D8D-B3996F5D4F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E63BFC-2169-CC42-93FE-D7E71E886121}"/>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1847782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FD59-357D-5A47-97A0-1F2DB50A7C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778EF6-6130-614D-8811-0463B32F563A}"/>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4" name="Footer Placeholder 3">
            <a:extLst>
              <a:ext uri="{FF2B5EF4-FFF2-40B4-BE49-F238E27FC236}">
                <a16:creationId xmlns:a16="http://schemas.microsoft.com/office/drawing/2014/main" id="{0728F013-DEC0-4B4D-82B6-B04F61D42D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5356A6-2B52-4D4D-A62F-AD6203A2FB6C}"/>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188908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D5468-6465-2447-8D92-E6E86AB8DDA6}"/>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3" name="Footer Placeholder 2">
            <a:extLst>
              <a:ext uri="{FF2B5EF4-FFF2-40B4-BE49-F238E27FC236}">
                <a16:creationId xmlns:a16="http://schemas.microsoft.com/office/drawing/2014/main" id="{4D783BDD-1BA3-1140-BECB-3DF447614B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BF6901-F2F6-644E-85B2-FD5927C5960E}"/>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416271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588-6FF1-A740-9B01-597C026F1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527160-63B7-A249-AF4F-DF4173E465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7A90C7-6584-A440-8361-B221B0F8F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303AD3-C30C-6C48-A680-5363FDAE803A}"/>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6" name="Footer Placeholder 5">
            <a:extLst>
              <a:ext uri="{FF2B5EF4-FFF2-40B4-BE49-F238E27FC236}">
                <a16:creationId xmlns:a16="http://schemas.microsoft.com/office/drawing/2014/main" id="{FE772476-35AA-644D-9E1B-DC92C14FB6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651F69-9817-F442-A7D8-FD6E4234A7A6}"/>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54546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B0E0-E84B-3544-B0F8-6FDA9085B6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0B6CC0-AB10-884D-8257-FE59F5BA76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5A5120-6C4D-E54C-9409-74E9B1699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BA0BE9-FF51-4B4B-82B0-FF729CDD442E}"/>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6" name="Footer Placeholder 5">
            <a:extLst>
              <a:ext uri="{FF2B5EF4-FFF2-40B4-BE49-F238E27FC236}">
                <a16:creationId xmlns:a16="http://schemas.microsoft.com/office/drawing/2014/main" id="{6F79F374-5AD6-8646-A5F1-E099D24B0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E5313C-CE70-9947-89E7-3A2EC7D99645}"/>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1265086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3F402-9726-954B-A4A5-8732B8EF91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06B203-4FC2-BC40-A9DE-5367B3490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B9A195-5CB6-E74E-AA26-85796D6A99B3}"/>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4E7CBDD5-7E88-CC43-A89C-A6ECB79DE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9C046-D5F7-B64F-B9F3-8E912BF96589}"/>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767121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AEF019-91AD-9B40-A3F0-7368A02084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7113A9-66C1-FE42-AAFB-BA90F28DE4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C9CF6-8BBF-CA45-B13E-BA2D2DBBA7DD}"/>
              </a:ext>
            </a:extLst>
          </p:cNvPr>
          <p:cNvSpPr>
            <a:spLocks noGrp="1"/>
          </p:cNvSpPr>
          <p:nvPr>
            <p:ph type="dt" sz="half" idx="10"/>
          </p:nvPr>
        </p:nvSpPr>
        <p:spPr/>
        <p:txBody>
          <a:body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098B5281-0A9D-F34C-B77B-E792B6196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D8DF8-19D3-9742-AC8C-9BC9D2D18D4B}"/>
              </a:ext>
            </a:extLst>
          </p:cNvPr>
          <p:cNvSpPr>
            <a:spLocks noGrp="1"/>
          </p:cNvSpPr>
          <p:nvPr>
            <p:ph type="sldNum" sz="quarter" idx="12"/>
          </p:nvPr>
        </p:nvSpPr>
        <p:spPr/>
        <p:txBody>
          <a:bodyPr/>
          <a:lstStyle/>
          <a:p>
            <a:fld id="{9A1CCFCF-B5B3-EC44-81DB-92A4B19D1BB0}" type="slidenum">
              <a:rPr lang="en-US" smtClean="0"/>
              <a:t>‹#›</a:t>
            </a:fld>
            <a:endParaRPr lang="en-US"/>
          </a:p>
        </p:txBody>
      </p:sp>
    </p:spTree>
    <p:extLst>
      <p:ext uri="{BB962C8B-B14F-4D97-AF65-F5344CB8AC3E}">
        <p14:creationId xmlns:p14="http://schemas.microsoft.com/office/powerpoint/2010/main" val="2745625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7BDC39-A447-6D4F-887D-0C83DA3A7F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677B08-D96B-ED49-8717-2440B50641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9852F0-935F-F04A-8356-828F15C5A1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5519C-2E51-B841-B99D-61DF8F9F0055}" type="datetimeFigureOut">
              <a:rPr lang="en-US" smtClean="0"/>
              <a:t>9/24/2023</a:t>
            </a:fld>
            <a:endParaRPr lang="en-US"/>
          </a:p>
        </p:txBody>
      </p:sp>
      <p:sp>
        <p:nvSpPr>
          <p:cNvPr id="5" name="Footer Placeholder 4">
            <a:extLst>
              <a:ext uri="{FF2B5EF4-FFF2-40B4-BE49-F238E27FC236}">
                <a16:creationId xmlns:a16="http://schemas.microsoft.com/office/drawing/2014/main" id="{3360D402-092F-064F-A0FE-6859DCB8D6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633B1D-E56E-954C-B604-ADC22180B3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1CCFCF-B5B3-EC44-81DB-92A4B19D1BB0}" type="slidenum">
              <a:rPr lang="en-US" smtClean="0"/>
              <a:t>‹#›</a:t>
            </a:fld>
            <a:endParaRPr lang="en-US"/>
          </a:p>
        </p:txBody>
      </p:sp>
    </p:spTree>
    <p:extLst>
      <p:ext uri="{BB962C8B-B14F-4D97-AF65-F5344CB8AC3E}">
        <p14:creationId xmlns:p14="http://schemas.microsoft.com/office/powerpoint/2010/main" val="3449437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10.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hyperlink" Target="https://www.chinacourt.org/article/detail/2004/09/id/131757.shtml" TargetMode="External"/><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60.png"/></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3.png"/><Relationship Id="rId7" Type="http://schemas.openxmlformats.org/officeDocument/2006/relationships/image" Target="../media/image38.png"/><Relationship Id="rId2" Type="http://schemas.openxmlformats.org/officeDocument/2006/relationships/image" Target="../media/image39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60.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6769" y="1255507"/>
            <a:ext cx="8229601" cy="1754852"/>
          </a:xfrm>
        </p:spPr>
        <p:txBody>
          <a:bodyPr>
            <a:normAutofit/>
          </a:bodyPr>
          <a:lstStyle/>
          <a:p>
            <a:pPr algn="l"/>
            <a:r>
              <a:rPr lang="en-US" sz="3600" dirty="0"/>
              <a:t>STA 2002</a:t>
            </a:r>
            <a:r>
              <a:rPr lang="en-US" dirty="0"/>
              <a:t> </a:t>
            </a:r>
            <a:br>
              <a:rPr lang="en-US" dirty="0"/>
            </a:br>
            <a:r>
              <a:rPr lang="en-US" dirty="0"/>
              <a:t>			</a:t>
            </a:r>
            <a:r>
              <a:rPr lang="en-US"/>
              <a:t>Lecture </a:t>
            </a:r>
            <a:r>
              <a:rPr lang="en-US" altLang="zh-CN"/>
              <a:t>7</a:t>
            </a:r>
            <a:r>
              <a:rPr lang="en-US"/>
              <a:t>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8906" y="1574347"/>
            <a:ext cx="627863" cy="433919"/>
          </a:xfrm>
          <a:prstGeom prst="rect">
            <a:avLst/>
          </a:prstGeom>
        </p:spPr>
      </p:pic>
      <p:sp>
        <p:nvSpPr>
          <p:cNvPr id="7" name="TextBox 6">
            <a:extLst>
              <a:ext uri="{FF2B5EF4-FFF2-40B4-BE49-F238E27FC236}">
                <a16:creationId xmlns:a16="http://schemas.microsoft.com/office/drawing/2014/main" id="{C24D9BF1-114B-D04C-9522-F6005289234E}"/>
              </a:ext>
            </a:extLst>
          </p:cNvPr>
          <p:cNvSpPr txBox="1"/>
          <p:nvPr/>
        </p:nvSpPr>
        <p:spPr>
          <a:xfrm>
            <a:off x="4166709" y="3585704"/>
            <a:ext cx="4108432" cy="1200329"/>
          </a:xfrm>
          <a:prstGeom prst="rect">
            <a:avLst/>
          </a:prstGeom>
          <a:noFill/>
        </p:spPr>
        <p:txBody>
          <a:bodyPr wrap="none" rtlCol="0">
            <a:spAutoFit/>
          </a:bodyPr>
          <a:lstStyle/>
          <a:p>
            <a:pPr algn="ctr"/>
            <a:r>
              <a:rPr lang="en-US" sz="2400" dirty="0"/>
              <a:t>Comparing two hypotheses</a:t>
            </a:r>
          </a:p>
          <a:p>
            <a:pPr algn="ctr"/>
            <a:endParaRPr lang="en-US" sz="2400" dirty="0"/>
          </a:p>
          <a:p>
            <a:pPr algn="ctr"/>
            <a:r>
              <a:rPr lang="en-US" sz="2400" dirty="0"/>
              <a:t>The </a:t>
            </a:r>
            <a:r>
              <a:rPr lang="en-US" sz="2400" dirty="0" err="1"/>
              <a:t>Neyman</a:t>
            </a:r>
            <a:r>
              <a:rPr lang="en-US" sz="2400" dirty="0"/>
              <a:t>-Pearson paradigm</a:t>
            </a:r>
          </a:p>
        </p:txBody>
      </p:sp>
    </p:spTree>
    <p:extLst>
      <p:ext uri="{BB962C8B-B14F-4D97-AF65-F5344CB8AC3E}">
        <p14:creationId xmlns:p14="http://schemas.microsoft.com/office/powerpoint/2010/main" val="2988414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9F6E0F-A23B-5246-983C-2B58B21FD31A}"/>
              </a:ext>
            </a:extLst>
          </p:cNvPr>
          <p:cNvSpPr txBox="1"/>
          <p:nvPr/>
        </p:nvSpPr>
        <p:spPr>
          <a:xfrm>
            <a:off x="211015" y="175846"/>
            <a:ext cx="2752677" cy="369332"/>
          </a:xfrm>
          <a:prstGeom prst="rect">
            <a:avLst/>
          </a:prstGeom>
          <a:noFill/>
        </p:spPr>
        <p:txBody>
          <a:bodyPr wrap="none" rtlCol="0">
            <a:spAutoFit/>
          </a:bodyPr>
          <a:lstStyle/>
          <a:p>
            <a:r>
              <a:rPr lang="en-US" u="sng" dirty="0"/>
              <a:t>Comparing two hypotheses</a:t>
            </a:r>
          </a:p>
        </p:txBody>
      </p:sp>
      <p:sp>
        <p:nvSpPr>
          <p:cNvPr id="3" name="Rectangle 2">
            <a:extLst>
              <a:ext uri="{FF2B5EF4-FFF2-40B4-BE49-F238E27FC236}">
                <a16:creationId xmlns:a16="http://schemas.microsoft.com/office/drawing/2014/main" id="{9CF7332A-202C-664C-B102-93682A45AFFE}"/>
              </a:ext>
            </a:extLst>
          </p:cNvPr>
          <p:cNvSpPr/>
          <p:nvPr/>
        </p:nvSpPr>
        <p:spPr>
          <a:xfrm>
            <a:off x="408214" y="991578"/>
            <a:ext cx="11658599" cy="1631216"/>
          </a:xfrm>
          <a:prstGeom prst="rect">
            <a:avLst/>
          </a:prstGeom>
        </p:spPr>
        <p:txBody>
          <a:bodyPr wrap="square">
            <a:spAutoFit/>
          </a:bodyPr>
          <a:lstStyle/>
          <a:p>
            <a:r>
              <a:rPr lang="en-US" sz="2000" dirty="0">
                <a:solidFill>
                  <a:srgbClr val="211E1E"/>
                </a:solidFill>
                <a:latin typeface="Times" pitchFamily="2" charset="0"/>
              </a:rPr>
              <a:t>I have two coins, coin 0 has probability of heads equal to 0.5 and coin 1 has probability of heads equal to 0.7. </a:t>
            </a:r>
          </a:p>
          <a:p>
            <a:endParaRPr lang="en-US" sz="2000" dirty="0">
              <a:solidFill>
                <a:srgbClr val="211E1E"/>
              </a:solidFill>
              <a:latin typeface="Times" pitchFamily="2" charset="0"/>
            </a:endParaRPr>
          </a:p>
          <a:p>
            <a:r>
              <a:rPr lang="en-US" sz="2000" dirty="0">
                <a:solidFill>
                  <a:srgbClr val="211E1E"/>
                </a:solidFill>
                <a:latin typeface="Times" pitchFamily="2" charset="0"/>
              </a:rPr>
              <a:t>I choose one of the coins, toss it 10 times, and tell you the number of heads.</a:t>
            </a:r>
          </a:p>
          <a:p>
            <a:endParaRPr lang="en-US" sz="2000" dirty="0">
              <a:solidFill>
                <a:srgbClr val="211E1E"/>
              </a:solidFill>
              <a:latin typeface="Times" pitchFamily="2" charset="0"/>
            </a:endParaRPr>
          </a:p>
          <a:p>
            <a:r>
              <a:rPr lang="en-US" sz="2000" dirty="0">
                <a:solidFill>
                  <a:srgbClr val="211E1E"/>
                </a:solidFill>
                <a:latin typeface="Times" pitchFamily="2" charset="0"/>
              </a:rPr>
              <a:t>I ask you: which coin did I use?</a:t>
            </a:r>
            <a:endParaRPr lang="en-US" sz="2000" dirty="0"/>
          </a:p>
        </p:txBody>
      </p:sp>
      <p:pic>
        <p:nvPicPr>
          <p:cNvPr id="4" name="Picture 3">
            <a:extLst>
              <a:ext uri="{FF2B5EF4-FFF2-40B4-BE49-F238E27FC236}">
                <a16:creationId xmlns:a16="http://schemas.microsoft.com/office/drawing/2014/main" id="{7D9BD285-3571-5A4B-A013-566E49F7B723}"/>
              </a:ext>
            </a:extLst>
          </p:cNvPr>
          <p:cNvPicPr>
            <a:picLocks noChangeAspect="1"/>
          </p:cNvPicPr>
          <p:nvPr/>
        </p:nvPicPr>
        <p:blipFill>
          <a:blip r:embed="rId2"/>
          <a:stretch>
            <a:fillRect/>
          </a:stretch>
        </p:blipFill>
        <p:spPr>
          <a:xfrm>
            <a:off x="671715" y="3444387"/>
            <a:ext cx="9207071" cy="1384397"/>
          </a:xfrm>
          <a:prstGeom prst="rect">
            <a:avLst/>
          </a:prstGeom>
        </p:spPr>
      </p:pic>
      <p:sp>
        <p:nvSpPr>
          <p:cNvPr id="5" name="TextBox 4">
            <a:extLst>
              <a:ext uri="{FF2B5EF4-FFF2-40B4-BE49-F238E27FC236}">
                <a16:creationId xmlns:a16="http://schemas.microsoft.com/office/drawing/2014/main" id="{02A1A5D0-0553-4544-93A5-CDA92B854104}"/>
              </a:ext>
            </a:extLst>
          </p:cNvPr>
          <p:cNvSpPr txBox="1"/>
          <p:nvPr/>
        </p:nvSpPr>
        <p:spPr>
          <a:xfrm>
            <a:off x="408214" y="3069194"/>
            <a:ext cx="1041952" cy="369332"/>
          </a:xfrm>
          <a:prstGeom prst="rect">
            <a:avLst/>
          </a:prstGeom>
          <a:noFill/>
        </p:spPr>
        <p:txBody>
          <a:bodyPr wrap="none" rtlCol="0">
            <a:spAutoFit/>
          </a:bodyPr>
          <a:lstStyle/>
          <a:p>
            <a:r>
              <a:rPr lang="en-US" dirty="0"/>
              <a:t>P(</a:t>
            </a:r>
            <a:r>
              <a:rPr lang="en-US" dirty="0" err="1"/>
              <a:t>x|coin</a:t>
            </a:r>
            <a:r>
              <a:rPr lang="en-US"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C2BF5C-F6D1-7646-B71A-6AD040787797}"/>
                  </a:ext>
                </a:extLst>
              </p:cNvPr>
              <p:cNvSpPr txBox="1"/>
              <p:nvPr/>
            </p:nvSpPr>
            <p:spPr>
              <a:xfrm>
                <a:off x="416975" y="5096710"/>
                <a:ext cx="3018712" cy="1684757"/>
              </a:xfrm>
              <a:prstGeom prst="rect">
                <a:avLst/>
              </a:prstGeom>
              <a:noFill/>
            </p:spPr>
            <p:txBody>
              <a:bodyPr wrap="none" lIns="0" tIns="0" rIns="0" bIns="0" rtlCol="0">
                <a:spAutoFit/>
              </a:bodyPr>
              <a:lstStyle/>
              <a:p>
                <a:pPr algn="just"/>
                <a:r>
                  <a:rPr lang="en-US" b="0" dirty="0"/>
                  <a:t>If you observe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=2,</m:t>
                    </m:r>
                  </m:oMath>
                </a14:m>
                <a:endParaRPr lang="en-US" b="0" i="1" dirty="0">
                  <a:latin typeface="Cambria Math" panose="02040503050406030204" pitchFamily="18" charset="0"/>
                </a:endParaRPr>
              </a:p>
              <a:p>
                <a:pPr algn="just"/>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𝑐𝑜𝑖𝑛</m:t>
                          </m:r>
                          <m:r>
                            <a:rPr lang="en-US" b="0" i="1" smtClean="0">
                              <a:latin typeface="Cambria Math" panose="02040503050406030204" pitchFamily="18" charset="0"/>
                            </a:rPr>
                            <m:t> 1)</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𝑐𝑜𝑖𝑛</m:t>
                          </m:r>
                          <m:r>
                            <a:rPr lang="en-US" b="0" i="1" smtClean="0">
                              <a:latin typeface="Cambria Math" panose="02040503050406030204" pitchFamily="18" charset="0"/>
                            </a:rPr>
                            <m:t> 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0.0439</m:t>
                          </m:r>
                        </m:num>
                        <m:den>
                          <m:r>
                            <a:rPr lang="en-US" b="0" i="1" smtClean="0">
                              <a:latin typeface="Cambria Math" panose="02040503050406030204" pitchFamily="18" charset="0"/>
                            </a:rPr>
                            <m:t>0.0014</m:t>
                          </m:r>
                        </m:den>
                      </m:f>
                      <m:r>
                        <a:rPr lang="en-US" b="0" i="1" smtClean="0">
                          <a:latin typeface="Cambria Math" panose="02040503050406030204" pitchFamily="18" charset="0"/>
                        </a:rPr>
                        <m:t>=31.4</m:t>
                      </m:r>
                    </m:oMath>
                  </m:oMathPara>
                </a14:m>
                <a:endParaRPr lang="en-US" dirty="0"/>
              </a:p>
              <a:p>
                <a:endParaRPr lang="en-US" dirty="0"/>
              </a:p>
              <a:p>
                <a:r>
                  <a:rPr lang="en-US" dirty="0"/>
                  <a:t>Strong evidence for coin 1</a:t>
                </a:r>
              </a:p>
            </p:txBody>
          </p:sp>
        </mc:Choice>
        <mc:Fallback xmlns="">
          <p:sp>
            <p:nvSpPr>
              <p:cNvPr id="6" name="TextBox 5">
                <a:extLst>
                  <a:ext uri="{FF2B5EF4-FFF2-40B4-BE49-F238E27FC236}">
                    <a16:creationId xmlns:a16="http://schemas.microsoft.com/office/drawing/2014/main" id="{5BC2BF5C-F6D1-7646-B71A-6AD040787797}"/>
                  </a:ext>
                </a:extLst>
              </p:cNvPr>
              <p:cNvSpPr txBox="1">
                <a:spLocks noRot="1" noChangeAspect="1" noMove="1" noResize="1" noEditPoints="1" noAdjustHandles="1" noChangeArrowheads="1" noChangeShapeType="1" noTextEdit="1"/>
              </p:cNvSpPr>
              <p:nvPr/>
            </p:nvSpPr>
            <p:spPr>
              <a:xfrm>
                <a:off x="416975" y="5096710"/>
                <a:ext cx="3018712" cy="1684757"/>
              </a:xfrm>
              <a:prstGeom prst="rect">
                <a:avLst/>
              </a:prstGeom>
              <a:blipFill>
                <a:blip r:embed="rId3"/>
                <a:stretch>
                  <a:fillRect l="-4603" t="-4511" b="-8271"/>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E6AB4394-15B7-B347-9C95-1C509686C911}"/>
              </a:ext>
            </a:extLst>
          </p:cNvPr>
          <p:cNvSpPr/>
          <p:nvPr/>
        </p:nvSpPr>
        <p:spPr>
          <a:xfrm>
            <a:off x="8764328" y="5858137"/>
            <a:ext cx="2319866" cy="369332"/>
          </a:xfrm>
          <a:prstGeom prst="rect">
            <a:avLst/>
          </a:prstGeom>
        </p:spPr>
        <p:txBody>
          <a:bodyPr wrap="none">
            <a:spAutoFit/>
          </a:bodyPr>
          <a:lstStyle/>
          <a:p>
            <a:r>
              <a:rPr lang="en-US" dirty="0">
                <a:solidFill>
                  <a:srgbClr val="211E1E"/>
                </a:solidFill>
                <a:latin typeface="Times" pitchFamily="2" charset="0"/>
              </a:rPr>
              <a:t>the “</a:t>
            </a:r>
            <a:r>
              <a:rPr lang="en-US" b="1" dirty="0">
                <a:solidFill>
                  <a:srgbClr val="211E1E"/>
                </a:solidFill>
                <a:latin typeface="Times" pitchFamily="2" charset="0"/>
              </a:rPr>
              <a:t>likelihood ratio” </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82A24A3-879F-B640-845B-8AF4B6CA5D72}"/>
                  </a:ext>
                </a:extLst>
              </p:cNvPr>
              <p:cNvSpPr txBox="1"/>
              <p:nvPr/>
            </p:nvSpPr>
            <p:spPr>
              <a:xfrm>
                <a:off x="4594660" y="5096710"/>
                <a:ext cx="3002681" cy="1684757"/>
              </a:xfrm>
              <a:prstGeom prst="rect">
                <a:avLst/>
              </a:prstGeom>
              <a:noFill/>
            </p:spPr>
            <p:txBody>
              <a:bodyPr wrap="none" lIns="0" tIns="0" rIns="0" bIns="0" rtlCol="0">
                <a:spAutoFit/>
              </a:bodyPr>
              <a:lstStyle/>
              <a:p>
                <a:pPr algn="just"/>
                <a:r>
                  <a:rPr lang="en-US" b="0" dirty="0"/>
                  <a:t>If you observe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=6,</m:t>
                    </m:r>
                  </m:oMath>
                </a14:m>
                <a:endParaRPr lang="en-US" b="0" i="1" dirty="0">
                  <a:latin typeface="Cambria Math" panose="02040503050406030204" pitchFamily="18" charset="0"/>
                </a:endParaRPr>
              </a:p>
              <a:p>
                <a:pPr algn="just"/>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𝑐𝑜𝑖𝑛</m:t>
                          </m:r>
                          <m:r>
                            <a:rPr lang="en-US" b="0" i="1" smtClean="0">
                              <a:latin typeface="Cambria Math" panose="02040503050406030204" pitchFamily="18" charset="0"/>
                            </a:rPr>
                            <m:t> 1)</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𝑐𝑜𝑖𝑛</m:t>
                          </m:r>
                          <m:r>
                            <a:rPr lang="en-US" b="0" i="1" smtClean="0">
                              <a:latin typeface="Cambria Math" panose="02040503050406030204" pitchFamily="18" charset="0"/>
                            </a:rPr>
                            <m:t> 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m:t>
                          </m:r>
                          <m:r>
                            <a:rPr lang="en-US" altLang="zh-CN" b="0" i="1" smtClean="0">
                              <a:latin typeface="Cambria Math" panose="02040503050406030204" pitchFamily="18" charset="0"/>
                            </a:rPr>
                            <m:t>2051</m:t>
                          </m:r>
                        </m:num>
                        <m:den>
                          <m:r>
                            <a:rPr lang="en-US" b="0" i="1" smtClean="0">
                              <a:latin typeface="Cambria Math" panose="02040503050406030204" pitchFamily="18" charset="0"/>
                            </a:rPr>
                            <m:t>0.</m:t>
                          </m:r>
                          <m:r>
                            <a:rPr lang="en-US" altLang="zh-CN" b="0" i="1" smtClean="0">
                              <a:latin typeface="Cambria Math" panose="02040503050406030204" pitchFamily="18" charset="0"/>
                            </a:rPr>
                            <m:t>2001</m:t>
                          </m:r>
                        </m:den>
                      </m:f>
                      <m:r>
                        <a:rPr lang="en-US" b="0" i="1" smtClean="0">
                          <a:latin typeface="Cambria Math" panose="02040503050406030204" pitchFamily="18" charset="0"/>
                        </a:rPr>
                        <m:t>=1.02</m:t>
                      </m:r>
                    </m:oMath>
                  </m:oMathPara>
                </a14:m>
                <a:endParaRPr lang="en-US" dirty="0"/>
              </a:p>
              <a:p>
                <a:endParaRPr lang="en-US" dirty="0"/>
              </a:p>
              <a:p>
                <a:r>
                  <a:rPr lang="en-US" dirty="0"/>
                  <a:t>Unclear</a:t>
                </a:r>
              </a:p>
            </p:txBody>
          </p:sp>
        </mc:Choice>
        <mc:Fallback xmlns="">
          <p:sp>
            <p:nvSpPr>
              <p:cNvPr id="8" name="TextBox 7">
                <a:extLst>
                  <a:ext uri="{FF2B5EF4-FFF2-40B4-BE49-F238E27FC236}">
                    <a16:creationId xmlns:a16="http://schemas.microsoft.com/office/drawing/2014/main" id="{C82A24A3-879F-B640-845B-8AF4B6CA5D72}"/>
                  </a:ext>
                </a:extLst>
              </p:cNvPr>
              <p:cNvSpPr txBox="1">
                <a:spLocks noRot="1" noChangeAspect="1" noMove="1" noResize="1" noEditPoints="1" noAdjustHandles="1" noChangeArrowheads="1" noChangeShapeType="1" noTextEdit="1"/>
              </p:cNvSpPr>
              <p:nvPr/>
            </p:nvSpPr>
            <p:spPr>
              <a:xfrm>
                <a:off x="4594660" y="5096710"/>
                <a:ext cx="3002681" cy="1684757"/>
              </a:xfrm>
              <a:prstGeom prst="rect">
                <a:avLst/>
              </a:prstGeom>
              <a:blipFill>
                <a:blip r:embed="rId4"/>
                <a:stretch>
                  <a:fillRect l="-4622" t="-4511" r="-420" b="-8271"/>
                </a:stretch>
              </a:blipFill>
            </p:spPr>
            <p:txBody>
              <a:bodyPr/>
              <a:lstStyle/>
              <a:p>
                <a:r>
                  <a:rPr lang="en-US">
                    <a:noFill/>
                  </a:rPr>
                  <a:t> </a:t>
                </a:r>
              </a:p>
            </p:txBody>
          </p:sp>
        </mc:Fallback>
      </mc:AlternateContent>
    </p:spTree>
    <p:extLst>
      <p:ext uri="{BB962C8B-B14F-4D97-AF65-F5344CB8AC3E}">
        <p14:creationId xmlns:p14="http://schemas.microsoft.com/office/powerpoint/2010/main" val="408999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4F415B-1B92-1441-A074-7D012EB95B72}"/>
              </a:ext>
            </a:extLst>
          </p:cNvPr>
          <p:cNvSpPr txBox="1"/>
          <p:nvPr/>
        </p:nvSpPr>
        <p:spPr>
          <a:xfrm>
            <a:off x="211015" y="175846"/>
            <a:ext cx="2752677" cy="369332"/>
          </a:xfrm>
          <a:prstGeom prst="rect">
            <a:avLst/>
          </a:prstGeom>
          <a:noFill/>
        </p:spPr>
        <p:txBody>
          <a:bodyPr wrap="none" rtlCol="0">
            <a:spAutoFit/>
          </a:bodyPr>
          <a:lstStyle/>
          <a:p>
            <a:r>
              <a:rPr lang="en-US" u="sng" dirty="0"/>
              <a:t>Comparing two hypotheses</a:t>
            </a:r>
          </a:p>
        </p:txBody>
      </p:sp>
      <p:sp>
        <p:nvSpPr>
          <p:cNvPr id="3" name="TextBox 2">
            <a:extLst>
              <a:ext uri="{FF2B5EF4-FFF2-40B4-BE49-F238E27FC236}">
                <a16:creationId xmlns:a16="http://schemas.microsoft.com/office/drawing/2014/main" id="{100B268F-B89B-524F-AE20-D5E14471502C}"/>
              </a:ext>
            </a:extLst>
          </p:cNvPr>
          <p:cNvSpPr txBox="1"/>
          <p:nvPr/>
        </p:nvSpPr>
        <p:spPr>
          <a:xfrm>
            <a:off x="671565" y="882002"/>
            <a:ext cx="2041264" cy="646331"/>
          </a:xfrm>
          <a:prstGeom prst="rect">
            <a:avLst/>
          </a:prstGeom>
          <a:noFill/>
        </p:spPr>
        <p:txBody>
          <a:bodyPr wrap="none" rtlCol="0">
            <a:spAutoFit/>
          </a:bodyPr>
          <a:lstStyle/>
          <a:p>
            <a:r>
              <a:rPr lang="en-US" dirty="0"/>
              <a:t>H</a:t>
            </a:r>
            <a:r>
              <a:rPr lang="en-US" baseline="-25000" dirty="0"/>
              <a:t>0</a:t>
            </a:r>
            <a:r>
              <a:rPr lang="en-US" dirty="0"/>
              <a:t>: coin 0 was used</a:t>
            </a:r>
          </a:p>
          <a:p>
            <a:r>
              <a:rPr lang="en-US" dirty="0"/>
              <a:t>H</a:t>
            </a:r>
            <a:r>
              <a:rPr lang="en-US" baseline="-25000" dirty="0"/>
              <a:t>1</a:t>
            </a:r>
            <a:r>
              <a:rPr lang="en-US" dirty="0"/>
              <a:t>: coin 1 was used</a:t>
            </a:r>
          </a:p>
        </p:txBody>
      </p:sp>
      <p:pic>
        <p:nvPicPr>
          <p:cNvPr id="8" name="Picture 7">
            <a:extLst>
              <a:ext uri="{FF2B5EF4-FFF2-40B4-BE49-F238E27FC236}">
                <a16:creationId xmlns:a16="http://schemas.microsoft.com/office/drawing/2014/main" id="{F6DD3248-F3B3-6604-6D0C-678E5FD388E6}"/>
              </a:ext>
            </a:extLst>
          </p:cNvPr>
          <p:cNvPicPr>
            <a:picLocks noChangeAspect="1"/>
          </p:cNvPicPr>
          <p:nvPr/>
        </p:nvPicPr>
        <p:blipFill>
          <a:blip r:embed="rId2"/>
          <a:stretch>
            <a:fillRect/>
          </a:stretch>
        </p:blipFill>
        <p:spPr>
          <a:xfrm>
            <a:off x="1199364" y="2273853"/>
            <a:ext cx="8200073" cy="1106937"/>
          </a:xfrm>
          <a:prstGeom prst="rect">
            <a:avLst/>
          </a:prstGeom>
        </p:spPr>
      </p:pic>
      <p:sp>
        <p:nvSpPr>
          <p:cNvPr id="10" name="Right Triangle 9">
            <a:extLst>
              <a:ext uri="{FF2B5EF4-FFF2-40B4-BE49-F238E27FC236}">
                <a16:creationId xmlns:a16="http://schemas.microsoft.com/office/drawing/2014/main" id="{4FEBC95D-040E-359A-52E3-F568CBE9522A}"/>
              </a:ext>
            </a:extLst>
          </p:cNvPr>
          <p:cNvSpPr/>
          <p:nvPr/>
        </p:nvSpPr>
        <p:spPr>
          <a:xfrm>
            <a:off x="2077587" y="3398149"/>
            <a:ext cx="4251366" cy="36401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A1A12628-AFDC-D98A-1F1B-072A4153DF52}"/>
              </a:ext>
            </a:extLst>
          </p:cNvPr>
          <p:cNvSpPr/>
          <p:nvPr/>
        </p:nvSpPr>
        <p:spPr>
          <a:xfrm flipH="1">
            <a:off x="6474111" y="3413353"/>
            <a:ext cx="2707574" cy="364015"/>
          </a:xfrm>
          <a:prstGeom prst="rtTriangl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E8E5F8-3427-825B-3936-478769518B19}"/>
              </a:ext>
            </a:extLst>
          </p:cNvPr>
          <p:cNvSpPr txBox="1"/>
          <p:nvPr/>
        </p:nvSpPr>
        <p:spPr>
          <a:xfrm>
            <a:off x="3010315" y="3777368"/>
            <a:ext cx="1192955" cy="369332"/>
          </a:xfrm>
          <a:prstGeom prst="rect">
            <a:avLst/>
          </a:prstGeom>
          <a:noFill/>
        </p:spPr>
        <p:txBody>
          <a:bodyPr wrap="square" rtlCol="0">
            <a:spAutoFit/>
          </a:bodyPr>
          <a:lstStyle/>
          <a:p>
            <a:r>
              <a:rPr lang="en-US" dirty="0"/>
              <a:t>Choose H</a:t>
            </a:r>
            <a:r>
              <a:rPr lang="en-US" baseline="-25000" dirty="0"/>
              <a:t>0</a:t>
            </a:r>
          </a:p>
        </p:txBody>
      </p:sp>
      <p:sp>
        <p:nvSpPr>
          <p:cNvPr id="16" name="TextBox 15">
            <a:extLst>
              <a:ext uri="{FF2B5EF4-FFF2-40B4-BE49-F238E27FC236}">
                <a16:creationId xmlns:a16="http://schemas.microsoft.com/office/drawing/2014/main" id="{FF8A9C24-AEF0-BDD9-E9D3-8D58E9692589}"/>
              </a:ext>
            </a:extLst>
          </p:cNvPr>
          <p:cNvSpPr txBox="1"/>
          <p:nvPr/>
        </p:nvSpPr>
        <p:spPr>
          <a:xfrm>
            <a:off x="7384871" y="3912318"/>
            <a:ext cx="1154483" cy="369332"/>
          </a:xfrm>
          <a:prstGeom prst="rect">
            <a:avLst/>
          </a:prstGeom>
          <a:noFill/>
        </p:spPr>
        <p:txBody>
          <a:bodyPr wrap="none" rtlCol="0">
            <a:spAutoFit/>
          </a:bodyPr>
          <a:lstStyle/>
          <a:p>
            <a:r>
              <a:rPr lang="en-US" dirty="0"/>
              <a:t>Choose H</a:t>
            </a:r>
            <a:r>
              <a:rPr lang="en-US" baseline="-25000" dirty="0"/>
              <a:t>1</a:t>
            </a:r>
          </a:p>
        </p:txBody>
      </p:sp>
      <p:sp>
        <p:nvSpPr>
          <p:cNvPr id="17" name="TextBox 16">
            <a:extLst>
              <a:ext uri="{FF2B5EF4-FFF2-40B4-BE49-F238E27FC236}">
                <a16:creationId xmlns:a16="http://schemas.microsoft.com/office/drawing/2014/main" id="{5D286DB1-D948-7358-1350-B451AF33043E}"/>
              </a:ext>
            </a:extLst>
          </p:cNvPr>
          <p:cNvSpPr txBox="1"/>
          <p:nvPr/>
        </p:nvSpPr>
        <p:spPr>
          <a:xfrm>
            <a:off x="598748" y="1663283"/>
            <a:ext cx="7758727" cy="369332"/>
          </a:xfrm>
          <a:prstGeom prst="rect">
            <a:avLst/>
          </a:prstGeom>
          <a:noFill/>
        </p:spPr>
        <p:txBody>
          <a:bodyPr wrap="none" rtlCol="0">
            <a:spAutoFit/>
          </a:bodyPr>
          <a:lstStyle/>
          <a:p>
            <a:r>
              <a:rPr lang="en-US" altLang="zh-CN" dirty="0"/>
              <a:t>What may a reasonable decision rule for you to decide which hypothesis to pick?</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68DBF5-13AF-86F2-A264-E44B1F518886}"/>
                  </a:ext>
                </a:extLst>
              </p:cNvPr>
              <p:cNvSpPr txBox="1"/>
              <p:nvPr/>
            </p:nvSpPr>
            <p:spPr>
              <a:xfrm>
                <a:off x="735137" y="4634525"/>
                <a:ext cx="9135157" cy="533544"/>
              </a:xfrm>
              <a:prstGeom prst="rect">
                <a:avLst/>
              </a:prstGeom>
              <a:noFill/>
            </p:spPr>
            <p:txBody>
              <a:bodyPr wrap="square" rtlCol="0">
                <a:spAutoFit/>
              </a:bodyPr>
              <a:lstStyle/>
              <a:p>
                <a:r>
                  <a:rPr lang="en-US" dirty="0"/>
                  <a:t>Decision Rule: Accept H</a:t>
                </a:r>
                <a:r>
                  <a:rPr lang="en-US" baseline="-25000" dirty="0"/>
                  <a:t>0 </a:t>
                </a:r>
                <a:r>
                  <a:rPr lang="en-US" dirty="0"/>
                  <a:t>if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den>
                    </m:f>
                    <m:r>
                      <a:rPr lang="en-US" b="0" i="1" smtClean="0">
                        <a:latin typeface="Cambria Math" panose="02040503050406030204" pitchFamily="18" charset="0"/>
                      </a:rPr>
                      <m:t>&gt;1</m:t>
                    </m:r>
                  </m:oMath>
                </a14:m>
                <a:r>
                  <a:rPr lang="en-US" dirty="0"/>
                  <a:t>. Reject H</a:t>
                </a:r>
                <a:r>
                  <a:rPr lang="en-US" baseline="-25000" dirty="0"/>
                  <a:t>0 </a:t>
                </a:r>
                <a:r>
                  <a:rPr lang="en-US" dirty="0"/>
                  <a:t>and hence accept H</a:t>
                </a:r>
                <a:r>
                  <a:rPr lang="en-US" baseline="-25000" dirty="0"/>
                  <a:t>1</a:t>
                </a:r>
                <a:r>
                  <a:rPr lang="en-US" dirty="0"/>
                  <a:t> otherwise</a:t>
                </a:r>
              </a:p>
            </p:txBody>
          </p:sp>
        </mc:Choice>
        <mc:Fallback xmlns="">
          <p:sp>
            <p:nvSpPr>
              <p:cNvPr id="4" name="TextBox 3">
                <a:extLst>
                  <a:ext uri="{FF2B5EF4-FFF2-40B4-BE49-F238E27FC236}">
                    <a16:creationId xmlns:a16="http://schemas.microsoft.com/office/drawing/2014/main" id="{1568DBF5-13AF-86F2-A264-E44B1F518886}"/>
                  </a:ext>
                </a:extLst>
              </p:cNvPr>
              <p:cNvSpPr txBox="1">
                <a:spLocks noRot="1" noChangeAspect="1" noMove="1" noResize="1" noEditPoints="1" noAdjustHandles="1" noChangeArrowheads="1" noChangeShapeType="1" noTextEdit="1"/>
              </p:cNvSpPr>
              <p:nvPr/>
            </p:nvSpPr>
            <p:spPr>
              <a:xfrm>
                <a:off x="735137" y="4634525"/>
                <a:ext cx="9135157" cy="533544"/>
              </a:xfrm>
              <a:prstGeom prst="rect">
                <a:avLst/>
              </a:prstGeom>
              <a:blipFill>
                <a:blip r:embed="rId3"/>
                <a:stretch>
                  <a:fillRect l="-601" b="-5682"/>
                </a:stretch>
              </a:blipFill>
            </p:spPr>
            <p:txBody>
              <a:bodyPr/>
              <a:lstStyle/>
              <a:p>
                <a:r>
                  <a:rPr lang="en-US">
                    <a:noFill/>
                  </a:rPr>
                  <a:t> </a:t>
                </a:r>
              </a:p>
            </p:txBody>
          </p:sp>
        </mc:Fallback>
      </mc:AlternateContent>
    </p:spTree>
    <p:extLst>
      <p:ext uri="{BB962C8B-B14F-4D97-AF65-F5344CB8AC3E}">
        <p14:creationId xmlns:p14="http://schemas.microsoft.com/office/powerpoint/2010/main" val="357828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5" grpId="0"/>
      <p:bldP spid="16"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5983DD-3261-4C42-842D-30FFFD750D80}"/>
              </a:ext>
            </a:extLst>
          </p:cNvPr>
          <p:cNvPicPr>
            <a:picLocks noChangeAspect="1"/>
          </p:cNvPicPr>
          <p:nvPr/>
        </p:nvPicPr>
        <p:blipFill>
          <a:blip r:embed="rId2"/>
          <a:stretch>
            <a:fillRect/>
          </a:stretch>
        </p:blipFill>
        <p:spPr>
          <a:xfrm>
            <a:off x="1587353" y="622495"/>
            <a:ext cx="8200073" cy="1106937"/>
          </a:xfrm>
          <a:prstGeom prst="rect">
            <a:avLst/>
          </a:prstGeom>
        </p:spPr>
      </p:pic>
      <p:sp>
        <p:nvSpPr>
          <p:cNvPr id="3" name="TextBox 2">
            <a:extLst>
              <a:ext uri="{FF2B5EF4-FFF2-40B4-BE49-F238E27FC236}">
                <a16:creationId xmlns:a16="http://schemas.microsoft.com/office/drawing/2014/main" id="{0B4C6821-1BFE-714A-A371-CF6D5E245F31}"/>
              </a:ext>
            </a:extLst>
          </p:cNvPr>
          <p:cNvSpPr txBox="1"/>
          <p:nvPr/>
        </p:nvSpPr>
        <p:spPr>
          <a:xfrm>
            <a:off x="211015" y="175846"/>
            <a:ext cx="2752677" cy="369332"/>
          </a:xfrm>
          <a:prstGeom prst="rect">
            <a:avLst/>
          </a:prstGeom>
          <a:noFill/>
        </p:spPr>
        <p:txBody>
          <a:bodyPr wrap="none" rtlCol="0">
            <a:spAutoFit/>
          </a:bodyPr>
          <a:lstStyle/>
          <a:p>
            <a:r>
              <a:rPr lang="en-US" u="sng" dirty="0"/>
              <a:t>Comparing two hypotheses</a:t>
            </a:r>
          </a:p>
        </p:txBody>
      </p:sp>
      <p:sp>
        <p:nvSpPr>
          <p:cNvPr id="4" name="TextBox 3">
            <a:extLst>
              <a:ext uri="{FF2B5EF4-FFF2-40B4-BE49-F238E27FC236}">
                <a16:creationId xmlns:a16="http://schemas.microsoft.com/office/drawing/2014/main" id="{35FD2345-813A-D447-97F9-99B0A979C1B0}"/>
              </a:ext>
            </a:extLst>
          </p:cNvPr>
          <p:cNvSpPr txBox="1"/>
          <p:nvPr/>
        </p:nvSpPr>
        <p:spPr>
          <a:xfrm>
            <a:off x="507308" y="1855127"/>
            <a:ext cx="6325834" cy="369332"/>
          </a:xfrm>
          <a:prstGeom prst="rect">
            <a:avLst/>
          </a:prstGeom>
          <a:noFill/>
        </p:spPr>
        <p:txBody>
          <a:bodyPr wrap="none" rtlCol="0">
            <a:spAutoFit/>
          </a:bodyPr>
          <a:lstStyle/>
          <a:p>
            <a:r>
              <a:rPr lang="en-US" altLang="zh-CN" dirty="0"/>
              <a:t>What is our risk by making the decision based on likelihood ratio?</a:t>
            </a:r>
            <a:endParaRPr lang="en-US" dirty="0"/>
          </a:p>
        </p:txBody>
      </p:sp>
      <p:sp>
        <p:nvSpPr>
          <p:cNvPr id="7" name="Rectangle 6">
            <a:extLst>
              <a:ext uri="{FF2B5EF4-FFF2-40B4-BE49-F238E27FC236}">
                <a16:creationId xmlns:a16="http://schemas.microsoft.com/office/drawing/2014/main" id="{3D44F508-1B2C-334B-815B-C5B2E3C9AED5}"/>
              </a:ext>
            </a:extLst>
          </p:cNvPr>
          <p:cNvSpPr/>
          <p:nvPr/>
        </p:nvSpPr>
        <p:spPr>
          <a:xfrm>
            <a:off x="2505456" y="740006"/>
            <a:ext cx="4297680" cy="868680"/>
          </a:xfrm>
          <a:prstGeom prst="rect">
            <a:avLst/>
          </a:prstGeom>
          <a:solidFill>
            <a:srgbClr val="4472C4">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04F5837-15F5-2E4B-B88C-FBAA6F57B0AE}"/>
              </a:ext>
            </a:extLst>
          </p:cNvPr>
          <p:cNvSpPr/>
          <p:nvPr/>
        </p:nvSpPr>
        <p:spPr>
          <a:xfrm>
            <a:off x="6803136" y="740006"/>
            <a:ext cx="2788920" cy="868680"/>
          </a:xfrm>
          <a:prstGeom prst="rect">
            <a:avLst/>
          </a:prstGeom>
          <a:solidFill>
            <a:schemeClr val="accent2">
              <a:lumMod val="75000"/>
              <a:alpha val="27059"/>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482A9F3-5E72-D347-A131-EB7C8E0C85F6}"/>
              </a:ext>
            </a:extLst>
          </p:cNvPr>
          <p:cNvPicPr>
            <a:picLocks noChangeAspect="1"/>
          </p:cNvPicPr>
          <p:nvPr/>
        </p:nvPicPr>
        <p:blipFill>
          <a:blip r:embed="rId3"/>
          <a:stretch>
            <a:fillRect/>
          </a:stretch>
        </p:blipFill>
        <p:spPr>
          <a:xfrm>
            <a:off x="638555" y="2571774"/>
            <a:ext cx="3505200" cy="800100"/>
          </a:xfrm>
          <a:prstGeom prst="rect">
            <a:avLst/>
          </a:prstGeom>
        </p:spPr>
      </p:pic>
      <p:pic>
        <p:nvPicPr>
          <p:cNvPr id="10" name="Picture 9">
            <a:extLst>
              <a:ext uri="{FF2B5EF4-FFF2-40B4-BE49-F238E27FC236}">
                <a16:creationId xmlns:a16="http://schemas.microsoft.com/office/drawing/2014/main" id="{09683337-0E1B-8A44-B3D7-CCE656CE149D}"/>
              </a:ext>
            </a:extLst>
          </p:cNvPr>
          <p:cNvPicPr>
            <a:picLocks noChangeAspect="1"/>
          </p:cNvPicPr>
          <p:nvPr/>
        </p:nvPicPr>
        <p:blipFill>
          <a:blip r:embed="rId4"/>
          <a:stretch>
            <a:fillRect/>
          </a:stretch>
        </p:blipFill>
        <p:spPr>
          <a:xfrm>
            <a:off x="529843" y="3824356"/>
            <a:ext cx="3632200" cy="800100"/>
          </a:xfrm>
          <a:prstGeom prst="rect">
            <a:avLst/>
          </a:prstGeom>
        </p:spPr>
      </p:pic>
      <p:graphicFrame>
        <p:nvGraphicFramePr>
          <p:cNvPr id="11" name="Table 11">
            <a:extLst>
              <a:ext uri="{FF2B5EF4-FFF2-40B4-BE49-F238E27FC236}">
                <a16:creationId xmlns:a16="http://schemas.microsoft.com/office/drawing/2014/main" id="{AA72A0A7-4995-DA48-8CB3-953FED18CFF9}"/>
              </a:ext>
            </a:extLst>
          </p:cNvPr>
          <p:cNvGraphicFramePr>
            <a:graphicFrameLocks noGrp="1"/>
          </p:cNvGraphicFramePr>
          <p:nvPr>
            <p:extLst>
              <p:ext uri="{D42A27DB-BD31-4B8C-83A1-F6EECF244321}">
                <p14:modId xmlns:p14="http://schemas.microsoft.com/office/powerpoint/2010/main" val="413015646"/>
              </p:ext>
            </p:extLst>
          </p:nvPr>
        </p:nvGraphicFramePr>
        <p:xfrm>
          <a:off x="6094474" y="2443269"/>
          <a:ext cx="5458971" cy="1381760"/>
        </p:xfrm>
        <a:graphic>
          <a:graphicData uri="http://schemas.openxmlformats.org/drawingml/2006/table">
            <a:tbl>
              <a:tblPr firstRow="1" bandRow="1">
                <a:tableStyleId>{5C22544A-7EE6-4342-B048-85BDC9FD1C3A}</a:tableStyleId>
              </a:tblPr>
              <a:tblGrid>
                <a:gridCol w="1819657">
                  <a:extLst>
                    <a:ext uri="{9D8B030D-6E8A-4147-A177-3AD203B41FA5}">
                      <a16:colId xmlns:a16="http://schemas.microsoft.com/office/drawing/2014/main" val="2831529369"/>
                    </a:ext>
                  </a:extLst>
                </a:gridCol>
                <a:gridCol w="1819657">
                  <a:extLst>
                    <a:ext uri="{9D8B030D-6E8A-4147-A177-3AD203B41FA5}">
                      <a16:colId xmlns:a16="http://schemas.microsoft.com/office/drawing/2014/main" val="1954156464"/>
                    </a:ext>
                  </a:extLst>
                </a:gridCol>
                <a:gridCol w="1819657">
                  <a:extLst>
                    <a:ext uri="{9D8B030D-6E8A-4147-A177-3AD203B41FA5}">
                      <a16:colId xmlns:a16="http://schemas.microsoft.com/office/drawing/2014/main" val="2253199097"/>
                    </a:ext>
                  </a:extLst>
                </a:gridCol>
              </a:tblGrid>
              <a:tr h="370840">
                <a:tc>
                  <a:txBody>
                    <a:bodyPr/>
                    <a:lstStyle/>
                    <a:p>
                      <a:endParaRPr lang="en-US" dirty="0"/>
                    </a:p>
                  </a:txBody>
                  <a:tcPr/>
                </a:tc>
                <a:tc>
                  <a:txBody>
                    <a:bodyPr/>
                    <a:lstStyle/>
                    <a:p>
                      <a:r>
                        <a:rPr lang="en-US" dirty="0"/>
                        <a:t>Accept H</a:t>
                      </a:r>
                      <a:r>
                        <a:rPr lang="en-US" baseline="-25000" dirty="0"/>
                        <a:t>0</a:t>
                      </a:r>
                    </a:p>
                    <a:p>
                      <a:r>
                        <a:rPr lang="en-US" dirty="0"/>
                        <a:t>(x≤6)</a:t>
                      </a:r>
                    </a:p>
                  </a:txBody>
                  <a:tcPr/>
                </a:tc>
                <a:tc>
                  <a:txBody>
                    <a:bodyPr/>
                    <a:lstStyle/>
                    <a:p>
                      <a:r>
                        <a:rPr lang="en-US" dirty="0"/>
                        <a:t>Reject H</a:t>
                      </a:r>
                      <a:r>
                        <a:rPr lang="en-US" baseline="-25000" dirty="0"/>
                        <a:t>0</a:t>
                      </a:r>
                    </a:p>
                    <a:p>
                      <a:r>
                        <a:rPr lang="en-US" dirty="0"/>
                        <a:t>(x&gt;6)</a:t>
                      </a:r>
                    </a:p>
                  </a:txBody>
                  <a:tcPr/>
                </a:tc>
                <a:extLst>
                  <a:ext uri="{0D108BD9-81ED-4DB2-BD59-A6C34878D82A}">
                    <a16:rowId xmlns:a16="http://schemas.microsoft.com/office/drawing/2014/main" val="3094923101"/>
                  </a:ext>
                </a:extLst>
              </a:tr>
              <a:tr h="370840">
                <a:tc>
                  <a:txBody>
                    <a:bodyPr/>
                    <a:lstStyle/>
                    <a:p>
                      <a:r>
                        <a:rPr lang="en-US" dirty="0"/>
                        <a:t>H</a:t>
                      </a:r>
                      <a:r>
                        <a:rPr lang="en-US" baseline="-25000" dirty="0"/>
                        <a:t>0</a:t>
                      </a:r>
                      <a:r>
                        <a:rPr lang="en-US" dirty="0"/>
                        <a:t> is true</a:t>
                      </a:r>
                    </a:p>
                  </a:txBody>
                  <a:tcPr/>
                </a:tc>
                <a:tc>
                  <a:txBody>
                    <a:bodyPr/>
                    <a:lstStyle/>
                    <a:p>
                      <a:r>
                        <a:rPr lang="en-US" dirty="0"/>
                        <a:t>0.82</a:t>
                      </a:r>
                    </a:p>
                  </a:txBody>
                  <a:tcPr/>
                </a:tc>
                <a:tc>
                  <a:txBody>
                    <a:bodyPr/>
                    <a:lstStyle/>
                    <a:p>
                      <a:r>
                        <a:rPr lang="en-US" dirty="0">
                          <a:solidFill>
                            <a:srgbClr val="FF0000"/>
                          </a:solidFill>
                        </a:rPr>
                        <a:t>0.18</a:t>
                      </a:r>
                    </a:p>
                  </a:txBody>
                  <a:tcPr/>
                </a:tc>
                <a:extLst>
                  <a:ext uri="{0D108BD9-81ED-4DB2-BD59-A6C34878D82A}">
                    <a16:rowId xmlns:a16="http://schemas.microsoft.com/office/drawing/2014/main" val="2847216878"/>
                  </a:ext>
                </a:extLst>
              </a:tr>
              <a:tr h="370840">
                <a:tc>
                  <a:txBody>
                    <a:bodyPr/>
                    <a:lstStyle/>
                    <a:p>
                      <a:r>
                        <a:rPr lang="en-US" dirty="0"/>
                        <a:t>H</a:t>
                      </a:r>
                      <a:r>
                        <a:rPr lang="en-US" baseline="-25000" dirty="0"/>
                        <a:t>1</a:t>
                      </a:r>
                      <a:r>
                        <a:rPr lang="en-US" dirty="0"/>
                        <a:t> is true</a:t>
                      </a:r>
                    </a:p>
                  </a:txBody>
                  <a:tcPr/>
                </a:tc>
                <a:tc>
                  <a:txBody>
                    <a:bodyPr/>
                    <a:lstStyle/>
                    <a:p>
                      <a:r>
                        <a:rPr lang="en-US" dirty="0">
                          <a:solidFill>
                            <a:srgbClr val="00B0F0"/>
                          </a:solidFill>
                        </a:rPr>
                        <a:t>0.35</a:t>
                      </a:r>
                    </a:p>
                  </a:txBody>
                  <a:tcPr/>
                </a:tc>
                <a:tc>
                  <a:txBody>
                    <a:bodyPr/>
                    <a:lstStyle/>
                    <a:p>
                      <a:r>
                        <a:rPr lang="en-US" dirty="0"/>
                        <a:t>0.65</a:t>
                      </a:r>
                    </a:p>
                  </a:txBody>
                  <a:tcPr/>
                </a:tc>
                <a:extLst>
                  <a:ext uri="{0D108BD9-81ED-4DB2-BD59-A6C34878D82A}">
                    <a16:rowId xmlns:a16="http://schemas.microsoft.com/office/drawing/2014/main" val="3625176944"/>
                  </a:ext>
                </a:extLst>
              </a:tr>
            </a:tbl>
          </a:graphicData>
        </a:graphic>
      </p:graphicFrame>
      <p:pic>
        <p:nvPicPr>
          <p:cNvPr id="12" name="Picture 11">
            <a:extLst>
              <a:ext uri="{FF2B5EF4-FFF2-40B4-BE49-F238E27FC236}">
                <a16:creationId xmlns:a16="http://schemas.microsoft.com/office/drawing/2014/main" id="{2E173D54-7639-7A41-8A5D-B5B33FE7B04B}"/>
              </a:ext>
            </a:extLst>
          </p:cNvPr>
          <p:cNvPicPr>
            <a:picLocks noChangeAspect="1"/>
          </p:cNvPicPr>
          <p:nvPr/>
        </p:nvPicPr>
        <p:blipFill>
          <a:blip r:embed="rId5"/>
          <a:stretch>
            <a:fillRect/>
          </a:stretch>
        </p:blipFill>
        <p:spPr>
          <a:xfrm>
            <a:off x="166287" y="5523699"/>
            <a:ext cx="5594807" cy="841248"/>
          </a:xfrm>
          <a:prstGeom prst="rect">
            <a:avLst/>
          </a:prstGeom>
        </p:spPr>
      </p:pic>
      <p:sp>
        <p:nvSpPr>
          <p:cNvPr id="13" name="TextBox 12">
            <a:extLst>
              <a:ext uri="{FF2B5EF4-FFF2-40B4-BE49-F238E27FC236}">
                <a16:creationId xmlns:a16="http://schemas.microsoft.com/office/drawing/2014/main" id="{12201F3B-E220-9245-B88E-A270D358F55B}"/>
              </a:ext>
            </a:extLst>
          </p:cNvPr>
          <p:cNvSpPr txBox="1"/>
          <p:nvPr/>
        </p:nvSpPr>
        <p:spPr>
          <a:xfrm>
            <a:off x="150343" y="5176384"/>
            <a:ext cx="1041952" cy="369332"/>
          </a:xfrm>
          <a:prstGeom prst="rect">
            <a:avLst/>
          </a:prstGeom>
          <a:noFill/>
        </p:spPr>
        <p:txBody>
          <a:bodyPr wrap="square" rtlCol="0">
            <a:spAutoFit/>
          </a:bodyPr>
          <a:lstStyle/>
          <a:p>
            <a:r>
              <a:rPr lang="en-US" dirty="0"/>
              <a:t>P(</a:t>
            </a:r>
            <a:r>
              <a:rPr lang="en-US" dirty="0" err="1"/>
              <a:t>x|coin</a:t>
            </a:r>
            <a:r>
              <a:rPr lang="en-US" dirty="0"/>
              <a:t>)</a:t>
            </a:r>
          </a:p>
        </p:txBody>
      </p:sp>
      <p:pic>
        <p:nvPicPr>
          <p:cNvPr id="14" name="Picture 13">
            <a:extLst>
              <a:ext uri="{FF2B5EF4-FFF2-40B4-BE49-F238E27FC236}">
                <a16:creationId xmlns:a16="http://schemas.microsoft.com/office/drawing/2014/main" id="{1212B1F1-7B0E-2D45-817F-8229A1A5AC65}"/>
              </a:ext>
            </a:extLst>
          </p:cNvPr>
          <p:cNvPicPr>
            <a:picLocks noChangeAspect="1"/>
          </p:cNvPicPr>
          <p:nvPr/>
        </p:nvPicPr>
        <p:blipFill>
          <a:blip r:embed="rId6"/>
          <a:stretch>
            <a:fillRect/>
          </a:stretch>
        </p:blipFill>
        <p:spPr>
          <a:xfrm>
            <a:off x="6430907" y="4914865"/>
            <a:ext cx="4580863" cy="1797554"/>
          </a:xfrm>
          <a:prstGeom prst="rect">
            <a:avLst/>
          </a:prstGeom>
        </p:spPr>
      </p:pic>
      <p:cxnSp>
        <p:nvCxnSpPr>
          <p:cNvPr id="15" name="Straight Connector 14">
            <a:extLst>
              <a:ext uri="{FF2B5EF4-FFF2-40B4-BE49-F238E27FC236}">
                <a16:creationId xmlns:a16="http://schemas.microsoft.com/office/drawing/2014/main" id="{3DBB0C1D-4D4B-8E46-898E-62B26A40EBFD}"/>
              </a:ext>
            </a:extLst>
          </p:cNvPr>
          <p:cNvCxnSpPr>
            <a:cxnSpLocks/>
          </p:cNvCxnSpPr>
          <p:nvPr/>
        </p:nvCxnSpPr>
        <p:spPr>
          <a:xfrm>
            <a:off x="9352534" y="4721496"/>
            <a:ext cx="0" cy="186492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4EC0B1-E3B1-1446-A0BE-9284C6CB7B0C}"/>
              </a:ext>
            </a:extLst>
          </p:cNvPr>
          <p:cNvSpPr txBox="1"/>
          <p:nvPr/>
        </p:nvSpPr>
        <p:spPr>
          <a:xfrm>
            <a:off x="8418024" y="4281532"/>
            <a:ext cx="1739002" cy="338554"/>
          </a:xfrm>
          <a:prstGeom prst="rect">
            <a:avLst/>
          </a:prstGeom>
          <a:noFill/>
        </p:spPr>
        <p:txBody>
          <a:bodyPr wrap="none" rtlCol="0">
            <a:spAutoFit/>
          </a:bodyPr>
          <a:lstStyle/>
          <a:p>
            <a:r>
              <a:rPr lang="en-US" sz="1600" dirty="0"/>
              <a:t>Decision boundary</a:t>
            </a:r>
          </a:p>
        </p:txBody>
      </p:sp>
      <p:cxnSp>
        <p:nvCxnSpPr>
          <p:cNvPr id="17" name="Straight Arrow Connector 16">
            <a:extLst>
              <a:ext uri="{FF2B5EF4-FFF2-40B4-BE49-F238E27FC236}">
                <a16:creationId xmlns:a16="http://schemas.microsoft.com/office/drawing/2014/main" id="{D2EB7354-FBFC-4641-BE82-B1FE1DF02BCA}"/>
              </a:ext>
            </a:extLst>
          </p:cNvPr>
          <p:cNvCxnSpPr/>
          <p:nvPr/>
        </p:nvCxnSpPr>
        <p:spPr>
          <a:xfrm flipH="1">
            <a:off x="8823960" y="4876497"/>
            <a:ext cx="448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B9C3192-73E5-A342-8A94-2AADE9546D8B}"/>
              </a:ext>
            </a:extLst>
          </p:cNvPr>
          <p:cNvCxnSpPr>
            <a:cxnSpLocks/>
          </p:cNvCxnSpPr>
          <p:nvPr/>
        </p:nvCxnSpPr>
        <p:spPr>
          <a:xfrm>
            <a:off x="9417430" y="4876497"/>
            <a:ext cx="405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EA5957A-A0E0-554C-9568-8D4B4C5A93FC}"/>
              </a:ext>
            </a:extLst>
          </p:cNvPr>
          <p:cNvSpPr txBox="1"/>
          <p:nvPr/>
        </p:nvSpPr>
        <p:spPr>
          <a:xfrm>
            <a:off x="9887709" y="4724399"/>
            <a:ext cx="947311" cy="338554"/>
          </a:xfrm>
          <a:prstGeom prst="rect">
            <a:avLst/>
          </a:prstGeom>
          <a:noFill/>
        </p:spPr>
        <p:txBody>
          <a:bodyPr wrap="none" rtlCol="0">
            <a:spAutoFit/>
          </a:bodyPr>
          <a:lstStyle/>
          <a:p>
            <a:r>
              <a:rPr lang="en-US" sz="1600" dirty="0"/>
              <a:t>Reject H</a:t>
            </a:r>
            <a:r>
              <a:rPr lang="en-US" sz="1600" baseline="-25000" dirty="0"/>
              <a:t>0</a:t>
            </a:r>
          </a:p>
        </p:txBody>
      </p:sp>
      <p:sp>
        <p:nvSpPr>
          <p:cNvPr id="20" name="TextBox 19">
            <a:extLst>
              <a:ext uri="{FF2B5EF4-FFF2-40B4-BE49-F238E27FC236}">
                <a16:creationId xmlns:a16="http://schemas.microsoft.com/office/drawing/2014/main" id="{81CD933A-C942-184B-8720-C49A543DB1C0}"/>
              </a:ext>
            </a:extLst>
          </p:cNvPr>
          <p:cNvSpPr txBox="1"/>
          <p:nvPr/>
        </p:nvSpPr>
        <p:spPr>
          <a:xfrm>
            <a:off x="7751237" y="4721496"/>
            <a:ext cx="998094" cy="338554"/>
          </a:xfrm>
          <a:prstGeom prst="rect">
            <a:avLst/>
          </a:prstGeom>
          <a:noFill/>
        </p:spPr>
        <p:txBody>
          <a:bodyPr wrap="none" rtlCol="0">
            <a:spAutoFit/>
          </a:bodyPr>
          <a:lstStyle/>
          <a:p>
            <a:r>
              <a:rPr lang="en-US" sz="1600" dirty="0"/>
              <a:t>Accept H</a:t>
            </a:r>
            <a:r>
              <a:rPr lang="en-US" sz="1600" baseline="-25000" dirty="0"/>
              <a:t>0</a:t>
            </a:r>
          </a:p>
        </p:txBody>
      </p:sp>
    </p:spTree>
    <p:extLst>
      <p:ext uri="{BB962C8B-B14F-4D97-AF65-F5344CB8AC3E}">
        <p14:creationId xmlns:p14="http://schemas.microsoft.com/office/powerpoint/2010/main" val="191791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4C6821-1BFE-714A-A371-CF6D5E245F31}"/>
              </a:ext>
            </a:extLst>
          </p:cNvPr>
          <p:cNvSpPr txBox="1"/>
          <p:nvPr/>
        </p:nvSpPr>
        <p:spPr>
          <a:xfrm>
            <a:off x="211015" y="175846"/>
            <a:ext cx="2752677" cy="369332"/>
          </a:xfrm>
          <a:prstGeom prst="rect">
            <a:avLst/>
          </a:prstGeom>
          <a:noFill/>
        </p:spPr>
        <p:txBody>
          <a:bodyPr wrap="none" rtlCol="0">
            <a:spAutoFit/>
          </a:bodyPr>
          <a:lstStyle/>
          <a:p>
            <a:r>
              <a:rPr lang="en-US" u="sng" dirty="0"/>
              <a:t>Comparing two hypotheses</a:t>
            </a:r>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F7D69ED8-69BD-7C45-81F5-3C634ADF88E2}"/>
                  </a:ext>
                </a:extLst>
              </p:cNvPr>
              <p:cNvSpPr/>
              <p:nvPr/>
            </p:nvSpPr>
            <p:spPr>
              <a:xfrm>
                <a:off x="795703" y="491440"/>
                <a:ext cx="10594848" cy="2585323"/>
              </a:xfrm>
              <a:prstGeom prst="rect">
                <a:avLst/>
              </a:prstGeom>
            </p:spPr>
            <p:txBody>
              <a:bodyPr wrap="square">
                <a:spAutoFit/>
              </a:bodyPr>
              <a:lstStyle/>
              <a:p>
                <a:r>
                  <a:rPr lang="en-US" dirty="0"/>
                  <a:t>Ex:</a:t>
                </a:r>
              </a:p>
              <a:p>
                <a:endParaRPr lang="en-US" dirty="0"/>
              </a:p>
              <a:p>
                <a:r>
                  <a:rPr lang="en-US" dirty="0"/>
                  <a:t>    There are two normal distributions, N(0, 4) and N(1, 4). I get 15</a:t>
                </a:r>
                <a:r>
                  <a:rPr lang="en-US" i="1" dirty="0"/>
                  <a:t> </a:t>
                </a:r>
                <a:r>
                  <a:rPr lang="en-US" i="1" dirty="0" err="1"/>
                  <a:t>i.i.d</a:t>
                </a:r>
                <a:r>
                  <a:rPr lang="en-US" i="1" dirty="0"/>
                  <a:t>.</a:t>
                </a:r>
                <a:r>
                  <a:rPr lang="en-US" dirty="0"/>
                  <a:t> samples from one of the distributions, and show you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and ask you which distribution I drew the samples from.</a:t>
                </a:r>
              </a:p>
              <a:p>
                <a:endParaRPr lang="en-US" dirty="0"/>
              </a:p>
              <a:p>
                <a:r>
                  <a:rPr lang="en-US" dirty="0"/>
                  <a:t>    The hypotheses are`</a:t>
                </a:r>
              </a:p>
              <a:p>
                <a:endParaRPr lang="en-US" dirty="0"/>
              </a:p>
              <a:p>
                <a:r>
                  <a:rPr lang="en-US" dirty="0"/>
                  <a:t>	H</a:t>
                </a:r>
                <a:r>
                  <a:rPr lang="en-US" baseline="-25000" dirty="0"/>
                  <a:t>0</a:t>
                </a:r>
                <a:r>
                  <a:rPr lang="en-US" dirty="0"/>
                  <a:t>: the samples were from N(0, 4)</a:t>
                </a:r>
              </a:p>
              <a:p>
                <a:r>
                  <a:rPr lang="en-US" dirty="0"/>
                  <a:t>	H</a:t>
                </a:r>
                <a:r>
                  <a:rPr lang="en-US" baseline="-25000" dirty="0"/>
                  <a:t>1</a:t>
                </a:r>
                <a:r>
                  <a:rPr lang="en-US" dirty="0"/>
                  <a:t>: the samples were from N(1, 4)</a:t>
                </a:r>
              </a:p>
            </p:txBody>
          </p:sp>
        </mc:Choice>
        <mc:Fallback>
          <p:sp>
            <p:nvSpPr>
              <p:cNvPr id="5" name="Rectangle 4">
                <a:extLst>
                  <a:ext uri="{FF2B5EF4-FFF2-40B4-BE49-F238E27FC236}">
                    <a16:creationId xmlns:a16="http://schemas.microsoft.com/office/drawing/2014/main" id="{F7D69ED8-69BD-7C45-81F5-3C634ADF88E2}"/>
                  </a:ext>
                </a:extLst>
              </p:cNvPr>
              <p:cNvSpPr>
                <a:spLocks noRot="1" noChangeAspect="1" noMove="1" noResize="1" noEditPoints="1" noAdjustHandles="1" noChangeArrowheads="1" noChangeShapeType="1" noTextEdit="1"/>
              </p:cNvSpPr>
              <p:nvPr/>
            </p:nvSpPr>
            <p:spPr>
              <a:xfrm>
                <a:off x="795703" y="491440"/>
                <a:ext cx="10594848" cy="2585323"/>
              </a:xfrm>
              <a:prstGeom prst="rect">
                <a:avLst/>
              </a:prstGeom>
              <a:blipFill>
                <a:blip r:embed="rId3"/>
                <a:stretch>
                  <a:fillRect l="-518" t="-1415" b="-283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4545E39-AA9B-0244-A0A2-6D523E731685}"/>
              </a:ext>
            </a:extLst>
          </p:cNvPr>
          <p:cNvPicPr>
            <a:picLocks noChangeAspect="1"/>
          </p:cNvPicPr>
          <p:nvPr/>
        </p:nvPicPr>
        <p:blipFill>
          <a:blip r:embed="rId4"/>
          <a:stretch>
            <a:fillRect/>
          </a:stretch>
        </p:blipFill>
        <p:spPr>
          <a:xfrm>
            <a:off x="2050925" y="4105920"/>
            <a:ext cx="3823970" cy="2362701"/>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E02F33C-6093-C146-81D1-BC2286D6BC80}"/>
                  </a:ext>
                </a:extLst>
              </p:cNvPr>
              <p:cNvSpPr txBox="1"/>
              <p:nvPr/>
            </p:nvSpPr>
            <p:spPr>
              <a:xfrm>
                <a:off x="106067" y="4722140"/>
                <a:ext cx="2875724" cy="369332"/>
              </a:xfrm>
              <a:prstGeom prst="rect">
                <a:avLst/>
              </a:prstGeom>
              <a:noFill/>
            </p:spPr>
            <p:txBody>
              <a:bodyPr wrap="none" rtlCol="0">
                <a:spAutoFit/>
              </a:bodyPr>
              <a:lstStyle/>
              <a:p>
                <a:r>
                  <a:rPr lang="en-US" dirty="0">
                    <a:solidFill>
                      <a:srgbClr val="4472C4"/>
                    </a:solidFill>
                  </a:rPr>
                  <a:t>Distribution of </a:t>
                </a:r>
                <a14:m>
                  <m:oMath xmlns:m="http://schemas.openxmlformats.org/officeDocument/2006/math">
                    <m:acc>
                      <m:accPr>
                        <m:chr m:val="̅"/>
                        <m:ctrlPr>
                          <a:rPr lang="en-US" i="1">
                            <a:solidFill>
                              <a:srgbClr val="4472C4"/>
                            </a:solidFill>
                            <a:latin typeface="Cambria Math" panose="02040503050406030204" pitchFamily="18" charset="0"/>
                          </a:rPr>
                        </m:ctrlPr>
                      </m:accPr>
                      <m:e>
                        <m:r>
                          <a:rPr lang="en-US" i="1">
                            <a:solidFill>
                              <a:srgbClr val="4472C4"/>
                            </a:solidFill>
                            <a:latin typeface="Cambria Math" panose="02040503050406030204" pitchFamily="18" charset="0"/>
                          </a:rPr>
                          <m:t>𝑥</m:t>
                        </m:r>
                      </m:e>
                    </m:acc>
                  </m:oMath>
                </a14:m>
                <a:r>
                  <a:rPr lang="en-US" dirty="0">
                    <a:solidFill>
                      <a:srgbClr val="4472C4"/>
                    </a:solidFill>
                  </a:rPr>
                  <a:t> if H</a:t>
                </a:r>
                <a:r>
                  <a:rPr lang="en-US" baseline="-25000" dirty="0">
                    <a:solidFill>
                      <a:srgbClr val="4472C4"/>
                    </a:solidFill>
                  </a:rPr>
                  <a:t>0</a:t>
                </a:r>
                <a:r>
                  <a:rPr lang="en-US" dirty="0">
                    <a:solidFill>
                      <a:srgbClr val="4472C4"/>
                    </a:solidFill>
                  </a:rPr>
                  <a:t> is true</a:t>
                </a:r>
              </a:p>
            </p:txBody>
          </p:sp>
        </mc:Choice>
        <mc:Fallback xmlns="">
          <p:sp>
            <p:nvSpPr>
              <p:cNvPr id="14" name="TextBox 13">
                <a:extLst>
                  <a:ext uri="{FF2B5EF4-FFF2-40B4-BE49-F238E27FC236}">
                    <a16:creationId xmlns:a16="http://schemas.microsoft.com/office/drawing/2014/main" id="{3E02F33C-6093-C146-81D1-BC2286D6BC80}"/>
                  </a:ext>
                </a:extLst>
              </p:cNvPr>
              <p:cNvSpPr txBox="1">
                <a:spLocks noRot="1" noChangeAspect="1" noMove="1" noResize="1" noEditPoints="1" noAdjustHandles="1" noChangeArrowheads="1" noChangeShapeType="1" noTextEdit="1"/>
              </p:cNvSpPr>
              <p:nvPr/>
            </p:nvSpPr>
            <p:spPr>
              <a:xfrm>
                <a:off x="106067" y="4722140"/>
                <a:ext cx="2875724" cy="369332"/>
              </a:xfrm>
              <a:prstGeom prst="rect">
                <a:avLst/>
              </a:prstGeom>
              <a:blipFill>
                <a:blip r:embed="rId5"/>
                <a:stretch>
                  <a:fillRect l="-1695"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7AE0DC5-4DE4-3947-929D-B66689F01779}"/>
                  </a:ext>
                </a:extLst>
              </p:cNvPr>
              <p:cNvSpPr txBox="1"/>
              <p:nvPr/>
            </p:nvSpPr>
            <p:spPr>
              <a:xfrm>
                <a:off x="4816013" y="4722140"/>
                <a:ext cx="2818016" cy="369332"/>
              </a:xfrm>
              <a:prstGeom prst="rect">
                <a:avLst/>
              </a:prstGeom>
              <a:noFill/>
            </p:spPr>
            <p:txBody>
              <a:bodyPr wrap="none" rtlCol="0">
                <a:spAutoFit/>
              </a:bodyPr>
              <a:lstStyle/>
              <a:p>
                <a:r>
                  <a:rPr lang="en-US" dirty="0">
                    <a:solidFill>
                      <a:srgbClr val="4472C4"/>
                    </a:solidFill>
                  </a:rPr>
                  <a:t>Distribution of </a:t>
                </a:r>
                <a14:m>
                  <m:oMath xmlns:m="http://schemas.openxmlformats.org/officeDocument/2006/math">
                    <m:acc>
                      <m:accPr>
                        <m:chr m:val="̅"/>
                        <m:ctrlPr>
                          <a:rPr lang="en-US" i="1">
                            <a:solidFill>
                              <a:srgbClr val="4472C4"/>
                            </a:solidFill>
                            <a:latin typeface="Cambria Math" panose="02040503050406030204" pitchFamily="18" charset="0"/>
                          </a:rPr>
                        </m:ctrlPr>
                      </m:accPr>
                      <m:e>
                        <m:r>
                          <a:rPr lang="en-US" i="1">
                            <a:solidFill>
                              <a:srgbClr val="4472C4"/>
                            </a:solidFill>
                            <a:latin typeface="Cambria Math" panose="02040503050406030204" pitchFamily="18" charset="0"/>
                          </a:rPr>
                          <m:t>𝑥</m:t>
                        </m:r>
                      </m:e>
                    </m:acc>
                  </m:oMath>
                </a14:m>
                <a:r>
                  <a:rPr lang="en-US" dirty="0">
                    <a:solidFill>
                      <a:srgbClr val="4472C4"/>
                    </a:solidFill>
                  </a:rPr>
                  <a:t> if H</a:t>
                </a:r>
                <a:r>
                  <a:rPr lang="en-US" baseline="-25000" dirty="0">
                    <a:solidFill>
                      <a:srgbClr val="4472C4"/>
                    </a:solidFill>
                  </a:rPr>
                  <a:t>1</a:t>
                </a:r>
                <a:r>
                  <a:rPr lang="en-US" dirty="0">
                    <a:solidFill>
                      <a:srgbClr val="4472C4"/>
                    </a:solidFill>
                  </a:rPr>
                  <a:t> is true</a:t>
                </a:r>
              </a:p>
            </p:txBody>
          </p:sp>
        </mc:Choice>
        <mc:Fallback xmlns="">
          <p:sp>
            <p:nvSpPr>
              <p:cNvPr id="15" name="TextBox 14">
                <a:extLst>
                  <a:ext uri="{FF2B5EF4-FFF2-40B4-BE49-F238E27FC236}">
                    <a16:creationId xmlns:a16="http://schemas.microsoft.com/office/drawing/2014/main" id="{67AE0DC5-4DE4-3947-929D-B66689F01779}"/>
                  </a:ext>
                </a:extLst>
              </p:cNvPr>
              <p:cNvSpPr txBox="1">
                <a:spLocks noRot="1" noChangeAspect="1" noMove="1" noResize="1" noEditPoints="1" noAdjustHandles="1" noChangeArrowheads="1" noChangeShapeType="1" noTextEdit="1"/>
              </p:cNvSpPr>
              <p:nvPr/>
            </p:nvSpPr>
            <p:spPr>
              <a:xfrm>
                <a:off x="4816013" y="4722140"/>
                <a:ext cx="2818016" cy="369332"/>
              </a:xfrm>
              <a:prstGeom prst="rect">
                <a:avLst/>
              </a:prstGeom>
              <a:blipFill>
                <a:blip r:embed="rId6"/>
                <a:stretch>
                  <a:fillRect l="-1732" t="-10000" r="-1299" b="-2666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67D5DCA3-FD77-2943-B79D-EE17BD7FBD9F}"/>
              </a:ext>
            </a:extLst>
          </p:cNvPr>
          <p:cNvCxnSpPr>
            <a:cxnSpLocks/>
          </p:cNvCxnSpPr>
          <p:nvPr/>
        </p:nvCxnSpPr>
        <p:spPr>
          <a:xfrm>
            <a:off x="3916301" y="3521128"/>
            <a:ext cx="0" cy="263347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5F551EC-AE9C-1D40-A7F1-D214FFE989B9}"/>
              </a:ext>
            </a:extLst>
          </p:cNvPr>
          <p:cNvSpPr txBox="1"/>
          <p:nvPr/>
        </p:nvSpPr>
        <p:spPr>
          <a:xfrm>
            <a:off x="2981791" y="3136475"/>
            <a:ext cx="1937903" cy="369332"/>
          </a:xfrm>
          <a:prstGeom prst="rect">
            <a:avLst/>
          </a:prstGeom>
          <a:noFill/>
        </p:spPr>
        <p:txBody>
          <a:bodyPr wrap="none" rtlCol="0">
            <a:spAutoFit/>
          </a:bodyPr>
          <a:lstStyle/>
          <a:p>
            <a:r>
              <a:rPr lang="en-US" dirty="0"/>
              <a:t>Decision boundary</a:t>
            </a:r>
          </a:p>
        </p:txBody>
      </p:sp>
      <p:cxnSp>
        <p:nvCxnSpPr>
          <p:cNvPr id="21" name="Straight Arrow Connector 20">
            <a:extLst>
              <a:ext uri="{FF2B5EF4-FFF2-40B4-BE49-F238E27FC236}">
                <a16:creationId xmlns:a16="http://schemas.microsoft.com/office/drawing/2014/main" id="{45AA5E1F-0292-E54B-8E9C-69B536A053D3}"/>
              </a:ext>
            </a:extLst>
          </p:cNvPr>
          <p:cNvCxnSpPr/>
          <p:nvPr/>
        </p:nvCxnSpPr>
        <p:spPr>
          <a:xfrm flipH="1">
            <a:off x="3387727" y="3731440"/>
            <a:ext cx="448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666BE-B093-D947-87C8-591B39647128}"/>
              </a:ext>
            </a:extLst>
          </p:cNvPr>
          <p:cNvCxnSpPr>
            <a:cxnSpLocks/>
          </p:cNvCxnSpPr>
          <p:nvPr/>
        </p:nvCxnSpPr>
        <p:spPr>
          <a:xfrm>
            <a:off x="3981197" y="3731440"/>
            <a:ext cx="405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D99DFC5-BABD-594F-BAF7-CC8FDDF1BEFA}"/>
              </a:ext>
            </a:extLst>
          </p:cNvPr>
          <p:cNvSpPr txBox="1"/>
          <p:nvPr/>
        </p:nvSpPr>
        <p:spPr>
          <a:xfrm>
            <a:off x="4451476" y="3579342"/>
            <a:ext cx="1079911" cy="369332"/>
          </a:xfrm>
          <a:prstGeom prst="rect">
            <a:avLst/>
          </a:prstGeom>
          <a:noFill/>
        </p:spPr>
        <p:txBody>
          <a:bodyPr wrap="none" rtlCol="0">
            <a:spAutoFit/>
          </a:bodyPr>
          <a:lstStyle/>
          <a:p>
            <a:r>
              <a:rPr lang="en-US" dirty="0"/>
              <a:t>Reject H</a:t>
            </a:r>
            <a:r>
              <a:rPr lang="en-US" baseline="-25000" dirty="0"/>
              <a:t>0</a:t>
            </a:r>
          </a:p>
        </p:txBody>
      </p:sp>
      <p:sp>
        <p:nvSpPr>
          <p:cNvPr id="25" name="TextBox 24">
            <a:extLst>
              <a:ext uri="{FF2B5EF4-FFF2-40B4-BE49-F238E27FC236}">
                <a16:creationId xmlns:a16="http://schemas.microsoft.com/office/drawing/2014/main" id="{F263305D-A99E-4C44-94DE-E6C439B9A462}"/>
              </a:ext>
            </a:extLst>
          </p:cNvPr>
          <p:cNvSpPr txBox="1"/>
          <p:nvPr/>
        </p:nvSpPr>
        <p:spPr>
          <a:xfrm>
            <a:off x="2315004" y="3576439"/>
            <a:ext cx="1102161" cy="369332"/>
          </a:xfrm>
          <a:prstGeom prst="rect">
            <a:avLst/>
          </a:prstGeom>
          <a:noFill/>
        </p:spPr>
        <p:txBody>
          <a:bodyPr wrap="none" rtlCol="0">
            <a:spAutoFit/>
          </a:bodyPr>
          <a:lstStyle/>
          <a:p>
            <a:r>
              <a:rPr lang="en-US" dirty="0"/>
              <a:t>Accept H</a:t>
            </a:r>
            <a:r>
              <a:rPr lang="en-US" baseline="-25000" dirty="0"/>
              <a:t>0</a:t>
            </a:r>
          </a:p>
        </p:txBody>
      </p:sp>
      <p:sp>
        <p:nvSpPr>
          <p:cNvPr id="26" name="Rectangle 25">
            <a:extLst>
              <a:ext uri="{FF2B5EF4-FFF2-40B4-BE49-F238E27FC236}">
                <a16:creationId xmlns:a16="http://schemas.microsoft.com/office/drawing/2014/main" id="{BAA40986-1407-9B4F-AEB3-63BE0FBF87D1}"/>
              </a:ext>
            </a:extLst>
          </p:cNvPr>
          <p:cNvSpPr/>
          <p:nvPr/>
        </p:nvSpPr>
        <p:spPr>
          <a:xfrm>
            <a:off x="3981197" y="6265313"/>
            <a:ext cx="4645824" cy="369332"/>
          </a:xfrm>
          <a:prstGeom prst="rect">
            <a:avLst/>
          </a:prstGeom>
        </p:spPr>
        <p:txBody>
          <a:bodyPr wrap="none">
            <a:spAutoFit/>
          </a:bodyPr>
          <a:lstStyle/>
          <a:p>
            <a:r>
              <a:rPr lang="en-US" b="1" dirty="0">
                <a:solidFill>
                  <a:srgbClr val="0070C0"/>
                </a:solidFill>
              </a:rPr>
              <a:t>𝛼=P(Reject H</a:t>
            </a:r>
            <a:r>
              <a:rPr lang="en-US" b="1" baseline="-25000" dirty="0">
                <a:solidFill>
                  <a:srgbClr val="0070C0"/>
                </a:solidFill>
              </a:rPr>
              <a:t>0</a:t>
            </a:r>
            <a:r>
              <a:rPr lang="en-US" b="1" dirty="0">
                <a:solidFill>
                  <a:srgbClr val="0070C0"/>
                </a:solidFill>
              </a:rPr>
              <a:t> | H</a:t>
            </a:r>
            <a:r>
              <a:rPr lang="en-US" b="1" baseline="-25000" dirty="0">
                <a:solidFill>
                  <a:srgbClr val="0070C0"/>
                </a:solidFill>
              </a:rPr>
              <a:t>0</a:t>
            </a:r>
            <a:r>
              <a:rPr lang="en-US" b="1" dirty="0">
                <a:solidFill>
                  <a:srgbClr val="0070C0"/>
                </a:solidFill>
              </a:rPr>
              <a:t> is true): level of significance</a:t>
            </a:r>
            <a:endParaRPr lang="en-US" dirty="0"/>
          </a:p>
        </p:txBody>
      </p:sp>
      <p:sp>
        <p:nvSpPr>
          <p:cNvPr id="27" name="Rectangle 26">
            <a:extLst>
              <a:ext uri="{FF2B5EF4-FFF2-40B4-BE49-F238E27FC236}">
                <a16:creationId xmlns:a16="http://schemas.microsoft.com/office/drawing/2014/main" id="{E299C654-7281-0A42-B2A6-FA82DD6CA7AA}"/>
              </a:ext>
            </a:extLst>
          </p:cNvPr>
          <p:cNvSpPr/>
          <p:nvPr/>
        </p:nvSpPr>
        <p:spPr>
          <a:xfrm>
            <a:off x="1273586" y="6245796"/>
            <a:ext cx="2939749" cy="369332"/>
          </a:xfrm>
          <a:prstGeom prst="rect">
            <a:avLst/>
          </a:prstGeom>
        </p:spPr>
        <p:txBody>
          <a:bodyPr wrap="square">
            <a:spAutoFit/>
          </a:bodyPr>
          <a:lstStyle/>
          <a:p>
            <a:r>
              <a:rPr lang="en-US" b="1" dirty="0">
                <a:solidFill>
                  <a:srgbClr val="0070C0"/>
                </a:solidFill>
              </a:rPr>
              <a:t>𝛽 =P(Accept H</a:t>
            </a:r>
            <a:r>
              <a:rPr lang="en-US" b="1" baseline="-25000" dirty="0">
                <a:solidFill>
                  <a:srgbClr val="0070C0"/>
                </a:solidFill>
              </a:rPr>
              <a:t>0</a:t>
            </a:r>
            <a:r>
              <a:rPr lang="en-US" b="1" dirty="0">
                <a:solidFill>
                  <a:srgbClr val="0070C0"/>
                </a:solidFill>
              </a:rPr>
              <a:t> | H</a:t>
            </a:r>
            <a:r>
              <a:rPr lang="en-US" b="1" baseline="-25000" dirty="0">
                <a:solidFill>
                  <a:srgbClr val="0070C0"/>
                </a:solidFill>
              </a:rPr>
              <a:t>1</a:t>
            </a:r>
            <a:r>
              <a:rPr lang="en-US" b="1" dirty="0">
                <a:solidFill>
                  <a:srgbClr val="0070C0"/>
                </a:solidFill>
              </a:rPr>
              <a:t> is true)</a:t>
            </a:r>
            <a:endParaRPr lang="en-US" dirty="0"/>
          </a:p>
        </p:txBody>
      </p:sp>
      <p:cxnSp>
        <p:nvCxnSpPr>
          <p:cNvPr id="29" name="Straight Connector 28">
            <a:extLst>
              <a:ext uri="{FF2B5EF4-FFF2-40B4-BE49-F238E27FC236}">
                <a16:creationId xmlns:a16="http://schemas.microsoft.com/office/drawing/2014/main" id="{81E28BB3-3DB6-D347-AF81-61B09FE6DF89}"/>
              </a:ext>
            </a:extLst>
          </p:cNvPr>
          <p:cNvCxnSpPr>
            <a:cxnSpLocks/>
          </p:cNvCxnSpPr>
          <p:nvPr/>
        </p:nvCxnSpPr>
        <p:spPr>
          <a:xfrm flipH="1" flipV="1">
            <a:off x="4046100" y="5797985"/>
            <a:ext cx="334470" cy="488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3B9F023-253D-E24C-B05A-6C573D95505B}"/>
              </a:ext>
            </a:extLst>
          </p:cNvPr>
          <p:cNvCxnSpPr>
            <a:cxnSpLocks/>
          </p:cNvCxnSpPr>
          <p:nvPr/>
        </p:nvCxnSpPr>
        <p:spPr>
          <a:xfrm flipV="1">
            <a:off x="3417165" y="5797985"/>
            <a:ext cx="369338" cy="525141"/>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96C983F-BA9D-45F1-8188-98CBC74E018F}"/>
              </a:ext>
            </a:extLst>
          </p:cNvPr>
          <p:cNvPicPr>
            <a:picLocks noChangeAspect="1"/>
          </p:cNvPicPr>
          <p:nvPr/>
        </p:nvPicPr>
        <p:blipFill>
          <a:blip r:embed="rId7"/>
          <a:stretch>
            <a:fillRect/>
          </a:stretch>
        </p:blipFill>
        <p:spPr>
          <a:xfrm>
            <a:off x="8935489" y="2343711"/>
            <a:ext cx="2257425" cy="320992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FFB2A6-81F0-4DB6-8427-52F15AB1A34F}"/>
                  </a:ext>
                </a:extLst>
              </p:cNvPr>
              <p:cNvSpPr txBox="1"/>
              <p:nvPr/>
            </p:nvSpPr>
            <p:spPr>
              <a:xfrm>
                <a:off x="9287136" y="5448293"/>
                <a:ext cx="1905778" cy="5861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𝑓</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num>
                        <m:den>
                          <m:r>
                            <a:rPr lang="en-US" i="1">
                              <a:latin typeface="Cambria Math" panose="02040503050406030204" pitchFamily="18" charset="0"/>
                            </a:rPr>
                            <m:t>𝑓</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e>
                          </m:d>
                          <m:r>
                            <a:rPr lang="en-US" b="0" i="1"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e>
                          </m:d>
                        </m:den>
                      </m:f>
                    </m:oMath>
                  </m:oMathPara>
                </a14:m>
                <a:endParaRPr lang="en-US" dirty="0"/>
              </a:p>
            </p:txBody>
          </p:sp>
        </mc:Choice>
        <mc:Fallback xmlns="">
          <p:sp>
            <p:nvSpPr>
              <p:cNvPr id="4" name="TextBox 3">
                <a:extLst>
                  <a:ext uri="{FF2B5EF4-FFF2-40B4-BE49-F238E27FC236}">
                    <a16:creationId xmlns:a16="http://schemas.microsoft.com/office/drawing/2014/main" id="{27FFB2A6-81F0-4DB6-8427-52F15AB1A34F}"/>
                  </a:ext>
                </a:extLst>
              </p:cNvPr>
              <p:cNvSpPr txBox="1">
                <a:spLocks noRot="1" noChangeAspect="1" noMove="1" noResize="1" noEditPoints="1" noAdjustHandles="1" noChangeArrowheads="1" noChangeShapeType="1" noTextEdit="1"/>
              </p:cNvSpPr>
              <p:nvPr/>
            </p:nvSpPr>
            <p:spPr>
              <a:xfrm>
                <a:off x="9287136" y="5448293"/>
                <a:ext cx="1905778" cy="58612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6438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P spid="24" grpId="0"/>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2936573" cy="369332"/>
          </a:xfrm>
          <a:prstGeom prst="rect">
            <a:avLst/>
          </a:prstGeom>
          <a:noFill/>
        </p:spPr>
        <p:txBody>
          <a:bodyPr wrap="none" rtlCol="0">
            <a:spAutoFit/>
          </a:bodyPr>
          <a:lstStyle/>
          <a:p>
            <a:r>
              <a:rPr lang="en-US" u="sng" dirty="0"/>
              <a:t>The </a:t>
            </a:r>
            <a:r>
              <a:rPr lang="en-US" u="sng" dirty="0" err="1"/>
              <a:t>Neyman</a:t>
            </a:r>
            <a:r>
              <a:rPr lang="en-US" u="sng" dirty="0"/>
              <a:t>-Pearson Lemma</a:t>
            </a:r>
          </a:p>
        </p:txBody>
      </p:sp>
      <p:pic>
        <p:nvPicPr>
          <p:cNvPr id="3" name="Picture 2">
            <a:extLst>
              <a:ext uri="{FF2B5EF4-FFF2-40B4-BE49-F238E27FC236}">
                <a16:creationId xmlns:a16="http://schemas.microsoft.com/office/drawing/2014/main" id="{0269E54E-8A8B-6D4B-8C11-29F0EB6536F7}"/>
              </a:ext>
            </a:extLst>
          </p:cNvPr>
          <p:cNvPicPr>
            <a:picLocks noChangeAspect="1"/>
          </p:cNvPicPr>
          <p:nvPr/>
        </p:nvPicPr>
        <p:blipFill>
          <a:blip r:embed="rId2"/>
          <a:stretch>
            <a:fillRect/>
          </a:stretch>
        </p:blipFill>
        <p:spPr>
          <a:xfrm>
            <a:off x="669812" y="757844"/>
            <a:ext cx="7265186" cy="1859286"/>
          </a:xfrm>
          <a:prstGeom prst="rect">
            <a:avLst/>
          </a:prstGeom>
        </p:spPr>
      </p:pic>
      <p:sp>
        <p:nvSpPr>
          <p:cNvPr id="4" name="TextBox 3">
            <a:extLst>
              <a:ext uri="{FF2B5EF4-FFF2-40B4-BE49-F238E27FC236}">
                <a16:creationId xmlns:a16="http://schemas.microsoft.com/office/drawing/2014/main" id="{E624BBFB-B6F5-AF48-AE55-6D04A3E6062A}"/>
              </a:ext>
            </a:extLst>
          </p:cNvPr>
          <p:cNvSpPr txBox="1"/>
          <p:nvPr/>
        </p:nvSpPr>
        <p:spPr>
          <a:xfrm>
            <a:off x="8526787" y="1464078"/>
            <a:ext cx="3140860" cy="369332"/>
          </a:xfrm>
          <a:prstGeom prst="rect">
            <a:avLst/>
          </a:prstGeom>
          <a:noFill/>
        </p:spPr>
        <p:txBody>
          <a:bodyPr wrap="none" rtlCol="0">
            <a:spAutoFit/>
          </a:bodyPr>
          <a:lstStyle/>
          <a:p>
            <a:r>
              <a:rPr lang="en-US" b="1" dirty="0">
                <a:solidFill>
                  <a:srgbClr val="0070C0"/>
                </a:solidFill>
              </a:rPr>
              <a:t>Power=P(Reject H</a:t>
            </a:r>
            <a:r>
              <a:rPr lang="en-US" b="1" baseline="-25000" dirty="0">
                <a:solidFill>
                  <a:srgbClr val="0070C0"/>
                </a:solidFill>
              </a:rPr>
              <a:t>0</a:t>
            </a:r>
            <a:r>
              <a:rPr lang="en-US" b="1" dirty="0">
                <a:solidFill>
                  <a:srgbClr val="0070C0"/>
                </a:solidFill>
              </a:rPr>
              <a:t> | H</a:t>
            </a:r>
            <a:r>
              <a:rPr lang="en-US" b="1" baseline="-25000" dirty="0">
                <a:solidFill>
                  <a:srgbClr val="0070C0"/>
                </a:solidFill>
              </a:rPr>
              <a:t>1</a:t>
            </a:r>
            <a:r>
              <a:rPr lang="en-US" b="1" dirty="0">
                <a:solidFill>
                  <a:srgbClr val="0070C0"/>
                </a:solidFill>
              </a:rPr>
              <a:t> is true)</a:t>
            </a:r>
            <a:endParaRPr lang="en-US" dirty="0">
              <a:solidFill>
                <a:srgbClr val="0070C0"/>
              </a:solidFill>
            </a:endParaRPr>
          </a:p>
        </p:txBody>
      </p:sp>
      <p:sp>
        <p:nvSpPr>
          <p:cNvPr id="5" name="TextBox 4">
            <a:extLst>
              <a:ext uri="{FF2B5EF4-FFF2-40B4-BE49-F238E27FC236}">
                <a16:creationId xmlns:a16="http://schemas.microsoft.com/office/drawing/2014/main" id="{005F7DCD-2756-D542-BBC0-848749D2571C}"/>
              </a:ext>
            </a:extLst>
          </p:cNvPr>
          <p:cNvSpPr txBox="1"/>
          <p:nvPr/>
        </p:nvSpPr>
        <p:spPr>
          <a:xfrm>
            <a:off x="445177" y="2900581"/>
            <a:ext cx="9819098" cy="369332"/>
          </a:xfrm>
          <a:prstGeom prst="rect">
            <a:avLst/>
          </a:prstGeom>
          <a:noFill/>
        </p:spPr>
        <p:txBody>
          <a:bodyPr wrap="none" rtlCol="0">
            <a:spAutoFit/>
          </a:bodyPr>
          <a:lstStyle/>
          <a:p>
            <a:r>
              <a:rPr lang="en-US" dirty="0"/>
              <a:t>Given </a:t>
            </a:r>
            <a:r>
              <a:rPr lang="el-GR" dirty="0"/>
              <a:t>α</a:t>
            </a:r>
            <a:r>
              <a:rPr lang="en-US" dirty="0"/>
              <a:t>, if the critical region is selected based on likelihood ratio, the test achieves best possible power.</a:t>
            </a:r>
          </a:p>
        </p:txBody>
      </p:sp>
      <p:pic>
        <p:nvPicPr>
          <p:cNvPr id="6" name="Picture 5">
            <a:extLst>
              <a:ext uri="{FF2B5EF4-FFF2-40B4-BE49-F238E27FC236}">
                <a16:creationId xmlns:a16="http://schemas.microsoft.com/office/drawing/2014/main" id="{13FC7532-CD7B-E140-86E1-8147D5202D64}"/>
              </a:ext>
            </a:extLst>
          </p:cNvPr>
          <p:cNvPicPr>
            <a:picLocks noChangeAspect="1"/>
          </p:cNvPicPr>
          <p:nvPr/>
        </p:nvPicPr>
        <p:blipFill>
          <a:blip r:embed="rId3"/>
          <a:stretch>
            <a:fillRect/>
          </a:stretch>
        </p:blipFill>
        <p:spPr>
          <a:xfrm>
            <a:off x="2375553" y="4336330"/>
            <a:ext cx="7888722" cy="2303403"/>
          </a:xfrm>
          <a:prstGeom prst="rect">
            <a:avLst/>
          </a:prstGeom>
        </p:spPr>
      </p:pic>
      <p:sp>
        <p:nvSpPr>
          <p:cNvPr id="7" name="Rectangle 6">
            <a:extLst>
              <a:ext uri="{FF2B5EF4-FFF2-40B4-BE49-F238E27FC236}">
                <a16:creationId xmlns:a16="http://schemas.microsoft.com/office/drawing/2014/main" id="{1B9E26C9-356A-6949-8281-FE3E7C5E354B}"/>
              </a:ext>
            </a:extLst>
          </p:cNvPr>
          <p:cNvSpPr/>
          <p:nvPr/>
        </p:nvSpPr>
        <p:spPr>
          <a:xfrm>
            <a:off x="1945732" y="3730719"/>
            <a:ext cx="1940659" cy="369332"/>
          </a:xfrm>
          <a:prstGeom prst="rect">
            <a:avLst/>
          </a:prstGeom>
        </p:spPr>
        <p:txBody>
          <a:bodyPr wrap="none">
            <a:spAutoFit/>
          </a:bodyPr>
          <a:lstStyle/>
          <a:p>
            <a:r>
              <a:rPr lang="en-US" b="1" dirty="0"/>
              <a:t>Acceptance region</a:t>
            </a:r>
            <a:endParaRPr lang="en-US" dirty="0"/>
          </a:p>
        </p:txBody>
      </p:sp>
      <p:sp>
        <p:nvSpPr>
          <p:cNvPr id="8" name="Rectangle 7">
            <a:extLst>
              <a:ext uri="{FF2B5EF4-FFF2-40B4-BE49-F238E27FC236}">
                <a16:creationId xmlns:a16="http://schemas.microsoft.com/office/drawing/2014/main" id="{3F71085D-BA67-1F47-AA50-EC2B55383F94}"/>
              </a:ext>
            </a:extLst>
          </p:cNvPr>
          <p:cNvSpPr/>
          <p:nvPr/>
        </p:nvSpPr>
        <p:spPr>
          <a:xfrm>
            <a:off x="4171175" y="3594515"/>
            <a:ext cx="1792927" cy="646331"/>
          </a:xfrm>
          <a:prstGeom prst="rect">
            <a:avLst/>
          </a:prstGeom>
        </p:spPr>
        <p:txBody>
          <a:bodyPr wrap="none">
            <a:spAutoFit/>
          </a:bodyPr>
          <a:lstStyle/>
          <a:p>
            <a:r>
              <a:rPr lang="en-US" b="1" dirty="0"/>
              <a:t>Rejection region </a:t>
            </a:r>
          </a:p>
          <a:p>
            <a:r>
              <a:rPr lang="en-US" b="1" dirty="0"/>
              <a:t>(critical region)</a:t>
            </a:r>
            <a:endParaRPr lang="en-US" dirty="0"/>
          </a:p>
        </p:txBody>
      </p:sp>
      <p:sp>
        <p:nvSpPr>
          <p:cNvPr id="11" name="Rectangle 10">
            <a:extLst>
              <a:ext uri="{FF2B5EF4-FFF2-40B4-BE49-F238E27FC236}">
                <a16:creationId xmlns:a16="http://schemas.microsoft.com/office/drawing/2014/main" id="{BB180F60-88D0-0446-B892-C65F73E07DFC}"/>
              </a:ext>
            </a:extLst>
          </p:cNvPr>
          <p:cNvSpPr/>
          <p:nvPr/>
        </p:nvSpPr>
        <p:spPr>
          <a:xfrm>
            <a:off x="6096000" y="3907928"/>
            <a:ext cx="1940659" cy="369332"/>
          </a:xfrm>
          <a:prstGeom prst="rect">
            <a:avLst/>
          </a:prstGeom>
        </p:spPr>
        <p:txBody>
          <a:bodyPr wrap="none">
            <a:spAutoFit/>
          </a:bodyPr>
          <a:lstStyle/>
          <a:p>
            <a:r>
              <a:rPr lang="en-US" b="1" dirty="0"/>
              <a:t>Acceptance region</a:t>
            </a:r>
            <a:endParaRPr lang="en-US" dirty="0"/>
          </a:p>
        </p:txBody>
      </p:sp>
      <p:sp>
        <p:nvSpPr>
          <p:cNvPr id="12" name="Rectangle 11">
            <a:extLst>
              <a:ext uri="{FF2B5EF4-FFF2-40B4-BE49-F238E27FC236}">
                <a16:creationId xmlns:a16="http://schemas.microsoft.com/office/drawing/2014/main" id="{E3F99200-9B52-A240-9C42-BF560C6D7772}"/>
              </a:ext>
            </a:extLst>
          </p:cNvPr>
          <p:cNvSpPr/>
          <p:nvPr/>
        </p:nvSpPr>
        <p:spPr>
          <a:xfrm>
            <a:off x="8070191" y="3499031"/>
            <a:ext cx="1792927" cy="646331"/>
          </a:xfrm>
          <a:prstGeom prst="rect">
            <a:avLst/>
          </a:prstGeom>
        </p:spPr>
        <p:txBody>
          <a:bodyPr wrap="none">
            <a:spAutoFit/>
          </a:bodyPr>
          <a:lstStyle/>
          <a:p>
            <a:r>
              <a:rPr lang="en-US" b="1" dirty="0"/>
              <a:t>Rejection region </a:t>
            </a:r>
          </a:p>
          <a:p>
            <a:r>
              <a:rPr lang="en-US" b="1" dirty="0"/>
              <a:t>(critical region)</a:t>
            </a:r>
            <a:endParaRPr lang="en-US" dirty="0"/>
          </a:p>
        </p:txBody>
      </p:sp>
      <p:sp>
        <p:nvSpPr>
          <p:cNvPr id="13" name="Rectangle 12">
            <a:extLst>
              <a:ext uri="{FF2B5EF4-FFF2-40B4-BE49-F238E27FC236}">
                <a16:creationId xmlns:a16="http://schemas.microsoft.com/office/drawing/2014/main" id="{81903D93-BFFE-324C-959C-10A725ECB250}"/>
              </a:ext>
            </a:extLst>
          </p:cNvPr>
          <p:cNvSpPr/>
          <p:nvPr/>
        </p:nvSpPr>
        <p:spPr>
          <a:xfrm>
            <a:off x="9896650" y="3907928"/>
            <a:ext cx="1940659" cy="369332"/>
          </a:xfrm>
          <a:prstGeom prst="rect">
            <a:avLst/>
          </a:prstGeom>
        </p:spPr>
        <p:txBody>
          <a:bodyPr wrap="none">
            <a:spAutoFit/>
          </a:bodyPr>
          <a:lstStyle/>
          <a:p>
            <a:r>
              <a:rPr lang="en-US" b="1" dirty="0"/>
              <a:t>Acceptance region</a:t>
            </a:r>
            <a:endParaRPr lang="en-US" dirty="0"/>
          </a:p>
        </p:txBody>
      </p:sp>
      <p:cxnSp>
        <p:nvCxnSpPr>
          <p:cNvPr id="15" name="Straight Connector 14">
            <a:extLst>
              <a:ext uri="{FF2B5EF4-FFF2-40B4-BE49-F238E27FC236}">
                <a16:creationId xmlns:a16="http://schemas.microsoft.com/office/drawing/2014/main" id="{D1E5074D-CA70-3544-B634-AC9AE9A17116}"/>
              </a:ext>
            </a:extLst>
          </p:cNvPr>
          <p:cNvCxnSpPr>
            <a:cxnSpLocks/>
          </p:cNvCxnSpPr>
          <p:nvPr/>
        </p:nvCxnSpPr>
        <p:spPr>
          <a:xfrm flipH="1">
            <a:off x="8832915" y="4145362"/>
            <a:ext cx="105459" cy="370077"/>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E1AAD1D-7773-D943-825B-6227CC099828}"/>
              </a:ext>
            </a:extLst>
          </p:cNvPr>
          <p:cNvSpPr/>
          <p:nvPr/>
        </p:nvSpPr>
        <p:spPr>
          <a:xfrm>
            <a:off x="4034672" y="4330400"/>
            <a:ext cx="1432874" cy="1891291"/>
          </a:xfrm>
          <a:prstGeom prst="rect">
            <a:avLst/>
          </a:prstGeom>
          <a:solidFill>
            <a:srgbClr val="A5A5A5">
              <a:alpha val="2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3614153-16AB-BF4A-90FE-D36AF7517DC3}"/>
              </a:ext>
            </a:extLst>
          </p:cNvPr>
          <p:cNvSpPr/>
          <p:nvPr/>
        </p:nvSpPr>
        <p:spPr>
          <a:xfrm>
            <a:off x="8799137" y="4330399"/>
            <a:ext cx="62059" cy="1891291"/>
          </a:xfrm>
          <a:prstGeom prst="rect">
            <a:avLst/>
          </a:prstGeom>
          <a:solidFill>
            <a:srgbClr val="A5A5A5">
              <a:alpha val="2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BCA8FD-916E-41CA-91D4-E182D21CD7EE}"/>
              </a:ext>
            </a:extLst>
          </p:cNvPr>
          <p:cNvSpPr txBox="1"/>
          <p:nvPr/>
        </p:nvSpPr>
        <p:spPr>
          <a:xfrm>
            <a:off x="669812" y="5019472"/>
            <a:ext cx="1243546" cy="369332"/>
          </a:xfrm>
          <a:prstGeom prst="rect">
            <a:avLst/>
          </a:prstGeom>
          <a:noFill/>
        </p:spPr>
        <p:txBody>
          <a:bodyPr wrap="none" rtlCol="0">
            <a:spAutoFit/>
          </a:bodyPr>
          <a:lstStyle/>
          <a:p>
            <a:r>
              <a:rPr lang="en-US" dirty="0">
                <a:solidFill>
                  <a:srgbClr val="FF0000"/>
                </a:solidFill>
              </a:rPr>
              <a:t>Best power</a:t>
            </a:r>
          </a:p>
        </p:txBody>
      </p:sp>
      <p:sp>
        <p:nvSpPr>
          <p:cNvPr id="10" name="TextBox 9">
            <a:extLst>
              <a:ext uri="{FF2B5EF4-FFF2-40B4-BE49-F238E27FC236}">
                <a16:creationId xmlns:a16="http://schemas.microsoft.com/office/drawing/2014/main" id="{9B4A3D75-D676-4F96-B4E5-D98B99CA805F}"/>
              </a:ext>
            </a:extLst>
          </p:cNvPr>
          <p:cNvSpPr txBox="1"/>
          <p:nvPr/>
        </p:nvSpPr>
        <p:spPr>
          <a:xfrm>
            <a:off x="10462480" y="5019472"/>
            <a:ext cx="1222771" cy="369332"/>
          </a:xfrm>
          <a:prstGeom prst="rect">
            <a:avLst/>
          </a:prstGeom>
          <a:noFill/>
        </p:spPr>
        <p:txBody>
          <a:bodyPr wrap="none" rtlCol="0">
            <a:spAutoFit/>
          </a:bodyPr>
          <a:lstStyle/>
          <a:p>
            <a:r>
              <a:rPr lang="en-US" dirty="0">
                <a:solidFill>
                  <a:srgbClr val="FF0000"/>
                </a:solidFill>
              </a:rPr>
              <a:t>Low power</a:t>
            </a:r>
          </a:p>
        </p:txBody>
      </p:sp>
      <p:sp>
        <p:nvSpPr>
          <p:cNvPr id="14" name="Rectangle 13">
            <a:extLst>
              <a:ext uri="{FF2B5EF4-FFF2-40B4-BE49-F238E27FC236}">
                <a16:creationId xmlns:a16="http://schemas.microsoft.com/office/drawing/2014/main" id="{E5A8F62B-5212-4759-A4AF-4D4253FED31B}"/>
              </a:ext>
            </a:extLst>
          </p:cNvPr>
          <p:cNvSpPr/>
          <p:nvPr/>
        </p:nvSpPr>
        <p:spPr>
          <a:xfrm>
            <a:off x="5964102" y="3269913"/>
            <a:ext cx="5949564" cy="33698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F1E4A0D-5C43-4B7D-8380-28844E1ED6CE}"/>
              </a:ext>
            </a:extLst>
          </p:cNvPr>
          <p:cNvSpPr/>
          <p:nvPr/>
        </p:nvSpPr>
        <p:spPr>
          <a:xfrm>
            <a:off x="326353" y="3269913"/>
            <a:ext cx="5560571" cy="33698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3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A58D4B-657E-7B40-8E7C-725618EEC23B}"/>
              </a:ext>
            </a:extLst>
          </p:cNvPr>
          <p:cNvSpPr txBox="1"/>
          <p:nvPr/>
        </p:nvSpPr>
        <p:spPr>
          <a:xfrm>
            <a:off x="211015" y="175846"/>
            <a:ext cx="2936573" cy="369332"/>
          </a:xfrm>
          <a:prstGeom prst="rect">
            <a:avLst/>
          </a:prstGeom>
          <a:noFill/>
        </p:spPr>
        <p:txBody>
          <a:bodyPr wrap="none" rtlCol="0">
            <a:spAutoFit/>
          </a:bodyPr>
          <a:lstStyle/>
          <a:p>
            <a:r>
              <a:rPr lang="en-US" u="sng" dirty="0"/>
              <a:t>The </a:t>
            </a:r>
            <a:r>
              <a:rPr lang="en-US" u="sng" dirty="0" err="1"/>
              <a:t>Neyman</a:t>
            </a:r>
            <a:r>
              <a:rPr lang="en-US" u="sng" dirty="0"/>
              <a:t>-Pearson Lemma</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82C6D59-3D28-A44C-BE54-56B775587C49}"/>
                  </a:ext>
                </a:extLst>
              </p:cNvPr>
              <p:cNvSpPr txBox="1"/>
              <p:nvPr/>
            </p:nvSpPr>
            <p:spPr>
              <a:xfrm>
                <a:off x="160256" y="904973"/>
                <a:ext cx="8229600" cy="4524315"/>
              </a:xfrm>
              <a:prstGeom prst="rect">
                <a:avLst/>
              </a:prstGeom>
              <a:noFill/>
            </p:spPr>
            <p:txBody>
              <a:bodyPr wrap="square" rtlCol="0">
                <a:spAutoFit/>
              </a:bodyPr>
              <a:lstStyle/>
              <a:p>
                <a:r>
                  <a:rPr lang="en-US" dirty="0"/>
                  <a:t>In</a:t>
                </a:r>
                <a:r>
                  <a:rPr lang="zh-CN" altLang="en-US" dirty="0"/>
                  <a:t> </a:t>
                </a:r>
                <a:r>
                  <a:rPr lang="en-US" altLang="zh-CN" dirty="0"/>
                  <a:t>the case of testing simple hypothesis</a:t>
                </a:r>
              </a:p>
              <a:p>
                <a:endParaRPr lang="en-US" dirty="0"/>
              </a:p>
              <a:p>
                <a:r>
                  <a:rPr lang="en-US" dirty="0"/>
                  <a:t>No matter what value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1</a:t>
                </a:r>
                <a:r>
                  <a:rPr lang="en-US" dirty="0"/>
                  <a:t> takes, as long as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0 </a:t>
                </a:r>
                <a:r>
                  <a:rPr lang="en-US" dirty="0"/>
                  <a:t>, </a:t>
                </a:r>
                <a:r>
                  <a:rPr lang="el-GR" dirty="0"/>
                  <a:t>α</a:t>
                </a:r>
                <a:r>
                  <a:rPr lang="en-US" dirty="0"/>
                  <a:t> and </a:t>
                </a:r>
                <a:r>
                  <a:rPr lang="en-US" i="1" dirty="0">
                    <a:latin typeface="Times New Roman" panose="02020603050405020304" pitchFamily="18" charset="0"/>
                    <a:cs typeface="Times New Roman" panose="02020603050405020304" pitchFamily="18" charset="0"/>
                  </a:rPr>
                  <a:t>n</a:t>
                </a:r>
                <a:r>
                  <a:rPr lang="en-US" dirty="0"/>
                  <a:t> are specified,  the critical region is the same. </a:t>
                </a:r>
              </a:p>
              <a:p>
                <a:endParaRPr lang="en-US" dirty="0"/>
              </a:p>
              <a:p>
                <a:endParaRPr lang="en-US" dirty="0"/>
              </a:p>
              <a:p>
                <a:endParaRPr lang="en-US" dirty="0"/>
              </a:p>
              <a:p>
                <a:r>
                  <a:rPr lang="en-US" dirty="0"/>
                  <a:t>Likelihood ratio:</a:t>
                </a:r>
              </a:p>
              <a:p>
                <a:endParaRPr lang="en-US" dirty="0"/>
              </a:p>
              <a:p>
                <a:endParaRPr lang="en-US" dirty="0"/>
              </a:p>
              <a:p>
                <a:endParaRPr lang="en-US" dirty="0"/>
              </a:p>
              <a:p>
                <a:r>
                  <a:rPr lang="en-US" dirty="0"/>
                  <a:t>Log-likelihood ratio:</a:t>
                </a:r>
              </a:p>
              <a:p>
                <a:endParaRPr lang="en-US" dirty="0"/>
              </a:p>
              <a:p>
                <a:r>
                  <a:rPr lang="en-US" dirty="0"/>
                  <a:t>It goes smaller as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increases. So at </a:t>
                </a:r>
                <a:r>
                  <a:rPr lang="el-GR" dirty="0"/>
                  <a:t>α</a:t>
                </a:r>
                <a:r>
                  <a:rPr lang="en-US" dirty="0"/>
                  <a:t>, the boundary is always the </a:t>
                </a:r>
                <a:r>
                  <a:rPr lang="en-US" i="1" dirty="0">
                    <a:latin typeface="Times New Roman" panose="02020603050405020304" pitchFamily="18" charset="0"/>
                    <a:cs typeface="Times New Roman" panose="02020603050405020304" pitchFamily="18" charset="0"/>
                  </a:rPr>
                  <a:t>x</a:t>
                </a:r>
                <a:r>
                  <a:rPr lang="en-US" i="1" baseline="-25000" dirty="0">
                    <a:latin typeface="Times New Roman" panose="02020603050405020304" pitchFamily="18" charset="0"/>
                    <a:cs typeface="Times New Roman" panose="02020603050405020304" pitchFamily="18" charset="0"/>
                  </a:rPr>
                  <a:t>0</a:t>
                </a:r>
                <a:r>
                  <a:rPr lang="en-US" dirty="0"/>
                  <a:t> that yields </a:t>
                </a:r>
              </a:p>
              <a:p>
                <a:endParaRPr lang="en-US" dirty="0"/>
              </a:p>
              <a:p>
                <a:r>
                  <a:rPr lang="en-US" dirty="0"/>
                  <a:t>Based on </a:t>
                </a:r>
                <a:r>
                  <a:rPr lang="en-US" dirty="0" err="1"/>
                  <a:t>Neyman</a:t>
                </a:r>
                <a:r>
                  <a:rPr lang="en-US" dirty="0"/>
                  <a:t>-Pearson Lemma, for any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1</a:t>
                </a:r>
                <a:r>
                  <a:rPr lang="en-US" dirty="0"/>
                  <a:t>, the test is most powerful.</a:t>
                </a:r>
              </a:p>
            </p:txBody>
          </p:sp>
        </mc:Choice>
        <mc:Fallback xmlns="">
          <p:sp>
            <p:nvSpPr>
              <p:cNvPr id="4" name="TextBox 3">
                <a:extLst>
                  <a:ext uri="{FF2B5EF4-FFF2-40B4-BE49-F238E27FC236}">
                    <a16:creationId xmlns:a16="http://schemas.microsoft.com/office/drawing/2014/main" id="{F82C6D59-3D28-A44C-BE54-56B775587C49}"/>
                  </a:ext>
                </a:extLst>
              </p:cNvPr>
              <p:cNvSpPr txBox="1">
                <a:spLocks noRot="1" noChangeAspect="1" noMove="1" noResize="1" noEditPoints="1" noAdjustHandles="1" noChangeArrowheads="1" noChangeShapeType="1" noTextEdit="1"/>
              </p:cNvSpPr>
              <p:nvPr/>
            </p:nvSpPr>
            <p:spPr>
              <a:xfrm>
                <a:off x="160256" y="904973"/>
                <a:ext cx="8229600" cy="4524315"/>
              </a:xfrm>
              <a:prstGeom prst="rect">
                <a:avLst/>
              </a:prstGeom>
              <a:blipFill>
                <a:blip r:embed="rId2"/>
                <a:stretch>
                  <a:fillRect l="-593" t="-673" r="-222" b="-1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B01A65A-BF96-B945-9920-D38C9D26F856}"/>
                  </a:ext>
                </a:extLst>
              </p:cNvPr>
              <p:cNvSpPr txBox="1"/>
              <p:nvPr/>
            </p:nvSpPr>
            <p:spPr>
              <a:xfrm>
                <a:off x="4030023" y="759906"/>
                <a:ext cx="3302846" cy="646331"/>
              </a:xfrm>
              <a:prstGeom prst="rect">
                <a:avLst/>
              </a:prstGeom>
              <a:noFill/>
            </p:spPr>
            <p:txBody>
              <a:bodyPr wrap="square" rtlCol="0">
                <a:spAutoFit/>
              </a:bodyPr>
              <a:lstStyle/>
              <a:p>
                <a:r>
                  <a:rPr lang="en-US" dirty="0">
                    <a:solidFill>
                      <a:schemeClr val="tx1"/>
                    </a:solidFill>
                  </a:rPr>
                  <a:t>H</a:t>
                </a:r>
                <a:r>
                  <a:rPr lang="en-US" baseline="-25000" dirty="0">
                    <a:solidFill>
                      <a:schemeClr val="tx1"/>
                    </a:solidFill>
                  </a:rPr>
                  <a:t>0</a:t>
                </a:r>
                <a:r>
                  <a:rPr lang="en-US" dirty="0">
                    <a:solidFill>
                      <a:schemeClr val="tx1"/>
                    </a:solidFill>
                  </a:rPr>
                  <a:t>: </a:t>
                </a:r>
                <a14:m>
                  <m:oMath xmlns:m="http://schemas.openxmlformats.org/officeDocument/2006/math">
                    <m:r>
                      <a:rPr lang="en-US" i="1" dirty="0" smtClean="0">
                        <a:solidFill>
                          <a:schemeClr val="tx1"/>
                        </a:solidFill>
                        <a:latin typeface="Cambria Math" panose="02040503050406030204" pitchFamily="18" charset="0"/>
                        <a:ea typeface="Cambria Math" panose="02040503050406030204" pitchFamily="18" charset="0"/>
                      </a:rPr>
                      <m:t>𝜇</m:t>
                    </m:r>
                    <m:r>
                      <a:rPr lang="en-US" b="0" i="1" dirty="0" smtClean="0">
                        <a:solidFill>
                          <a:schemeClr val="tx1"/>
                        </a:solidFill>
                        <a:latin typeface="Cambria Math" panose="02040503050406030204" pitchFamily="18" charset="0"/>
                        <a:ea typeface="Cambria Math" panose="02040503050406030204" pitchFamily="18" charset="0"/>
                      </a:rPr>
                      <m:t>=</m:t>
                    </m:r>
                    <m:r>
                      <a:rPr lang="en-US" i="1" dirty="0">
                        <a:solidFill>
                          <a:schemeClr val="tx1"/>
                        </a:solidFill>
                        <a:latin typeface="Cambria Math" panose="02040503050406030204" pitchFamily="18" charset="0"/>
                        <a:ea typeface="Cambria Math" panose="02040503050406030204" pitchFamily="18" charset="0"/>
                      </a:rPr>
                      <m:t>𝜇</m:t>
                    </m:r>
                  </m:oMath>
                </a14:m>
                <a:r>
                  <a:rPr lang="en-US" baseline="-25000" dirty="0">
                    <a:solidFill>
                      <a:schemeClr val="tx1"/>
                    </a:solidFill>
                  </a:rPr>
                  <a:t>0</a:t>
                </a:r>
                <a:endParaRPr lang="en-US" dirty="0">
                  <a:solidFill>
                    <a:schemeClr val="tx1"/>
                  </a:solidFill>
                </a:endParaRPr>
              </a:p>
              <a:p>
                <a:r>
                  <a:rPr lang="en-US" dirty="0">
                    <a:solidFill>
                      <a:schemeClr val="tx1"/>
                    </a:solidFill>
                  </a:rPr>
                  <a:t>H</a:t>
                </a:r>
                <a:r>
                  <a:rPr lang="en-US" baseline="-25000" dirty="0">
                    <a:solidFill>
                      <a:schemeClr val="tx1"/>
                    </a:solidFill>
                  </a:rPr>
                  <a:t>1</a:t>
                </a:r>
                <a:r>
                  <a:rPr lang="en-US" dirty="0">
                    <a:solidFill>
                      <a:schemeClr val="tx1"/>
                    </a:solidFill>
                  </a:rPr>
                  <a:t>: </a:t>
                </a:r>
                <a14:m>
                  <m:oMath xmlns:m="http://schemas.openxmlformats.org/officeDocument/2006/math">
                    <m:r>
                      <a:rPr lang="en-US" i="1" dirty="0">
                        <a:solidFill>
                          <a:schemeClr val="tx1"/>
                        </a:solidFill>
                        <a:latin typeface="Cambria Math" panose="02040503050406030204" pitchFamily="18" charset="0"/>
                        <a:ea typeface="Cambria Math" panose="02040503050406030204" pitchFamily="18" charset="0"/>
                      </a:rPr>
                      <m:t>𝜇</m:t>
                    </m:r>
                    <m:r>
                      <a:rPr lang="en-US" b="0" i="1" dirty="0" smtClean="0">
                        <a:solidFill>
                          <a:schemeClr val="tx1"/>
                        </a:solidFill>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1</a:t>
                </a:r>
                <a:r>
                  <a:rPr lang="en-US" dirty="0"/>
                  <a:t>, where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1</a:t>
                </a:r>
                <a:r>
                  <a:rPr lang="en-US" dirty="0"/>
                  <a:t>&gt;</a:t>
                </a:r>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𝜇</m:t>
                    </m:r>
                  </m:oMath>
                </a14:m>
                <a:r>
                  <a:rPr lang="en-US" baseline="-25000" dirty="0"/>
                  <a:t>0</a:t>
                </a:r>
                <a:r>
                  <a:rPr lang="en-US" dirty="0"/>
                  <a:t> </a:t>
                </a:r>
                <a:endParaRPr lang="en-US" dirty="0">
                  <a:solidFill>
                    <a:schemeClr val="tx1"/>
                  </a:solidFill>
                </a:endParaRPr>
              </a:p>
            </p:txBody>
          </p:sp>
        </mc:Choice>
        <mc:Fallback xmlns="">
          <p:sp>
            <p:nvSpPr>
              <p:cNvPr id="5" name="TextBox 4">
                <a:extLst>
                  <a:ext uri="{FF2B5EF4-FFF2-40B4-BE49-F238E27FC236}">
                    <a16:creationId xmlns:a16="http://schemas.microsoft.com/office/drawing/2014/main" id="{FB01A65A-BF96-B945-9920-D38C9D26F856}"/>
                  </a:ext>
                </a:extLst>
              </p:cNvPr>
              <p:cNvSpPr txBox="1">
                <a:spLocks noRot="1" noChangeAspect="1" noMove="1" noResize="1" noEditPoints="1" noAdjustHandles="1" noChangeArrowheads="1" noChangeShapeType="1" noTextEdit="1"/>
              </p:cNvSpPr>
              <p:nvPr/>
            </p:nvSpPr>
            <p:spPr>
              <a:xfrm>
                <a:off x="4030023" y="759906"/>
                <a:ext cx="3302846" cy="646331"/>
              </a:xfrm>
              <a:prstGeom prst="rect">
                <a:avLst/>
              </a:prstGeom>
              <a:blipFill>
                <a:blip r:embed="rId3"/>
                <a:stretch>
                  <a:fillRect l="-1476" t="-5660" b="-14151"/>
                </a:stretch>
              </a:blipFill>
            </p:spPr>
            <p:txBody>
              <a:bodyPr/>
              <a:lstStyle/>
              <a:p>
                <a:r>
                  <a:rPr lang="en-US">
                    <a:noFill/>
                  </a:rPr>
                  <a:t> </a:t>
                </a:r>
              </a:p>
            </p:txBody>
          </p:sp>
        </mc:Fallback>
      </mc:AlternateContent>
      <p:sp>
        <p:nvSpPr>
          <p:cNvPr id="6" name="Down Arrow 5">
            <a:extLst>
              <a:ext uri="{FF2B5EF4-FFF2-40B4-BE49-F238E27FC236}">
                <a16:creationId xmlns:a16="http://schemas.microsoft.com/office/drawing/2014/main" id="{2D818C8C-D001-6242-B1F2-CEEF27B638EA}"/>
              </a:ext>
            </a:extLst>
          </p:cNvPr>
          <p:cNvSpPr/>
          <p:nvPr/>
        </p:nvSpPr>
        <p:spPr>
          <a:xfrm>
            <a:off x="3403078" y="5744590"/>
            <a:ext cx="188535" cy="2602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781256-71DB-BC47-BEA9-0D2A6F209A91}"/>
              </a:ext>
            </a:extLst>
          </p:cNvPr>
          <p:cNvSpPr txBox="1"/>
          <p:nvPr/>
        </p:nvSpPr>
        <p:spPr>
          <a:xfrm>
            <a:off x="160256" y="6072577"/>
            <a:ext cx="7032397" cy="646331"/>
          </a:xfrm>
          <a:prstGeom prst="rect">
            <a:avLst/>
          </a:prstGeom>
          <a:noFill/>
        </p:spPr>
        <p:txBody>
          <a:bodyPr wrap="square" rtlCol="0">
            <a:spAutoFit/>
          </a:bodyPr>
          <a:lstStyle/>
          <a:p>
            <a:r>
              <a:rPr lang="en-US" dirty="0"/>
              <a:t>The test is </a:t>
            </a:r>
            <a:r>
              <a:rPr lang="en-US" b="1" dirty="0"/>
              <a:t>uniformly most powerful - </a:t>
            </a:r>
            <a:r>
              <a:rPr lang="en-US" dirty="0"/>
              <a:t> it is most powerful for </a:t>
            </a:r>
            <a:r>
              <a:rPr lang="en-US" i="1" dirty="0"/>
              <a:t>every </a:t>
            </a:r>
            <a:r>
              <a:rPr lang="en-US" dirty="0"/>
              <a:t>simple alternative in </a:t>
            </a:r>
            <a:r>
              <a:rPr lang="en-US" i="1" dirty="0"/>
              <a:t>H</a:t>
            </a:r>
            <a:r>
              <a:rPr lang="en-US" baseline="-25000" dirty="0"/>
              <a:t>1</a:t>
            </a:r>
            <a:r>
              <a:rPr lang="en-US" b="1" dirty="0"/>
              <a:t>. </a:t>
            </a:r>
            <a:endParaRPr lang="en-US" dirty="0"/>
          </a:p>
        </p:txBody>
      </p:sp>
      <p:pic>
        <p:nvPicPr>
          <p:cNvPr id="8" name="Picture 7">
            <a:extLst>
              <a:ext uri="{FF2B5EF4-FFF2-40B4-BE49-F238E27FC236}">
                <a16:creationId xmlns:a16="http://schemas.microsoft.com/office/drawing/2014/main" id="{743DAB8E-3575-9F4A-8DA8-F38468878159}"/>
              </a:ext>
            </a:extLst>
          </p:cNvPr>
          <p:cNvPicPr>
            <a:picLocks noChangeAspect="1"/>
          </p:cNvPicPr>
          <p:nvPr/>
        </p:nvPicPr>
        <p:blipFill>
          <a:blip r:embed="rId4"/>
          <a:stretch>
            <a:fillRect/>
          </a:stretch>
        </p:blipFill>
        <p:spPr>
          <a:xfrm>
            <a:off x="2138019" y="2343435"/>
            <a:ext cx="2907188" cy="1370392"/>
          </a:xfrm>
          <a:prstGeom prst="rect">
            <a:avLst/>
          </a:prstGeom>
        </p:spPr>
      </p:pic>
      <p:pic>
        <p:nvPicPr>
          <p:cNvPr id="9" name="Picture 8">
            <a:extLst>
              <a:ext uri="{FF2B5EF4-FFF2-40B4-BE49-F238E27FC236}">
                <a16:creationId xmlns:a16="http://schemas.microsoft.com/office/drawing/2014/main" id="{0041334C-9E54-1847-AADB-2A83421B4846}"/>
              </a:ext>
            </a:extLst>
          </p:cNvPr>
          <p:cNvPicPr>
            <a:picLocks noChangeAspect="1"/>
          </p:cNvPicPr>
          <p:nvPr/>
        </p:nvPicPr>
        <p:blipFill>
          <a:blip r:embed="rId5"/>
          <a:stretch>
            <a:fillRect/>
          </a:stretch>
        </p:blipFill>
        <p:spPr>
          <a:xfrm>
            <a:off x="2214421" y="3922797"/>
            <a:ext cx="2754384" cy="432507"/>
          </a:xfrm>
          <a:prstGeom prst="rect">
            <a:avLst/>
          </a:prstGeom>
        </p:spPr>
      </p:pic>
      <p:pic>
        <p:nvPicPr>
          <p:cNvPr id="10" name="Picture 9">
            <a:extLst>
              <a:ext uri="{FF2B5EF4-FFF2-40B4-BE49-F238E27FC236}">
                <a16:creationId xmlns:a16="http://schemas.microsoft.com/office/drawing/2014/main" id="{A6A8DEE6-A3C5-904D-AA80-671C041D4FCE}"/>
              </a:ext>
            </a:extLst>
          </p:cNvPr>
          <p:cNvPicPr>
            <a:picLocks noChangeAspect="1"/>
          </p:cNvPicPr>
          <p:nvPr/>
        </p:nvPicPr>
        <p:blipFill>
          <a:blip r:embed="rId6"/>
          <a:stretch>
            <a:fillRect/>
          </a:stretch>
        </p:blipFill>
        <p:spPr>
          <a:xfrm>
            <a:off x="7573802" y="4276270"/>
            <a:ext cx="1645709" cy="690136"/>
          </a:xfrm>
          <a:prstGeom prst="rect">
            <a:avLst/>
          </a:prstGeom>
        </p:spPr>
      </p:pic>
      <p:grpSp>
        <p:nvGrpSpPr>
          <p:cNvPr id="19" name="Group 18">
            <a:extLst>
              <a:ext uri="{FF2B5EF4-FFF2-40B4-BE49-F238E27FC236}">
                <a16:creationId xmlns:a16="http://schemas.microsoft.com/office/drawing/2014/main" id="{8027C9E0-EB93-7646-9B50-1B0B1A0AA5A0}"/>
              </a:ext>
            </a:extLst>
          </p:cNvPr>
          <p:cNvGrpSpPr/>
          <p:nvPr/>
        </p:nvGrpSpPr>
        <p:grpSpPr>
          <a:xfrm>
            <a:off x="9191230" y="166419"/>
            <a:ext cx="2761381" cy="6698072"/>
            <a:chOff x="9191230" y="175846"/>
            <a:chExt cx="2761381" cy="6698072"/>
          </a:xfrm>
        </p:grpSpPr>
        <p:pic>
          <p:nvPicPr>
            <p:cNvPr id="3" name="Picture 2">
              <a:extLst>
                <a:ext uri="{FF2B5EF4-FFF2-40B4-BE49-F238E27FC236}">
                  <a16:creationId xmlns:a16="http://schemas.microsoft.com/office/drawing/2014/main" id="{0D2F8EDF-C4D2-3740-813F-A015C12E30B2}"/>
                </a:ext>
              </a:extLst>
            </p:cNvPr>
            <p:cNvPicPr>
              <a:picLocks noChangeAspect="1"/>
            </p:cNvPicPr>
            <p:nvPr/>
          </p:nvPicPr>
          <p:blipFill>
            <a:blip r:embed="rId7"/>
            <a:stretch>
              <a:fillRect/>
            </a:stretch>
          </p:blipFill>
          <p:spPr>
            <a:xfrm>
              <a:off x="9191230" y="377072"/>
              <a:ext cx="2761381" cy="6480928"/>
            </a:xfrm>
            <a:prstGeom prst="rect">
              <a:avLst/>
            </a:prstGeom>
          </p:spPr>
        </p:pic>
        <p:sp>
          <p:nvSpPr>
            <p:cNvPr id="11" name="Rectangle 10">
              <a:extLst>
                <a:ext uri="{FF2B5EF4-FFF2-40B4-BE49-F238E27FC236}">
                  <a16:creationId xmlns:a16="http://schemas.microsoft.com/office/drawing/2014/main" id="{99963B33-D71C-DE44-88F0-BCD4320B89F9}"/>
                </a:ext>
              </a:extLst>
            </p:cNvPr>
            <p:cNvSpPr/>
            <p:nvPr/>
          </p:nvSpPr>
          <p:spPr>
            <a:xfrm>
              <a:off x="10457619" y="175846"/>
              <a:ext cx="364202" cy="369332"/>
            </a:xfrm>
            <a:prstGeom prst="rect">
              <a:avLst/>
            </a:prstGeom>
          </p:spPr>
          <p:txBody>
            <a:bodyPr wrap="none">
              <a:spAutoFit/>
            </a:bodyPr>
            <a:lstStyle/>
            <a:p>
              <a:r>
                <a:rPr lang="en-US" i="1" dirty="0">
                  <a:latin typeface="Times New Roman" panose="02020603050405020304" pitchFamily="18" charset="0"/>
                  <a:cs typeface="Times New Roman" panose="02020603050405020304" pitchFamily="18" charset="0"/>
                </a:rPr>
                <a:t>x</a:t>
              </a:r>
              <a:r>
                <a:rPr lang="en-US" i="1" baseline="-25000" dirty="0">
                  <a:latin typeface="Times New Roman" panose="02020603050405020304" pitchFamily="18" charset="0"/>
                  <a:cs typeface="Times New Roman" panose="02020603050405020304" pitchFamily="18" charset="0"/>
                </a:rPr>
                <a:t>0</a:t>
              </a:r>
              <a:endParaRPr lang="en-US" dirty="0"/>
            </a:p>
          </p:txBody>
        </p:sp>
        <p:sp>
          <p:nvSpPr>
            <p:cNvPr id="12" name="Rectangle 11">
              <a:extLst>
                <a:ext uri="{FF2B5EF4-FFF2-40B4-BE49-F238E27FC236}">
                  <a16:creationId xmlns:a16="http://schemas.microsoft.com/office/drawing/2014/main" id="{D65D7255-1F73-104C-9EA6-F416C3FA572C}"/>
                </a:ext>
              </a:extLst>
            </p:cNvPr>
            <p:cNvSpPr/>
            <p:nvPr/>
          </p:nvSpPr>
          <p:spPr>
            <a:xfrm>
              <a:off x="10446133" y="1858593"/>
              <a:ext cx="364202" cy="369332"/>
            </a:xfrm>
            <a:prstGeom prst="rect">
              <a:avLst/>
            </a:prstGeom>
          </p:spPr>
          <p:txBody>
            <a:bodyPr wrap="none">
              <a:spAutoFit/>
            </a:bodyPr>
            <a:lstStyle/>
            <a:p>
              <a:r>
                <a:rPr lang="en-US" i="1" dirty="0">
                  <a:latin typeface="Times New Roman" panose="02020603050405020304" pitchFamily="18" charset="0"/>
                  <a:cs typeface="Times New Roman" panose="02020603050405020304" pitchFamily="18" charset="0"/>
                </a:rPr>
                <a:t>x</a:t>
              </a:r>
              <a:r>
                <a:rPr lang="en-US" i="1" baseline="-25000" dirty="0">
                  <a:latin typeface="Times New Roman" panose="02020603050405020304" pitchFamily="18" charset="0"/>
                  <a:cs typeface="Times New Roman" panose="02020603050405020304" pitchFamily="18" charset="0"/>
                </a:rPr>
                <a:t>0</a:t>
              </a:r>
              <a:endParaRPr lang="en-US" dirty="0"/>
            </a:p>
          </p:txBody>
        </p:sp>
        <p:sp>
          <p:nvSpPr>
            <p:cNvPr id="13" name="Rectangle 12">
              <a:extLst>
                <a:ext uri="{FF2B5EF4-FFF2-40B4-BE49-F238E27FC236}">
                  <a16:creationId xmlns:a16="http://schemas.microsoft.com/office/drawing/2014/main" id="{F9ADACB4-F527-8C44-9814-B0359A05BC63}"/>
                </a:ext>
              </a:extLst>
            </p:cNvPr>
            <p:cNvSpPr/>
            <p:nvPr/>
          </p:nvSpPr>
          <p:spPr>
            <a:xfrm>
              <a:off x="10443190" y="3524780"/>
              <a:ext cx="364202" cy="369332"/>
            </a:xfrm>
            <a:prstGeom prst="rect">
              <a:avLst/>
            </a:prstGeom>
          </p:spPr>
          <p:txBody>
            <a:bodyPr wrap="none">
              <a:spAutoFit/>
            </a:bodyPr>
            <a:lstStyle/>
            <a:p>
              <a:r>
                <a:rPr lang="en-US" i="1" dirty="0">
                  <a:latin typeface="Times New Roman" panose="02020603050405020304" pitchFamily="18" charset="0"/>
                  <a:cs typeface="Times New Roman" panose="02020603050405020304" pitchFamily="18" charset="0"/>
                </a:rPr>
                <a:t>x</a:t>
              </a:r>
              <a:r>
                <a:rPr lang="en-US" i="1" baseline="-25000" dirty="0">
                  <a:latin typeface="Times New Roman" panose="02020603050405020304" pitchFamily="18" charset="0"/>
                  <a:cs typeface="Times New Roman" panose="02020603050405020304" pitchFamily="18" charset="0"/>
                </a:rPr>
                <a:t>0</a:t>
              </a:r>
              <a:endParaRPr lang="en-US" dirty="0"/>
            </a:p>
          </p:txBody>
        </p:sp>
        <p:sp>
          <p:nvSpPr>
            <p:cNvPr id="14" name="Rectangle 13">
              <a:extLst>
                <a:ext uri="{FF2B5EF4-FFF2-40B4-BE49-F238E27FC236}">
                  <a16:creationId xmlns:a16="http://schemas.microsoft.com/office/drawing/2014/main" id="{BF23F783-39BA-F54B-8E01-71AA06B9AC34}"/>
                </a:ext>
              </a:extLst>
            </p:cNvPr>
            <p:cNvSpPr/>
            <p:nvPr/>
          </p:nvSpPr>
          <p:spPr>
            <a:xfrm>
              <a:off x="10443190" y="5190967"/>
              <a:ext cx="364202" cy="369332"/>
            </a:xfrm>
            <a:prstGeom prst="rect">
              <a:avLst/>
            </a:prstGeom>
          </p:spPr>
          <p:txBody>
            <a:bodyPr wrap="none">
              <a:spAutoFit/>
            </a:bodyPr>
            <a:lstStyle/>
            <a:p>
              <a:r>
                <a:rPr lang="en-US" i="1" dirty="0">
                  <a:latin typeface="Times New Roman" panose="02020603050405020304" pitchFamily="18" charset="0"/>
                  <a:cs typeface="Times New Roman" panose="02020603050405020304" pitchFamily="18" charset="0"/>
                </a:rPr>
                <a:t>x</a:t>
              </a:r>
              <a:r>
                <a:rPr lang="en-US" i="1" baseline="-25000" dirty="0">
                  <a:latin typeface="Times New Roman" panose="02020603050405020304" pitchFamily="18" charset="0"/>
                  <a:cs typeface="Times New Roman" panose="02020603050405020304" pitchFamily="18" charset="0"/>
                </a:rPr>
                <a:t>0</a:t>
              </a:r>
              <a:endParaRPr lang="en-US" dirty="0"/>
            </a:p>
          </p:txBody>
        </p:sp>
        <p:pic>
          <p:nvPicPr>
            <p:cNvPr id="15" name="Picture 14">
              <a:extLst>
                <a:ext uri="{FF2B5EF4-FFF2-40B4-BE49-F238E27FC236}">
                  <a16:creationId xmlns:a16="http://schemas.microsoft.com/office/drawing/2014/main" id="{5BD0C0FA-963E-CF49-85A0-E1A7906F7AD9}"/>
                </a:ext>
              </a:extLst>
            </p:cNvPr>
            <p:cNvPicPr>
              <a:picLocks noChangeAspect="1"/>
            </p:cNvPicPr>
            <p:nvPr/>
          </p:nvPicPr>
          <p:blipFill>
            <a:blip r:embed="rId8"/>
            <a:stretch>
              <a:fillRect/>
            </a:stretch>
          </p:blipFill>
          <p:spPr>
            <a:xfrm>
              <a:off x="10548778" y="1591087"/>
              <a:ext cx="163123" cy="302942"/>
            </a:xfrm>
            <a:prstGeom prst="rect">
              <a:avLst/>
            </a:prstGeom>
          </p:spPr>
        </p:pic>
        <p:pic>
          <p:nvPicPr>
            <p:cNvPr id="16" name="Picture 15">
              <a:extLst>
                <a:ext uri="{FF2B5EF4-FFF2-40B4-BE49-F238E27FC236}">
                  <a16:creationId xmlns:a16="http://schemas.microsoft.com/office/drawing/2014/main" id="{AB111C39-F02F-0B4D-8A8B-5DEAE0CCD2F3}"/>
                </a:ext>
              </a:extLst>
            </p:cNvPr>
            <p:cNvPicPr>
              <a:picLocks noChangeAspect="1"/>
            </p:cNvPicPr>
            <p:nvPr/>
          </p:nvPicPr>
          <p:blipFill>
            <a:blip r:embed="rId8"/>
            <a:stretch>
              <a:fillRect/>
            </a:stretch>
          </p:blipFill>
          <p:spPr>
            <a:xfrm>
              <a:off x="10548778" y="3273834"/>
              <a:ext cx="167102" cy="310332"/>
            </a:xfrm>
            <a:prstGeom prst="rect">
              <a:avLst/>
            </a:prstGeom>
          </p:spPr>
        </p:pic>
        <p:pic>
          <p:nvPicPr>
            <p:cNvPr id="17" name="Picture 16">
              <a:extLst>
                <a:ext uri="{FF2B5EF4-FFF2-40B4-BE49-F238E27FC236}">
                  <a16:creationId xmlns:a16="http://schemas.microsoft.com/office/drawing/2014/main" id="{007659B1-CF48-D947-BAEE-2A1FCA0AC8A3}"/>
                </a:ext>
              </a:extLst>
            </p:cNvPr>
            <p:cNvPicPr>
              <a:picLocks noChangeAspect="1"/>
            </p:cNvPicPr>
            <p:nvPr/>
          </p:nvPicPr>
          <p:blipFill>
            <a:blip r:embed="rId8"/>
            <a:stretch>
              <a:fillRect/>
            </a:stretch>
          </p:blipFill>
          <p:spPr>
            <a:xfrm>
              <a:off x="10551984" y="4947552"/>
              <a:ext cx="163896" cy="304379"/>
            </a:xfrm>
            <a:prstGeom prst="rect">
              <a:avLst/>
            </a:prstGeom>
          </p:spPr>
        </p:pic>
        <p:pic>
          <p:nvPicPr>
            <p:cNvPr id="18" name="Picture 17">
              <a:extLst>
                <a:ext uri="{FF2B5EF4-FFF2-40B4-BE49-F238E27FC236}">
                  <a16:creationId xmlns:a16="http://schemas.microsoft.com/office/drawing/2014/main" id="{6E0DD153-8895-3B4D-A329-CAE096901813}"/>
                </a:ext>
              </a:extLst>
            </p:cNvPr>
            <p:cNvPicPr>
              <a:picLocks noChangeAspect="1"/>
            </p:cNvPicPr>
            <p:nvPr/>
          </p:nvPicPr>
          <p:blipFill>
            <a:blip r:embed="rId8"/>
            <a:stretch>
              <a:fillRect/>
            </a:stretch>
          </p:blipFill>
          <p:spPr>
            <a:xfrm>
              <a:off x="10543729" y="6570976"/>
              <a:ext cx="163123" cy="302942"/>
            </a:xfrm>
            <a:prstGeom prst="rect">
              <a:avLst/>
            </a:prstGeom>
          </p:spPr>
        </p:pic>
      </p:grpSp>
    </p:spTree>
    <p:extLst>
      <p:ext uri="{BB962C8B-B14F-4D97-AF65-F5344CB8AC3E}">
        <p14:creationId xmlns:p14="http://schemas.microsoft.com/office/powerpoint/2010/main" val="231684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3130601" cy="369332"/>
          </a:xfrm>
          <a:prstGeom prst="rect">
            <a:avLst/>
          </a:prstGeom>
          <a:noFill/>
        </p:spPr>
        <p:txBody>
          <a:bodyPr wrap="none" rtlCol="0">
            <a:spAutoFit/>
          </a:bodyPr>
          <a:lstStyle/>
          <a:p>
            <a:r>
              <a:rPr lang="en-US" u="sng" dirty="0"/>
              <a:t>The </a:t>
            </a:r>
            <a:r>
              <a:rPr lang="en-US" u="sng" dirty="0" err="1"/>
              <a:t>Neyman</a:t>
            </a:r>
            <a:r>
              <a:rPr lang="en-US" u="sng" dirty="0"/>
              <a:t>-Pearson paradigm</a:t>
            </a:r>
          </a:p>
        </p:txBody>
      </p:sp>
      <p:sp>
        <p:nvSpPr>
          <p:cNvPr id="3" name="TextBox 2">
            <a:extLst>
              <a:ext uri="{FF2B5EF4-FFF2-40B4-BE49-F238E27FC236}">
                <a16:creationId xmlns:a16="http://schemas.microsoft.com/office/drawing/2014/main" id="{AC29E814-90D3-6345-A011-A9617127AC24}"/>
              </a:ext>
            </a:extLst>
          </p:cNvPr>
          <p:cNvSpPr txBox="1"/>
          <p:nvPr/>
        </p:nvSpPr>
        <p:spPr>
          <a:xfrm>
            <a:off x="765253" y="1079851"/>
            <a:ext cx="9267409" cy="923330"/>
          </a:xfrm>
          <a:prstGeom prst="rect">
            <a:avLst/>
          </a:prstGeom>
          <a:noFill/>
        </p:spPr>
        <p:txBody>
          <a:bodyPr wrap="none" rtlCol="0">
            <a:spAutoFit/>
          </a:bodyPr>
          <a:lstStyle/>
          <a:p>
            <a:r>
              <a:rPr lang="en-US" dirty="0"/>
              <a:t>Ex: </a:t>
            </a:r>
          </a:p>
          <a:p>
            <a:endParaRPr lang="en-US" dirty="0"/>
          </a:p>
          <a:p>
            <a:r>
              <a:rPr lang="en-US" dirty="0"/>
              <a:t>	You got a single coin. You want to know if it is a fair coin. What are you testing against? </a:t>
            </a:r>
          </a:p>
        </p:txBody>
      </p:sp>
      <p:sp>
        <p:nvSpPr>
          <p:cNvPr id="4" name="TextBox 3">
            <a:extLst>
              <a:ext uri="{FF2B5EF4-FFF2-40B4-BE49-F238E27FC236}">
                <a16:creationId xmlns:a16="http://schemas.microsoft.com/office/drawing/2014/main" id="{D878ECD1-4E6A-0B4F-9D9C-2791B28E9FA9}"/>
              </a:ext>
            </a:extLst>
          </p:cNvPr>
          <p:cNvSpPr txBox="1"/>
          <p:nvPr/>
        </p:nvSpPr>
        <p:spPr>
          <a:xfrm>
            <a:off x="2543512" y="2513333"/>
            <a:ext cx="1168910"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p=0.85</a:t>
            </a:r>
          </a:p>
        </p:txBody>
      </p:sp>
      <p:sp>
        <p:nvSpPr>
          <p:cNvPr id="5" name="TextBox 4">
            <a:extLst>
              <a:ext uri="{FF2B5EF4-FFF2-40B4-BE49-F238E27FC236}">
                <a16:creationId xmlns:a16="http://schemas.microsoft.com/office/drawing/2014/main" id="{5E3354C3-F0B2-7F42-9386-8C9F649F35C3}"/>
              </a:ext>
            </a:extLst>
          </p:cNvPr>
          <p:cNvSpPr txBox="1"/>
          <p:nvPr/>
        </p:nvSpPr>
        <p:spPr>
          <a:xfrm>
            <a:off x="597877" y="2625969"/>
            <a:ext cx="1090363"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p=0.6</a:t>
            </a:r>
          </a:p>
        </p:txBody>
      </p:sp>
      <p:sp>
        <p:nvSpPr>
          <p:cNvPr id="6" name="TextBox 5">
            <a:extLst>
              <a:ext uri="{FF2B5EF4-FFF2-40B4-BE49-F238E27FC236}">
                <a16:creationId xmlns:a16="http://schemas.microsoft.com/office/drawing/2014/main" id="{451A5335-D1B8-994E-B437-46935BBAB4FC}"/>
              </a:ext>
            </a:extLst>
          </p:cNvPr>
          <p:cNvSpPr txBox="1"/>
          <p:nvPr/>
        </p:nvSpPr>
        <p:spPr>
          <a:xfrm>
            <a:off x="1688240" y="4060539"/>
            <a:ext cx="1168910"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p=0.43</a:t>
            </a:r>
          </a:p>
        </p:txBody>
      </p:sp>
      <p:sp>
        <p:nvSpPr>
          <p:cNvPr id="7" name="TextBox 6">
            <a:extLst>
              <a:ext uri="{FF2B5EF4-FFF2-40B4-BE49-F238E27FC236}">
                <a16:creationId xmlns:a16="http://schemas.microsoft.com/office/drawing/2014/main" id="{63CDB4CE-1422-D44B-8B86-B650AF00C59C}"/>
              </a:ext>
            </a:extLst>
          </p:cNvPr>
          <p:cNvSpPr txBox="1"/>
          <p:nvPr/>
        </p:nvSpPr>
        <p:spPr>
          <a:xfrm>
            <a:off x="3865218" y="3272300"/>
            <a:ext cx="1285929"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p=0.211</a:t>
            </a:r>
          </a:p>
        </p:txBody>
      </p:sp>
      <p:sp>
        <p:nvSpPr>
          <p:cNvPr id="8" name="TextBox 7">
            <a:extLst>
              <a:ext uri="{FF2B5EF4-FFF2-40B4-BE49-F238E27FC236}">
                <a16:creationId xmlns:a16="http://schemas.microsoft.com/office/drawing/2014/main" id="{2CC25CD8-7712-9E46-B187-03B63D063EFD}"/>
              </a:ext>
            </a:extLst>
          </p:cNvPr>
          <p:cNvSpPr txBox="1"/>
          <p:nvPr/>
        </p:nvSpPr>
        <p:spPr>
          <a:xfrm>
            <a:off x="3527933" y="4697105"/>
            <a:ext cx="1871025"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p=0.31415926</a:t>
            </a:r>
          </a:p>
        </p:txBody>
      </p:sp>
      <p:sp>
        <p:nvSpPr>
          <p:cNvPr id="9" name="TextBox 8">
            <a:extLst>
              <a:ext uri="{FF2B5EF4-FFF2-40B4-BE49-F238E27FC236}">
                <a16:creationId xmlns:a16="http://schemas.microsoft.com/office/drawing/2014/main" id="{816BF599-A483-914B-8E7C-5B28F9AC1E8F}"/>
              </a:ext>
            </a:extLst>
          </p:cNvPr>
          <p:cNvSpPr txBox="1"/>
          <p:nvPr/>
        </p:nvSpPr>
        <p:spPr>
          <a:xfrm>
            <a:off x="5978769" y="2347628"/>
            <a:ext cx="1090363"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p=1.0</a:t>
            </a:r>
          </a:p>
        </p:txBody>
      </p:sp>
      <p:sp>
        <p:nvSpPr>
          <p:cNvPr id="10" name="TextBox 9">
            <a:extLst>
              <a:ext uri="{FF2B5EF4-FFF2-40B4-BE49-F238E27FC236}">
                <a16:creationId xmlns:a16="http://schemas.microsoft.com/office/drawing/2014/main" id="{79597B00-27AA-6E43-BD60-CA3DE4A0396C}"/>
              </a:ext>
            </a:extLst>
          </p:cNvPr>
          <p:cNvSpPr txBox="1"/>
          <p:nvPr/>
        </p:nvSpPr>
        <p:spPr>
          <a:xfrm>
            <a:off x="5398958" y="4060538"/>
            <a:ext cx="1636987" cy="646331"/>
          </a:xfrm>
          <a:prstGeom prst="rect">
            <a:avLst/>
          </a:prstGeom>
          <a:noFill/>
        </p:spPr>
        <p:txBody>
          <a:bodyPr wrap="none" rtlCol="0">
            <a:spAutoFit/>
          </a:bodyPr>
          <a:lstStyle/>
          <a:p>
            <a:r>
              <a:rPr lang="en-US" dirty="0"/>
              <a:t>H</a:t>
            </a:r>
            <a:r>
              <a:rPr lang="en-US" baseline="-25000" dirty="0"/>
              <a:t>0</a:t>
            </a:r>
            <a:r>
              <a:rPr lang="en-US" dirty="0"/>
              <a:t>: p=0.5</a:t>
            </a:r>
          </a:p>
          <a:p>
            <a:r>
              <a:rPr lang="en-US" dirty="0"/>
              <a:t>H</a:t>
            </a:r>
            <a:r>
              <a:rPr lang="en-US" baseline="-25000" dirty="0"/>
              <a:t>1</a:t>
            </a:r>
            <a:r>
              <a:rPr lang="en-US" dirty="0"/>
              <a:t>: p=0.688889</a:t>
            </a:r>
          </a:p>
        </p:txBody>
      </p:sp>
      <p:sp>
        <p:nvSpPr>
          <p:cNvPr id="11" name="Oval 10">
            <a:extLst>
              <a:ext uri="{FF2B5EF4-FFF2-40B4-BE49-F238E27FC236}">
                <a16:creationId xmlns:a16="http://schemas.microsoft.com/office/drawing/2014/main" id="{3B94D6E4-8B4E-4644-9FAA-37964DB797A3}"/>
              </a:ext>
            </a:extLst>
          </p:cNvPr>
          <p:cNvSpPr/>
          <p:nvPr/>
        </p:nvSpPr>
        <p:spPr>
          <a:xfrm>
            <a:off x="7737231" y="3918631"/>
            <a:ext cx="140677" cy="1419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EA88D37-32BA-524F-B392-BEF2EC51E9FB}"/>
              </a:ext>
            </a:extLst>
          </p:cNvPr>
          <p:cNvSpPr/>
          <p:nvPr/>
        </p:nvSpPr>
        <p:spPr>
          <a:xfrm>
            <a:off x="8053754" y="3918631"/>
            <a:ext cx="140677" cy="1419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6325C18-DB20-AB41-BBC5-C083BCA315CD}"/>
              </a:ext>
            </a:extLst>
          </p:cNvPr>
          <p:cNvSpPr/>
          <p:nvPr/>
        </p:nvSpPr>
        <p:spPr>
          <a:xfrm>
            <a:off x="8370277" y="3918631"/>
            <a:ext cx="140677" cy="145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66117AA-3692-5F43-966F-990B4FE74D78}"/>
              </a:ext>
            </a:extLst>
          </p:cNvPr>
          <p:cNvSpPr/>
          <p:nvPr/>
        </p:nvSpPr>
        <p:spPr>
          <a:xfrm>
            <a:off x="8944708" y="3918631"/>
            <a:ext cx="140677" cy="1419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6FD077-94EE-7846-BE58-A30D2EB1DF82}"/>
              </a:ext>
            </a:extLst>
          </p:cNvPr>
          <p:cNvSpPr/>
          <p:nvPr/>
        </p:nvSpPr>
        <p:spPr>
          <a:xfrm>
            <a:off x="9261231" y="3918631"/>
            <a:ext cx="140677" cy="1419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80308B0-CDD4-FC49-896A-D21524B006BA}"/>
              </a:ext>
            </a:extLst>
          </p:cNvPr>
          <p:cNvSpPr/>
          <p:nvPr/>
        </p:nvSpPr>
        <p:spPr>
          <a:xfrm>
            <a:off x="9577754" y="3918631"/>
            <a:ext cx="140677" cy="145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5A4AE37-6AC1-4C45-A630-176A72353E01}"/>
              </a:ext>
            </a:extLst>
          </p:cNvPr>
          <p:cNvSpPr txBox="1"/>
          <p:nvPr/>
        </p:nvSpPr>
        <p:spPr>
          <a:xfrm>
            <a:off x="1776315" y="5595529"/>
            <a:ext cx="1534394" cy="954107"/>
          </a:xfrm>
          <a:prstGeom prst="rect">
            <a:avLst/>
          </a:prstGeom>
          <a:noFill/>
        </p:spPr>
        <p:txBody>
          <a:bodyPr wrap="none" rtlCol="0">
            <a:spAutoFit/>
          </a:bodyPr>
          <a:lstStyle/>
          <a:p>
            <a:r>
              <a:rPr lang="en-US" sz="2800" dirty="0">
                <a:solidFill>
                  <a:schemeClr val="accent5">
                    <a:lumMod val="75000"/>
                  </a:schemeClr>
                </a:solidFill>
              </a:rPr>
              <a:t>H</a:t>
            </a:r>
            <a:r>
              <a:rPr lang="en-US" sz="2800" baseline="-25000" dirty="0">
                <a:solidFill>
                  <a:schemeClr val="accent5">
                    <a:lumMod val="75000"/>
                  </a:schemeClr>
                </a:solidFill>
              </a:rPr>
              <a:t>0</a:t>
            </a:r>
            <a:r>
              <a:rPr lang="en-US" sz="2800" dirty="0">
                <a:solidFill>
                  <a:schemeClr val="accent5">
                    <a:lumMod val="75000"/>
                  </a:schemeClr>
                </a:solidFill>
              </a:rPr>
              <a:t>: p=0.5</a:t>
            </a:r>
          </a:p>
          <a:p>
            <a:r>
              <a:rPr lang="en-US" sz="2800" dirty="0">
                <a:solidFill>
                  <a:schemeClr val="accent5">
                    <a:lumMod val="75000"/>
                  </a:schemeClr>
                </a:solidFill>
              </a:rPr>
              <a:t>H</a:t>
            </a:r>
            <a:r>
              <a:rPr lang="en-US" sz="2800" baseline="-25000" dirty="0">
                <a:solidFill>
                  <a:schemeClr val="accent5">
                    <a:lumMod val="75000"/>
                  </a:schemeClr>
                </a:solidFill>
              </a:rPr>
              <a:t>1</a:t>
            </a:r>
            <a:r>
              <a:rPr lang="en-US" sz="2800" dirty="0">
                <a:solidFill>
                  <a:schemeClr val="accent5">
                    <a:lumMod val="75000"/>
                  </a:schemeClr>
                </a:solidFill>
              </a:rPr>
              <a:t>: p≠0.5</a:t>
            </a:r>
          </a:p>
        </p:txBody>
      </p:sp>
      <p:sp>
        <p:nvSpPr>
          <p:cNvPr id="18" name="TextBox 17">
            <a:extLst>
              <a:ext uri="{FF2B5EF4-FFF2-40B4-BE49-F238E27FC236}">
                <a16:creationId xmlns:a16="http://schemas.microsoft.com/office/drawing/2014/main" id="{04C91295-7A93-124B-8AD1-7FC202AA3ADA}"/>
              </a:ext>
            </a:extLst>
          </p:cNvPr>
          <p:cNvSpPr txBox="1"/>
          <p:nvPr/>
        </p:nvSpPr>
        <p:spPr>
          <a:xfrm>
            <a:off x="4767234" y="5621243"/>
            <a:ext cx="3110674" cy="830997"/>
          </a:xfrm>
          <a:prstGeom prst="rect">
            <a:avLst/>
          </a:prstGeom>
          <a:noFill/>
        </p:spPr>
        <p:txBody>
          <a:bodyPr wrap="square" rtlCol="0">
            <a:spAutoFit/>
          </a:bodyPr>
          <a:lstStyle/>
          <a:p>
            <a:r>
              <a:rPr lang="en-US" sz="2400" dirty="0">
                <a:solidFill>
                  <a:schemeClr val="accent5">
                    <a:lumMod val="75000"/>
                  </a:schemeClr>
                </a:solidFill>
              </a:rPr>
              <a:t>A composite alternative hypothesis</a:t>
            </a:r>
          </a:p>
        </p:txBody>
      </p:sp>
      <p:sp>
        <p:nvSpPr>
          <p:cNvPr id="20" name="TextBox 19">
            <a:extLst>
              <a:ext uri="{FF2B5EF4-FFF2-40B4-BE49-F238E27FC236}">
                <a16:creationId xmlns:a16="http://schemas.microsoft.com/office/drawing/2014/main" id="{B6C7AAB8-DCCC-3943-AA9D-106F6499336C}"/>
              </a:ext>
            </a:extLst>
          </p:cNvPr>
          <p:cNvSpPr txBox="1"/>
          <p:nvPr/>
        </p:nvSpPr>
        <p:spPr>
          <a:xfrm>
            <a:off x="8944708" y="5391412"/>
            <a:ext cx="3110674" cy="1200329"/>
          </a:xfrm>
          <a:prstGeom prst="rect">
            <a:avLst/>
          </a:prstGeom>
          <a:noFill/>
        </p:spPr>
        <p:txBody>
          <a:bodyPr wrap="square" rtlCol="0">
            <a:spAutoFit/>
          </a:bodyPr>
          <a:lstStyle/>
          <a:p>
            <a:r>
              <a:rPr lang="en-US" sz="2400" dirty="0">
                <a:solidFill>
                  <a:schemeClr val="accent5">
                    <a:lumMod val="75000"/>
                  </a:schemeClr>
                </a:solidFill>
              </a:rPr>
              <a:t>No distribution function under the alternative hypothesis</a:t>
            </a:r>
          </a:p>
        </p:txBody>
      </p:sp>
      <p:sp>
        <p:nvSpPr>
          <p:cNvPr id="21" name="Right Arrow 20">
            <a:extLst>
              <a:ext uri="{FF2B5EF4-FFF2-40B4-BE49-F238E27FC236}">
                <a16:creationId xmlns:a16="http://schemas.microsoft.com/office/drawing/2014/main" id="{D8025E59-95FA-6D45-B24D-7654E82723E5}"/>
              </a:ext>
            </a:extLst>
          </p:cNvPr>
          <p:cNvSpPr/>
          <p:nvPr/>
        </p:nvSpPr>
        <p:spPr>
          <a:xfrm>
            <a:off x="7988438" y="5892600"/>
            <a:ext cx="600389" cy="1979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674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animBg="1"/>
      <p:bldP spid="12" grpId="0" animBg="1"/>
      <p:bldP spid="13" grpId="0" animBg="1"/>
      <p:bldP spid="14" grpId="0" animBg="1"/>
      <p:bldP spid="15" grpId="0" animBg="1"/>
      <p:bldP spid="16" grpId="0" animBg="1"/>
      <p:bldP spid="17" grpId="0"/>
      <p:bldP spid="18" grpId="0"/>
      <p:bldP spid="20" grpId="0"/>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3130601" cy="369332"/>
          </a:xfrm>
          <a:prstGeom prst="rect">
            <a:avLst/>
          </a:prstGeom>
          <a:noFill/>
        </p:spPr>
        <p:txBody>
          <a:bodyPr wrap="none" rtlCol="0">
            <a:spAutoFit/>
          </a:bodyPr>
          <a:lstStyle/>
          <a:p>
            <a:r>
              <a:rPr lang="en-US" u="sng" dirty="0"/>
              <a:t>The </a:t>
            </a:r>
            <a:r>
              <a:rPr lang="en-US" u="sng" dirty="0" err="1"/>
              <a:t>Neyman</a:t>
            </a:r>
            <a:r>
              <a:rPr lang="en-US" u="sng" dirty="0"/>
              <a:t>-Pearson paradigm</a:t>
            </a:r>
          </a:p>
        </p:txBody>
      </p:sp>
      <p:sp>
        <p:nvSpPr>
          <p:cNvPr id="3" name="TextBox 2">
            <a:extLst>
              <a:ext uri="{FF2B5EF4-FFF2-40B4-BE49-F238E27FC236}">
                <a16:creationId xmlns:a16="http://schemas.microsoft.com/office/drawing/2014/main" id="{AC29E814-90D3-6345-A011-A9617127AC24}"/>
              </a:ext>
            </a:extLst>
          </p:cNvPr>
          <p:cNvSpPr txBox="1"/>
          <p:nvPr/>
        </p:nvSpPr>
        <p:spPr>
          <a:xfrm>
            <a:off x="765253" y="1079851"/>
            <a:ext cx="11021363" cy="1754326"/>
          </a:xfrm>
          <a:prstGeom prst="rect">
            <a:avLst/>
          </a:prstGeom>
          <a:noFill/>
        </p:spPr>
        <p:txBody>
          <a:bodyPr wrap="square" rtlCol="0">
            <a:spAutoFit/>
          </a:bodyPr>
          <a:lstStyle/>
          <a:p>
            <a:r>
              <a:rPr lang="en-US" dirty="0"/>
              <a:t>Ex: </a:t>
            </a:r>
          </a:p>
          <a:p>
            <a:endParaRPr lang="en-US" dirty="0"/>
          </a:p>
          <a:p>
            <a:r>
              <a:rPr lang="en-US" dirty="0"/>
              <a:t>	American</a:t>
            </a:r>
            <a:r>
              <a:rPr lang="zh-CN" altLang="en-US" dirty="0"/>
              <a:t> </a:t>
            </a:r>
            <a:r>
              <a:rPr lang="en-US" altLang="zh-CN" dirty="0"/>
              <a:t>cats weigh 10 pounds on average. You want to know if Chinese cats have the same mean weight. You gathered 20 cats and measured their weights. </a:t>
            </a:r>
          </a:p>
          <a:p>
            <a:endParaRPr lang="en-US" altLang="zh-CN" dirty="0"/>
          </a:p>
          <a:p>
            <a:r>
              <a:rPr lang="en-US" altLang="zh-CN" dirty="0"/>
              <a:t>(Let’s ignore the variance for now)</a:t>
            </a:r>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CEEA974-49AF-8F41-AFA2-C5531BD8AB06}"/>
                  </a:ext>
                </a:extLst>
              </p:cNvPr>
              <p:cNvSpPr txBox="1"/>
              <p:nvPr/>
            </p:nvSpPr>
            <p:spPr>
              <a:xfrm>
                <a:off x="1402125" y="3839834"/>
                <a:ext cx="1548501" cy="830997"/>
              </a:xfrm>
              <a:prstGeom prst="rect">
                <a:avLst/>
              </a:prstGeom>
              <a:noFill/>
            </p:spPr>
            <p:txBody>
              <a:bodyPr wrap="none" rtlCol="0">
                <a:spAutoFit/>
              </a:bodyPr>
              <a:lstStyle/>
              <a:p>
                <a:r>
                  <a:rPr lang="en-US" sz="2400" dirty="0">
                    <a:solidFill>
                      <a:schemeClr val="accent5">
                        <a:lumMod val="75000"/>
                      </a:schemeClr>
                    </a:solidFill>
                  </a:rPr>
                  <a:t>H</a:t>
                </a:r>
                <a:r>
                  <a:rPr lang="en-US" sz="2400" baseline="-25000" dirty="0">
                    <a:solidFill>
                      <a:schemeClr val="accent5">
                        <a:lumMod val="75000"/>
                      </a:schemeClr>
                    </a:solidFill>
                  </a:rPr>
                  <a:t>0</a:t>
                </a:r>
                <a:r>
                  <a:rPr lang="en-US" sz="2400" dirty="0">
                    <a:solidFill>
                      <a:schemeClr val="accent5">
                        <a:lumMod val="75000"/>
                      </a:schemeClr>
                    </a:solidFill>
                  </a:rPr>
                  <a:t>: </a:t>
                </a:r>
                <a14:m>
                  <m:oMath xmlns:m="http://schemas.openxmlformats.org/officeDocument/2006/math">
                    <m:r>
                      <a:rPr lang="en-US" sz="2400" i="1" dirty="0" smtClean="0">
                        <a:solidFill>
                          <a:schemeClr val="accent5">
                            <a:lumMod val="75000"/>
                          </a:schemeClr>
                        </a:solidFill>
                        <a:latin typeface="Cambria Math" panose="02040503050406030204" pitchFamily="18" charset="0"/>
                        <a:ea typeface="Cambria Math" panose="02040503050406030204" pitchFamily="18" charset="0"/>
                      </a:rPr>
                      <m:t>𝜇</m:t>
                    </m:r>
                    <m:r>
                      <a:rPr lang="en-US" sz="2400" b="0" i="1" dirty="0" smtClean="0">
                        <a:solidFill>
                          <a:schemeClr val="accent5">
                            <a:lumMod val="75000"/>
                          </a:schemeClr>
                        </a:solidFill>
                        <a:latin typeface="Cambria Math" panose="02040503050406030204" pitchFamily="18" charset="0"/>
                        <a:ea typeface="Cambria Math" panose="02040503050406030204" pitchFamily="18" charset="0"/>
                      </a:rPr>
                      <m:t>=10</m:t>
                    </m:r>
                  </m:oMath>
                </a14:m>
                <a:endParaRPr lang="en-US" sz="2400" dirty="0">
                  <a:solidFill>
                    <a:schemeClr val="accent5">
                      <a:lumMod val="75000"/>
                    </a:schemeClr>
                  </a:solidFill>
                </a:endParaRPr>
              </a:p>
              <a:p>
                <a:r>
                  <a:rPr lang="en-US" sz="2400" dirty="0">
                    <a:solidFill>
                      <a:schemeClr val="accent5">
                        <a:lumMod val="75000"/>
                      </a:schemeClr>
                    </a:solidFill>
                  </a:rPr>
                  <a:t>H</a:t>
                </a:r>
                <a:r>
                  <a:rPr lang="en-US" sz="2400" baseline="-25000" dirty="0">
                    <a:solidFill>
                      <a:schemeClr val="accent5">
                        <a:lumMod val="75000"/>
                      </a:schemeClr>
                    </a:solidFill>
                  </a:rPr>
                  <a:t>1</a:t>
                </a:r>
                <a:r>
                  <a:rPr lang="en-US" sz="2400" dirty="0">
                    <a:solidFill>
                      <a:schemeClr val="accent5">
                        <a:lumMod val="75000"/>
                      </a:schemeClr>
                    </a:solidFill>
                  </a:rPr>
                  <a:t>: </a:t>
                </a:r>
                <a14:m>
                  <m:oMath xmlns:m="http://schemas.openxmlformats.org/officeDocument/2006/math">
                    <m:r>
                      <a:rPr lang="en-US" sz="2400" i="1" dirty="0">
                        <a:solidFill>
                          <a:schemeClr val="accent5">
                            <a:lumMod val="75000"/>
                          </a:schemeClr>
                        </a:solidFill>
                        <a:latin typeface="Cambria Math" panose="02040503050406030204" pitchFamily="18" charset="0"/>
                        <a:ea typeface="Cambria Math" panose="02040503050406030204" pitchFamily="18" charset="0"/>
                      </a:rPr>
                      <m:t>𝜇</m:t>
                    </m:r>
                    <m:r>
                      <a:rPr lang="en-US" sz="2400" i="1" dirty="0" smtClean="0">
                        <a:solidFill>
                          <a:schemeClr val="accent5">
                            <a:lumMod val="75000"/>
                          </a:schemeClr>
                        </a:solidFill>
                        <a:latin typeface="Cambria Math" panose="02040503050406030204" pitchFamily="18" charset="0"/>
                        <a:ea typeface="Cambria Math" panose="02040503050406030204" pitchFamily="18" charset="0"/>
                      </a:rPr>
                      <m:t>≠</m:t>
                    </m:r>
                    <m:r>
                      <a:rPr lang="en-US" sz="2400" i="1" dirty="0">
                        <a:solidFill>
                          <a:schemeClr val="accent5">
                            <a:lumMod val="75000"/>
                          </a:schemeClr>
                        </a:solidFill>
                        <a:latin typeface="Cambria Math" panose="02040503050406030204" pitchFamily="18" charset="0"/>
                        <a:ea typeface="Cambria Math" panose="02040503050406030204" pitchFamily="18" charset="0"/>
                      </a:rPr>
                      <m:t>10</m:t>
                    </m:r>
                  </m:oMath>
                </a14:m>
                <a:endParaRPr lang="en-US" sz="2400" dirty="0">
                  <a:solidFill>
                    <a:schemeClr val="accent5">
                      <a:lumMod val="75000"/>
                    </a:schemeClr>
                  </a:solidFill>
                </a:endParaRPr>
              </a:p>
            </p:txBody>
          </p:sp>
        </mc:Choice>
        <mc:Fallback xmlns="">
          <p:sp>
            <p:nvSpPr>
              <p:cNvPr id="22" name="TextBox 21">
                <a:extLst>
                  <a:ext uri="{FF2B5EF4-FFF2-40B4-BE49-F238E27FC236}">
                    <a16:creationId xmlns:a16="http://schemas.microsoft.com/office/drawing/2014/main" id="{0CEEA974-49AF-8F41-AFA2-C5531BD8AB06}"/>
                  </a:ext>
                </a:extLst>
              </p:cNvPr>
              <p:cNvSpPr txBox="1">
                <a:spLocks noRot="1" noChangeAspect="1" noMove="1" noResize="1" noEditPoints="1" noAdjustHandles="1" noChangeArrowheads="1" noChangeShapeType="1" noTextEdit="1"/>
              </p:cNvSpPr>
              <p:nvPr/>
            </p:nvSpPr>
            <p:spPr>
              <a:xfrm>
                <a:off x="1402125" y="3839834"/>
                <a:ext cx="1548501" cy="830997"/>
              </a:xfrm>
              <a:prstGeom prst="rect">
                <a:avLst/>
              </a:prstGeom>
              <a:blipFill>
                <a:blip r:embed="rId2"/>
                <a:stretch>
                  <a:fillRect l="-6504" t="-4545" b="-15152"/>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F9252FBB-FC96-E845-ACE1-53EF5390DF65}"/>
              </a:ext>
            </a:extLst>
          </p:cNvPr>
          <p:cNvSpPr txBox="1"/>
          <p:nvPr/>
        </p:nvSpPr>
        <p:spPr>
          <a:xfrm>
            <a:off x="4017426" y="3839834"/>
            <a:ext cx="3110674" cy="830997"/>
          </a:xfrm>
          <a:prstGeom prst="rect">
            <a:avLst/>
          </a:prstGeom>
          <a:noFill/>
        </p:spPr>
        <p:txBody>
          <a:bodyPr wrap="square" rtlCol="0">
            <a:spAutoFit/>
          </a:bodyPr>
          <a:lstStyle/>
          <a:p>
            <a:r>
              <a:rPr lang="en-US" sz="2400" dirty="0">
                <a:solidFill>
                  <a:schemeClr val="accent5">
                    <a:lumMod val="75000"/>
                  </a:schemeClr>
                </a:solidFill>
              </a:rPr>
              <a:t>A composite alternative hypothesis</a:t>
            </a:r>
          </a:p>
        </p:txBody>
      </p:sp>
      <p:sp>
        <p:nvSpPr>
          <p:cNvPr id="25" name="TextBox 24">
            <a:extLst>
              <a:ext uri="{FF2B5EF4-FFF2-40B4-BE49-F238E27FC236}">
                <a16:creationId xmlns:a16="http://schemas.microsoft.com/office/drawing/2014/main" id="{186815E0-1091-0243-BBFC-9E1C53F468F3}"/>
              </a:ext>
            </a:extLst>
          </p:cNvPr>
          <p:cNvSpPr txBox="1"/>
          <p:nvPr/>
        </p:nvSpPr>
        <p:spPr>
          <a:xfrm>
            <a:off x="8194900" y="3610003"/>
            <a:ext cx="3110674" cy="1200329"/>
          </a:xfrm>
          <a:prstGeom prst="rect">
            <a:avLst/>
          </a:prstGeom>
          <a:noFill/>
        </p:spPr>
        <p:txBody>
          <a:bodyPr wrap="square" rtlCol="0">
            <a:spAutoFit/>
          </a:bodyPr>
          <a:lstStyle/>
          <a:p>
            <a:r>
              <a:rPr lang="en-US" sz="2400" dirty="0">
                <a:solidFill>
                  <a:schemeClr val="accent5">
                    <a:lumMod val="75000"/>
                  </a:schemeClr>
                </a:solidFill>
              </a:rPr>
              <a:t>No distribution function under the alternative hypothesis</a:t>
            </a:r>
          </a:p>
        </p:txBody>
      </p:sp>
      <p:sp>
        <p:nvSpPr>
          <p:cNvPr id="26" name="Right Arrow 25">
            <a:extLst>
              <a:ext uri="{FF2B5EF4-FFF2-40B4-BE49-F238E27FC236}">
                <a16:creationId xmlns:a16="http://schemas.microsoft.com/office/drawing/2014/main" id="{1F263B63-DB58-0F49-B582-4E4A8135DDD3}"/>
              </a:ext>
            </a:extLst>
          </p:cNvPr>
          <p:cNvSpPr/>
          <p:nvPr/>
        </p:nvSpPr>
        <p:spPr>
          <a:xfrm>
            <a:off x="7238630" y="4111191"/>
            <a:ext cx="600389" cy="1979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145F73C-4FEB-244C-A69B-764649729433}"/>
              </a:ext>
            </a:extLst>
          </p:cNvPr>
          <p:cNvSpPr txBox="1"/>
          <p:nvPr/>
        </p:nvSpPr>
        <p:spPr>
          <a:xfrm>
            <a:off x="8103460" y="5473931"/>
            <a:ext cx="3110674" cy="830997"/>
          </a:xfrm>
          <a:prstGeom prst="rect">
            <a:avLst/>
          </a:prstGeom>
          <a:noFill/>
        </p:spPr>
        <p:txBody>
          <a:bodyPr wrap="square" rtlCol="0">
            <a:spAutoFit/>
          </a:bodyPr>
          <a:lstStyle/>
          <a:p>
            <a:r>
              <a:rPr lang="en-US" sz="2400" dirty="0">
                <a:solidFill>
                  <a:schemeClr val="accent5">
                    <a:lumMod val="75000"/>
                  </a:schemeClr>
                </a:solidFill>
              </a:rPr>
              <a:t>No likelihood </a:t>
            </a:r>
          </a:p>
          <a:p>
            <a:r>
              <a:rPr lang="en-US" sz="2400" dirty="0">
                <a:solidFill>
                  <a:schemeClr val="accent5">
                    <a:lumMod val="75000"/>
                  </a:schemeClr>
                </a:solidFill>
              </a:rPr>
              <a:t>ratio</a:t>
            </a: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855D4847-40CA-F549-85EE-9943B26E46A5}"/>
                  </a:ext>
                </a:extLst>
              </p:cNvPr>
              <p:cNvSpPr/>
              <p:nvPr/>
            </p:nvSpPr>
            <p:spPr>
              <a:xfrm>
                <a:off x="10201814" y="5458766"/>
                <a:ext cx="1794658" cy="8613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chemeClr val="accent5">
                                  <a:lumMod val="75000"/>
                                </a:schemeClr>
                              </a:solidFill>
                              <a:latin typeface="Cambria Math" panose="02040503050406030204" pitchFamily="18" charset="0"/>
                            </a:rPr>
                          </m:ctrlPr>
                        </m:fPr>
                        <m:num>
                          <m:r>
                            <a:rPr lang="en-US" sz="2400" b="0" i="1" smtClean="0">
                              <a:solidFill>
                                <a:schemeClr val="accent5">
                                  <a:lumMod val="75000"/>
                                </a:schemeClr>
                              </a:solidFill>
                              <a:latin typeface="Cambria Math" panose="02040503050406030204" pitchFamily="18" charset="0"/>
                            </a:rPr>
                            <m:t>𝑓</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𝑑𝑎𝑡𝑎</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𝐻</m:t>
                          </m:r>
                          <m:r>
                            <a:rPr lang="en-US" sz="2400" b="0" i="1" baseline="-25000" smtClean="0">
                              <a:solidFill>
                                <a:schemeClr val="accent5">
                                  <a:lumMod val="75000"/>
                                </a:schemeClr>
                              </a:solidFill>
                              <a:latin typeface="Cambria Math" panose="02040503050406030204" pitchFamily="18" charset="0"/>
                            </a:rPr>
                            <m:t>0</m:t>
                          </m:r>
                          <m:r>
                            <a:rPr lang="en-US" sz="2400" i="1">
                              <a:solidFill>
                                <a:schemeClr val="accent5">
                                  <a:lumMod val="75000"/>
                                </a:schemeClr>
                              </a:solidFill>
                              <a:latin typeface="Cambria Math" panose="02040503050406030204" pitchFamily="18" charset="0"/>
                            </a:rPr>
                            <m:t>)</m:t>
                          </m:r>
                        </m:num>
                        <m:den>
                          <m:r>
                            <a:rPr lang="en-US" sz="2400" b="0" i="1" smtClean="0">
                              <a:solidFill>
                                <a:schemeClr val="accent5">
                                  <a:lumMod val="75000"/>
                                </a:schemeClr>
                              </a:solidFill>
                              <a:latin typeface="Cambria Math" panose="02040503050406030204" pitchFamily="18" charset="0"/>
                            </a:rPr>
                            <m:t>𝑓</m:t>
                          </m:r>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𝑑𝑎𝑡𝑎</m:t>
                          </m:r>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𝐻</m:t>
                          </m:r>
                          <m:r>
                            <a:rPr lang="en-US" sz="2400" b="0" i="1" baseline="-25000" smtClean="0">
                              <a:solidFill>
                                <a:schemeClr val="accent5">
                                  <a:lumMod val="75000"/>
                                </a:schemeClr>
                              </a:solidFill>
                              <a:latin typeface="Cambria Math" panose="02040503050406030204" pitchFamily="18" charset="0"/>
                            </a:rPr>
                            <m:t>1</m:t>
                          </m:r>
                          <m:r>
                            <a:rPr lang="en-US" sz="2400" i="1">
                              <a:solidFill>
                                <a:schemeClr val="accent5">
                                  <a:lumMod val="75000"/>
                                </a:schemeClr>
                              </a:solidFill>
                              <a:latin typeface="Cambria Math" panose="02040503050406030204" pitchFamily="18" charset="0"/>
                            </a:rPr>
                            <m:t>)</m:t>
                          </m:r>
                        </m:den>
                      </m:f>
                    </m:oMath>
                  </m:oMathPara>
                </a14:m>
                <a:endParaRPr lang="en-US" sz="2400" dirty="0">
                  <a:solidFill>
                    <a:schemeClr val="accent5">
                      <a:lumMod val="75000"/>
                    </a:schemeClr>
                  </a:solidFill>
                </a:endParaRPr>
              </a:p>
            </p:txBody>
          </p:sp>
        </mc:Choice>
        <mc:Fallback xmlns="">
          <p:sp>
            <p:nvSpPr>
              <p:cNvPr id="28" name="Rectangle 27">
                <a:extLst>
                  <a:ext uri="{FF2B5EF4-FFF2-40B4-BE49-F238E27FC236}">
                    <a16:creationId xmlns:a16="http://schemas.microsoft.com/office/drawing/2014/main" id="{855D4847-40CA-F549-85EE-9943B26E46A5}"/>
                  </a:ext>
                </a:extLst>
              </p:cNvPr>
              <p:cNvSpPr>
                <a:spLocks noRot="1" noChangeAspect="1" noMove="1" noResize="1" noEditPoints="1" noAdjustHandles="1" noChangeArrowheads="1" noChangeShapeType="1" noTextEdit="1"/>
              </p:cNvSpPr>
              <p:nvPr/>
            </p:nvSpPr>
            <p:spPr>
              <a:xfrm>
                <a:off x="10201814" y="5458766"/>
                <a:ext cx="1794658" cy="861326"/>
              </a:xfrm>
              <a:prstGeom prst="rect">
                <a:avLst/>
              </a:prstGeom>
              <a:blipFill>
                <a:blip r:embed="rId3"/>
                <a:stretch>
                  <a:fillRect/>
                </a:stretch>
              </a:blipFill>
            </p:spPr>
            <p:txBody>
              <a:bodyPr/>
              <a:lstStyle/>
              <a:p>
                <a:r>
                  <a:rPr lang="en-US">
                    <a:noFill/>
                  </a:rPr>
                  <a:t> </a:t>
                </a:r>
              </a:p>
            </p:txBody>
          </p:sp>
        </mc:Fallback>
      </mc:AlternateContent>
      <p:sp>
        <p:nvSpPr>
          <p:cNvPr id="29" name="Down Arrow 28">
            <a:extLst>
              <a:ext uri="{FF2B5EF4-FFF2-40B4-BE49-F238E27FC236}">
                <a16:creationId xmlns:a16="http://schemas.microsoft.com/office/drawing/2014/main" id="{F496CA3D-48A7-B744-96F0-B443CF11A54E}"/>
              </a:ext>
            </a:extLst>
          </p:cNvPr>
          <p:cNvSpPr/>
          <p:nvPr/>
        </p:nvSpPr>
        <p:spPr>
          <a:xfrm>
            <a:off x="9658797" y="4909310"/>
            <a:ext cx="180147" cy="5494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0068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3130601" cy="369332"/>
          </a:xfrm>
          <a:prstGeom prst="rect">
            <a:avLst/>
          </a:prstGeom>
          <a:noFill/>
        </p:spPr>
        <p:txBody>
          <a:bodyPr wrap="none" rtlCol="0">
            <a:spAutoFit/>
          </a:bodyPr>
          <a:lstStyle/>
          <a:p>
            <a:r>
              <a:rPr lang="en-US" u="sng" dirty="0"/>
              <a:t>The </a:t>
            </a:r>
            <a:r>
              <a:rPr lang="en-US" u="sng" dirty="0" err="1"/>
              <a:t>Neyman</a:t>
            </a:r>
            <a:r>
              <a:rPr lang="en-US" u="sng" dirty="0"/>
              <a:t>-Pearson paradigm</a:t>
            </a:r>
          </a:p>
        </p:txBody>
      </p:sp>
      <p:sp>
        <p:nvSpPr>
          <p:cNvPr id="3" name="TextBox 2">
            <a:extLst>
              <a:ext uri="{FF2B5EF4-FFF2-40B4-BE49-F238E27FC236}">
                <a16:creationId xmlns:a16="http://schemas.microsoft.com/office/drawing/2014/main" id="{F305B6FA-6092-AE41-97A7-32C885B124AC}"/>
              </a:ext>
            </a:extLst>
          </p:cNvPr>
          <p:cNvSpPr txBox="1"/>
          <p:nvPr/>
        </p:nvSpPr>
        <p:spPr>
          <a:xfrm>
            <a:off x="327037" y="982497"/>
            <a:ext cx="6219236" cy="4801314"/>
          </a:xfrm>
          <a:prstGeom prst="rect">
            <a:avLst/>
          </a:prstGeom>
          <a:noFill/>
        </p:spPr>
        <p:txBody>
          <a:bodyPr wrap="square" rtlCol="0">
            <a:spAutoFit/>
          </a:bodyPr>
          <a:lstStyle/>
          <a:p>
            <a:r>
              <a:rPr lang="en-US" dirty="0"/>
              <a:t>Without a simple H</a:t>
            </a:r>
            <a:r>
              <a:rPr lang="en-US" baseline="-25000" dirty="0"/>
              <a:t>1</a:t>
            </a:r>
            <a:r>
              <a:rPr lang="en-US" dirty="0"/>
              <a:t> hypothesis, we cannot calculate 𝛽. </a:t>
            </a:r>
          </a:p>
          <a:p>
            <a:endParaRPr lang="en-US" dirty="0"/>
          </a:p>
          <a:p>
            <a:r>
              <a:rPr lang="en-US" dirty="0"/>
              <a:t>But we can still specify 𝛼, because H</a:t>
            </a:r>
            <a:r>
              <a:rPr lang="en-US" baseline="-25000" dirty="0"/>
              <a:t>0</a:t>
            </a:r>
            <a:r>
              <a:rPr lang="en-US" dirty="0"/>
              <a:t> specifies a simple hypothesis.</a:t>
            </a:r>
          </a:p>
          <a:p>
            <a:endParaRPr lang="en-US" dirty="0"/>
          </a:p>
          <a:p>
            <a:endParaRPr lang="en-US" dirty="0"/>
          </a:p>
          <a:p>
            <a:endParaRPr lang="en-US" dirty="0"/>
          </a:p>
          <a:p>
            <a:r>
              <a:rPr lang="en-US" dirty="0"/>
              <a:t>However, we can still find how likely the data is generated from the H</a:t>
            </a:r>
            <a:r>
              <a:rPr lang="en-US" baseline="-25000" dirty="0"/>
              <a:t>0</a:t>
            </a:r>
            <a:r>
              <a:rPr lang="en-US" dirty="0"/>
              <a:t>.</a:t>
            </a:r>
          </a:p>
          <a:p>
            <a:endParaRPr lang="en-US" dirty="0"/>
          </a:p>
          <a:p>
            <a:endParaRPr lang="en-US" dirty="0"/>
          </a:p>
          <a:p>
            <a:endParaRPr lang="en-US" dirty="0"/>
          </a:p>
          <a:p>
            <a:r>
              <a:rPr lang="en-US" dirty="0"/>
              <a:t>We need to be very careful when rejecting H</a:t>
            </a:r>
            <a:r>
              <a:rPr lang="en-US" baseline="-25000" dirty="0"/>
              <a:t>0 </a:t>
            </a:r>
            <a:r>
              <a:rPr lang="en-US" dirty="0"/>
              <a:t>– give it the “benefit of doubt”:</a:t>
            </a:r>
          </a:p>
          <a:p>
            <a:endParaRPr lang="en-US" dirty="0"/>
          </a:p>
          <a:p>
            <a:r>
              <a:rPr lang="en-US" dirty="0"/>
              <a:t>Only reject H</a:t>
            </a:r>
            <a:r>
              <a:rPr lang="en-US" baseline="-25000" dirty="0"/>
              <a:t>0</a:t>
            </a:r>
            <a:r>
              <a:rPr lang="en-US" dirty="0"/>
              <a:t> when there is strong evidence against it – use a small 𝛼 level. </a:t>
            </a:r>
          </a:p>
        </p:txBody>
      </p:sp>
      <p:sp>
        <p:nvSpPr>
          <p:cNvPr id="6" name="TextBox 5">
            <a:extLst>
              <a:ext uri="{FF2B5EF4-FFF2-40B4-BE49-F238E27FC236}">
                <a16:creationId xmlns:a16="http://schemas.microsoft.com/office/drawing/2014/main" id="{D48EF5BF-E2DA-B34F-A111-7CBFB5DFBEDF}"/>
              </a:ext>
            </a:extLst>
          </p:cNvPr>
          <p:cNvSpPr txBox="1"/>
          <p:nvPr/>
        </p:nvSpPr>
        <p:spPr>
          <a:xfrm>
            <a:off x="9813860" y="456561"/>
            <a:ext cx="2378140" cy="923330"/>
          </a:xfrm>
          <a:prstGeom prst="rect">
            <a:avLst/>
          </a:prstGeom>
          <a:noFill/>
        </p:spPr>
        <p:txBody>
          <a:bodyPr wrap="square" rtlCol="0">
            <a:spAutoFit/>
          </a:bodyPr>
          <a:lstStyle/>
          <a:p>
            <a:r>
              <a:rPr lang="en-US" dirty="0">
                <a:solidFill>
                  <a:srgbClr val="FF0000"/>
                </a:solidFill>
              </a:rPr>
              <a:t>There is no distribution function from a composite hypothesis.</a:t>
            </a:r>
          </a:p>
        </p:txBody>
      </p:sp>
      <p:grpSp>
        <p:nvGrpSpPr>
          <p:cNvPr id="8" name="Group 7">
            <a:extLst>
              <a:ext uri="{FF2B5EF4-FFF2-40B4-BE49-F238E27FC236}">
                <a16:creationId xmlns:a16="http://schemas.microsoft.com/office/drawing/2014/main" id="{F7544B8D-3755-2B49-A0E6-AAFB63DABE9A}"/>
              </a:ext>
            </a:extLst>
          </p:cNvPr>
          <p:cNvGrpSpPr/>
          <p:nvPr/>
        </p:nvGrpSpPr>
        <p:grpSpPr>
          <a:xfrm>
            <a:off x="6777644" y="315245"/>
            <a:ext cx="2761381" cy="6496846"/>
            <a:chOff x="9191230" y="377072"/>
            <a:chExt cx="2761381" cy="6496846"/>
          </a:xfrm>
        </p:grpSpPr>
        <p:pic>
          <p:nvPicPr>
            <p:cNvPr id="9" name="Picture 8">
              <a:extLst>
                <a:ext uri="{FF2B5EF4-FFF2-40B4-BE49-F238E27FC236}">
                  <a16:creationId xmlns:a16="http://schemas.microsoft.com/office/drawing/2014/main" id="{16DF517B-100C-5348-835E-984B389A8503}"/>
                </a:ext>
              </a:extLst>
            </p:cNvPr>
            <p:cNvPicPr>
              <a:picLocks noChangeAspect="1"/>
            </p:cNvPicPr>
            <p:nvPr/>
          </p:nvPicPr>
          <p:blipFill>
            <a:blip r:embed="rId2"/>
            <a:stretch>
              <a:fillRect/>
            </a:stretch>
          </p:blipFill>
          <p:spPr>
            <a:xfrm>
              <a:off x="9191230" y="377072"/>
              <a:ext cx="2761381" cy="6480928"/>
            </a:xfrm>
            <a:prstGeom prst="rect">
              <a:avLst/>
            </a:prstGeom>
          </p:spPr>
        </p:pic>
        <p:pic>
          <p:nvPicPr>
            <p:cNvPr id="14" name="Picture 13">
              <a:extLst>
                <a:ext uri="{FF2B5EF4-FFF2-40B4-BE49-F238E27FC236}">
                  <a16:creationId xmlns:a16="http://schemas.microsoft.com/office/drawing/2014/main" id="{043FF891-0694-6F42-99F7-BE5868940FAE}"/>
                </a:ext>
              </a:extLst>
            </p:cNvPr>
            <p:cNvPicPr>
              <a:picLocks noChangeAspect="1"/>
            </p:cNvPicPr>
            <p:nvPr/>
          </p:nvPicPr>
          <p:blipFill>
            <a:blip r:embed="rId3"/>
            <a:stretch>
              <a:fillRect/>
            </a:stretch>
          </p:blipFill>
          <p:spPr>
            <a:xfrm>
              <a:off x="10548778" y="1591087"/>
              <a:ext cx="163123" cy="302942"/>
            </a:xfrm>
            <a:prstGeom prst="rect">
              <a:avLst/>
            </a:prstGeom>
          </p:spPr>
        </p:pic>
        <p:pic>
          <p:nvPicPr>
            <p:cNvPr id="15" name="Picture 14">
              <a:extLst>
                <a:ext uri="{FF2B5EF4-FFF2-40B4-BE49-F238E27FC236}">
                  <a16:creationId xmlns:a16="http://schemas.microsoft.com/office/drawing/2014/main" id="{CCD16FF2-4200-0D49-9077-64F774166F38}"/>
                </a:ext>
              </a:extLst>
            </p:cNvPr>
            <p:cNvPicPr>
              <a:picLocks noChangeAspect="1"/>
            </p:cNvPicPr>
            <p:nvPr/>
          </p:nvPicPr>
          <p:blipFill>
            <a:blip r:embed="rId3"/>
            <a:stretch>
              <a:fillRect/>
            </a:stretch>
          </p:blipFill>
          <p:spPr>
            <a:xfrm>
              <a:off x="10548778" y="3273834"/>
              <a:ext cx="167102" cy="310332"/>
            </a:xfrm>
            <a:prstGeom prst="rect">
              <a:avLst/>
            </a:prstGeom>
          </p:spPr>
        </p:pic>
        <p:pic>
          <p:nvPicPr>
            <p:cNvPr id="16" name="Picture 15">
              <a:extLst>
                <a:ext uri="{FF2B5EF4-FFF2-40B4-BE49-F238E27FC236}">
                  <a16:creationId xmlns:a16="http://schemas.microsoft.com/office/drawing/2014/main" id="{26336E50-E3C6-1F47-BD4D-DF654A992C31}"/>
                </a:ext>
              </a:extLst>
            </p:cNvPr>
            <p:cNvPicPr>
              <a:picLocks noChangeAspect="1"/>
            </p:cNvPicPr>
            <p:nvPr/>
          </p:nvPicPr>
          <p:blipFill>
            <a:blip r:embed="rId3"/>
            <a:stretch>
              <a:fillRect/>
            </a:stretch>
          </p:blipFill>
          <p:spPr>
            <a:xfrm>
              <a:off x="10551984" y="4947552"/>
              <a:ext cx="163896" cy="304379"/>
            </a:xfrm>
            <a:prstGeom prst="rect">
              <a:avLst/>
            </a:prstGeom>
          </p:spPr>
        </p:pic>
        <p:pic>
          <p:nvPicPr>
            <p:cNvPr id="17" name="Picture 16">
              <a:extLst>
                <a:ext uri="{FF2B5EF4-FFF2-40B4-BE49-F238E27FC236}">
                  <a16:creationId xmlns:a16="http://schemas.microsoft.com/office/drawing/2014/main" id="{CE7EBF20-F83A-B547-AB5D-5FD20DD66B97}"/>
                </a:ext>
              </a:extLst>
            </p:cNvPr>
            <p:cNvPicPr>
              <a:picLocks noChangeAspect="1"/>
            </p:cNvPicPr>
            <p:nvPr/>
          </p:nvPicPr>
          <p:blipFill>
            <a:blip r:embed="rId3"/>
            <a:stretch>
              <a:fillRect/>
            </a:stretch>
          </p:blipFill>
          <p:spPr>
            <a:xfrm>
              <a:off x="10543729" y="6570976"/>
              <a:ext cx="163123" cy="302942"/>
            </a:xfrm>
            <a:prstGeom prst="rect">
              <a:avLst/>
            </a:prstGeom>
          </p:spPr>
        </p:pic>
      </p:grpSp>
    </p:spTree>
    <p:extLst>
      <p:ext uri="{BB962C8B-B14F-4D97-AF65-F5344CB8AC3E}">
        <p14:creationId xmlns:p14="http://schemas.microsoft.com/office/powerpoint/2010/main" val="300849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3130601" cy="369332"/>
          </a:xfrm>
          <a:prstGeom prst="rect">
            <a:avLst/>
          </a:prstGeom>
          <a:noFill/>
        </p:spPr>
        <p:txBody>
          <a:bodyPr wrap="none" rtlCol="0">
            <a:spAutoFit/>
          </a:bodyPr>
          <a:lstStyle/>
          <a:p>
            <a:r>
              <a:rPr lang="en-US" u="sng" dirty="0"/>
              <a:t>The </a:t>
            </a:r>
            <a:r>
              <a:rPr lang="en-US" u="sng" dirty="0" err="1"/>
              <a:t>Neyman</a:t>
            </a:r>
            <a:r>
              <a:rPr lang="en-US" u="sng" dirty="0"/>
              <a:t>-Pearson paradigm</a:t>
            </a:r>
          </a:p>
        </p:txBody>
      </p:sp>
      <p:sp>
        <p:nvSpPr>
          <p:cNvPr id="3" name="Rectangle 2">
            <a:extLst>
              <a:ext uri="{FF2B5EF4-FFF2-40B4-BE49-F238E27FC236}">
                <a16:creationId xmlns:a16="http://schemas.microsoft.com/office/drawing/2014/main" id="{50F35BAB-3EE0-9145-88D1-1DD55945C14C}"/>
              </a:ext>
            </a:extLst>
          </p:cNvPr>
          <p:cNvSpPr/>
          <p:nvPr/>
        </p:nvSpPr>
        <p:spPr>
          <a:xfrm>
            <a:off x="339365" y="1028343"/>
            <a:ext cx="11576115" cy="4524315"/>
          </a:xfrm>
          <a:prstGeom prst="rect">
            <a:avLst/>
          </a:prstGeom>
        </p:spPr>
        <p:txBody>
          <a:bodyPr wrap="square">
            <a:spAutoFit/>
          </a:bodyPr>
          <a:lstStyle/>
          <a:p>
            <a:pPr marL="285750" indent="-285750">
              <a:buFont typeface="Wingdings" pitchFamily="2" charset="2"/>
              <a:buChar char="Ø"/>
            </a:pPr>
            <a:r>
              <a:rPr lang="en-US" dirty="0">
                <a:solidFill>
                  <a:srgbClr val="211E1E"/>
                </a:solidFill>
                <a:latin typeface="Times" pitchFamily="2" charset="0"/>
              </a:rPr>
              <a:t>An asymmetry: one hypothesis is singled out as the </a:t>
            </a:r>
            <a:r>
              <a:rPr lang="en-US" b="1" dirty="0">
                <a:solidFill>
                  <a:srgbClr val="211E1E"/>
                </a:solidFill>
                <a:latin typeface="Times" pitchFamily="2" charset="0"/>
              </a:rPr>
              <a:t>null hypothesis </a:t>
            </a:r>
            <a:r>
              <a:rPr lang="en-US" dirty="0">
                <a:solidFill>
                  <a:srgbClr val="211E1E"/>
                </a:solidFill>
                <a:latin typeface="Times" pitchFamily="2" charset="0"/>
              </a:rPr>
              <a:t>and the other as the </a:t>
            </a:r>
            <a:r>
              <a:rPr lang="en-US" b="1" dirty="0">
                <a:solidFill>
                  <a:srgbClr val="211E1E"/>
                </a:solidFill>
                <a:latin typeface="Times" pitchFamily="2" charset="0"/>
              </a:rPr>
              <a:t>alternative hypothesis </a:t>
            </a:r>
          </a:p>
          <a:p>
            <a:pPr marL="285750" indent="-285750">
              <a:buFont typeface="Wingdings" pitchFamily="2" charset="2"/>
              <a:buChar char="Ø"/>
            </a:pPr>
            <a:r>
              <a:rPr lang="en-US" dirty="0"/>
              <a:t>the null </a:t>
            </a:r>
            <a:r>
              <a:rPr lang="en-US" dirty="0" err="1"/>
              <a:t>hypothsis</a:t>
            </a:r>
            <a:r>
              <a:rPr lang="en-US" dirty="0"/>
              <a:t> is usually denoted by </a:t>
            </a:r>
            <a:r>
              <a:rPr lang="en-US" i="1" dirty="0"/>
              <a:t>H</a:t>
            </a:r>
            <a:r>
              <a:rPr lang="en-US" baseline="-25000" dirty="0"/>
              <a:t>0</a:t>
            </a:r>
            <a:r>
              <a:rPr lang="en-US" dirty="0"/>
              <a:t> and the alternative by </a:t>
            </a:r>
            <a:r>
              <a:rPr lang="en-US" i="1" dirty="0"/>
              <a:t>H</a:t>
            </a:r>
            <a:r>
              <a:rPr lang="en-US" baseline="-25000" dirty="0"/>
              <a:t>1</a:t>
            </a:r>
            <a:r>
              <a:rPr lang="en-US" dirty="0"/>
              <a:t> or </a:t>
            </a:r>
            <a:r>
              <a:rPr lang="en-US" i="1" dirty="0"/>
              <a:t>H</a:t>
            </a:r>
            <a:r>
              <a:rPr lang="en-US" i="1" baseline="-25000" dirty="0"/>
              <a:t>A</a:t>
            </a:r>
            <a:r>
              <a:rPr lang="en-US" i="1" dirty="0"/>
              <a:t> </a:t>
            </a:r>
          </a:p>
          <a:p>
            <a:endParaRPr lang="en-US" i="1" dirty="0"/>
          </a:p>
          <a:p>
            <a:pPr marL="285750" indent="-285750">
              <a:buFont typeface="Wingdings" pitchFamily="2" charset="2"/>
              <a:buChar char="Ø"/>
            </a:pPr>
            <a:r>
              <a:rPr lang="en-US" b="1" dirty="0"/>
              <a:t>Test statistic: </a:t>
            </a:r>
            <a:r>
              <a:rPr lang="en-US" dirty="0"/>
              <a:t>the statistic computed from a sample, based on which the decision is made.</a:t>
            </a:r>
          </a:p>
          <a:p>
            <a:r>
              <a:rPr lang="en-US" dirty="0"/>
              <a:t>	e.g. proportion of heads, average, ......</a:t>
            </a:r>
          </a:p>
          <a:p>
            <a:endParaRPr lang="en-US" i="1" dirty="0"/>
          </a:p>
          <a:p>
            <a:pPr marL="285750" indent="-285750">
              <a:buFont typeface="Wingdings" pitchFamily="2" charset="2"/>
              <a:buChar char="Ø"/>
            </a:pPr>
            <a:r>
              <a:rPr lang="en-US" b="1" dirty="0"/>
              <a:t>Null distribution: </a:t>
            </a:r>
            <a:r>
              <a:rPr lang="en-US" dirty="0"/>
              <a:t>the probability distribution of the test statistic when the null hypothesis is true </a:t>
            </a:r>
          </a:p>
          <a:p>
            <a:endParaRPr lang="en-US" dirty="0"/>
          </a:p>
          <a:p>
            <a:pPr marL="285750" indent="-285750">
              <a:buFont typeface="Wingdings" pitchFamily="2" charset="2"/>
              <a:buChar char="Ø"/>
            </a:pPr>
            <a:r>
              <a:rPr lang="en-US" b="1" dirty="0"/>
              <a:t>Type I error: </a:t>
            </a:r>
            <a:r>
              <a:rPr lang="en-US" dirty="0"/>
              <a:t>rejecting </a:t>
            </a:r>
            <a:r>
              <a:rPr lang="en-US" i="1" dirty="0"/>
              <a:t>H</a:t>
            </a:r>
            <a:r>
              <a:rPr lang="en-US" baseline="-25000" dirty="0"/>
              <a:t>0</a:t>
            </a:r>
            <a:r>
              <a:rPr lang="en-US" dirty="0"/>
              <a:t> when it is true</a:t>
            </a:r>
            <a:r>
              <a:rPr lang="en-US" b="1" dirty="0"/>
              <a:t>. </a:t>
            </a:r>
          </a:p>
          <a:p>
            <a:pPr marL="285750" indent="-285750">
              <a:buFont typeface="Wingdings" pitchFamily="2" charset="2"/>
              <a:buChar char="Ø"/>
            </a:pPr>
            <a:r>
              <a:rPr lang="en-US" b="1" dirty="0"/>
              <a:t>Significance level </a:t>
            </a:r>
            <a:r>
              <a:rPr lang="en-US" dirty="0"/>
              <a:t>(</a:t>
            </a:r>
            <a:r>
              <a:rPr lang="el-GR" dirty="0"/>
              <a:t>α</a:t>
            </a:r>
            <a:r>
              <a:rPr lang="en-US" dirty="0"/>
              <a:t>): the probability of a type I error</a:t>
            </a:r>
            <a:r>
              <a:rPr lang="el-GR" dirty="0"/>
              <a:t>. </a:t>
            </a:r>
            <a:endParaRPr lang="en-US" dirty="0"/>
          </a:p>
          <a:p>
            <a:endParaRPr lang="en-US" dirty="0"/>
          </a:p>
          <a:p>
            <a:pPr marL="285750" indent="-285750">
              <a:buFont typeface="Wingdings" pitchFamily="2" charset="2"/>
              <a:buChar char="Ø"/>
            </a:pPr>
            <a:r>
              <a:rPr lang="en-US" b="1" dirty="0"/>
              <a:t>Type II error </a:t>
            </a:r>
            <a:r>
              <a:rPr lang="en-US" dirty="0"/>
              <a:t>(</a:t>
            </a:r>
            <a:r>
              <a:rPr lang="el-GR" dirty="0"/>
              <a:t>β</a:t>
            </a:r>
            <a:r>
              <a:rPr lang="en-US" dirty="0"/>
              <a:t>): accepting the null hypothesis when it is false</a:t>
            </a:r>
            <a:r>
              <a:rPr lang="el-GR" dirty="0"/>
              <a:t>. </a:t>
            </a:r>
            <a:endParaRPr lang="en-US" dirty="0"/>
          </a:p>
          <a:p>
            <a:pPr marL="285750" indent="-285750">
              <a:buFont typeface="Wingdings" pitchFamily="2" charset="2"/>
              <a:buChar char="Ø"/>
            </a:pPr>
            <a:r>
              <a:rPr lang="en-US" b="1" dirty="0"/>
              <a:t>Power </a:t>
            </a:r>
            <a:r>
              <a:rPr lang="en-US" dirty="0"/>
              <a:t>of the test (1 − </a:t>
            </a:r>
            <a:r>
              <a:rPr lang="el-GR" dirty="0"/>
              <a:t>β</a:t>
            </a:r>
            <a:r>
              <a:rPr lang="en-US" dirty="0"/>
              <a:t>):</a:t>
            </a:r>
            <a:r>
              <a:rPr lang="el-GR" dirty="0"/>
              <a:t> </a:t>
            </a:r>
            <a:r>
              <a:rPr lang="en-US" dirty="0"/>
              <a:t>the probability that the null hypothesis is rejected when it is false.</a:t>
            </a:r>
            <a:endParaRPr lang="el-GR" dirty="0"/>
          </a:p>
          <a:p>
            <a:endParaRPr lang="en-US" b="1" dirty="0"/>
          </a:p>
          <a:p>
            <a:pPr marL="285750" indent="-285750">
              <a:buFont typeface="Wingdings" pitchFamily="2" charset="2"/>
              <a:buChar char="Ø"/>
            </a:pPr>
            <a:r>
              <a:rPr lang="en-US" b="1" dirty="0"/>
              <a:t>Rejection region (critical region): </a:t>
            </a:r>
            <a:r>
              <a:rPr lang="en-US" dirty="0"/>
              <a:t>the set of values of the test statistic that leads to rejection of the null hypothesis </a:t>
            </a:r>
            <a:endParaRPr lang="en-US" b="1" dirty="0"/>
          </a:p>
          <a:p>
            <a:pPr marL="285750" indent="-285750">
              <a:buFont typeface="Wingdings" pitchFamily="2" charset="2"/>
              <a:buChar char="Ø"/>
            </a:pPr>
            <a:r>
              <a:rPr lang="en-US" b="1" dirty="0"/>
              <a:t>Acceptance region: </a:t>
            </a:r>
            <a:r>
              <a:rPr lang="en-US" dirty="0"/>
              <a:t>the set of values that leads to acceptance of the null hypothesis </a:t>
            </a:r>
          </a:p>
        </p:txBody>
      </p:sp>
    </p:spTree>
    <p:extLst>
      <p:ext uri="{BB962C8B-B14F-4D97-AF65-F5344CB8AC3E}">
        <p14:creationId xmlns:p14="http://schemas.microsoft.com/office/powerpoint/2010/main" val="1906488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CC4E9-6202-824C-9369-DFCF7B8E6BE5}"/>
              </a:ext>
            </a:extLst>
          </p:cNvPr>
          <p:cNvSpPr txBox="1"/>
          <p:nvPr/>
        </p:nvSpPr>
        <p:spPr>
          <a:xfrm>
            <a:off x="211015" y="175846"/>
            <a:ext cx="3130601" cy="369332"/>
          </a:xfrm>
          <a:prstGeom prst="rect">
            <a:avLst/>
          </a:prstGeom>
          <a:noFill/>
        </p:spPr>
        <p:txBody>
          <a:bodyPr wrap="none" rtlCol="0">
            <a:spAutoFit/>
          </a:bodyPr>
          <a:lstStyle/>
          <a:p>
            <a:r>
              <a:rPr lang="en-US" u="sng" dirty="0"/>
              <a:t>The </a:t>
            </a:r>
            <a:r>
              <a:rPr lang="en-US" u="sng" dirty="0" err="1"/>
              <a:t>Neyman</a:t>
            </a:r>
            <a:r>
              <a:rPr lang="en-US" u="sng" dirty="0"/>
              <a:t>-Pearson paradigm</a:t>
            </a:r>
          </a:p>
        </p:txBody>
      </p:sp>
      <p:pic>
        <p:nvPicPr>
          <p:cNvPr id="3" name="Picture 2">
            <a:extLst>
              <a:ext uri="{FF2B5EF4-FFF2-40B4-BE49-F238E27FC236}">
                <a16:creationId xmlns:a16="http://schemas.microsoft.com/office/drawing/2014/main" id="{C9ABF879-B9F1-DA4E-8598-29A4084DBB84}"/>
              </a:ext>
            </a:extLst>
          </p:cNvPr>
          <p:cNvPicPr>
            <a:picLocks noChangeAspect="1"/>
          </p:cNvPicPr>
          <p:nvPr/>
        </p:nvPicPr>
        <p:blipFill>
          <a:blip r:embed="rId3"/>
          <a:stretch>
            <a:fillRect/>
          </a:stretch>
        </p:blipFill>
        <p:spPr>
          <a:xfrm>
            <a:off x="882716" y="1655975"/>
            <a:ext cx="3913674" cy="2425831"/>
          </a:xfrm>
          <a:prstGeom prst="rect">
            <a:avLst/>
          </a:prstGeom>
        </p:spPr>
      </p:pic>
      <p:sp>
        <p:nvSpPr>
          <p:cNvPr id="6" name="Rectangle 5">
            <a:extLst>
              <a:ext uri="{FF2B5EF4-FFF2-40B4-BE49-F238E27FC236}">
                <a16:creationId xmlns:a16="http://schemas.microsoft.com/office/drawing/2014/main" id="{837A6252-F6F3-6941-8CA7-250D4D48C1F5}"/>
              </a:ext>
            </a:extLst>
          </p:cNvPr>
          <p:cNvSpPr/>
          <p:nvPr/>
        </p:nvSpPr>
        <p:spPr>
          <a:xfrm>
            <a:off x="3779206" y="4183813"/>
            <a:ext cx="316112" cy="369332"/>
          </a:xfrm>
          <a:prstGeom prst="rect">
            <a:avLst/>
          </a:prstGeom>
        </p:spPr>
        <p:txBody>
          <a:bodyPr wrap="none">
            <a:spAutoFit/>
          </a:bodyPr>
          <a:lstStyle/>
          <a:p>
            <a:r>
              <a:rPr lang="el-GR" dirty="0"/>
              <a:t>α</a:t>
            </a:r>
            <a:endParaRPr lang="en-US" dirty="0"/>
          </a:p>
        </p:txBody>
      </p:sp>
      <p:sp>
        <p:nvSpPr>
          <p:cNvPr id="8" name="Rectangle 7">
            <a:extLst>
              <a:ext uri="{FF2B5EF4-FFF2-40B4-BE49-F238E27FC236}">
                <a16:creationId xmlns:a16="http://schemas.microsoft.com/office/drawing/2014/main" id="{43547D4D-E123-F04A-9C17-7347EE995B20}"/>
              </a:ext>
            </a:extLst>
          </p:cNvPr>
          <p:cNvSpPr/>
          <p:nvPr/>
        </p:nvSpPr>
        <p:spPr>
          <a:xfrm>
            <a:off x="1175839" y="915910"/>
            <a:ext cx="1940659" cy="369332"/>
          </a:xfrm>
          <a:prstGeom prst="rect">
            <a:avLst/>
          </a:prstGeom>
        </p:spPr>
        <p:txBody>
          <a:bodyPr wrap="none">
            <a:spAutoFit/>
          </a:bodyPr>
          <a:lstStyle/>
          <a:p>
            <a:r>
              <a:rPr lang="en-US" b="1" dirty="0"/>
              <a:t>Acceptance region</a:t>
            </a:r>
            <a:endParaRPr lang="en-US" dirty="0"/>
          </a:p>
        </p:txBody>
      </p:sp>
      <p:sp>
        <p:nvSpPr>
          <p:cNvPr id="9" name="Left Brace 8">
            <a:extLst>
              <a:ext uri="{FF2B5EF4-FFF2-40B4-BE49-F238E27FC236}">
                <a16:creationId xmlns:a16="http://schemas.microsoft.com/office/drawing/2014/main" id="{ECE71E09-DB81-3549-AA42-E0BD62CAC0FF}"/>
              </a:ext>
            </a:extLst>
          </p:cNvPr>
          <p:cNvSpPr/>
          <p:nvPr/>
        </p:nvSpPr>
        <p:spPr>
          <a:xfrm rot="5400000">
            <a:off x="1817584" y="-283619"/>
            <a:ext cx="246950" cy="33846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2C152670-C111-D14E-A307-BC06BB976CD3}"/>
              </a:ext>
            </a:extLst>
          </p:cNvPr>
          <p:cNvSpPr/>
          <p:nvPr/>
        </p:nvSpPr>
        <p:spPr>
          <a:xfrm rot="5400000">
            <a:off x="4437225" y="476514"/>
            <a:ext cx="268728" cy="186732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784EC6C7-47EA-1E4D-93EB-062F5CE2A4EE}"/>
              </a:ext>
            </a:extLst>
          </p:cNvPr>
          <p:cNvSpPr/>
          <p:nvPr/>
        </p:nvSpPr>
        <p:spPr>
          <a:xfrm>
            <a:off x="3857971" y="915910"/>
            <a:ext cx="3231719" cy="369332"/>
          </a:xfrm>
          <a:prstGeom prst="rect">
            <a:avLst/>
          </a:prstGeom>
        </p:spPr>
        <p:txBody>
          <a:bodyPr wrap="none">
            <a:spAutoFit/>
          </a:bodyPr>
          <a:lstStyle/>
          <a:p>
            <a:r>
              <a:rPr lang="en-US" b="1" dirty="0"/>
              <a:t>Rejection region (critical region)</a:t>
            </a:r>
            <a:endParaRPr lang="en-US" dirty="0"/>
          </a:p>
        </p:txBody>
      </p:sp>
      <p:cxnSp>
        <p:nvCxnSpPr>
          <p:cNvPr id="14" name="Straight Connector 13">
            <a:extLst>
              <a:ext uri="{FF2B5EF4-FFF2-40B4-BE49-F238E27FC236}">
                <a16:creationId xmlns:a16="http://schemas.microsoft.com/office/drawing/2014/main" id="{71A7047B-5BEC-1343-B611-5C441329E9FD}"/>
              </a:ext>
            </a:extLst>
          </p:cNvPr>
          <p:cNvCxnSpPr>
            <a:cxnSpLocks/>
            <a:endCxn id="6" idx="0"/>
          </p:cNvCxnSpPr>
          <p:nvPr/>
        </p:nvCxnSpPr>
        <p:spPr>
          <a:xfrm>
            <a:off x="3704734" y="3591612"/>
            <a:ext cx="232528" cy="592201"/>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3C33E2D-586E-C447-808F-9949E494E05E}"/>
              </a:ext>
            </a:extLst>
          </p:cNvPr>
          <p:cNvSpPr/>
          <p:nvPr/>
        </p:nvSpPr>
        <p:spPr>
          <a:xfrm>
            <a:off x="1891573" y="2272256"/>
            <a:ext cx="1741823" cy="369332"/>
          </a:xfrm>
          <a:prstGeom prst="rect">
            <a:avLst/>
          </a:prstGeom>
        </p:spPr>
        <p:txBody>
          <a:bodyPr wrap="none">
            <a:spAutoFit/>
          </a:bodyPr>
          <a:lstStyle/>
          <a:p>
            <a:r>
              <a:rPr lang="en-US" b="1" dirty="0"/>
              <a:t>Null distribution</a:t>
            </a:r>
            <a:endParaRPr lang="en-US" dirty="0"/>
          </a:p>
        </p:txBody>
      </p:sp>
      <p:grpSp>
        <p:nvGrpSpPr>
          <p:cNvPr id="32" name="Group 31">
            <a:extLst>
              <a:ext uri="{FF2B5EF4-FFF2-40B4-BE49-F238E27FC236}">
                <a16:creationId xmlns:a16="http://schemas.microsoft.com/office/drawing/2014/main" id="{1E272EA9-A2B5-874F-BF16-F94304114AEB}"/>
              </a:ext>
            </a:extLst>
          </p:cNvPr>
          <p:cNvGrpSpPr/>
          <p:nvPr/>
        </p:nvGrpSpPr>
        <p:grpSpPr>
          <a:xfrm>
            <a:off x="5439266" y="2272256"/>
            <a:ext cx="6608190" cy="4496189"/>
            <a:chOff x="5439266" y="2272256"/>
            <a:chExt cx="6608190" cy="4496189"/>
          </a:xfrm>
        </p:grpSpPr>
        <p:sp>
          <p:nvSpPr>
            <p:cNvPr id="31" name="Rectangle 30">
              <a:extLst>
                <a:ext uri="{FF2B5EF4-FFF2-40B4-BE49-F238E27FC236}">
                  <a16:creationId xmlns:a16="http://schemas.microsoft.com/office/drawing/2014/main" id="{511A50DC-B4AB-FA4B-96B8-03087124219E}"/>
                </a:ext>
              </a:extLst>
            </p:cNvPr>
            <p:cNvSpPr/>
            <p:nvPr/>
          </p:nvSpPr>
          <p:spPr>
            <a:xfrm>
              <a:off x="5439266" y="2272256"/>
              <a:ext cx="6608190" cy="4496189"/>
            </a:xfrm>
            <a:prstGeom prst="rect">
              <a:avLst/>
            </a:prstGeom>
            <a:solidFill>
              <a:srgbClr val="4472C4">
                <a:alpha val="1411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554E77-6A08-8E45-8FBB-4658E8DBFBE6}"/>
                </a:ext>
              </a:extLst>
            </p:cNvPr>
            <p:cNvPicPr>
              <a:picLocks noChangeAspect="1"/>
            </p:cNvPicPr>
            <p:nvPr/>
          </p:nvPicPr>
          <p:blipFill>
            <a:blip r:embed="rId4"/>
            <a:stretch>
              <a:fillRect/>
            </a:stretch>
          </p:blipFill>
          <p:spPr>
            <a:xfrm>
              <a:off x="6331931" y="3695305"/>
              <a:ext cx="4977353" cy="2488677"/>
            </a:xfrm>
            <a:prstGeom prst="rect">
              <a:avLst/>
            </a:prstGeom>
          </p:spPr>
        </p:pic>
        <p:sp>
          <p:nvSpPr>
            <p:cNvPr id="17" name="Rectangle 16">
              <a:extLst>
                <a:ext uri="{FF2B5EF4-FFF2-40B4-BE49-F238E27FC236}">
                  <a16:creationId xmlns:a16="http://schemas.microsoft.com/office/drawing/2014/main" id="{CCB1275B-ACDC-F144-96EE-033C0BF0FC89}"/>
                </a:ext>
              </a:extLst>
            </p:cNvPr>
            <p:cNvSpPr/>
            <p:nvPr/>
          </p:nvSpPr>
          <p:spPr>
            <a:xfrm>
              <a:off x="6745772" y="2953983"/>
              <a:ext cx="1940659" cy="369332"/>
            </a:xfrm>
            <a:prstGeom prst="rect">
              <a:avLst/>
            </a:prstGeom>
          </p:spPr>
          <p:txBody>
            <a:bodyPr wrap="none">
              <a:spAutoFit/>
            </a:bodyPr>
            <a:lstStyle/>
            <a:p>
              <a:r>
                <a:rPr lang="en-US" b="1" dirty="0"/>
                <a:t>Acceptance region</a:t>
              </a:r>
              <a:endParaRPr lang="en-US" dirty="0"/>
            </a:p>
          </p:txBody>
        </p:sp>
        <p:sp>
          <p:nvSpPr>
            <p:cNvPr id="18" name="Left Brace 17">
              <a:extLst>
                <a:ext uri="{FF2B5EF4-FFF2-40B4-BE49-F238E27FC236}">
                  <a16:creationId xmlns:a16="http://schemas.microsoft.com/office/drawing/2014/main" id="{DDAED6E1-36E9-3649-B5C0-6E7B1612B1B0}"/>
                </a:ext>
              </a:extLst>
            </p:cNvPr>
            <p:cNvSpPr/>
            <p:nvPr/>
          </p:nvSpPr>
          <p:spPr>
            <a:xfrm rot="5400000">
              <a:off x="7387517" y="1754454"/>
              <a:ext cx="246950" cy="33846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Left Brace 18">
              <a:extLst>
                <a:ext uri="{FF2B5EF4-FFF2-40B4-BE49-F238E27FC236}">
                  <a16:creationId xmlns:a16="http://schemas.microsoft.com/office/drawing/2014/main" id="{4AC16990-18D6-FE47-99F5-3D3B6466227F}"/>
                </a:ext>
              </a:extLst>
            </p:cNvPr>
            <p:cNvSpPr/>
            <p:nvPr/>
          </p:nvSpPr>
          <p:spPr>
            <a:xfrm rot="5400000">
              <a:off x="10380502" y="2141242"/>
              <a:ext cx="265183" cy="26104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a:extLst>
                <a:ext uri="{FF2B5EF4-FFF2-40B4-BE49-F238E27FC236}">
                  <a16:creationId xmlns:a16="http://schemas.microsoft.com/office/drawing/2014/main" id="{9ECC2D19-6013-2143-98CA-30F03FD49E67}"/>
                </a:ext>
              </a:extLst>
            </p:cNvPr>
            <p:cNvSpPr/>
            <p:nvPr/>
          </p:nvSpPr>
          <p:spPr>
            <a:xfrm>
              <a:off x="9681744" y="2658754"/>
              <a:ext cx="1767975" cy="646331"/>
            </a:xfrm>
            <a:prstGeom prst="rect">
              <a:avLst/>
            </a:prstGeom>
          </p:spPr>
          <p:txBody>
            <a:bodyPr wrap="square">
              <a:spAutoFit/>
            </a:bodyPr>
            <a:lstStyle/>
            <a:p>
              <a:r>
                <a:rPr lang="en-US" b="1" dirty="0"/>
                <a:t>Rejection region (critical region)</a:t>
              </a:r>
              <a:endParaRPr lang="en-US" dirty="0"/>
            </a:p>
          </p:txBody>
        </p:sp>
        <p:sp>
          <p:nvSpPr>
            <p:cNvPr id="21" name="Rectangle 20">
              <a:extLst>
                <a:ext uri="{FF2B5EF4-FFF2-40B4-BE49-F238E27FC236}">
                  <a16:creationId xmlns:a16="http://schemas.microsoft.com/office/drawing/2014/main" id="{1B7F5513-3CF5-E143-B99A-1AC2EDA90525}"/>
                </a:ext>
              </a:extLst>
            </p:cNvPr>
            <p:cNvSpPr/>
            <p:nvPr/>
          </p:nvSpPr>
          <p:spPr>
            <a:xfrm>
              <a:off x="7461506" y="4310329"/>
              <a:ext cx="1741823" cy="369332"/>
            </a:xfrm>
            <a:prstGeom prst="rect">
              <a:avLst/>
            </a:prstGeom>
          </p:spPr>
          <p:txBody>
            <a:bodyPr wrap="none">
              <a:spAutoFit/>
            </a:bodyPr>
            <a:lstStyle/>
            <a:p>
              <a:r>
                <a:rPr lang="en-US" b="1" dirty="0"/>
                <a:t>Null distribution</a:t>
              </a:r>
              <a:endParaRPr lang="en-US" dirty="0"/>
            </a:p>
          </p:txBody>
        </p:sp>
        <p:sp>
          <p:nvSpPr>
            <p:cNvPr id="22" name="Rectangle 21">
              <a:extLst>
                <a:ext uri="{FF2B5EF4-FFF2-40B4-BE49-F238E27FC236}">
                  <a16:creationId xmlns:a16="http://schemas.microsoft.com/office/drawing/2014/main" id="{AE1BC67B-AEFB-3F47-9113-D2AA435AFF3C}"/>
                </a:ext>
              </a:extLst>
            </p:cNvPr>
            <p:cNvSpPr/>
            <p:nvPr/>
          </p:nvSpPr>
          <p:spPr>
            <a:xfrm>
              <a:off x="9389725" y="6309021"/>
              <a:ext cx="316112" cy="369332"/>
            </a:xfrm>
            <a:prstGeom prst="rect">
              <a:avLst/>
            </a:prstGeom>
          </p:spPr>
          <p:txBody>
            <a:bodyPr wrap="none">
              <a:spAutoFit/>
            </a:bodyPr>
            <a:lstStyle/>
            <a:p>
              <a:r>
                <a:rPr lang="el-GR" dirty="0"/>
                <a:t>α</a:t>
              </a:r>
              <a:endParaRPr lang="en-US" dirty="0"/>
            </a:p>
          </p:txBody>
        </p:sp>
        <p:cxnSp>
          <p:nvCxnSpPr>
            <p:cNvPr id="23" name="Straight Connector 22">
              <a:extLst>
                <a:ext uri="{FF2B5EF4-FFF2-40B4-BE49-F238E27FC236}">
                  <a16:creationId xmlns:a16="http://schemas.microsoft.com/office/drawing/2014/main" id="{67CAEFF1-CE7D-4C46-94A9-2E58EB25F38A}"/>
                </a:ext>
              </a:extLst>
            </p:cNvPr>
            <p:cNvCxnSpPr>
              <a:cxnSpLocks/>
              <a:endCxn id="22" idx="0"/>
            </p:cNvCxnSpPr>
            <p:nvPr/>
          </p:nvCxnSpPr>
          <p:spPr>
            <a:xfrm>
              <a:off x="9315253" y="5716820"/>
              <a:ext cx="232528" cy="592201"/>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1A3F16A-1550-1A4A-B2FA-6AAD30380CF8}"/>
                </a:ext>
              </a:extLst>
            </p:cNvPr>
            <p:cNvSpPr/>
            <p:nvPr/>
          </p:nvSpPr>
          <p:spPr>
            <a:xfrm>
              <a:off x="8666558" y="6290790"/>
              <a:ext cx="308098" cy="369332"/>
            </a:xfrm>
            <a:prstGeom prst="rect">
              <a:avLst/>
            </a:prstGeom>
          </p:spPr>
          <p:txBody>
            <a:bodyPr wrap="none">
              <a:spAutoFit/>
            </a:bodyPr>
            <a:lstStyle/>
            <a:p>
              <a:r>
                <a:rPr lang="el-GR" dirty="0"/>
                <a:t>β</a:t>
              </a:r>
              <a:endParaRPr lang="en-US" dirty="0"/>
            </a:p>
          </p:txBody>
        </p:sp>
        <p:cxnSp>
          <p:nvCxnSpPr>
            <p:cNvPr id="26" name="Straight Connector 25">
              <a:extLst>
                <a:ext uri="{FF2B5EF4-FFF2-40B4-BE49-F238E27FC236}">
                  <a16:creationId xmlns:a16="http://schemas.microsoft.com/office/drawing/2014/main" id="{A0280674-F767-6E4D-A8BD-D10D0E3DDF90}"/>
                </a:ext>
              </a:extLst>
            </p:cNvPr>
            <p:cNvCxnSpPr>
              <a:cxnSpLocks/>
              <a:endCxn id="24" idx="0"/>
            </p:cNvCxnSpPr>
            <p:nvPr/>
          </p:nvCxnSpPr>
          <p:spPr>
            <a:xfrm flipH="1">
              <a:off x="8820607" y="5533534"/>
              <a:ext cx="286100" cy="757256"/>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1BC60468-CFE7-EE47-994D-CB6612B648F5}"/>
                </a:ext>
              </a:extLst>
            </p:cNvPr>
            <p:cNvSpPr/>
            <p:nvPr/>
          </p:nvSpPr>
          <p:spPr>
            <a:xfrm>
              <a:off x="10662953" y="4878371"/>
              <a:ext cx="646331" cy="369332"/>
            </a:xfrm>
            <a:prstGeom prst="rect">
              <a:avLst/>
            </a:prstGeom>
          </p:spPr>
          <p:txBody>
            <a:bodyPr wrap="none">
              <a:spAutoFit/>
            </a:bodyPr>
            <a:lstStyle/>
            <a:p>
              <a:r>
                <a:rPr lang="en-US" dirty="0"/>
                <a:t>1 − </a:t>
              </a:r>
              <a:r>
                <a:rPr lang="el-GR" dirty="0"/>
                <a:t>β</a:t>
              </a:r>
              <a:endParaRPr lang="en-US" dirty="0"/>
            </a:p>
          </p:txBody>
        </p:sp>
        <p:cxnSp>
          <p:nvCxnSpPr>
            <p:cNvPr id="30" name="Straight Connector 29">
              <a:extLst>
                <a:ext uri="{FF2B5EF4-FFF2-40B4-BE49-F238E27FC236}">
                  <a16:creationId xmlns:a16="http://schemas.microsoft.com/office/drawing/2014/main" id="{BB878486-346E-474C-B997-32E4648FDC58}"/>
                </a:ext>
              </a:extLst>
            </p:cNvPr>
            <p:cNvCxnSpPr/>
            <p:nvPr/>
          </p:nvCxnSpPr>
          <p:spPr>
            <a:xfrm flipH="1">
              <a:off x="10199802" y="5071621"/>
              <a:ext cx="471340" cy="26395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E12F38B6-47E8-411B-8B7A-4A5C80BBBCAA}"/>
              </a:ext>
            </a:extLst>
          </p:cNvPr>
          <p:cNvSpPr/>
          <p:nvPr/>
        </p:nvSpPr>
        <p:spPr>
          <a:xfrm>
            <a:off x="5439266" y="1285242"/>
            <a:ext cx="286035" cy="3599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B3E4EA5-6E78-4B73-ACAB-93D67976EAFC}"/>
              </a:ext>
            </a:extLst>
          </p:cNvPr>
          <p:cNvSpPr/>
          <p:nvPr/>
        </p:nvSpPr>
        <p:spPr>
          <a:xfrm>
            <a:off x="117469" y="1184639"/>
            <a:ext cx="286035" cy="3599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59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EFC97-E24D-4FE4-B31E-F71A46044605}"/>
              </a:ext>
            </a:extLst>
          </p:cNvPr>
          <p:cNvSpPr/>
          <p:nvPr/>
        </p:nvSpPr>
        <p:spPr>
          <a:xfrm>
            <a:off x="2381956" y="3916197"/>
            <a:ext cx="8748888" cy="1754326"/>
          </a:xfrm>
          <a:prstGeom prst="rect">
            <a:avLst/>
          </a:prstGeom>
        </p:spPr>
        <p:txBody>
          <a:bodyPr wrap="square">
            <a:spAutoFit/>
          </a:bodyPr>
          <a:lstStyle/>
          <a:p>
            <a:r>
              <a:rPr lang="en-US" dirty="0">
                <a:latin typeface="StoneSerif"/>
              </a:rPr>
              <a:t>The type I error is deciding that offspring of men who died from heart disease have an average cholesterol level higher than 175 mg/dL when in fact their average cholesterol level is 175 mg/dL. </a:t>
            </a:r>
          </a:p>
          <a:p>
            <a:endParaRPr lang="en-US" dirty="0">
              <a:latin typeface="StoneSerif"/>
            </a:endParaRPr>
          </a:p>
          <a:p>
            <a:r>
              <a:rPr lang="en-US" dirty="0">
                <a:latin typeface="StoneSerif"/>
              </a:rPr>
              <a:t>The type II error is deciding that the offspring have normal cholesterol levels when in fact their cholesterol levels are above average.</a:t>
            </a:r>
            <a:endParaRPr lang="en-US" dirty="0"/>
          </a:p>
        </p:txBody>
      </p:sp>
      <p:pic>
        <p:nvPicPr>
          <p:cNvPr id="5" name="Picture 4">
            <a:extLst>
              <a:ext uri="{FF2B5EF4-FFF2-40B4-BE49-F238E27FC236}">
                <a16:creationId xmlns:a16="http://schemas.microsoft.com/office/drawing/2014/main" id="{22231040-AD6F-071B-B01D-9A990CFEABF8}"/>
              </a:ext>
            </a:extLst>
          </p:cNvPr>
          <p:cNvPicPr>
            <a:picLocks noChangeAspect="1"/>
          </p:cNvPicPr>
          <p:nvPr/>
        </p:nvPicPr>
        <p:blipFill>
          <a:blip r:embed="rId2"/>
          <a:stretch>
            <a:fillRect/>
          </a:stretch>
        </p:blipFill>
        <p:spPr>
          <a:xfrm>
            <a:off x="2208330" y="1009813"/>
            <a:ext cx="8172450" cy="2152650"/>
          </a:xfrm>
          <a:prstGeom prst="rect">
            <a:avLst/>
          </a:prstGeom>
        </p:spPr>
      </p:pic>
    </p:spTree>
    <p:extLst>
      <p:ext uri="{BB962C8B-B14F-4D97-AF65-F5344CB8AC3E}">
        <p14:creationId xmlns:p14="http://schemas.microsoft.com/office/powerpoint/2010/main" val="170201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60F355B-EFE1-D746-883D-CCBEEBA7218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3628292" y="901212"/>
            <a:ext cx="4607169" cy="241876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8BD996D-6CC4-5249-8216-D63983FF184C}"/>
              </a:ext>
            </a:extLst>
          </p:cNvPr>
          <p:cNvSpPr txBox="1"/>
          <p:nvPr/>
        </p:nvSpPr>
        <p:spPr>
          <a:xfrm>
            <a:off x="339969" y="187569"/>
            <a:ext cx="2518318" cy="369332"/>
          </a:xfrm>
          <a:prstGeom prst="rect">
            <a:avLst/>
          </a:prstGeom>
          <a:noFill/>
        </p:spPr>
        <p:txBody>
          <a:bodyPr wrap="none" rtlCol="0">
            <a:spAutoFit/>
          </a:bodyPr>
          <a:lstStyle/>
          <a:p>
            <a:r>
              <a:rPr lang="en-US" u="sng" dirty="0"/>
              <a:t>Think of it as a court trial</a:t>
            </a:r>
          </a:p>
        </p:txBody>
      </p:sp>
      <p:sp>
        <p:nvSpPr>
          <p:cNvPr id="3" name="TextBox 2">
            <a:extLst>
              <a:ext uri="{FF2B5EF4-FFF2-40B4-BE49-F238E27FC236}">
                <a16:creationId xmlns:a16="http://schemas.microsoft.com/office/drawing/2014/main" id="{8E332B31-E942-C648-AA8F-BC5E27645B34}"/>
              </a:ext>
            </a:extLst>
          </p:cNvPr>
          <p:cNvSpPr txBox="1"/>
          <p:nvPr/>
        </p:nvSpPr>
        <p:spPr>
          <a:xfrm>
            <a:off x="175845" y="3751384"/>
            <a:ext cx="12016155" cy="2677656"/>
          </a:xfrm>
          <a:prstGeom prst="rect">
            <a:avLst/>
          </a:prstGeom>
          <a:noFill/>
        </p:spPr>
        <p:txBody>
          <a:bodyPr wrap="square" rtlCol="0">
            <a:spAutoFit/>
          </a:bodyPr>
          <a:lstStyle/>
          <a:p>
            <a:r>
              <a:rPr lang="en-US" sz="2400" b="1" dirty="0">
                <a:solidFill>
                  <a:srgbClr val="FF0000"/>
                </a:solidFill>
              </a:rPr>
              <a:t>H</a:t>
            </a:r>
            <a:r>
              <a:rPr lang="en-US" sz="2400" b="1" baseline="-25000" dirty="0">
                <a:solidFill>
                  <a:srgbClr val="FF0000"/>
                </a:solidFill>
              </a:rPr>
              <a:t>0</a:t>
            </a:r>
            <a:r>
              <a:rPr lang="en-US" sz="2400" b="1" dirty="0">
                <a:solidFill>
                  <a:srgbClr val="FF0000"/>
                </a:solidFill>
              </a:rPr>
              <a:t>:</a:t>
            </a:r>
            <a:r>
              <a:rPr lang="en-US" sz="2400" b="1" dirty="0"/>
              <a:t> The defendant is </a:t>
            </a:r>
            <a:r>
              <a:rPr lang="en-US" sz="2400" b="1" dirty="0">
                <a:solidFill>
                  <a:srgbClr val="FF0000"/>
                </a:solidFill>
              </a:rPr>
              <a:t>innocent  </a:t>
            </a:r>
            <a:r>
              <a:rPr lang="en-US" sz="2400" b="1" dirty="0"/>
              <a:t>(The protected hypothesis)</a:t>
            </a:r>
          </a:p>
          <a:p>
            <a:endParaRPr lang="en-US" dirty="0">
              <a:solidFill>
                <a:srgbClr val="FF0000"/>
              </a:solidFill>
            </a:endParaRPr>
          </a:p>
          <a:p>
            <a:r>
              <a:rPr lang="en-US" dirty="0"/>
              <a:t>We need strong evidence to convict (reject H</a:t>
            </a:r>
            <a:r>
              <a:rPr lang="en-US" baseline="-25000" dirty="0"/>
              <a:t>0</a:t>
            </a:r>
            <a:r>
              <a:rPr lang="en-US" dirty="0"/>
              <a:t>)</a:t>
            </a:r>
          </a:p>
          <a:p>
            <a:endParaRPr lang="en-US" dirty="0"/>
          </a:p>
          <a:p>
            <a:r>
              <a:rPr lang="en-US" u="sng" dirty="0"/>
              <a:t>How likely is it to observe the evidence (data) if the defendant is innocent?</a:t>
            </a:r>
          </a:p>
          <a:p>
            <a:endParaRPr lang="en-US" dirty="0"/>
          </a:p>
          <a:p>
            <a:r>
              <a:rPr lang="en-US" dirty="0"/>
              <a:t>      It is </a:t>
            </a:r>
            <a:r>
              <a:rPr lang="en-US" dirty="0">
                <a:solidFill>
                  <a:schemeClr val="accent1"/>
                </a:solidFill>
              </a:rPr>
              <a:t>very unlikely</a:t>
            </a:r>
            <a:r>
              <a:rPr lang="en-US" dirty="0"/>
              <a:t> to observe the evidence if the defendant is innocent </a:t>
            </a:r>
            <a:r>
              <a:rPr lang="en-US" dirty="0">
                <a:sym typeface="Wingdings" pitchFamily="2" charset="2"/>
              </a:rPr>
              <a:t> </a:t>
            </a:r>
            <a:r>
              <a:rPr lang="en-US" dirty="0">
                <a:solidFill>
                  <a:schemeClr val="accent1"/>
                </a:solidFill>
                <a:sym typeface="Wingdings" pitchFamily="2" charset="2"/>
              </a:rPr>
              <a:t>Convict</a:t>
            </a:r>
            <a:r>
              <a:rPr lang="en-US" dirty="0">
                <a:sym typeface="Wingdings" pitchFamily="2" charset="2"/>
              </a:rPr>
              <a:t>!</a:t>
            </a:r>
            <a:r>
              <a:rPr lang="zh-CN" altLang="en-US" dirty="0">
                <a:sym typeface="Wingdings" pitchFamily="2" charset="2"/>
              </a:rPr>
              <a:t> </a:t>
            </a:r>
            <a:r>
              <a:rPr lang="en-US" altLang="zh-CN" dirty="0">
                <a:sym typeface="Wingdings" pitchFamily="2" charset="2"/>
              </a:rPr>
              <a:t>(Small p; Reject H</a:t>
            </a:r>
            <a:r>
              <a:rPr lang="en-US" altLang="zh-CN" baseline="-25000" dirty="0">
                <a:sym typeface="Wingdings" pitchFamily="2" charset="2"/>
              </a:rPr>
              <a:t>0</a:t>
            </a:r>
            <a:r>
              <a:rPr lang="en-US" altLang="zh-CN" dirty="0">
                <a:sym typeface="Wingdings" pitchFamily="2" charset="2"/>
              </a:rPr>
              <a:t>)</a:t>
            </a:r>
            <a:endParaRPr lang="en-US" dirty="0">
              <a:sym typeface="Wingdings" pitchFamily="2" charset="2"/>
            </a:endParaRPr>
          </a:p>
          <a:p>
            <a:endParaRPr lang="en-US" dirty="0">
              <a:sym typeface="Wingdings" pitchFamily="2" charset="2"/>
            </a:endParaRPr>
          </a:p>
          <a:p>
            <a:r>
              <a:rPr lang="en-US" dirty="0">
                <a:sym typeface="Wingdings" pitchFamily="2" charset="2"/>
              </a:rPr>
              <a:t>      It is </a:t>
            </a:r>
            <a:r>
              <a:rPr lang="en-US" dirty="0">
                <a:solidFill>
                  <a:schemeClr val="accent1"/>
                </a:solidFill>
                <a:sym typeface="Wingdings" pitchFamily="2" charset="2"/>
              </a:rPr>
              <a:t>plausible t</a:t>
            </a:r>
            <a:r>
              <a:rPr lang="en-US" dirty="0">
                <a:solidFill>
                  <a:schemeClr val="accent1"/>
                </a:solidFill>
              </a:rPr>
              <a:t>o observe</a:t>
            </a:r>
            <a:r>
              <a:rPr lang="en-US" dirty="0"/>
              <a:t> the evidence</a:t>
            </a:r>
            <a:r>
              <a:rPr lang="en-US" dirty="0">
                <a:sym typeface="Wingdings" pitchFamily="2" charset="2"/>
              </a:rPr>
              <a:t> if the defendant is innocent  </a:t>
            </a:r>
            <a:r>
              <a:rPr lang="en-US" dirty="0">
                <a:solidFill>
                  <a:schemeClr val="accent1"/>
                </a:solidFill>
                <a:sym typeface="Wingdings" pitchFamily="2" charset="2"/>
              </a:rPr>
              <a:t>Don’t convict</a:t>
            </a:r>
            <a:r>
              <a:rPr lang="en-US" dirty="0">
                <a:sym typeface="Wingdings" pitchFamily="2" charset="2"/>
              </a:rPr>
              <a:t>!   (p not small enough; cannot r</a:t>
            </a:r>
            <a:r>
              <a:rPr lang="en-US" altLang="zh-CN" dirty="0">
                <a:sym typeface="Wingdings" pitchFamily="2" charset="2"/>
              </a:rPr>
              <a:t>eject H</a:t>
            </a:r>
            <a:r>
              <a:rPr lang="en-US" altLang="zh-CN" baseline="-25000" dirty="0">
                <a:sym typeface="Wingdings" pitchFamily="2" charset="2"/>
              </a:rPr>
              <a:t>0</a:t>
            </a:r>
            <a:r>
              <a:rPr lang="en-US" altLang="zh-CN" dirty="0">
                <a:sym typeface="Wingdings" pitchFamily="2" charset="2"/>
              </a:rPr>
              <a:t>)</a:t>
            </a:r>
            <a:endParaRPr lang="en-US" dirty="0"/>
          </a:p>
        </p:txBody>
      </p:sp>
    </p:spTree>
    <p:extLst>
      <p:ext uri="{BB962C8B-B14F-4D97-AF65-F5344CB8AC3E}">
        <p14:creationId xmlns:p14="http://schemas.microsoft.com/office/powerpoint/2010/main" val="147961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84DD25-7832-F64C-AD95-94561DB6F48C}"/>
              </a:ext>
            </a:extLst>
          </p:cNvPr>
          <p:cNvSpPr txBox="1"/>
          <p:nvPr/>
        </p:nvSpPr>
        <p:spPr>
          <a:xfrm>
            <a:off x="339969" y="187569"/>
            <a:ext cx="2518318" cy="369332"/>
          </a:xfrm>
          <a:prstGeom prst="rect">
            <a:avLst/>
          </a:prstGeom>
          <a:noFill/>
        </p:spPr>
        <p:txBody>
          <a:bodyPr wrap="none" rtlCol="0">
            <a:spAutoFit/>
          </a:bodyPr>
          <a:lstStyle/>
          <a:p>
            <a:r>
              <a:rPr lang="en-US" u="sng" dirty="0"/>
              <a:t>Think of it as a court trial</a:t>
            </a:r>
          </a:p>
        </p:txBody>
      </p:sp>
      <p:sp>
        <p:nvSpPr>
          <p:cNvPr id="3" name="TextBox 2">
            <a:extLst>
              <a:ext uri="{FF2B5EF4-FFF2-40B4-BE49-F238E27FC236}">
                <a16:creationId xmlns:a16="http://schemas.microsoft.com/office/drawing/2014/main" id="{DCC631F5-71DC-0C40-A71F-00A8584F1C45}"/>
              </a:ext>
            </a:extLst>
          </p:cNvPr>
          <p:cNvSpPr txBox="1"/>
          <p:nvPr/>
        </p:nvSpPr>
        <p:spPr>
          <a:xfrm>
            <a:off x="726832" y="726775"/>
            <a:ext cx="5864426" cy="1477328"/>
          </a:xfrm>
          <a:prstGeom prst="rect">
            <a:avLst/>
          </a:prstGeom>
          <a:noFill/>
        </p:spPr>
        <p:txBody>
          <a:bodyPr wrap="none" rtlCol="0">
            <a:spAutoFit/>
          </a:bodyPr>
          <a:lstStyle/>
          <a:p>
            <a:r>
              <a:rPr lang="en-US" dirty="0"/>
              <a:t>When an H</a:t>
            </a:r>
            <a:r>
              <a:rPr lang="en-US" baseline="-25000" dirty="0"/>
              <a:t>0</a:t>
            </a:r>
            <a:r>
              <a:rPr lang="en-US" dirty="0"/>
              <a:t> is not rejected –</a:t>
            </a:r>
          </a:p>
          <a:p>
            <a:endParaRPr lang="en-US" dirty="0"/>
          </a:p>
          <a:p>
            <a:r>
              <a:rPr lang="en-US" dirty="0"/>
              <a:t>      Doesn’t mean it is true</a:t>
            </a:r>
          </a:p>
          <a:p>
            <a:endParaRPr lang="en-US" dirty="0"/>
          </a:p>
          <a:p>
            <a:r>
              <a:rPr lang="en-US" dirty="0"/>
              <a:t>      It only means we don’t have sufficient evidence against it</a:t>
            </a:r>
          </a:p>
        </p:txBody>
      </p:sp>
      <p:sp>
        <p:nvSpPr>
          <p:cNvPr id="4" name="AutoShape 2" descr="See the source image">
            <a:extLst>
              <a:ext uri="{FF2B5EF4-FFF2-40B4-BE49-F238E27FC236}">
                <a16:creationId xmlns:a16="http://schemas.microsoft.com/office/drawing/2014/main" id="{9F2D86DD-ECF5-AB47-8F9A-8800598768C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descr="See the source image">
            <a:extLst>
              <a:ext uri="{FF2B5EF4-FFF2-40B4-BE49-F238E27FC236}">
                <a16:creationId xmlns:a16="http://schemas.microsoft.com/office/drawing/2014/main" id="{318F174E-FBF2-D248-9311-E95F4CB8A0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6900" y="372235"/>
            <a:ext cx="2183130" cy="33586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2E74BCD-A9B0-094C-8758-F9A3CE4A4046}"/>
              </a:ext>
            </a:extLst>
          </p:cNvPr>
          <p:cNvPicPr>
            <a:picLocks noChangeAspect="1"/>
          </p:cNvPicPr>
          <p:nvPr/>
        </p:nvPicPr>
        <p:blipFill>
          <a:blip r:embed="rId3"/>
          <a:stretch>
            <a:fillRect/>
          </a:stretch>
        </p:blipFill>
        <p:spPr>
          <a:xfrm>
            <a:off x="1773194" y="2368062"/>
            <a:ext cx="5889929" cy="4273086"/>
          </a:xfrm>
          <a:prstGeom prst="rect">
            <a:avLst/>
          </a:prstGeom>
        </p:spPr>
      </p:pic>
      <p:sp>
        <p:nvSpPr>
          <p:cNvPr id="6" name="TextBox 5">
            <a:extLst>
              <a:ext uri="{FF2B5EF4-FFF2-40B4-BE49-F238E27FC236}">
                <a16:creationId xmlns:a16="http://schemas.microsoft.com/office/drawing/2014/main" id="{82F6F9DD-7628-3F4A-9E77-1A9E980E45D7}"/>
              </a:ext>
            </a:extLst>
          </p:cNvPr>
          <p:cNvSpPr txBox="1"/>
          <p:nvPr/>
        </p:nvSpPr>
        <p:spPr>
          <a:xfrm>
            <a:off x="8336118" y="5205046"/>
            <a:ext cx="3324693" cy="923330"/>
          </a:xfrm>
          <a:prstGeom prst="rect">
            <a:avLst/>
          </a:prstGeom>
          <a:noFill/>
        </p:spPr>
        <p:txBody>
          <a:bodyPr wrap="none" rtlCol="0">
            <a:spAutoFit/>
          </a:bodyPr>
          <a:lstStyle/>
          <a:p>
            <a:r>
              <a:rPr lang="en-US" dirty="0"/>
              <a:t>Strength of evidence is </a:t>
            </a:r>
            <a:r>
              <a:rPr lang="en-US" u="sng" dirty="0"/>
              <a:t>subjective</a:t>
            </a:r>
          </a:p>
          <a:p>
            <a:endParaRPr lang="en-US" dirty="0"/>
          </a:p>
          <a:p>
            <a:r>
              <a:rPr lang="en-US" dirty="0"/>
              <a:t>Truth is (almost) never known</a:t>
            </a:r>
          </a:p>
        </p:txBody>
      </p:sp>
    </p:spTree>
    <p:extLst>
      <p:ext uri="{BB962C8B-B14F-4D97-AF65-F5344CB8AC3E}">
        <p14:creationId xmlns:p14="http://schemas.microsoft.com/office/powerpoint/2010/main" val="78083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BC60F4-BA01-AA46-A759-CF0453304321}"/>
              </a:ext>
            </a:extLst>
          </p:cNvPr>
          <p:cNvSpPr txBox="1"/>
          <p:nvPr/>
        </p:nvSpPr>
        <p:spPr>
          <a:xfrm>
            <a:off x="4618894" y="773723"/>
            <a:ext cx="1995162" cy="369332"/>
          </a:xfrm>
          <a:prstGeom prst="rect">
            <a:avLst/>
          </a:prstGeom>
          <a:noFill/>
          <a:ln w="38100">
            <a:noFill/>
          </a:ln>
        </p:spPr>
        <p:txBody>
          <a:bodyPr wrap="none" rtlCol="0">
            <a:spAutoFit/>
          </a:bodyPr>
          <a:lstStyle/>
          <a:p>
            <a:r>
              <a:rPr lang="en-US" dirty="0"/>
              <a:t>The unknown truth</a:t>
            </a:r>
          </a:p>
        </p:txBody>
      </p:sp>
      <p:sp>
        <p:nvSpPr>
          <p:cNvPr id="3" name="TextBox 2">
            <a:extLst>
              <a:ext uri="{FF2B5EF4-FFF2-40B4-BE49-F238E27FC236}">
                <a16:creationId xmlns:a16="http://schemas.microsoft.com/office/drawing/2014/main" id="{34991DDF-214A-4B45-9F72-3667BC790269}"/>
              </a:ext>
            </a:extLst>
          </p:cNvPr>
          <p:cNvSpPr txBox="1"/>
          <p:nvPr/>
        </p:nvSpPr>
        <p:spPr>
          <a:xfrm>
            <a:off x="3176954" y="2145323"/>
            <a:ext cx="620554" cy="369332"/>
          </a:xfrm>
          <a:prstGeom prst="rect">
            <a:avLst/>
          </a:prstGeom>
          <a:noFill/>
          <a:ln w="38100">
            <a:noFill/>
          </a:ln>
        </p:spPr>
        <p:txBody>
          <a:bodyPr wrap="none" rtlCol="0">
            <a:spAutoFit/>
          </a:bodyPr>
          <a:lstStyle/>
          <a:p>
            <a:r>
              <a:rPr lang="en-US" dirty="0"/>
              <a:t>Data</a:t>
            </a:r>
          </a:p>
        </p:txBody>
      </p:sp>
      <p:sp>
        <p:nvSpPr>
          <p:cNvPr id="4" name="TextBox 3">
            <a:extLst>
              <a:ext uri="{FF2B5EF4-FFF2-40B4-BE49-F238E27FC236}">
                <a16:creationId xmlns:a16="http://schemas.microsoft.com/office/drawing/2014/main" id="{2A871C1C-2E51-5149-8C8E-1697F4849676}"/>
              </a:ext>
            </a:extLst>
          </p:cNvPr>
          <p:cNvSpPr txBox="1"/>
          <p:nvPr/>
        </p:nvSpPr>
        <p:spPr>
          <a:xfrm>
            <a:off x="7069015" y="2145323"/>
            <a:ext cx="1516313" cy="369332"/>
          </a:xfrm>
          <a:prstGeom prst="rect">
            <a:avLst/>
          </a:prstGeom>
          <a:noFill/>
          <a:ln w="38100">
            <a:noFill/>
          </a:ln>
        </p:spPr>
        <p:txBody>
          <a:bodyPr wrap="none" rtlCol="0">
            <a:spAutoFit/>
          </a:bodyPr>
          <a:lstStyle/>
          <a:p>
            <a:r>
              <a:rPr lang="en-US" dirty="0"/>
              <a:t>Testing results</a:t>
            </a:r>
          </a:p>
        </p:txBody>
      </p:sp>
      <p:cxnSp>
        <p:nvCxnSpPr>
          <p:cNvPr id="6" name="Straight Arrow Connector 5">
            <a:extLst>
              <a:ext uri="{FF2B5EF4-FFF2-40B4-BE49-F238E27FC236}">
                <a16:creationId xmlns:a16="http://schemas.microsoft.com/office/drawing/2014/main" id="{02CAD95E-E90F-864D-849E-525B340DC705}"/>
              </a:ext>
            </a:extLst>
          </p:cNvPr>
          <p:cNvCxnSpPr>
            <a:stCxn id="2" idx="2"/>
            <a:endCxn id="3" idx="0"/>
          </p:cNvCxnSpPr>
          <p:nvPr/>
        </p:nvCxnSpPr>
        <p:spPr>
          <a:xfrm flipH="1">
            <a:off x="3487231" y="1143055"/>
            <a:ext cx="2129244" cy="10022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EE87BD8-9D64-2944-965F-6FEDB25FA52E}"/>
              </a:ext>
            </a:extLst>
          </p:cNvPr>
          <p:cNvCxnSpPr>
            <a:stCxn id="3" idx="3"/>
            <a:endCxn id="4" idx="1"/>
          </p:cNvCxnSpPr>
          <p:nvPr/>
        </p:nvCxnSpPr>
        <p:spPr>
          <a:xfrm>
            <a:off x="3797508" y="2329989"/>
            <a:ext cx="327150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2EAEA70-80EF-9045-937E-6658D5F9CE0B}"/>
              </a:ext>
            </a:extLst>
          </p:cNvPr>
          <p:cNvCxnSpPr>
            <a:stCxn id="4" idx="0"/>
            <a:endCxn id="2" idx="2"/>
          </p:cNvCxnSpPr>
          <p:nvPr/>
        </p:nvCxnSpPr>
        <p:spPr>
          <a:xfrm flipH="1" flipV="1">
            <a:off x="5616475" y="1143055"/>
            <a:ext cx="2210697" cy="1002268"/>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9D79AF-3B0D-7149-8C46-259E9DD1C5E2}"/>
              </a:ext>
            </a:extLst>
          </p:cNvPr>
          <p:cNvSpPr txBox="1"/>
          <p:nvPr/>
        </p:nvSpPr>
        <p:spPr>
          <a:xfrm>
            <a:off x="2462463" y="2907322"/>
            <a:ext cx="2049535" cy="646331"/>
          </a:xfrm>
          <a:prstGeom prst="rect">
            <a:avLst/>
          </a:prstGeom>
          <a:noFill/>
          <a:ln w="38100">
            <a:noFill/>
          </a:ln>
        </p:spPr>
        <p:txBody>
          <a:bodyPr wrap="square" rtlCol="0">
            <a:spAutoFit/>
          </a:bodyPr>
          <a:lstStyle/>
          <a:p>
            <a:r>
              <a:rPr lang="en-US" dirty="0"/>
              <a:t>Assumptions about true model</a:t>
            </a:r>
          </a:p>
        </p:txBody>
      </p:sp>
      <p:cxnSp>
        <p:nvCxnSpPr>
          <p:cNvPr id="13" name="Straight Connector 12">
            <a:extLst>
              <a:ext uri="{FF2B5EF4-FFF2-40B4-BE49-F238E27FC236}">
                <a16:creationId xmlns:a16="http://schemas.microsoft.com/office/drawing/2014/main" id="{773CB730-AA89-8F43-9533-77E12C1B2CDC}"/>
              </a:ext>
            </a:extLst>
          </p:cNvPr>
          <p:cNvCxnSpPr>
            <a:cxnSpLocks/>
            <a:stCxn id="11" idx="3"/>
          </p:cNvCxnSpPr>
          <p:nvPr/>
        </p:nvCxnSpPr>
        <p:spPr>
          <a:xfrm flipV="1">
            <a:off x="4511998" y="2329989"/>
            <a:ext cx="1068614" cy="90049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8E0D6CC0-12D9-6246-B8B9-F9C6D91E0DE3}"/>
              </a:ext>
            </a:extLst>
          </p:cNvPr>
          <p:cNvPicPr>
            <a:picLocks noChangeAspect="1"/>
          </p:cNvPicPr>
          <p:nvPr/>
        </p:nvPicPr>
        <p:blipFill>
          <a:blip r:embed="rId2"/>
          <a:stretch>
            <a:fillRect/>
          </a:stretch>
        </p:blipFill>
        <p:spPr>
          <a:xfrm>
            <a:off x="4357990" y="3738209"/>
            <a:ext cx="6663447" cy="1414521"/>
          </a:xfrm>
          <a:prstGeom prst="rect">
            <a:avLst/>
          </a:prstGeom>
        </p:spPr>
      </p:pic>
      <p:sp>
        <p:nvSpPr>
          <p:cNvPr id="18" name="TextBox 17">
            <a:extLst>
              <a:ext uri="{FF2B5EF4-FFF2-40B4-BE49-F238E27FC236}">
                <a16:creationId xmlns:a16="http://schemas.microsoft.com/office/drawing/2014/main" id="{F230617C-1395-D94B-B3D2-D12C8214ABD7}"/>
              </a:ext>
            </a:extLst>
          </p:cNvPr>
          <p:cNvSpPr txBox="1"/>
          <p:nvPr/>
        </p:nvSpPr>
        <p:spPr>
          <a:xfrm>
            <a:off x="339969" y="187569"/>
            <a:ext cx="2518318" cy="369332"/>
          </a:xfrm>
          <a:prstGeom prst="rect">
            <a:avLst/>
          </a:prstGeom>
          <a:noFill/>
        </p:spPr>
        <p:txBody>
          <a:bodyPr wrap="none" rtlCol="0">
            <a:spAutoFit/>
          </a:bodyPr>
          <a:lstStyle/>
          <a:p>
            <a:r>
              <a:rPr lang="en-US" u="sng" dirty="0"/>
              <a:t>Think of it as a court trial</a:t>
            </a:r>
          </a:p>
        </p:txBody>
      </p:sp>
      <p:pic>
        <p:nvPicPr>
          <p:cNvPr id="5" name="Picture 4">
            <a:extLst>
              <a:ext uri="{FF2B5EF4-FFF2-40B4-BE49-F238E27FC236}">
                <a16:creationId xmlns:a16="http://schemas.microsoft.com/office/drawing/2014/main" id="{53C15EC9-7071-4FB2-88B8-EDA98F8FCE59}"/>
              </a:ext>
            </a:extLst>
          </p:cNvPr>
          <p:cNvPicPr>
            <a:picLocks noChangeAspect="1"/>
          </p:cNvPicPr>
          <p:nvPr/>
        </p:nvPicPr>
        <p:blipFill>
          <a:blip r:embed="rId3"/>
          <a:stretch>
            <a:fillRect/>
          </a:stretch>
        </p:blipFill>
        <p:spPr>
          <a:xfrm>
            <a:off x="4351123" y="5281257"/>
            <a:ext cx="6967212" cy="1279692"/>
          </a:xfrm>
          <a:prstGeom prst="rect">
            <a:avLst/>
          </a:prstGeom>
        </p:spPr>
      </p:pic>
    </p:spTree>
    <p:extLst>
      <p:ext uri="{BB962C8B-B14F-4D97-AF65-F5344CB8AC3E}">
        <p14:creationId xmlns:p14="http://schemas.microsoft.com/office/powerpoint/2010/main" val="170933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AFA885-6951-CE4D-92B5-CAA67B2B78D7}"/>
              </a:ext>
            </a:extLst>
          </p:cNvPr>
          <p:cNvSpPr txBox="1"/>
          <p:nvPr/>
        </p:nvSpPr>
        <p:spPr>
          <a:xfrm>
            <a:off x="339969" y="187569"/>
            <a:ext cx="2518318" cy="369332"/>
          </a:xfrm>
          <a:prstGeom prst="rect">
            <a:avLst/>
          </a:prstGeom>
          <a:noFill/>
        </p:spPr>
        <p:txBody>
          <a:bodyPr wrap="none" rtlCol="0">
            <a:spAutoFit/>
          </a:bodyPr>
          <a:lstStyle/>
          <a:p>
            <a:r>
              <a:rPr lang="en-US" u="sng" dirty="0"/>
              <a:t>Think of it as a court trial</a:t>
            </a:r>
          </a:p>
        </p:txBody>
      </p:sp>
      <p:sp>
        <p:nvSpPr>
          <p:cNvPr id="3" name="TextBox 2">
            <a:extLst>
              <a:ext uri="{FF2B5EF4-FFF2-40B4-BE49-F238E27FC236}">
                <a16:creationId xmlns:a16="http://schemas.microsoft.com/office/drawing/2014/main" id="{949F0771-823B-274D-B44F-503223171E83}"/>
              </a:ext>
            </a:extLst>
          </p:cNvPr>
          <p:cNvSpPr txBox="1"/>
          <p:nvPr/>
        </p:nvSpPr>
        <p:spPr>
          <a:xfrm>
            <a:off x="214357" y="996463"/>
            <a:ext cx="11820993" cy="2769989"/>
          </a:xfrm>
          <a:prstGeom prst="rect">
            <a:avLst/>
          </a:prstGeom>
          <a:noFill/>
        </p:spPr>
        <p:txBody>
          <a:bodyPr wrap="none" rtlCol="0">
            <a:spAutoFit/>
          </a:bodyPr>
          <a:lstStyle/>
          <a:p>
            <a:r>
              <a:rPr lang="en-US" dirty="0"/>
              <a:t>Type 1 error – mistakenly convict someone who is truly innocent  	(Reject H</a:t>
            </a:r>
            <a:r>
              <a:rPr lang="en-US" baseline="-25000" dirty="0"/>
              <a:t>0</a:t>
            </a:r>
            <a:r>
              <a:rPr lang="en-US" dirty="0"/>
              <a:t> when it is actually true)	</a:t>
            </a:r>
            <a:r>
              <a:rPr lang="en-US" sz="2400" b="1" dirty="0">
                <a:solidFill>
                  <a:srgbClr val="0070C0"/>
                </a:solidFill>
              </a:rPr>
              <a:t>𝛼</a:t>
            </a:r>
          </a:p>
          <a:p>
            <a:endParaRPr lang="en-US" dirty="0"/>
          </a:p>
          <a:p>
            <a:r>
              <a:rPr lang="en-US" dirty="0"/>
              <a:t>Type 2 error – let a true criminal walk free			(Accept H</a:t>
            </a:r>
            <a:r>
              <a:rPr lang="en-US" baseline="-25000" dirty="0"/>
              <a:t>0</a:t>
            </a:r>
            <a:r>
              <a:rPr lang="en-US" dirty="0"/>
              <a:t> when it is actually false)	</a:t>
            </a:r>
            <a:r>
              <a:rPr lang="en-US" sz="2400" b="1" dirty="0">
                <a:solidFill>
                  <a:srgbClr val="0070C0"/>
                </a:solidFill>
              </a:rPr>
              <a:t>𝛽</a:t>
            </a:r>
          </a:p>
          <a:p>
            <a:endParaRPr lang="en-US" dirty="0"/>
          </a:p>
          <a:p>
            <a:r>
              <a:rPr lang="en-US" dirty="0"/>
              <a:t>A trade off:</a:t>
            </a:r>
          </a:p>
          <a:p>
            <a:endParaRPr lang="en-US" dirty="0"/>
          </a:p>
          <a:p>
            <a:r>
              <a:rPr lang="en-US" dirty="0"/>
              <a:t>	If we require weaker evidence to convict, we make more type 1 error, and less type 2 error</a:t>
            </a:r>
          </a:p>
          <a:p>
            <a:endParaRPr lang="en-US" dirty="0"/>
          </a:p>
          <a:p>
            <a:r>
              <a:rPr lang="en-US" dirty="0"/>
              <a:t>	We would rather let some criminal walk free, than mistakenly convict someone and ruin the innocent person’s life.</a:t>
            </a:r>
          </a:p>
        </p:txBody>
      </p:sp>
      <p:sp>
        <p:nvSpPr>
          <p:cNvPr id="4" name="Rectangle 3">
            <a:extLst>
              <a:ext uri="{FF2B5EF4-FFF2-40B4-BE49-F238E27FC236}">
                <a16:creationId xmlns:a16="http://schemas.microsoft.com/office/drawing/2014/main" id="{7AC37A86-4D23-E041-8297-5FF0119DD213}"/>
              </a:ext>
            </a:extLst>
          </p:cNvPr>
          <p:cNvSpPr/>
          <p:nvPr/>
        </p:nvSpPr>
        <p:spPr>
          <a:xfrm>
            <a:off x="4845959" y="4094092"/>
            <a:ext cx="1107996" cy="369332"/>
          </a:xfrm>
          <a:prstGeom prst="rect">
            <a:avLst/>
          </a:prstGeom>
        </p:spPr>
        <p:txBody>
          <a:bodyPr wrap="none">
            <a:spAutoFit/>
          </a:bodyPr>
          <a:lstStyle/>
          <a:p>
            <a:r>
              <a:rPr lang="zh-CN" altLang="en-US" b="1" dirty="0">
                <a:solidFill>
                  <a:schemeClr val="accent6">
                    <a:lumMod val="75000"/>
                  </a:schemeClr>
                </a:solidFill>
                <a:hlinkClick r:id="rId2">
                  <a:extLst>
                    <a:ext uri="{A12FA001-AC4F-418D-AE19-62706E023703}">
                      <ahyp:hlinkClr xmlns:ahyp="http://schemas.microsoft.com/office/drawing/2018/hyperlinkcolor" val="tx"/>
                    </a:ext>
                  </a:extLst>
                </a:hlinkClick>
              </a:rPr>
              <a:t>疑罪从无</a:t>
            </a:r>
            <a:endParaRPr lang="zh-CN" altLang="en-US" b="1" dirty="0">
              <a:solidFill>
                <a:schemeClr val="accent6">
                  <a:lumMod val="75000"/>
                </a:schemeClr>
              </a:solidFill>
            </a:endParaRPr>
          </a:p>
        </p:txBody>
      </p:sp>
      <p:sp>
        <p:nvSpPr>
          <p:cNvPr id="5" name="Rectangle 4">
            <a:extLst>
              <a:ext uri="{FF2B5EF4-FFF2-40B4-BE49-F238E27FC236}">
                <a16:creationId xmlns:a16="http://schemas.microsoft.com/office/drawing/2014/main" id="{3C5930DA-9B93-F54C-A9FF-86D60690E58C}"/>
              </a:ext>
            </a:extLst>
          </p:cNvPr>
          <p:cNvSpPr/>
          <p:nvPr/>
        </p:nvSpPr>
        <p:spPr>
          <a:xfrm>
            <a:off x="4845959" y="5386753"/>
            <a:ext cx="1107996" cy="369332"/>
          </a:xfrm>
          <a:prstGeom prst="rect">
            <a:avLst/>
          </a:prstGeom>
        </p:spPr>
        <p:txBody>
          <a:bodyPr wrap="none">
            <a:spAutoFit/>
          </a:bodyPr>
          <a:lstStyle/>
          <a:p>
            <a:r>
              <a:rPr lang="zh-CN" altLang="en-US" u="sng" dirty="0">
                <a:solidFill>
                  <a:srgbClr val="FF0000"/>
                </a:solidFill>
              </a:rPr>
              <a:t>宁枉勿纵</a:t>
            </a:r>
            <a:endParaRPr lang="en-US" u="sng" dirty="0">
              <a:solidFill>
                <a:srgbClr val="FF0000"/>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98BD67-7722-324C-B6E4-D4C6F66BCD36}"/>
                  </a:ext>
                </a:extLst>
              </p:cNvPr>
              <p:cNvSpPr txBox="1"/>
              <p:nvPr/>
            </p:nvSpPr>
            <p:spPr>
              <a:xfrm>
                <a:off x="4892767" y="4894310"/>
                <a:ext cx="1061188" cy="13542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800" i="1" smtClean="0">
                          <a:solidFill>
                            <a:srgbClr val="FF0000"/>
                          </a:solidFill>
                          <a:latin typeface="Cambria Math" panose="02040503050406030204" pitchFamily="18" charset="0"/>
                          <a:ea typeface="Cambria Math" panose="02040503050406030204" pitchFamily="18" charset="0"/>
                        </a:rPr>
                        <m:t>×</m:t>
                      </m:r>
                    </m:oMath>
                  </m:oMathPara>
                </a14:m>
                <a:endParaRPr lang="en-US" sz="8800" dirty="0">
                  <a:solidFill>
                    <a:srgbClr val="FF0000"/>
                  </a:solidFill>
                </a:endParaRPr>
              </a:p>
            </p:txBody>
          </p:sp>
        </mc:Choice>
        <mc:Fallback xmlns="">
          <p:sp>
            <p:nvSpPr>
              <p:cNvPr id="6" name="TextBox 5">
                <a:extLst>
                  <a:ext uri="{FF2B5EF4-FFF2-40B4-BE49-F238E27FC236}">
                    <a16:creationId xmlns:a16="http://schemas.microsoft.com/office/drawing/2014/main" id="{0898BD67-7722-324C-B6E4-D4C6F66BCD36}"/>
                  </a:ext>
                </a:extLst>
              </p:cNvPr>
              <p:cNvSpPr txBox="1">
                <a:spLocks noRot="1" noChangeAspect="1" noMove="1" noResize="1" noEditPoints="1" noAdjustHandles="1" noChangeArrowheads="1" noChangeShapeType="1" noTextEdit="1"/>
              </p:cNvSpPr>
              <p:nvPr/>
            </p:nvSpPr>
            <p:spPr>
              <a:xfrm>
                <a:off x="4892767" y="4894310"/>
                <a:ext cx="1061188" cy="1354217"/>
              </a:xfrm>
              <a:prstGeom prst="rect">
                <a:avLst/>
              </a:prstGeom>
              <a:blipFill>
                <a:blip r:embed="rId3"/>
                <a:stretch>
                  <a:fillRect l="-16667" r="-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5700930-606F-824C-879F-A4D4D0CB6DB4}"/>
                  </a:ext>
                </a:extLst>
              </p:cNvPr>
              <p:cNvSpPr txBox="1"/>
              <p:nvPr/>
            </p:nvSpPr>
            <p:spPr>
              <a:xfrm>
                <a:off x="6249853" y="3698182"/>
                <a:ext cx="823944" cy="10156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6600" b="0" i="1" smtClean="0">
                          <a:solidFill>
                            <a:schemeClr val="accent6">
                              <a:lumMod val="75000"/>
                            </a:schemeClr>
                          </a:solidFill>
                          <a:latin typeface="Cambria Math" panose="02040503050406030204" pitchFamily="18" charset="0"/>
                        </a:rPr>
                        <m:t>✓</m:t>
                      </m:r>
                    </m:oMath>
                  </m:oMathPara>
                </a14:m>
                <a:endParaRPr lang="en-US" sz="6600" dirty="0">
                  <a:solidFill>
                    <a:schemeClr val="accent6">
                      <a:lumMod val="75000"/>
                    </a:schemeClr>
                  </a:solidFill>
                </a:endParaRPr>
              </a:p>
            </p:txBody>
          </p:sp>
        </mc:Choice>
        <mc:Fallback xmlns="">
          <p:sp>
            <p:nvSpPr>
              <p:cNvPr id="7" name="TextBox 6">
                <a:extLst>
                  <a:ext uri="{FF2B5EF4-FFF2-40B4-BE49-F238E27FC236}">
                    <a16:creationId xmlns:a16="http://schemas.microsoft.com/office/drawing/2014/main" id="{05700930-606F-824C-879F-A4D4D0CB6DB4}"/>
                  </a:ext>
                </a:extLst>
              </p:cNvPr>
              <p:cNvSpPr txBox="1">
                <a:spLocks noRot="1" noChangeAspect="1" noMove="1" noResize="1" noEditPoints="1" noAdjustHandles="1" noChangeArrowheads="1" noChangeShapeType="1" noTextEdit="1"/>
              </p:cNvSpPr>
              <p:nvPr/>
            </p:nvSpPr>
            <p:spPr>
              <a:xfrm>
                <a:off x="6249853" y="3698182"/>
                <a:ext cx="823944" cy="1015663"/>
              </a:xfrm>
              <a:prstGeom prst="rect">
                <a:avLst/>
              </a:prstGeom>
              <a:blipFill>
                <a:blip r:embed="rId4"/>
                <a:stretch>
                  <a:fillRect l="-26154" r="-27692" b="-7407"/>
                </a:stretch>
              </a:blipFill>
            </p:spPr>
            <p:txBody>
              <a:bodyPr/>
              <a:lstStyle/>
              <a:p>
                <a:r>
                  <a:rPr lang="en-US">
                    <a:noFill/>
                  </a:rPr>
                  <a:t> </a:t>
                </a:r>
              </a:p>
            </p:txBody>
          </p:sp>
        </mc:Fallback>
      </mc:AlternateContent>
      <p:graphicFrame>
        <p:nvGraphicFramePr>
          <p:cNvPr id="8" name="Table 11">
            <a:extLst>
              <a:ext uri="{FF2B5EF4-FFF2-40B4-BE49-F238E27FC236}">
                <a16:creationId xmlns:a16="http://schemas.microsoft.com/office/drawing/2014/main" id="{E4ED7C8B-62AE-5648-9767-F0CD641587E3}"/>
              </a:ext>
            </a:extLst>
          </p:cNvPr>
          <p:cNvGraphicFramePr>
            <a:graphicFrameLocks noGrp="1"/>
          </p:cNvGraphicFramePr>
          <p:nvPr>
            <p:extLst>
              <p:ext uri="{D42A27DB-BD31-4B8C-83A1-F6EECF244321}">
                <p14:modId xmlns:p14="http://schemas.microsoft.com/office/powerpoint/2010/main" val="113739060"/>
              </p:ext>
            </p:extLst>
          </p:nvPr>
        </p:nvGraphicFramePr>
        <p:xfrm>
          <a:off x="8134597" y="5065205"/>
          <a:ext cx="3735624" cy="1112520"/>
        </p:xfrm>
        <a:graphic>
          <a:graphicData uri="http://schemas.openxmlformats.org/drawingml/2006/table">
            <a:tbl>
              <a:tblPr firstRow="1" bandRow="1">
                <a:tableStyleId>{5C22544A-7EE6-4342-B048-85BDC9FD1C3A}</a:tableStyleId>
              </a:tblPr>
              <a:tblGrid>
                <a:gridCol w="1245208">
                  <a:extLst>
                    <a:ext uri="{9D8B030D-6E8A-4147-A177-3AD203B41FA5}">
                      <a16:colId xmlns:a16="http://schemas.microsoft.com/office/drawing/2014/main" val="2831529369"/>
                    </a:ext>
                  </a:extLst>
                </a:gridCol>
                <a:gridCol w="1245208">
                  <a:extLst>
                    <a:ext uri="{9D8B030D-6E8A-4147-A177-3AD203B41FA5}">
                      <a16:colId xmlns:a16="http://schemas.microsoft.com/office/drawing/2014/main" val="1954156464"/>
                    </a:ext>
                  </a:extLst>
                </a:gridCol>
                <a:gridCol w="1245208">
                  <a:extLst>
                    <a:ext uri="{9D8B030D-6E8A-4147-A177-3AD203B41FA5}">
                      <a16:colId xmlns:a16="http://schemas.microsoft.com/office/drawing/2014/main" val="2253199097"/>
                    </a:ext>
                  </a:extLst>
                </a:gridCol>
              </a:tblGrid>
              <a:tr h="370840">
                <a:tc>
                  <a:txBody>
                    <a:bodyPr/>
                    <a:lstStyle/>
                    <a:p>
                      <a:pPr algn="ctr"/>
                      <a:endParaRPr lang="en-US" dirty="0"/>
                    </a:p>
                  </a:txBody>
                  <a:tcPr/>
                </a:tc>
                <a:tc>
                  <a:txBody>
                    <a:bodyPr/>
                    <a:lstStyle/>
                    <a:p>
                      <a:pPr algn="ctr"/>
                      <a:r>
                        <a:rPr lang="en-US" dirty="0"/>
                        <a:t>Accept H</a:t>
                      </a:r>
                      <a:r>
                        <a:rPr lang="en-US" baseline="-25000" dirty="0"/>
                        <a:t>0</a:t>
                      </a:r>
                    </a:p>
                  </a:txBody>
                  <a:tcPr/>
                </a:tc>
                <a:tc>
                  <a:txBody>
                    <a:bodyPr/>
                    <a:lstStyle/>
                    <a:p>
                      <a:pPr algn="ctr"/>
                      <a:r>
                        <a:rPr lang="en-US" dirty="0"/>
                        <a:t>Reject H</a:t>
                      </a:r>
                      <a:r>
                        <a:rPr lang="en-US" baseline="-25000" dirty="0"/>
                        <a:t>0</a:t>
                      </a:r>
                    </a:p>
                  </a:txBody>
                  <a:tcPr/>
                </a:tc>
                <a:extLst>
                  <a:ext uri="{0D108BD9-81ED-4DB2-BD59-A6C34878D82A}">
                    <a16:rowId xmlns:a16="http://schemas.microsoft.com/office/drawing/2014/main" val="3094923101"/>
                  </a:ext>
                </a:extLst>
              </a:tr>
              <a:tr h="370840">
                <a:tc>
                  <a:txBody>
                    <a:bodyPr/>
                    <a:lstStyle/>
                    <a:p>
                      <a:pPr algn="ctr"/>
                      <a:r>
                        <a:rPr lang="en-US" dirty="0"/>
                        <a:t>H</a:t>
                      </a:r>
                      <a:r>
                        <a:rPr lang="en-US" baseline="-25000" dirty="0"/>
                        <a:t>0</a:t>
                      </a:r>
                      <a:r>
                        <a:rPr lang="en-US" dirty="0"/>
                        <a:t> is true</a:t>
                      </a:r>
                    </a:p>
                  </a:txBody>
                  <a:tcPr/>
                </a:tc>
                <a:tc>
                  <a:txBody>
                    <a:bodyPr/>
                    <a:lstStyle/>
                    <a:p>
                      <a:pPr algn="ctr"/>
                      <a:endParaRPr lang="en-US" dirty="0"/>
                    </a:p>
                  </a:txBody>
                  <a:tcPr/>
                </a:tc>
                <a:tc>
                  <a:txBody>
                    <a:bodyPr/>
                    <a:lstStyle/>
                    <a:p>
                      <a:pPr algn="ctr"/>
                      <a:r>
                        <a:rPr lang="en-US" sz="1800" b="1" dirty="0">
                          <a:solidFill>
                            <a:srgbClr val="0070C0"/>
                          </a:solidFill>
                        </a:rPr>
                        <a:t>𝛼</a:t>
                      </a:r>
                      <a:endParaRPr lang="en-US" dirty="0">
                        <a:solidFill>
                          <a:srgbClr val="FF0000"/>
                        </a:solidFill>
                      </a:endParaRPr>
                    </a:p>
                  </a:txBody>
                  <a:tcPr/>
                </a:tc>
                <a:extLst>
                  <a:ext uri="{0D108BD9-81ED-4DB2-BD59-A6C34878D82A}">
                    <a16:rowId xmlns:a16="http://schemas.microsoft.com/office/drawing/2014/main" val="2847216878"/>
                  </a:ext>
                </a:extLst>
              </a:tr>
              <a:tr h="370840">
                <a:tc>
                  <a:txBody>
                    <a:bodyPr/>
                    <a:lstStyle/>
                    <a:p>
                      <a:pPr algn="ctr"/>
                      <a:r>
                        <a:rPr lang="en-US" dirty="0"/>
                        <a:t>H</a:t>
                      </a:r>
                      <a:r>
                        <a:rPr lang="en-US" baseline="-25000" dirty="0"/>
                        <a:t>1</a:t>
                      </a:r>
                      <a:r>
                        <a:rPr lang="en-US" dirty="0"/>
                        <a:t> is true</a:t>
                      </a:r>
                    </a:p>
                  </a:txBody>
                  <a:tcPr/>
                </a:tc>
                <a:tc>
                  <a:txBody>
                    <a:bodyPr/>
                    <a:lstStyle/>
                    <a:p>
                      <a:pPr algn="ctr"/>
                      <a:r>
                        <a:rPr lang="en-US" sz="1800" b="1" dirty="0">
                          <a:solidFill>
                            <a:srgbClr val="0070C0"/>
                          </a:solidFill>
                        </a:rPr>
                        <a:t>𝛽</a:t>
                      </a:r>
                      <a:endParaRPr lang="en-US" dirty="0">
                        <a:solidFill>
                          <a:srgbClr val="00B0F0"/>
                        </a:solidFill>
                      </a:endParaRPr>
                    </a:p>
                  </a:txBody>
                  <a:tcPr/>
                </a:tc>
                <a:tc>
                  <a:txBody>
                    <a:bodyPr/>
                    <a:lstStyle/>
                    <a:p>
                      <a:pPr algn="ctr"/>
                      <a:endParaRPr lang="en-US" dirty="0"/>
                    </a:p>
                  </a:txBody>
                  <a:tcPr/>
                </a:tc>
                <a:extLst>
                  <a:ext uri="{0D108BD9-81ED-4DB2-BD59-A6C34878D82A}">
                    <a16:rowId xmlns:a16="http://schemas.microsoft.com/office/drawing/2014/main" val="3625176944"/>
                  </a:ext>
                </a:extLst>
              </a:tr>
            </a:tbl>
          </a:graphicData>
        </a:graphic>
      </p:graphicFrame>
    </p:spTree>
    <p:extLst>
      <p:ext uri="{BB962C8B-B14F-4D97-AF65-F5344CB8AC3E}">
        <p14:creationId xmlns:p14="http://schemas.microsoft.com/office/powerpoint/2010/main" val="380322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A941F1-2CFD-1F41-B58F-E8BCCC3A05B1}"/>
              </a:ext>
            </a:extLst>
          </p:cNvPr>
          <p:cNvSpPr/>
          <p:nvPr/>
        </p:nvSpPr>
        <p:spPr>
          <a:xfrm>
            <a:off x="797106" y="545178"/>
            <a:ext cx="10232288" cy="369332"/>
          </a:xfrm>
          <a:prstGeom prst="rect">
            <a:avLst/>
          </a:prstGeom>
        </p:spPr>
        <p:txBody>
          <a:bodyPr wrap="none">
            <a:spAutoFit/>
          </a:bodyPr>
          <a:lstStyle/>
          <a:p>
            <a:r>
              <a:rPr lang="en-US" dirty="0">
                <a:solidFill>
                  <a:srgbClr val="211E1E"/>
                </a:solidFill>
                <a:latin typeface="Times" pitchFamily="2" charset="0"/>
              </a:rPr>
              <a:t>But how to summarize the evidence against the null hypothesis?</a:t>
            </a:r>
            <a:r>
              <a:rPr lang="zh-CN" altLang="en-US" dirty="0">
                <a:solidFill>
                  <a:srgbClr val="211E1E"/>
                </a:solidFill>
                <a:latin typeface="Times" pitchFamily="2" charset="0"/>
              </a:rPr>
              <a:t> </a:t>
            </a:r>
            <a:r>
              <a:rPr lang="en-US" altLang="zh-CN" dirty="0">
                <a:solidFill>
                  <a:srgbClr val="211E1E"/>
                </a:solidFill>
                <a:latin typeface="Times" pitchFamily="2" charset="0"/>
              </a:rPr>
              <a:t>Falling</a:t>
            </a:r>
            <a:r>
              <a:rPr lang="zh-CN" altLang="en-US" dirty="0">
                <a:solidFill>
                  <a:srgbClr val="211E1E"/>
                </a:solidFill>
                <a:latin typeface="Times" pitchFamily="2" charset="0"/>
              </a:rPr>
              <a:t> </a:t>
            </a:r>
            <a:r>
              <a:rPr lang="en-US" altLang="zh-CN" dirty="0">
                <a:solidFill>
                  <a:srgbClr val="211E1E"/>
                </a:solidFill>
                <a:latin typeface="Times" pitchFamily="2" charset="0"/>
              </a:rPr>
              <a:t>into the critical region is not enough.</a:t>
            </a:r>
            <a:endParaRPr lang="en-US" dirty="0"/>
          </a:p>
        </p:txBody>
      </p:sp>
      <p:pic>
        <p:nvPicPr>
          <p:cNvPr id="3" name="Picture 2">
            <a:extLst>
              <a:ext uri="{FF2B5EF4-FFF2-40B4-BE49-F238E27FC236}">
                <a16:creationId xmlns:a16="http://schemas.microsoft.com/office/drawing/2014/main" id="{2E9E66F8-650D-174E-B329-5401A52ABC90}"/>
              </a:ext>
            </a:extLst>
          </p:cNvPr>
          <p:cNvPicPr>
            <a:picLocks noChangeAspect="1"/>
          </p:cNvPicPr>
          <p:nvPr/>
        </p:nvPicPr>
        <p:blipFill>
          <a:blip r:embed="rId2"/>
          <a:stretch>
            <a:fillRect/>
          </a:stretch>
        </p:blipFill>
        <p:spPr>
          <a:xfrm>
            <a:off x="2522981" y="1727192"/>
            <a:ext cx="3913674" cy="2425831"/>
          </a:xfrm>
          <a:prstGeom prst="rect">
            <a:avLst/>
          </a:prstGeom>
        </p:spPr>
      </p:pic>
      <p:sp>
        <p:nvSpPr>
          <p:cNvPr id="4" name="Rectangle 3">
            <a:extLst>
              <a:ext uri="{FF2B5EF4-FFF2-40B4-BE49-F238E27FC236}">
                <a16:creationId xmlns:a16="http://schemas.microsoft.com/office/drawing/2014/main" id="{412E0326-86ED-9E4C-9B74-2098E4E71A01}"/>
              </a:ext>
            </a:extLst>
          </p:cNvPr>
          <p:cNvSpPr/>
          <p:nvPr/>
        </p:nvSpPr>
        <p:spPr>
          <a:xfrm>
            <a:off x="4831235" y="4264455"/>
            <a:ext cx="316112" cy="369332"/>
          </a:xfrm>
          <a:prstGeom prst="rect">
            <a:avLst/>
          </a:prstGeom>
        </p:spPr>
        <p:txBody>
          <a:bodyPr wrap="none">
            <a:spAutoFit/>
          </a:bodyPr>
          <a:lstStyle/>
          <a:p>
            <a:r>
              <a:rPr lang="el-GR" dirty="0"/>
              <a:t>α</a:t>
            </a:r>
            <a:endParaRPr lang="en-US" dirty="0"/>
          </a:p>
        </p:txBody>
      </p:sp>
      <p:sp>
        <p:nvSpPr>
          <p:cNvPr id="5" name="Rectangle 4">
            <a:extLst>
              <a:ext uri="{FF2B5EF4-FFF2-40B4-BE49-F238E27FC236}">
                <a16:creationId xmlns:a16="http://schemas.microsoft.com/office/drawing/2014/main" id="{087F3438-9187-BC49-8886-18F3926F3E39}"/>
              </a:ext>
            </a:extLst>
          </p:cNvPr>
          <p:cNvSpPr/>
          <p:nvPr/>
        </p:nvSpPr>
        <p:spPr>
          <a:xfrm>
            <a:off x="2816104" y="987127"/>
            <a:ext cx="1940659" cy="369332"/>
          </a:xfrm>
          <a:prstGeom prst="rect">
            <a:avLst/>
          </a:prstGeom>
        </p:spPr>
        <p:txBody>
          <a:bodyPr wrap="none">
            <a:spAutoFit/>
          </a:bodyPr>
          <a:lstStyle/>
          <a:p>
            <a:r>
              <a:rPr lang="en-US" b="1" dirty="0"/>
              <a:t>Acceptance region</a:t>
            </a:r>
            <a:endParaRPr lang="en-US" dirty="0"/>
          </a:p>
        </p:txBody>
      </p:sp>
      <p:sp>
        <p:nvSpPr>
          <p:cNvPr id="6" name="Left Brace 5">
            <a:extLst>
              <a:ext uri="{FF2B5EF4-FFF2-40B4-BE49-F238E27FC236}">
                <a16:creationId xmlns:a16="http://schemas.microsoft.com/office/drawing/2014/main" id="{689FB92B-FE42-DA4E-888B-3772F10CCD7E}"/>
              </a:ext>
            </a:extLst>
          </p:cNvPr>
          <p:cNvSpPr/>
          <p:nvPr/>
        </p:nvSpPr>
        <p:spPr>
          <a:xfrm rot="5400000">
            <a:off x="3457849" y="-212402"/>
            <a:ext cx="246950" cy="33846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484AA550-1E7C-7843-8DE2-737072980129}"/>
              </a:ext>
            </a:extLst>
          </p:cNvPr>
          <p:cNvSpPr/>
          <p:nvPr/>
        </p:nvSpPr>
        <p:spPr>
          <a:xfrm rot="5400000">
            <a:off x="6077490" y="547731"/>
            <a:ext cx="268728" cy="186732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880263F0-ED09-7946-86EC-7FB306CC82FD}"/>
              </a:ext>
            </a:extLst>
          </p:cNvPr>
          <p:cNvSpPr/>
          <p:nvPr/>
        </p:nvSpPr>
        <p:spPr>
          <a:xfrm>
            <a:off x="5498236" y="987127"/>
            <a:ext cx="3231719" cy="369332"/>
          </a:xfrm>
          <a:prstGeom prst="rect">
            <a:avLst/>
          </a:prstGeom>
        </p:spPr>
        <p:txBody>
          <a:bodyPr wrap="none">
            <a:spAutoFit/>
          </a:bodyPr>
          <a:lstStyle/>
          <a:p>
            <a:r>
              <a:rPr lang="en-US" b="1" dirty="0"/>
              <a:t>Rejection region (critical region)</a:t>
            </a:r>
            <a:endParaRPr lang="en-US" dirty="0"/>
          </a:p>
        </p:txBody>
      </p:sp>
      <p:cxnSp>
        <p:nvCxnSpPr>
          <p:cNvPr id="9" name="Straight Connector 8">
            <a:extLst>
              <a:ext uri="{FF2B5EF4-FFF2-40B4-BE49-F238E27FC236}">
                <a16:creationId xmlns:a16="http://schemas.microsoft.com/office/drawing/2014/main" id="{7D20C432-D221-944E-AAB4-F467F9624331}"/>
              </a:ext>
            </a:extLst>
          </p:cNvPr>
          <p:cNvCxnSpPr>
            <a:cxnSpLocks/>
            <a:endCxn id="4" idx="0"/>
          </p:cNvCxnSpPr>
          <p:nvPr/>
        </p:nvCxnSpPr>
        <p:spPr>
          <a:xfrm flipH="1">
            <a:off x="4989291" y="3700536"/>
            <a:ext cx="374561" cy="5639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E634471-17DC-E840-BB39-E766B311F96B}"/>
              </a:ext>
            </a:extLst>
          </p:cNvPr>
          <p:cNvSpPr/>
          <p:nvPr/>
        </p:nvSpPr>
        <p:spPr>
          <a:xfrm>
            <a:off x="3531838" y="2343473"/>
            <a:ext cx="1741823" cy="369332"/>
          </a:xfrm>
          <a:prstGeom prst="rect">
            <a:avLst/>
          </a:prstGeom>
        </p:spPr>
        <p:txBody>
          <a:bodyPr wrap="none">
            <a:spAutoFit/>
          </a:bodyPr>
          <a:lstStyle/>
          <a:p>
            <a:r>
              <a:rPr lang="en-US" b="1" dirty="0"/>
              <a:t>Null distribution</a:t>
            </a:r>
            <a:endParaRPr lang="en-US" dirty="0"/>
          </a:p>
        </p:txBody>
      </p:sp>
      <p:cxnSp>
        <p:nvCxnSpPr>
          <p:cNvPr id="14" name="Straight Connector 13">
            <a:extLst>
              <a:ext uri="{FF2B5EF4-FFF2-40B4-BE49-F238E27FC236}">
                <a16:creationId xmlns:a16="http://schemas.microsoft.com/office/drawing/2014/main" id="{5C14E008-AF41-7740-BA76-58CE8E5223CE}"/>
              </a:ext>
            </a:extLst>
          </p:cNvPr>
          <p:cNvCxnSpPr/>
          <p:nvPr/>
        </p:nvCxnSpPr>
        <p:spPr>
          <a:xfrm>
            <a:off x="5316717" y="3295182"/>
            <a:ext cx="0" cy="66930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21F0F16E-F32F-B84D-8A1C-6CAC10478D9D}"/>
              </a:ext>
            </a:extLst>
          </p:cNvPr>
          <p:cNvCxnSpPr/>
          <p:nvPr/>
        </p:nvCxnSpPr>
        <p:spPr>
          <a:xfrm>
            <a:off x="5883897" y="3295182"/>
            <a:ext cx="0" cy="66930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147D6E05-375D-724D-88F9-BB0BFB57453E}"/>
              </a:ext>
            </a:extLst>
          </p:cNvPr>
          <p:cNvCxnSpPr/>
          <p:nvPr/>
        </p:nvCxnSpPr>
        <p:spPr>
          <a:xfrm>
            <a:off x="5235953" y="3295182"/>
            <a:ext cx="0" cy="66930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CE033-35B6-D146-BE96-EA8C3D3DDBBA}"/>
              </a:ext>
            </a:extLst>
          </p:cNvPr>
          <p:cNvSpPr txBox="1"/>
          <p:nvPr/>
        </p:nvSpPr>
        <p:spPr>
          <a:xfrm>
            <a:off x="211015" y="175846"/>
            <a:ext cx="1278876" cy="369332"/>
          </a:xfrm>
          <a:prstGeom prst="rect">
            <a:avLst/>
          </a:prstGeom>
          <a:noFill/>
        </p:spPr>
        <p:txBody>
          <a:bodyPr wrap="none" rtlCol="0">
            <a:spAutoFit/>
          </a:bodyPr>
          <a:lstStyle/>
          <a:p>
            <a:r>
              <a:rPr lang="en-US" u="sng" dirty="0"/>
              <a:t>The p-value</a:t>
            </a:r>
          </a:p>
        </p:txBody>
      </p:sp>
      <p:sp>
        <p:nvSpPr>
          <p:cNvPr id="18" name="Rectangle 17">
            <a:extLst>
              <a:ext uri="{FF2B5EF4-FFF2-40B4-BE49-F238E27FC236}">
                <a16:creationId xmlns:a16="http://schemas.microsoft.com/office/drawing/2014/main" id="{87BE03A8-CD98-2142-AB2D-E6C4D9227D88}"/>
              </a:ext>
            </a:extLst>
          </p:cNvPr>
          <p:cNvSpPr/>
          <p:nvPr/>
        </p:nvSpPr>
        <p:spPr>
          <a:xfrm>
            <a:off x="469733" y="4558377"/>
            <a:ext cx="11063998" cy="1754326"/>
          </a:xfrm>
          <a:prstGeom prst="rect">
            <a:avLst/>
          </a:prstGeom>
        </p:spPr>
        <p:txBody>
          <a:bodyPr wrap="square">
            <a:spAutoFit/>
          </a:bodyPr>
          <a:lstStyle/>
          <a:p>
            <a:r>
              <a:rPr lang="en-US" dirty="0">
                <a:solidFill>
                  <a:srgbClr val="211E1E"/>
                </a:solidFill>
                <a:latin typeface="Times" pitchFamily="2" charset="0"/>
              </a:rPr>
              <a:t>For a given evidence, </a:t>
            </a:r>
          </a:p>
          <a:p>
            <a:r>
              <a:rPr lang="en-US" b="1" i="1" dirty="0">
                <a:solidFill>
                  <a:srgbClr val="211E1E"/>
                </a:solidFill>
                <a:latin typeface="Times" pitchFamily="2" charset="0"/>
              </a:rPr>
              <a:t>	p</a:t>
            </a:r>
            <a:r>
              <a:rPr lang="en-US" b="1" dirty="0">
                <a:solidFill>
                  <a:srgbClr val="211E1E"/>
                </a:solidFill>
                <a:latin typeface="Times" pitchFamily="2" charset="0"/>
              </a:rPr>
              <a:t>-value: </a:t>
            </a:r>
            <a:r>
              <a:rPr lang="en-US" dirty="0">
                <a:solidFill>
                  <a:srgbClr val="211E1E"/>
                </a:solidFill>
                <a:latin typeface="Times" pitchFamily="2" charset="0"/>
              </a:rPr>
              <a:t>the smallest significance level at which the null hypothesis would be rejected</a:t>
            </a:r>
          </a:p>
          <a:p>
            <a:endParaRPr lang="en-US" i="1" dirty="0">
              <a:solidFill>
                <a:srgbClr val="211E1E"/>
              </a:solidFill>
              <a:latin typeface="Times" pitchFamily="2" charset="0"/>
            </a:endParaRPr>
          </a:p>
          <a:p>
            <a:r>
              <a:rPr lang="en-US" i="1" dirty="0"/>
              <a:t>p</a:t>
            </a:r>
            <a:r>
              <a:rPr lang="en-US" dirty="0"/>
              <a:t>-value is the probability of a result as or more extreme than that actually observed if the null hypothesis were true </a:t>
            </a:r>
          </a:p>
          <a:p>
            <a:r>
              <a:rPr lang="en-US" dirty="0">
                <a:solidFill>
                  <a:srgbClr val="211E1E"/>
                </a:solidFill>
                <a:latin typeface="Times" pitchFamily="2" charset="0"/>
              </a:rPr>
              <a:t> </a:t>
            </a:r>
          </a:p>
          <a:p>
            <a:r>
              <a:rPr lang="en-US" i="1" dirty="0"/>
              <a:t>p</a:t>
            </a:r>
            <a:r>
              <a:rPr lang="en-US" dirty="0"/>
              <a:t>-value is </a:t>
            </a:r>
            <a:r>
              <a:rPr lang="en-US" u="sng" dirty="0">
                <a:solidFill>
                  <a:srgbClr val="FF0000"/>
                </a:solidFill>
              </a:rPr>
              <a:t>NOT</a:t>
            </a:r>
            <a:r>
              <a:rPr lang="en-US" i="1" u="sng" dirty="0"/>
              <a:t> </a:t>
            </a:r>
            <a:r>
              <a:rPr lang="en-US" u="sng" dirty="0"/>
              <a:t>the probability</a:t>
            </a:r>
            <a:r>
              <a:rPr lang="en-US" dirty="0"/>
              <a:t> that the null hypothesis is true </a:t>
            </a:r>
          </a:p>
        </p:txBody>
      </p:sp>
    </p:spTree>
    <p:extLst>
      <p:ext uri="{BB962C8B-B14F-4D97-AF65-F5344CB8AC3E}">
        <p14:creationId xmlns:p14="http://schemas.microsoft.com/office/powerpoint/2010/main" val="82269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8A7A4AFE-CA00-8A4A-A8FD-B66C7408F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891" y="1423646"/>
            <a:ext cx="6904610" cy="50650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CAE8E2A-58EC-BF41-92E8-CB226670764A}"/>
              </a:ext>
            </a:extLst>
          </p:cNvPr>
          <p:cNvSpPr txBox="1"/>
          <p:nvPr/>
        </p:nvSpPr>
        <p:spPr>
          <a:xfrm>
            <a:off x="850453" y="799746"/>
            <a:ext cx="4504438" cy="369332"/>
          </a:xfrm>
          <a:prstGeom prst="rect">
            <a:avLst/>
          </a:prstGeom>
          <a:noFill/>
        </p:spPr>
        <p:txBody>
          <a:bodyPr wrap="none" rtlCol="0">
            <a:spAutoFit/>
          </a:bodyPr>
          <a:lstStyle/>
          <a:p>
            <a:r>
              <a:rPr lang="en-US" dirty="0"/>
              <a:t>Evidence presented, judgement left to reader:</a:t>
            </a:r>
          </a:p>
        </p:txBody>
      </p:sp>
      <p:sp>
        <p:nvSpPr>
          <p:cNvPr id="3" name="Rectangle 2">
            <a:extLst>
              <a:ext uri="{FF2B5EF4-FFF2-40B4-BE49-F238E27FC236}">
                <a16:creationId xmlns:a16="http://schemas.microsoft.com/office/drawing/2014/main" id="{ED6C44AF-1852-0D46-9211-79928DB1467F}"/>
              </a:ext>
            </a:extLst>
          </p:cNvPr>
          <p:cNvSpPr/>
          <p:nvPr/>
        </p:nvSpPr>
        <p:spPr>
          <a:xfrm>
            <a:off x="7019023" y="6488668"/>
            <a:ext cx="5058564" cy="369332"/>
          </a:xfrm>
          <a:prstGeom prst="rect">
            <a:avLst/>
          </a:prstGeom>
        </p:spPr>
        <p:txBody>
          <a:bodyPr wrap="none">
            <a:spAutoFit/>
          </a:bodyPr>
          <a:lstStyle/>
          <a:p>
            <a:r>
              <a:rPr lang="en-US" dirty="0"/>
              <a:t>https://</a:t>
            </a:r>
            <a:r>
              <a:rPr lang="en-US" dirty="0" err="1"/>
              <a:t>jeb.biologists.org</a:t>
            </a:r>
            <a:r>
              <a:rPr lang="en-US" dirty="0"/>
              <a:t>/content/221/4/jeb171819</a:t>
            </a:r>
          </a:p>
        </p:txBody>
      </p:sp>
      <p:sp>
        <p:nvSpPr>
          <p:cNvPr id="5" name="TextBox 4">
            <a:extLst>
              <a:ext uri="{FF2B5EF4-FFF2-40B4-BE49-F238E27FC236}">
                <a16:creationId xmlns:a16="http://schemas.microsoft.com/office/drawing/2014/main" id="{232A2001-CD1D-9940-845A-F44ECBD34C45}"/>
              </a:ext>
            </a:extLst>
          </p:cNvPr>
          <p:cNvSpPr txBox="1"/>
          <p:nvPr/>
        </p:nvSpPr>
        <p:spPr>
          <a:xfrm>
            <a:off x="211015" y="175846"/>
            <a:ext cx="1278876" cy="369332"/>
          </a:xfrm>
          <a:prstGeom prst="rect">
            <a:avLst/>
          </a:prstGeom>
          <a:noFill/>
        </p:spPr>
        <p:txBody>
          <a:bodyPr wrap="none" rtlCol="0">
            <a:spAutoFit/>
          </a:bodyPr>
          <a:lstStyle/>
          <a:p>
            <a:r>
              <a:rPr lang="en-US" u="sng" dirty="0"/>
              <a:t>The p-value</a:t>
            </a:r>
          </a:p>
        </p:txBody>
      </p:sp>
      <p:sp>
        <p:nvSpPr>
          <p:cNvPr id="4" name="Rectangle 3">
            <a:extLst>
              <a:ext uri="{FF2B5EF4-FFF2-40B4-BE49-F238E27FC236}">
                <a16:creationId xmlns:a16="http://schemas.microsoft.com/office/drawing/2014/main" id="{359BD64A-43A7-5146-B0DF-709D0BF93ABB}"/>
              </a:ext>
            </a:extLst>
          </p:cNvPr>
          <p:cNvSpPr/>
          <p:nvPr/>
        </p:nvSpPr>
        <p:spPr>
          <a:xfrm>
            <a:off x="9850239" y="3112359"/>
            <a:ext cx="1290738" cy="923330"/>
          </a:xfrm>
          <a:prstGeom prst="rect">
            <a:avLst/>
          </a:prstGeom>
        </p:spPr>
        <p:txBody>
          <a:bodyPr wrap="none">
            <a:spAutoFit/>
          </a:bodyPr>
          <a:lstStyle/>
          <a:p>
            <a:r>
              <a:rPr lang="en-US" dirty="0"/>
              <a:t>*</a:t>
            </a:r>
            <a:r>
              <a:rPr lang="en-US" i="1" dirty="0"/>
              <a:t>P</a:t>
            </a:r>
            <a:r>
              <a:rPr lang="en-US" dirty="0"/>
              <a:t>&lt;0.05, </a:t>
            </a:r>
          </a:p>
          <a:p>
            <a:r>
              <a:rPr lang="en-US" dirty="0"/>
              <a:t>**</a:t>
            </a:r>
            <a:r>
              <a:rPr lang="en-US" i="1" dirty="0"/>
              <a:t>P</a:t>
            </a:r>
            <a:r>
              <a:rPr lang="en-US" dirty="0"/>
              <a:t>&lt;0.01, </a:t>
            </a:r>
          </a:p>
          <a:p>
            <a:r>
              <a:rPr lang="en-US" dirty="0"/>
              <a:t>***</a:t>
            </a:r>
            <a:r>
              <a:rPr lang="en-US" i="1" dirty="0"/>
              <a:t>P</a:t>
            </a:r>
            <a:r>
              <a:rPr lang="en-US" dirty="0"/>
              <a:t>&lt;0.001</a:t>
            </a:r>
          </a:p>
        </p:txBody>
      </p:sp>
    </p:spTree>
    <p:extLst>
      <p:ext uri="{BB962C8B-B14F-4D97-AF65-F5344CB8AC3E}">
        <p14:creationId xmlns:p14="http://schemas.microsoft.com/office/powerpoint/2010/main" val="575719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E6B6B5-F5A9-C941-88B5-940C36BCC158}"/>
              </a:ext>
            </a:extLst>
          </p:cNvPr>
          <p:cNvSpPr/>
          <p:nvPr/>
        </p:nvSpPr>
        <p:spPr>
          <a:xfrm>
            <a:off x="634738" y="968853"/>
            <a:ext cx="11092206" cy="5324535"/>
          </a:xfrm>
          <a:prstGeom prst="rect">
            <a:avLst/>
          </a:prstGeom>
        </p:spPr>
        <p:txBody>
          <a:bodyPr wrap="square">
            <a:spAutoFit/>
          </a:bodyPr>
          <a:lstStyle/>
          <a:p>
            <a:r>
              <a:rPr lang="en-US" sz="2000" u="sng" dirty="0">
                <a:solidFill>
                  <a:srgbClr val="211E1E"/>
                </a:solidFill>
                <a:latin typeface="Times New Roman" panose="02020603050405020304" pitchFamily="18" charset="0"/>
                <a:cs typeface="Times New Roman" panose="02020603050405020304" pitchFamily="18" charset="0"/>
              </a:rPr>
              <a:t>Which hypothesis is the null and which is the alternative</a:t>
            </a:r>
            <a:r>
              <a:rPr lang="en-US" sz="2000" dirty="0">
                <a:solidFill>
                  <a:srgbClr val="211E1E"/>
                </a:solidFill>
                <a:latin typeface="Times New Roman" panose="02020603050405020304" pitchFamily="18" charset="0"/>
                <a:cs typeface="Times New Roman" panose="02020603050405020304" pitchFamily="18" charset="0"/>
              </a:rPr>
              <a:t> is not a mathematical one, and depends on scientific context, custom, and convenience. </a:t>
            </a: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dirty="0">
              <a:solidFill>
                <a:srgbClr val="211E1E"/>
              </a:solidFill>
              <a:latin typeface="Times New Roman" panose="02020603050405020304" pitchFamily="18" charset="0"/>
              <a:cs typeface="Times New Roman" panose="02020603050405020304" pitchFamily="18" charset="0"/>
            </a:endParaRPr>
          </a:p>
          <a:p>
            <a:endParaRPr lang="en-US" sz="2000" u="sng"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rPr>
              <a:t>The choice of </a:t>
            </a:r>
            <a:r>
              <a:rPr lang="el-GR" sz="2000" u="sng" dirty="0">
                <a:latin typeface="Times New Roman" panose="02020603050405020304" pitchFamily="18" charset="0"/>
                <a:cs typeface="Times New Roman" panose="02020603050405020304" pitchFamily="18" charset="0"/>
              </a:rPr>
              <a:t>α</a:t>
            </a:r>
            <a:r>
              <a:rPr lang="el-G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 essentially arbitrary, but is heavily influenced by custom. Small values, such as 0.01 and 0.05, are commonly used. </a:t>
            </a:r>
          </a:p>
        </p:txBody>
      </p:sp>
      <p:sp>
        <p:nvSpPr>
          <p:cNvPr id="3" name="TextBox 2">
            <a:extLst>
              <a:ext uri="{FF2B5EF4-FFF2-40B4-BE49-F238E27FC236}">
                <a16:creationId xmlns:a16="http://schemas.microsoft.com/office/drawing/2014/main" id="{93FAEE52-0C36-BD44-AD2F-105DA75DB29F}"/>
              </a:ext>
            </a:extLst>
          </p:cNvPr>
          <p:cNvSpPr txBox="1"/>
          <p:nvPr/>
        </p:nvSpPr>
        <p:spPr>
          <a:xfrm>
            <a:off x="211015" y="175846"/>
            <a:ext cx="2524281" cy="369332"/>
          </a:xfrm>
          <a:prstGeom prst="rect">
            <a:avLst/>
          </a:prstGeom>
          <a:noFill/>
        </p:spPr>
        <p:txBody>
          <a:bodyPr wrap="none" rtlCol="0">
            <a:spAutoFit/>
          </a:bodyPr>
          <a:lstStyle/>
          <a:p>
            <a:r>
              <a:rPr lang="en-US" u="sng" dirty="0"/>
              <a:t>The non-statistical things</a:t>
            </a:r>
          </a:p>
        </p:txBody>
      </p:sp>
      <p:sp>
        <p:nvSpPr>
          <p:cNvPr id="4" name="TextBox 3">
            <a:extLst>
              <a:ext uri="{FF2B5EF4-FFF2-40B4-BE49-F238E27FC236}">
                <a16:creationId xmlns:a16="http://schemas.microsoft.com/office/drawing/2014/main" id="{E83C481D-4475-7049-B70D-6B0E6C4A0377}"/>
              </a:ext>
            </a:extLst>
          </p:cNvPr>
          <p:cNvSpPr txBox="1"/>
          <p:nvPr/>
        </p:nvSpPr>
        <p:spPr>
          <a:xfrm>
            <a:off x="1412993" y="1846797"/>
            <a:ext cx="9209988"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Assign the hypothesis that you would like to show to be true as the alternative: data can only support the alternative hypothesis but NOT the null.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scientific investigations, the null hypothesis is often an existing explanation that must be discredited based on (data) evidence, in order to demonstrate the presence of some physical phenomenon or effect given in the alternative hypothesis.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Rejecting the null hypothesis often leads to action.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consequences of incorrectly rejecting one hypothesis may be graver than those of incorrectly rejecting the other.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884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a:extLst>
              <a:ext uri="{FF2B5EF4-FFF2-40B4-BE49-F238E27FC236}">
                <a16:creationId xmlns:a16="http://schemas.microsoft.com/office/drawing/2014/main" id="{B0C5E38B-F5F8-7AD5-F712-4097E771DE2A}"/>
              </a:ext>
            </a:extLst>
          </p:cNvPr>
          <p:cNvSpPr>
            <a:spLocks noGrp="1" noChangeArrowheads="1"/>
          </p:cNvSpPr>
          <p:nvPr>
            <p:ph type="body" idx="1"/>
          </p:nvPr>
        </p:nvSpPr>
        <p:spPr>
          <a:xfrm>
            <a:off x="702425" y="1315662"/>
            <a:ext cx="9659189" cy="4643438"/>
          </a:xfrm>
        </p:spPr>
        <p:txBody>
          <a:bodyPr>
            <a:normAutofit/>
          </a:bodyPr>
          <a:lstStyle/>
          <a:p>
            <a:pPr marL="0" indent="0">
              <a:buNone/>
              <a:defRPr/>
            </a:pPr>
            <a:r>
              <a:rPr lang="en-US" altLang="en-US" sz="2000" dirty="0"/>
              <a:t>A cigarette manufacturer advertises that its new low tar cigarette “contains on the average no more than 4 milligrams of tar”. A consumer agency would like to test this claim. Formulate the null and the alternative hypotheses.</a:t>
            </a:r>
          </a:p>
          <a:p>
            <a:pPr lvl="1">
              <a:defRPr/>
            </a:pPr>
            <a:endParaRPr lang="en-US" altLang="en-US" sz="2000" dirty="0">
              <a:latin typeface="Times New Roman" panose="02020603050405020304" pitchFamily="18" charset="0"/>
              <a:cs typeface="Times New Roman" panose="02020603050405020304" pitchFamily="18" charset="0"/>
            </a:endParaRPr>
          </a:p>
          <a:p>
            <a:pPr marL="0" indent="0">
              <a:buNone/>
              <a:defRPr/>
            </a:pPr>
            <a:r>
              <a:rPr lang="en-US" altLang="en-US" sz="2000" dirty="0"/>
              <a:t> </a:t>
            </a:r>
            <a:r>
              <a:rPr lang="en-US" sz="2000" i="1" dirty="0"/>
              <a:t>H</a:t>
            </a:r>
            <a:r>
              <a:rPr lang="en-US" sz="2000" baseline="-25000" dirty="0"/>
              <a:t>0 </a:t>
            </a:r>
            <a:r>
              <a:rPr lang="en-US" altLang="en-US" sz="2000" dirty="0"/>
              <a:t>:  The cigarette contains no more than 4 milligrams of tar on average</a:t>
            </a:r>
          </a:p>
          <a:p>
            <a:pPr marL="0" indent="0">
              <a:buNone/>
              <a:defRPr/>
            </a:pPr>
            <a:r>
              <a:rPr lang="en-US" altLang="en-US" sz="2000" dirty="0"/>
              <a:t> </a:t>
            </a:r>
            <a:r>
              <a:rPr lang="en-US" sz="2000" i="1" dirty="0"/>
              <a:t>H</a:t>
            </a:r>
            <a:r>
              <a:rPr lang="en-US" sz="2000" baseline="-25000" dirty="0"/>
              <a:t>1 </a:t>
            </a:r>
            <a:r>
              <a:rPr lang="en-US" altLang="en-US" sz="2000" dirty="0"/>
              <a:t>:  The cigarette contains more than 4 milligrams of tar on average</a:t>
            </a:r>
          </a:p>
          <a:p>
            <a:pPr>
              <a:defRPr/>
            </a:pPr>
            <a:endParaRPr lang="en-US" altLang="en-US" dirty="0"/>
          </a:p>
        </p:txBody>
      </p:sp>
      <p:sp>
        <p:nvSpPr>
          <p:cNvPr id="2" name="TextBox 1">
            <a:extLst>
              <a:ext uri="{FF2B5EF4-FFF2-40B4-BE49-F238E27FC236}">
                <a16:creationId xmlns:a16="http://schemas.microsoft.com/office/drawing/2014/main" id="{06335D48-6E18-85FE-4878-461BCC0214B6}"/>
              </a:ext>
            </a:extLst>
          </p:cNvPr>
          <p:cNvSpPr txBox="1"/>
          <p:nvPr/>
        </p:nvSpPr>
        <p:spPr>
          <a:xfrm>
            <a:off x="610026" y="753580"/>
            <a:ext cx="1167499" cy="400110"/>
          </a:xfrm>
          <a:prstGeom prst="rect">
            <a:avLst/>
          </a:prstGeom>
          <a:noFill/>
        </p:spPr>
        <p:txBody>
          <a:bodyPr wrap="none" rtlCol="0">
            <a:spAutoFit/>
          </a:bodyPr>
          <a:lstStyle/>
          <a:p>
            <a:r>
              <a:rPr lang="en-US" sz="2000" u="sng" dirty="0"/>
              <a:t>Examples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95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9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a:extLst>
              <a:ext uri="{FF2B5EF4-FFF2-40B4-BE49-F238E27FC236}">
                <a16:creationId xmlns:a16="http://schemas.microsoft.com/office/drawing/2014/main" id="{B0C5E38B-F5F8-7AD5-F712-4097E771DE2A}"/>
              </a:ext>
            </a:extLst>
          </p:cNvPr>
          <p:cNvSpPr>
            <a:spLocks noGrp="1" noChangeArrowheads="1"/>
          </p:cNvSpPr>
          <p:nvPr>
            <p:ph type="body" idx="1"/>
          </p:nvPr>
        </p:nvSpPr>
        <p:spPr>
          <a:xfrm>
            <a:off x="702425" y="1315662"/>
            <a:ext cx="9659189" cy="4643438"/>
          </a:xfrm>
        </p:spPr>
        <p:txBody>
          <a:bodyPr>
            <a:normAutofit/>
          </a:bodyPr>
          <a:lstStyle/>
          <a:p>
            <a:pPr marL="0" indent="0">
              <a:buNone/>
              <a:defRPr/>
            </a:pPr>
            <a:r>
              <a:rPr lang="en-US" sz="2000" dirty="0"/>
              <a:t>The production line for Glow toothpaste is designed to fill tubes of toothpaste with a mean weight of 6 ounces.  Periodically, a sample of 30 tubes will be selected in order to check the filling process.  Quality assurance procedures call for the continuation of the filling process if the sample results are consistent with the assumption that the mean filling weight for the population of toothpaste tubes is 6 ounces; otherwise the filling process will be stopped and adjusted.</a:t>
            </a:r>
          </a:p>
          <a:p>
            <a:pPr marL="0" indent="0">
              <a:buNone/>
              <a:defRPr/>
            </a:pPr>
            <a:endParaRPr lang="en-US" altLang="en-US" sz="2000" dirty="0"/>
          </a:p>
          <a:p>
            <a:pPr>
              <a:buFont typeface="Monotype Sorts" pitchFamily="2" charset="2"/>
              <a:buNone/>
              <a:defRPr/>
            </a:pPr>
            <a:r>
              <a:rPr lang="en-US" altLang="en-US" sz="2000" dirty="0"/>
              <a:t> </a:t>
            </a:r>
            <a:r>
              <a:rPr lang="en-US" sz="2000" i="1" dirty="0"/>
              <a:t>H</a:t>
            </a:r>
            <a:r>
              <a:rPr lang="en-US" sz="2000" baseline="-25000" dirty="0"/>
              <a:t>0</a:t>
            </a:r>
            <a:r>
              <a:rPr lang="en-US" sz="2000" dirty="0"/>
              <a:t> </a:t>
            </a:r>
            <a:r>
              <a:rPr lang="en-US" altLang="en-US" sz="2000" dirty="0"/>
              <a:t>:  The mean filling weight is 6 ounces</a:t>
            </a:r>
          </a:p>
          <a:p>
            <a:pPr>
              <a:buFont typeface="Monotype Sorts" pitchFamily="2" charset="2"/>
              <a:buNone/>
              <a:defRPr/>
            </a:pPr>
            <a:r>
              <a:rPr lang="en-US" altLang="en-US" sz="2000" dirty="0"/>
              <a:t> </a:t>
            </a:r>
            <a:r>
              <a:rPr lang="en-US" sz="2000" i="1" dirty="0"/>
              <a:t>H</a:t>
            </a:r>
            <a:r>
              <a:rPr lang="en-US" sz="2000" baseline="-25000" dirty="0"/>
              <a:t>1 </a:t>
            </a:r>
            <a:r>
              <a:rPr lang="en-US" altLang="en-US" sz="2000" dirty="0"/>
              <a:t>:  The mean filling weight is not 6 ounces</a:t>
            </a:r>
          </a:p>
          <a:p>
            <a:pPr marL="0" indent="0">
              <a:buNone/>
              <a:defRPr/>
            </a:pPr>
            <a:endParaRPr lang="en-US" altLang="en-US" sz="21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6335D48-6E18-85FE-4878-461BCC0214B6}"/>
              </a:ext>
            </a:extLst>
          </p:cNvPr>
          <p:cNvSpPr txBox="1"/>
          <p:nvPr/>
        </p:nvSpPr>
        <p:spPr>
          <a:xfrm>
            <a:off x="610026" y="753580"/>
            <a:ext cx="1167499" cy="400110"/>
          </a:xfrm>
          <a:prstGeom prst="rect">
            <a:avLst/>
          </a:prstGeom>
          <a:noFill/>
        </p:spPr>
        <p:txBody>
          <a:bodyPr wrap="none" rtlCol="0">
            <a:spAutoFit/>
          </a:bodyPr>
          <a:lstStyle/>
          <a:p>
            <a:r>
              <a:rPr lang="en-US" sz="2000" u="sng" dirty="0"/>
              <a:t>Examples</a:t>
            </a:r>
          </a:p>
        </p:txBody>
      </p:sp>
    </p:spTree>
    <p:extLst>
      <p:ext uri="{BB962C8B-B14F-4D97-AF65-F5344CB8AC3E}">
        <p14:creationId xmlns:p14="http://schemas.microsoft.com/office/powerpoint/2010/main" val="379395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95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9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AAF7C-6638-1648-9985-7AA522A670F5}"/>
              </a:ext>
            </a:extLst>
          </p:cNvPr>
          <p:cNvSpPr txBox="1"/>
          <p:nvPr/>
        </p:nvSpPr>
        <p:spPr>
          <a:xfrm>
            <a:off x="211015" y="175846"/>
            <a:ext cx="2875915" cy="369332"/>
          </a:xfrm>
          <a:prstGeom prst="rect">
            <a:avLst/>
          </a:prstGeom>
          <a:noFill/>
        </p:spPr>
        <p:txBody>
          <a:bodyPr wrap="none" rtlCol="0">
            <a:spAutoFit/>
          </a:bodyPr>
          <a:lstStyle/>
          <a:p>
            <a:r>
              <a:rPr lang="en-US" u="sng" dirty="0"/>
              <a:t>One-sided</a:t>
            </a:r>
            <a:r>
              <a:rPr lang="zh-CN" altLang="en-US" u="sng" dirty="0"/>
              <a:t> </a:t>
            </a:r>
            <a:r>
              <a:rPr lang="en-US" altLang="zh-CN" u="sng" dirty="0"/>
              <a:t>vs</a:t>
            </a:r>
            <a:r>
              <a:rPr lang="zh-CN" altLang="en-US" u="sng" dirty="0"/>
              <a:t> </a:t>
            </a:r>
            <a:r>
              <a:rPr lang="en-US" altLang="zh-CN" u="sng" dirty="0"/>
              <a:t>two-sided</a:t>
            </a:r>
            <a:r>
              <a:rPr lang="zh-CN" altLang="en-US" u="sng" dirty="0"/>
              <a:t> </a:t>
            </a:r>
            <a:r>
              <a:rPr lang="en-US" altLang="zh-CN" u="sng" dirty="0"/>
              <a:t>tests</a:t>
            </a:r>
            <a:endParaRPr lang="en-US" u="sng" dirty="0"/>
          </a:p>
        </p:txBody>
      </p:sp>
      <p:sp>
        <p:nvSpPr>
          <p:cNvPr id="3" name="TextBox 2">
            <a:extLst>
              <a:ext uri="{FF2B5EF4-FFF2-40B4-BE49-F238E27FC236}">
                <a16:creationId xmlns:a16="http://schemas.microsoft.com/office/drawing/2014/main" id="{CFC9D796-9FDB-4049-A0B1-BC01064BB1EF}"/>
              </a:ext>
            </a:extLst>
          </p:cNvPr>
          <p:cNvSpPr txBox="1"/>
          <p:nvPr/>
        </p:nvSpPr>
        <p:spPr>
          <a:xfrm>
            <a:off x="4724113" y="377632"/>
            <a:ext cx="2399568" cy="369332"/>
          </a:xfrm>
          <a:prstGeom prst="rect">
            <a:avLst/>
          </a:prstGeom>
          <a:noFill/>
        </p:spPr>
        <p:txBody>
          <a:bodyPr wrap="none" rtlCol="0">
            <a:spAutoFit/>
          </a:bodyPr>
          <a:lstStyle/>
          <a:p>
            <a:pPr algn="ctr"/>
            <a:r>
              <a:rPr lang="en-US" dirty="0"/>
              <a:t>Identify the hypotheses</a:t>
            </a:r>
          </a:p>
        </p:txBody>
      </p:sp>
      <p:sp>
        <p:nvSpPr>
          <p:cNvPr id="4" name="TextBox 3">
            <a:extLst>
              <a:ext uri="{FF2B5EF4-FFF2-40B4-BE49-F238E27FC236}">
                <a16:creationId xmlns:a16="http://schemas.microsoft.com/office/drawing/2014/main" id="{0C8734C5-7FB6-6B4D-A494-CE72A1C53D3B}"/>
              </a:ext>
            </a:extLst>
          </p:cNvPr>
          <p:cNvSpPr txBox="1"/>
          <p:nvPr/>
        </p:nvSpPr>
        <p:spPr>
          <a:xfrm>
            <a:off x="2935995" y="1181864"/>
            <a:ext cx="5975803" cy="646331"/>
          </a:xfrm>
          <a:prstGeom prst="rect">
            <a:avLst/>
          </a:prstGeom>
          <a:noFill/>
        </p:spPr>
        <p:txBody>
          <a:bodyPr wrap="none" rtlCol="0">
            <a:spAutoFit/>
          </a:bodyPr>
          <a:lstStyle/>
          <a:p>
            <a:pPr algn="ctr"/>
            <a:r>
              <a:rPr lang="en-US" dirty="0"/>
              <a:t>Identify the test statistic that can differentiate the hypotheses</a:t>
            </a:r>
          </a:p>
          <a:p>
            <a:pPr algn="ctr"/>
            <a:r>
              <a:rPr lang="en-US" dirty="0"/>
              <a:t>(usually the unbiased estimator of the hidden parameter)</a:t>
            </a:r>
          </a:p>
        </p:txBody>
      </p:sp>
      <p:sp>
        <p:nvSpPr>
          <p:cNvPr id="5" name="TextBox 4">
            <a:extLst>
              <a:ext uri="{FF2B5EF4-FFF2-40B4-BE49-F238E27FC236}">
                <a16:creationId xmlns:a16="http://schemas.microsoft.com/office/drawing/2014/main" id="{C1D02DC0-810F-664C-B083-C8E55F8BC1E1}"/>
              </a:ext>
            </a:extLst>
          </p:cNvPr>
          <p:cNvSpPr txBox="1"/>
          <p:nvPr/>
        </p:nvSpPr>
        <p:spPr>
          <a:xfrm>
            <a:off x="3246797" y="2263095"/>
            <a:ext cx="5354198" cy="646331"/>
          </a:xfrm>
          <a:prstGeom prst="rect">
            <a:avLst/>
          </a:prstGeom>
          <a:noFill/>
        </p:spPr>
        <p:txBody>
          <a:bodyPr wrap="square" rtlCol="0">
            <a:spAutoFit/>
          </a:bodyPr>
          <a:lstStyle/>
          <a:p>
            <a:pPr algn="ctr"/>
            <a:r>
              <a:rPr lang="en-US" dirty="0"/>
              <a:t>Identify the null distribution of test statistic under the null hypothesis</a:t>
            </a:r>
          </a:p>
        </p:txBody>
      </p:sp>
      <p:sp>
        <p:nvSpPr>
          <p:cNvPr id="6" name="TextBox 5">
            <a:extLst>
              <a:ext uri="{FF2B5EF4-FFF2-40B4-BE49-F238E27FC236}">
                <a16:creationId xmlns:a16="http://schemas.microsoft.com/office/drawing/2014/main" id="{6326BFF3-70B1-F848-AC5A-A9C39F1F567D}"/>
              </a:ext>
            </a:extLst>
          </p:cNvPr>
          <p:cNvSpPr txBox="1"/>
          <p:nvPr/>
        </p:nvSpPr>
        <p:spPr>
          <a:xfrm>
            <a:off x="925417" y="4411201"/>
            <a:ext cx="4021156" cy="646331"/>
          </a:xfrm>
          <a:prstGeom prst="rect">
            <a:avLst/>
          </a:prstGeom>
          <a:noFill/>
        </p:spPr>
        <p:txBody>
          <a:bodyPr wrap="square" rtlCol="0">
            <a:spAutoFit/>
          </a:bodyPr>
          <a:lstStyle/>
          <a:p>
            <a:pPr algn="ctr"/>
            <a:r>
              <a:rPr lang="en-US" dirty="0"/>
              <a:t>Determine the rejection region based on certain 𝛼 level</a:t>
            </a:r>
          </a:p>
        </p:txBody>
      </p:sp>
      <p:sp>
        <p:nvSpPr>
          <p:cNvPr id="7" name="TextBox 6">
            <a:extLst>
              <a:ext uri="{FF2B5EF4-FFF2-40B4-BE49-F238E27FC236}">
                <a16:creationId xmlns:a16="http://schemas.microsoft.com/office/drawing/2014/main" id="{4834448C-0E80-BF4C-91A7-806132CDBD50}"/>
              </a:ext>
            </a:extLst>
          </p:cNvPr>
          <p:cNvSpPr txBox="1"/>
          <p:nvPr/>
        </p:nvSpPr>
        <p:spPr>
          <a:xfrm>
            <a:off x="809739" y="5711191"/>
            <a:ext cx="4252511" cy="646331"/>
          </a:xfrm>
          <a:prstGeom prst="rect">
            <a:avLst/>
          </a:prstGeom>
          <a:noFill/>
        </p:spPr>
        <p:txBody>
          <a:bodyPr wrap="square" rtlCol="0">
            <a:spAutoFit/>
          </a:bodyPr>
          <a:lstStyle/>
          <a:p>
            <a:pPr algn="ctr"/>
            <a:r>
              <a:rPr lang="en-US" dirty="0"/>
              <a:t>Determine if the test statistic calculated from the sample falls into the region</a:t>
            </a:r>
          </a:p>
        </p:txBody>
      </p:sp>
      <p:sp>
        <p:nvSpPr>
          <p:cNvPr id="8" name="TextBox 7">
            <a:extLst>
              <a:ext uri="{FF2B5EF4-FFF2-40B4-BE49-F238E27FC236}">
                <a16:creationId xmlns:a16="http://schemas.microsoft.com/office/drawing/2014/main" id="{7A2D22B8-899B-DC44-9483-BCD68D766575}"/>
              </a:ext>
            </a:extLst>
          </p:cNvPr>
          <p:cNvSpPr txBox="1"/>
          <p:nvPr/>
        </p:nvSpPr>
        <p:spPr>
          <a:xfrm>
            <a:off x="6995711" y="4411201"/>
            <a:ext cx="4248838" cy="646331"/>
          </a:xfrm>
          <a:prstGeom prst="rect">
            <a:avLst/>
          </a:prstGeom>
          <a:noFill/>
        </p:spPr>
        <p:txBody>
          <a:bodyPr wrap="square" rtlCol="0">
            <a:spAutoFit/>
          </a:bodyPr>
          <a:lstStyle/>
          <a:p>
            <a:pPr algn="ctr"/>
            <a:r>
              <a:rPr lang="en-US" dirty="0"/>
              <a:t>Calculated the p-value corresponding to the test statistic</a:t>
            </a:r>
          </a:p>
        </p:txBody>
      </p:sp>
      <p:sp>
        <p:nvSpPr>
          <p:cNvPr id="9" name="TextBox 8">
            <a:extLst>
              <a:ext uri="{FF2B5EF4-FFF2-40B4-BE49-F238E27FC236}">
                <a16:creationId xmlns:a16="http://schemas.microsoft.com/office/drawing/2014/main" id="{F35916DB-467F-6441-A85D-27C844E0C4F8}"/>
              </a:ext>
            </a:extLst>
          </p:cNvPr>
          <p:cNvSpPr txBox="1"/>
          <p:nvPr/>
        </p:nvSpPr>
        <p:spPr>
          <a:xfrm>
            <a:off x="7330013" y="5849690"/>
            <a:ext cx="3602268" cy="369332"/>
          </a:xfrm>
          <a:prstGeom prst="rect">
            <a:avLst/>
          </a:prstGeom>
          <a:noFill/>
        </p:spPr>
        <p:txBody>
          <a:bodyPr wrap="none" rtlCol="0">
            <a:spAutoFit/>
          </a:bodyPr>
          <a:lstStyle/>
          <a:p>
            <a:pPr algn="ctr"/>
            <a:r>
              <a:rPr lang="en-US" dirty="0"/>
              <a:t>Report p-value, or compare it with 𝛼</a:t>
            </a:r>
          </a:p>
        </p:txBody>
      </p:sp>
      <p:cxnSp>
        <p:nvCxnSpPr>
          <p:cNvPr id="18" name="Straight Arrow Connector 17">
            <a:extLst>
              <a:ext uri="{FF2B5EF4-FFF2-40B4-BE49-F238E27FC236}">
                <a16:creationId xmlns:a16="http://schemas.microsoft.com/office/drawing/2014/main" id="{DEAEEB6B-6493-1D47-A7AE-988C676C9561}"/>
              </a:ext>
            </a:extLst>
          </p:cNvPr>
          <p:cNvCxnSpPr>
            <a:stCxn id="3" idx="2"/>
            <a:endCxn id="4" idx="0"/>
          </p:cNvCxnSpPr>
          <p:nvPr/>
        </p:nvCxnSpPr>
        <p:spPr>
          <a:xfrm>
            <a:off x="5923897" y="746964"/>
            <a:ext cx="0" cy="4349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567F62-AF41-BA4B-B3C0-C62E55B65983}"/>
              </a:ext>
            </a:extLst>
          </p:cNvPr>
          <p:cNvCxnSpPr>
            <a:stCxn id="4" idx="2"/>
            <a:endCxn id="5" idx="0"/>
          </p:cNvCxnSpPr>
          <p:nvPr/>
        </p:nvCxnSpPr>
        <p:spPr>
          <a:xfrm flipH="1">
            <a:off x="5923896" y="1828195"/>
            <a:ext cx="1" cy="4349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3B116BC-1EE7-0643-BBD6-633D04F02C7F}"/>
              </a:ext>
            </a:extLst>
          </p:cNvPr>
          <p:cNvCxnSpPr>
            <a:cxnSpLocks/>
            <a:stCxn id="5" idx="2"/>
            <a:endCxn id="6" idx="0"/>
          </p:cNvCxnSpPr>
          <p:nvPr/>
        </p:nvCxnSpPr>
        <p:spPr>
          <a:xfrm flipH="1">
            <a:off x="2935995" y="2909426"/>
            <a:ext cx="2987901" cy="15017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0C78A6-A40D-424F-8006-0902912A30FA}"/>
              </a:ext>
            </a:extLst>
          </p:cNvPr>
          <p:cNvCxnSpPr>
            <a:stCxn id="6" idx="2"/>
            <a:endCxn id="7" idx="0"/>
          </p:cNvCxnSpPr>
          <p:nvPr/>
        </p:nvCxnSpPr>
        <p:spPr>
          <a:xfrm>
            <a:off x="2935995" y="5057532"/>
            <a:ext cx="0" cy="6536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F912412-C3BA-C443-A865-4BDE4210DDA6}"/>
              </a:ext>
            </a:extLst>
          </p:cNvPr>
          <p:cNvCxnSpPr>
            <a:stCxn id="5" idx="2"/>
            <a:endCxn id="8" idx="0"/>
          </p:cNvCxnSpPr>
          <p:nvPr/>
        </p:nvCxnSpPr>
        <p:spPr>
          <a:xfrm>
            <a:off x="5923896" y="2909426"/>
            <a:ext cx="3196234" cy="15017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0108C78-77DA-FA4E-9D92-11196795C3B6}"/>
              </a:ext>
            </a:extLst>
          </p:cNvPr>
          <p:cNvCxnSpPr>
            <a:stCxn id="8" idx="2"/>
            <a:endCxn id="9" idx="0"/>
          </p:cNvCxnSpPr>
          <p:nvPr/>
        </p:nvCxnSpPr>
        <p:spPr>
          <a:xfrm>
            <a:off x="9120130" y="5057532"/>
            <a:ext cx="11017" cy="792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83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AAF7C-6638-1648-9985-7AA522A670F5}"/>
              </a:ext>
            </a:extLst>
          </p:cNvPr>
          <p:cNvSpPr txBox="1"/>
          <p:nvPr/>
        </p:nvSpPr>
        <p:spPr>
          <a:xfrm>
            <a:off x="211015" y="175846"/>
            <a:ext cx="2875915" cy="369332"/>
          </a:xfrm>
          <a:prstGeom prst="rect">
            <a:avLst/>
          </a:prstGeom>
          <a:noFill/>
        </p:spPr>
        <p:txBody>
          <a:bodyPr wrap="none" rtlCol="0">
            <a:spAutoFit/>
          </a:bodyPr>
          <a:lstStyle/>
          <a:p>
            <a:r>
              <a:rPr lang="en-US" u="sng" dirty="0"/>
              <a:t>One-sided</a:t>
            </a:r>
            <a:r>
              <a:rPr lang="zh-CN" altLang="en-US" u="sng" dirty="0"/>
              <a:t> </a:t>
            </a:r>
            <a:r>
              <a:rPr lang="en-US" altLang="zh-CN" u="sng" dirty="0"/>
              <a:t>vs</a:t>
            </a:r>
            <a:r>
              <a:rPr lang="zh-CN" altLang="en-US" u="sng" dirty="0"/>
              <a:t> </a:t>
            </a:r>
            <a:r>
              <a:rPr lang="en-US" altLang="zh-CN" u="sng" dirty="0"/>
              <a:t>two-sided</a:t>
            </a:r>
            <a:r>
              <a:rPr lang="zh-CN" altLang="en-US" u="sng" dirty="0"/>
              <a:t> </a:t>
            </a:r>
            <a:r>
              <a:rPr lang="en-US" altLang="zh-CN" u="sng" dirty="0"/>
              <a:t>tests</a:t>
            </a:r>
            <a:endParaRPr lang="en-US" u="sng" dirty="0"/>
          </a:p>
        </p:txBody>
      </p:sp>
      <p:sp>
        <p:nvSpPr>
          <p:cNvPr id="11" name="TextBox 10">
            <a:extLst>
              <a:ext uri="{FF2B5EF4-FFF2-40B4-BE49-F238E27FC236}">
                <a16:creationId xmlns:a16="http://schemas.microsoft.com/office/drawing/2014/main" id="{655CA4B5-41CB-CA44-8E18-C07E72791411}"/>
              </a:ext>
            </a:extLst>
          </p:cNvPr>
          <p:cNvSpPr txBox="1"/>
          <p:nvPr/>
        </p:nvSpPr>
        <p:spPr>
          <a:xfrm>
            <a:off x="2977818" y="3038568"/>
            <a:ext cx="978153"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  t</a:t>
            </a:r>
            <a:r>
              <a:rPr lang="en-US" sz="2800" i="1" baseline="-25000" dirty="0">
                <a:latin typeface="Times New Roman" panose="02020603050405020304" pitchFamily="18" charset="0"/>
                <a:cs typeface="Times New Roman" panose="02020603050405020304" pitchFamily="18" charset="0"/>
              </a:rPr>
              <a:t>n-1</a:t>
            </a:r>
          </a:p>
        </p:txBody>
      </p:sp>
      <p:pic>
        <p:nvPicPr>
          <p:cNvPr id="13" name="Picture 12">
            <a:extLst>
              <a:ext uri="{FF2B5EF4-FFF2-40B4-BE49-F238E27FC236}">
                <a16:creationId xmlns:a16="http://schemas.microsoft.com/office/drawing/2014/main" id="{5742A344-D348-6448-9886-4C20F62317C3}"/>
              </a:ext>
            </a:extLst>
          </p:cNvPr>
          <p:cNvPicPr>
            <a:picLocks noChangeAspect="1"/>
          </p:cNvPicPr>
          <p:nvPr/>
        </p:nvPicPr>
        <p:blipFill>
          <a:blip r:embed="rId2"/>
          <a:stretch>
            <a:fillRect/>
          </a:stretch>
        </p:blipFill>
        <p:spPr>
          <a:xfrm>
            <a:off x="2773797" y="3965858"/>
            <a:ext cx="2364347" cy="799062"/>
          </a:xfrm>
          <a:prstGeom prst="rect">
            <a:avLst/>
          </a:prstGeom>
        </p:spPr>
      </p:pic>
      <p:grpSp>
        <p:nvGrpSpPr>
          <p:cNvPr id="14" name="Group 13">
            <a:extLst>
              <a:ext uri="{FF2B5EF4-FFF2-40B4-BE49-F238E27FC236}">
                <a16:creationId xmlns:a16="http://schemas.microsoft.com/office/drawing/2014/main" id="{AC652218-2198-5D43-A608-41D38073A528}"/>
              </a:ext>
            </a:extLst>
          </p:cNvPr>
          <p:cNvGrpSpPr/>
          <p:nvPr/>
        </p:nvGrpSpPr>
        <p:grpSpPr>
          <a:xfrm>
            <a:off x="5597612" y="2455874"/>
            <a:ext cx="6499796" cy="3439190"/>
            <a:chOff x="6532244" y="3660720"/>
            <a:chExt cx="5602233" cy="2975750"/>
          </a:xfrm>
        </p:grpSpPr>
        <p:pic>
          <p:nvPicPr>
            <p:cNvPr id="15" name="Picture 14">
              <a:extLst>
                <a:ext uri="{FF2B5EF4-FFF2-40B4-BE49-F238E27FC236}">
                  <a16:creationId xmlns:a16="http://schemas.microsoft.com/office/drawing/2014/main" id="{F25313BC-7DDD-4040-A001-73860077F938}"/>
                </a:ext>
              </a:extLst>
            </p:cNvPr>
            <p:cNvPicPr>
              <a:picLocks noChangeAspect="1"/>
            </p:cNvPicPr>
            <p:nvPr/>
          </p:nvPicPr>
          <p:blipFill>
            <a:blip r:embed="rId3"/>
            <a:stretch>
              <a:fillRect/>
            </a:stretch>
          </p:blipFill>
          <p:spPr>
            <a:xfrm>
              <a:off x="6532244" y="3660720"/>
              <a:ext cx="5602233" cy="2975750"/>
            </a:xfrm>
            <a:prstGeom prst="rect">
              <a:avLst/>
            </a:prstGeom>
          </p:spPr>
        </p:pic>
        <p:sp>
          <p:nvSpPr>
            <p:cNvPr id="16" name="Rectangle 15">
              <a:extLst>
                <a:ext uri="{FF2B5EF4-FFF2-40B4-BE49-F238E27FC236}">
                  <a16:creationId xmlns:a16="http://schemas.microsoft.com/office/drawing/2014/main" id="{543A477B-DE73-5C43-9EA4-1088F3CCB51D}"/>
                </a:ext>
              </a:extLst>
            </p:cNvPr>
            <p:cNvSpPr/>
            <p:nvPr/>
          </p:nvSpPr>
          <p:spPr>
            <a:xfrm>
              <a:off x="9549354" y="5927336"/>
              <a:ext cx="65986" cy="303781"/>
            </a:xfrm>
            <a:prstGeom prst="rect">
              <a:avLst/>
            </a:prstGeom>
            <a:solidFill>
              <a:schemeClr val="bg1"/>
            </a:solidFill>
            <a:ln>
              <a:noFill/>
            </a:ln>
          </p:spPr>
          <p:txBody>
            <a:bodyPr wrap="square" rtlCol="0" anchor="ctr">
              <a:spAutoFit/>
            </a:bodyPr>
            <a:lstStyle/>
            <a:p>
              <a:pPr algn="l"/>
              <a:endParaRPr lang="en-US" sz="2400" b="1" u="sng" dirty="0">
                <a:solidFill>
                  <a:srgbClr val="211E1E"/>
                </a:solidFill>
                <a:latin typeface="Times" pitchFamily="2" charset="0"/>
              </a:endParaRPr>
            </a:p>
          </p:txBody>
        </p:sp>
        <p:sp>
          <p:nvSpPr>
            <p:cNvPr id="17" name="Rectangle 16">
              <a:extLst>
                <a:ext uri="{FF2B5EF4-FFF2-40B4-BE49-F238E27FC236}">
                  <a16:creationId xmlns:a16="http://schemas.microsoft.com/office/drawing/2014/main" id="{209754AD-CB1B-A548-9EC2-B113785C3D6F}"/>
                </a:ext>
              </a:extLst>
            </p:cNvPr>
            <p:cNvSpPr/>
            <p:nvPr/>
          </p:nvSpPr>
          <p:spPr>
            <a:xfrm>
              <a:off x="9937424" y="5927336"/>
              <a:ext cx="65986" cy="303781"/>
            </a:xfrm>
            <a:prstGeom prst="rect">
              <a:avLst/>
            </a:prstGeom>
            <a:solidFill>
              <a:schemeClr val="bg1"/>
            </a:solidFill>
            <a:ln>
              <a:noFill/>
            </a:ln>
          </p:spPr>
          <p:txBody>
            <a:bodyPr wrap="square" rtlCol="0" anchor="ctr">
              <a:spAutoFit/>
            </a:bodyPr>
            <a:lstStyle/>
            <a:p>
              <a:pPr algn="l"/>
              <a:endParaRPr lang="en-US" sz="2400" b="1" u="sng" dirty="0">
                <a:solidFill>
                  <a:srgbClr val="211E1E"/>
                </a:solidFill>
                <a:latin typeface="Times" pitchFamily="2" charset="0"/>
              </a:endParaRPr>
            </a:p>
          </p:txBody>
        </p:sp>
      </p:gr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B154213-E55F-F74C-BF4E-9FEFE7C0BAC2}"/>
                  </a:ext>
                </a:extLst>
              </p:cNvPr>
              <p:cNvSpPr/>
              <p:nvPr/>
            </p:nvSpPr>
            <p:spPr>
              <a:xfrm>
                <a:off x="1341914" y="1841521"/>
                <a:ext cx="1168525" cy="369332"/>
              </a:xfrm>
              <a:prstGeom prst="rect">
                <a:avLst/>
              </a:prstGeom>
            </p:spPr>
            <p:txBody>
              <a:bodyPr wrap="none">
                <a:spAutoFit/>
              </a:bodyPr>
              <a:lstStyle/>
              <a:p>
                <a:r>
                  <a:rPr lang="en-US" dirty="0">
                    <a:solidFill>
                      <a:schemeClr val="tx1"/>
                    </a:solidFill>
                  </a:rPr>
                  <a:t>H</a:t>
                </a:r>
                <a:r>
                  <a:rPr lang="en-US" baseline="-25000" dirty="0">
                    <a:solidFill>
                      <a:schemeClr val="tx1"/>
                    </a:solidFill>
                  </a:rPr>
                  <a:t>0</a:t>
                </a:r>
                <a:r>
                  <a:rPr lang="en-US" dirty="0">
                    <a:solidFill>
                      <a:schemeClr val="tx1"/>
                    </a:solidFill>
                  </a:rPr>
                  <a:t>: </a:t>
                </a:r>
                <a14:m>
                  <m:oMath xmlns:m="http://schemas.openxmlformats.org/officeDocument/2006/math">
                    <m:r>
                      <a:rPr lang="en-US" i="1" dirty="0">
                        <a:solidFill>
                          <a:schemeClr val="tx1"/>
                        </a:solidFill>
                        <a:latin typeface="Cambria Math" panose="02040503050406030204" pitchFamily="18" charset="0"/>
                        <a:ea typeface="Cambria Math" panose="02040503050406030204" pitchFamily="18" charset="0"/>
                      </a:rPr>
                      <m:t>𝜇</m:t>
                    </m:r>
                    <m:r>
                      <a:rPr lang="en-US" i="1" dirty="0">
                        <a:solidFill>
                          <a:schemeClr val="tx1"/>
                        </a:solidFill>
                        <a:latin typeface="Cambria Math" panose="02040503050406030204" pitchFamily="18" charset="0"/>
                        <a:ea typeface="Cambria Math" panose="02040503050406030204" pitchFamily="18" charset="0"/>
                      </a:rPr>
                      <m:t>=</m:t>
                    </m:r>
                    <m:r>
                      <a:rPr lang="en-US" i="1" dirty="0">
                        <a:solidFill>
                          <a:schemeClr val="tx1"/>
                        </a:solidFill>
                        <a:latin typeface="Cambria Math" panose="02040503050406030204" pitchFamily="18" charset="0"/>
                        <a:ea typeface="Cambria Math" panose="02040503050406030204" pitchFamily="18" charset="0"/>
                      </a:rPr>
                      <m:t>𝜇</m:t>
                    </m:r>
                  </m:oMath>
                </a14:m>
                <a:r>
                  <a:rPr lang="en-US" altLang="zh-CN" baseline="-25000" dirty="0">
                    <a:solidFill>
                      <a:schemeClr val="tx1"/>
                    </a:solidFill>
                  </a:rPr>
                  <a:t>0</a:t>
                </a:r>
                <a:endParaRPr lang="en-US" dirty="0">
                  <a:solidFill>
                    <a:schemeClr val="tx1"/>
                  </a:solidFill>
                </a:endParaRPr>
              </a:p>
            </p:txBody>
          </p:sp>
        </mc:Choice>
        <mc:Fallback xmlns="">
          <p:sp>
            <p:nvSpPr>
              <p:cNvPr id="22" name="Rectangle 21">
                <a:extLst>
                  <a:ext uri="{FF2B5EF4-FFF2-40B4-BE49-F238E27FC236}">
                    <a16:creationId xmlns:a16="http://schemas.microsoft.com/office/drawing/2014/main" id="{AB154213-E55F-F74C-BF4E-9FEFE7C0BAC2}"/>
                  </a:ext>
                </a:extLst>
              </p:cNvPr>
              <p:cNvSpPr>
                <a:spLocks noRot="1" noChangeAspect="1" noMove="1" noResize="1" noEditPoints="1" noAdjustHandles="1" noChangeArrowheads="1" noChangeShapeType="1" noTextEdit="1"/>
              </p:cNvSpPr>
              <p:nvPr/>
            </p:nvSpPr>
            <p:spPr>
              <a:xfrm>
                <a:off x="1341914" y="1841521"/>
                <a:ext cx="1168525" cy="369332"/>
              </a:xfrm>
              <a:prstGeom prst="rect">
                <a:avLst/>
              </a:prstGeom>
              <a:blipFill>
                <a:blip r:embed="rId4"/>
                <a:stretch>
                  <a:fillRect l="-4301" t="-3226" b="-22581"/>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869B4EAA-0B30-CF49-9793-B781D83841C2}"/>
              </a:ext>
            </a:extLst>
          </p:cNvPr>
          <p:cNvSpPr txBox="1"/>
          <p:nvPr/>
        </p:nvSpPr>
        <p:spPr>
          <a:xfrm>
            <a:off x="580768" y="864973"/>
            <a:ext cx="7717626" cy="646331"/>
          </a:xfrm>
          <a:prstGeom prst="rect">
            <a:avLst/>
          </a:prstGeom>
          <a:noFill/>
        </p:spPr>
        <p:txBody>
          <a:bodyPr wrap="none" rtlCol="0">
            <a:spAutoFit/>
          </a:bodyPr>
          <a:lstStyle/>
          <a:p>
            <a:r>
              <a:rPr lang="en-US" dirty="0"/>
              <a:t>Ex:</a:t>
            </a:r>
          </a:p>
          <a:p>
            <a:r>
              <a:rPr lang="en-US" dirty="0"/>
              <a:t> One-sample t Test for the mean of a normal distribution with unknown variance</a:t>
            </a:r>
          </a:p>
        </p:txBody>
      </p:sp>
      <p:sp>
        <p:nvSpPr>
          <p:cNvPr id="27" name="TextBox 26">
            <a:extLst>
              <a:ext uri="{FF2B5EF4-FFF2-40B4-BE49-F238E27FC236}">
                <a16:creationId xmlns:a16="http://schemas.microsoft.com/office/drawing/2014/main" id="{8DC1A6E3-DA09-3041-92C0-BF8206822F23}"/>
              </a:ext>
            </a:extLst>
          </p:cNvPr>
          <p:cNvSpPr txBox="1"/>
          <p:nvPr/>
        </p:nvSpPr>
        <p:spPr>
          <a:xfrm>
            <a:off x="580768" y="2381524"/>
            <a:ext cx="1598515" cy="369332"/>
          </a:xfrm>
          <a:prstGeom prst="rect">
            <a:avLst/>
          </a:prstGeom>
          <a:noFill/>
        </p:spPr>
        <p:txBody>
          <a:bodyPr wrap="none" rtlCol="0">
            <a:spAutoFit/>
          </a:bodyPr>
          <a:lstStyle/>
          <a:p>
            <a:r>
              <a:rPr lang="en-US" dirty="0"/>
              <a:t>Under the null,</a:t>
            </a:r>
          </a:p>
        </p:txBody>
      </p:sp>
      <p:grpSp>
        <p:nvGrpSpPr>
          <p:cNvPr id="30" name="Group 29">
            <a:extLst>
              <a:ext uri="{FF2B5EF4-FFF2-40B4-BE49-F238E27FC236}">
                <a16:creationId xmlns:a16="http://schemas.microsoft.com/office/drawing/2014/main" id="{C2AB1325-08B3-1A4A-BF66-2A1688EE739D}"/>
              </a:ext>
            </a:extLst>
          </p:cNvPr>
          <p:cNvGrpSpPr/>
          <p:nvPr/>
        </p:nvGrpSpPr>
        <p:grpSpPr>
          <a:xfrm>
            <a:off x="1341914" y="2901157"/>
            <a:ext cx="1600200" cy="914400"/>
            <a:chOff x="1341914" y="2901157"/>
            <a:chExt cx="1600200" cy="914400"/>
          </a:xfrm>
        </p:grpSpPr>
        <p:pic>
          <p:nvPicPr>
            <p:cNvPr id="10" name="Picture 9">
              <a:extLst>
                <a:ext uri="{FF2B5EF4-FFF2-40B4-BE49-F238E27FC236}">
                  <a16:creationId xmlns:a16="http://schemas.microsoft.com/office/drawing/2014/main" id="{C479C673-EDDA-0641-917C-C6045DEFE9A3}"/>
                </a:ext>
              </a:extLst>
            </p:cNvPr>
            <p:cNvPicPr>
              <a:picLocks noChangeAspect="1"/>
            </p:cNvPicPr>
            <p:nvPr/>
          </p:nvPicPr>
          <p:blipFill>
            <a:blip r:embed="rId5"/>
            <a:stretch>
              <a:fillRect/>
            </a:stretch>
          </p:blipFill>
          <p:spPr>
            <a:xfrm>
              <a:off x="1341914" y="2901157"/>
              <a:ext cx="1600200" cy="914400"/>
            </a:xfrm>
            <a:prstGeom prst="rect">
              <a:avLst/>
            </a:prstGeom>
          </p:spPr>
        </p:pic>
        <p:pic>
          <p:nvPicPr>
            <p:cNvPr id="29" name="Picture 28">
              <a:extLst>
                <a:ext uri="{FF2B5EF4-FFF2-40B4-BE49-F238E27FC236}">
                  <a16:creationId xmlns:a16="http://schemas.microsoft.com/office/drawing/2014/main" id="{9320C4ED-C793-7C49-8CF8-DDB6153A2FC3}"/>
                </a:ext>
              </a:extLst>
            </p:cNvPr>
            <p:cNvPicPr>
              <a:picLocks noChangeAspect="1"/>
            </p:cNvPicPr>
            <p:nvPr/>
          </p:nvPicPr>
          <p:blipFill>
            <a:blip r:embed="rId6"/>
            <a:stretch>
              <a:fillRect/>
            </a:stretch>
          </p:blipFill>
          <p:spPr>
            <a:xfrm>
              <a:off x="1371787" y="3081073"/>
              <a:ext cx="330200" cy="457200"/>
            </a:xfrm>
            <a:prstGeom prst="rect">
              <a:avLst/>
            </a:prstGeom>
          </p:spPr>
        </p:pic>
      </p:grpSp>
    </p:spTree>
    <p:extLst>
      <p:ext uri="{BB962C8B-B14F-4D97-AF65-F5344CB8AC3E}">
        <p14:creationId xmlns:p14="http://schemas.microsoft.com/office/powerpoint/2010/main" val="2580102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D657629-FFB9-1942-A9B6-682F4A7BB81A}"/>
                  </a:ext>
                </a:extLst>
              </p:cNvPr>
              <p:cNvSpPr/>
              <p:nvPr/>
            </p:nvSpPr>
            <p:spPr>
              <a:xfrm>
                <a:off x="803190" y="1497166"/>
                <a:ext cx="1326292" cy="646331"/>
              </a:xfrm>
              <a:prstGeom prst="rect">
                <a:avLst/>
              </a:prstGeom>
            </p:spPr>
            <p:txBody>
              <a:bodyPr wrap="square">
                <a:spAutoFit/>
              </a:bodyPr>
              <a:lstStyle/>
              <a:p>
                <a:r>
                  <a:rPr lang="en-US" dirty="0">
                    <a:solidFill>
                      <a:schemeClr val="accent5">
                        <a:lumMod val="75000"/>
                      </a:schemeClr>
                    </a:solidFill>
                  </a:rPr>
                  <a:t>H</a:t>
                </a:r>
                <a:r>
                  <a:rPr lang="en-US" baseline="-25000" dirty="0">
                    <a:solidFill>
                      <a:schemeClr val="accent5">
                        <a:lumMod val="75000"/>
                      </a:schemeClr>
                    </a:solidFill>
                  </a:rPr>
                  <a:t>0</a:t>
                </a:r>
                <a:r>
                  <a:rPr lang="en-US" dirty="0">
                    <a:solidFill>
                      <a:schemeClr val="accent5">
                        <a:lumMod val="75000"/>
                      </a:schemeClr>
                    </a:solidFill>
                  </a:rPr>
                  <a:t>: </a:t>
                </a:r>
                <a14:m>
                  <m:oMath xmlns:m="http://schemas.openxmlformats.org/officeDocument/2006/math">
                    <m:r>
                      <a:rPr lang="en-US" i="1" dirty="0">
                        <a:solidFill>
                          <a:schemeClr val="accent5">
                            <a:lumMod val="75000"/>
                          </a:schemeClr>
                        </a:solidFill>
                        <a:latin typeface="Cambria Math" panose="02040503050406030204" pitchFamily="18" charset="0"/>
                        <a:ea typeface="Cambria Math" panose="02040503050406030204" pitchFamily="18" charset="0"/>
                      </a:rPr>
                      <m:t>𝜇</m:t>
                    </m:r>
                    <m:r>
                      <a:rPr lang="en-US" altLang="zh-CN" b="0" i="1" dirty="0" smtClean="0">
                        <a:solidFill>
                          <a:schemeClr val="accent5">
                            <a:lumMod val="75000"/>
                          </a:schemeClr>
                        </a:solidFill>
                        <a:latin typeface="Cambria Math" panose="02040503050406030204" pitchFamily="18" charset="0"/>
                        <a:ea typeface="Cambria Math" panose="02040503050406030204" pitchFamily="18" charset="0"/>
                      </a:rPr>
                      <m:t>=</m:t>
                    </m:r>
                    <m:r>
                      <a:rPr lang="en-US" i="1" dirty="0">
                        <a:solidFill>
                          <a:schemeClr val="accent5">
                            <a:lumMod val="75000"/>
                          </a:schemeClr>
                        </a:solidFill>
                        <a:latin typeface="Cambria Math" panose="02040503050406030204" pitchFamily="18" charset="0"/>
                        <a:ea typeface="Cambria Math" panose="02040503050406030204" pitchFamily="18" charset="0"/>
                      </a:rPr>
                      <m:t>𝜇</m:t>
                    </m:r>
                  </m:oMath>
                </a14:m>
                <a:r>
                  <a:rPr lang="en-US" altLang="zh-CN" baseline="-25000" dirty="0">
                    <a:solidFill>
                      <a:schemeClr val="accent5">
                        <a:lumMod val="75000"/>
                      </a:schemeClr>
                    </a:solidFill>
                  </a:rPr>
                  <a:t>0</a:t>
                </a:r>
                <a:endParaRPr lang="en-US" dirty="0">
                  <a:solidFill>
                    <a:schemeClr val="accent5">
                      <a:lumMod val="75000"/>
                    </a:schemeClr>
                  </a:solidFill>
                </a:endParaRPr>
              </a:p>
              <a:p>
                <a:r>
                  <a:rPr lang="en-US" dirty="0">
                    <a:solidFill>
                      <a:schemeClr val="accent5">
                        <a:lumMod val="75000"/>
                      </a:schemeClr>
                    </a:solidFill>
                  </a:rPr>
                  <a:t>H</a:t>
                </a:r>
                <a:r>
                  <a:rPr lang="en-US" baseline="-25000" dirty="0">
                    <a:solidFill>
                      <a:schemeClr val="accent5">
                        <a:lumMod val="75000"/>
                      </a:schemeClr>
                    </a:solidFill>
                  </a:rPr>
                  <a:t>1</a:t>
                </a:r>
                <a:r>
                  <a:rPr lang="en-US" dirty="0">
                    <a:solidFill>
                      <a:schemeClr val="accent5">
                        <a:lumMod val="75000"/>
                      </a:schemeClr>
                    </a:solidFill>
                  </a:rPr>
                  <a:t>: </a:t>
                </a:r>
                <a14:m>
                  <m:oMath xmlns:m="http://schemas.openxmlformats.org/officeDocument/2006/math">
                    <m:r>
                      <a:rPr lang="en-US" i="1" dirty="0">
                        <a:solidFill>
                          <a:schemeClr val="accent5">
                            <a:lumMod val="75000"/>
                          </a:schemeClr>
                        </a:solidFill>
                        <a:latin typeface="Cambria Math" panose="02040503050406030204" pitchFamily="18" charset="0"/>
                        <a:ea typeface="Cambria Math" panose="02040503050406030204" pitchFamily="18" charset="0"/>
                      </a:rPr>
                      <m:t>𝜇</m:t>
                    </m:r>
                    <m:r>
                      <a:rPr lang="en-US" b="0" i="1" dirty="0" smtClean="0">
                        <a:solidFill>
                          <a:schemeClr val="accent5">
                            <a:lumMod val="75000"/>
                          </a:schemeClr>
                        </a:solidFill>
                        <a:latin typeface="Cambria Math" panose="02040503050406030204" pitchFamily="18" charset="0"/>
                        <a:ea typeface="Cambria Math" panose="02040503050406030204" pitchFamily="18" charset="0"/>
                      </a:rPr>
                      <m:t>&lt;</m:t>
                    </m:r>
                    <m:r>
                      <a:rPr lang="en-US" i="1" dirty="0">
                        <a:solidFill>
                          <a:schemeClr val="accent5">
                            <a:lumMod val="75000"/>
                          </a:schemeClr>
                        </a:solidFill>
                        <a:latin typeface="Cambria Math" panose="02040503050406030204" pitchFamily="18" charset="0"/>
                        <a:ea typeface="Cambria Math" panose="02040503050406030204" pitchFamily="18" charset="0"/>
                      </a:rPr>
                      <m:t>𝜇</m:t>
                    </m:r>
                    <m:r>
                      <m:rPr>
                        <m:nor/>
                      </m:rPr>
                      <a:rPr lang="en-US" altLang="zh-CN" baseline="-25000" dirty="0">
                        <a:solidFill>
                          <a:schemeClr val="accent5">
                            <a:lumMod val="75000"/>
                          </a:schemeClr>
                        </a:solidFill>
                      </a:rPr>
                      <m:t>0</m:t>
                    </m:r>
                  </m:oMath>
                </a14:m>
                <a:endParaRPr lang="en-US" dirty="0">
                  <a:solidFill>
                    <a:schemeClr val="accent5">
                      <a:lumMod val="75000"/>
                    </a:schemeClr>
                  </a:solidFill>
                </a:endParaRPr>
              </a:p>
            </p:txBody>
          </p:sp>
        </mc:Choice>
        <mc:Fallback xmlns="">
          <p:sp>
            <p:nvSpPr>
              <p:cNvPr id="2" name="Rectangle 1">
                <a:extLst>
                  <a:ext uri="{FF2B5EF4-FFF2-40B4-BE49-F238E27FC236}">
                    <a16:creationId xmlns:a16="http://schemas.microsoft.com/office/drawing/2014/main" id="{9D657629-FFB9-1942-A9B6-682F4A7BB81A}"/>
                  </a:ext>
                </a:extLst>
              </p:cNvPr>
              <p:cNvSpPr>
                <a:spLocks noRot="1" noChangeAspect="1" noMove="1" noResize="1" noEditPoints="1" noAdjustHandles="1" noChangeArrowheads="1" noChangeShapeType="1" noTextEdit="1"/>
              </p:cNvSpPr>
              <p:nvPr/>
            </p:nvSpPr>
            <p:spPr>
              <a:xfrm>
                <a:off x="803190" y="1497166"/>
                <a:ext cx="1326292" cy="646331"/>
              </a:xfrm>
              <a:prstGeom prst="rect">
                <a:avLst/>
              </a:prstGeom>
              <a:blipFill>
                <a:blip r:embed="rId2"/>
                <a:stretch>
                  <a:fillRect l="-3810" t="-5882" b="-15686"/>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846A75D-096C-E049-82FF-8E0E2A204FB7}"/>
              </a:ext>
            </a:extLst>
          </p:cNvPr>
          <p:cNvSpPr/>
          <p:nvPr/>
        </p:nvSpPr>
        <p:spPr>
          <a:xfrm>
            <a:off x="417391" y="836506"/>
            <a:ext cx="2364750" cy="369332"/>
          </a:xfrm>
          <a:prstGeom prst="rect">
            <a:avLst/>
          </a:prstGeom>
        </p:spPr>
        <p:txBody>
          <a:bodyPr wrap="none">
            <a:spAutoFit/>
          </a:bodyPr>
          <a:lstStyle/>
          <a:p>
            <a:r>
              <a:rPr lang="en-US" b="1" dirty="0">
                <a:solidFill>
                  <a:srgbClr val="211E1E"/>
                </a:solidFill>
                <a:latin typeface="Times" pitchFamily="2" charset="0"/>
              </a:rPr>
              <a:t>One-sided alternative </a:t>
            </a:r>
            <a:endParaRPr lang="en-US" dirty="0">
              <a:effectLst/>
            </a:endParaRPr>
          </a:p>
        </p:txBody>
      </p:sp>
      <p:sp>
        <p:nvSpPr>
          <p:cNvPr id="5" name="TextBox 4">
            <a:extLst>
              <a:ext uri="{FF2B5EF4-FFF2-40B4-BE49-F238E27FC236}">
                <a16:creationId xmlns:a16="http://schemas.microsoft.com/office/drawing/2014/main" id="{4C9C3253-A2C2-254D-B68A-75465339798E}"/>
              </a:ext>
            </a:extLst>
          </p:cNvPr>
          <p:cNvSpPr txBox="1"/>
          <p:nvPr/>
        </p:nvSpPr>
        <p:spPr>
          <a:xfrm>
            <a:off x="211015" y="175846"/>
            <a:ext cx="2875915" cy="369332"/>
          </a:xfrm>
          <a:prstGeom prst="rect">
            <a:avLst/>
          </a:prstGeom>
          <a:noFill/>
        </p:spPr>
        <p:txBody>
          <a:bodyPr wrap="none" rtlCol="0">
            <a:spAutoFit/>
          </a:bodyPr>
          <a:lstStyle/>
          <a:p>
            <a:r>
              <a:rPr lang="en-US" u="sng" dirty="0"/>
              <a:t>One-sided</a:t>
            </a:r>
            <a:r>
              <a:rPr lang="zh-CN" altLang="en-US" u="sng" dirty="0"/>
              <a:t> </a:t>
            </a:r>
            <a:r>
              <a:rPr lang="en-US" altLang="zh-CN" u="sng" dirty="0"/>
              <a:t>vs</a:t>
            </a:r>
            <a:r>
              <a:rPr lang="zh-CN" altLang="en-US" u="sng" dirty="0"/>
              <a:t> </a:t>
            </a:r>
            <a:r>
              <a:rPr lang="en-US" altLang="zh-CN" u="sng" dirty="0"/>
              <a:t>two-sided</a:t>
            </a:r>
            <a:r>
              <a:rPr lang="zh-CN" altLang="en-US" u="sng" dirty="0"/>
              <a:t> </a:t>
            </a:r>
            <a:r>
              <a:rPr lang="en-US" altLang="zh-CN" u="sng" dirty="0"/>
              <a:t>tests</a:t>
            </a:r>
            <a:endParaRPr lang="en-US" u="sng" dirty="0"/>
          </a:p>
        </p:txBody>
      </p:sp>
      <p:pic>
        <p:nvPicPr>
          <p:cNvPr id="6" name="Picture 5">
            <a:extLst>
              <a:ext uri="{FF2B5EF4-FFF2-40B4-BE49-F238E27FC236}">
                <a16:creationId xmlns:a16="http://schemas.microsoft.com/office/drawing/2014/main" id="{92C07220-C723-9F4F-A5D1-E94BDDA7F322}"/>
              </a:ext>
            </a:extLst>
          </p:cNvPr>
          <p:cNvPicPr>
            <a:picLocks noChangeAspect="1"/>
          </p:cNvPicPr>
          <p:nvPr/>
        </p:nvPicPr>
        <p:blipFill>
          <a:blip r:embed="rId3"/>
          <a:stretch>
            <a:fillRect/>
          </a:stretch>
        </p:blipFill>
        <p:spPr>
          <a:xfrm>
            <a:off x="4964325" y="3612081"/>
            <a:ext cx="4512963" cy="3126565"/>
          </a:xfrm>
          <a:prstGeom prst="rect">
            <a:avLst/>
          </a:prstGeom>
        </p:spPr>
      </p:pic>
      <p:sp>
        <p:nvSpPr>
          <p:cNvPr id="12" name="TextBox 11">
            <a:extLst>
              <a:ext uri="{FF2B5EF4-FFF2-40B4-BE49-F238E27FC236}">
                <a16:creationId xmlns:a16="http://schemas.microsoft.com/office/drawing/2014/main" id="{CAA47008-38EF-934A-A5F7-DB3EE5626019}"/>
              </a:ext>
            </a:extLst>
          </p:cNvPr>
          <p:cNvSpPr txBox="1"/>
          <p:nvPr/>
        </p:nvSpPr>
        <p:spPr>
          <a:xfrm>
            <a:off x="3830594" y="1460207"/>
            <a:ext cx="2695225" cy="369332"/>
          </a:xfrm>
          <a:prstGeom prst="rect">
            <a:avLst/>
          </a:prstGeom>
          <a:noFill/>
        </p:spPr>
        <p:txBody>
          <a:bodyPr wrap="none" rtlCol="0">
            <a:spAutoFit/>
          </a:bodyPr>
          <a:lstStyle/>
          <a:p>
            <a:r>
              <a:rPr lang="en-US" dirty="0"/>
              <a:t>Rejection region at level 𝛼:</a:t>
            </a:r>
          </a:p>
        </p:txBody>
      </p:sp>
      <p:sp>
        <p:nvSpPr>
          <p:cNvPr id="13" name="TextBox 12">
            <a:extLst>
              <a:ext uri="{FF2B5EF4-FFF2-40B4-BE49-F238E27FC236}">
                <a16:creationId xmlns:a16="http://schemas.microsoft.com/office/drawing/2014/main" id="{3C05B62B-B850-8B4E-BAC7-28976585D312}"/>
              </a:ext>
            </a:extLst>
          </p:cNvPr>
          <p:cNvSpPr txBox="1"/>
          <p:nvPr/>
        </p:nvSpPr>
        <p:spPr>
          <a:xfrm>
            <a:off x="2323072" y="5028462"/>
            <a:ext cx="2278637" cy="369332"/>
          </a:xfrm>
          <a:prstGeom prst="rect">
            <a:avLst/>
          </a:prstGeom>
          <a:noFill/>
        </p:spPr>
        <p:txBody>
          <a:bodyPr wrap="none" rtlCol="0">
            <a:spAutoFit/>
          </a:bodyPr>
          <a:lstStyle/>
          <a:p>
            <a:r>
              <a:rPr lang="en-US" dirty="0"/>
              <a:t>Calculation of p-value:</a:t>
            </a:r>
          </a:p>
        </p:txBody>
      </p:sp>
      <p:grpSp>
        <p:nvGrpSpPr>
          <p:cNvPr id="17" name="Group 16">
            <a:extLst>
              <a:ext uri="{FF2B5EF4-FFF2-40B4-BE49-F238E27FC236}">
                <a16:creationId xmlns:a16="http://schemas.microsoft.com/office/drawing/2014/main" id="{3EFFADD2-229D-4810-9F29-782CEDC9E51B}"/>
              </a:ext>
            </a:extLst>
          </p:cNvPr>
          <p:cNvGrpSpPr/>
          <p:nvPr/>
        </p:nvGrpSpPr>
        <p:grpSpPr>
          <a:xfrm>
            <a:off x="6756399" y="23445"/>
            <a:ext cx="4512963" cy="3278966"/>
            <a:chOff x="6756399" y="23445"/>
            <a:chExt cx="4512963" cy="3278966"/>
          </a:xfrm>
        </p:grpSpPr>
        <p:grpSp>
          <p:nvGrpSpPr>
            <p:cNvPr id="14" name="Group 13">
              <a:extLst>
                <a:ext uri="{FF2B5EF4-FFF2-40B4-BE49-F238E27FC236}">
                  <a16:creationId xmlns:a16="http://schemas.microsoft.com/office/drawing/2014/main" id="{61F96E7B-3D15-2642-BD97-B92C4AD2CC21}"/>
                </a:ext>
              </a:extLst>
            </p:cNvPr>
            <p:cNvGrpSpPr/>
            <p:nvPr/>
          </p:nvGrpSpPr>
          <p:grpSpPr>
            <a:xfrm>
              <a:off x="6756399" y="23445"/>
              <a:ext cx="4512963" cy="3278966"/>
              <a:chOff x="6756399" y="23445"/>
              <a:chExt cx="4512963" cy="3278966"/>
            </a:xfrm>
          </p:grpSpPr>
          <p:pic>
            <p:nvPicPr>
              <p:cNvPr id="7" name="Picture 6">
                <a:extLst>
                  <a:ext uri="{FF2B5EF4-FFF2-40B4-BE49-F238E27FC236}">
                    <a16:creationId xmlns:a16="http://schemas.microsoft.com/office/drawing/2014/main" id="{26034767-2343-D64D-AA70-7400933CB03C}"/>
                  </a:ext>
                </a:extLst>
              </p:cNvPr>
              <p:cNvPicPr>
                <a:picLocks noChangeAspect="1"/>
              </p:cNvPicPr>
              <p:nvPr/>
            </p:nvPicPr>
            <p:blipFill>
              <a:blip r:embed="rId3"/>
              <a:stretch>
                <a:fillRect/>
              </a:stretch>
            </p:blipFill>
            <p:spPr>
              <a:xfrm>
                <a:off x="6756399" y="175846"/>
                <a:ext cx="4512963" cy="3126565"/>
              </a:xfrm>
              <a:prstGeom prst="rect">
                <a:avLst/>
              </a:prstGeom>
            </p:spPr>
          </p:pic>
          <p:pic>
            <p:nvPicPr>
              <p:cNvPr id="8" name="Picture 7">
                <a:extLst>
                  <a:ext uri="{FF2B5EF4-FFF2-40B4-BE49-F238E27FC236}">
                    <a16:creationId xmlns:a16="http://schemas.microsoft.com/office/drawing/2014/main" id="{6C3C3BBC-4EBA-5745-B07A-162A47ED81D4}"/>
                  </a:ext>
                </a:extLst>
              </p:cNvPr>
              <p:cNvPicPr>
                <a:picLocks noChangeAspect="1"/>
              </p:cNvPicPr>
              <p:nvPr/>
            </p:nvPicPr>
            <p:blipFill>
              <a:blip r:embed="rId4"/>
              <a:stretch>
                <a:fillRect/>
              </a:stretch>
            </p:blipFill>
            <p:spPr>
              <a:xfrm>
                <a:off x="8388864" y="2789020"/>
                <a:ext cx="406400" cy="292100"/>
              </a:xfrm>
              <a:prstGeom prst="rect">
                <a:avLst/>
              </a:prstGeom>
            </p:spPr>
          </p:pic>
          <p:pic>
            <p:nvPicPr>
              <p:cNvPr id="9" name="Picture 8">
                <a:extLst>
                  <a:ext uri="{FF2B5EF4-FFF2-40B4-BE49-F238E27FC236}">
                    <a16:creationId xmlns:a16="http://schemas.microsoft.com/office/drawing/2014/main" id="{E4093769-7034-8F4F-A0C5-10D2C95A32D7}"/>
                  </a:ext>
                </a:extLst>
              </p:cNvPr>
              <p:cNvPicPr>
                <a:picLocks noChangeAspect="1"/>
              </p:cNvPicPr>
              <p:nvPr/>
            </p:nvPicPr>
            <p:blipFill>
              <a:blip r:embed="rId5"/>
              <a:stretch>
                <a:fillRect/>
              </a:stretch>
            </p:blipFill>
            <p:spPr>
              <a:xfrm>
                <a:off x="7220807" y="2168211"/>
                <a:ext cx="1155700" cy="228600"/>
              </a:xfrm>
              <a:prstGeom prst="rect">
                <a:avLst/>
              </a:prstGeom>
            </p:spPr>
          </p:pic>
          <p:pic>
            <p:nvPicPr>
              <p:cNvPr id="10" name="Picture 9">
                <a:extLst>
                  <a:ext uri="{FF2B5EF4-FFF2-40B4-BE49-F238E27FC236}">
                    <a16:creationId xmlns:a16="http://schemas.microsoft.com/office/drawing/2014/main" id="{EAC5732C-A776-9C49-91AC-9430593BA90D}"/>
                  </a:ext>
                </a:extLst>
              </p:cNvPr>
              <p:cNvPicPr>
                <a:picLocks noChangeAspect="1"/>
              </p:cNvPicPr>
              <p:nvPr/>
            </p:nvPicPr>
            <p:blipFill>
              <a:blip r:embed="rId6"/>
              <a:stretch>
                <a:fillRect/>
              </a:stretch>
            </p:blipFill>
            <p:spPr>
              <a:xfrm>
                <a:off x="7798657" y="23445"/>
                <a:ext cx="3352800" cy="304800"/>
              </a:xfrm>
              <a:prstGeom prst="rect">
                <a:avLst/>
              </a:prstGeom>
            </p:spPr>
          </p:pic>
          <p:pic>
            <p:nvPicPr>
              <p:cNvPr id="11" name="Picture 10">
                <a:extLst>
                  <a:ext uri="{FF2B5EF4-FFF2-40B4-BE49-F238E27FC236}">
                    <a16:creationId xmlns:a16="http://schemas.microsoft.com/office/drawing/2014/main" id="{D180D24A-931B-A240-91E4-54453812754F}"/>
                  </a:ext>
                </a:extLst>
              </p:cNvPr>
              <p:cNvPicPr>
                <a:picLocks noChangeAspect="1"/>
              </p:cNvPicPr>
              <p:nvPr/>
            </p:nvPicPr>
            <p:blipFill>
              <a:blip r:embed="rId7"/>
              <a:stretch>
                <a:fillRect/>
              </a:stretch>
            </p:blipFill>
            <p:spPr>
              <a:xfrm>
                <a:off x="8592064" y="2136239"/>
                <a:ext cx="1333500" cy="330200"/>
              </a:xfrm>
              <a:prstGeom prst="rect">
                <a:avLst/>
              </a:prstGeom>
            </p:spPr>
          </p:pic>
        </p:grpSp>
        <p:pic>
          <p:nvPicPr>
            <p:cNvPr id="16" name="Picture 15">
              <a:extLst>
                <a:ext uri="{FF2B5EF4-FFF2-40B4-BE49-F238E27FC236}">
                  <a16:creationId xmlns:a16="http://schemas.microsoft.com/office/drawing/2014/main" id="{97B8DE66-20BC-4C9B-A2EB-8C2BE91346A9}"/>
                </a:ext>
              </a:extLst>
            </p:cNvPr>
            <p:cNvPicPr>
              <a:picLocks noChangeAspect="1"/>
            </p:cNvPicPr>
            <p:nvPr/>
          </p:nvPicPr>
          <p:blipFill>
            <a:blip r:embed="rId8"/>
            <a:stretch>
              <a:fillRect/>
            </a:stretch>
          </p:blipFill>
          <p:spPr>
            <a:xfrm>
              <a:off x="8388864" y="2820770"/>
              <a:ext cx="523875" cy="228600"/>
            </a:xfrm>
            <a:prstGeom prst="rect">
              <a:avLst/>
            </a:prstGeom>
          </p:spPr>
        </p:pic>
      </p:grpSp>
    </p:spTree>
    <p:extLst>
      <p:ext uri="{BB962C8B-B14F-4D97-AF65-F5344CB8AC3E}">
        <p14:creationId xmlns:p14="http://schemas.microsoft.com/office/powerpoint/2010/main" val="3091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AAF7C-6638-1648-9985-7AA522A670F5}"/>
              </a:ext>
            </a:extLst>
          </p:cNvPr>
          <p:cNvSpPr txBox="1"/>
          <p:nvPr/>
        </p:nvSpPr>
        <p:spPr>
          <a:xfrm>
            <a:off x="211015" y="175846"/>
            <a:ext cx="2875915" cy="369332"/>
          </a:xfrm>
          <a:prstGeom prst="rect">
            <a:avLst/>
          </a:prstGeom>
          <a:noFill/>
        </p:spPr>
        <p:txBody>
          <a:bodyPr wrap="none" rtlCol="0">
            <a:spAutoFit/>
          </a:bodyPr>
          <a:lstStyle/>
          <a:p>
            <a:r>
              <a:rPr lang="en-US" u="sng" dirty="0"/>
              <a:t>One-sided</a:t>
            </a:r>
            <a:r>
              <a:rPr lang="zh-CN" altLang="en-US" u="sng" dirty="0"/>
              <a:t> </a:t>
            </a:r>
            <a:r>
              <a:rPr lang="en-US" altLang="zh-CN" u="sng" dirty="0"/>
              <a:t>vs</a:t>
            </a:r>
            <a:r>
              <a:rPr lang="zh-CN" altLang="en-US" u="sng" dirty="0"/>
              <a:t> </a:t>
            </a:r>
            <a:r>
              <a:rPr lang="en-US" altLang="zh-CN" u="sng" dirty="0"/>
              <a:t>two-sided</a:t>
            </a:r>
            <a:r>
              <a:rPr lang="zh-CN" altLang="en-US" u="sng" dirty="0"/>
              <a:t> </a:t>
            </a:r>
            <a:r>
              <a:rPr lang="en-US" altLang="zh-CN" u="sng" dirty="0"/>
              <a:t>tests</a:t>
            </a:r>
            <a:endParaRPr lang="en-US" u="sng"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E1E0A7E-830D-CE44-8CB8-37EC811022FD}"/>
                  </a:ext>
                </a:extLst>
              </p:cNvPr>
              <p:cNvSpPr/>
              <p:nvPr/>
            </p:nvSpPr>
            <p:spPr>
              <a:xfrm>
                <a:off x="786951" y="1663923"/>
                <a:ext cx="1326292" cy="646331"/>
              </a:xfrm>
              <a:prstGeom prst="rect">
                <a:avLst/>
              </a:prstGeom>
            </p:spPr>
            <p:txBody>
              <a:bodyPr wrap="square">
                <a:spAutoFit/>
              </a:bodyPr>
              <a:lstStyle/>
              <a:p>
                <a:r>
                  <a:rPr lang="en-US" dirty="0">
                    <a:solidFill>
                      <a:schemeClr val="accent5">
                        <a:lumMod val="75000"/>
                      </a:schemeClr>
                    </a:solidFill>
                  </a:rPr>
                  <a:t>H</a:t>
                </a:r>
                <a:r>
                  <a:rPr lang="en-US" baseline="-25000" dirty="0">
                    <a:solidFill>
                      <a:schemeClr val="accent5">
                        <a:lumMod val="75000"/>
                      </a:schemeClr>
                    </a:solidFill>
                  </a:rPr>
                  <a:t>0</a:t>
                </a:r>
                <a:r>
                  <a:rPr lang="en-US" dirty="0">
                    <a:solidFill>
                      <a:schemeClr val="accent5">
                        <a:lumMod val="75000"/>
                      </a:schemeClr>
                    </a:solidFill>
                  </a:rPr>
                  <a:t>: </a:t>
                </a:r>
                <a14:m>
                  <m:oMath xmlns:m="http://schemas.openxmlformats.org/officeDocument/2006/math">
                    <m:r>
                      <a:rPr lang="en-US" i="1" dirty="0">
                        <a:solidFill>
                          <a:schemeClr val="accent5">
                            <a:lumMod val="75000"/>
                          </a:schemeClr>
                        </a:solidFill>
                        <a:latin typeface="Cambria Math" panose="02040503050406030204" pitchFamily="18" charset="0"/>
                        <a:ea typeface="Cambria Math" panose="02040503050406030204" pitchFamily="18" charset="0"/>
                      </a:rPr>
                      <m:t>𝜇</m:t>
                    </m:r>
                    <m:r>
                      <a:rPr lang="en-US" i="1" dirty="0">
                        <a:solidFill>
                          <a:schemeClr val="accent5">
                            <a:lumMod val="75000"/>
                          </a:schemeClr>
                        </a:solidFill>
                        <a:latin typeface="Cambria Math" panose="02040503050406030204" pitchFamily="18" charset="0"/>
                        <a:ea typeface="Cambria Math" panose="02040503050406030204" pitchFamily="18" charset="0"/>
                      </a:rPr>
                      <m:t>=</m:t>
                    </m:r>
                    <m:r>
                      <a:rPr lang="en-US" i="1" dirty="0">
                        <a:solidFill>
                          <a:schemeClr val="accent5">
                            <a:lumMod val="75000"/>
                          </a:schemeClr>
                        </a:solidFill>
                        <a:latin typeface="Cambria Math" panose="02040503050406030204" pitchFamily="18" charset="0"/>
                        <a:ea typeface="Cambria Math" panose="02040503050406030204" pitchFamily="18" charset="0"/>
                      </a:rPr>
                      <m:t>𝜇</m:t>
                    </m:r>
                  </m:oMath>
                </a14:m>
                <a:r>
                  <a:rPr lang="en-US" altLang="zh-CN" baseline="-25000" dirty="0">
                    <a:solidFill>
                      <a:schemeClr val="accent5">
                        <a:lumMod val="75000"/>
                      </a:schemeClr>
                    </a:solidFill>
                  </a:rPr>
                  <a:t>0</a:t>
                </a:r>
                <a:endParaRPr lang="en-US" dirty="0">
                  <a:solidFill>
                    <a:schemeClr val="accent5">
                      <a:lumMod val="75000"/>
                    </a:schemeClr>
                  </a:solidFill>
                </a:endParaRPr>
              </a:p>
              <a:p>
                <a:r>
                  <a:rPr lang="en-US" dirty="0">
                    <a:solidFill>
                      <a:schemeClr val="accent5">
                        <a:lumMod val="75000"/>
                      </a:schemeClr>
                    </a:solidFill>
                  </a:rPr>
                  <a:t>H</a:t>
                </a:r>
                <a:r>
                  <a:rPr lang="en-US" baseline="-25000" dirty="0">
                    <a:solidFill>
                      <a:schemeClr val="accent5">
                        <a:lumMod val="75000"/>
                      </a:schemeClr>
                    </a:solidFill>
                  </a:rPr>
                  <a:t>1</a:t>
                </a:r>
                <a:r>
                  <a:rPr lang="en-US" dirty="0">
                    <a:solidFill>
                      <a:schemeClr val="accent5">
                        <a:lumMod val="75000"/>
                      </a:schemeClr>
                    </a:solidFill>
                  </a:rPr>
                  <a:t>: </a:t>
                </a:r>
                <a14:m>
                  <m:oMath xmlns:m="http://schemas.openxmlformats.org/officeDocument/2006/math">
                    <m:r>
                      <a:rPr lang="en-US" i="1" dirty="0">
                        <a:solidFill>
                          <a:schemeClr val="accent5">
                            <a:lumMod val="75000"/>
                          </a:schemeClr>
                        </a:solidFill>
                        <a:latin typeface="Cambria Math" panose="02040503050406030204" pitchFamily="18" charset="0"/>
                        <a:ea typeface="Cambria Math" panose="02040503050406030204" pitchFamily="18" charset="0"/>
                      </a:rPr>
                      <m:t>𝜇</m:t>
                    </m:r>
                    <m:r>
                      <a:rPr lang="en-US" i="1" dirty="0">
                        <a:solidFill>
                          <a:schemeClr val="accent5">
                            <a:lumMod val="75000"/>
                          </a:schemeClr>
                        </a:solidFill>
                        <a:latin typeface="Cambria Math" panose="02040503050406030204" pitchFamily="18" charset="0"/>
                        <a:ea typeface="Cambria Math" panose="02040503050406030204" pitchFamily="18" charset="0"/>
                      </a:rPr>
                      <m:t>≠</m:t>
                    </m:r>
                    <m:r>
                      <a:rPr lang="en-US" i="1" dirty="0">
                        <a:solidFill>
                          <a:schemeClr val="accent5">
                            <a:lumMod val="75000"/>
                          </a:schemeClr>
                        </a:solidFill>
                        <a:latin typeface="Cambria Math" panose="02040503050406030204" pitchFamily="18" charset="0"/>
                        <a:ea typeface="Cambria Math" panose="02040503050406030204" pitchFamily="18" charset="0"/>
                      </a:rPr>
                      <m:t>𝜇</m:t>
                    </m:r>
                    <m:r>
                      <m:rPr>
                        <m:nor/>
                      </m:rPr>
                      <a:rPr lang="en-US" altLang="zh-CN" baseline="-25000" dirty="0">
                        <a:solidFill>
                          <a:schemeClr val="accent5">
                            <a:lumMod val="75000"/>
                          </a:schemeClr>
                        </a:solidFill>
                      </a:rPr>
                      <m:t>0</m:t>
                    </m:r>
                  </m:oMath>
                </a14:m>
                <a:endParaRPr lang="en-US" dirty="0">
                  <a:solidFill>
                    <a:schemeClr val="accent5">
                      <a:lumMod val="75000"/>
                    </a:schemeClr>
                  </a:solidFill>
                </a:endParaRPr>
              </a:p>
            </p:txBody>
          </p:sp>
        </mc:Choice>
        <mc:Fallback xmlns="">
          <p:sp>
            <p:nvSpPr>
              <p:cNvPr id="3" name="Rectangle 2">
                <a:extLst>
                  <a:ext uri="{FF2B5EF4-FFF2-40B4-BE49-F238E27FC236}">
                    <a16:creationId xmlns:a16="http://schemas.microsoft.com/office/drawing/2014/main" id="{EE1E0A7E-830D-CE44-8CB8-37EC811022FD}"/>
                  </a:ext>
                </a:extLst>
              </p:cNvPr>
              <p:cNvSpPr>
                <a:spLocks noRot="1" noChangeAspect="1" noMove="1" noResize="1" noEditPoints="1" noAdjustHandles="1" noChangeArrowheads="1" noChangeShapeType="1" noTextEdit="1"/>
              </p:cNvSpPr>
              <p:nvPr/>
            </p:nvSpPr>
            <p:spPr>
              <a:xfrm>
                <a:off x="786951" y="1663923"/>
                <a:ext cx="1326292" cy="646331"/>
              </a:xfrm>
              <a:prstGeom prst="rect">
                <a:avLst/>
              </a:prstGeom>
              <a:blipFill>
                <a:blip r:embed="rId2"/>
                <a:stretch>
                  <a:fillRect l="-2830" t="-5882" b="-17647"/>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7DACCD8F-8C1F-C74B-971F-0C4289A38337}"/>
              </a:ext>
            </a:extLst>
          </p:cNvPr>
          <p:cNvSpPr/>
          <p:nvPr/>
        </p:nvSpPr>
        <p:spPr>
          <a:xfrm>
            <a:off x="211015" y="840794"/>
            <a:ext cx="2373407" cy="369332"/>
          </a:xfrm>
          <a:prstGeom prst="rect">
            <a:avLst/>
          </a:prstGeom>
        </p:spPr>
        <p:txBody>
          <a:bodyPr wrap="none">
            <a:spAutoFit/>
          </a:bodyPr>
          <a:lstStyle/>
          <a:p>
            <a:r>
              <a:rPr lang="en-US" b="1" dirty="0">
                <a:solidFill>
                  <a:srgbClr val="211E1E"/>
                </a:solidFill>
                <a:latin typeface="Times" pitchFamily="2" charset="0"/>
              </a:rPr>
              <a:t>Two-sided alternative </a:t>
            </a:r>
            <a:endParaRPr lang="en-US" dirty="0">
              <a:effectLst/>
            </a:endParaRPr>
          </a:p>
        </p:txBody>
      </p:sp>
      <p:pic>
        <p:nvPicPr>
          <p:cNvPr id="9" name="Picture 8">
            <a:extLst>
              <a:ext uri="{FF2B5EF4-FFF2-40B4-BE49-F238E27FC236}">
                <a16:creationId xmlns:a16="http://schemas.microsoft.com/office/drawing/2014/main" id="{3F23426C-91E2-A143-B758-BFDFB15A5B11}"/>
              </a:ext>
            </a:extLst>
          </p:cNvPr>
          <p:cNvPicPr>
            <a:picLocks noChangeAspect="1"/>
          </p:cNvPicPr>
          <p:nvPr/>
        </p:nvPicPr>
        <p:blipFill>
          <a:blip r:embed="rId3"/>
          <a:stretch>
            <a:fillRect/>
          </a:stretch>
        </p:blipFill>
        <p:spPr>
          <a:xfrm>
            <a:off x="4274348" y="3595816"/>
            <a:ext cx="7502146" cy="3160479"/>
          </a:xfrm>
          <a:prstGeom prst="rect">
            <a:avLst/>
          </a:prstGeom>
        </p:spPr>
      </p:pic>
      <p:sp>
        <p:nvSpPr>
          <p:cNvPr id="10" name="TextBox 9">
            <a:extLst>
              <a:ext uri="{FF2B5EF4-FFF2-40B4-BE49-F238E27FC236}">
                <a16:creationId xmlns:a16="http://schemas.microsoft.com/office/drawing/2014/main" id="{215854EC-D831-8542-82A1-B90F99225D88}"/>
              </a:ext>
            </a:extLst>
          </p:cNvPr>
          <p:cNvSpPr txBox="1"/>
          <p:nvPr/>
        </p:nvSpPr>
        <p:spPr>
          <a:xfrm>
            <a:off x="3830594" y="1460207"/>
            <a:ext cx="2695225" cy="369332"/>
          </a:xfrm>
          <a:prstGeom prst="rect">
            <a:avLst/>
          </a:prstGeom>
          <a:noFill/>
        </p:spPr>
        <p:txBody>
          <a:bodyPr wrap="none" rtlCol="0">
            <a:spAutoFit/>
          </a:bodyPr>
          <a:lstStyle/>
          <a:p>
            <a:r>
              <a:rPr lang="en-US" dirty="0"/>
              <a:t>Rejection region at level 𝛼:</a:t>
            </a:r>
          </a:p>
        </p:txBody>
      </p:sp>
      <p:sp>
        <p:nvSpPr>
          <p:cNvPr id="11" name="TextBox 10">
            <a:extLst>
              <a:ext uri="{FF2B5EF4-FFF2-40B4-BE49-F238E27FC236}">
                <a16:creationId xmlns:a16="http://schemas.microsoft.com/office/drawing/2014/main" id="{440C19F2-6CEF-3C43-9C79-07E85B843F3C}"/>
              </a:ext>
            </a:extLst>
          </p:cNvPr>
          <p:cNvSpPr txBox="1"/>
          <p:nvPr/>
        </p:nvSpPr>
        <p:spPr>
          <a:xfrm>
            <a:off x="926757" y="4930346"/>
            <a:ext cx="2278637" cy="369332"/>
          </a:xfrm>
          <a:prstGeom prst="rect">
            <a:avLst/>
          </a:prstGeom>
          <a:noFill/>
        </p:spPr>
        <p:txBody>
          <a:bodyPr wrap="none" rtlCol="0">
            <a:spAutoFit/>
          </a:bodyPr>
          <a:lstStyle/>
          <a:p>
            <a:r>
              <a:rPr lang="en-US" dirty="0"/>
              <a:t>Calculation of p-value:</a:t>
            </a:r>
          </a:p>
        </p:txBody>
      </p:sp>
      <p:grpSp>
        <p:nvGrpSpPr>
          <p:cNvPr id="12" name="Group 11">
            <a:extLst>
              <a:ext uri="{FF2B5EF4-FFF2-40B4-BE49-F238E27FC236}">
                <a16:creationId xmlns:a16="http://schemas.microsoft.com/office/drawing/2014/main" id="{5D2A7302-9B83-4EDC-B61A-76A2CC82F256}"/>
              </a:ext>
            </a:extLst>
          </p:cNvPr>
          <p:cNvGrpSpPr/>
          <p:nvPr/>
        </p:nvGrpSpPr>
        <p:grpSpPr>
          <a:xfrm>
            <a:off x="6780360" y="175845"/>
            <a:ext cx="4699067" cy="2938057"/>
            <a:chOff x="6780360" y="175845"/>
            <a:chExt cx="4699067" cy="2938057"/>
          </a:xfrm>
        </p:grpSpPr>
        <p:pic>
          <p:nvPicPr>
            <p:cNvPr id="7" name="Picture 6">
              <a:extLst>
                <a:ext uri="{FF2B5EF4-FFF2-40B4-BE49-F238E27FC236}">
                  <a16:creationId xmlns:a16="http://schemas.microsoft.com/office/drawing/2014/main" id="{23CD6CD9-6E6F-B342-9064-4C56103C5218}"/>
                </a:ext>
              </a:extLst>
            </p:cNvPr>
            <p:cNvPicPr>
              <a:picLocks noChangeAspect="1"/>
            </p:cNvPicPr>
            <p:nvPr/>
          </p:nvPicPr>
          <p:blipFill>
            <a:blip r:embed="rId4"/>
            <a:stretch>
              <a:fillRect/>
            </a:stretch>
          </p:blipFill>
          <p:spPr>
            <a:xfrm>
              <a:off x="6780360" y="175845"/>
              <a:ext cx="4699067" cy="2938057"/>
            </a:xfrm>
            <a:prstGeom prst="rect">
              <a:avLst/>
            </a:prstGeom>
          </p:spPr>
        </p:pic>
        <p:pic>
          <p:nvPicPr>
            <p:cNvPr id="4" name="Picture 3">
              <a:extLst>
                <a:ext uri="{FF2B5EF4-FFF2-40B4-BE49-F238E27FC236}">
                  <a16:creationId xmlns:a16="http://schemas.microsoft.com/office/drawing/2014/main" id="{723DA682-A10B-4884-992D-E130B7A09394}"/>
                </a:ext>
              </a:extLst>
            </p:cNvPr>
            <p:cNvPicPr>
              <a:picLocks noChangeAspect="1"/>
            </p:cNvPicPr>
            <p:nvPr/>
          </p:nvPicPr>
          <p:blipFill>
            <a:blip r:embed="rId5"/>
            <a:stretch>
              <a:fillRect/>
            </a:stretch>
          </p:blipFill>
          <p:spPr>
            <a:xfrm>
              <a:off x="8025421" y="2692333"/>
              <a:ext cx="657225" cy="247650"/>
            </a:xfrm>
            <a:prstGeom prst="rect">
              <a:avLst/>
            </a:prstGeom>
          </p:spPr>
        </p:pic>
        <p:pic>
          <p:nvPicPr>
            <p:cNvPr id="8" name="Picture 7">
              <a:extLst>
                <a:ext uri="{FF2B5EF4-FFF2-40B4-BE49-F238E27FC236}">
                  <a16:creationId xmlns:a16="http://schemas.microsoft.com/office/drawing/2014/main" id="{796F0390-BC91-4F5F-828E-EDF07ACE02DC}"/>
                </a:ext>
              </a:extLst>
            </p:cNvPr>
            <p:cNvPicPr>
              <a:picLocks noChangeAspect="1"/>
            </p:cNvPicPr>
            <p:nvPr/>
          </p:nvPicPr>
          <p:blipFill>
            <a:blip r:embed="rId6"/>
            <a:stretch>
              <a:fillRect/>
            </a:stretch>
          </p:blipFill>
          <p:spPr>
            <a:xfrm>
              <a:off x="9580044" y="2692333"/>
              <a:ext cx="695325" cy="228600"/>
            </a:xfrm>
            <a:prstGeom prst="rect">
              <a:avLst/>
            </a:prstGeom>
          </p:spPr>
        </p:pic>
      </p:grpSp>
    </p:spTree>
    <p:extLst>
      <p:ext uri="{BB962C8B-B14F-4D97-AF65-F5344CB8AC3E}">
        <p14:creationId xmlns:p14="http://schemas.microsoft.com/office/powerpoint/2010/main" val="417183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E5849F-AEB3-D546-A301-D5E202766CF6}"/>
              </a:ext>
            </a:extLst>
          </p:cNvPr>
          <p:cNvSpPr/>
          <p:nvPr/>
        </p:nvSpPr>
        <p:spPr>
          <a:xfrm>
            <a:off x="99665" y="124791"/>
            <a:ext cx="5873787" cy="369332"/>
          </a:xfrm>
          <a:prstGeom prst="rect">
            <a:avLst/>
          </a:prstGeom>
        </p:spPr>
        <p:txBody>
          <a:bodyPr wrap="none">
            <a:spAutoFit/>
          </a:bodyPr>
          <a:lstStyle/>
          <a:p>
            <a:r>
              <a:rPr lang="en-US" u="sng" dirty="0">
                <a:solidFill>
                  <a:srgbClr val="211E1E"/>
                </a:solidFill>
                <a:latin typeface="Optima" panose="02000503060000020004" pitchFamily="2" charset="0"/>
              </a:rPr>
              <a:t>The Duality of Confidence Intervals and Hypothesis Tests</a:t>
            </a:r>
            <a:endParaRPr lang="en-US" u="sng" dirty="0"/>
          </a:p>
        </p:txBody>
      </p:sp>
      <p:pic>
        <p:nvPicPr>
          <p:cNvPr id="3" name="Picture 2">
            <a:extLst>
              <a:ext uri="{FF2B5EF4-FFF2-40B4-BE49-F238E27FC236}">
                <a16:creationId xmlns:a16="http://schemas.microsoft.com/office/drawing/2014/main" id="{4EC5BDCF-B2A8-BC4E-8E51-4169C23DEAA4}"/>
              </a:ext>
            </a:extLst>
          </p:cNvPr>
          <p:cNvPicPr>
            <a:picLocks noChangeAspect="1"/>
          </p:cNvPicPr>
          <p:nvPr/>
        </p:nvPicPr>
        <p:blipFill>
          <a:blip r:embed="rId2"/>
          <a:stretch>
            <a:fillRect/>
          </a:stretch>
        </p:blipFill>
        <p:spPr>
          <a:xfrm>
            <a:off x="575034" y="661118"/>
            <a:ext cx="6683212" cy="1404879"/>
          </a:xfrm>
          <a:prstGeom prst="rect">
            <a:avLst/>
          </a:prstGeom>
        </p:spPr>
      </p:pic>
      <p:pic>
        <p:nvPicPr>
          <p:cNvPr id="4" name="Picture 3">
            <a:extLst>
              <a:ext uri="{FF2B5EF4-FFF2-40B4-BE49-F238E27FC236}">
                <a16:creationId xmlns:a16="http://schemas.microsoft.com/office/drawing/2014/main" id="{A514FCA9-B4EF-D749-833A-96F3C7F787B2}"/>
              </a:ext>
            </a:extLst>
          </p:cNvPr>
          <p:cNvPicPr>
            <a:picLocks noChangeAspect="1"/>
          </p:cNvPicPr>
          <p:nvPr/>
        </p:nvPicPr>
        <p:blipFill>
          <a:blip r:embed="rId3"/>
          <a:stretch>
            <a:fillRect/>
          </a:stretch>
        </p:blipFill>
        <p:spPr>
          <a:xfrm>
            <a:off x="3010393" y="2697439"/>
            <a:ext cx="1977272" cy="407085"/>
          </a:xfrm>
          <a:prstGeom prst="rect">
            <a:avLst/>
          </a:prstGeom>
        </p:spPr>
      </p:pic>
      <p:sp>
        <p:nvSpPr>
          <p:cNvPr id="5" name="TextBox 4">
            <a:extLst>
              <a:ext uri="{FF2B5EF4-FFF2-40B4-BE49-F238E27FC236}">
                <a16:creationId xmlns:a16="http://schemas.microsoft.com/office/drawing/2014/main" id="{D5DD650A-5F4E-A542-AAAD-E80F10353C44}"/>
              </a:ext>
            </a:extLst>
          </p:cNvPr>
          <p:cNvSpPr txBox="1"/>
          <p:nvPr/>
        </p:nvSpPr>
        <p:spPr>
          <a:xfrm>
            <a:off x="575034" y="2219460"/>
            <a:ext cx="23626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The acceptance region:</a:t>
            </a:r>
          </a:p>
        </p:txBody>
      </p:sp>
      <p:pic>
        <p:nvPicPr>
          <p:cNvPr id="6" name="Picture 5">
            <a:extLst>
              <a:ext uri="{FF2B5EF4-FFF2-40B4-BE49-F238E27FC236}">
                <a16:creationId xmlns:a16="http://schemas.microsoft.com/office/drawing/2014/main" id="{27B8AF1A-6523-4349-B3A6-9F19F5746D44}"/>
              </a:ext>
            </a:extLst>
          </p:cNvPr>
          <p:cNvPicPr>
            <a:picLocks noChangeAspect="1"/>
          </p:cNvPicPr>
          <p:nvPr/>
        </p:nvPicPr>
        <p:blipFill>
          <a:blip r:embed="rId4"/>
          <a:stretch>
            <a:fillRect/>
          </a:stretch>
        </p:blipFill>
        <p:spPr>
          <a:xfrm>
            <a:off x="2696494" y="3367017"/>
            <a:ext cx="2941621" cy="368949"/>
          </a:xfrm>
          <a:prstGeom prst="rect">
            <a:avLst/>
          </a:prstGeom>
        </p:spPr>
      </p:pic>
      <p:pic>
        <p:nvPicPr>
          <p:cNvPr id="7" name="Picture 6">
            <a:extLst>
              <a:ext uri="{FF2B5EF4-FFF2-40B4-BE49-F238E27FC236}">
                <a16:creationId xmlns:a16="http://schemas.microsoft.com/office/drawing/2014/main" id="{188CCC05-5721-B044-A351-CF2C7C482EBC}"/>
              </a:ext>
            </a:extLst>
          </p:cNvPr>
          <p:cNvPicPr>
            <a:picLocks noChangeAspect="1"/>
          </p:cNvPicPr>
          <p:nvPr/>
        </p:nvPicPr>
        <p:blipFill>
          <a:blip r:embed="rId5"/>
          <a:stretch>
            <a:fillRect/>
          </a:stretch>
        </p:blipFill>
        <p:spPr>
          <a:xfrm>
            <a:off x="2696494" y="3955735"/>
            <a:ext cx="3090551" cy="403543"/>
          </a:xfrm>
          <a:prstGeom prst="rect">
            <a:avLst/>
          </a:prstGeom>
        </p:spPr>
      </p:pic>
      <p:pic>
        <p:nvPicPr>
          <p:cNvPr id="8" name="Picture 7">
            <a:extLst>
              <a:ext uri="{FF2B5EF4-FFF2-40B4-BE49-F238E27FC236}">
                <a16:creationId xmlns:a16="http://schemas.microsoft.com/office/drawing/2014/main" id="{57A81500-0575-E84D-80E6-3937D71D6328}"/>
              </a:ext>
            </a:extLst>
          </p:cNvPr>
          <p:cNvPicPr>
            <a:picLocks noChangeAspect="1"/>
          </p:cNvPicPr>
          <p:nvPr/>
        </p:nvPicPr>
        <p:blipFill>
          <a:blip r:embed="rId6"/>
          <a:stretch>
            <a:fillRect/>
          </a:stretch>
        </p:blipFill>
        <p:spPr>
          <a:xfrm>
            <a:off x="575034" y="4605927"/>
            <a:ext cx="4914005" cy="978680"/>
          </a:xfrm>
          <a:prstGeom prst="rect">
            <a:avLst/>
          </a:prstGeom>
        </p:spPr>
      </p:pic>
      <p:sp>
        <p:nvSpPr>
          <p:cNvPr id="9" name="TextBox 8">
            <a:extLst>
              <a:ext uri="{FF2B5EF4-FFF2-40B4-BE49-F238E27FC236}">
                <a16:creationId xmlns:a16="http://schemas.microsoft.com/office/drawing/2014/main" id="{E910FA54-E1C0-5D43-B926-132F3947B064}"/>
              </a:ext>
            </a:extLst>
          </p:cNvPr>
          <p:cNvSpPr txBox="1"/>
          <p:nvPr/>
        </p:nvSpPr>
        <p:spPr>
          <a:xfrm>
            <a:off x="575034" y="5751602"/>
            <a:ext cx="11331019" cy="923330"/>
          </a:xfrm>
          <a:prstGeom prst="rect">
            <a:avLst/>
          </a:prstGeom>
          <a:noFill/>
        </p:spPr>
        <p:txBody>
          <a:bodyPr wrap="square" rtlCol="0">
            <a:spAutoFit/>
          </a:bodyPr>
          <a:lstStyle/>
          <a:p>
            <a:r>
              <a:rPr lang="el-GR" dirty="0"/>
              <a:t>μ</a:t>
            </a:r>
            <a:r>
              <a:rPr lang="el-GR" baseline="-25000" dirty="0"/>
              <a:t>0</a:t>
            </a:r>
            <a:r>
              <a:rPr lang="el-GR" dirty="0"/>
              <a:t> </a:t>
            </a:r>
            <a:r>
              <a:rPr lang="en-US" dirty="0"/>
              <a:t>lies in the confidence interval for </a:t>
            </a:r>
            <a:r>
              <a:rPr lang="el-GR" dirty="0"/>
              <a:t>μ </a:t>
            </a:r>
            <a:r>
              <a:rPr lang="en-US" dirty="0"/>
              <a:t>if and only if the hypothesis test accepts.</a:t>
            </a:r>
          </a:p>
          <a:p>
            <a:endParaRPr lang="en-US" i="1" dirty="0"/>
          </a:p>
          <a:p>
            <a:r>
              <a:rPr lang="en-US" i="1" dirty="0"/>
              <a:t>The confidence interval consists precisely of all those values of </a:t>
            </a:r>
            <a:r>
              <a:rPr lang="el-GR" dirty="0"/>
              <a:t>μ</a:t>
            </a:r>
            <a:r>
              <a:rPr lang="el-GR" baseline="-25000" dirty="0"/>
              <a:t>0</a:t>
            </a:r>
            <a:r>
              <a:rPr lang="el-GR" dirty="0"/>
              <a:t> </a:t>
            </a:r>
            <a:r>
              <a:rPr lang="en-US" i="1" dirty="0"/>
              <a:t>for which the null hypothesis H</a:t>
            </a:r>
            <a:r>
              <a:rPr lang="en-US" baseline="-25000" dirty="0"/>
              <a:t>0</a:t>
            </a:r>
            <a:r>
              <a:rPr lang="en-US" dirty="0"/>
              <a:t>: </a:t>
            </a:r>
            <a:r>
              <a:rPr lang="el-GR" dirty="0"/>
              <a:t>μ = μ</a:t>
            </a:r>
            <a:r>
              <a:rPr lang="el-GR" baseline="-25000" dirty="0"/>
              <a:t>0</a:t>
            </a:r>
            <a:r>
              <a:rPr lang="el-GR" dirty="0"/>
              <a:t> </a:t>
            </a:r>
            <a:r>
              <a:rPr lang="en-US" i="1" dirty="0"/>
              <a:t>is accepted</a:t>
            </a:r>
            <a:r>
              <a:rPr lang="en-US" dirty="0"/>
              <a:t>. </a:t>
            </a:r>
          </a:p>
        </p:txBody>
      </p:sp>
    </p:spTree>
    <p:extLst>
      <p:ext uri="{BB962C8B-B14F-4D97-AF65-F5344CB8AC3E}">
        <p14:creationId xmlns:p14="http://schemas.microsoft.com/office/powerpoint/2010/main" val="909015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0FFBD2-B3C0-9C48-A967-F08883B251B0}"/>
              </a:ext>
            </a:extLst>
          </p:cNvPr>
          <p:cNvPicPr>
            <a:picLocks noChangeAspect="1"/>
          </p:cNvPicPr>
          <p:nvPr/>
        </p:nvPicPr>
        <p:blipFill>
          <a:blip r:embed="rId2"/>
          <a:stretch>
            <a:fillRect/>
          </a:stretch>
        </p:blipFill>
        <p:spPr>
          <a:xfrm>
            <a:off x="899302" y="1715678"/>
            <a:ext cx="3165195" cy="3011864"/>
          </a:xfrm>
          <a:prstGeom prst="rect">
            <a:avLst/>
          </a:prstGeom>
        </p:spPr>
      </p:pic>
      <p:pic>
        <p:nvPicPr>
          <p:cNvPr id="3" name="Picture 2">
            <a:extLst>
              <a:ext uri="{FF2B5EF4-FFF2-40B4-BE49-F238E27FC236}">
                <a16:creationId xmlns:a16="http://schemas.microsoft.com/office/drawing/2014/main" id="{0D6AC847-97FB-2943-8768-6BB1C50CC6B5}"/>
              </a:ext>
            </a:extLst>
          </p:cNvPr>
          <p:cNvPicPr>
            <a:picLocks noChangeAspect="1"/>
          </p:cNvPicPr>
          <p:nvPr/>
        </p:nvPicPr>
        <p:blipFill>
          <a:blip r:embed="rId3"/>
          <a:stretch>
            <a:fillRect/>
          </a:stretch>
        </p:blipFill>
        <p:spPr>
          <a:xfrm>
            <a:off x="4628560" y="1709486"/>
            <a:ext cx="3152081" cy="3011864"/>
          </a:xfrm>
          <a:prstGeom prst="rect">
            <a:avLst/>
          </a:prstGeom>
        </p:spPr>
      </p:pic>
      <p:pic>
        <p:nvPicPr>
          <p:cNvPr id="4" name="Picture 3">
            <a:extLst>
              <a:ext uri="{FF2B5EF4-FFF2-40B4-BE49-F238E27FC236}">
                <a16:creationId xmlns:a16="http://schemas.microsoft.com/office/drawing/2014/main" id="{8611E3BE-E549-1449-B6A0-3D55C7C0AA62}"/>
              </a:ext>
            </a:extLst>
          </p:cNvPr>
          <p:cNvPicPr>
            <a:picLocks noChangeAspect="1"/>
          </p:cNvPicPr>
          <p:nvPr/>
        </p:nvPicPr>
        <p:blipFill>
          <a:blip r:embed="rId4"/>
          <a:stretch>
            <a:fillRect/>
          </a:stretch>
        </p:blipFill>
        <p:spPr>
          <a:xfrm>
            <a:off x="8237294" y="1709486"/>
            <a:ext cx="3173612" cy="3011864"/>
          </a:xfrm>
          <a:prstGeom prst="rect">
            <a:avLst/>
          </a:prstGeom>
        </p:spPr>
      </p:pic>
      <p:sp>
        <p:nvSpPr>
          <p:cNvPr id="5" name="Rectangle 4">
            <a:extLst>
              <a:ext uri="{FF2B5EF4-FFF2-40B4-BE49-F238E27FC236}">
                <a16:creationId xmlns:a16="http://schemas.microsoft.com/office/drawing/2014/main" id="{C99B4A7F-D119-B644-B1EA-1320B34868DF}"/>
              </a:ext>
            </a:extLst>
          </p:cNvPr>
          <p:cNvSpPr/>
          <p:nvPr/>
        </p:nvSpPr>
        <p:spPr>
          <a:xfrm>
            <a:off x="99665" y="124791"/>
            <a:ext cx="5873787" cy="369332"/>
          </a:xfrm>
          <a:prstGeom prst="rect">
            <a:avLst/>
          </a:prstGeom>
        </p:spPr>
        <p:txBody>
          <a:bodyPr wrap="none">
            <a:spAutoFit/>
          </a:bodyPr>
          <a:lstStyle/>
          <a:p>
            <a:r>
              <a:rPr lang="en-US" u="sng" dirty="0">
                <a:solidFill>
                  <a:srgbClr val="211E1E"/>
                </a:solidFill>
                <a:latin typeface="Optima" panose="02000503060000020004" pitchFamily="2" charset="0"/>
              </a:rPr>
              <a:t>The Duality of Confidence Intervals and Hypothesis Tests</a:t>
            </a:r>
            <a:endParaRPr lang="en-US" u="sng" dirty="0"/>
          </a:p>
        </p:txBody>
      </p:sp>
      <p:sp>
        <p:nvSpPr>
          <p:cNvPr id="6" name="Rectangle 5">
            <a:extLst>
              <a:ext uri="{FF2B5EF4-FFF2-40B4-BE49-F238E27FC236}">
                <a16:creationId xmlns:a16="http://schemas.microsoft.com/office/drawing/2014/main" id="{AD04EA8B-B173-A443-9C72-2F798FC1182C}"/>
              </a:ext>
            </a:extLst>
          </p:cNvPr>
          <p:cNvSpPr/>
          <p:nvPr/>
        </p:nvSpPr>
        <p:spPr>
          <a:xfrm>
            <a:off x="2092049" y="1524820"/>
            <a:ext cx="389850" cy="369332"/>
          </a:xfrm>
          <a:prstGeom prst="rect">
            <a:avLst/>
          </a:prstGeom>
        </p:spPr>
        <p:txBody>
          <a:bodyPr wrap="none">
            <a:spAutoFit/>
          </a:bodyPr>
          <a:lstStyle/>
          <a:p>
            <a:r>
              <a:rPr lang="el-GR" dirty="0"/>
              <a:t>μ</a:t>
            </a:r>
            <a:r>
              <a:rPr lang="el-GR" baseline="-25000" dirty="0"/>
              <a:t>0</a:t>
            </a:r>
            <a:endParaRPr lang="en-US" dirty="0"/>
          </a:p>
        </p:txBody>
      </p:sp>
      <p:sp>
        <p:nvSpPr>
          <p:cNvPr id="7" name="Rectangle 6">
            <a:extLst>
              <a:ext uri="{FF2B5EF4-FFF2-40B4-BE49-F238E27FC236}">
                <a16:creationId xmlns:a16="http://schemas.microsoft.com/office/drawing/2014/main" id="{A323EDE5-332B-D14F-B047-0B19156F956C}"/>
              </a:ext>
            </a:extLst>
          </p:cNvPr>
          <p:cNvSpPr/>
          <p:nvPr/>
        </p:nvSpPr>
        <p:spPr>
          <a:xfrm>
            <a:off x="2092049" y="3244334"/>
            <a:ext cx="389850" cy="369332"/>
          </a:xfrm>
          <a:prstGeom prst="rect">
            <a:avLst/>
          </a:prstGeom>
        </p:spPr>
        <p:txBody>
          <a:bodyPr wrap="none">
            <a:spAutoFit/>
          </a:bodyPr>
          <a:lstStyle/>
          <a:p>
            <a:r>
              <a:rPr lang="el-GR" dirty="0"/>
              <a:t>μ</a:t>
            </a:r>
            <a:r>
              <a:rPr lang="el-GR" baseline="-25000" dirty="0"/>
              <a:t>0</a:t>
            </a:r>
            <a:endParaRPr lang="en-US" dirty="0"/>
          </a:p>
        </p:txBody>
      </p:sp>
      <p:sp>
        <p:nvSpPr>
          <p:cNvPr id="8" name="Rectangle 7">
            <a:extLst>
              <a:ext uri="{FF2B5EF4-FFF2-40B4-BE49-F238E27FC236}">
                <a16:creationId xmlns:a16="http://schemas.microsoft.com/office/drawing/2014/main" id="{72E9CA7C-CEE1-8A46-A5D8-9666D869CF6E}"/>
              </a:ext>
            </a:extLst>
          </p:cNvPr>
          <p:cNvSpPr/>
          <p:nvPr/>
        </p:nvSpPr>
        <p:spPr>
          <a:xfrm>
            <a:off x="5800798" y="1524820"/>
            <a:ext cx="389850" cy="369332"/>
          </a:xfrm>
          <a:prstGeom prst="rect">
            <a:avLst/>
          </a:prstGeom>
        </p:spPr>
        <p:txBody>
          <a:bodyPr wrap="none">
            <a:spAutoFit/>
          </a:bodyPr>
          <a:lstStyle/>
          <a:p>
            <a:r>
              <a:rPr lang="el-GR" dirty="0"/>
              <a:t>μ</a:t>
            </a:r>
            <a:r>
              <a:rPr lang="el-GR" baseline="-25000" dirty="0"/>
              <a:t>0</a:t>
            </a:r>
            <a:endParaRPr lang="en-US" dirty="0"/>
          </a:p>
        </p:txBody>
      </p:sp>
      <p:sp>
        <p:nvSpPr>
          <p:cNvPr id="9" name="Rectangle 8">
            <a:extLst>
              <a:ext uri="{FF2B5EF4-FFF2-40B4-BE49-F238E27FC236}">
                <a16:creationId xmlns:a16="http://schemas.microsoft.com/office/drawing/2014/main" id="{8576C722-2191-494B-ABE3-A768A4111166}"/>
              </a:ext>
            </a:extLst>
          </p:cNvPr>
          <p:cNvSpPr/>
          <p:nvPr/>
        </p:nvSpPr>
        <p:spPr>
          <a:xfrm>
            <a:off x="5800798" y="3244334"/>
            <a:ext cx="389850" cy="369332"/>
          </a:xfrm>
          <a:prstGeom prst="rect">
            <a:avLst/>
          </a:prstGeom>
        </p:spPr>
        <p:txBody>
          <a:bodyPr wrap="none">
            <a:spAutoFit/>
          </a:bodyPr>
          <a:lstStyle/>
          <a:p>
            <a:r>
              <a:rPr lang="el-GR" dirty="0"/>
              <a:t>μ</a:t>
            </a:r>
            <a:r>
              <a:rPr lang="el-GR" baseline="-25000" dirty="0"/>
              <a:t>0</a:t>
            </a:r>
            <a:endParaRPr lang="en-US" dirty="0"/>
          </a:p>
        </p:txBody>
      </p:sp>
      <p:sp>
        <p:nvSpPr>
          <p:cNvPr id="10" name="Rectangle 9">
            <a:extLst>
              <a:ext uri="{FF2B5EF4-FFF2-40B4-BE49-F238E27FC236}">
                <a16:creationId xmlns:a16="http://schemas.microsoft.com/office/drawing/2014/main" id="{93802310-8A4C-7541-AE16-18BE7B51637B}"/>
              </a:ext>
            </a:extLst>
          </p:cNvPr>
          <p:cNvSpPr/>
          <p:nvPr/>
        </p:nvSpPr>
        <p:spPr>
          <a:xfrm>
            <a:off x="9322017" y="1524820"/>
            <a:ext cx="389850" cy="369332"/>
          </a:xfrm>
          <a:prstGeom prst="rect">
            <a:avLst/>
          </a:prstGeom>
        </p:spPr>
        <p:txBody>
          <a:bodyPr wrap="none">
            <a:spAutoFit/>
          </a:bodyPr>
          <a:lstStyle/>
          <a:p>
            <a:r>
              <a:rPr lang="el-GR" dirty="0"/>
              <a:t>μ</a:t>
            </a:r>
            <a:r>
              <a:rPr lang="el-GR" baseline="-25000" dirty="0"/>
              <a:t>0</a:t>
            </a:r>
            <a:endParaRPr lang="en-US" dirty="0"/>
          </a:p>
        </p:txBody>
      </p:sp>
      <p:sp>
        <p:nvSpPr>
          <p:cNvPr id="11" name="Rectangle 10">
            <a:extLst>
              <a:ext uri="{FF2B5EF4-FFF2-40B4-BE49-F238E27FC236}">
                <a16:creationId xmlns:a16="http://schemas.microsoft.com/office/drawing/2014/main" id="{A76C75E0-D8CD-174C-BDBC-354F536FCA9B}"/>
              </a:ext>
            </a:extLst>
          </p:cNvPr>
          <p:cNvSpPr/>
          <p:nvPr/>
        </p:nvSpPr>
        <p:spPr>
          <a:xfrm>
            <a:off x="9322017" y="3244334"/>
            <a:ext cx="389850" cy="369332"/>
          </a:xfrm>
          <a:prstGeom prst="rect">
            <a:avLst/>
          </a:prstGeom>
        </p:spPr>
        <p:txBody>
          <a:bodyPr wrap="none">
            <a:spAutoFit/>
          </a:bodyPr>
          <a:lstStyle/>
          <a:p>
            <a:r>
              <a:rPr lang="el-GR" dirty="0"/>
              <a:t>μ</a:t>
            </a:r>
            <a:r>
              <a:rPr lang="el-GR" baseline="-25000" dirty="0"/>
              <a:t>0</a:t>
            </a:r>
            <a:endParaRPr lang="en-US" dirty="0"/>
          </a:p>
        </p:txBody>
      </p:sp>
      <p:pic>
        <p:nvPicPr>
          <p:cNvPr id="12" name="Picture 11">
            <a:extLst>
              <a:ext uri="{FF2B5EF4-FFF2-40B4-BE49-F238E27FC236}">
                <a16:creationId xmlns:a16="http://schemas.microsoft.com/office/drawing/2014/main" id="{CF8AB812-F93B-6E49-AE26-6132061B50EC}"/>
              </a:ext>
            </a:extLst>
          </p:cNvPr>
          <p:cNvPicPr>
            <a:picLocks noChangeAspect="1"/>
          </p:cNvPicPr>
          <p:nvPr/>
        </p:nvPicPr>
        <p:blipFill>
          <a:blip r:embed="rId5"/>
          <a:stretch>
            <a:fillRect/>
          </a:stretch>
        </p:blipFill>
        <p:spPr>
          <a:xfrm>
            <a:off x="2471184" y="1589650"/>
            <a:ext cx="221460" cy="261725"/>
          </a:xfrm>
          <a:prstGeom prst="rect">
            <a:avLst/>
          </a:prstGeom>
        </p:spPr>
      </p:pic>
      <p:pic>
        <p:nvPicPr>
          <p:cNvPr id="13" name="Picture 12">
            <a:extLst>
              <a:ext uri="{FF2B5EF4-FFF2-40B4-BE49-F238E27FC236}">
                <a16:creationId xmlns:a16="http://schemas.microsoft.com/office/drawing/2014/main" id="{89EF3CCF-344F-A440-BBE7-8D7212EA18AA}"/>
              </a:ext>
            </a:extLst>
          </p:cNvPr>
          <p:cNvPicPr>
            <a:picLocks noChangeAspect="1"/>
          </p:cNvPicPr>
          <p:nvPr/>
        </p:nvPicPr>
        <p:blipFill>
          <a:blip r:embed="rId5"/>
          <a:stretch>
            <a:fillRect/>
          </a:stretch>
        </p:blipFill>
        <p:spPr>
          <a:xfrm>
            <a:off x="2471184" y="3323024"/>
            <a:ext cx="221460" cy="261725"/>
          </a:xfrm>
          <a:prstGeom prst="rect">
            <a:avLst/>
          </a:prstGeom>
        </p:spPr>
      </p:pic>
      <p:pic>
        <p:nvPicPr>
          <p:cNvPr id="14" name="Picture 13">
            <a:extLst>
              <a:ext uri="{FF2B5EF4-FFF2-40B4-BE49-F238E27FC236}">
                <a16:creationId xmlns:a16="http://schemas.microsoft.com/office/drawing/2014/main" id="{273F2E9A-B888-E546-874C-3ED39969F257}"/>
              </a:ext>
            </a:extLst>
          </p:cNvPr>
          <p:cNvPicPr>
            <a:picLocks noChangeAspect="1"/>
          </p:cNvPicPr>
          <p:nvPr/>
        </p:nvPicPr>
        <p:blipFill>
          <a:blip r:embed="rId5"/>
          <a:stretch>
            <a:fillRect/>
          </a:stretch>
        </p:blipFill>
        <p:spPr>
          <a:xfrm>
            <a:off x="6299870" y="1524820"/>
            <a:ext cx="221460" cy="261725"/>
          </a:xfrm>
          <a:prstGeom prst="rect">
            <a:avLst/>
          </a:prstGeom>
        </p:spPr>
      </p:pic>
      <p:pic>
        <p:nvPicPr>
          <p:cNvPr id="15" name="Picture 14">
            <a:extLst>
              <a:ext uri="{FF2B5EF4-FFF2-40B4-BE49-F238E27FC236}">
                <a16:creationId xmlns:a16="http://schemas.microsoft.com/office/drawing/2014/main" id="{988699AE-61AD-FA49-A903-AE499B7B1035}"/>
              </a:ext>
            </a:extLst>
          </p:cNvPr>
          <p:cNvPicPr>
            <a:picLocks noChangeAspect="1"/>
          </p:cNvPicPr>
          <p:nvPr/>
        </p:nvPicPr>
        <p:blipFill>
          <a:blip r:embed="rId5"/>
          <a:stretch>
            <a:fillRect/>
          </a:stretch>
        </p:blipFill>
        <p:spPr>
          <a:xfrm>
            <a:off x="6299870" y="3258194"/>
            <a:ext cx="221460" cy="261725"/>
          </a:xfrm>
          <a:prstGeom prst="rect">
            <a:avLst/>
          </a:prstGeom>
        </p:spPr>
      </p:pic>
      <p:pic>
        <p:nvPicPr>
          <p:cNvPr id="16" name="Picture 15">
            <a:extLst>
              <a:ext uri="{FF2B5EF4-FFF2-40B4-BE49-F238E27FC236}">
                <a16:creationId xmlns:a16="http://schemas.microsoft.com/office/drawing/2014/main" id="{5FBF3066-E3FB-6046-857C-2DC00093F34C}"/>
              </a:ext>
            </a:extLst>
          </p:cNvPr>
          <p:cNvPicPr>
            <a:picLocks noChangeAspect="1"/>
          </p:cNvPicPr>
          <p:nvPr/>
        </p:nvPicPr>
        <p:blipFill>
          <a:blip r:embed="rId5"/>
          <a:stretch>
            <a:fillRect/>
          </a:stretch>
        </p:blipFill>
        <p:spPr>
          <a:xfrm>
            <a:off x="10057790" y="1530864"/>
            <a:ext cx="221460" cy="261725"/>
          </a:xfrm>
          <a:prstGeom prst="rect">
            <a:avLst/>
          </a:prstGeom>
        </p:spPr>
      </p:pic>
      <p:pic>
        <p:nvPicPr>
          <p:cNvPr id="17" name="Picture 16">
            <a:extLst>
              <a:ext uri="{FF2B5EF4-FFF2-40B4-BE49-F238E27FC236}">
                <a16:creationId xmlns:a16="http://schemas.microsoft.com/office/drawing/2014/main" id="{DE3B5E95-AC3E-D140-B26B-EE7B2EFDC099}"/>
              </a:ext>
            </a:extLst>
          </p:cNvPr>
          <p:cNvPicPr>
            <a:picLocks noChangeAspect="1"/>
          </p:cNvPicPr>
          <p:nvPr/>
        </p:nvPicPr>
        <p:blipFill>
          <a:blip r:embed="rId5"/>
          <a:stretch>
            <a:fillRect/>
          </a:stretch>
        </p:blipFill>
        <p:spPr>
          <a:xfrm>
            <a:off x="10057790" y="3264238"/>
            <a:ext cx="221460" cy="261725"/>
          </a:xfrm>
          <a:prstGeom prst="rect">
            <a:avLst/>
          </a:prstGeom>
        </p:spPr>
      </p:pic>
      <p:sp>
        <p:nvSpPr>
          <p:cNvPr id="20" name="Right Bracket 19">
            <a:extLst>
              <a:ext uri="{FF2B5EF4-FFF2-40B4-BE49-F238E27FC236}">
                <a16:creationId xmlns:a16="http://schemas.microsoft.com/office/drawing/2014/main" id="{2155F78C-7326-BA43-B01D-48682E59869C}"/>
              </a:ext>
            </a:extLst>
          </p:cNvPr>
          <p:cNvSpPr/>
          <p:nvPr/>
        </p:nvSpPr>
        <p:spPr>
          <a:xfrm rot="5400000">
            <a:off x="2250874" y="2692793"/>
            <a:ext cx="115254" cy="805993"/>
          </a:xfrm>
          <a:prstGeom prst="righ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ket 20">
            <a:extLst>
              <a:ext uri="{FF2B5EF4-FFF2-40B4-BE49-F238E27FC236}">
                <a16:creationId xmlns:a16="http://schemas.microsoft.com/office/drawing/2014/main" id="{E89F7A1D-3CF6-E745-981C-F1A0E82D8F7F}"/>
              </a:ext>
            </a:extLst>
          </p:cNvPr>
          <p:cNvSpPr/>
          <p:nvPr/>
        </p:nvSpPr>
        <p:spPr>
          <a:xfrm rot="5400000">
            <a:off x="2465699" y="4417672"/>
            <a:ext cx="115254" cy="805993"/>
          </a:xfrm>
          <a:prstGeom prst="righ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ket 21">
            <a:extLst>
              <a:ext uri="{FF2B5EF4-FFF2-40B4-BE49-F238E27FC236}">
                <a16:creationId xmlns:a16="http://schemas.microsoft.com/office/drawing/2014/main" id="{F89BF483-D1EA-114A-B367-DA5DBB55AB4F}"/>
              </a:ext>
            </a:extLst>
          </p:cNvPr>
          <p:cNvSpPr/>
          <p:nvPr/>
        </p:nvSpPr>
        <p:spPr>
          <a:xfrm rot="5400000">
            <a:off x="5954147" y="2652369"/>
            <a:ext cx="134820" cy="833899"/>
          </a:xfrm>
          <a:prstGeom prst="righ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Right Bracket 23">
            <a:extLst>
              <a:ext uri="{FF2B5EF4-FFF2-40B4-BE49-F238E27FC236}">
                <a16:creationId xmlns:a16="http://schemas.microsoft.com/office/drawing/2014/main" id="{FD43A271-DA76-F24F-9122-E00DD7A3F4CA}"/>
              </a:ext>
            </a:extLst>
          </p:cNvPr>
          <p:cNvSpPr/>
          <p:nvPr/>
        </p:nvSpPr>
        <p:spPr>
          <a:xfrm rot="5400000">
            <a:off x="6332418" y="4400595"/>
            <a:ext cx="134820" cy="833899"/>
          </a:xfrm>
          <a:prstGeom prst="righ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ight Bracket 24">
            <a:extLst>
              <a:ext uri="{FF2B5EF4-FFF2-40B4-BE49-F238E27FC236}">
                <a16:creationId xmlns:a16="http://schemas.microsoft.com/office/drawing/2014/main" id="{93F159C0-EBB6-844E-9903-D0FB92034E74}"/>
              </a:ext>
            </a:extLst>
          </p:cNvPr>
          <p:cNvSpPr/>
          <p:nvPr/>
        </p:nvSpPr>
        <p:spPr>
          <a:xfrm rot="5400000">
            <a:off x="9534375" y="2621213"/>
            <a:ext cx="134820" cy="833899"/>
          </a:xfrm>
          <a:prstGeom prst="righ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Right Bracket 25">
            <a:extLst>
              <a:ext uri="{FF2B5EF4-FFF2-40B4-BE49-F238E27FC236}">
                <a16:creationId xmlns:a16="http://schemas.microsoft.com/office/drawing/2014/main" id="{3FBE3E25-F650-CD47-8E12-3FD849B7899D}"/>
              </a:ext>
            </a:extLst>
          </p:cNvPr>
          <p:cNvSpPr/>
          <p:nvPr/>
        </p:nvSpPr>
        <p:spPr>
          <a:xfrm rot="5400000">
            <a:off x="10080261" y="4400595"/>
            <a:ext cx="134820" cy="833899"/>
          </a:xfrm>
          <a:prstGeom prst="righ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D1F661C4-4326-4B03-830F-D65FB6349B71}"/>
              </a:ext>
            </a:extLst>
          </p:cNvPr>
          <p:cNvSpPr txBox="1"/>
          <p:nvPr/>
        </p:nvSpPr>
        <p:spPr>
          <a:xfrm>
            <a:off x="152336" y="4632878"/>
            <a:ext cx="365806" cy="369332"/>
          </a:xfrm>
          <a:prstGeom prst="rect">
            <a:avLst/>
          </a:prstGeom>
          <a:noFill/>
        </p:spPr>
        <p:txBody>
          <a:bodyPr wrap="none" rtlCol="0">
            <a:spAutoFit/>
          </a:bodyPr>
          <a:lstStyle/>
          <a:p>
            <a:r>
              <a:rPr lang="en-US" dirty="0"/>
              <a:t>CI</a:t>
            </a:r>
          </a:p>
        </p:txBody>
      </p:sp>
      <p:sp>
        <p:nvSpPr>
          <p:cNvPr id="27" name="TextBox 26">
            <a:extLst>
              <a:ext uri="{FF2B5EF4-FFF2-40B4-BE49-F238E27FC236}">
                <a16:creationId xmlns:a16="http://schemas.microsoft.com/office/drawing/2014/main" id="{67012685-F10C-42F1-9FB3-346D4B628D01}"/>
              </a:ext>
            </a:extLst>
          </p:cNvPr>
          <p:cNvSpPr txBox="1"/>
          <p:nvPr/>
        </p:nvSpPr>
        <p:spPr>
          <a:xfrm>
            <a:off x="-30452" y="2595762"/>
            <a:ext cx="1322157" cy="646331"/>
          </a:xfrm>
          <a:prstGeom prst="rect">
            <a:avLst/>
          </a:prstGeom>
          <a:noFill/>
        </p:spPr>
        <p:txBody>
          <a:bodyPr wrap="none" rtlCol="0">
            <a:spAutoFit/>
          </a:bodyPr>
          <a:lstStyle/>
          <a:p>
            <a:r>
              <a:rPr lang="en-US" dirty="0"/>
              <a:t>Acceptance </a:t>
            </a:r>
          </a:p>
          <a:p>
            <a:r>
              <a:rPr lang="en-US" dirty="0"/>
              <a:t>region</a:t>
            </a:r>
          </a:p>
        </p:txBody>
      </p:sp>
      <p:sp>
        <p:nvSpPr>
          <p:cNvPr id="19" name="TextBox 18">
            <a:extLst>
              <a:ext uri="{FF2B5EF4-FFF2-40B4-BE49-F238E27FC236}">
                <a16:creationId xmlns:a16="http://schemas.microsoft.com/office/drawing/2014/main" id="{AE2AD4F5-C475-46A5-9BB5-926621A02DB7}"/>
              </a:ext>
            </a:extLst>
          </p:cNvPr>
          <p:cNvSpPr txBox="1"/>
          <p:nvPr/>
        </p:nvSpPr>
        <p:spPr>
          <a:xfrm>
            <a:off x="64173" y="752953"/>
            <a:ext cx="2517741" cy="369332"/>
          </a:xfrm>
          <a:prstGeom prst="rect">
            <a:avLst/>
          </a:prstGeom>
          <a:noFill/>
        </p:spPr>
        <p:txBody>
          <a:bodyPr wrap="none" rtlCol="0">
            <a:spAutoFit/>
          </a:bodyPr>
          <a:lstStyle/>
          <a:p>
            <a:r>
              <a:rPr lang="en-US" dirty="0"/>
              <a:t>A symmetric relationship</a:t>
            </a:r>
          </a:p>
        </p:txBody>
      </p:sp>
      <p:sp>
        <p:nvSpPr>
          <p:cNvPr id="23" name="TextBox 22">
            <a:extLst>
              <a:ext uri="{FF2B5EF4-FFF2-40B4-BE49-F238E27FC236}">
                <a16:creationId xmlns:a16="http://schemas.microsoft.com/office/drawing/2014/main" id="{917019CE-179D-469B-900C-1350A1F38135}"/>
              </a:ext>
            </a:extLst>
          </p:cNvPr>
          <p:cNvSpPr txBox="1"/>
          <p:nvPr/>
        </p:nvSpPr>
        <p:spPr>
          <a:xfrm>
            <a:off x="1323043" y="5943600"/>
            <a:ext cx="4767074" cy="369332"/>
          </a:xfrm>
          <a:prstGeom prst="rect">
            <a:avLst/>
          </a:prstGeom>
          <a:noFill/>
        </p:spPr>
        <p:txBody>
          <a:bodyPr wrap="none" rtlCol="0">
            <a:spAutoFit/>
          </a:bodyPr>
          <a:lstStyle/>
          <a:p>
            <a:r>
              <a:rPr lang="en-US" dirty="0"/>
              <a:t>It all boils down to the distance between </a:t>
            </a:r>
            <a:r>
              <a:rPr lang="el-GR" dirty="0"/>
              <a:t>μ</a:t>
            </a:r>
            <a:r>
              <a:rPr lang="el-GR" baseline="-25000" dirty="0"/>
              <a:t>0</a:t>
            </a:r>
            <a:r>
              <a:rPr lang="en-US" dirty="0"/>
              <a:t> and  </a:t>
            </a:r>
          </a:p>
        </p:txBody>
      </p:sp>
      <p:pic>
        <p:nvPicPr>
          <p:cNvPr id="28" name="Picture 27">
            <a:extLst>
              <a:ext uri="{FF2B5EF4-FFF2-40B4-BE49-F238E27FC236}">
                <a16:creationId xmlns:a16="http://schemas.microsoft.com/office/drawing/2014/main" id="{1B9C5925-833C-4654-AFF3-ECA9AABA2343}"/>
              </a:ext>
            </a:extLst>
          </p:cNvPr>
          <p:cNvPicPr>
            <a:picLocks noChangeAspect="1"/>
          </p:cNvPicPr>
          <p:nvPr/>
        </p:nvPicPr>
        <p:blipFill>
          <a:blip r:embed="rId5"/>
          <a:stretch>
            <a:fillRect/>
          </a:stretch>
        </p:blipFill>
        <p:spPr>
          <a:xfrm>
            <a:off x="5884993" y="5987675"/>
            <a:ext cx="221460" cy="261725"/>
          </a:xfrm>
          <a:prstGeom prst="rect">
            <a:avLst/>
          </a:prstGeom>
        </p:spPr>
      </p:pic>
    </p:spTree>
    <p:extLst>
      <p:ext uri="{BB962C8B-B14F-4D97-AF65-F5344CB8AC3E}">
        <p14:creationId xmlns:p14="http://schemas.microsoft.com/office/powerpoint/2010/main" val="348890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22" grpId="0" animBg="1"/>
      <p:bldP spid="24" grpId="0" animBg="1"/>
      <p:bldP spid="25" grpId="0" animBg="1"/>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1482</TotalTime>
  <Words>2059</Words>
  <Application>Microsoft Office PowerPoint</Application>
  <PresentationFormat>Widescreen</PresentationFormat>
  <Paragraphs>320</Paragraphs>
  <Slides>28</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Monotype Sorts</vt:lpstr>
      <vt:lpstr>Optima</vt:lpstr>
      <vt:lpstr>StoneSerif</vt:lpstr>
      <vt:lpstr>Arial</vt:lpstr>
      <vt:lpstr>Calibri</vt:lpstr>
      <vt:lpstr>Calibri Light</vt:lpstr>
      <vt:lpstr>Cambria Math</vt:lpstr>
      <vt:lpstr>Times</vt:lpstr>
      <vt:lpstr>Times New Roman</vt:lpstr>
      <vt:lpstr>Wingdings</vt:lpstr>
      <vt:lpstr>Office Theme</vt:lpstr>
      <vt:lpstr>STA 2002     Lecture 7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Guan, Yongtao</cp:lastModifiedBy>
  <cp:revision>183</cp:revision>
  <dcterms:created xsi:type="dcterms:W3CDTF">2020-10-04T03:45:04Z</dcterms:created>
  <dcterms:modified xsi:type="dcterms:W3CDTF">2023-09-24T05:23:45Z</dcterms:modified>
</cp:coreProperties>
</file>