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4"/>
    <p:sldId id="261" r:id="rId5"/>
    <p:sldId id="263" r:id="rId6"/>
    <p:sldId id="290" r:id="rId7"/>
    <p:sldId id="264" r:id="rId8"/>
    <p:sldId id="266" r:id="rId9"/>
    <p:sldId id="269" r:id="rId10"/>
    <p:sldId id="270" r:id="rId11"/>
    <p:sldId id="291" r:id="rId12"/>
    <p:sldId id="271" r:id="rId13"/>
    <p:sldId id="276" r:id="rId14"/>
    <p:sldId id="292" r:id="rId15"/>
    <p:sldId id="282" r:id="rId16"/>
    <p:sldId id="284" r:id="rId17"/>
    <p:sldId id="285" r:id="rId18"/>
    <p:sldId id="286" r:id="rId19"/>
    <p:sldId id="288" r:id="rId20"/>
    <p:sldId id="294" r:id="rId21"/>
    <p:sldId id="295" r:id="rId22"/>
    <p:sldId id="289" r:id="rId23"/>
  </p:sldIdLst>
  <p:sldSz cx="10058400" cy="7550150"/>
  <p:notesSz cx="10058400" cy="75501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3"/>
    <p:restoredTop sz="87883"/>
  </p:normalViewPr>
  <p:slideViewPr>
    <p:cSldViewPr>
      <p:cViewPr varScale="1">
        <p:scale>
          <a:sx n="89" d="100"/>
          <a:sy n="89" d="100"/>
        </p:scale>
        <p:origin x="2072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4D31F-CECE-4F4D-B7E5-5B6E842B3B6D}" type="datetimeFigureOut">
              <a:rPr kumimoji="1" lang="zh-CN" altLang="en-US" smtClean="0"/>
              <a:t>2022/11/7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44563"/>
            <a:ext cx="3394075" cy="2547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06475" y="3633788"/>
            <a:ext cx="8045450" cy="29733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7172325"/>
            <a:ext cx="435927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97538" y="7172325"/>
            <a:ext cx="435927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2F6E2-F71D-4F40-860D-EAEE935EB1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8997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2F6E2-F71D-4F40-860D-EAEE935EB13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3422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2F6E2-F71D-4F40-860D-EAEE935EB13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175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8040" y="177567"/>
            <a:ext cx="5074920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rgbClr val="3333B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228084"/>
            <a:ext cx="7040880" cy="18875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rgbClr val="3333B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3333B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rgbClr val="3333B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36534"/>
            <a:ext cx="4375404" cy="4983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36534"/>
            <a:ext cx="4375404" cy="4983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rgbClr val="3333B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694221" y="7362981"/>
            <a:ext cx="93980" cy="66675"/>
          </a:xfrm>
          <a:custGeom>
            <a:avLst/>
            <a:gdLst/>
            <a:ahLst/>
            <a:cxnLst/>
            <a:rect l="l" t="t" r="r" b="b"/>
            <a:pathLst>
              <a:path w="93979" h="66675">
                <a:moveTo>
                  <a:pt x="0" y="66283"/>
                </a:moveTo>
                <a:lnTo>
                  <a:pt x="93902" y="66283"/>
                </a:lnTo>
                <a:lnTo>
                  <a:pt x="93902" y="0"/>
                </a:lnTo>
                <a:lnTo>
                  <a:pt x="0" y="0"/>
                </a:lnTo>
                <a:lnTo>
                  <a:pt x="0" y="66283"/>
                </a:lnTo>
                <a:close/>
              </a:path>
            </a:pathLst>
          </a:custGeom>
          <a:ln w="11047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520433" y="7354333"/>
            <a:ext cx="55880" cy="83185"/>
          </a:xfrm>
          <a:custGeom>
            <a:avLst/>
            <a:gdLst/>
            <a:ahLst/>
            <a:cxnLst/>
            <a:rect l="l" t="t" r="r" b="b"/>
            <a:pathLst>
              <a:path w="55879" h="83184">
                <a:moveTo>
                  <a:pt x="55444" y="0"/>
                </a:moveTo>
                <a:lnTo>
                  <a:pt x="0" y="41582"/>
                </a:lnTo>
                <a:lnTo>
                  <a:pt x="55444" y="83166"/>
                </a:lnTo>
                <a:lnTo>
                  <a:pt x="55444" y="0"/>
                </a:lnTo>
                <a:close/>
              </a:path>
            </a:pathLst>
          </a:custGeom>
          <a:solidFill>
            <a:srgbClr val="D6D6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08541" y="7354333"/>
            <a:ext cx="55880" cy="83185"/>
          </a:xfrm>
          <a:custGeom>
            <a:avLst/>
            <a:gdLst/>
            <a:ahLst/>
            <a:cxnLst/>
            <a:rect l="l" t="t" r="r" b="b"/>
            <a:pathLst>
              <a:path w="55879" h="83184">
                <a:moveTo>
                  <a:pt x="0" y="0"/>
                </a:moveTo>
                <a:lnTo>
                  <a:pt x="0" y="83166"/>
                </a:lnTo>
                <a:lnTo>
                  <a:pt x="55444" y="41582"/>
                </a:lnTo>
                <a:lnTo>
                  <a:pt x="0" y="0"/>
                </a:lnTo>
                <a:close/>
              </a:path>
            </a:pathLst>
          </a:custGeom>
          <a:solidFill>
            <a:srgbClr val="D6D6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249816" y="7340471"/>
            <a:ext cx="139700" cy="111125"/>
          </a:xfrm>
          <a:custGeom>
            <a:avLst/>
            <a:gdLst/>
            <a:ahLst/>
            <a:cxnLst/>
            <a:rect l="l" t="t" r="r" b="b"/>
            <a:pathLst>
              <a:path w="139700" h="111125">
                <a:moveTo>
                  <a:pt x="0" y="110888"/>
                </a:moveTo>
                <a:lnTo>
                  <a:pt x="93902" y="110888"/>
                </a:lnTo>
                <a:lnTo>
                  <a:pt x="93902" y="44604"/>
                </a:lnTo>
                <a:lnTo>
                  <a:pt x="0" y="44604"/>
                </a:lnTo>
                <a:lnTo>
                  <a:pt x="0" y="110888"/>
                </a:lnTo>
                <a:close/>
              </a:path>
              <a:path w="139700" h="111125">
                <a:moveTo>
                  <a:pt x="22901" y="44355"/>
                </a:moveTo>
                <a:lnTo>
                  <a:pt x="22901" y="22177"/>
                </a:lnTo>
                <a:lnTo>
                  <a:pt x="117156" y="22177"/>
                </a:lnTo>
                <a:lnTo>
                  <a:pt x="117156" y="88710"/>
                </a:lnTo>
                <a:lnTo>
                  <a:pt x="94978" y="88710"/>
                </a:lnTo>
              </a:path>
              <a:path w="139700" h="111125">
                <a:moveTo>
                  <a:pt x="45079" y="22177"/>
                </a:moveTo>
                <a:lnTo>
                  <a:pt x="45079" y="0"/>
                </a:lnTo>
                <a:lnTo>
                  <a:pt x="139335" y="0"/>
                </a:lnTo>
                <a:lnTo>
                  <a:pt x="139335" y="66532"/>
                </a:lnTo>
                <a:lnTo>
                  <a:pt x="117156" y="66532"/>
                </a:lnTo>
              </a:path>
            </a:pathLst>
          </a:custGeom>
          <a:ln w="11047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111930" y="7354333"/>
            <a:ext cx="443865" cy="83185"/>
          </a:xfrm>
          <a:custGeom>
            <a:avLst/>
            <a:gdLst/>
            <a:ahLst/>
            <a:cxnLst/>
            <a:rect l="l" t="t" r="r" b="b"/>
            <a:pathLst>
              <a:path w="443865" h="83184">
                <a:moveTo>
                  <a:pt x="55444" y="0"/>
                </a:moveTo>
                <a:lnTo>
                  <a:pt x="0" y="41582"/>
                </a:lnTo>
                <a:lnTo>
                  <a:pt x="55444" y="83166"/>
                </a:lnTo>
                <a:lnTo>
                  <a:pt x="55444" y="0"/>
                </a:lnTo>
                <a:close/>
              </a:path>
              <a:path w="443865" h="83184">
                <a:moveTo>
                  <a:pt x="388109" y="0"/>
                </a:moveTo>
                <a:lnTo>
                  <a:pt x="388109" y="83166"/>
                </a:lnTo>
                <a:lnTo>
                  <a:pt x="443552" y="41582"/>
                </a:lnTo>
                <a:lnTo>
                  <a:pt x="388109" y="0"/>
                </a:lnTo>
                <a:close/>
              </a:path>
            </a:pathLst>
          </a:custGeom>
          <a:solidFill>
            <a:srgbClr val="D6D6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897482" y="7368194"/>
            <a:ext cx="83185" cy="0"/>
          </a:xfrm>
          <a:custGeom>
            <a:avLst/>
            <a:gdLst/>
            <a:ahLst/>
            <a:cxnLst/>
            <a:rect l="l" t="t" r="r" b="b"/>
            <a:pathLst>
              <a:path w="83184">
                <a:moveTo>
                  <a:pt x="0" y="0"/>
                </a:moveTo>
                <a:lnTo>
                  <a:pt x="83166" y="0"/>
                </a:lnTo>
              </a:path>
            </a:pathLst>
          </a:custGeom>
          <a:ln w="1657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703427" y="7354333"/>
            <a:ext cx="443865" cy="83185"/>
          </a:xfrm>
          <a:custGeom>
            <a:avLst/>
            <a:gdLst/>
            <a:ahLst/>
            <a:cxnLst/>
            <a:rect l="l" t="t" r="r" b="b"/>
            <a:pathLst>
              <a:path w="443865" h="83184">
                <a:moveTo>
                  <a:pt x="55444" y="0"/>
                </a:moveTo>
                <a:lnTo>
                  <a:pt x="0" y="41582"/>
                </a:lnTo>
                <a:lnTo>
                  <a:pt x="55444" y="83166"/>
                </a:lnTo>
                <a:lnTo>
                  <a:pt x="55444" y="0"/>
                </a:lnTo>
                <a:close/>
              </a:path>
              <a:path w="443865" h="83184">
                <a:moveTo>
                  <a:pt x="388109" y="0"/>
                </a:moveTo>
                <a:lnTo>
                  <a:pt x="388109" y="83166"/>
                </a:lnTo>
                <a:lnTo>
                  <a:pt x="443552" y="41582"/>
                </a:lnTo>
                <a:lnTo>
                  <a:pt x="388109" y="0"/>
                </a:lnTo>
                <a:close/>
              </a:path>
            </a:pathLst>
          </a:custGeom>
          <a:solidFill>
            <a:srgbClr val="D6D6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7869760" y="734047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0" y="0"/>
                </a:moveTo>
                <a:lnTo>
                  <a:pt x="83165" y="0"/>
                </a:lnTo>
              </a:path>
              <a:path w="111125" h="111125">
                <a:moveTo>
                  <a:pt x="27721" y="55444"/>
                </a:moveTo>
                <a:lnTo>
                  <a:pt x="110888" y="55444"/>
                </a:lnTo>
              </a:path>
              <a:path w="111125" h="111125">
                <a:moveTo>
                  <a:pt x="0" y="83166"/>
                </a:moveTo>
                <a:lnTo>
                  <a:pt x="83165" y="83166"/>
                </a:lnTo>
              </a:path>
              <a:path w="111125" h="111125">
                <a:moveTo>
                  <a:pt x="27721" y="110888"/>
                </a:moveTo>
                <a:lnTo>
                  <a:pt x="110888" y="110888"/>
                </a:lnTo>
              </a:path>
            </a:pathLst>
          </a:custGeom>
          <a:ln w="16570">
            <a:solidFill>
              <a:srgbClr val="D6D6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461229" y="7340472"/>
            <a:ext cx="111125" cy="55880"/>
          </a:xfrm>
          <a:custGeom>
            <a:avLst/>
            <a:gdLst/>
            <a:ahLst/>
            <a:cxnLst/>
            <a:rect l="l" t="t" r="r" b="b"/>
            <a:pathLst>
              <a:path w="111125" h="55879">
                <a:moveTo>
                  <a:pt x="0" y="0"/>
                </a:moveTo>
                <a:lnTo>
                  <a:pt x="83165" y="0"/>
                </a:lnTo>
              </a:path>
              <a:path w="111125" h="55879">
                <a:moveTo>
                  <a:pt x="27721" y="27722"/>
                </a:moveTo>
                <a:lnTo>
                  <a:pt x="110888" y="27722"/>
                </a:lnTo>
              </a:path>
              <a:path w="111125" h="55879">
                <a:moveTo>
                  <a:pt x="27721" y="55444"/>
                </a:moveTo>
                <a:lnTo>
                  <a:pt x="110888" y="55444"/>
                </a:lnTo>
              </a:path>
            </a:pathLst>
          </a:custGeom>
          <a:ln w="1657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294898" y="7354333"/>
            <a:ext cx="443865" cy="83185"/>
          </a:xfrm>
          <a:custGeom>
            <a:avLst/>
            <a:gdLst/>
            <a:ahLst/>
            <a:cxnLst/>
            <a:rect l="l" t="t" r="r" b="b"/>
            <a:pathLst>
              <a:path w="443865" h="83184">
                <a:moveTo>
                  <a:pt x="55444" y="0"/>
                </a:moveTo>
                <a:lnTo>
                  <a:pt x="0" y="41582"/>
                </a:lnTo>
                <a:lnTo>
                  <a:pt x="55444" y="83166"/>
                </a:lnTo>
                <a:lnTo>
                  <a:pt x="55444" y="0"/>
                </a:lnTo>
                <a:close/>
              </a:path>
              <a:path w="443865" h="83184">
                <a:moveTo>
                  <a:pt x="388108" y="0"/>
                </a:moveTo>
                <a:lnTo>
                  <a:pt x="388108" y="83166"/>
                </a:lnTo>
                <a:lnTo>
                  <a:pt x="443552" y="41582"/>
                </a:lnTo>
                <a:lnTo>
                  <a:pt x="388108" y="0"/>
                </a:lnTo>
                <a:close/>
              </a:path>
            </a:pathLst>
          </a:custGeom>
          <a:solidFill>
            <a:srgbClr val="D6D6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8461229" y="7423638"/>
            <a:ext cx="111125" cy="27940"/>
          </a:xfrm>
          <a:custGeom>
            <a:avLst/>
            <a:gdLst/>
            <a:ahLst/>
            <a:cxnLst/>
            <a:rect l="l" t="t" r="r" b="b"/>
            <a:pathLst>
              <a:path w="111125" h="27940">
                <a:moveTo>
                  <a:pt x="0" y="0"/>
                </a:moveTo>
                <a:lnTo>
                  <a:pt x="83165" y="0"/>
                </a:lnTo>
              </a:path>
              <a:path w="111125" h="27940">
                <a:moveTo>
                  <a:pt x="27721" y="27721"/>
                </a:moveTo>
                <a:lnTo>
                  <a:pt x="110888" y="27721"/>
                </a:lnTo>
              </a:path>
            </a:pathLst>
          </a:custGeom>
          <a:ln w="16570">
            <a:solidFill>
              <a:srgbClr val="D6D6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9052727" y="7340471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0" y="0"/>
                </a:moveTo>
                <a:lnTo>
                  <a:pt x="83165" y="0"/>
                </a:lnTo>
              </a:path>
              <a:path w="111125" h="111125">
                <a:moveTo>
                  <a:pt x="27721" y="27722"/>
                </a:moveTo>
                <a:lnTo>
                  <a:pt x="110888" y="27722"/>
                </a:lnTo>
              </a:path>
              <a:path w="111125" h="111125">
                <a:moveTo>
                  <a:pt x="27721" y="55444"/>
                </a:moveTo>
                <a:lnTo>
                  <a:pt x="110888" y="55444"/>
                </a:lnTo>
              </a:path>
              <a:path w="111125" h="111125">
                <a:moveTo>
                  <a:pt x="0" y="83166"/>
                </a:moveTo>
                <a:lnTo>
                  <a:pt x="83165" y="83166"/>
                </a:lnTo>
              </a:path>
              <a:path w="111125" h="111125">
                <a:moveTo>
                  <a:pt x="27721" y="110888"/>
                </a:moveTo>
                <a:lnTo>
                  <a:pt x="110888" y="110888"/>
                </a:lnTo>
              </a:path>
            </a:pathLst>
          </a:custGeom>
          <a:ln w="1657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46159" y="7343647"/>
            <a:ext cx="117240" cy="115997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39103" y="7334948"/>
            <a:ext cx="155201" cy="121935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05034" y="7334948"/>
            <a:ext cx="155201" cy="12193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8040" y="177567"/>
            <a:ext cx="5365115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rgbClr val="3333B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8094" y="1459779"/>
            <a:ext cx="8512175" cy="5028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3333B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021639"/>
            <a:ext cx="3218688" cy="377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021639"/>
            <a:ext cx="2313432" cy="377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021639"/>
            <a:ext cx="2313432" cy="377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2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6669" y="2251075"/>
            <a:ext cx="6496023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878330" algn="l"/>
              </a:tabLst>
            </a:pPr>
            <a:r>
              <a:rPr sz="4000" dirty="0"/>
              <a:t>Tutorial</a:t>
            </a:r>
            <a:r>
              <a:rPr sz="4000" spc="375" dirty="0"/>
              <a:t> </a:t>
            </a:r>
            <a:r>
              <a:rPr lang="en-US" altLang="zh-CN" sz="4000" spc="375" dirty="0"/>
              <a:t>9</a:t>
            </a:r>
            <a:r>
              <a:rPr sz="4000" spc="-25" dirty="0"/>
              <a:t>:</a:t>
            </a:r>
            <a:r>
              <a:rPr lang="zh-CN" altLang="en-US" sz="4000" spc="-25" dirty="0"/>
              <a:t> </a:t>
            </a:r>
            <a:r>
              <a:rPr sz="4000" dirty="0"/>
              <a:t>Binary</a:t>
            </a:r>
            <a:r>
              <a:rPr sz="4000" spc="315" dirty="0"/>
              <a:t> </a:t>
            </a:r>
            <a:r>
              <a:rPr sz="4000" dirty="0"/>
              <a:t>Search</a:t>
            </a:r>
            <a:r>
              <a:rPr sz="4000" spc="320" dirty="0"/>
              <a:t> </a:t>
            </a:r>
            <a:r>
              <a:rPr sz="4000" spc="-10" dirty="0"/>
              <a:t>Trees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1AA7F5-79D9-E0A8-A149-F340330ADB45}"/>
              </a:ext>
            </a:extLst>
          </p:cNvPr>
          <p:cNvSpPr txBox="1"/>
          <p:nvPr/>
        </p:nvSpPr>
        <p:spPr>
          <a:xfrm>
            <a:off x="3537735" y="3394075"/>
            <a:ext cx="297389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2400" dirty="0" err="1">
                <a:latin typeface="Lucida Sans Unicode" panose="020B0602030504020204" pitchFamily="34" charset="0"/>
                <a:cs typeface="Lucida Sans Unicode" panose="020B0602030504020204" pitchFamily="34" charset="0"/>
              </a:rPr>
              <a:t>Junyi</a:t>
            </a:r>
            <a:r>
              <a:rPr kumimoji="1" lang="zh-CN" altLang="en-US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1" lang="en-US" altLang="zh-CN" sz="2400" dirty="0" err="1">
                <a:latin typeface="Lucida Sans Unicode" panose="020B0602030504020204" pitchFamily="34" charset="0"/>
                <a:cs typeface="Lucida Sans Unicode" panose="020B0602030504020204" pitchFamily="34" charset="0"/>
              </a:rPr>
              <a:t>Ao</a:t>
            </a:r>
            <a:endParaRPr kumimoji="1" lang="en-US" altLang="zh-CN" sz="24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November</a:t>
            </a:r>
            <a:r>
              <a:rPr kumimoji="1" lang="zh-CN" altLang="en-US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1" lang="en-US" altLang="zh-CN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7,</a:t>
            </a:r>
            <a:r>
              <a:rPr kumimoji="1" lang="zh-CN" altLang="en-US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1" lang="en-US" altLang="zh-CN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Table</a:t>
            </a:r>
            <a:r>
              <a:rPr spc="270" dirty="0"/>
              <a:t> </a:t>
            </a:r>
            <a:r>
              <a:rPr dirty="0"/>
              <a:t>of</a:t>
            </a:r>
            <a:r>
              <a:rPr spc="270" dirty="0"/>
              <a:t> </a:t>
            </a: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8094" y="1998664"/>
            <a:ext cx="4236085" cy="206922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85" dirty="0">
                <a:solidFill>
                  <a:srgbClr val="3333B3"/>
                </a:solidFill>
                <a:latin typeface="Lucida Sans Unicode"/>
                <a:cs typeface="Lucida Sans Unicode"/>
                <a:hlinkClick r:id="rId3" action="ppaction://hlinksldjump"/>
              </a:rPr>
              <a:t>Binary</a:t>
            </a:r>
            <a:r>
              <a:rPr sz="2350" spc="-65" dirty="0">
                <a:solidFill>
                  <a:srgbClr val="3333B3"/>
                </a:solidFill>
                <a:latin typeface="Lucida Sans Unicode"/>
                <a:cs typeface="Lucida Sans Unicode"/>
                <a:hlinkClick r:id="rId3" action="ppaction://hlinksldjump"/>
              </a:rPr>
              <a:t> </a:t>
            </a:r>
            <a:r>
              <a:rPr sz="2350" spc="-155" dirty="0">
                <a:solidFill>
                  <a:srgbClr val="3333B3"/>
                </a:solidFill>
                <a:latin typeface="Lucida Sans Unicode"/>
                <a:cs typeface="Lucida Sans Unicode"/>
                <a:hlinkClick r:id="rId3" action="ppaction://hlinksldjump"/>
              </a:rPr>
              <a:t>Search</a:t>
            </a:r>
            <a:r>
              <a:rPr sz="2350" spc="-35" dirty="0">
                <a:solidFill>
                  <a:srgbClr val="3333B3"/>
                </a:solidFill>
                <a:latin typeface="Lucida Sans Unicode"/>
                <a:cs typeface="Lucida Sans Unicode"/>
                <a:hlinkClick r:id="rId3" action="ppaction://hlinksldjump"/>
              </a:rPr>
              <a:t> </a:t>
            </a:r>
            <a:r>
              <a:rPr sz="2350" spc="-10" dirty="0">
                <a:solidFill>
                  <a:srgbClr val="3333B3"/>
                </a:solidFill>
                <a:latin typeface="Lucida Sans Unicode"/>
                <a:cs typeface="Lucida Sans Unicode"/>
                <a:hlinkClick r:id="rId3" action="ppaction://hlinksldjump"/>
              </a:rPr>
              <a:t>Trees</a:t>
            </a:r>
            <a:endParaRPr sz="235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307800"/>
              </a:lnSpc>
            </a:pPr>
            <a:r>
              <a:rPr sz="2350" spc="-175" dirty="0">
                <a:solidFill>
                  <a:srgbClr val="3333B3"/>
                </a:solidFill>
                <a:latin typeface="Lucida Sans Unicode"/>
                <a:cs typeface="Lucida Sans Unicode"/>
                <a:hlinkClick r:id="rId4" action="ppaction://hlinksldjump"/>
              </a:rPr>
              <a:t>Insertion</a:t>
            </a:r>
            <a:r>
              <a:rPr sz="2350" spc="35" dirty="0">
                <a:solidFill>
                  <a:srgbClr val="3333B3"/>
                </a:solidFill>
                <a:latin typeface="Lucida Sans Unicode"/>
                <a:cs typeface="Lucida Sans Unicode"/>
                <a:hlinkClick r:id="rId4" action="ppaction://hlinksldjump"/>
              </a:rPr>
              <a:t> </a:t>
            </a:r>
            <a:r>
              <a:rPr sz="2350" spc="-210" dirty="0">
                <a:solidFill>
                  <a:srgbClr val="3333B3"/>
                </a:solidFill>
                <a:latin typeface="Lucida Sans Unicode"/>
                <a:cs typeface="Lucida Sans Unicode"/>
                <a:hlinkClick r:id="rId4" action="ppaction://hlinksldjump"/>
              </a:rPr>
              <a:t>and</a:t>
            </a:r>
            <a:r>
              <a:rPr sz="2350" spc="35" dirty="0">
                <a:solidFill>
                  <a:srgbClr val="3333B3"/>
                </a:solidFill>
                <a:latin typeface="Lucida Sans Unicode"/>
                <a:cs typeface="Lucida Sans Unicode"/>
                <a:hlinkClick r:id="rId4" action="ppaction://hlinksldjump"/>
              </a:rPr>
              <a:t> </a:t>
            </a:r>
            <a:r>
              <a:rPr sz="2350" spc="-40" dirty="0">
                <a:solidFill>
                  <a:srgbClr val="3333B3"/>
                </a:solidFill>
                <a:latin typeface="Lucida Sans Unicode"/>
                <a:cs typeface="Lucida Sans Unicode"/>
                <a:hlinkClick r:id="rId4" action="ppaction://hlinksldjump"/>
              </a:rPr>
              <a:t>Deletion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350" spc="-10" dirty="0">
                <a:solidFill>
                  <a:srgbClr val="3333B3"/>
                </a:solidFill>
                <a:latin typeface="Lucida Sans Unicode"/>
                <a:cs typeface="Lucida Sans Unicode"/>
                <a:hlinkClick r:id="rId5" action="ppaction://hlinksldjump"/>
              </a:rPr>
              <a:t>AVL</a:t>
            </a:r>
            <a:r>
              <a:rPr sz="2350" spc="-160" dirty="0">
                <a:solidFill>
                  <a:srgbClr val="3333B3"/>
                </a:solidFill>
                <a:latin typeface="Lucida Sans Unicode"/>
                <a:cs typeface="Lucida Sans Unicode"/>
                <a:hlinkClick r:id="rId5" action="ppaction://hlinksldjump"/>
              </a:rPr>
              <a:t> </a:t>
            </a:r>
            <a:r>
              <a:rPr sz="2350" spc="-20" dirty="0">
                <a:solidFill>
                  <a:srgbClr val="3333B3"/>
                </a:solidFill>
                <a:latin typeface="Lucida Sans Unicode"/>
                <a:cs typeface="Lucida Sans Unicode"/>
                <a:hlinkClick r:id="rId5" action="ppaction://hlinksldjump"/>
              </a:rPr>
              <a:t>tree</a:t>
            </a:r>
            <a:endParaRPr sz="23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040" y="177567"/>
            <a:ext cx="1671955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3117" y="955675"/>
            <a:ext cx="8432165" cy="6010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5750" marR="5080" indent="-285750">
              <a:lnSpc>
                <a:spcPct val="15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BST is a binary tree, as suggested by its name. The keys in a binary search tree are always stored in such a way as to satisfy the binary-search-tree property</a:t>
            </a:r>
            <a:endParaRPr kumimoji="1" lang="en-US" sz="2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We can represent BST by a linked data structure in which each</a:t>
            </a:r>
            <a:r>
              <a:rPr kumimoji="1" lang="zh-CN" alt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1" lang="en-US" altLang="zh-C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node is an object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In addition to a key and satellite data, each node contains attributes left, right, and p that point to the nodes corresponding to its left child, its right child, and its parent, respectively</a:t>
            </a:r>
            <a:endParaRPr kumimoji="1" sz="2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150000"/>
              </a:lnSpc>
              <a:spcBef>
                <a:spcPts val="1065"/>
              </a:spcBef>
            </a:pPr>
            <a:r>
              <a:rPr sz="3200" spc="-10" dirty="0">
                <a:solidFill>
                  <a:srgbClr val="3333B3"/>
                </a:solidFill>
                <a:latin typeface="Calibri"/>
                <a:ea typeface="+mj-ea"/>
                <a:cs typeface="Calibri"/>
              </a:rPr>
              <a:t>Property (BST property)</a:t>
            </a:r>
          </a:p>
          <a:p>
            <a:pPr marR="234950">
              <a:lnSpc>
                <a:spcPct val="150000"/>
              </a:lnSpc>
              <a:spcBef>
                <a:spcPts val="555"/>
              </a:spcBef>
            </a:pP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Let x be a node in a binary search tree. If y is a node in the left subtree of x, then </a:t>
            </a:r>
            <a:r>
              <a:rPr kumimoji="1" sz="2000" dirty="0" err="1">
                <a:latin typeface="Lucida Sans Unicode" panose="020B0602030504020204" pitchFamily="34" charset="0"/>
                <a:cs typeface="Lucida Sans Unicode" panose="020B0602030504020204" pitchFamily="34" charset="0"/>
              </a:rPr>
              <a:t>y.key</a:t>
            </a:r>
            <a:r>
              <a:rPr kumimoji="1" lang="zh-CN" alt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1" lang="en-US" altLang="zh-C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&lt;=</a:t>
            </a: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x.key. If y is a node in the right subtree of x, then </a:t>
            </a:r>
            <a:r>
              <a:rPr kumimoji="1" sz="2000" dirty="0" err="1">
                <a:latin typeface="Lucida Sans Unicode" panose="020B0602030504020204" pitchFamily="34" charset="0"/>
                <a:cs typeface="Lucida Sans Unicode" panose="020B0602030504020204" pitchFamily="34" charset="0"/>
              </a:rPr>
              <a:t>y.key</a:t>
            </a: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1" lang="en-US" altLang="zh-C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&gt;=</a:t>
            </a: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x.key.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07585CF9-9A6B-A363-B416-A39CE4C29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366" y="714375"/>
            <a:ext cx="6939667" cy="6184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Finding</a:t>
            </a:r>
            <a:r>
              <a:rPr spc="229" dirty="0"/>
              <a:t> </a:t>
            </a:r>
            <a:r>
              <a:rPr dirty="0"/>
              <a:t>Maximum</a:t>
            </a:r>
            <a:r>
              <a:rPr spc="235" dirty="0"/>
              <a:t> </a:t>
            </a:r>
            <a:r>
              <a:rPr dirty="0"/>
              <a:t>or</a:t>
            </a:r>
            <a:r>
              <a:rPr spc="229" dirty="0"/>
              <a:t> </a:t>
            </a:r>
            <a:r>
              <a:rPr spc="-10" dirty="0"/>
              <a:t>Minimum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2555875"/>
            <a:ext cx="5623560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Just go to the rightmost (or leftmost) node.</a:t>
            </a:r>
            <a:endParaRPr kumimoji="1" lang="en-US" sz="2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8349" y="3275764"/>
            <a:ext cx="2559696" cy="12132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278" y="3347478"/>
            <a:ext cx="2632374" cy="13368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8040" y="177567"/>
            <a:ext cx="8163960" cy="4937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Finding</a:t>
            </a:r>
            <a:r>
              <a:rPr spc="229" dirty="0"/>
              <a:t> </a:t>
            </a:r>
            <a:r>
              <a:rPr dirty="0"/>
              <a:t>Maximum</a:t>
            </a:r>
            <a:r>
              <a:rPr spc="235" dirty="0"/>
              <a:t> </a:t>
            </a:r>
            <a:r>
              <a:rPr dirty="0"/>
              <a:t>or</a:t>
            </a:r>
            <a:r>
              <a:rPr spc="229" dirty="0"/>
              <a:t> </a:t>
            </a:r>
            <a:r>
              <a:rPr spc="-10" dirty="0"/>
              <a:t>Minimum</a:t>
            </a:r>
            <a:r>
              <a:rPr lang="en-US" altLang="zh-CN" spc="-10" dirty="0"/>
              <a:t>:</a:t>
            </a:r>
            <a:r>
              <a:rPr lang="zh-CN" altLang="en-US" spc="-10" dirty="0"/>
              <a:t> </a:t>
            </a:r>
            <a:r>
              <a:rPr lang="en-US" altLang="zh-CN" spc="-10" dirty="0"/>
              <a:t>Java</a:t>
            </a:r>
            <a:r>
              <a:rPr lang="zh-CN" altLang="en-US" spc="-10" dirty="0"/>
              <a:t> </a:t>
            </a:r>
            <a:r>
              <a:rPr lang="en-US" altLang="zh-CN" spc="-10" dirty="0"/>
              <a:t>Program</a:t>
            </a:r>
            <a:endParaRPr spc="-1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AF04A54-2F97-EED6-5D81-86552558C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930061"/>
            <a:ext cx="5786187" cy="285647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DBE9BA0-C790-3156-49BC-0C7FB2D84D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156075"/>
            <a:ext cx="5676900" cy="285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980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Finding</a:t>
            </a:r>
            <a:r>
              <a:rPr spc="215" dirty="0"/>
              <a:t> </a:t>
            </a:r>
            <a:r>
              <a:rPr dirty="0"/>
              <a:t>Successor</a:t>
            </a:r>
            <a:r>
              <a:rPr spc="215" dirty="0"/>
              <a:t> </a:t>
            </a:r>
            <a:r>
              <a:rPr dirty="0"/>
              <a:t>or</a:t>
            </a:r>
            <a:r>
              <a:rPr spc="220" dirty="0"/>
              <a:t> </a:t>
            </a:r>
            <a:r>
              <a:rPr spc="-35" dirty="0"/>
              <a:t>Predecessor</a:t>
            </a:r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F79E49DF-37EC-2F46-EA92-BD184CFE211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3851275"/>
            <a:ext cx="3958627" cy="18122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3B7C417-7861-4E62-A259-E56090451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40" y="1414039"/>
            <a:ext cx="3472690" cy="201005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5B6563F-7883-FDB9-6D27-B4CF132A89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682" y="1505433"/>
            <a:ext cx="4988718" cy="45392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75" dirty="0"/>
              <a:t>Time</a:t>
            </a:r>
            <a:r>
              <a:rPr spc="320" dirty="0"/>
              <a:t> </a:t>
            </a:r>
            <a:r>
              <a:rPr spc="-10" dirty="0"/>
              <a:t>Complexity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955675"/>
            <a:ext cx="8604506" cy="375359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10"/>
              </a:spcBef>
            </a:pPr>
            <a:r>
              <a:rPr sz="2600" dirty="0">
                <a:solidFill>
                  <a:srgbClr val="3333B3"/>
                </a:solidFill>
                <a:latin typeface="Calibri"/>
                <a:cs typeface="Calibri"/>
              </a:rPr>
              <a:t>Exercise</a:t>
            </a:r>
            <a:r>
              <a:rPr sz="2600" spc="165" dirty="0">
                <a:solidFill>
                  <a:srgbClr val="3333B3"/>
                </a:solidFill>
                <a:latin typeface="Calibri"/>
                <a:cs typeface="Calibri"/>
              </a:rPr>
              <a:t> </a:t>
            </a:r>
            <a:r>
              <a:rPr sz="2600" spc="-50" dirty="0">
                <a:solidFill>
                  <a:srgbClr val="3333B3"/>
                </a:solidFill>
                <a:latin typeface="Calibri"/>
                <a:cs typeface="Calibri"/>
              </a:rPr>
              <a:t>1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50000"/>
              </a:lnSpc>
              <a:spcBef>
                <a:spcPts val="85"/>
              </a:spcBef>
            </a:pP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Inplement finding predecessor.</a:t>
            </a:r>
          </a:p>
          <a:p>
            <a:pPr marL="12700">
              <a:lnSpc>
                <a:spcPct val="150000"/>
              </a:lnSpc>
              <a:spcBef>
                <a:spcPts val="1845"/>
              </a:spcBef>
            </a:pPr>
            <a:r>
              <a:rPr sz="2600" dirty="0">
                <a:solidFill>
                  <a:srgbClr val="3333B3"/>
                </a:solidFill>
                <a:latin typeface="Calibri"/>
                <a:cs typeface="Calibri"/>
              </a:rPr>
              <a:t>Theorem</a:t>
            </a:r>
            <a:r>
              <a:rPr sz="2600" spc="25" dirty="0">
                <a:solidFill>
                  <a:srgbClr val="3333B3"/>
                </a:solidFill>
                <a:latin typeface="Calibri"/>
                <a:cs typeface="Calibri"/>
              </a:rPr>
              <a:t> </a:t>
            </a:r>
            <a:r>
              <a:rPr sz="2600" spc="-50" dirty="0">
                <a:solidFill>
                  <a:srgbClr val="3333B3"/>
                </a:solidFill>
                <a:latin typeface="Calibri"/>
                <a:cs typeface="Calibri"/>
              </a:rPr>
              <a:t>1</a:t>
            </a:r>
            <a:endParaRPr sz="2600" dirty="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  <a:spcBef>
                <a:spcPts val="85"/>
              </a:spcBef>
            </a:pP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The running time of finding successor (or predecessor) on a tree of height h is O(h)</a:t>
            </a:r>
          </a:p>
          <a:p>
            <a:pPr marL="12700" marR="78740">
              <a:lnSpc>
                <a:spcPct val="150000"/>
              </a:lnSpc>
              <a:spcBef>
                <a:spcPts val="85"/>
              </a:spcBef>
            </a:pP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One-sentence proof: We either follow a simple path up the tree or follow a simple path down the tree.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Insertion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73112" y="1184275"/>
            <a:ext cx="8512175" cy="5534772"/>
          </a:xfrm>
          <a:prstGeom prst="rect">
            <a:avLst/>
          </a:prstGeom>
        </p:spPr>
        <p:txBody>
          <a:bodyPr vert="horz" wrap="square" lIns="0" tIns="200584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</a:pPr>
            <a:r>
              <a:rPr kumimoji="1" sz="20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In general, find a suitable place and insert the new node.</a:t>
            </a:r>
            <a:r>
              <a:rPr kumimoji="1" lang="en-US" sz="20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1" sz="20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The function begins at the root of the tree and the pointer x traces a simple path downward looking for a NIL to replace with the input item z. The procedure maintains the trailing pointer y as the parent of x.</a:t>
            </a:r>
          </a:p>
          <a:p>
            <a:pPr marL="355600" marR="391795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sz="20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We need the trailing pointer y, because by the time we find the NIL where z belongs, the search has proceeded one step beyond the node that needs to be changed.</a:t>
            </a:r>
          </a:p>
          <a:p>
            <a:pPr marL="12700" algn="just">
              <a:lnSpc>
                <a:spcPct val="150000"/>
              </a:lnSpc>
              <a:spcBef>
                <a:spcPts val="1190"/>
              </a:spcBef>
            </a:pPr>
            <a:r>
              <a:rPr dirty="0"/>
              <a:t>Theorem</a:t>
            </a:r>
            <a:r>
              <a:rPr spc="25" dirty="0"/>
              <a:t> </a:t>
            </a:r>
            <a:r>
              <a:rPr spc="-50" dirty="0"/>
              <a:t>3</a:t>
            </a:r>
          </a:p>
          <a:p>
            <a:pPr marL="12700" marR="368300" algn="just">
              <a:lnSpc>
                <a:spcPct val="150000"/>
              </a:lnSpc>
              <a:spcBef>
                <a:spcPts val="5"/>
              </a:spcBef>
            </a:pPr>
            <a:r>
              <a:rPr kumimoji="1" sz="20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The procedure of insertion runs in O(h) time on a binary search tree of height 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AC7A29D3-A801-9AB7-893F-09627EAB3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390" y="1277177"/>
            <a:ext cx="6709619" cy="4995796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3432D4B-BE1E-DB72-3860-EC51DFE128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040" y="177567"/>
            <a:ext cx="5365115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Insertion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3432D4B-BE1E-DB72-3860-EC51DFE128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040" y="177567"/>
            <a:ext cx="5365115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Insertion</a:t>
            </a:r>
            <a:r>
              <a:rPr lang="en-US" altLang="zh-CN" spc="-40" dirty="0"/>
              <a:t>:</a:t>
            </a:r>
            <a:r>
              <a:rPr lang="zh-CN" altLang="en-US" spc="-40" dirty="0"/>
              <a:t> </a:t>
            </a:r>
            <a:r>
              <a:rPr lang="en-US" altLang="zh-CN" spc="-40" dirty="0"/>
              <a:t>Java</a:t>
            </a:r>
            <a:r>
              <a:rPr lang="zh-CN" altLang="en-US" spc="-40" dirty="0"/>
              <a:t> </a:t>
            </a:r>
            <a:r>
              <a:rPr lang="en-US" altLang="zh-CN" spc="-40" dirty="0"/>
              <a:t>Program</a:t>
            </a:r>
            <a:endParaRPr spc="-4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4F6937-6006-E627-6C01-FF445B9BB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044" y="879475"/>
            <a:ext cx="3952312" cy="623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394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040" y="177567"/>
            <a:ext cx="1370330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Deletion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52400" y="177567"/>
            <a:ext cx="9372600" cy="3049263"/>
          </a:xfrm>
          <a:prstGeom prst="rect">
            <a:avLst/>
          </a:prstGeom>
        </p:spPr>
        <p:txBody>
          <a:bodyPr vert="horz" wrap="square" lIns="0" tIns="771873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</a:pPr>
            <a:r>
              <a:rPr kumimoji="1" sz="20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The overall strategy for deleting a node z from a binary search tree</a:t>
            </a:r>
            <a:r>
              <a:rPr kumimoji="1" lang="zh-CN" altLang="en-US" sz="20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1" sz="20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</a:t>
            </a:r>
            <a:r>
              <a:rPr kumimoji="1" lang="zh-CN" altLang="en-US" sz="20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1" sz="20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has three basic cases.</a:t>
            </a:r>
          </a:p>
          <a:p>
            <a:pPr marL="812800" marR="56261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sz="20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z has no children</a:t>
            </a:r>
            <a:r>
              <a:rPr kumimoji="1" lang="zh-CN" altLang="en-US" sz="20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endParaRPr kumimoji="1" lang="en-US" altLang="zh-CN" sz="20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812800" marR="56261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sz="20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z has just one child</a:t>
            </a:r>
            <a:endParaRPr kumimoji="1" lang="en-US" sz="20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812800" marR="56261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CN" sz="2000" dirty="0">
                <a:solidFill>
                  <a:schemeClr val="tx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rPr>
              <a:t>z has two children</a:t>
            </a:r>
            <a:endParaRPr kumimoji="1" sz="20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AA70EFD-DD59-F33D-3E61-F611258BA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843646"/>
            <a:ext cx="4999588" cy="4959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040" y="177567"/>
            <a:ext cx="5115560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38300" algn="l"/>
              </a:tabLst>
            </a:pPr>
            <a:r>
              <a:rPr spc="-10" dirty="0"/>
              <a:t>Deletion:</a:t>
            </a:r>
            <a:r>
              <a:rPr dirty="0"/>
              <a:t>	Transplant</a:t>
            </a:r>
            <a:r>
              <a:rPr spc="370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A68012-91D1-99DE-AA5D-993786EA0BCC}"/>
              </a:ext>
            </a:extLst>
          </p:cNvPr>
          <p:cNvSpPr txBox="1"/>
          <p:nvPr/>
        </p:nvSpPr>
        <p:spPr>
          <a:xfrm>
            <a:off x="218040" y="879475"/>
            <a:ext cx="8534400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CN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In order to move subtrees around within the binary search tree, we define a subroutine TRANSPLANT, which replaces one subtree as a child of its parent with another subtree.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F60B18-8E69-ABC8-F394-53A7A4135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0" y="2632075"/>
            <a:ext cx="70485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040" y="177567"/>
            <a:ext cx="8163960" cy="4937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38300" algn="l"/>
              </a:tabLst>
            </a:pPr>
            <a:r>
              <a:rPr spc="-10" dirty="0"/>
              <a:t>Deletion:</a:t>
            </a:r>
            <a:r>
              <a:rPr dirty="0"/>
              <a:t>	Transplant</a:t>
            </a:r>
            <a:r>
              <a:rPr spc="370" dirty="0"/>
              <a:t> </a:t>
            </a:r>
            <a:r>
              <a:rPr spc="-10" dirty="0"/>
              <a:t>Operation</a:t>
            </a:r>
            <a:r>
              <a:rPr lang="zh-CN" altLang="en-US" spc="-10" dirty="0"/>
              <a:t> </a:t>
            </a:r>
            <a:r>
              <a:rPr lang="en-US" altLang="zh-CN" spc="-10" dirty="0"/>
              <a:t>(Java</a:t>
            </a:r>
            <a:r>
              <a:rPr lang="zh-CN" altLang="en-US" spc="-10" dirty="0"/>
              <a:t> </a:t>
            </a:r>
            <a:r>
              <a:rPr lang="en-US" altLang="zh-CN" spc="-10" dirty="0"/>
              <a:t>Program)</a:t>
            </a:r>
            <a:endParaRPr spc="-1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0DAE2BB-6EB5-B9B8-B682-76BC9B50A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40" y="879475"/>
            <a:ext cx="3705136" cy="62928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625DB66-9B3B-D596-FF14-815BDE946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355725"/>
            <a:ext cx="55499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96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Balanced</a:t>
            </a:r>
            <a:r>
              <a:rPr spc="355" dirty="0"/>
              <a:t> </a:t>
            </a:r>
            <a:r>
              <a:rPr dirty="0"/>
              <a:t>Binary</a:t>
            </a:r>
            <a:r>
              <a:rPr spc="365" dirty="0"/>
              <a:t> </a:t>
            </a:r>
            <a:r>
              <a:rPr spc="-10" dirty="0"/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3266" y="1260475"/>
            <a:ext cx="8591868" cy="476156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2800" dirty="0">
                <a:solidFill>
                  <a:srgbClr val="3333B3"/>
                </a:solidFill>
                <a:latin typeface="Calibri"/>
                <a:cs typeface="Calibri"/>
              </a:rPr>
              <a:t>Definition</a:t>
            </a:r>
            <a:r>
              <a:rPr sz="2800" spc="135" dirty="0">
                <a:solidFill>
                  <a:srgbClr val="3333B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B3"/>
                </a:solidFill>
                <a:latin typeface="Calibri"/>
                <a:cs typeface="Calibri"/>
              </a:rPr>
              <a:t>(height</a:t>
            </a:r>
            <a:r>
              <a:rPr sz="2800" spc="130" dirty="0">
                <a:solidFill>
                  <a:srgbClr val="3333B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B3"/>
                </a:solidFill>
                <a:latin typeface="Calibri"/>
                <a:cs typeface="Calibri"/>
              </a:rPr>
              <a:t>balanced</a:t>
            </a:r>
            <a:r>
              <a:rPr sz="2800" spc="135" dirty="0">
                <a:solidFill>
                  <a:srgbClr val="3333B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B3"/>
                </a:solidFill>
                <a:latin typeface="Calibri"/>
                <a:cs typeface="Calibri"/>
              </a:rPr>
              <a:t>binary</a:t>
            </a:r>
            <a:r>
              <a:rPr sz="2800" spc="135" dirty="0">
                <a:solidFill>
                  <a:srgbClr val="3333B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B3"/>
                </a:solidFill>
                <a:latin typeface="Calibri"/>
                <a:cs typeface="Calibri"/>
              </a:rPr>
              <a:t>tree)</a:t>
            </a:r>
            <a:endParaRPr sz="2800" dirty="0">
              <a:latin typeface="Calibri"/>
              <a:cs typeface="Calibri"/>
            </a:endParaRPr>
          </a:p>
          <a:p>
            <a:pPr marL="12700" marR="5080">
              <a:lnSpc>
                <a:spcPct val="104900"/>
              </a:lnSpc>
              <a:spcBef>
                <a:spcPts val="555"/>
              </a:spcBef>
              <a:tabLst>
                <a:tab pos="2081530" algn="l"/>
              </a:tabLst>
            </a:pP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A binary tree T</a:t>
            </a:r>
            <a:r>
              <a:rPr kumimoji="1" lang="zh-CN" alt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is (height) balanced if the following holds on every internal node u of T :</a:t>
            </a:r>
          </a:p>
          <a:p>
            <a:pPr marL="298450" marR="516255" indent="-285750">
              <a:lnSpc>
                <a:spcPct val="104900"/>
              </a:lnSpc>
              <a:buFont typeface="Arial" panose="020B0604020202020204" pitchFamily="34" charset="0"/>
              <a:buChar char="•"/>
            </a:pP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For each node x, the heights of the left and right subtrees of x di</a:t>
            </a:r>
            <a:r>
              <a:rPr kumimoji="1" lang="en-US" altLang="zh-C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ff</a:t>
            </a: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er by at most 1.</a:t>
            </a:r>
          </a:p>
          <a:p>
            <a:pPr marL="298450" marR="737870" indent="-285750">
              <a:lnSpc>
                <a:spcPct val="104900"/>
              </a:lnSpc>
              <a:spcBef>
                <a:spcPts val="650"/>
              </a:spcBef>
              <a:buFont typeface="Arial" panose="020B0604020202020204" pitchFamily="34" charset="0"/>
              <a:buChar char="•"/>
            </a:pP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If u violates the above requirement, we say that u is (height)</a:t>
            </a:r>
            <a:r>
              <a:rPr kumimoji="1" lang="zh-CN" alt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imbalanced.</a:t>
            </a:r>
            <a:endParaRPr kumimoji="1" lang="en-US" sz="2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98450" marR="737870" indent="-285750">
              <a:lnSpc>
                <a:spcPct val="104900"/>
              </a:lnSpc>
              <a:spcBef>
                <a:spcPts val="650"/>
              </a:spcBef>
              <a:buFont typeface="Arial" panose="020B0604020202020204" pitchFamily="34" charset="0"/>
              <a:buChar char="•"/>
            </a:pPr>
            <a:endParaRPr kumimoji="1" lang="en-US" sz="2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12700" marR="737870">
              <a:lnSpc>
                <a:spcPct val="104900"/>
              </a:lnSpc>
              <a:spcBef>
                <a:spcPts val="650"/>
              </a:spcBef>
            </a:pPr>
            <a:r>
              <a:rPr kumimoji="1" lang="en-US" altLang="zh-C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Motivation:</a:t>
            </a:r>
            <a:r>
              <a:rPr kumimoji="1" lang="zh-CN" alt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1" lang="en" altLang="zh-C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We can examine our operations first, and we can find that their time complexity is related to the height of the tree h (O(h) for many). To make the operations more effective, we need to ”compress” the height of the tree, which means we need to make our tree more ”balanced”.</a:t>
            </a:r>
            <a:endParaRPr lang="en-US" altLang="zh-CN" sz="2000" dirty="0">
              <a:solidFill>
                <a:srgbClr val="3333B3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Remarks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3907" y="1412875"/>
            <a:ext cx="8490585" cy="50231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solidFill>
                  <a:srgbClr val="3333B3"/>
                </a:solidFill>
                <a:latin typeface="Calibri"/>
                <a:cs typeface="Calibri"/>
              </a:rPr>
              <a:t>Remark</a:t>
            </a:r>
            <a:r>
              <a:rPr sz="2800" spc="130" dirty="0">
                <a:solidFill>
                  <a:srgbClr val="3333B3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3333B3"/>
                </a:solidFill>
                <a:latin typeface="Calibri"/>
                <a:cs typeface="Calibri"/>
              </a:rPr>
              <a:t>1</a:t>
            </a:r>
            <a:endParaRPr sz="2800" dirty="0">
              <a:latin typeface="Calibri"/>
              <a:cs typeface="Calibri"/>
            </a:endParaRPr>
          </a:p>
          <a:p>
            <a:pPr marL="298450" marR="5080" indent="-28575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Here comes a problem: how can we guarantee that the AVL tree is height balanced at every point during di</a:t>
            </a:r>
            <a:r>
              <a:rPr kumimoji="1" lang="en-US" altLang="zh-C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ff</a:t>
            </a: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erent operations?</a:t>
            </a:r>
          </a:p>
          <a:p>
            <a:pPr marL="298450" indent="-285750">
              <a:lnSpc>
                <a:spcPct val="150000"/>
              </a:lnSpc>
              <a:spcBef>
                <a:spcPts val="15"/>
              </a:spcBef>
              <a:buFont typeface="Arial" panose="020B0604020202020204" pitchFamily="34" charset="0"/>
              <a:buChar char="•"/>
            </a:pP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Let us assume that an AVL tree is height balanced at some point</a:t>
            </a:r>
            <a:r>
              <a:rPr kumimoji="1" lang="zh-CN" alt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of operation. If the next operations is to </a:t>
            </a:r>
            <a:r>
              <a:rPr kumimoji="1" lang="en-US" altLang="zh-C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"</a:t>
            </a: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search</a:t>
            </a:r>
            <a:r>
              <a:rPr kumimoji="1" lang="en-US" altLang="zh-C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"</a:t>
            </a: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for some nodes,</a:t>
            </a:r>
            <a:r>
              <a:rPr kumimoji="1" lang="zh-CN" alt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e.g. a node with certain key, maximum, minimum, predecessor, or successor, then the structure of the tree is not changed, and the tree will remain balanced.</a:t>
            </a:r>
          </a:p>
          <a:p>
            <a:pPr marL="298450" marR="15621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However, if we do insertion or deletion of a node, the structure of the tree will change, and it may not maintain the original properties.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Remarks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8094" y="1232794"/>
            <a:ext cx="8512810" cy="600933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dirty="0">
                <a:solidFill>
                  <a:srgbClr val="3333B3"/>
                </a:solidFill>
                <a:latin typeface="Calibri"/>
                <a:cs typeface="Calibri"/>
              </a:rPr>
              <a:t>Remark</a:t>
            </a:r>
            <a:r>
              <a:rPr sz="2600" spc="130" dirty="0">
                <a:solidFill>
                  <a:srgbClr val="3333B3"/>
                </a:solidFill>
                <a:latin typeface="Calibri"/>
                <a:cs typeface="Calibri"/>
              </a:rPr>
              <a:t> </a:t>
            </a:r>
            <a:r>
              <a:rPr sz="2600" spc="-50" dirty="0">
                <a:solidFill>
                  <a:srgbClr val="3333B3"/>
                </a:solidFill>
                <a:latin typeface="Calibri"/>
                <a:cs typeface="Calibri"/>
              </a:rPr>
              <a:t>2</a:t>
            </a:r>
            <a:endParaRPr sz="2600" dirty="0">
              <a:latin typeface="Calibri"/>
              <a:cs typeface="Calibri"/>
            </a:endParaRPr>
          </a:p>
          <a:p>
            <a:pPr marL="298450" marR="357505" indent="-28575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kumimoji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Let us first consider what property will be violated using original insertion and deletion.</a:t>
            </a:r>
          </a:p>
          <a:p>
            <a:pPr marL="298450" indent="-285750">
              <a:lnSpc>
                <a:spcPct val="150000"/>
              </a:lnSpc>
              <a:spcBef>
                <a:spcPts val="15"/>
              </a:spcBef>
              <a:buFont typeface="Arial" panose="020B0604020202020204" pitchFamily="34" charset="0"/>
              <a:buChar char="•"/>
            </a:pPr>
            <a:r>
              <a:rPr kumimoji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BST property will hold, as it holds for all binary search trees, which</a:t>
            </a:r>
            <a:r>
              <a:rPr kumimoji="1" lang="zh-CN" altLang="en-US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is maintained in our original operations.</a:t>
            </a:r>
          </a:p>
          <a:p>
            <a:pPr marL="298450" marR="57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Height-balance property may not hold, if we insert or delete a node to make it more </a:t>
            </a:r>
            <a:r>
              <a:rPr kumimoji="1" lang="en-US" altLang="zh-CN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"</a:t>
            </a:r>
            <a:r>
              <a:rPr kumimoji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imbalanced</a:t>
            </a:r>
            <a:r>
              <a:rPr kumimoji="1" lang="en-US" altLang="zh-CN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"</a:t>
            </a:r>
            <a:r>
              <a:rPr kumimoji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. Roughly speaking, we may make the (absolute) di</a:t>
            </a:r>
            <a:r>
              <a:rPr kumimoji="1" lang="en-US" altLang="zh-CN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ff</a:t>
            </a:r>
            <a:r>
              <a:rPr kumimoji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erence more than 1 by inserting a node into a </a:t>
            </a:r>
            <a:r>
              <a:rPr kumimoji="1" lang="en-US" altLang="zh-CN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"</a:t>
            </a:r>
            <a:r>
              <a:rPr kumimoji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taller</a:t>
            </a:r>
            <a:r>
              <a:rPr kumimoji="1" lang="en-US" altLang="zh-CN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"</a:t>
            </a:r>
            <a:r>
              <a:rPr kumimoji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subtree or deleting a node in a ”shorter” subtree.</a:t>
            </a: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600" dirty="0">
                <a:solidFill>
                  <a:srgbClr val="3333B3"/>
                </a:solidFill>
                <a:latin typeface="Calibri"/>
                <a:cs typeface="Calibri"/>
              </a:rPr>
              <a:t>Remark</a:t>
            </a:r>
            <a:r>
              <a:rPr sz="2600" spc="130" dirty="0">
                <a:solidFill>
                  <a:srgbClr val="3333B3"/>
                </a:solidFill>
                <a:latin typeface="Calibri"/>
                <a:cs typeface="Calibri"/>
              </a:rPr>
              <a:t> </a:t>
            </a:r>
            <a:r>
              <a:rPr sz="2600" spc="-50" dirty="0">
                <a:solidFill>
                  <a:srgbClr val="3333B3"/>
                </a:solidFill>
                <a:latin typeface="Calibri"/>
                <a:cs typeface="Calibri"/>
              </a:rPr>
              <a:t>3</a:t>
            </a:r>
            <a:endParaRPr sz="2600" dirty="0">
              <a:latin typeface="Calibri"/>
              <a:cs typeface="Calibri"/>
            </a:endParaRPr>
          </a:p>
          <a:p>
            <a:pPr marL="12700" marR="567055">
              <a:lnSpc>
                <a:spcPct val="150000"/>
              </a:lnSpc>
            </a:pPr>
            <a:r>
              <a:rPr kumimoji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In fact, we can find a way to modify our insertion and deletion functions, to make the tree height-balanced, with the time complexity O(h) = O(log n) . For that purpose, we have an elegant way to adjust the structure of the tree, ”rotation”.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5187" y="2083586"/>
            <a:ext cx="8328025" cy="33829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solidFill>
                  <a:srgbClr val="3333B3"/>
                </a:solidFill>
                <a:latin typeface="Calibri"/>
                <a:cs typeface="Calibri"/>
              </a:rPr>
              <a:t>Remark</a:t>
            </a:r>
            <a:r>
              <a:rPr sz="2800" spc="130" dirty="0">
                <a:solidFill>
                  <a:srgbClr val="3333B3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3333B3"/>
                </a:solidFill>
                <a:latin typeface="Calibri"/>
                <a:cs typeface="Calibri"/>
              </a:rPr>
              <a:t>1</a:t>
            </a:r>
            <a:endParaRPr sz="2800" dirty="0">
              <a:latin typeface="Calibri"/>
              <a:cs typeface="Calibri"/>
            </a:endParaRPr>
          </a:p>
          <a:p>
            <a:pPr marL="12700" marR="43180">
              <a:lnSpc>
                <a:spcPts val="2960"/>
              </a:lnSpc>
              <a:spcBef>
                <a:spcPts val="20"/>
              </a:spcBef>
            </a:pP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Rotation is a local operation in a search tree that preserves the binary-search-tree property. There are two kinds of rotations: left rotations and right rotations.</a:t>
            </a: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2800" dirty="0">
                <a:solidFill>
                  <a:srgbClr val="3333B3"/>
                </a:solidFill>
                <a:latin typeface="Calibri"/>
                <a:cs typeface="Calibri"/>
              </a:rPr>
              <a:t>Remark</a:t>
            </a:r>
            <a:r>
              <a:rPr sz="2800" spc="130" dirty="0">
                <a:solidFill>
                  <a:srgbClr val="3333B3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3333B3"/>
                </a:solidFill>
                <a:latin typeface="Calibri"/>
                <a:cs typeface="Calibri"/>
              </a:rPr>
              <a:t>2</a:t>
            </a:r>
            <a:endParaRPr sz="2800" dirty="0">
              <a:latin typeface="Calibri"/>
              <a:cs typeface="Calibri"/>
            </a:endParaRPr>
          </a:p>
          <a:p>
            <a:pPr marL="12700" marR="5080">
              <a:lnSpc>
                <a:spcPts val="2960"/>
              </a:lnSpc>
            </a:pPr>
            <a:r>
              <a:rPr kumimoji="1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When we do a left rotation on a node x, we assume that its right child y is not T.nil. x may be any node in the tree whose right child is not T.nil.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AAFEF150-F408-63C2-B2F5-B81731F15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93" y="321406"/>
            <a:ext cx="8906013" cy="69073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Rotation</a:t>
            </a:r>
            <a:r>
              <a:rPr lang="en-US" altLang="zh-CN" spc="-10" dirty="0"/>
              <a:t>:</a:t>
            </a:r>
            <a:r>
              <a:rPr lang="zh-CN" altLang="en-US" spc="-10" dirty="0"/>
              <a:t> </a:t>
            </a:r>
            <a:r>
              <a:rPr lang="en-US" altLang="zh-CN" spc="-10" dirty="0"/>
              <a:t>Java</a:t>
            </a:r>
            <a:r>
              <a:rPr lang="zh-CN" altLang="en-US" spc="-10" dirty="0"/>
              <a:t> </a:t>
            </a:r>
            <a:r>
              <a:rPr lang="en-US" altLang="zh-CN" spc="-10" dirty="0"/>
              <a:t>Program</a:t>
            </a:r>
            <a:endParaRPr spc="-1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55E3AE-E9C3-EB11-AD21-0769EA6F7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680487"/>
            <a:ext cx="47244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603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Exercises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8094" y="2582591"/>
            <a:ext cx="8065134" cy="7348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dirty="0">
                <a:solidFill>
                  <a:srgbClr val="3333B3"/>
                </a:solidFill>
                <a:latin typeface="Calibri"/>
                <a:cs typeface="Calibri"/>
              </a:rPr>
              <a:t>Exercise</a:t>
            </a:r>
            <a:r>
              <a:rPr sz="2600" spc="165" dirty="0">
                <a:solidFill>
                  <a:srgbClr val="3333B3"/>
                </a:solidFill>
                <a:latin typeface="Calibri"/>
                <a:cs typeface="Calibri"/>
              </a:rPr>
              <a:t> </a:t>
            </a:r>
            <a:r>
              <a:rPr lang="en-US" altLang="zh-CN" sz="2600" spc="-50" dirty="0">
                <a:solidFill>
                  <a:srgbClr val="3333B3"/>
                </a:solidFill>
                <a:latin typeface="Calibri"/>
                <a:cs typeface="Calibri"/>
              </a:rPr>
              <a:t>3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kumimoji="1" sz="2000" dirty="0">
                <a:solidFill>
                  <a:schemeClr val="tx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rPr>
              <a:t>Implement RIGHT-ROTATE.</a:t>
            </a:r>
          </a:p>
        </p:txBody>
      </p:sp>
    </p:spTree>
    <p:extLst>
      <p:ext uri="{BB962C8B-B14F-4D97-AF65-F5344CB8AC3E}">
        <p14:creationId xmlns:p14="http://schemas.microsoft.com/office/powerpoint/2010/main" val="3096533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Exercises</a:t>
            </a:r>
          </a:p>
        </p:txBody>
      </p:sp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312D5FC9-F2D6-9AB6-38CE-9732CF550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217" y="578736"/>
            <a:ext cx="4677876" cy="63926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B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</TotalTime>
  <Words>946</Words>
  <Application>Microsoft Macintosh PowerPoint</Application>
  <PresentationFormat>自定义</PresentationFormat>
  <Paragraphs>70</Paragraphs>
  <Slides>22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等线</vt:lpstr>
      <vt:lpstr>Arial</vt:lpstr>
      <vt:lpstr>Calibri</vt:lpstr>
      <vt:lpstr>Lucida Sans Unicode</vt:lpstr>
      <vt:lpstr>Office Theme</vt:lpstr>
      <vt:lpstr>Tutorial 9: Binary Search Trees</vt:lpstr>
      <vt:lpstr>Table of Contents</vt:lpstr>
      <vt:lpstr>Properties</vt:lpstr>
      <vt:lpstr>PowerPoint 演示文稿</vt:lpstr>
      <vt:lpstr>Finding Maximum or Minimum</vt:lpstr>
      <vt:lpstr>Finding Maximum or Minimum: Java Program</vt:lpstr>
      <vt:lpstr>Finding Successor or Predecessor</vt:lpstr>
      <vt:lpstr>Time Complexity</vt:lpstr>
      <vt:lpstr>Insertion</vt:lpstr>
      <vt:lpstr>Insertion</vt:lpstr>
      <vt:lpstr>Insertion: Java Program</vt:lpstr>
      <vt:lpstr>Deletion</vt:lpstr>
      <vt:lpstr>Deletion: Transplant Operation</vt:lpstr>
      <vt:lpstr>Deletion: Transplant Operation (Java Program)</vt:lpstr>
      <vt:lpstr>Balanced Binary Trees</vt:lpstr>
      <vt:lpstr>Remarks</vt:lpstr>
      <vt:lpstr>Remarks</vt:lpstr>
      <vt:lpstr>Rotation</vt:lpstr>
      <vt:lpstr>PowerPoint 演示文稿</vt:lpstr>
      <vt:lpstr>Rotation: Java Program</vt:lpstr>
      <vt:lpstr>Exercises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8: Binary Search Trees</dc:title>
  <cp:lastModifiedBy>Junyi Ao</cp:lastModifiedBy>
  <cp:revision>7</cp:revision>
  <dcterms:created xsi:type="dcterms:W3CDTF">2022-11-05T05:12:43Z</dcterms:created>
  <dcterms:modified xsi:type="dcterms:W3CDTF">2022-11-07T07:26:24Z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2022-03-30T00:00:00Z</vt:filetime>
  </property>
  <property fmtid="{D5CDD505-2E9C-101B-9397-08002B2CF9AE}" pid="3" name="LastSaved">
    <vt:filetime>2022-11-05T00:00:00Z</vt:filetime>
  </property>
  <property fmtid="{D5CDD505-2E9C-101B-9397-08002B2CF9AE}" pid="4" name="Producer">
    <vt:lpwstr>iOS Version 15.3.1 (Build 19D52) Quartz PDFContext</vt:lpwstr>
  </property>
</Properties>
</file>