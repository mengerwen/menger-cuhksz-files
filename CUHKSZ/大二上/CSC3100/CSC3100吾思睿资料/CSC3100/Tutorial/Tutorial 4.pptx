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70" r:id="rId4"/>
    <p:sldId id="280" r:id="rId5"/>
    <p:sldId id="282" r:id="rId6"/>
    <p:sldId id="283" r:id="rId7"/>
    <p:sldId id="284" r:id="rId8"/>
    <p:sldId id="285" r:id="rId9"/>
    <p:sldId id="286" r:id="rId10"/>
    <p:sldId id="29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23"/>
  </p:normalViewPr>
  <p:slideViewPr>
    <p:cSldViewPr snapToGrid="0" snapToObjects="1">
      <p:cViewPr varScale="1">
        <p:scale>
          <a:sx n="104" d="100"/>
          <a:sy n="104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07F1EED-34A0-7642-996C-E4F438EC8731}"/>
              </a:ext>
            </a:extLst>
          </p:cNvPr>
          <p:cNvSpPr/>
          <p:nvPr userDrawn="1"/>
        </p:nvSpPr>
        <p:spPr>
          <a:xfrm>
            <a:off x="-2" y="0"/>
            <a:ext cx="12192002" cy="1564036"/>
          </a:xfrm>
          <a:prstGeom prst="rect">
            <a:avLst/>
          </a:prstGeom>
          <a:solidFill>
            <a:srgbClr val="632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40C9BF1-2922-4143-A17D-7494A6B56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591614-B6D2-1946-A942-CBCE1EF41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2865F9-797F-1345-B283-78BF0C72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59546C-F383-4343-9AD9-79362F47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5DAA6-2FC9-A746-AF17-B6939604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8" name="图片 29">
            <a:extLst>
              <a:ext uri="{FF2B5EF4-FFF2-40B4-BE49-F238E27FC236}">
                <a16:creationId xmlns:a16="http://schemas.microsoft.com/office/drawing/2014/main" id="{5ACBB7FF-39EF-2E41-A193-5DCF6DCA3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6808" y="167329"/>
            <a:ext cx="5569133" cy="124856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73772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18B7E-5B76-A548-A214-FA7FBB3B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5D319-64CB-064A-B11B-2570C9C93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BC7A68-10D1-2B4D-991A-02F9F1EE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59D66-91A0-994B-B4E7-07D1E7EA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BB9EEA-2C32-404F-B86E-3FAD7DAF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0CBB19-E0DF-F348-9832-B97DC85135EA}"/>
              </a:ext>
            </a:extLst>
          </p:cNvPr>
          <p:cNvSpPr/>
          <p:nvPr userDrawn="1"/>
        </p:nvSpPr>
        <p:spPr>
          <a:xfrm>
            <a:off x="0" y="-17777"/>
            <a:ext cx="12192000" cy="514157"/>
          </a:xfrm>
          <a:prstGeom prst="rect">
            <a:avLst/>
          </a:prstGeom>
          <a:solidFill>
            <a:srgbClr val="632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5254CB-6339-1449-A108-C8FF51B01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2" y="-76963"/>
            <a:ext cx="2819449" cy="632528"/>
          </a:xfrm>
          <a:prstGeom prst="rect">
            <a:avLst/>
          </a:prstGeom>
        </p:spPr>
      </p:pic>
      <p:pic>
        <p:nvPicPr>
          <p:cNvPr id="9" name="图片 10">
            <a:extLst>
              <a:ext uri="{FF2B5EF4-FFF2-40B4-BE49-F238E27FC236}">
                <a16:creationId xmlns:a16="http://schemas.microsoft.com/office/drawing/2014/main" id="{4E33D71F-A681-414E-85C1-B55167A1F6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26065" y="108382"/>
            <a:ext cx="2518928" cy="2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7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3FBE4-9361-1F44-9CF8-30ABA9F6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53FD13-3C2B-9549-80A0-FCAD03948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BE259-7B63-7148-8C09-D10D26EF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76BE04-404C-6A45-8EB7-5407BC98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3A31C3-CAF3-3644-9691-D0F57C4D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473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22345-7964-B840-A813-FEBA730B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42479-C688-9341-9FD9-F6FE810C5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626A14-2A52-2448-820C-F7CD7591B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930D4C-5F41-0D42-86E7-A0D5DADC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324F-5C20-3D40-B17B-184661AA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8E7FD4-9194-0D42-84E7-F697597D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947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5F632-9FF5-8041-BFFD-1F34B2ED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5C82B7-5A53-AB4D-B842-FF0BC1D1D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67522D-87EC-6843-A1CC-9D12B496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1F5B66-2034-3C43-80F2-F7FB05B09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C8405D-C39F-7E4B-837A-470D6616A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029041-8EBD-084E-8DDB-9F2748AA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6E9A88-6ABE-7448-8051-BEBB1CD0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66E7B6B-43B2-0E46-90E9-0E9F65D8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7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C270E-175B-E54B-8675-B633DA3E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94DF59-F1FF-6F44-BE8A-315C88F3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90E56A-9C6B-1049-B663-4F38FE69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DC43C6-7D1B-A74F-8AAB-43BBC60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724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D8E8DA-BA8E-074B-8B51-CDA5BD8C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B79BC5-4D9B-884A-A0CF-F77A6BE8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0CF2BF-DC76-B04B-8324-2B2A2E0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464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24C39-B828-7F47-8DF3-C2983CF9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B3CAE-A068-A342-B494-917BB1322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6F5F99-6971-9B4A-BB4E-01A01D67D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6CF8EA-13F7-C847-A502-5372D4D0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D1301D-901E-6044-AD0D-B8EB2D6E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A902AA-C2DE-FE4D-BDE3-45E81AC1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304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8251C-9380-DC48-A6A1-D584547A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60CE77-3BA9-154A-974A-27185B242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0957D1-8FC5-8E44-A885-E32F737E0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EBDE1-034D-F44E-BDA7-64421562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2DB93D-5FD3-C24A-9E88-FE1A8DD7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204D78-9724-1E42-9EB5-5F88BE51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109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4783A-3E5C-994A-9323-C346B3F5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1F4EF5-8E38-FC4D-8705-B79E93423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065207-060B-3B49-A54C-4E8FFE44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FB5884-BF56-1343-8A21-12097464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03873-43E7-C846-906F-A22B584D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122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C1F546-5FFB-A649-B7B2-150B30C3A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DC2C24-A0C5-564B-8603-EC50F17BD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09066-0340-944E-9223-294BE1EA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0CCFD-D568-6943-BA9F-ADFD5FFC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B31245-2540-0340-B761-29D560C7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445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F07158-4232-E24B-ACE6-EDB9E6DE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6900A3-B02B-A94E-B7AF-3F3443609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FBA64-B464-114F-A787-1EE413365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452E6-AA83-184C-9B99-B817E6157F40}" type="datetimeFigureOut">
              <a:rPr kumimoji="1" lang="zh-CN" altLang="en-US" smtClean="0"/>
              <a:t>2022/9/27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88CCE6-AD4A-3C45-AEBF-664EEB9D1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F5E3E-B556-2049-A069-41492C581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670D-19FC-414A-ACBC-2B0704AD51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735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alue_(computer_science)" TargetMode="External"/><Relationship Id="rId2" Type="http://schemas.openxmlformats.org/officeDocument/2006/relationships/hyperlink" Target="https://en.wikipedia.org/wiki/Order_theor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n.wikipedia.org/wiki/Linked_lis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DBC80-A8A2-CA41-BAEC-9510F4EA1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CSC3100 Data Structures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A15F8E-BDF5-314A-913B-94158E9A1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9178"/>
            <a:ext cx="9144000" cy="1655762"/>
          </a:xfrm>
        </p:spPr>
        <p:txBody>
          <a:bodyPr>
            <a:normAutofit/>
          </a:bodyPr>
          <a:lstStyle/>
          <a:p>
            <a:r>
              <a:rPr kumimoji="1" lang="en-US" altLang="zh-CN" sz="4800" dirty="0"/>
              <a:t>Tutorial 4</a:t>
            </a:r>
          </a:p>
        </p:txBody>
      </p:sp>
      <p:pic>
        <p:nvPicPr>
          <p:cNvPr id="5" name="图片 29">
            <a:extLst>
              <a:ext uri="{FF2B5EF4-FFF2-40B4-BE49-F238E27FC236}">
                <a16:creationId xmlns:a16="http://schemas.microsoft.com/office/drawing/2014/main" id="{CD0FD8D7-F19A-B042-92B7-29B4D071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808" y="167329"/>
            <a:ext cx="5569133" cy="1248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44685F-411F-FD45-95FB-E4E53405D613}"/>
              </a:ext>
            </a:extLst>
          </p:cNvPr>
          <p:cNvSpPr txBox="1"/>
          <p:nvPr/>
        </p:nvSpPr>
        <p:spPr>
          <a:xfrm>
            <a:off x="6780810" y="8431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1607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5BE60-5C54-8B4A-B823-7813CB65C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Roadmap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12DEF6-8933-634A-8713-66FD019D4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711" y="1837501"/>
            <a:ext cx="10515600" cy="4351338"/>
          </a:xfrm>
        </p:spPr>
        <p:txBody>
          <a:bodyPr/>
          <a:lstStyle/>
          <a:p>
            <a:r>
              <a:rPr kumimoji="1" lang="en-US" altLang="zh-CN" dirty="0"/>
              <a:t>List Concept</a:t>
            </a:r>
          </a:p>
          <a:p>
            <a:r>
              <a:rPr kumimoji="1" lang="en-US" altLang="zh-CN" dirty="0"/>
              <a:t>Linked List Concept</a:t>
            </a:r>
          </a:p>
          <a:p>
            <a:r>
              <a:rPr kumimoji="1" lang="en-US" altLang="zh-CN" dirty="0"/>
              <a:t>Linked List Exercise</a:t>
            </a:r>
          </a:p>
        </p:txBody>
      </p:sp>
    </p:spTree>
    <p:extLst>
      <p:ext uri="{BB962C8B-B14F-4D97-AF65-F5344CB8AC3E}">
        <p14:creationId xmlns:p14="http://schemas.microsoft.com/office/powerpoint/2010/main" val="10849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83D5F-20ED-1646-B2F4-6D11171C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List - Recall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53DB71-2C86-2247-80A1-2BD428590841}"/>
              </a:ext>
            </a:extLst>
          </p:cNvPr>
          <p:cNvSpPr/>
          <p:nvPr/>
        </p:nvSpPr>
        <p:spPr>
          <a:xfrm>
            <a:off x="982980" y="1690688"/>
            <a:ext cx="845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202122"/>
                </a:solidFill>
              </a:rPr>
              <a:t>A list represents a countable number of</a:t>
            </a:r>
            <a:r>
              <a:rPr lang="en-US" altLang="zh-CN" sz="2400" b="1" dirty="0">
                <a:solidFill>
                  <a:srgbClr val="202122"/>
                </a:solidFill>
              </a:rPr>
              <a:t> </a:t>
            </a:r>
            <a:r>
              <a:rPr lang="en-US" altLang="zh-CN" sz="2400" b="1" dirty="0">
                <a:solidFill>
                  <a:srgbClr val="20212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ordered</a:t>
            </a:r>
            <a:r>
              <a:rPr lang="en-US" altLang="zh-CN" sz="2400" b="1" dirty="0">
                <a:solidFill>
                  <a:srgbClr val="202122"/>
                </a:solidFill>
              </a:rPr>
              <a:t> </a:t>
            </a:r>
            <a:r>
              <a:rPr lang="en-US" altLang="zh-CN" sz="2400" b="1" dirty="0">
                <a:solidFill>
                  <a:srgbClr val="202122"/>
                </a:solidFill>
                <a:hlinkClick r:id="rId3" tooltip="Order the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values</a:t>
            </a:r>
            <a:r>
              <a:rPr lang="en-US" altLang="zh-CN" sz="2400" dirty="0">
                <a:solidFill>
                  <a:srgbClr val="202122"/>
                </a:solidFill>
              </a:rPr>
              <a:t>, where the same value may occur more than once.</a:t>
            </a:r>
            <a:endParaRPr lang="zh-CN" altLang="en-US" sz="2400" dirty="0">
              <a:solidFill>
                <a:srgbClr val="20212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21A2B3-8BE8-2D43-84C1-17EF58C47158}"/>
              </a:ext>
            </a:extLst>
          </p:cNvPr>
          <p:cNvSpPr/>
          <p:nvPr/>
        </p:nvSpPr>
        <p:spPr>
          <a:xfrm>
            <a:off x="3121059" y="6308209"/>
            <a:ext cx="5660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u="sng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-US" altLang="zh-CN" u="sng" dirty="0" err="1">
                <a:solidFill>
                  <a:schemeClr val="accent1">
                    <a:lumMod val="75000"/>
                  </a:schemeClr>
                </a:solidFill>
              </a:rPr>
              <a:t>en.wikipedia.org</a:t>
            </a:r>
            <a:r>
              <a:rPr lang="en-US" altLang="zh-CN" u="sng" dirty="0">
                <a:solidFill>
                  <a:schemeClr val="accent1">
                    <a:lumMod val="75000"/>
                  </a:schemeClr>
                </a:solidFill>
              </a:rPr>
              <a:t>/wiki/List_(</a:t>
            </a:r>
            <a:r>
              <a:rPr lang="en-US" altLang="zh-CN" u="sng" dirty="0" err="1">
                <a:solidFill>
                  <a:schemeClr val="accent1">
                    <a:lumMod val="75000"/>
                  </a:schemeClr>
                </a:solidFill>
              </a:rPr>
              <a:t>abstract_data_type</a:t>
            </a:r>
            <a:r>
              <a:rPr lang="en-US" altLang="zh-CN" u="sng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zh-CN" altLang="en-US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F6F8F4-C07C-3344-BF91-8993FC682092}"/>
              </a:ext>
            </a:extLst>
          </p:cNvPr>
          <p:cNvSpPr/>
          <p:nvPr/>
        </p:nvSpPr>
        <p:spPr>
          <a:xfrm>
            <a:off x="3176613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44EFD3-82D3-494B-B2E3-CDFC2A1097B2}"/>
              </a:ext>
            </a:extLst>
          </p:cNvPr>
          <p:cNvSpPr/>
          <p:nvPr/>
        </p:nvSpPr>
        <p:spPr>
          <a:xfrm>
            <a:off x="3835199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22A5DE-4DD5-5F46-933D-9CC7BE9DB093}"/>
              </a:ext>
            </a:extLst>
          </p:cNvPr>
          <p:cNvSpPr/>
          <p:nvPr/>
        </p:nvSpPr>
        <p:spPr>
          <a:xfrm>
            <a:off x="4493785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B27482-1259-C544-8E6F-3C366FBE15FE}"/>
              </a:ext>
            </a:extLst>
          </p:cNvPr>
          <p:cNvSpPr/>
          <p:nvPr/>
        </p:nvSpPr>
        <p:spPr>
          <a:xfrm>
            <a:off x="5152371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915E69-31B8-E044-B670-22091BAA1259}"/>
              </a:ext>
            </a:extLst>
          </p:cNvPr>
          <p:cNvSpPr/>
          <p:nvPr/>
        </p:nvSpPr>
        <p:spPr>
          <a:xfrm>
            <a:off x="5810957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05248D-7EF1-A24E-A8D6-ECEBF7A0947B}"/>
              </a:ext>
            </a:extLst>
          </p:cNvPr>
          <p:cNvSpPr/>
          <p:nvPr/>
        </p:nvSpPr>
        <p:spPr>
          <a:xfrm>
            <a:off x="6469543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B52EC5-B46D-9B43-9FAF-D85247CD9C5D}"/>
              </a:ext>
            </a:extLst>
          </p:cNvPr>
          <p:cNvSpPr/>
          <p:nvPr/>
        </p:nvSpPr>
        <p:spPr>
          <a:xfrm>
            <a:off x="7128129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FCCDD9-90DB-1348-B253-7ACBB4EF3967}"/>
              </a:ext>
            </a:extLst>
          </p:cNvPr>
          <p:cNvSpPr/>
          <p:nvPr/>
        </p:nvSpPr>
        <p:spPr>
          <a:xfrm>
            <a:off x="7786715" y="4915852"/>
            <a:ext cx="514350" cy="5029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4E44D4-7E21-644B-AC2B-FF5A74A6BC4F}"/>
              </a:ext>
            </a:extLst>
          </p:cNvPr>
          <p:cNvSpPr txBox="1"/>
          <p:nvPr/>
        </p:nvSpPr>
        <p:spPr>
          <a:xfrm>
            <a:off x="2467953" y="5947023"/>
            <a:ext cx="708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3CF2B7-F2FB-0B49-9F83-CC7BCA0285F3}"/>
              </a:ext>
            </a:extLst>
          </p:cNvPr>
          <p:cNvSpPr txBox="1"/>
          <p:nvPr/>
        </p:nvSpPr>
        <p:spPr>
          <a:xfrm>
            <a:off x="3683342" y="6034958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9B6632-7B3C-8944-95B1-6EBE15341CC3}"/>
              </a:ext>
            </a:extLst>
          </p:cNvPr>
          <p:cNvSpPr txBox="1"/>
          <p:nvPr/>
        </p:nvSpPr>
        <p:spPr>
          <a:xfrm>
            <a:off x="8043890" y="6034958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Last</a:t>
            </a:r>
            <a:r>
              <a:rPr kumimoji="1" lang="zh-CN" altLang="en-US" dirty="0"/>
              <a:t> </a:t>
            </a: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4BA6739-E331-2341-8953-F45F7CCF988A}"/>
              </a:ext>
            </a:extLst>
          </p:cNvPr>
          <p:cNvCxnSpPr>
            <a:stCxn id="22" idx="0"/>
            <a:endCxn id="11" idx="2"/>
          </p:cNvCxnSpPr>
          <p:nvPr/>
        </p:nvCxnSpPr>
        <p:spPr>
          <a:xfrm flipV="1">
            <a:off x="2822283" y="5418772"/>
            <a:ext cx="611505" cy="528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E8694A7-13B1-A448-ACE7-7FF211EAE3D5}"/>
              </a:ext>
            </a:extLst>
          </p:cNvPr>
          <p:cNvCxnSpPr>
            <a:stCxn id="23" idx="0"/>
            <a:endCxn id="12" idx="2"/>
          </p:cNvCxnSpPr>
          <p:nvPr/>
        </p:nvCxnSpPr>
        <p:spPr>
          <a:xfrm flipH="1" flipV="1">
            <a:off x="4092374" y="5418772"/>
            <a:ext cx="76743" cy="616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2656162-80B4-EF47-848C-259E175927C4}"/>
              </a:ext>
            </a:extLst>
          </p:cNvPr>
          <p:cNvSpPr txBox="1"/>
          <p:nvPr/>
        </p:nvSpPr>
        <p:spPr>
          <a:xfrm>
            <a:off x="5540173" y="5876039"/>
            <a:ext cx="97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……</a:t>
            </a:r>
            <a:r>
              <a:rPr kumimoji="1" lang="zh-CN" altLang="en-US" dirty="0"/>
              <a:t> </a:t>
            </a: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37D7D438-7A89-FD4F-9AAD-C34121DD55F1}"/>
              </a:ext>
            </a:extLst>
          </p:cNvPr>
          <p:cNvCxnSpPr>
            <a:stCxn id="25" idx="0"/>
            <a:endCxn id="18" idx="2"/>
          </p:cNvCxnSpPr>
          <p:nvPr/>
        </p:nvCxnSpPr>
        <p:spPr>
          <a:xfrm flipH="1" flipV="1">
            <a:off x="8043890" y="5418772"/>
            <a:ext cx="485775" cy="616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A28F8D6-7527-F840-BFC1-D37839C7D555}"/>
              </a:ext>
            </a:extLst>
          </p:cNvPr>
          <p:cNvSpPr txBox="1"/>
          <p:nvPr/>
        </p:nvSpPr>
        <p:spPr>
          <a:xfrm>
            <a:off x="1180771" y="2919073"/>
            <a:ext cx="7596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Advantages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buAutoNum type="arabicParenBoth"/>
            </a:pPr>
            <a:r>
              <a:rPr lang="en-US" dirty="0"/>
              <a:t>Do not use contiguous memory to complete dynamic operations. </a:t>
            </a:r>
          </a:p>
          <a:p>
            <a:pPr marL="342900" indent="-342900">
              <a:buAutoNum type="arabicParenBoth"/>
            </a:pPr>
            <a:r>
              <a:rPr lang="en-US" dirty="0"/>
              <a:t>Insert and delete operations for easy insertion and removal internally </a:t>
            </a:r>
          </a:p>
          <a:p>
            <a:pPr marL="342900" indent="-342900">
              <a:buAutoNum type="arabicParenBoth"/>
            </a:pPr>
            <a:r>
              <a:rPr lang="en-US" dirty="0"/>
              <a:t>Push and pop can be performed at both ends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509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98A82-79A7-4E4B-902F-B66C0364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Linked List 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565CC-1B81-E24E-8425-3D685C8E2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600" dirty="0">
                <a:cs typeface="Times New Roman" panose="02020603050405020304" pitchFamily="18" charset="0"/>
              </a:rPr>
              <a:t>A linked list is a linear collection of data elements whose order is not given by their physical placement in memory. Instead, each element points to the next. It is a data structure consisting of a collection of nodes which together represent a sequence. In its most basic form, each node contains: data, and a reference (in other words, a link) to the next node in the sequence.</a:t>
            </a:r>
          </a:p>
          <a:p>
            <a:r>
              <a:rPr kumimoji="1" lang="en-US" altLang="zh-CN" sz="2600" dirty="0">
                <a:cs typeface="Times New Roman" panose="02020603050405020304" pitchFamily="18" charset="0"/>
              </a:rPr>
              <a:t>This structure allows for efficient insertion or removal of elements from any position in the sequence during iteration.</a:t>
            </a:r>
          </a:p>
          <a:p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FBB93B-2E2B-3E4A-A843-EE84356B8B3B}"/>
              </a:ext>
            </a:extLst>
          </p:cNvPr>
          <p:cNvSpPr txBox="1"/>
          <p:nvPr/>
        </p:nvSpPr>
        <p:spPr>
          <a:xfrm>
            <a:off x="3378011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hlinkClick r:id="rId2"/>
              </a:rPr>
              <a:t>Linked list - https://en.wikipedia.org/wiki/Linked_list</a:t>
            </a:r>
            <a:endParaRPr lang="zh-CN" altLang="en-US" dirty="0"/>
          </a:p>
        </p:txBody>
      </p:sp>
      <p:pic>
        <p:nvPicPr>
          <p:cNvPr id="4" name="图片 5">
            <a:extLst>
              <a:ext uri="{FF2B5EF4-FFF2-40B4-BE49-F238E27FC236}">
                <a16:creationId xmlns:a16="http://schemas.microsoft.com/office/drawing/2014/main" id="{82F55785-50F1-4456-4CDF-3EBFD2549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50" y="4945063"/>
            <a:ext cx="99187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6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8D28E-50CF-EA46-9FF4-44C184AB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Node in Linked List</a:t>
            </a:r>
            <a:endParaRPr kumimoji="1" lang="zh-CN" altLang="en-US" dirty="0">
              <a:latin typeface="+mn-lt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24C3F1-5FF3-7B47-84DB-E27729439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6453" y="1615446"/>
            <a:ext cx="5219700" cy="4267200"/>
          </a:xfrm>
        </p:spPr>
      </p:pic>
    </p:spTree>
    <p:extLst>
      <p:ext uri="{BB962C8B-B14F-4D97-AF65-F5344CB8AC3E}">
        <p14:creationId xmlns:p14="http://schemas.microsoft.com/office/powerpoint/2010/main" val="173400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0AB11-F680-CC42-B815-591AD141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Basic Operations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FCDA91-5A2E-1D42-8E20-AC19DCAD8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696" y="1801429"/>
            <a:ext cx="10515600" cy="4351338"/>
          </a:xfrm>
        </p:spPr>
        <p:txBody>
          <a:bodyPr/>
          <a:lstStyle/>
          <a:p>
            <a:r>
              <a:rPr kumimoji="1" lang="en-US" altLang="zh-CN" dirty="0" err="1"/>
              <a:t>insertFirst</a:t>
            </a:r>
            <a:endParaRPr kumimoji="1" lang="en-US" altLang="zh-CN" dirty="0"/>
          </a:p>
          <a:p>
            <a:r>
              <a:rPr kumimoji="1" lang="en-US" altLang="zh-CN" dirty="0" err="1"/>
              <a:t>insertLast</a:t>
            </a:r>
            <a:endParaRPr kumimoji="1" lang="en-US" altLang="zh-CN" dirty="0"/>
          </a:p>
          <a:p>
            <a:r>
              <a:rPr kumimoji="1" lang="en-US" altLang="zh-CN" dirty="0" err="1"/>
              <a:t>deleteFirst</a:t>
            </a:r>
            <a:endParaRPr kumimoji="1" lang="en-US" altLang="zh-CN" dirty="0"/>
          </a:p>
          <a:p>
            <a:r>
              <a:rPr kumimoji="1" lang="en-US" altLang="zh-CN" dirty="0" err="1"/>
              <a:t>deleteAfter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8C2A15-B029-C74C-823A-9A1B890B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797" y="2259724"/>
            <a:ext cx="5301717" cy="211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7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B9060-74E2-7748-8787-BEE8A761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Toy Example 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054DFD-8241-1A4D-A934-FED36545D6EB}"/>
              </a:ext>
            </a:extLst>
          </p:cNvPr>
          <p:cNvSpPr txBox="1"/>
          <p:nvPr/>
        </p:nvSpPr>
        <p:spPr>
          <a:xfrm>
            <a:off x="8163695" y="1561709"/>
            <a:ext cx="39913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/>
              <a:t>linkedList</a:t>
            </a:r>
            <a:r>
              <a:rPr lang="en" altLang="zh-CN" sz="1600" dirty="0"/>
              <a:t> </a:t>
            </a:r>
            <a:r>
              <a:rPr lang="en" altLang="zh-CN" sz="1600" dirty="0" err="1"/>
              <a:t>myLinkedList</a:t>
            </a:r>
            <a:r>
              <a:rPr lang="en" altLang="zh-CN" sz="1600" dirty="0"/>
              <a:t> = </a:t>
            </a:r>
            <a:r>
              <a:rPr lang="en" altLang="zh-CN" sz="1600" dirty="0">
                <a:solidFill>
                  <a:srgbClr val="CC7832"/>
                </a:solidFill>
                <a:effectLst/>
              </a:rPr>
              <a:t>new </a:t>
            </a:r>
            <a:r>
              <a:rPr lang="en" altLang="zh-CN" sz="1600" dirty="0" err="1"/>
              <a:t>linkedList</a:t>
            </a:r>
            <a:r>
              <a:rPr lang="en" altLang="zh-CN" sz="1600" dirty="0"/>
              <a:t>()</a:t>
            </a:r>
            <a:r>
              <a:rPr lang="en" altLang="zh-CN" sz="1600" dirty="0">
                <a:solidFill>
                  <a:srgbClr val="CC7832"/>
                </a:solidFill>
                <a:effectLst/>
              </a:rPr>
              <a:t>;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EDE931-3620-2945-9509-AFD106A150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18"/>
          <a:stretch/>
        </p:blipFill>
        <p:spPr>
          <a:xfrm>
            <a:off x="130612" y="1361317"/>
            <a:ext cx="1065485" cy="7309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ACB4886-B05E-204E-8EC5-EDD12885A327}"/>
              </a:ext>
            </a:extLst>
          </p:cNvPr>
          <p:cNvSpPr txBox="1"/>
          <p:nvPr/>
        </p:nvSpPr>
        <p:spPr>
          <a:xfrm>
            <a:off x="8457982" y="2364011"/>
            <a:ext cx="2632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/>
              <a:t>myLinkedList.insertFirst</a:t>
            </a:r>
            <a:r>
              <a:rPr lang="en" altLang="zh-CN" sz="1600" dirty="0"/>
              <a:t>(</a:t>
            </a:r>
            <a:r>
              <a:rPr lang="en" altLang="zh-CN" sz="1600" dirty="0">
                <a:solidFill>
                  <a:srgbClr val="6897BB"/>
                </a:solidFill>
                <a:effectLst/>
              </a:rPr>
              <a:t>5</a:t>
            </a:r>
            <a:r>
              <a:rPr lang="en" altLang="zh-CN" sz="1600" dirty="0"/>
              <a:t>)</a:t>
            </a:r>
            <a:r>
              <a:rPr lang="en" altLang="zh-CN" sz="1600" dirty="0">
                <a:solidFill>
                  <a:srgbClr val="CC7832"/>
                </a:solidFill>
                <a:effectLst/>
              </a:rPr>
              <a:t>;</a:t>
            </a:r>
            <a:endParaRPr lang="zh-CN" altLang="en-US" sz="16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5CBF62D-68F1-6940-86D9-52A0F87C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12" y="2101215"/>
            <a:ext cx="2296510" cy="78711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AD393AF-8038-2C4E-A283-9682C7913C2E}"/>
              </a:ext>
            </a:extLst>
          </p:cNvPr>
          <p:cNvSpPr txBox="1"/>
          <p:nvPr/>
        </p:nvSpPr>
        <p:spPr>
          <a:xfrm>
            <a:off x="8457983" y="3183033"/>
            <a:ext cx="2632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/>
              <a:t>myLinkedList.insertFirst</a:t>
            </a:r>
            <a:r>
              <a:rPr lang="en" altLang="zh-CN" sz="1600" dirty="0"/>
              <a:t>(</a:t>
            </a:r>
            <a:r>
              <a:rPr lang="en" altLang="zh-CN" sz="1600" dirty="0">
                <a:solidFill>
                  <a:srgbClr val="6897BB"/>
                </a:solidFill>
              </a:rPr>
              <a:t>4</a:t>
            </a:r>
            <a:r>
              <a:rPr lang="en" altLang="zh-CN" sz="1600" dirty="0"/>
              <a:t>)</a:t>
            </a:r>
            <a:r>
              <a:rPr lang="en" altLang="zh-CN" sz="1600" dirty="0">
                <a:solidFill>
                  <a:srgbClr val="CC7832"/>
                </a:solidFill>
                <a:effectLst/>
              </a:rPr>
              <a:t>;</a:t>
            </a:r>
            <a:endParaRPr lang="zh-CN" altLang="en-US" sz="16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20FA457-4C6B-B640-B903-D564F1A5E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27" y="3109795"/>
            <a:ext cx="3427906" cy="53175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16AA26B-AE1E-D54A-9CDC-F0301A3C3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61" y="3930197"/>
            <a:ext cx="4902418" cy="61647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D23D83E-6820-1840-880E-4E2CFFB0DA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27" y="4820337"/>
            <a:ext cx="6467692" cy="61499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7821FFC-7BF1-314B-93C8-789F334982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527" y="5691040"/>
            <a:ext cx="8067892" cy="65386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EF450D6-1DB1-4444-922A-12FE4EB53FC0}"/>
              </a:ext>
            </a:extLst>
          </p:cNvPr>
          <p:cNvSpPr txBox="1"/>
          <p:nvPr/>
        </p:nvSpPr>
        <p:spPr>
          <a:xfrm>
            <a:off x="8457984" y="4025948"/>
            <a:ext cx="2632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/>
              <a:t>myLinkedList.insertFirst</a:t>
            </a:r>
            <a:r>
              <a:rPr lang="en" altLang="zh-CN" sz="1600" dirty="0"/>
              <a:t>(</a:t>
            </a:r>
            <a:r>
              <a:rPr lang="en" altLang="zh-CN" sz="1600" dirty="0">
                <a:solidFill>
                  <a:srgbClr val="6897BB"/>
                </a:solidFill>
              </a:rPr>
              <a:t>3</a:t>
            </a:r>
            <a:r>
              <a:rPr lang="en" altLang="zh-CN" sz="1600" dirty="0"/>
              <a:t>)</a:t>
            </a:r>
            <a:r>
              <a:rPr lang="en" altLang="zh-CN" sz="1600" dirty="0">
                <a:solidFill>
                  <a:srgbClr val="CC7832"/>
                </a:solidFill>
                <a:effectLst/>
              </a:rPr>
              <a:t>;</a:t>
            </a:r>
            <a:endParaRPr lang="zh-CN" altLang="en-US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6C9AAA7-ADF7-D24A-BFF0-6DFD4C7D974B}"/>
              </a:ext>
            </a:extLst>
          </p:cNvPr>
          <p:cNvSpPr txBox="1"/>
          <p:nvPr/>
        </p:nvSpPr>
        <p:spPr>
          <a:xfrm>
            <a:off x="8457984" y="4917936"/>
            <a:ext cx="2632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/>
              <a:t>myLinkedList.insertFirst</a:t>
            </a:r>
            <a:r>
              <a:rPr lang="en" altLang="zh-CN" sz="1600" dirty="0"/>
              <a:t>(</a:t>
            </a:r>
            <a:r>
              <a:rPr lang="en" altLang="zh-CN" sz="1600" dirty="0">
                <a:solidFill>
                  <a:srgbClr val="6897BB"/>
                </a:solidFill>
              </a:rPr>
              <a:t>2</a:t>
            </a:r>
            <a:r>
              <a:rPr lang="en" altLang="zh-CN" sz="1600" dirty="0"/>
              <a:t>)</a:t>
            </a:r>
            <a:r>
              <a:rPr lang="en" altLang="zh-CN" sz="1600" dirty="0">
                <a:solidFill>
                  <a:srgbClr val="CC7832"/>
                </a:solidFill>
              </a:rPr>
              <a:t>;</a:t>
            </a:r>
            <a:endParaRPr lang="zh-CN" altLang="en-US" sz="16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3C2EE5-DCC6-4F49-978F-E46A25112FF4}"/>
              </a:ext>
            </a:extLst>
          </p:cNvPr>
          <p:cNvSpPr txBox="1"/>
          <p:nvPr/>
        </p:nvSpPr>
        <p:spPr>
          <a:xfrm>
            <a:off x="8457984" y="5848697"/>
            <a:ext cx="26328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/>
              <a:t>myLinkedList.insertFirst</a:t>
            </a:r>
            <a:r>
              <a:rPr lang="en" altLang="zh-CN" sz="1600" dirty="0"/>
              <a:t>(</a:t>
            </a:r>
            <a:r>
              <a:rPr lang="en" altLang="zh-CN" sz="1600" dirty="0">
                <a:solidFill>
                  <a:srgbClr val="6897BB"/>
                </a:solidFill>
              </a:rPr>
              <a:t>1</a:t>
            </a:r>
            <a:r>
              <a:rPr lang="en" altLang="zh-CN" sz="1600" dirty="0"/>
              <a:t>)</a:t>
            </a:r>
            <a:r>
              <a:rPr lang="en" altLang="zh-CN" sz="1600" dirty="0">
                <a:solidFill>
                  <a:srgbClr val="CC7832"/>
                </a:solidFill>
              </a:rPr>
              <a:t>;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9619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55522-6A72-074D-915D-10B4584E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</a:rPr>
              <a:t>Exercise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028F2-9581-9644-9709-DDDAD9446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cs typeface="Times New Roman" panose="02020603050405020304" pitchFamily="18" charset="0"/>
              </a:rPr>
              <a:t>Please find the template code for Linked List on </a:t>
            </a:r>
            <a:r>
              <a:rPr kumimoji="1" lang="en-US" altLang="zh-CN" dirty="0" err="1">
                <a:cs typeface="Times New Roman" panose="02020603050405020304" pitchFamily="18" charset="0"/>
              </a:rPr>
              <a:t>BlackBoard</a:t>
            </a:r>
            <a:r>
              <a:rPr kumimoji="1" lang="en-US" altLang="zh-CN" dirty="0">
                <a:cs typeface="Times New Roman" panose="02020603050405020304" pitchFamily="18" charset="0"/>
              </a:rPr>
              <a:t> and complete print(), </a:t>
            </a:r>
            <a:r>
              <a:rPr kumimoji="1" lang="en-US" altLang="zh-CN" dirty="0" err="1">
                <a:cs typeface="Times New Roman" panose="02020603050405020304" pitchFamily="18" charset="0"/>
              </a:rPr>
              <a:t>reversePrint</a:t>
            </a:r>
            <a:r>
              <a:rPr kumimoji="1" lang="en-US" altLang="zh-CN" dirty="0">
                <a:cs typeface="Times New Roman" panose="02020603050405020304" pitchFamily="18" charset="0"/>
              </a:rPr>
              <a:t>() and </a:t>
            </a:r>
            <a:r>
              <a:rPr kumimoji="1" lang="en-US" altLang="zh-CN" dirty="0" err="1">
                <a:cs typeface="Times New Roman" panose="02020603050405020304" pitchFamily="18" charset="0"/>
              </a:rPr>
              <a:t>oddPrint</a:t>
            </a:r>
            <a:r>
              <a:rPr kumimoji="1" lang="en-US" altLang="zh-CN" dirty="0">
                <a:cs typeface="Times New Roman" panose="02020603050405020304" pitchFamily="18" charset="0"/>
              </a:rPr>
              <a:t>() function.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900" dirty="0">
                <a:cs typeface="Times New Roman" panose="02020603050405020304" pitchFamily="18" charset="0"/>
              </a:rPr>
              <a:t>Print(): output the linked list (from head to tail).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kumimoji="1" lang="en-US" altLang="zh-CN" sz="1800" dirty="0">
                <a:cs typeface="Times New Roman" panose="02020603050405020304" pitchFamily="18" charset="0"/>
              </a:rPr>
              <a:t>Result: 1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2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3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4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5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900" dirty="0" err="1">
                <a:cs typeface="Times New Roman" panose="02020603050405020304" pitchFamily="18" charset="0"/>
              </a:rPr>
              <a:t>reversePrint</a:t>
            </a:r>
            <a:r>
              <a:rPr kumimoji="1" lang="en-US" altLang="zh-CN" sz="2900" dirty="0">
                <a:cs typeface="Times New Roman" panose="02020603050405020304" pitchFamily="18" charset="0"/>
              </a:rPr>
              <a:t>(): output the linked list (from tail to head).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kumimoji="1" lang="en-US" altLang="zh-CN" sz="1800" dirty="0">
                <a:cs typeface="Times New Roman" panose="02020603050405020304" pitchFamily="18" charset="0"/>
              </a:rPr>
              <a:t>Result: 5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4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3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2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1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900" dirty="0" err="1">
                <a:cs typeface="Times New Roman" panose="02020603050405020304" pitchFamily="18" charset="0"/>
              </a:rPr>
              <a:t>oddPrint</a:t>
            </a:r>
            <a:r>
              <a:rPr kumimoji="1" lang="en-US" altLang="zh-CN" sz="2900" dirty="0">
                <a:cs typeface="Times New Roman" panose="02020603050405020304" pitchFamily="18" charset="0"/>
              </a:rPr>
              <a:t>(): output odd nodes forward and then backward.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kumimoji="1" lang="en-US" altLang="zh-CN" sz="1800" dirty="0">
                <a:cs typeface="Times New Roman" panose="02020603050405020304" pitchFamily="18" charset="0"/>
              </a:rPr>
              <a:t>Result: 1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3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5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5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 3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kumimoji="1" lang="en-US" altLang="zh-CN" sz="1800" dirty="0"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912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55522-6A72-074D-915D-10B4584E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028F2-9581-9644-9709-DDDAD9446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head node of a Linked List, we know that it is a singly linked list. How to verify whether it is a circular linked list?</a:t>
            </a:r>
          </a:p>
        </p:txBody>
      </p:sp>
    </p:spTree>
    <p:extLst>
      <p:ext uri="{BB962C8B-B14F-4D97-AF65-F5344CB8AC3E}">
        <p14:creationId xmlns:p14="http://schemas.microsoft.com/office/powerpoint/2010/main" val="197239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DBA160-A8C3-9016-7E51-6ABF518DB39B}"/>
              </a:ext>
            </a:extLst>
          </p:cNvPr>
          <p:cNvSpPr txBox="1"/>
          <p:nvPr/>
        </p:nvSpPr>
        <p:spPr>
          <a:xfrm>
            <a:off x="4529137" y="2828835"/>
            <a:ext cx="4843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72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66563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3965</TotalTime>
  <Words>379</Words>
  <Application>Microsoft Macintosh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主题​​</vt:lpstr>
      <vt:lpstr>CSC3100 Data Structures</vt:lpstr>
      <vt:lpstr>Roadmap</vt:lpstr>
      <vt:lpstr>List - Recall</vt:lpstr>
      <vt:lpstr>Linked List </vt:lpstr>
      <vt:lpstr>Node in Linked List</vt:lpstr>
      <vt:lpstr>Basic Operations</vt:lpstr>
      <vt:lpstr>Toy Example </vt:lpstr>
      <vt:lpstr>Exercise</vt:lpstr>
      <vt:lpstr>Question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Zenn Kangel</dc:creator>
  <cp:lastModifiedBy>王 耀民</cp:lastModifiedBy>
  <cp:revision>43</cp:revision>
  <dcterms:created xsi:type="dcterms:W3CDTF">2021-06-22T03:40:52Z</dcterms:created>
  <dcterms:modified xsi:type="dcterms:W3CDTF">2022-09-27T05:47:19Z</dcterms:modified>
</cp:coreProperties>
</file>