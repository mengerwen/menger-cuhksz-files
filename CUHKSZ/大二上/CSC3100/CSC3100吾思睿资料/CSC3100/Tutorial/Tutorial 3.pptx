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3"/>
  </p:handoutMasterIdLst>
  <p:sldIdLst>
    <p:sldId id="261" r:id="rId2"/>
    <p:sldId id="263" r:id="rId3"/>
    <p:sldId id="267" r:id="rId4"/>
    <p:sldId id="268" r:id="rId5"/>
    <p:sldId id="269" r:id="rId6"/>
    <p:sldId id="270" r:id="rId7"/>
    <p:sldId id="276" r:id="rId8"/>
    <p:sldId id="277" r:id="rId9"/>
    <p:sldId id="278" r:id="rId10"/>
    <p:sldId id="279" r:id="rId11"/>
    <p:sldId id="264" r:id="rId12"/>
    <p:sldId id="265" r:id="rId13"/>
    <p:sldId id="266" r:id="rId14"/>
    <p:sldId id="271" r:id="rId15"/>
    <p:sldId id="272" r:id="rId16"/>
    <p:sldId id="273" r:id="rId17"/>
    <p:sldId id="275" r:id="rId18"/>
    <p:sldId id="274" r:id="rId19"/>
    <p:sldId id="280" r:id="rId20"/>
    <p:sldId id="281" r:id="rId21"/>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97"/>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6E7397B-1A44-AD34-BB20-650446ABAF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46DE7DA3-7777-433C-A1B0-28FAECFB19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9686B2-114F-448F-A96E-1604C615744D}" type="datetimeFigureOut">
              <a:rPr lang="zh-CN" altLang="en-US" smtClean="0"/>
              <a:t>2022/9/18</a:t>
            </a:fld>
            <a:endParaRPr lang="zh-CN" altLang="en-US"/>
          </a:p>
        </p:txBody>
      </p:sp>
      <p:sp>
        <p:nvSpPr>
          <p:cNvPr id="4" name="页脚占位符 3">
            <a:extLst>
              <a:ext uri="{FF2B5EF4-FFF2-40B4-BE49-F238E27FC236}">
                <a16:creationId xmlns:a16="http://schemas.microsoft.com/office/drawing/2014/main" id="{7654153A-7602-1EDE-DA9D-D564924782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15D824C-1F59-F2B4-2320-6FAE91740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720FD3-0938-4781-B9E0-0219FA558D7C}" type="slidenum">
              <a:rPr lang="zh-CN" altLang="en-US" smtClean="0"/>
              <a:t>‹#›</a:t>
            </a:fld>
            <a:endParaRPr lang="zh-CN" altLang="en-US"/>
          </a:p>
        </p:txBody>
      </p:sp>
    </p:spTree>
    <p:extLst>
      <p:ext uri="{BB962C8B-B14F-4D97-AF65-F5344CB8AC3E}">
        <p14:creationId xmlns:p14="http://schemas.microsoft.com/office/powerpoint/2010/main" val="152734985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CN" altLang="en-US"/>
              <a:t>单击此处编辑母版标题样式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5488B050-A978-4F23-AC27-94C632DE0635}" type="datetimeFigureOut">
              <a:rPr lang="zh-CN" altLang="en-US" smtClean="0"/>
              <a:t>2022/9/18</a:t>
            </a:fld>
            <a:endParaRPr lang="zh-CN"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zh-CN"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5BB5072C-8539-4217-8890-4544A60A9BB7}" type="slidenum">
              <a:rPr lang="zh-CN" altLang="en-US" smtClean="0"/>
              <a:t>‹#›</a:t>
            </a:fld>
            <a:endParaRPr lang="zh-CN"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0235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01292"/>
          </a:xfrm>
        </p:spPr>
        <p:txBody>
          <a:bodyPr/>
          <a:lstStyle>
            <a:lvl1pPr>
              <a:defRPr cap="none" baseline="0">
                <a:latin typeface="Gill Sans MT" panose="020B0502020104020203" pitchFamily="34" charset="0"/>
                <a:cs typeface="Times New Roman" panose="02020603050405020304" pitchFamily="18" charset="0"/>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251678" y="1415563"/>
            <a:ext cx="10178322" cy="4464030"/>
          </a:xfrm>
        </p:spPr>
        <p:txBody>
          <a:bodyPr>
            <a:normAutofit/>
          </a:bodyPr>
          <a:lstStyle>
            <a:lvl1pPr>
              <a:defRPr sz="28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582507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5488B050-A978-4F23-AC27-94C632DE0635}" type="datetimeFigureOut">
              <a:rPr lang="zh-CN" altLang="en-US" smtClean="0"/>
              <a:t>2022/9/18</a:t>
            </a:fld>
            <a:endParaRPr lang="zh-CN"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5BB5072C-8539-4217-8890-4544A60A9BB7}" type="slidenum">
              <a:rPr lang="zh-CN" altLang="en-US" smtClean="0"/>
              <a:t>‹#›</a:t>
            </a:fld>
            <a:endParaRPr lang="zh-CN" alt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50063356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17622560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257300" y="2909102"/>
            <a:ext cx="4800600" cy="2996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633864" y="2909102"/>
            <a:ext cx="4800600" cy="299639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14650758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1561960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2039713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CN" altLang="en-US"/>
              <a:t>单击此处编辑母版标题样式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65051" y="6375679"/>
            <a:ext cx="1233355" cy="348462"/>
          </a:xfrm>
        </p:spPr>
        <p:txBody>
          <a:bodyPr/>
          <a:lstStyle/>
          <a:p>
            <a:fld id="{5488B050-A978-4F23-AC27-94C632DE0635}" type="datetimeFigureOut">
              <a:rPr lang="zh-CN" altLang="en-US" smtClean="0"/>
              <a:t>2022/9/18</a:t>
            </a:fld>
            <a:endParaRPr lang="zh-CN" altLang="en-US"/>
          </a:p>
        </p:txBody>
      </p:sp>
      <p:sp>
        <p:nvSpPr>
          <p:cNvPr id="6" name="Footer Placeholder 5"/>
          <p:cNvSpPr>
            <a:spLocks noGrp="1"/>
          </p:cNvSpPr>
          <p:nvPr>
            <p:ph type="ftr" sz="quarter" idx="11"/>
          </p:nvPr>
        </p:nvSpPr>
        <p:spPr>
          <a:xfrm>
            <a:off x="2103620" y="6375679"/>
            <a:ext cx="3482179" cy="345796"/>
          </a:xfrm>
        </p:spPr>
        <p:txBody>
          <a:bodyPr/>
          <a:lstStyle/>
          <a:p>
            <a:endParaRPr lang="zh-CN" altLang="en-US"/>
          </a:p>
        </p:txBody>
      </p:sp>
      <p:sp>
        <p:nvSpPr>
          <p:cNvPr id="7" name="Slide Number Placeholder 6"/>
          <p:cNvSpPr>
            <a:spLocks noGrp="1"/>
          </p:cNvSpPr>
          <p:nvPr>
            <p:ph type="sldNum" sz="quarter" idx="12"/>
          </p:nvPr>
        </p:nvSpPr>
        <p:spPr>
          <a:xfrm>
            <a:off x="5691014" y="6375679"/>
            <a:ext cx="1232456" cy="345796"/>
          </a:xfrm>
        </p:spPr>
        <p:txBody>
          <a:bodyPr/>
          <a:lstStyle/>
          <a:p>
            <a:fld id="{5BB5072C-8539-4217-8890-4544A60A9BB7}" type="slidenum">
              <a:rPr lang="zh-CN" altLang="en-US" smtClean="0"/>
              <a:t>‹#›</a:t>
            </a:fld>
            <a:endParaRPr lang="zh-CN"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21467358"/>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65950" y="6375679"/>
            <a:ext cx="1232456" cy="348462"/>
          </a:xfrm>
        </p:spPr>
        <p:txBody>
          <a:bodyPr/>
          <a:lstStyle/>
          <a:p>
            <a:fld id="{5488B050-A978-4F23-AC27-94C632DE0635}" type="datetimeFigureOut">
              <a:rPr lang="zh-CN" altLang="en-US" smtClean="0"/>
              <a:t>2022/9/18</a:t>
            </a:fld>
            <a:endParaRPr lang="zh-CN" altLang="en-US"/>
          </a:p>
        </p:txBody>
      </p:sp>
      <p:sp>
        <p:nvSpPr>
          <p:cNvPr id="6" name="Footer Placeholder 5"/>
          <p:cNvSpPr>
            <a:spLocks noGrp="1"/>
          </p:cNvSpPr>
          <p:nvPr>
            <p:ph type="ftr" sz="quarter" idx="11"/>
          </p:nvPr>
        </p:nvSpPr>
        <p:spPr>
          <a:xfrm>
            <a:off x="2103621" y="6375679"/>
            <a:ext cx="3482178" cy="345796"/>
          </a:xfrm>
        </p:spPr>
        <p:txBody>
          <a:bodyPr/>
          <a:lstStyle/>
          <a:p>
            <a:endParaRPr lang="zh-CN" altLang="en-US"/>
          </a:p>
        </p:txBody>
      </p:sp>
      <p:sp>
        <p:nvSpPr>
          <p:cNvPr id="7" name="Slide Number Placeholder 6"/>
          <p:cNvSpPr>
            <a:spLocks noGrp="1"/>
          </p:cNvSpPr>
          <p:nvPr>
            <p:ph type="sldNum" sz="quarter" idx="12"/>
          </p:nvPr>
        </p:nvSpPr>
        <p:spPr>
          <a:xfrm>
            <a:off x="5687568" y="6375679"/>
            <a:ext cx="1234440" cy="345796"/>
          </a:xfrm>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4166983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27606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488B050-A978-4F23-AC27-94C632DE0635}" type="datetimeFigureOut">
              <a:rPr lang="zh-CN" altLang="en-US" smtClean="0"/>
              <a:t>2022/9/18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B5072C-8539-4217-8890-4544A60A9BB7}" type="slidenum">
              <a:rPr lang="zh-CN" altLang="en-US" smtClean="0"/>
              <a:t>‹#›</a:t>
            </a:fld>
            <a:endParaRPr lang="zh-CN" altLang="en-US"/>
          </a:p>
        </p:txBody>
      </p:sp>
    </p:spTree>
    <p:extLst>
      <p:ext uri="{BB962C8B-B14F-4D97-AF65-F5344CB8AC3E}">
        <p14:creationId xmlns:p14="http://schemas.microsoft.com/office/powerpoint/2010/main" val="2714884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5488B050-A978-4F23-AC27-94C632DE0635}" type="datetimeFigureOut">
              <a:rPr lang="zh-CN" altLang="en-US" smtClean="0"/>
              <a:t>2022/9/18</a:t>
            </a:fld>
            <a:endParaRPr lang="zh-CN" alt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5BB5072C-8539-4217-8890-4544A60A9BB7}" type="slidenum">
              <a:rPr lang="zh-CN" altLang="en-US" smtClean="0"/>
              <a:t>‹#›</a:t>
            </a:fld>
            <a:endParaRPr lang="zh-CN" alt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43146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AECBF-BF75-994F-B394-7A40D93666C1}"/>
              </a:ext>
            </a:extLst>
          </p:cNvPr>
          <p:cNvSpPr>
            <a:spLocks noGrp="1"/>
          </p:cNvSpPr>
          <p:nvPr>
            <p:ph type="ctrTitle"/>
          </p:nvPr>
        </p:nvSpPr>
        <p:spPr/>
        <p:txBody>
          <a:bodyPr/>
          <a:lstStyle/>
          <a:p>
            <a:r>
              <a:rPr lang="en-US" altLang="zh-CN" cap="none" dirty="0"/>
              <a:t>Tutorial 3</a:t>
            </a:r>
            <a:endParaRPr lang="zh-CN" altLang="en-US" cap="none" dirty="0"/>
          </a:p>
        </p:txBody>
      </p:sp>
    </p:spTree>
    <p:extLst>
      <p:ext uri="{BB962C8B-B14F-4D97-AF65-F5344CB8AC3E}">
        <p14:creationId xmlns:p14="http://schemas.microsoft.com/office/powerpoint/2010/main" val="1604872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FB9338-4918-3798-02C9-B545E054861E}"/>
              </a:ext>
            </a:extLst>
          </p:cNvPr>
          <p:cNvSpPr>
            <a:spLocks noGrp="1"/>
          </p:cNvSpPr>
          <p:nvPr>
            <p:ph type="title"/>
          </p:nvPr>
        </p:nvSpPr>
        <p:spPr/>
        <p:txBody>
          <a:bodyPr/>
          <a:lstStyle/>
          <a:p>
            <a:r>
              <a:rPr lang="en-US" altLang="zh-CN" dirty="0"/>
              <a:t>Outline</a:t>
            </a:r>
            <a:endParaRPr lang="zh-CN" altLang="en-US" dirty="0"/>
          </a:p>
        </p:txBody>
      </p:sp>
      <p:sp>
        <p:nvSpPr>
          <p:cNvPr id="3" name="内容占位符 2">
            <a:extLst>
              <a:ext uri="{FF2B5EF4-FFF2-40B4-BE49-F238E27FC236}">
                <a16:creationId xmlns:a16="http://schemas.microsoft.com/office/drawing/2014/main" id="{462FFE04-C396-72CE-2CB8-41F4C295353B}"/>
              </a:ext>
            </a:extLst>
          </p:cNvPr>
          <p:cNvSpPr>
            <a:spLocks noGrp="1"/>
          </p:cNvSpPr>
          <p:nvPr>
            <p:ph idx="1"/>
          </p:nvPr>
        </p:nvSpPr>
        <p:spPr/>
        <p:txBody>
          <a:bodyPr>
            <a:normAutofit/>
          </a:bodyPr>
          <a:lstStyle/>
          <a:p>
            <a:r>
              <a:rPr lang="en-US" altLang="zh-CN" sz="3200" dirty="0"/>
              <a:t>Comparison-Based</a:t>
            </a:r>
          </a:p>
          <a:p>
            <a:pPr lvl="1"/>
            <a:r>
              <a:rPr lang="en-US" altLang="zh-CN" sz="2800" dirty="0"/>
              <a:t>Selection Sort</a:t>
            </a:r>
          </a:p>
          <a:p>
            <a:pPr lvl="1"/>
            <a:r>
              <a:rPr lang="en-US" altLang="zh-CN" sz="2800" dirty="0"/>
              <a:t>Bubble Sort (Tutorial 2)</a:t>
            </a:r>
          </a:p>
          <a:p>
            <a:pPr lvl="1"/>
            <a:r>
              <a:rPr lang="en-US" altLang="zh-CN" sz="2800" dirty="0"/>
              <a:t>Cocktail Sort</a:t>
            </a:r>
          </a:p>
          <a:p>
            <a:pPr lvl="1"/>
            <a:r>
              <a:rPr lang="en-US" altLang="zh-CN" sz="2800" dirty="0"/>
              <a:t>Insertion Sort</a:t>
            </a:r>
          </a:p>
          <a:p>
            <a:pPr lvl="1"/>
            <a:r>
              <a:rPr lang="en-US" altLang="zh-CN" sz="2800" dirty="0"/>
              <a:t>Merge Sort</a:t>
            </a:r>
          </a:p>
          <a:p>
            <a:pPr lvl="1"/>
            <a:r>
              <a:rPr lang="en-US" altLang="zh-CN" sz="2800" dirty="0"/>
              <a:t>Tim Sort(*)</a:t>
            </a:r>
          </a:p>
          <a:p>
            <a:endParaRPr lang="en-US" altLang="zh-CN" dirty="0"/>
          </a:p>
          <a:p>
            <a:endParaRPr lang="zh-CN" altLang="en-US" dirty="0"/>
          </a:p>
        </p:txBody>
      </p:sp>
    </p:spTree>
    <p:extLst>
      <p:ext uri="{BB962C8B-B14F-4D97-AF65-F5344CB8AC3E}">
        <p14:creationId xmlns:p14="http://schemas.microsoft.com/office/powerpoint/2010/main" val="1744766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4E32E-E78E-8AF9-F296-F86CFC017398}"/>
              </a:ext>
            </a:extLst>
          </p:cNvPr>
          <p:cNvSpPr>
            <a:spLocks noGrp="1"/>
          </p:cNvSpPr>
          <p:nvPr>
            <p:ph type="title"/>
          </p:nvPr>
        </p:nvSpPr>
        <p:spPr/>
        <p:txBody>
          <a:bodyPr/>
          <a:lstStyle/>
          <a:p>
            <a:r>
              <a:rPr lang="en-US" altLang="zh-CN" dirty="0"/>
              <a:t>Selection Sort </a:t>
            </a:r>
            <a:endParaRPr lang="zh-CN" altLang="en-US" dirty="0"/>
          </a:p>
        </p:txBody>
      </p:sp>
      <p:sp>
        <p:nvSpPr>
          <p:cNvPr id="3" name="内容占位符 2">
            <a:extLst>
              <a:ext uri="{FF2B5EF4-FFF2-40B4-BE49-F238E27FC236}">
                <a16:creationId xmlns:a16="http://schemas.microsoft.com/office/drawing/2014/main" id="{38FE5136-98F2-DA9D-7B4D-180338265C72}"/>
              </a:ext>
            </a:extLst>
          </p:cNvPr>
          <p:cNvSpPr>
            <a:spLocks noGrp="1"/>
          </p:cNvSpPr>
          <p:nvPr>
            <p:ph idx="1"/>
          </p:nvPr>
        </p:nvSpPr>
        <p:spPr/>
        <p:txBody>
          <a:bodyPr/>
          <a:lstStyle/>
          <a:p>
            <a:r>
              <a:rPr lang="en-US" altLang="zh-CN" dirty="0"/>
              <a:t>Selection sort is a sorting algorithm that selects the smallest element from an unsorted list in each iteration and places that element at the beginning of the unsorted list.</a:t>
            </a:r>
            <a:endParaRPr lang="zh-CN" altLang="en-US" dirty="0"/>
          </a:p>
        </p:txBody>
      </p:sp>
    </p:spTree>
    <p:extLst>
      <p:ext uri="{BB962C8B-B14F-4D97-AF65-F5344CB8AC3E}">
        <p14:creationId xmlns:p14="http://schemas.microsoft.com/office/powerpoint/2010/main" val="1546148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5043A-C8EB-0F69-6566-73DFAB8D46B3}"/>
              </a:ext>
            </a:extLst>
          </p:cNvPr>
          <p:cNvSpPr>
            <a:spLocks noGrp="1"/>
          </p:cNvSpPr>
          <p:nvPr>
            <p:ph type="title"/>
          </p:nvPr>
        </p:nvSpPr>
        <p:spPr/>
        <p:txBody>
          <a:bodyPr/>
          <a:lstStyle/>
          <a:p>
            <a:r>
              <a:rPr lang="en-US" altLang="zh-CN" dirty="0"/>
              <a:t>A toy example (From </a:t>
            </a:r>
            <a:r>
              <a:rPr lang="en-US" altLang="zh-CN" dirty="0" err="1"/>
              <a:t>Programiz</a:t>
            </a:r>
            <a:r>
              <a:rPr lang="en-US" altLang="zh-CN" dirty="0"/>
              <a:t>)</a:t>
            </a:r>
            <a:endParaRPr lang="zh-CN" altLang="en-US" dirty="0"/>
          </a:p>
        </p:txBody>
      </p:sp>
      <p:pic>
        <p:nvPicPr>
          <p:cNvPr id="3074" name="Picture 2" descr="Selection Sort Steps">
            <a:extLst>
              <a:ext uri="{FF2B5EF4-FFF2-40B4-BE49-F238E27FC236}">
                <a16:creationId xmlns:a16="http://schemas.microsoft.com/office/drawing/2014/main" id="{BC550567-55A1-40B9-3DFB-8340377BD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335" y="910069"/>
            <a:ext cx="5000184" cy="576021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election sort steps">
            <a:extLst>
              <a:ext uri="{FF2B5EF4-FFF2-40B4-BE49-F238E27FC236}">
                <a16:creationId xmlns:a16="http://schemas.microsoft.com/office/drawing/2014/main" id="{A467314E-9772-1349-68B9-B4CC96E9B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059" y="1206631"/>
            <a:ext cx="4957284" cy="4755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71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lection sort steps">
            <a:extLst>
              <a:ext uri="{FF2B5EF4-FFF2-40B4-BE49-F238E27FC236}">
                <a16:creationId xmlns:a16="http://schemas.microsoft.com/office/drawing/2014/main" id="{EDAA68C1-9952-84CB-E6F6-5FC28A85B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156" y="849782"/>
            <a:ext cx="5780612" cy="451741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election sort steps">
            <a:extLst>
              <a:ext uri="{FF2B5EF4-FFF2-40B4-BE49-F238E27FC236}">
                <a16:creationId xmlns:a16="http://schemas.microsoft.com/office/drawing/2014/main" id="{13A6BDA1-19F4-3200-4692-9D5494BBA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0722" y="1490808"/>
            <a:ext cx="5871278" cy="3479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229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8E0F8-0F86-CC97-F836-449C9F471D16}"/>
              </a:ext>
            </a:extLst>
          </p:cNvPr>
          <p:cNvSpPr>
            <a:spLocks noGrp="1"/>
          </p:cNvSpPr>
          <p:nvPr>
            <p:ph type="title"/>
          </p:nvPr>
        </p:nvSpPr>
        <p:spPr/>
        <p:txBody>
          <a:bodyPr/>
          <a:lstStyle/>
          <a:p>
            <a:r>
              <a:rPr lang="en-US" altLang="zh-CN" dirty="0"/>
              <a:t>Selection Sort</a:t>
            </a:r>
            <a:endParaRPr lang="zh-CN" altLang="en-US" dirty="0"/>
          </a:p>
        </p:txBody>
      </p:sp>
      <p:pic>
        <p:nvPicPr>
          <p:cNvPr id="7" name="图片 6">
            <a:extLst>
              <a:ext uri="{FF2B5EF4-FFF2-40B4-BE49-F238E27FC236}">
                <a16:creationId xmlns:a16="http://schemas.microsoft.com/office/drawing/2014/main" id="{66590767-8DE3-D76B-9D90-2CCD43124487}"/>
              </a:ext>
            </a:extLst>
          </p:cNvPr>
          <p:cNvPicPr>
            <a:picLocks noChangeAspect="1"/>
          </p:cNvPicPr>
          <p:nvPr/>
        </p:nvPicPr>
        <p:blipFill>
          <a:blip r:embed="rId2"/>
          <a:stretch>
            <a:fillRect/>
          </a:stretch>
        </p:blipFill>
        <p:spPr>
          <a:xfrm>
            <a:off x="1251678" y="1500405"/>
            <a:ext cx="10313511" cy="4026874"/>
          </a:xfrm>
          <a:prstGeom prst="rect">
            <a:avLst/>
          </a:prstGeom>
        </p:spPr>
      </p:pic>
    </p:spTree>
    <p:extLst>
      <p:ext uri="{BB962C8B-B14F-4D97-AF65-F5344CB8AC3E}">
        <p14:creationId xmlns:p14="http://schemas.microsoft.com/office/powerpoint/2010/main" val="507501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BC2CFF-F679-9225-2180-0CF3F31559FE}"/>
              </a:ext>
            </a:extLst>
          </p:cNvPr>
          <p:cNvSpPr>
            <a:spLocks noGrp="1"/>
          </p:cNvSpPr>
          <p:nvPr>
            <p:ph type="title"/>
          </p:nvPr>
        </p:nvSpPr>
        <p:spPr/>
        <p:txBody>
          <a:bodyPr/>
          <a:lstStyle/>
          <a:p>
            <a:r>
              <a:rPr lang="en-US" altLang="zh-CN" dirty="0"/>
              <a:t>Cocktail Sort</a:t>
            </a:r>
            <a:endParaRPr lang="zh-CN" altLang="en-US" dirty="0"/>
          </a:p>
        </p:txBody>
      </p:sp>
      <p:sp>
        <p:nvSpPr>
          <p:cNvPr id="3" name="内容占位符 2">
            <a:extLst>
              <a:ext uri="{FF2B5EF4-FFF2-40B4-BE49-F238E27FC236}">
                <a16:creationId xmlns:a16="http://schemas.microsoft.com/office/drawing/2014/main" id="{A60363EA-7400-F8F7-855E-2FDB7F89411A}"/>
              </a:ext>
            </a:extLst>
          </p:cNvPr>
          <p:cNvSpPr>
            <a:spLocks noGrp="1"/>
          </p:cNvSpPr>
          <p:nvPr>
            <p:ph idx="1"/>
          </p:nvPr>
        </p:nvSpPr>
        <p:spPr/>
        <p:txBody>
          <a:bodyPr/>
          <a:lstStyle/>
          <a:p>
            <a:r>
              <a:rPr lang="en-US" altLang="zh-CN" b="0" i="0" dirty="0">
                <a:solidFill>
                  <a:srgbClr val="273239"/>
                </a:solidFill>
                <a:effectLst/>
                <a:latin typeface="urw-din"/>
              </a:rPr>
              <a:t>Cocktail Sort is a variation of </a:t>
            </a:r>
            <a:r>
              <a:rPr lang="en-US" altLang="zh-CN" b="0" i="0" dirty="0">
                <a:effectLst/>
                <a:latin typeface="urw-din"/>
              </a:rPr>
              <a:t>Bubble sort</a:t>
            </a:r>
            <a:r>
              <a:rPr lang="en-US" altLang="zh-CN" b="0" i="0" dirty="0">
                <a:solidFill>
                  <a:srgbClr val="273239"/>
                </a:solidFill>
                <a:effectLst/>
                <a:latin typeface="urw-din"/>
              </a:rPr>
              <a:t>. The Bubble sort algorithm always traverses elements from left and moves the largest element to its correct position in the first iteration and second-largest in the second iteration and so on. Cocktail Sort traverses through a given array in both directions alternatively. Cocktail sort does not go through the unnecessary iteration making it efficient for large arrays.</a:t>
            </a:r>
            <a:endParaRPr lang="zh-CN" altLang="en-US" dirty="0"/>
          </a:p>
        </p:txBody>
      </p:sp>
    </p:spTree>
    <p:extLst>
      <p:ext uri="{BB962C8B-B14F-4D97-AF65-F5344CB8AC3E}">
        <p14:creationId xmlns:p14="http://schemas.microsoft.com/office/powerpoint/2010/main" val="163482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AC06D-A1FB-B27C-0502-3B78904594C8}"/>
              </a:ext>
            </a:extLst>
          </p:cNvPr>
          <p:cNvSpPr>
            <a:spLocks noGrp="1"/>
          </p:cNvSpPr>
          <p:nvPr>
            <p:ph type="title"/>
          </p:nvPr>
        </p:nvSpPr>
        <p:spPr/>
        <p:txBody>
          <a:bodyPr>
            <a:normAutofit fontScale="90000"/>
          </a:bodyPr>
          <a:lstStyle/>
          <a:p>
            <a:r>
              <a:rPr lang="en-US" altLang="zh-CN" dirty="0"/>
              <a:t>A toy example (From </a:t>
            </a:r>
            <a:r>
              <a:rPr lang="en-US" altLang="zh-CN" dirty="0" err="1"/>
              <a:t>GeeksforGeeks</a:t>
            </a:r>
            <a:r>
              <a:rPr lang="en-US" altLang="zh-CN" dirty="0"/>
              <a:t>)</a:t>
            </a:r>
            <a:endParaRPr lang="zh-CN" altLang="en-US" dirty="0"/>
          </a:p>
        </p:txBody>
      </p:sp>
      <p:sp>
        <p:nvSpPr>
          <p:cNvPr id="3" name="内容占位符 2">
            <a:extLst>
              <a:ext uri="{FF2B5EF4-FFF2-40B4-BE49-F238E27FC236}">
                <a16:creationId xmlns:a16="http://schemas.microsoft.com/office/drawing/2014/main" id="{DB53844F-C7D1-4A2B-3378-2C6C767E8107}"/>
              </a:ext>
            </a:extLst>
          </p:cNvPr>
          <p:cNvSpPr>
            <a:spLocks noGrp="1"/>
          </p:cNvSpPr>
          <p:nvPr>
            <p:ph idx="1"/>
          </p:nvPr>
        </p:nvSpPr>
        <p:spPr/>
        <p:txBody>
          <a:bodyPr/>
          <a:lstStyle/>
          <a:p>
            <a:r>
              <a:rPr lang="en-US" altLang="zh-CN" b="1" i="0" dirty="0">
                <a:solidFill>
                  <a:srgbClr val="273239"/>
                </a:solidFill>
                <a:effectLst/>
                <a:latin typeface="urw-din"/>
              </a:rPr>
              <a:t>First Forward Pass:</a:t>
            </a:r>
            <a:r>
              <a:rPr lang="en-US" altLang="zh-CN" b="0" i="0" dirty="0">
                <a:solidFill>
                  <a:srgbClr val="273239"/>
                </a:solidFill>
                <a:effectLst/>
                <a:latin typeface="urw-din"/>
              </a:rPr>
              <a:t> </a:t>
            </a:r>
            <a:br>
              <a:rPr lang="en-US" altLang="zh-CN" dirty="0"/>
            </a:br>
            <a:r>
              <a:rPr lang="en-US" altLang="zh-CN" b="0" i="0" dirty="0">
                <a:solidFill>
                  <a:srgbClr val="273239"/>
                </a:solidFill>
                <a:effectLst/>
                <a:latin typeface="urw-din"/>
              </a:rPr>
              <a:t>(</a:t>
            </a:r>
            <a:r>
              <a:rPr lang="en-US" altLang="zh-CN" b="1" i="0" dirty="0">
                <a:solidFill>
                  <a:srgbClr val="273239"/>
                </a:solidFill>
                <a:effectLst/>
                <a:latin typeface="urw-din"/>
              </a:rPr>
              <a:t>5 1</a:t>
            </a:r>
            <a:r>
              <a:rPr lang="en-US" altLang="zh-CN" b="0" i="0" dirty="0">
                <a:solidFill>
                  <a:srgbClr val="273239"/>
                </a:solidFill>
                <a:effectLst/>
                <a:latin typeface="urw-din"/>
              </a:rPr>
              <a:t> 4 2 8 0 2) ? (</a:t>
            </a:r>
            <a:r>
              <a:rPr lang="en-US" altLang="zh-CN" b="1" i="0" dirty="0">
                <a:solidFill>
                  <a:srgbClr val="273239"/>
                </a:solidFill>
                <a:effectLst/>
                <a:latin typeface="urw-din"/>
              </a:rPr>
              <a:t>1 5</a:t>
            </a:r>
            <a:r>
              <a:rPr lang="en-US" altLang="zh-CN" b="0" i="0" dirty="0">
                <a:solidFill>
                  <a:srgbClr val="273239"/>
                </a:solidFill>
                <a:effectLst/>
                <a:latin typeface="urw-din"/>
              </a:rPr>
              <a:t> 4 2 8 0 2), Swap since 5 &gt; 1 </a:t>
            </a:r>
            <a:br>
              <a:rPr lang="en-US" altLang="zh-CN" dirty="0"/>
            </a:br>
            <a:r>
              <a:rPr lang="en-US" altLang="zh-CN" b="0" i="0" dirty="0">
                <a:solidFill>
                  <a:srgbClr val="273239"/>
                </a:solidFill>
                <a:effectLst/>
                <a:latin typeface="urw-din"/>
              </a:rPr>
              <a:t>(1 </a:t>
            </a:r>
            <a:r>
              <a:rPr lang="en-US" altLang="zh-CN" b="1" i="0" dirty="0">
                <a:solidFill>
                  <a:srgbClr val="273239"/>
                </a:solidFill>
                <a:effectLst/>
                <a:latin typeface="urw-din"/>
              </a:rPr>
              <a:t>5 4</a:t>
            </a:r>
            <a:r>
              <a:rPr lang="en-US" altLang="zh-CN" b="0" i="0" dirty="0">
                <a:solidFill>
                  <a:srgbClr val="273239"/>
                </a:solidFill>
                <a:effectLst/>
                <a:latin typeface="urw-din"/>
              </a:rPr>
              <a:t> 2 8 0 2) ? (1 </a:t>
            </a:r>
            <a:r>
              <a:rPr lang="en-US" altLang="zh-CN" b="1" i="0" dirty="0">
                <a:solidFill>
                  <a:srgbClr val="273239"/>
                </a:solidFill>
                <a:effectLst/>
                <a:latin typeface="urw-din"/>
              </a:rPr>
              <a:t>4 5</a:t>
            </a:r>
            <a:r>
              <a:rPr lang="en-US" altLang="zh-CN" b="0" i="0" dirty="0">
                <a:solidFill>
                  <a:srgbClr val="273239"/>
                </a:solidFill>
                <a:effectLst/>
                <a:latin typeface="urw-din"/>
              </a:rPr>
              <a:t> 2 8 0 2), Swap since 5 &gt; 4 </a:t>
            </a:r>
            <a:br>
              <a:rPr lang="en-US" altLang="zh-CN" dirty="0"/>
            </a:br>
            <a:r>
              <a:rPr lang="en-US" altLang="zh-CN" b="0" i="0" dirty="0">
                <a:solidFill>
                  <a:srgbClr val="273239"/>
                </a:solidFill>
                <a:effectLst/>
                <a:latin typeface="urw-din"/>
              </a:rPr>
              <a:t>(1 4 </a:t>
            </a:r>
            <a:r>
              <a:rPr lang="en-US" altLang="zh-CN" b="1" i="0" dirty="0">
                <a:solidFill>
                  <a:srgbClr val="273239"/>
                </a:solidFill>
                <a:effectLst/>
                <a:latin typeface="urw-din"/>
              </a:rPr>
              <a:t>5 2</a:t>
            </a:r>
            <a:r>
              <a:rPr lang="en-US" altLang="zh-CN" b="0" i="0" dirty="0">
                <a:solidFill>
                  <a:srgbClr val="273239"/>
                </a:solidFill>
                <a:effectLst/>
                <a:latin typeface="urw-din"/>
              </a:rPr>
              <a:t> 8 0 2) ? (1 4 </a:t>
            </a:r>
            <a:r>
              <a:rPr lang="en-US" altLang="zh-CN" b="1" i="0" dirty="0">
                <a:solidFill>
                  <a:srgbClr val="273239"/>
                </a:solidFill>
                <a:effectLst/>
                <a:latin typeface="urw-din"/>
              </a:rPr>
              <a:t>2 5</a:t>
            </a:r>
            <a:r>
              <a:rPr lang="en-US" altLang="zh-CN" b="0" i="0" dirty="0">
                <a:solidFill>
                  <a:srgbClr val="273239"/>
                </a:solidFill>
                <a:effectLst/>
                <a:latin typeface="urw-din"/>
              </a:rPr>
              <a:t> 8 0 2), Swap since 5 &gt; 2 </a:t>
            </a:r>
            <a:br>
              <a:rPr lang="en-US" altLang="zh-CN" dirty="0"/>
            </a:br>
            <a:r>
              <a:rPr lang="en-US" altLang="zh-CN" b="0" i="0" dirty="0">
                <a:solidFill>
                  <a:srgbClr val="273239"/>
                </a:solidFill>
                <a:effectLst/>
                <a:latin typeface="urw-din"/>
              </a:rPr>
              <a:t>(1 4 2 </a:t>
            </a:r>
            <a:r>
              <a:rPr lang="en-US" altLang="zh-CN" b="1" i="0" dirty="0">
                <a:solidFill>
                  <a:srgbClr val="273239"/>
                </a:solidFill>
                <a:effectLst/>
                <a:latin typeface="urw-din"/>
              </a:rPr>
              <a:t>5 8</a:t>
            </a:r>
            <a:r>
              <a:rPr lang="en-US" altLang="zh-CN" b="0" i="0" dirty="0">
                <a:solidFill>
                  <a:srgbClr val="273239"/>
                </a:solidFill>
                <a:effectLst/>
                <a:latin typeface="urw-din"/>
              </a:rPr>
              <a:t> 0 2) ? (1 4 2 </a:t>
            </a:r>
            <a:r>
              <a:rPr lang="en-US" altLang="zh-CN" b="1" i="0" dirty="0">
                <a:solidFill>
                  <a:srgbClr val="273239"/>
                </a:solidFill>
                <a:effectLst/>
                <a:latin typeface="urw-din"/>
              </a:rPr>
              <a:t>5 8</a:t>
            </a:r>
            <a:r>
              <a:rPr lang="en-US" altLang="zh-CN" b="0" i="0" dirty="0">
                <a:solidFill>
                  <a:srgbClr val="273239"/>
                </a:solidFill>
                <a:effectLst/>
                <a:latin typeface="urw-din"/>
              </a:rPr>
              <a:t> 0 2) </a:t>
            </a:r>
            <a:br>
              <a:rPr lang="en-US" altLang="zh-CN" dirty="0"/>
            </a:br>
            <a:r>
              <a:rPr lang="en-US" altLang="zh-CN" b="0" i="0" dirty="0">
                <a:solidFill>
                  <a:srgbClr val="273239"/>
                </a:solidFill>
                <a:effectLst/>
                <a:latin typeface="urw-din"/>
              </a:rPr>
              <a:t>(1 4 2 5 </a:t>
            </a:r>
            <a:r>
              <a:rPr lang="en-US" altLang="zh-CN" b="1" i="0" dirty="0">
                <a:solidFill>
                  <a:srgbClr val="273239"/>
                </a:solidFill>
                <a:effectLst/>
                <a:latin typeface="urw-din"/>
              </a:rPr>
              <a:t>8 0</a:t>
            </a:r>
            <a:r>
              <a:rPr lang="en-US" altLang="zh-CN" b="0" i="0" dirty="0">
                <a:solidFill>
                  <a:srgbClr val="273239"/>
                </a:solidFill>
                <a:effectLst/>
                <a:latin typeface="urw-din"/>
              </a:rPr>
              <a:t> 2) ? (1 4 2 5 </a:t>
            </a:r>
            <a:r>
              <a:rPr lang="en-US" altLang="zh-CN" b="1" i="0" dirty="0">
                <a:solidFill>
                  <a:srgbClr val="273239"/>
                </a:solidFill>
                <a:effectLst/>
                <a:latin typeface="urw-din"/>
              </a:rPr>
              <a:t>0 8</a:t>
            </a:r>
            <a:r>
              <a:rPr lang="en-US" altLang="zh-CN" b="0" i="0" dirty="0">
                <a:solidFill>
                  <a:srgbClr val="273239"/>
                </a:solidFill>
                <a:effectLst/>
                <a:latin typeface="urw-din"/>
              </a:rPr>
              <a:t> 2), Swap since 8 &gt; 0 </a:t>
            </a:r>
            <a:br>
              <a:rPr lang="en-US" altLang="zh-CN" dirty="0"/>
            </a:br>
            <a:r>
              <a:rPr lang="en-US" altLang="zh-CN" b="0" i="0" dirty="0">
                <a:solidFill>
                  <a:srgbClr val="273239"/>
                </a:solidFill>
                <a:effectLst/>
                <a:latin typeface="urw-din"/>
              </a:rPr>
              <a:t>(1 4 2 5 0 </a:t>
            </a:r>
            <a:r>
              <a:rPr lang="en-US" altLang="zh-CN" b="1" i="0" dirty="0">
                <a:solidFill>
                  <a:srgbClr val="273239"/>
                </a:solidFill>
                <a:effectLst/>
                <a:latin typeface="urw-din"/>
              </a:rPr>
              <a:t>8 2</a:t>
            </a:r>
            <a:r>
              <a:rPr lang="en-US" altLang="zh-CN" b="0" i="0" dirty="0">
                <a:solidFill>
                  <a:srgbClr val="273239"/>
                </a:solidFill>
                <a:effectLst/>
                <a:latin typeface="urw-din"/>
              </a:rPr>
              <a:t>) ? (1 4 2 5 0 </a:t>
            </a:r>
            <a:r>
              <a:rPr lang="en-US" altLang="zh-CN" b="1" i="0" dirty="0">
                <a:solidFill>
                  <a:srgbClr val="273239"/>
                </a:solidFill>
                <a:effectLst/>
                <a:latin typeface="urw-din"/>
              </a:rPr>
              <a:t>2 8</a:t>
            </a:r>
            <a:r>
              <a:rPr lang="en-US" altLang="zh-CN" b="0" i="0" dirty="0">
                <a:solidFill>
                  <a:srgbClr val="273239"/>
                </a:solidFill>
                <a:effectLst/>
                <a:latin typeface="urw-din"/>
              </a:rPr>
              <a:t>), Swap since 8 &gt; 2</a:t>
            </a:r>
            <a:endParaRPr lang="zh-CN" altLang="en-US" dirty="0"/>
          </a:p>
        </p:txBody>
      </p:sp>
    </p:spTree>
    <p:extLst>
      <p:ext uri="{BB962C8B-B14F-4D97-AF65-F5344CB8AC3E}">
        <p14:creationId xmlns:p14="http://schemas.microsoft.com/office/powerpoint/2010/main" val="1867159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D855819-53F3-9CFD-3732-B1B4337B1641}"/>
              </a:ext>
            </a:extLst>
          </p:cNvPr>
          <p:cNvSpPr>
            <a:spLocks noGrp="1"/>
          </p:cNvSpPr>
          <p:nvPr>
            <p:ph idx="1"/>
          </p:nvPr>
        </p:nvSpPr>
        <p:spPr>
          <a:xfrm>
            <a:off x="1251678" y="386500"/>
            <a:ext cx="10178322" cy="5967166"/>
          </a:xfrm>
        </p:spPr>
        <p:txBody>
          <a:bodyPr>
            <a:normAutofit lnSpcReduction="10000"/>
          </a:bodyPr>
          <a:lstStyle/>
          <a:p>
            <a:r>
              <a:rPr lang="en-US" altLang="zh-CN" b="1" i="0" dirty="0">
                <a:solidFill>
                  <a:srgbClr val="273239"/>
                </a:solidFill>
                <a:effectLst/>
                <a:latin typeface="urw-din"/>
              </a:rPr>
              <a:t>First Backward Pass:</a:t>
            </a:r>
            <a:r>
              <a:rPr lang="en-US" altLang="zh-CN" b="0" i="0" dirty="0">
                <a:solidFill>
                  <a:srgbClr val="273239"/>
                </a:solidFill>
                <a:effectLst/>
                <a:latin typeface="urw-din"/>
              </a:rPr>
              <a:t> </a:t>
            </a:r>
            <a:br>
              <a:rPr lang="en-US" altLang="zh-CN" dirty="0"/>
            </a:br>
            <a:r>
              <a:rPr lang="en-US" altLang="zh-CN" b="0" i="0" dirty="0">
                <a:solidFill>
                  <a:srgbClr val="273239"/>
                </a:solidFill>
                <a:effectLst/>
                <a:latin typeface="urw-din"/>
              </a:rPr>
              <a:t>(1 4 2 5 </a:t>
            </a:r>
            <a:r>
              <a:rPr lang="en-US" altLang="zh-CN" b="1" i="0" dirty="0">
                <a:solidFill>
                  <a:srgbClr val="273239"/>
                </a:solidFill>
                <a:effectLst/>
                <a:latin typeface="urw-din"/>
              </a:rPr>
              <a:t>0 2</a:t>
            </a:r>
            <a:r>
              <a:rPr lang="en-US" altLang="zh-CN" b="0" i="0" dirty="0">
                <a:solidFill>
                  <a:srgbClr val="273239"/>
                </a:solidFill>
                <a:effectLst/>
                <a:latin typeface="urw-din"/>
              </a:rPr>
              <a:t> 8) ? (1 4 2 5 </a:t>
            </a:r>
            <a:r>
              <a:rPr lang="en-US" altLang="zh-CN" b="1" i="0" dirty="0">
                <a:solidFill>
                  <a:srgbClr val="273239"/>
                </a:solidFill>
                <a:effectLst/>
                <a:latin typeface="urw-din"/>
              </a:rPr>
              <a:t>0 2</a:t>
            </a:r>
            <a:r>
              <a:rPr lang="en-US" altLang="zh-CN" b="0" i="0" dirty="0">
                <a:solidFill>
                  <a:srgbClr val="273239"/>
                </a:solidFill>
                <a:effectLst/>
                <a:latin typeface="urw-din"/>
              </a:rPr>
              <a:t> 8) </a:t>
            </a:r>
            <a:br>
              <a:rPr lang="en-US" altLang="zh-CN" dirty="0"/>
            </a:br>
            <a:r>
              <a:rPr lang="en-US" altLang="zh-CN" b="0" i="0" dirty="0">
                <a:solidFill>
                  <a:srgbClr val="273239"/>
                </a:solidFill>
                <a:effectLst/>
                <a:latin typeface="urw-din"/>
              </a:rPr>
              <a:t>(1 4 2 </a:t>
            </a:r>
            <a:r>
              <a:rPr lang="en-US" altLang="zh-CN" b="1" i="0" dirty="0">
                <a:solidFill>
                  <a:srgbClr val="273239"/>
                </a:solidFill>
                <a:effectLst/>
                <a:latin typeface="urw-din"/>
              </a:rPr>
              <a:t>5 0</a:t>
            </a:r>
            <a:r>
              <a:rPr lang="en-US" altLang="zh-CN" b="0" i="0" dirty="0">
                <a:solidFill>
                  <a:srgbClr val="273239"/>
                </a:solidFill>
                <a:effectLst/>
                <a:latin typeface="urw-din"/>
              </a:rPr>
              <a:t> 2 8) ? (1 4 2 </a:t>
            </a:r>
            <a:r>
              <a:rPr lang="en-US" altLang="zh-CN" b="1" i="0" dirty="0">
                <a:solidFill>
                  <a:srgbClr val="273239"/>
                </a:solidFill>
                <a:effectLst/>
                <a:latin typeface="urw-din"/>
              </a:rPr>
              <a:t>0 5 </a:t>
            </a:r>
            <a:r>
              <a:rPr lang="en-US" altLang="zh-CN" b="0" i="0" dirty="0">
                <a:solidFill>
                  <a:srgbClr val="273239"/>
                </a:solidFill>
                <a:effectLst/>
                <a:latin typeface="urw-din"/>
              </a:rPr>
              <a:t>2 8), Swap since 5 &gt; 0 </a:t>
            </a:r>
            <a:br>
              <a:rPr lang="en-US" altLang="zh-CN" dirty="0"/>
            </a:br>
            <a:r>
              <a:rPr lang="en-US" altLang="zh-CN" b="0" i="0" dirty="0">
                <a:solidFill>
                  <a:srgbClr val="273239"/>
                </a:solidFill>
                <a:effectLst/>
                <a:latin typeface="urw-din"/>
              </a:rPr>
              <a:t>(1 4 </a:t>
            </a:r>
            <a:r>
              <a:rPr lang="en-US" altLang="zh-CN" b="1" i="0" dirty="0">
                <a:solidFill>
                  <a:srgbClr val="273239"/>
                </a:solidFill>
                <a:effectLst/>
                <a:latin typeface="urw-din"/>
              </a:rPr>
              <a:t>2 0</a:t>
            </a:r>
            <a:r>
              <a:rPr lang="en-US" altLang="zh-CN" b="0" i="0" dirty="0">
                <a:solidFill>
                  <a:srgbClr val="273239"/>
                </a:solidFill>
                <a:effectLst/>
                <a:latin typeface="urw-din"/>
              </a:rPr>
              <a:t> 5 2 8) ? (1 4 </a:t>
            </a:r>
            <a:r>
              <a:rPr lang="en-US" altLang="zh-CN" b="1" i="0" dirty="0">
                <a:solidFill>
                  <a:srgbClr val="273239"/>
                </a:solidFill>
                <a:effectLst/>
                <a:latin typeface="urw-din"/>
              </a:rPr>
              <a:t>0 2</a:t>
            </a:r>
            <a:r>
              <a:rPr lang="en-US" altLang="zh-CN" b="0" i="0" dirty="0">
                <a:solidFill>
                  <a:srgbClr val="273239"/>
                </a:solidFill>
                <a:effectLst/>
                <a:latin typeface="urw-din"/>
              </a:rPr>
              <a:t> 5 2 8), Swap since 2 &gt; 0 </a:t>
            </a:r>
            <a:br>
              <a:rPr lang="en-US" altLang="zh-CN" dirty="0"/>
            </a:br>
            <a:r>
              <a:rPr lang="en-US" altLang="zh-CN" b="0" i="0" dirty="0">
                <a:solidFill>
                  <a:srgbClr val="273239"/>
                </a:solidFill>
                <a:effectLst/>
                <a:latin typeface="urw-din"/>
              </a:rPr>
              <a:t>(1 </a:t>
            </a:r>
            <a:r>
              <a:rPr lang="en-US" altLang="zh-CN" b="1" i="0" dirty="0">
                <a:solidFill>
                  <a:srgbClr val="273239"/>
                </a:solidFill>
                <a:effectLst/>
                <a:latin typeface="urw-din"/>
              </a:rPr>
              <a:t>4 0</a:t>
            </a:r>
            <a:r>
              <a:rPr lang="en-US" altLang="zh-CN" b="0" i="0" dirty="0">
                <a:solidFill>
                  <a:srgbClr val="273239"/>
                </a:solidFill>
                <a:effectLst/>
                <a:latin typeface="urw-din"/>
              </a:rPr>
              <a:t> 2 5 2 8) ? (1 </a:t>
            </a:r>
            <a:r>
              <a:rPr lang="en-US" altLang="zh-CN" b="1" i="0" dirty="0">
                <a:solidFill>
                  <a:srgbClr val="273239"/>
                </a:solidFill>
                <a:effectLst/>
                <a:latin typeface="urw-din"/>
              </a:rPr>
              <a:t>0 4</a:t>
            </a:r>
            <a:r>
              <a:rPr lang="en-US" altLang="zh-CN" b="0" i="0" dirty="0">
                <a:solidFill>
                  <a:srgbClr val="273239"/>
                </a:solidFill>
                <a:effectLst/>
                <a:latin typeface="urw-din"/>
              </a:rPr>
              <a:t> 2 5 2 8), Swap since 4 &gt; 0 </a:t>
            </a:r>
            <a:br>
              <a:rPr lang="en-US" altLang="zh-CN" dirty="0"/>
            </a:br>
            <a:r>
              <a:rPr lang="en-US" altLang="zh-CN" b="0" i="0" dirty="0">
                <a:solidFill>
                  <a:srgbClr val="273239"/>
                </a:solidFill>
                <a:effectLst/>
                <a:latin typeface="urw-din"/>
              </a:rPr>
              <a:t>(</a:t>
            </a:r>
            <a:r>
              <a:rPr lang="en-US" altLang="zh-CN" b="1" i="0" dirty="0">
                <a:solidFill>
                  <a:srgbClr val="273239"/>
                </a:solidFill>
                <a:effectLst/>
                <a:latin typeface="urw-din"/>
              </a:rPr>
              <a:t>1 0</a:t>
            </a:r>
            <a:r>
              <a:rPr lang="en-US" altLang="zh-CN" b="0" i="0" dirty="0">
                <a:solidFill>
                  <a:srgbClr val="273239"/>
                </a:solidFill>
                <a:effectLst/>
                <a:latin typeface="urw-din"/>
              </a:rPr>
              <a:t> 4 2 5 2 8) ? (</a:t>
            </a:r>
            <a:r>
              <a:rPr lang="en-US" altLang="zh-CN" b="1" i="0" dirty="0">
                <a:solidFill>
                  <a:srgbClr val="273239"/>
                </a:solidFill>
                <a:effectLst/>
                <a:latin typeface="urw-din"/>
              </a:rPr>
              <a:t>0 1</a:t>
            </a:r>
            <a:r>
              <a:rPr lang="en-US" altLang="zh-CN" b="0" i="0" dirty="0">
                <a:solidFill>
                  <a:srgbClr val="273239"/>
                </a:solidFill>
                <a:effectLst/>
                <a:latin typeface="urw-din"/>
              </a:rPr>
              <a:t> 4 2 5 2 8), Swap since 1 &gt; 0</a:t>
            </a:r>
          </a:p>
          <a:p>
            <a:r>
              <a:rPr lang="en-US" altLang="zh-CN" b="1" i="0" dirty="0">
                <a:solidFill>
                  <a:srgbClr val="273239"/>
                </a:solidFill>
                <a:effectLst/>
                <a:latin typeface="urw-din"/>
              </a:rPr>
              <a:t>Second Forward Pass:</a:t>
            </a:r>
            <a:r>
              <a:rPr lang="en-US" altLang="zh-CN" b="0" i="0" dirty="0">
                <a:solidFill>
                  <a:srgbClr val="273239"/>
                </a:solidFill>
                <a:effectLst/>
                <a:latin typeface="urw-din"/>
              </a:rPr>
              <a:t> </a:t>
            </a:r>
            <a:br>
              <a:rPr lang="en-US" altLang="zh-CN" dirty="0"/>
            </a:br>
            <a:r>
              <a:rPr lang="en-US" altLang="zh-CN" b="0" i="0" dirty="0">
                <a:solidFill>
                  <a:srgbClr val="273239"/>
                </a:solidFill>
                <a:effectLst/>
                <a:latin typeface="urw-din"/>
              </a:rPr>
              <a:t>(0 </a:t>
            </a:r>
            <a:r>
              <a:rPr lang="en-US" altLang="zh-CN" b="1" i="0" dirty="0">
                <a:solidFill>
                  <a:srgbClr val="273239"/>
                </a:solidFill>
                <a:effectLst/>
                <a:latin typeface="urw-din"/>
              </a:rPr>
              <a:t>1 4</a:t>
            </a:r>
            <a:r>
              <a:rPr lang="en-US" altLang="zh-CN" b="0" i="0" dirty="0">
                <a:solidFill>
                  <a:srgbClr val="273239"/>
                </a:solidFill>
                <a:effectLst/>
                <a:latin typeface="urw-din"/>
              </a:rPr>
              <a:t> 2 5 2 8) ? (0 </a:t>
            </a:r>
            <a:r>
              <a:rPr lang="en-US" altLang="zh-CN" b="1" i="0" dirty="0">
                <a:solidFill>
                  <a:srgbClr val="273239"/>
                </a:solidFill>
                <a:effectLst/>
                <a:latin typeface="urw-din"/>
              </a:rPr>
              <a:t>1 4</a:t>
            </a:r>
            <a:r>
              <a:rPr lang="en-US" altLang="zh-CN" b="0" i="0" dirty="0">
                <a:solidFill>
                  <a:srgbClr val="273239"/>
                </a:solidFill>
                <a:effectLst/>
                <a:latin typeface="urw-din"/>
              </a:rPr>
              <a:t> 2 5 2 8) </a:t>
            </a:r>
            <a:br>
              <a:rPr lang="en-US" altLang="zh-CN" dirty="0"/>
            </a:br>
            <a:r>
              <a:rPr lang="en-US" altLang="zh-CN" b="0" i="0" dirty="0">
                <a:solidFill>
                  <a:srgbClr val="273239"/>
                </a:solidFill>
                <a:effectLst/>
                <a:latin typeface="urw-din"/>
              </a:rPr>
              <a:t>(0 1 </a:t>
            </a:r>
            <a:r>
              <a:rPr lang="en-US" altLang="zh-CN" b="1" i="0" dirty="0">
                <a:solidFill>
                  <a:srgbClr val="273239"/>
                </a:solidFill>
                <a:effectLst/>
                <a:latin typeface="urw-din"/>
              </a:rPr>
              <a:t>4 2</a:t>
            </a:r>
            <a:r>
              <a:rPr lang="en-US" altLang="zh-CN" b="0" i="0" dirty="0">
                <a:solidFill>
                  <a:srgbClr val="273239"/>
                </a:solidFill>
                <a:effectLst/>
                <a:latin typeface="urw-din"/>
              </a:rPr>
              <a:t> 5 2 8) ? (0 1 </a:t>
            </a:r>
            <a:r>
              <a:rPr lang="en-US" altLang="zh-CN" b="1" i="0" dirty="0">
                <a:solidFill>
                  <a:srgbClr val="273239"/>
                </a:solidFill>
                <a:effectLst/>
                <a:latin typeface="urw-din"/>
              </a:rPr>
              <a:t>2 4</a:t>
            </a:r>
            <a:r>
              <a:rPr lang="en-US" altLang="zh-CN" b="0" i="0" dirty="0">
                <a:solidFill>
                  <a:srgbClr val="273239"/>
                </a:solidFill>
                <a:effectLst/>
                <a:latin typeface="urw-din"/>
              </a:rPr>
              <a:t> 5 2 8), Swap since 4 &gt; 2 </a:t>
            </a:r>
            <a:br>
              <a:rPr lang="en-US" altLang="zh-CN" dirty="0"/>
            </a:br>
            <a:r>
              <a:rPr lang="en-US" altLang="zh-CN" b="0" i="0" dirty="0">
                <a:solidFill>
                  <a:srgbClr val="273239"/>
                </a:solidFill>
                <a:effectLst/>
                <a:latin typeface="urw-din"/>
              </a:rPr>
              <a:t>(0 1 2 </a:t>
            </a:r>
            <a:r>
              <a:rPr lang="en-US" altLang="zh-CN" b="1" i="0" dirty="0">
                <a:solidFill>
                  <a:srgbClr val="273239"/>
                </a:solidFill>
                <a:effectLst/>
                <a:latin typeface="urw-din"/>
              </a:rPr>
              <a:t>4 5</a:t>
            </a:r>
            <a:r>
              <a:rPr lang="en-US" altLang="zh-CN" b="0" i="0" dirty="0">
                <a:solidFill>
                  <a:srgbClr val="273239"/>
                </a:solidFill>
                <a:effectLst/>
                <a:latin typeface="urw-din"/>
              </a:rPr>
              <a:t> 2 8) ? (0 1 2 </a:t>
            </a:r>
            <a:r>
              <a:rPr lang="en-US" altLang="zh-CN" b="1" i="0" dirty="0">
                <a:solidFill>
                  <a:srgbClr val="273239"/>
                </a:solidFill>
                <a:effectLst/>
                <a:latin typeface="urw-din"/>
              </a:rPr>
              <a:t>4 5</a:t>
            </a:r>
            <a:r>
              <a:rPr lang="en-US" altLang="zh-CN" b="0" i="0" dirty="0">
                <a:solidFill>
                  <a:srgbClr val="273239"/>
                </a:solidFill>
                <a:effectLst/>
                <a:latin typeface="urw-din"/>
              </a:rPr>
              <a:t> 2 8) </a:t>
            </a:r>
            <a:br>
              <a:rPr lang="en-US" altLang="zh-CN" dirty="0"/>
            </a:br>
            <a:r>
              <a:rPr lang="en-US" altLang="zh-CN" b="0" i="0" dirty="0">
                <a:solidFill>
                  <a:srgbClr val="273239"/>
                </a:solidFill>
                <a:effectLst/>
                <a:latin typeface="urw-din"/>
              </a:rPr>
              <a:t>(0 1 2 4 </a:t>
            </a:r>
            <a:r>
              <a:rPr lang="en-US" altLang="zh-CN" b="1" i="0" dirty="0">
                <a:solidFill>
                  <a:srgbClr val="273239"/>
                </a:solidFill>
                <a:effectLst/>
                <a:latin typeface="urw-din"/>
              </a:rPr>
              <a:t>5 2</a:t>
            </a:r>
            <a:r>
              <a:rPr lang="en-US" altLang="zh-CN" b="0" i="0" dirty="0">
                <a:solidFill>
                  <a:srgbClr val="273239"/>
                </a:solidFill>
                <a:effectLst/>
                <a:latin typeface="urw-din"/>
              </a:rPr>
              <a:t> 8) ? (0 1 2 4 </a:t>
            </a:r>
            <a:r>
              <a:rPr lang="en-US" altLang="zh-CN" b="1" i="0" dirty="0">
                <a:solidFill>
                  <a:srgbClr val="273239"/>
                </a:solidFill>
                <a:effectLst/>
                <a:latin typeface="urw-din"/>
              </a:rPr>
              <a:t>2 5</a:t>
            </a:r>
            <a:r>
              <a:rPr lang="en-US" altLang="zh-CN" b="0" i="0" dirty="0">
                <a:solidFill>
                  <a:srgbClr val="273239"/>
                </a:solidFill>
                <a:effectLst/>
                <a:latin typeface="urw-din"/>
              </a:rPr>
              <a:t> 8), Swap since 5 &gt; 2</a:t>
            </a:r>
            <a:br>
              <a:rPr lang="en-US" altLang="zh-CN" dirty="0"/>
            </a:br>
            <a:r>
              <a:rPr lang="en-US" altLang="zh-CN" b="1" i="0" dirty="0">
                <a:solidFill>
                  <a:srgbClr val="273239"/>
                </a:solidFill>
                <a:effectLst/>
                <a:latin typeface="urw-din"/>
              </a:rPr>
              <a:t>Second Backward Pass:</a:t>
            </a:r>
            <a:r>
              <a:rPr lang="en-US" altLang="zh-CN" b="0" i="0" dirty="0">
                <a:solidFill>
                  <a:srgbClr val="273239"/>
                </a:solidFill>
                <a:effectLst/>
                <a:latin typeface="urw-din"/>
              </a:rPr>
              <a:t> </a:t>
            </a:r>
            <a:br>
              <a:rPr lang="en-US" altLang="zh-CN" dirty="0"/>
            </a:br>
            <a:r>
              <a:rPr lang="en-US" altLang="zh-CN" b="0" i="0" dirty="0">
                <a:solidFill>
                  <a:srgbClr val="273239"/>
                </a:solidFill>
                <a:effectLst/>
                <a:latin typeface="urw-din"/>
              </a:rPr>
              <a:t>(0 1 2 </a:t>
            </a:r>
            <a:r>
              <a:rPr lang="en-US" altLang="zh-CN" b="1" i="0" dirty="0">
                <a:solidFill>
                  <a:srgbClr val="273239"/>
                </a:solidFill>
                <a:effectLst/>
                <a:latin typeface="urw-din"/>
              </a:rPr>
              <a:t>4 2</a:t>
            </a:r>
            <a:r>
              <a:rPr lang="en-US" altLang="zh-CN" b="0" i="0" dirty="0">
                <a:solidFill>
                  <a:srgbClr val="273239"/>
                </a:solidFill>
                <a:effectLst/>
                <a:latin typeface="urw-din"/>
              </a:rPr>
              <a:t> 5 8) ? (0 1 2 </a:t>
            </a:r>
            <a:r>
              <a:rPr lang="en-US" altLang="zh-CN" b="1" i="0" dirty="0">
                <a:solidFill>
                  <a:srgbClr val="273239"/>
                </a:solidFill>
                <a:effectLst/>
                <a:latin typeface="urw-din"/>
              </a:rPr>
              <a:t>2 4</a:t>
            </a:r>
            <a:r>
              <a:rPr lang="en-US" altLang="zh-CN" b="0" i="0" dirty="0">
                <a:solidFill>
                  <a:srgbClr val="273239"/>
                </a:solidFill>
                <a:effectLst/>
                <a:latin typeface="urw-din"/>
              </a:rPr>
              <a:t> 5 8), Swap since 4 &gt; 2</a:t>
            </a:r>
            <a:endParaRPr lang="zh-CN" altLang="en-US" dirty="0"/>
          </a:p>
        </p:txBody>
      </p:sp>
    </p:spTree>
    <p:extLst>
      <p:ext uri="{BB962C8B-B14F-4D97-AF65-F5344CB8AC3E}">
        <p14:creationId xmlns:p14="http://schemas.microsoft.com/office/powerpoint/2010/main" val="3801212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48582-FEB8-B6DF-4D80-C6CDB7A3AF4C}"/>
              </a:ext>
            </a:extLst>
          </p:cNvPr>
          <p:cNvSpPr>
            <a:spLocks noGrp="1"/>
          </p:cNvSpPr>
          <p:nvPr>
            <p:ph type="title"/>
          </p:nvPr>
        </p:nvSpPr>
        <p:spPr/>
        <p:txBody>
          <a:bodyPr/>
          <a:lstStyle/>
          <a:p>
            <a:r>
              <a:rPr lang="en-US" altLang="zh-CN" dirty="0"/>
              <a:t>Cocktail Sort</a:t>
            </a:r>
            <a:endParaRPr lang="zh-CN" altLang="en-US" dirty="0"/>
          </a:p>
        </p:txBody>
      </p:sp>
      <p:pic>
        <p:nvPicPr>
          <p:cNvPr id="5" name="图片 4">
            <a:extLst>
              <a:ext uri="{FF2B5EF4-FFF2-40B4-BE49-F238E27FC236}">
                <a16:creationId xmlns:a16="http://schemas.microsoft.com/office/drawing/2014/main" id="{3C4464C6-9BC1-6FF2-E8F4-4D73E94D6E1C}"/>
              </a:ext>
            </a:extLst>
          </p:cNvPr>
          <p:cNvPicPr>
            <a:picLocks noChangeAspect="1"/>
          </p:cNvPicPr>
          <p:nvPr/>
        </p:nvPicPr>
        <p:blipFill>
          <a:blip r:embed="rId2"/>
          <a:stretch>
            <a:fillRect/>
          </a:stretch>
        </p:blipFill>
        <p:spPr>
          <a:xfrm>
            <a:off x="1167179" y="1800519"/>
            <a:ext cx="10126195" cy="3930977"/>
          </a:xfrm>
          <a:prstGeom prst="rect">
            <a:avLst/>
          </a:prstGeom>
        </p:spPr>
      </p:pic>
    </p:spTree>
    <p:extLst>
      <p:ext uri="{BB962C8B-B14F-4D97-AF65-F5344CB8AC3E}">
        <p14:creationId xmlns:p14="http://schemas.microsoft.com/office/powerpoint/2010/main" val="809047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041CA-1039-9E59-2984-4151DC9FCAF3}"/>
              </a:ext>
            </a:extLst>
          </p:cNvPr>
          <p:cNvSpPr>
            <a:spLocks noGrp="1"/>
          </p:cNvSpPr>
          <p:nvPr>
            <p:ph type="title"/>
          </p:nvPr>
        </p:nvSpPr>
        <p:spPr/>
        <p:txBody>
          <a:bodyPr/>
          <a:lstStyle/>
          <a:p>
            <a:r>
              <a:rPr lang="en-US" altLang="zh-CN" dirty="0"/>
              <a:t>Insertion Sort</a:t>
            </a:r>
            <a:endParaRPr lang="zh-CN" altLang="en-US" dirty="0"/>
          </a:p>
        </p:txBody>
      </p:sp>
      <p:sp>
        <p:nvSpPr>
          <p:cNvPr id="3" name="内容占位符 2">
            <a:extLst>
              <a:ext uri="{FF2B5EF4-FFF2-40B4-BE49-F238E27FC236}">
                <a16:creationId xmlns:a16="http://schemas.microsoft.com/office/drawing/2014/main" id="{3C7E5C40-9252-F392-383A-3965AF44986A}"/>
              </a:ext>
            </a:extLst>
          </p:cNvPr>
          <p:cNvSpPr>
            <a:spLocks noGrp="1"/>
          </p:cNvSpPr>
          <p:nvPr>
            <p:ph idx="1"/>
          </p:nvPr>
        </p:nvSpPr>
        <p:spPr/>
        <p:txBody>
          <a:bodyPr/>
          <a:lstStyle/>
          <a:p>
            <a:r>
              <a:rPr lang="en-US" altLang="zh-CN" dirty="0"/>
              <a:t>Insertion sort is a simple sorting algorithm that works similar to the way you sort playing cards in your hands.</a:t>
            </a:r>
            <a:endParaRPr lang="zh-CN" altLang="en-US" dirty="0"/>
          </a:p>
        </p:txBody>
      </p:sp>
    </p:spTree>
    <p:extLst>
      <p:ext uri="{BB962C8B-B14F-4D97-AF65-F5344CB8AC3E}">
        <p14:creationId xmlns:p14="http://schemas.microsoft.com/office/powerpoint/2010/main" val="4286076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EA07D1-B837-082C-C7B9-B87B8CDC2535}"/>
              </a:ext>
            </a:extLst>
          </p:cNvPr>
          <p:cNvSpPr>
            <a:spLocks noGrp="1"/>
          </p:cNvSpPr>
          <p:nvPr>
            <p:ph type="title"/>
          </p:nvPr>
        </p:nvSpPr>
        <p:spPr/>
        <p:txBody>
          <a:bodyPr/>
          <a:lstStyle/>
          <a:p>
            <a:r>
              <a:rPr lang="en-US" altLang="zh-CN" dirty="0"/>
              <a:t>A toy example (From </a:t>
            </a:r>
            <a:r>
              <a:rPr lang="en-US" altLang="zh-CN" dirty="0" err="1"/>
              <a:t>Programiz</a:t>
            </a:r>
            <a:r>
              <a:rPr lang="en-US" altLang="zh-CN" dirty="0"/>
              <a:t>)</a:t>
            </a:r>
            <a:endParaRPr lang="zh-CN" altLang="en-US" dirty="0"/>
          </a:p>
        </p:txBody>
      </p:sp>
      <p:pic>
        <p:nvPicPr>
          <p:cNvPr id="4" name="图片 3">
            <a:extLst>
              <a:ext uri="{FF2B5EF4-FFF2-40B4-BE49-F238E27FC236}">
                <a16:creationId xmlns:a16="http://schemas.microsoft.com/office/drawing/2014/main" id="{87EBCD26-E046-37F5-FBA9-F2F3A73EE68D}"/>
              </a:ext>
            </a:extLst>
          </p:cNvPr>
          <p:cNvPicPr>
            <a:picLocks noChangeAspect="1"/>
          </p:cNvPicPr>
          <p:nvPr/>
        </p:nvPicPr>
        <p:blipFill>
          <a:blip r:embed="rId2"/>
          <a:stretch>
            <a:fillRect/>
          </a:stretch>
        </p:blipFill>
        <p:spPr>
          <a:xfrm>
            <a:off x="1460968" y="1529855"/>
            <a:ext cx="4879871" cy="4371325"/>
          </a:xfrm>
          <a:prstGeom prst="rect">
            <a:avLst/>
          </a:prstGeom>
        </p:spPr>
      </p:pic>
      <p:pic>
        <p:nvPicPr>
          <p:cNvPr id="1026" name="Picture 2" descr="Insertion Sort Steps">
            <a:extLst>
              <a:ext uri="{FF2B5EF4-FFF2-40B4-BE49-F238E27FC236}">
                <a16:creationId xmlns:a16="http://schemas.microsoft.com/office/drawing/2014/main" id="{2D771192-6A08-1398-42E7-E98B8DA46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8189" y="1413588"/>
            <a:ext cx="4324415" cy="476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3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sertion Sort Steps">
            <a:extLst>
              <a:ext uri="{FF2B5EF4-FFF2-40B4-BE49-F238E27FC236}">
                <a16:creationId xmlns:a16="http://schemas.microsoft.com/office/drawing/2014/main" id="{5A1D0FF8-2213-B536-5F47-92E4F42694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321" y="471339"/>
            <a:ext cx="5208555" cy="577391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sertion Sort Steps">
            <a:extLst>
              <a:ext uri="{FF2B5EF4-FFF2-40B4-BE49-F238E27FC236}">
                <a16:creationId xmlns:a16="http://schemas.microsoft.com/office/drawing/2014/main" id="{6E0F2039-CAA9-E265-A847-08E2BEAE3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4143" y="221531"/>
            <a:ext cx="4649536" cy="6165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741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CF6D1E-8D31-0894-285A-3ACF600E34F5}"/>
              </a:ext>
            </a:extLst>
          </p:cNvPr>
          <p:cNvSpPr>
            <a:spLocks noGrp="1"/>
          </p:cNvSpPr>
          <p:nvPr>
            <p:ph type="title"/>
          </p:nvPr>
        </p:nvSpPr>
        <p:spPr/>
        <p:txBody>
          <a:bodyPr/>
          <a:lstStyle/>
          <a:p>
            <a:r>
              <a:rPr lang="en-US" altLang="zh-CN" dirty="0"/>
              <a:t>Insertion Sort</a:t>
            </a:r>
            <a:endParaRPr lang="zh-CN" altLang="en-US" dirty="0"/>
          </a:p>
        </p:txBody>
      </p:sp>
      <p:pic>
        <p:nvPicPr>
          <p:cNvPr id="5" name="图片 4">
            <a:extLst>
              <a:ext uri="{FF2B5EF4-FFF2-40B4-BE49-F238E27FC236}">
                <a16:creationId xmlns:a16="http://schemas.microsoft.com/office/drawing/2014/main" id="{1F5E02FF-578F-174E-83C5-D6BD33535275}"/>
              </a:ext>
            </a:extLst>
          </p:cNvPr>
          <p:cNvPicPr>
            <a:picLocks noChangeAspect="1"/>
          </p:cNvPicPr>
          <p:nvPr/>
        </p:nvPicPr>
        <p:blipFill>
          <a:blip r:embed="rId2"/>
          <a:stretch>
            <a:fillRect/>
          </a:stretch>
        </p:blipFill>
        <p:spPr>
          <a:xfrm>
            <a:off x="1251678" y="1509831"/>
            <a:ext cx="10296997" cy="4127398"/>
          </a:xfrm>
          <a:prstGeom prst="rect">
            <a:avLst/>
          </a:prstGeom>
        </p:spPr>
      </p:pic>
    </p:spTree>
    <p:extLst>
      <p:ext uri="{BB962C8B-B14F-4D97-AF65-F5344CB8AC3E}">
        <p14:creationId xmlns:p14="http://schemas.microsoft.com/office/powerpoint/2010/main" val="1879219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12F20-002A-65A8-FB5C-E97BFB89E2F7}"/>
              </a:ext>
            </a:extLst>
          </p:cNvPr>
          <p:cNvSpPr>
            <a:spLocks noGrp="1"/>
          </p:cNvSpPr>
          <p:nvPr>
            <p:ph type="title"/>
          </p:nvPr>
        </p:nvSpPr>
        <p:spPr/>
        <p:txBody>
          <a:bodyPr/>
          <a:lstStyle/>
          <a:p>
            <a:r>
              <a:rPr lang="en-US" altLang="zh-CN" dirty="0"/>
              <a:t>Merge Sort</a:t>
            </a:r>
            <a:endParaRPr lang="zh-CN" altLang="en-US" dirty="0"/>
          </a:p>
        </p:txBody>
      </p:sp>
      <p:sp>
        <p:nvSpPr>
          <p:cNvPr id="3" name="内容占位符 2">
            <a:extLst>
              <a:ext uri="{FF2B5EF4-FFF2-40B4-BE49-F238E27FC236}">
                <a16:creationId xmlns:a16="http://schemas.microsoft.com/office/drawing/2014/main" id="{05EBE635-EF35-B17A-9C53-B4E998006033}"/>
              </a:ext>
            </a:extLst>
          </p:cNvPr>
          <p:cNvSpPr>
            <a:spLocks noGrp="1"/>
          </p:cNvSpPr>
          <p:nvPr>
            <p:ph idx="1"/>
          </p:nvPr>
        </p:nvSpPr>
        <p:spPr/>
        <p:txBody>
          <a:bodyPr/>
          <a:lstStyle/>
          <a:p>
            <a:pPr algn="l"/>
            <a:r>
              <a:rPr lang="en-US" altLang="zh-CN" b="0" i="0" dirty="0">
                <a:effectLst/>
                <a:latin typeface="euclid_circular_a"/>
              </a:rPr>
              <a:t>The Merge Sort function repeatedly divides the array into two halves until we reach a stage where we try to perform Merge Sort on a subarray of size 1 i.e. </a:t>
            </a:r>
            <a:r>
              <a:rPr lang="en-US" altLang="zh-CN" b="0" i="0" dirty="0">
                <a:effectLst/>
                <a:latin typeface="droid sans mono"/>
              </a:rPr>
              <a:t>p == r</a:t>
            </a:r>
            <a:r>
              <a:rPr lang="en-US" altLang="zh-CN" b="0" i="0" dirty="0">
                <a:effectLst/>
                <a:latin typeface="euclid_circular_a"/>
              </a:rPr>
              <a:t>.</a:t>
            </a:r>
          </a:p>
          <a:p>
            <a:pPr algn="l"/>
            <a:r>
              <a:rPr lang="en-US" altLang="zh-CN" b="0" i="0" dirty="0">
                <a:effectLst/>
                <a:latin typeface="euclid_circular_a"/>
              </a:rPr>
              <a:t>After that, the merge function comes into play and combines the sorted arrays into larger arrays until the whole array is merged.</a:t>
            </a:r>
          </a:p>
          <a:p>
            <a:endParaRPr lang="zh-CN" altLang="en-US" dirty="0"/>
          </a:p>
        </p:txBody>
      </p:sp>
    </p:spTree>
    <p:extLst>
      <p:ext uri="{BB962C8B-B14F-4D97-AF65-F5344CB8AC3E}">
        <p14:creationId xmlns:p14="http://schemas.microsoft.com/office/powerpoint/2010/main" val="3398414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E3C42E-E4E5-25E8-5783-24FD71A078EC}"/>
              </a:ext>
            </a:extLst>
          </p:cNvPr>
          <p:cNvSpPr>
            <a:spLocks noGrp="1"/>
          </p:cNvSpPr>
          <p:nvPr>
            <p:ph type="title"/>
          </p:nvPr>
        </p:nvSpPr>
        <p:spPr/>
        <p:txBody>
          <a:bodyPr/>
          <a:lstStyle/>
          <a:p>
            <a:r>
              <a:rPr lang="en-US" altLang="zh-CN" dirty="0"/>
              <a:t>A toy example (From </a:t>
            </a:r>
            <a:r>
              <a:rPr lang="en-US" altLang="zh-CN" dirty="0" err="1"/>
              <a:t>Programiz</a:t>
            </a:r>
            <a:r>
              <a:rPr lang="en-US" altLang="zh-CN" dirty="0"/>
              <a:t>)</a:t>
            </a:r>
            <a:endParaRPr lang="zh-CN" altLang="en-US" dirty="0"/>
          </a:p>
        </p:txBody>
      </p:sp>
      <p:pic>
        <p:nvPicPr>
          <p:cNvPr id="5122" name="Picture 2" descr="merge sort example">
            <a:extLst>
              <a:ext uri="{FF2B5EF4-FFF2-40B4-BE49-F238E27FC236}">
                <a16:creationId xmlns:a16="http://schemas.microsoft.com/office/drawing/2014/main" id="{243CADEC-63E4-2B4E-6411-06059E945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4478" y="1283677"/>
            <a:ext cx="5415912" cy="5505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495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erge two sorted arrays">
            <a:extLst>
              <a:ext uri="{FF2B5EF4-FFF2-40B4-BE49-F238E27FC236}">
                <a16:creationId xmlns:a16="http://schemas.microsoft.com/office/drawing/2014/main" id="{90FF9BBD-2883-C7C9-ED9F-627421EBB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6988" y="75415"/>
            <a:ext cx="77454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48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309978-292A-4416-2CD3-052EB73629D1}"/>
              </a:ext>
            </a:extLst>
          </p:cNvPr>
          <p:cNvSpPr>
            <a:spLocks noGrp="1"/>
          </p:cNvSpPr>
          <p:nvPr>
            <p:ph type="title"/>
          </p:nvPr>
        </p:nvSpPr>
        <p:spPr/>
        <p:txBody>
          <a:bodyPr/>
          <a:lstStyle/>
          <a:p>
            <a:r>
              <a:rPr lang="en-US" altLang="zh-CN" dirty="0"/>
              <a:t>Merge Sort</a:t>
            </a:r>
            <a:endParaRPr lang="zh-CN" altLang="en-US" dirty="0"/>
          </a:p>
        </p:txBody>
      </p:sp>
      <p:pic>
        <p:nvPicPr>
          <p:cNvPr id="5" name="图片 4">
            <a:extLst>
              <a:ext uri="{FF2B5EF4-FFF2-40B4-BE49-F238E27FC236}">
                <a16:creationId xmlns:a16="http://schemas.microsoft.com/office/drawing/2014/main" id="{B7598446-F3D9-D953-BC12-1A601823A2DF}"/>
              </a:ext>
            </a:extLst>
          </p:cNvPr>
          <p:cNvPicPr>
            <a:picLocks noChangeAspect="1"/>
          </p:cNvPicPr>
          <p:nvPr/>
        </p:nvPicPr>
        <p:blipFill>
          <a:blip r:embed="rId2"/>
          <a:stretch>
            <a:fillRect/>
          </a:stretch>
        </p:blipFill>
        <p:spPr>
          <a:xfrm>
            <a:off x="1203860" y="1634141"/>
            <a:ext cx="10226140" cy="4026874"/>
          </a:xfrm>
          <a:prstGeom prst="rect">
            <a:avLst/>
          </a:prstGeom>
        </p:spPr>
      </p:pic>
    </p:spTree>
    <p:extLst>
      <p:ext uri="{BB962C8B-B14F-4D97-AF65-F5344CB8AC3E}">
        <p14:creationId xmlns:p14="http://schemas.microsoft.com/office/powerpoint/2010/main" val="19066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6388D8-97BA-3211-1EE6-1845E6612702}"/>
              </a:ext>
            </a:extLst>
          </p:cNvPr>
          <p:cNvSpPr>
            <a:spLocks noGrp="1"/>
          </p:cNvSpPr>
          <p:nvPr>
            <p:ph type="title"/>
          </p:nvPr>
        </p:nvSpPr>
        <p:spPr/>
        <p:txBody>
          <a:bodyPr/>
          <a:lstStyle/>
          <a:p>
            <a:r>
              <a:rPr lang="en-US" altLang="zh-CN" dirty="0"/>
              <a:t>Tim Sort(*)</a:t>
            </a:r>
            <a:endParaRPr lang="zh-CN" altLang="en-US" dirty="0"/>
          </a:p>
        </p:txBody>
      </p:sp>
      <p:sp>
        <p:nvSpPr>
          <p:cNvPr id="3" name="内容占位符 2">
            <a:extLst>
              <a:ext uri="{FF2B5EF4-FFF2-40B4-BE49-F238E27FC236}">
                <a16:creationId xmlns:a16="http://schemas.microsoft.com/office/drawing/2014/main" id="{80C2DA12-A90A-D574-9B2A-3B1BC4BD50CB}"/>
              </a:ext>
            </a:extLst>
          </p:cNvPr>
          <p:cNvSpPr>
            <a:spLocks noGrp="1"/>
          </p:cNvSpPr>
          <p:nvPr>
            <p:ph idx="1"/>
          </p:nvPr>
        </p:nvSpPr>
        <p:spPr/>
        <p:txBody>
          <a:bodyPr/>
          <a:lstStyle/>
          <a:p>
            <a:r>
              <a:rPr lang="en-US" altLang="zh-CN" dirty="0" err="1"/>
              <a:t>TimSort</a:t>
            </a:r>
            <a:r>
              <a:rPr lang="en-US" altLang="zh-CN" dirty="0"/>
              <a:t> is a sorting algorithm based on Insertion Sort and Merge Sort.</a:t>
            </a:r>
          </a:p>
          <a:p>
            <a:endParaRPr lang="en-US" altLang="zh-CN" dirty="0"/>
          </a:p>
          <a:p>
            <a:r>
              <a:rPr lang="en-US" altLang="zh-CN" dirty="0"/>
              <a:t>Used in Java’s </a:t>
            </a:r>
            <a:r>
              <a:rPr lang="en-US" altLang="zh-CN" dirty="0" err="1"/>
              <a:t>Arrays.sort</a:t>
            </a:r>
            <a:r>
              <a:rPr lang="en-US" altLang="zh-CN" dirty="0"/>
              <a:t>() as well as Python’s sorted() and sort().</a:t>
            </a:r>
          </a:p>
          <a:p>
            <a:r>
              <a:rPr lang="en-US" altLang="zh-CN" dirty="0"/>
              <a:t>First sort small pieces using Insertion Sort, then merges the pieces using a merge of merge sort.</a:t>
            </a:r>
            <a:endParaRPr lang="zh-CN" altLang="en-US" dirty="0"/>
          </a:p>
        </p:txBody>
      </p:sp>
    </p:spTree>
    <p:extLst>
      <p:ext uri="{BB962C8B-B14F-4D97-AF65-F5344CB8AC3E}">
        <p14:creationId xmlns:p14="http://schemas.microsoft.com/office/powerpoint/2010/main" val="3415748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7FAEB14-D467-2E77-FA9E-5AD8F38066A1}"/>
              </a:ext>
            </a:extLst>
          </p:cNvPr>
          <p:cNvSpPr>
            <a:spLocks noGrp="1"/>
          </p:cNvSpPr>
          <p:nvPr>
            <p:ph idx="1"/>
          </p:nvPr>
        </p:nvSpPr>
        <p:spPr>
          <a:xfrm>
            <a:off x="1261104" y="772998"/>
            <a:ext cx="10178322" cy="5483667"/>
          </a:xfrm>
        </p:spPr>
        <p:txBody>
          <a:bodyPr/>
          <a:lstStyle/>
          <a:p>
            <a:r>
              <a:rPr lang="en-US" altLang="zh-CN" dirty="0"/>
              <a:t>We divide the Array into blocks known as Run. </a:t>
            </a:r>
          </a:p>
          <a:p>
            <a:r>
              <a:rPr lang="en-US" altLang="zh-CN" dirty="0"/>
              <a:t>We sort those runs using insertion sort one by one and then merge those runs using the combine function used in merge sort. If the size of the Array is less than run, then Array gets sorted just by using Insertion Sort. </a:t>
            </a:r>
          </a:p>
          <a:p>
            <a:r>
              <a:rPr lang="en-US" altLang="zh-CN" dirty="0"/>
              <a:t>The size of the run may vary from 32 to 64 depending upon the size of the array. Note that the merge function performs well when size subarrays are powers of 2. The idea is based on the fact that insertion sort performs well for small arrays.</a:t>
            </a:r>
            <a:endParaRPr lang="zh-CN" altLang="en-US" dirty="0"/>
          </a:p>
        </p:txBody>
      </p:sp>
    </p:spTree>
    <p:extLst>
      <p:ext uri="{BB962C8B-B14F-4D97-AF65-F5344CB8AC3E}">
        <p14:creationId xmlns:p14="http://schemas.microsoft.com/office/powerpoint/2010/main" val="1112988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1C2CE-A9FF-18FC-7CD4-F1E6C300C0C2}"/>
              </a:ext>
            </a:extLst>
          </p:cNvPr>
          <p:cNvSpPr>
            <a:spLocks noGrp="1"/>
          </p:cNvSpPr>
          <p:nvPr>
            <p:ph type="title"/>
          </p:nvPr>
        </p:nvSpPr>
        <p:spPr/>
        <p:txBody>
          <a:bodyPr/>
          <a:lstStyle/>
          <a:p>
            <a:r>
              <a:rPr lang="en-US" altLang="zh-CN" dirty="0"/>
              <a:t>Tim Sort</a:t>
            </a:r>
            <a:endParaRPr lang="zh-CN" altLang="en-US" dirty="0"/>
          </a:p>
        </p:txBody>
      </p:sp>
      <p:pic>
        <p:nvPicPr>
          <p:cNvPr id="4" name="图片 3">
            <a:extLst>
              <a:ext uri="{FF2B5EF4-FFF2-40B4-BE49-F238E27FC236}">
                <a16:creationId xmlns:a16="http://schemas.microsoft.com/office/drawing/2014/main" id="{B001C4B2-5487-0E6A-30C0-DEAC0D40F1ED}"/>
              </a:ext>
            </a:extLst>
          </p:cNvPr>
          <p:cNvPicPr>
            <a:picLocks noChangeAspect="1"/>
          </p:cNvPicPr>
          <p:nvPr/>
        </p:nvPicPr>
        <p:blipFill>
          <a:blip r:embed="rId2"/>
          <a:stretch>
            <a:fillRect/>
          </a:stretch>
        </p:blipFill>
        <p:spPr>
          <a:xfrm>
            <a:off x="1203860" y="1634141"/>
            <a:ext cx="10226140" cy="4026874"/>
          </a:xfrm>
          <a:prstGeom prst="rect">
            <a:avLst/>
          </a:prstGeom>
        </p:spPr>
      </p:pic>
      <p:pic>
        <p:nvPicPr>
          <p:cNvPr id="9" name="图片 8">
            <a:extLst>
              <a:ext uri="{FF2B5EF4-FFF2-40B4-BE49-F238E27FC236}">
                <a16:creationId xmlns:a16="http://schemas.microsoft.com/office/drawing/2014/main" id="{99E10B98-86B5-7DD3-5EBF-507098497F9C}"/>
              </a:ext>
            </a:extLst>
          </p:cNvPr>
          <p:cNvPicPr>
            <a:picLocks noChangeAspect="1"/>
          </p:cNvPicPr>
          <p:nvPr/>
        </p:nvPicPr>
        <p:blipFill>
          <a:blip r:embed="rId3"/>
          <a:stretch>
            <a:fillRect/>
          </a:stretch>
        </p:blipFill>
        <p:spPr>
          <a:xfrm>
            <a:off x="7623688" y="2419330"/>
            <a:ext cx="1573652" cy="490434"/>
          </a:xfrm>
          <a:prstGeom prst="rect">
            <a:avLst/>
          </a:prstGeom>
        </p:spPr>
      </p:pic>
    </p:spTree>
    <p:extLst>
      <p:ext uri="{BB962C8B-B14F-4D97-AF65-F5344CB8AC3E}">
        <p14:creationId xmlns:p14="http://schemas.microsoft.com/office/powerpoint/2010/main" val="4143369079"/>
      </p:ext>
    </p:extLst>
  </p:cSld>
  <p:clrMapOvr>
    <a:masterClrMapping/>
  </p:clrMapOvr>
</p:sld>
</file>

<file path=ppt/theme/theme1.xml><?xml version="1.0" encoding="utf-8"?>
<a:theme xmlns:a="http://schemas.openxmlformats.org/drawingml/2006/main" name="徽章">
  <a:themeElements>
    <a:clrScheme name="徽章">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徽章">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徽章">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TM10001106[[fn=徽章]]</Template>
  <TotalTime>268</TotalTime>
  <Words>801</Words>
  <Application>Microsoft Office PowerPoint</Application>
  <PresentationFormat>宽屏</PresentationFormat>
  <Paragraphs>38</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droid sans mono</vt:lpstr>
      <vt:lpstr>euclid_circular_a</vt:lpstr>
      <vt:lpstr>urw-din</vt:lpstr>
      <vt:lpstr>等线</vt:lpstr>
      <vt:lpstr>Arial</vt:lpstr>
      <vt:lpstr>Gill Sans MT</vt:lpstr>
      <vt:lpstr>Impact</vt:lpstr>
      <vt:lpstr>徽章</vt:lpstr>
      <vt:lpstr>Tutorial 3</vt:lpstr>
      <vt:lpstr>Outline</vt:lpstr>
      <vt:lpstr>Selection Sort </vt:lpstr>
      <vt:lpstr>A toy example (From Programiz)</vt:lpstr>
      <vt:lpstr>PowerPoint 演示文稿</vt:lpstr>
      <vt:lpstr>Selection Sort</vt:lpstr>
      <vt:lpstr>Cocktail Sort</vt:lpstr>
      <vt:lpstr>A toy example (From GeeksforGeeks)</vt:lpstr>
      <vt:lpstr>PowerPoint 演示文稿</vt:lpstr>
      <vt:lpstr>Cocktail Sort</vt:lpstr>
      <vt:lpstr>Insertion Sort</vt:lpstr>
      <vt:lpstr>A toy example (From Programiz)</vt:lpstr>
      <vt:lpstr>PowerPoint 演示文稿</vt:lpstr>
      <vt:lpstr>Insertion Sort</vt:lpstr>
      <vt:lpstr>Merge Sort</vt:lpstr>
      <vt:lpstr>A toy example (From Programiz)</vt:lpstr>
      <vt:lpstr>PowerPoint 演示文稿</vt:lpstr>
      <vt:lpstr>Merge Sort</vt:lpstr>
      <vt:lpstr>Tim Sort(*)</vt:lpstr>
      <vt:lpstr>PowerPoint 演示文稿</vt:lpstr>
      <vt:lpstr>Tim Sort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Tianci Hou (SDS, 121090184)</dc:creator>
  <cp:lastModifiedBy>Tianci Hou (SDS, 121090184)</cp:lastModifiedBy>
  <cp:revision>6</cp:revision>
  <dcterms:created xsi:type="dcterms:W3CDTF">2022-09-04T12:26:06Z</dcterms:created>
  <dcterms:modified xsi:type="dcterms:W3CDTF">2022-09-18T14:33:06Z</dcterms:modified>
</cp:coreProperties>
</file>