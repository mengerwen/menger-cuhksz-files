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84" r:id="rId11"/>
    <p:sldId id="264" r:id="rId12"/>
    <p:sldId id="265" r:id="rId13"/>
    <p:sldId id="266" r:id="rId14"/>
    <p:sldId id="268" r:id="rId15"/>
    <p:sldId id="270" r:id="rId16"/>
    <p:sldId id="280" r:id="rId17"/>
    <p:sldId id="285" r:id="rId18"/>
    <p:sldId id="286" r:id="rId19"/>
    <p:sldId id="271" r:id="rId20"/>
    <p:sldId id="272" r:id="rId21"/>
    <p:sldId id="273" r:id="rId22"/>
    <p:sldId id="274" r:id="rId23"/>
    <p:sldId id="275" r:id="rId24"/>
    <p:sldId id="281" r:id="rId25"/>
    <p:sldId id="282" r:id="rId26"/>
    <p:sldId id="276" r:id="rId27"/>
    <p:sldId id="277" r:id="rId28"/>
    <p:sldId id="278" r:id="rId29"/>
    <p:sldId id="279" r:id="rId30"/>
  </p:sldIdLst>
  <p:sldSz cx="4610100" cy="3460750"/>
  <p:notesSz cx="4610100" cy="346075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240" d="100"/>
          <a:sy n="240" d="100"/>
        </p:scale>
        <p:origin x="1920" y="184"/>
      </p:cViewPr>
      <p:guideLst>
        <p:guide orient="horz" pos="2880"/>
        <p:guide pos="21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1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59878"/>
            <a:ext cx="4419498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LM Sans 8"/>
                <a:cs typeface="LM Sans 8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LM Sans 8"/>
                <a:cs typeface="LM Sans 8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5" dirty="0"/>
            </a:fld>
            <a:r>
              <a:rPr spc="-135" dirty="0"/>
              <a:t> </a:t>
            </a:r>
            <a:r>
              <a:rPr spc="-5" dirty="0"/>
              <a:t>/</a:t>
            </a:r>
            <a:r>
              <a:rPr spc="-130" dirty="0"/>
              <a:t> </a:t>
            </a:r>
            <a:r>
              <a:rPr spc="-5" dirty="0"/>
              <a:t>24</a:t>
            </a:r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LM Sans 17"/>
                <a:cs typeface="LM Sans 17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LM Sans 10"/>
                <a:cs typeface="LM Sans 10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LM Sans 8"/>
                <a:cs typeface="LM Sans 8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LM Sans 8"/>
                <a:cs typeface="LM Sans 8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5" dirty="0"/>
            </a:fld>
            <a:r>
              <a:rPr spc="-135" dirty="0"/>
              <a:t> </a:t>
            </a:r>
            <a:r>
              <a:rPr spc="-5" dirty="0"/>
              <a:t>/</a:t>
            </a:r>
            <a:r>
              <a:rPr spc="-130" dirty="0"/>
              <a:t> </a:t>
            </a:r>
            <a:r>
              <a:rPr spc="-5" dirty="0"/>
              <a:t>24</a:t>
            </a:r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LM Sans 17"/>
                <a:cs typeface="LM Sans 17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LM Sans 8"/>
                <a:cs typeface="LM Sans 8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LM Sans 8"/>
                <a:cs typeface="LM Sans 8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5" dirty="0"/>
            </a:fld>
            <a:r>
              <a:rPr spc="-135" dirty="0"/>
              <a:t> </a:t>
            </a:r>
            <a:r>
              <a:rPr spc="-5" dirty="0"/>
              <a:t>/</a:t>
            </a:r>
            <a:r>
              <a:rPr spc="-130" dirty="0"/>
              <a:t> </a:t>
            </a:r>
            <a:r>
              <a:rPr spc="-5" dirty="0"/>
              <a:t>24</a:t>
            </a:r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LM Sans 17"/>
                <a:cs typeface="LM Sans 17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LM Sans 8"/>
                <a:cs typeface="LM Sans 8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LM Sans 8"/>
                <a:cs typeface="LM Sans 8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5" dirty="0"/>
            </a:fld>
            <a:r>
              <a:rPr spc="-135" dirty="0"/>
              <a:t> </a:t>
            </a:r>
            <a:r>
              <a:rPr spc="-5" dirty="0"/>
              <a:t>/</a:t>
            </a:r>
            <a:r>
              <a:rPr spc="-130" dirty="0"/>
              <a:t> </a:t>
            </a:r>
            <a:r>
              <a:rPr spc="-5" dirty="0"/>
              <a:t>24</a:t>
            </a:r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LM Sans 8"/>
                <a:cs typeface="LM Sans 8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LM Sans 8"/>
                <a:cs typeface="LM Sans 8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5" dirty="0"/>
            </a:fld>
            <a:r>
              <a:rPr spc="-135" dirty="0"/>
              <a:t> </a:t>
            </a:r>
            <a:r>
              <a:rPr spc="-5" dirty="0"/>
              <a:t>/</a:t>
            </a:r>
            <a:r>
              <a:rPr spc="-130" dirty="0"/>
              <a:t> </a:t>
            </a:r>
            <a:r>
              <a:rPr spc="-5" dirty="0"/>
              <a:t>24</a:t>
            </a:r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1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41551" y="1093285"/>
            <a:ext cx="1126997" cy="657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LM Sans 17"/>
                <a:cs typeface="LM Sans 17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1004314"/>
            <a:ext cx="2212340" cy="1532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LM Sans 10"/>
                <a:cs typeface="LM Sans 10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01828" y="3351784"/>
            <a:ext cx="93218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LM Sans 8"/>
                <a:cs typeface="LM Sans 8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606901" y="3351784"/>
            <a:ext cx="440689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LM Sans 8"/>
                <a:cs typeface="LM Sans 8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5" dirty="0"/>
            </a:fld>
            <a:r>
              <a:rPr spc="-135" dirty="0"/>
              <a:t> </a:t>
            </a:r>
            <a:r>
              <a:rPr spc="-5" dirty="0"/>
              <a:t>/</a:t>
            </a:r>
            <a:r>
              <a:rPr spc="-130" dirty="0"/>
              <a:t> </a:t>
            </a:r>
            <a:r>
              <a:rPr spc="-5" dirty="0"/>
              <a:t>24</a:t>
            </a:r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slide" Target="slide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8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8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" Target="slide28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" Target="slide28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slide" Target="slide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" Target="slide28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8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slide" Target="slide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slide" Target="slide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" Target="slide1.xml"/><Relationship Id="rId1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slide" Target="slide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slide" Target="slide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1.xml"/><Relationship Id="rId2" Type="http://schemas.openxmlformats.org/officeDocument/2006/relationships/image" Target="../media/image10.png"/><Relationship Id="rId1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.xml"/><Relationship Id="rId1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758088"/>
            <a:ext cx="4483735" cy="737870"/>
            <a:chOff x="87743" y="758088"/>
            <a:chExt cx="4483735" cy="737870"/>
          </a:xfrm>
        </p:grpSpPr>
        <p:sp>
          <p:nvSpPr>
            <p:cNvPr id="3" name="object 3"/>
            <p:cNvSpPr/>
            <p:nvPr/>
          </p:nvSpPr>
          <p:spPr>
            <a:xfrm>
              <a:off x="87743" y="758088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7" y="82384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8544" y="821345"/>
              <a:ext cx="4432935" cy="674370"/>
            </a:xfrm>
            <a:custGeom>
              <a:avLst/>
              <a:gdLst/>
              <a:ahLst/>
              <a:cxnLst/>
              <a:rect l="l" t="t" r="r" b="b"/>
              <a:pathLst>
                <a:path w="4432935" h="674369">
                  <a:moveTo>
                    <a:pt x="4432566" y="0"/>
                  </a:moveTo>
                  <a:lnTo>
                    <a:pt x="0" y="0"/>
                  </a:lnTo>
                  <a:lnTo>
                    <a:pt x="0" y="674283"/>
                  </a:lnTo>
                  <a:lnTo>
                    <a:pt x="4432566" y="674283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7743" y="802509"/>
              <a:ext cx="4432935" cy="642620"/>
            </a:xfrm>
            <a:custGeom>
              <a:avLst/>
              <a:gdLst/>
              <a:ahLst/>
              <a:cxnLst/>
              <a:rect l="l" t="t" r="r" b="b"/>
              <a:pathLst>
                <a:path w="4432935" h="642619">
                  <a:moveTo>
                    <a:pt x="4432567" y="0"/>
                  </a:moveTo>
                  <a:lnTo>
                    <a:pt x="0" y="0"/>
                  </a:lnTo>
                  <a:lnTo>
                    <a:pt x="0" y="591519"/>
                  </a:lnTo>
                  <a:lnTo>
                    <a:pt x="4008" y="611243"/>
                  </a:lnTo>
                  <a:lnTo>
                    <a:pt x="14922" y="627396"/>
                  </a:lnTo>
                  <a:lnTo>
                    <a:pt x="31075" y="638310"/>
                  </a:lnTo>
                  <a:lnTo>
                    <a:pt x="50800" y="642319"/>
                  </a:lnTo>
                  <a:lnTo>
                    <a:pt x="4381767" y="642319"/>
                  </a:lnTo>
                  <a:lnTo>
                    <a:pt x="4401492" y="638310"/>
                  </a:lnTo>
                  <a:lnTo>
                    <a:pt x="4417644" y="627396"/>
                  </a:lnTo>
                  <a:lnTo>
                    <a:pt x="4428558" y="611243"/>
                  </a:lnTo>
                  <a:lnTo>
                    <a:pt x="4432567" y="591519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332230" y="805815"/>
            <a:ext cx="2274570" cy="49784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565"/>
              </a:spcBef>
            </a:pPr>
            <a:r>
              <a:rPr sz="1400" spc="10" dirty="0">
                <a:solidFill>
                  <a:srgbClr val="FFFFFF"/>
                </a:solidFill>
                <a:latin typeface="LM Sans 12"/>
                <a:cs typeface="LM Sans 12"/>
              </a:rPr>
              <a:t>CSC3100 </a:t>
            </a:r>
            <a:r>
              <a:rPr sz="1400" spc="-10" dirty="0">
                <a:solidFill>
                  <a:srgbClr val="FFFFFF"/>
                </a:solidFill>
                <a:latin typeface="LM Sans 12"/>
                <a:cs typeface="LM Sans 12"/>
              </a:rPr>
              <a:t>Tutorial</a:t>
            </a:r>
            <a:r>
              <a:rPr sz="1400" spc="-25" dirty="0">
                <a:solidFill>
                  <a:srgbClr val="FFFFFF"/>
                </a:solidFill>
                <a:latin typeface="LM Sans 12"/>
                <a:cs typeface="LM Sans 12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LM Sans 12"/>
                <a:cs typeface="LM Sans 12"/>
              </a:rPr>
              <a:t>7</a:t>
            </a:r>
            <a:endParaRPr sz="1400" dirty="0">
              <a:latin typeface="LM Sans 12"/>
              <a:cs typeface="LM Sans 12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100" spc="-10" dirty="0">
                <a:solidFill>
                  <a:srgbClr val="FFFFFF"/>
                </a:solidFill>
                <a:latin typeface="LM Sans 10"/>
                <a:cs typeface="LM Sans 10"/>
              </a:rPr>
              <a:t>Sorting Algorithm and</a:t>
            </a:r>
            <a:r>
              <a:rPr sz="1100" spc="-45" dirty="0">
                <a:solidFill>
                  <a:srgbClr val="FFFFFF"/>
                </a:solidFill>
                <a:latin typeface="LM Sans 10"/>
                <a:cs typeface="LM Sans 10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LM Sans 10"/>
                <a:cs typeface="LM Sans 10"/>
              </a:rPr>
              <a:t>Tree</a:t>
            </a:r>
            <a:endParaRPr sz="1100" dirty="0">
              <a:latin typeface="LM Sans 10"/>
              <a:cs typeface="LM Sans 1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95450" y="1654175"/>
            <a:ext cx="1199515" cy="9277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US" sz="1100" spc="-15" dirty="0">
                <a:latin typeface="LM Sans 10"/>
                <a:cs typeface="LM Sans 10"/>
              </a:rPr>
              <a:t>Yuan Xu</a:t>
            </a:r>
            <a:endParaRPr sz="1100" spc="-15" dirty="0">
              <a:latin typeface="LM Sans 10"/>
              <a:cs typeface="LM Sans 10"/>
            </a:endParaRP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spc="-15" dirty="0">
                <a:latin typeface="LM Sans 10"/>
                <a:cs typeface="LM Sans 10"/>
              </a:rPr>
              <a:t>Wenyu</a:t>
            </a:r>
            <a:r>
              <a:rPr sz="1100" spc="-60" dirty="0">
                <a:latin typeface="LM Sans 10"/>
                <a:cs typeface="LM Sans 10"/>
              </a:rPr>
              <a:t> </a:t>
            </a:r>
            <a:r>
              <a:rPr sz="1100" spc="-10" dirty="0">
                <a:latin typeface="LM Sans 10"/>
                <a:cs typeface="LM Sans 10"/>
              </a:rPr>
              <a:t>Huang</a:t>
            </a:r>
            <a:endParaRPr sz="1100">
              <a:latin typeface="LM Sans 10"/>
              <a:cs typeface="LM Sans 10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LM Sans 10"/>
              <a:cs typeface="LM Sans 10"/>
            </a:endParaRPr>
          </a:p>
          <a:p>
            <a:pPr algn="ctr">
              <a:lnSpc>
                <a:spcPct val="100000"/>
              </a:lnSpc>
            </a:pPr>
            <a:r>
              <a:rPr sz="800" spc="-10" dirty="0">
                <a:latin typeface="LM Sans 8"/>
                <a:cs typeface="LM Sans 8"/>
              </a:rPr>
              <a:t>CUHKSZ</a:t>
            </a:r>
            <a:endParaRPr sz="800">
              <a:latin typeface="LM Sans 8"/>
              <a:cs typeface="LM Sans 8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750">
              <a:latin typeface="LM Sans 8"/>
              <a:cs typeface="LM Sans 8"/>
            </a:endParaRPr>
          </a:p>
          <a:p>
            <a:pPr algn="ctr">
              <a:lnSpc>
                <a:spcPct val="100000"/>
              </a:lnSpc>
            </a:pPr>
            <a:r>
              <a:rPr lang="en-US" sz="1100" spc="-5" dirty="0">
                <a:latin typeface="LM Sans 10"/>
                <a:cs typeface="LM Sans 10"/>
              </a:rPr>
              <a:t>Oct. 23rd, </a:t>
            </a:r>
            <a:r>
              <a:rPr sz="1100" spc="-5" dirty="0">
                <a:latin typeface="LM Sans 10"/>
                <a:cs typeface="LM Sans 10"/>
              </a:rPr>
              <a:t>2022</a:t>
            </a:r>
            <a:endParaRPr lang="en-US" sz="1100" spc="-5" dirty="0">
              <a:latin typeface="LM Sans 10"/>
              <a:cs typeface="LM Sans 10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761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13" name="object 13"/>
          <p:cNvSpPr txBox="1"/>
          <p:nvPr/>
        </p:nvSpPr>
        <p:spPr>
          <a:xfrm>
            <a:off x="1958606" y="3351784"/>
            <a:ext cx="690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CSC3100 </a:t>
            </a:r>
            <a:r>
              <a:rPr sz="600" spc="-1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Tutorial</a:t>
            </a:r>
            <a:r>
              <a:rPr sz="600" spc="-2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7</a:t>
            </a:r>
            <a:endParaRPr sz="600">
              <a:latin typeface="LM Sans 8"/>
              <a:cs typeface="LM Sans 8"/>
            </a:endParaRPr>
          </a:p>
        </p:txBody>
      </p:sp>
      <p:sp>
        <p:nvSpPr>
          <p:cNvPr id="15" name="object 13"/>
          <p:cNvSpPr txBox="1"/>
          <p:nvPr/>
        </p:nvSpPr>
        <p:spPr>
          <a:xfrm>
            <a:off x="3600450" y="3374390"/>
            <a:ext cx="679450" cy="86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38100">
              <a:lnSpc>
                <a:spcPts val="675"/>
              </a:lnSpc>
            </a:pP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2022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/10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/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3</a:t>
            </a:r>
            <a:endParaRPr lang="en-US" sz="600" spc="-5" dirty="0">
              <a:solidFill>
                <a:srgbClr val="FFFFFF"/>
              </a:solidFill>
              <a:latin typeface="LM Sans 8"/>
              <a:cs typeface="LM Sans 8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250" y="59690"/>
            <a:ext cx="3044825" cy="2324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FFFFFF"/>
                </a:solidFill>
                <a:latin typeface="LM Sans 12"/>
                <a:cs typeface="LM Sans 12"/>
              </a:rPr>
              <a:t>Advanced </a:t>
            </a:r>
            <a:r>
              <a:rPr sz="1400" spc="10" dirty="0">
                <a:solidFill>
                  <a:srgbClr val="FFFFFF"/>
                </a:solidFill>
                <a:latin typeface="LM Sans 12"/>
                <a:cs typeface="LM Sans 12"/>
              </a:rPr>
              <a:t>Counting</a:t>
            </a:r>
            <a:r>
              <a:rPr sz="1400" spc="-55" dirty="0">
                <a:solidFill>
                  <a:srgbClr val="FFFFFF"/>
                </a:solidFill>
                <a:latin typeface="LM Sans 12"/>
                <a:cs typeface="LM Sans 12"/>
              </a:rPr>
              <a:t> </a:t>
            </a:r>
            <a:r>
              <a:rPr sz="1400" dirty="0">
                <a:solidFill>
                  <a:srgbClr val="FFFFFF"/>
                </a:solidFill>
                <a:latin typeface="LM Sans 12"/>
                <a:cs typeface="LM Sans 12"/>
              </a:rPr>
              <a:t>Sort</a:t>
            </a:r>
            <a:endParaRPr sz="1400">
              <a:latin typeface="LM Sans 12"/>
              <a:cs typeface="LM Sans 1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730" y="679450"/>
            <a:ext cx="4067175" cy="7753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LM Sans 10"/>
                <a:cs typeface="LM Sans 10"/>
              </a:rPr>
              <a:t>Consider </a:t>
            </a:r>
            <a:r>
              <a:rPr sz="1100" spc="-5" dirty="0">
                <a:latin typeface="LM Sans 10"/>
                <a:cs typeface="LM Sans 10"/>
              </a:rPr>
              <a:t>the </a:t>
            </a:r>
            <a:r>
              <a:rPr sz="1100" spc="-10" dirty="0">
                <a:latin typeface="LM Sans 10"/>
                <a:cs typeface="LM Sans 10"/>
              </a:rPr>
              <a:t>following </a:t>
            </a:r>
            <a:r>
              <a:rPr sz="1100" spc="-5" dirty="0">
                <a:latin typeface="LM Sans 10"/>
                <a:cs typeface="LM Sans 10"/>
              </a:rPr>
              <a:t>example:</a:t>
            </a:r>
            <a:endParaRPr sz="1100" dirty="0">
              <a:latin typeface="LM Sans 10"/>
              <a:cs typeface="LM Sans 10"/>
            </a:endParaRPr>
          </a:p>
          <a:p>
            <a:pPr>
              <a:lnSpc>
                <a:spcPct val="100000"/>
              </a:lnSpc>
            </a:pPr>
            <a:endParaRPr sz="1100" spc="-5" dirty="0">
              <a:latin typeface="LM Sans 10"/>
              <a:cs typeface="LM Sans 10"/>
            </a:endParaRPr>
          </a:p>
          <a:p>
            <a:pPr>
              <a:lnSpc>
                <a:spcPct val="100000"/>
              </a:lnSpc>
            </a:pPr>
            <a:r>
              <a:rPr lang="en-US" sz="1100" spc="-5" dirty="0">
                <a:latin typeface="LM Sans 10"/>
                <a:cs typeface="LM Sans 10"/>
              </a:rPr>
              <a:t>          </a:t>
            </a:r>
            <a:r>
              <a:rPr sz="1100" spc="-5" dirty="0">
                <a:latin typeface="Times New Roman Regular" panose="02020603050405020304" charset="0"/>
                <a:cs typeface="Times New Roman Regular" panose="02020603050405020304" charset="0"/>
              </a:rPr>
              <a:t>101</a:t>
            </a:r>
            <a:r>
              <a:rPr sz="1100" i="1" spc="-5" dirty="0">
                <a:latin typeface="Times New Roman Regular" panose="02020603050405020304" charset="0"/>
                <a:cs typeface="Times New Roman Regular" panose="02020603050405020304" charset="0"/>
              </a:rPr>
              <a:t>,</a:t>
            </a:r>
            <a:r>
              <a:rPr sz="1100" i="1" spc="-13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sz="1100" spc="-5" dirty="0">
                <a:latin typeface="Times New Roman Regular" panose="02020603050405020304" charset="0"/>
                <a:cs typeface="Times New Roman Regular" panose="02020603050405020304" charset="0"/>
              </a:rPr>
              <a:t>109</a:t>
            </a:r>
            <a:r>
              <a:rPr sz="1100" i="1" spc="-5" dirty="0">
                <a:latin typeface="Times New Roman Regular" panose="02020603050405020304" charset="0"/>
                <a:cs typeface="Times New Roman Regular" panose="02020603050405020304" charset="0"/>
              </a:rPr>
              <a:t>,</a:t>
            </a:r>
            <a:r>
              <a:rPr sz="1100" i="1" spc="-13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sz="1100" spc="-5" dirty="0">
                <a:latin typeface="Times New Roman Regular" panose="02020603050405020304" charset="0"/>
                <a:cs typeface="Times New Roman Regular" panose="02020603050405020304" charset="0"/>
              </a:rPr>
              <a:t>107</a:t>
            </a:r>
            <a:r>
              <a:rPr sz="1100" i="1" spc="-5" dirty="0">
                <a:latin typeface="Times New Roman Regular" panose="02020603050405020304" charset="0"/>
                <a:cs typeface="Times New Roman Regular" panose="02020603050405020304" charset="0"/>
              </a:rPr>
              <a:t>,</a:t>
            </a:r>
            <a:r>
              <a:rPr sz="1100" i="1" spc="-125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sz="1100" spc="-5" dirty="0">
                <a:latin typeface="Times New Roman Regular" panose="02020603050405020304" charset="0"/>
                <a:cs typeface="Times New Roman Regular" panose="02020603050405020304" charset="0"/>
              </a:rPr>
              <a:t>103</a:t>
            </a:r>
            <a:r>
              <a:rPr sz="1100" i="1" spc="-5" dirty="0">
                <a:latin typeface="Times New Roman Regular" panose="02020603050405020304" charset="0"/>
                <a:cs typeface="Times New Roman Regular" panose="02020603050405020304" charset="0"/>
              </a:rPr>
              <a:t>,</a:t>
            </a:r>
            <a:r>
              <a:rPr sz="1100" i="1" spc="-13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sz="1100" spc="-10" dirty="0">
                <a:latin typeface="Times New Roman Regular" panose="02020603050405020304" charset="0"/>
                <a:cs typeface="Times New Roman Regular" panose="02020603050405020304" charset="0"/>
              </a:rPr>
              <a:t>108</a:t>
            </a:r>
            <a:r>
              <a:rPr sz="1100" i="1" spc="-10" dirty="0">
                <a:latin typeface="Times New Roman Regular" panose="02020603050405020304" charset="0"/>
                <a:cs typeface="Times New Roman Regular" panose="02020603050405020304" charset="0"/>
              </a:rPr>
              <a:t>,</a:t>
            </a:r>
            <a:r>
              <a:rPr sz="1100" i="1" spc="-125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sz="1100" spc="-10" dirty="0">
                <a:latin typeface="Times New Roman Regular" panose="02020603050405020304" charset="0"/>
                <a:cs typeface="Times New Roman Regular" panose="02020603050405020304" charset="0"/>
              </a:rPr>
              <a:t>102</a:t>
            </a:r>
            <a:r>
              <a:rPr sz="1100" i="1" spc="-10" dirty="0">
                <a:latin typeface="Times New Roman Regular" panose="02020603050405020304" charset="0"/>
                <a:cs typeface="Times New Roman Regular" panose="02020603050405020304" charset="0"/>
              </a:rPr>
              <a:t>,</a:t>
            </a:r>
            <a:r>
              <a:rPr sz="1100" i="1" spc="-13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sz="1100" spc="-10" dirty="0">
                <a:latin typeface="Times New Roman Regular" panose="02020603050405020304" charset="0"/>
                <a:cs typeface="Times New Roman Regular" panose="02020603050405020304" charset="0"/>
              </a:rPr>
              <a:t>103</a:t>
            </a:r>
            <a:r>
              <a:rPr sz="1100" i="1" spc="-10" dirty="0">
                <a:latin typeface="Times New Roman Regular" panose="02020603050405020304" charset="0"/>
                <a:cs typeface="Times New Roman Regular" panose="02020603050405020304" charset="0"/>
              </a:rPr>
              <a:t>,</a:t>
            </a:r>
            <a:r>
              <a:rPr sz="1100" i="1" spc="-125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sz="1100" spc="-5" dirty="0">
                <a:latin typeface="Times New Roman Regular" panose="02020603050405020304" charset="0"/>
                <a:cs typeface="Times New Roman Regular" panose="02020603050405020304" charset="0"/>
              </a:rPr>
              <a:t>110</a:t>
            </a:r>
            <a:r>
              <a:rPr sz="1100" i="1" spc="-5" dirty="0">
                <a:latin typeface="Times New Roman Regular" panose="02020603050405020304" charset="0"/>
                <a:cs typeface="Times New Roman Regular" panose="02020603050405020304" charset="0"/>
              </a:rPr>
              <a:t>,</a:t>
            </a:r>
            <a:r>
              <a:rPr sz="1100" i="1" spc="-13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sz="1100" spc="-5" dirty="0">
                <a:latin typeface="Times New Roman Regular" panose="02020603050405020304" charset="0"/>
                <a:cs typeface="Times New Roman Regular" panose="02020603050405020304" charset="0"/>
              </a:rPr>
              <a:t>107</a:t>
            </a:r>
            <a:r>
              <a:rPr sz="1100" i="1" spc="-5" dirty="0">
                <a:latin typeface="Times New Roman Regular" panose="02020603050405020304" charset="0"/>
                <a:cs typeface="Times New Roman Regular" panose="02020603050405020304" charset="0"/>
              </a:rPr>
              <a:t>,</a:t>
            </a:r>
            <a:r>
              <a:rPr sz="1100" i="1" spc="-13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sz="1100" spc="-5" dirty="0">
                <a:latin typeface="Times New Roman Regular" panose="02020603050405020304" charset="0"/>
                <a:cs typeface="Times New Roman Regular" panose="02020603050405020304" charset="0"/>
              </a:rPr>
              <a:t>103</a:t>
            </a:r>
            <a:endParaRPr sz="1100" dirty="0">
              <a:latin typeface="LM Sans 10"/>
              <a:cs typeface="LM Sans 10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100" spc="-25" dirty="0">
                <a:latin typeface="LM Sans 10"/>
                <a:cs typeface="LM Sans 10"/>
              </a:rPr>
              <a:t>We </a:t>
            </a:r>
            <a:r>
              <a:rPr sz="1100" spc="-5" dirty="0">
                <a:latin typeface="LM Sans 10"/>
                <a:cs typeface="LM Sans 10"/>
              </a:rPr>
              <a:t>will meet the </a:t>
            </a:r>
            <a:r>
              <a:rPr sz="1100" spc="-10" dirty="0">
                <a:latin typeface="LM Sans 10"/>
                <a:cs typeface="LM Sans 10"/>
              </a:rPr>
              <a:t>following</a:t>
            </a:r>
            <a:r>
              <a:rPr sz="1100" spc="5" dirty="0">
                <a:latin typeface="LM Sans 10"/>
                <a:cs typeface="LM Sans 10"/>
              </a:rPr>
              <a:t> </a:t>
            </a:r>
            <a:r>
              <a:rPr sz="1100" spc="-5" dirty="0">
                <a:latin typeface="LM Sans 10"/>
                <a:cs typeface="LM Sans 10"/>
              </a:rPr>
              <a:t>case:</a:t>
            </a:r>
            <a:endParaRPr sz="1100" dirty="0">
              <a:latin typeface="LM Sans 10"/>
              <a:cs typeface="LM Sans 1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7383" y="1577969"/>
            <a:ext cx="3775180" cy="74823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25730" y="2706370"/>
            <a:ext cx="2346960" cy="180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LM Sans 10"/>
                <a:cs typeface="LM Sans 10"/>
              </a:rPr>
              <a:t>We </a:t>
            </a:r>
            <a:r>
              <a:rPr sz="1100" spc="-15" dirty="0">
                <a:latin typeface="LM Sans 10"/>
                <a:cs typeface="LM Sans 10"/>
              </a:rPr>
              <a:t>waste </a:t>
            </a:r>
            <a:r>
              <a:rPr sz="1100" spc="-10" dirty="0">
                <a:latin typeface="LM Sans 10"/>
                <a:cs typeface="LM Sans 10"/>
              </a:rPr>
              <a:t>a </a:t>
            </a:r>
            <a:r>
              <a:rPr sz="1100" spc="-5" dirty="0">
                <a:latin typeface="LM Sans 10"/>
                <a:cs typeface="LM Sans 10"/>
              </a:rPr>
              <a:t>lot of</a:t>
            </a:r>
            <a:r>
              <a:rPr sz="1100" spc="-35" dirty="0">
                <a:latin typeface="LM Sans 10"/>
                <a:cs typeface="LM Sans 10"/>
              </a:rPr>
              <a:t> </a:t>
            </a:r>
            <a:r>
              <a:rPr sz="1100" spc="-5" dirty="0">
                <a:latin typeface="LM Sans 10"/>
                <a:cs typeface="LM Sans 10"/>
              </a:rPr>
              <a:t>space.</a:t>
            </a:r>
            <a:endParaRPr sz="1100">
              <a:latin typeface="LM Sans 10"/>
              <a:cs typeface="LM Sans 10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12" name="object 12"/>
          <p:cNvSpPr txBox="1"/>
          <p:nvPr/>
        </p:nvSpPr>
        <p:spPr>
          <a:xfrm>
            <a:off x="1958606" y="3351784"/>
            <a:ext cx="690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CSC3100 </a:t>
            </a:r>
            <a:r>
              <a:rPr sz="600" spc="-1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Tutorial</a:t>
            </a:r>
            <a:r>
              <a:rPr sz="600" spc="-2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7</a:t>
            </a:r>
            <a:endParaRPr sz="600">
              <a:latin typeface="LM Sans 8"/>
              <a:cs typeface="LM Sans 8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00450" y="3374390"/>
            <a:ext cx="679450" cy="86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2022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/10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/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3</a:t>
            </a:r>
            <a:endParaRPr lang="en-US" sz="600" spc="-5" dirty="0">
              <a:solidFill>
                <a:srgbClr val="FFFFFF"/>
              </a:solidFill>
              <a:latin typeface="LM Sans 8"/>
              <a:cs typeface="LM Sans 8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250" y="59690"/>
            <a:ext cx="3063875" cy="2324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FFFFFF"/>
                </a:solidFill>
                <a:latin typeface="LM Sans 12"/>
                <a:cs typeface="LM Sans 12"/>
              </a:rPr>
              <a:t>Advanced </a:t>
            </a:r>
            <a:r>
              <a:rPr sz="1400" spc="10" dirty="0">
                <a:solidFill>
                  <a:srgbClr val="FFFFFF"/>
                </a:solidFill>
                <a:latin typeface="LM Sans 12"/>
                <a:cs typeface="LM Sans 12"/>
              </a:rPr>
              <a:t>Counting</a:t>
            </a:r>
            <a:r>
              <a:rPr sz="1400" spc="-55" dirty="0">
                <a:solidFill>
                  <a:srgbClr val="FFFFFF"/>
                </a:solidFill>
                <a:latin typeface="LM Sans 12"/>
                <a:cs typeface="LM Sans 12"/>
              </a:rPr>
              <a:t> </a:t>
            </a:r>
            <a:r>
              <a:rPr sz="1400" dirty="0">
                <a:solidFill>
                  <a:srgbClr val="FFFFFF"/>
                </a:solidFill>
                <a:latin typeface="LM Sans 12"/>
                <a:cs typeface="LM Sans 12"/>
              </a:rPr>
              <a:t>Sort</a:t>
            </a:r>
            <a:endParaRPr sz="1400">
              <a:latin typeface="LM Sans 12"/>
              <a:cs typeface="LM Sans 1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743" y="1104048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8"/>
                </a:lnTo>
                <a:lnTo>
                  <a:pt x="4432567" y="198368"/>
                </a:lnTo>
                <a:lnTo>
                  <a:pt x="4432567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2" y="4008"/>
                </a:lnTo>
                <a:lnTo>
                  <a:pt x="4381767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5730" y="1127125"/>
            <a:ext cx="791210" cy="146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" dirty="0">
                <a:solidFill>
                  <a:srgbClr val="FFFFFF"/>
                </a:solidFill>
                <a:latin typeface="LM Sans 12"/>
                <a:cs typeface="LM Sans 12"/>
              </a:rPr>
              <a:t>Examples</a:t>
            </a:r>
            <a:endParaRPr sz="1200">
              <a:latin typeface="LM Sans 12"/>
              <a:cs typeface="LM Sans 12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7743" y="1261186"/>
            <a:ext cx="4432935" cy="313521"/>
            <a:chOff x="87743" y="1289761"/>
            <a:chExt cx="4432935" cy="313521"/>
          </a:xfrm>
        </p:grpSpPr>
        <p:sp>
          <p:nvSpPr>
            <p:cNvPr id="7" name="object 7"/>
            <p:cNvSpPr/>
            <p:nvPr/>
          </p:nvSpPr>
          <p:spPr>
            <a:xfrm>
              <a:off x="87744" y="1289761"/>
              <a:ext cx="4432566" cy="50609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7743" y="1334042"/>
              <a:ext cx="4432935" cy="269240"/>
            </a:xfrm>
            <a:custGeom>
              <a:avLst/>
              <a:gdLst/>
              <a:ahLst/>
              <a:cxnLst/>
              <a:rect l="l" t="t" r="r" b="b"/>
              <a:pathLst>
                <a:path w="4432935" h="269240">
                  <a:moveTo>
                    <a:pt x="4432567" y="0"/>
                  </a:moveTo>
                  <a:lnTo>
                    <a:pt x="0" y="0"/>
                  </a:lnTo>
                  <a:lnTo>
                    <a:pt x="0" y="217948"/>
                  </a:lnTo>
                  <a:lnTo>
                    <a:pt x="4008" y="237673"/>
                  </a:lnTo>
                  <a:lnTo>
                    <a:pt x="14922" y="253826"/>
                  </a:lnTo>
                  <a:lnTo>
                    <a:pt x="31075" y="264740"/>
                  </a:lnTo>
                  <a:lnTo>
                    <a:pt x="50800" y="268748"/>
                  </a:lnTo>
                  <a:lnTo>
                    <a:pt x="4381767" y="268748"/>
                  </a:lnTo>
                  <a:lnTo>
                    <a:pt x="4401492" y="264740"/>
                  </a:lnTo>
                  <a:lnTo>
                    <a:pt x="4417644" y="253826"/>
                  </a:lnTo>
                  <a:lnTo>
                    <a:pt x="4428558" y="237673"/>
                  </a:lnTo>
                  <a:lnTo>
                    <a:pt x="4432567" y="217948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7630" y="1278255"/>
            <a:ext cx="4418330" cy="11404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61695">
              <a:lnSpc>
                <a:spcPct val="100000"/>
              </a:lnSpc>
              <a:spcBef>
                <a:spcPts val="90"/>
              </a:spcBef>
            </a:pPr>
            <a:endParaRPr sz="650" dirty="0">
              <a:latin typeface="LM Sans 10"/>
              <a:cs typeface="LM Sans 10"/>
            </a:endParaRPr>
          </a:p>
          <a:p>
            <a:pPr marL="12700">
              <a:lnSpc>
                <a:spcPct val="100000"/>
              </a:lnSpc>
            </a:pPr>
            <a:r>
              <a:rPr lang="en-US" sz="1100" spc="-5" dirty="0">
                <a:latin typeface="LM Sans 10"/>
                <a:cs typeface="LM Sans 10"/>
                <a:sym typeface="+mn-ea"/>
              </a:rPr>
              <a:t>           </a:t>
            </a:r>
            <a:r>
              <a:rPr sz="1100" spc="-5" dirty="0">
                <a:latin typeface="LM Sans 10"/>
                <a:cs typeface="LM Sans 10"/>
                <a:sym typeface="+mn-ea"/>
              </a:rPr>
              <a:t>101</a:t>
            </a:r>
            <a:r>
              <a:rPr sz="1100" i="1" spc="-5" dirty="0">
                <a:latin typeface="Arial" panose="020B0604020202020204"/>
                <a:cs typeface="Arial" panose="020B0604020202020204"/>
                <a:sym typeface="+mn-ea"/>
              </a:rPr>
              <a:t>,</a:t>
            </a:r>
            <a:r>
              <a:rPr sz="1100" i="1" spc="-130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1100" spc="-5" dirty="0">
                <a:latin typeface="LM Sans 10"/>
                <a:cs typeface="LM Sans 10"/>
                <a:sym typeface="+mn-ea"/>
              </a:rPr>
              <a:t>109</a:t>
            </a:r>
            <a:r>
              <a:rPr sz="1100" i="1" spc="-5" dirty="0">
                <a:latin typeface="Arial" panose="020B0604020202020204"/>
                <a:cs typeface="Arial" panose="020B0604020202020204"/>
                <a:sym typeface="+mn-ea"/>
              </a:rPr>
              <a:t>,</a:t>
            </a:r>
            <a:r>
              <a:rPr sz="1100" i="1" spc="-125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1100" spc="-5" dirty="0">
                <a:latin typeface="LM Sans 10"/>
                <a:cs typeface="LM Sans 10"/>
                <a:sym typeface="+mn-ea"/>
              </a:rPr>
              <a:t>107</a:t>
            </a:r>
            <a:r>
              <a:rPr sz="1100" i="1" spc="-5" dirty="0">
                <a:latin typeface="Arial" panose="020B0604020202020204"/>
                <a:cs typeface="Arial" panose="020B0604020202020204"/>
                <a:sym typeface="+mn-ea"/>
              </a:rPr>
              <a:t>,</a:t>
            </a:r>
            <a:r>
              <a:rPr sz="1100" i="1" spc="-130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1100" spc="-5" dirty="0">
                <a:latin typeface="LM Sans 10"/>
                <a:cs typeface="LM Sans 10"/>
                <a:sym typeface="+mn-ea"/>
              </a:rPr>
              <a:t>103</a:t>
            </a:r>
            <a:r>
              <a:rPr sz="1100" i="1" spc="-5" dirty="0">
                <a:latin typeface="Arial" panose="020B0604020202020204"/>
                <a:cs typeface="Arial" panose="020B0604020202020204"/>
                <a:sym typeface="+mn-ea"/>
              </a:rPr>
              <a:t>,</a:t>
            </a:r>
            <a:r>
              <a:rPr sz="1100" i="1" spc="-125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1100" spc="-5" dirty="0">
                <a:latin typeface="LM Sans 10"/>
                <a:cs typeface="LM Sans 10"/>
                <a:sym typeface="+mn-ea"/>
              </a:rPr>
              <a:t>108</a:t>
            </a:r>
            <a:r>
              <a:rPr sz="1100" i="1" spc="-5" dirty="0">
                <a:latin typeface="Arial" panose="020B0604020202020204"/>
                <a:cs typeface="Arial" panose="020B0604020202020204"/>
                <a:sym typeface="+mn-ea"/>
              </a:rPr>
              <a:t>,</a:t>
            </a:r>
            <a:r>
              <a:rPr sz="1100" i="1" spc="-125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1100" spc="-10" dirty="0">
                <a:latin typeface="LM Sans 10"/>
                <a:cs typeface="LM Sans 10"/>
                <a:sym typeface="+mn-ea"/>
              </a:rPr>
              <a:t>102</a:t>
            </a:r>
            <a:r>
              <a:rPr sz="1100" i="1" spc="-10" dirty="0">
                <a:latin typeface="Arial" panose="020B0604020202020204"/>
                <a:cs typeface="Arial" panose="020B0604020202020204"/>
                <a:sym typeface="+mn-ea"/>
              </a:rPr>
              <a:t>,</a:t>
            </a:r>
            <a:r>
              <a:rPr sz="1100" i="1" spc="-130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1100" spc="-10" dirty="0">
                <a:latin typeface="LM Sans 10"/>
                <a:cs typeface="LM Sans 10"/>
                <a:sym typeface="+mn-ea"/>
              </a:rPr>
              <a:t>103</a:t>
            </a:r>
            <a:r>
              <a:rPr sz="1100" i="1" spc="-10" dirty="0">
                <a:latin typeface="Arial" panose="020B0604020202020204"/>
                <a:cs typeface="Arial" panose="020B0604020202020204"/>
                <a:sym typeface="+mn-ea"/>
              </a:rPr>
              <a:t>,</a:t>
            </a:r>
            <a:r>
              <a:rPr sz="1100" i="1" spc="-125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1100" spc="-5" dirty="0">
                <a:latin typeface="LM Sans 10"/>
                <a:cs typeface="LM Sans 10"/>
                <a:sym typeface="+mn-ea"/>
              </a:rPr>
              <a:t>110</a:t>
            </a:r>
            <a:r>
              <a:rPr sz="1100" i="1" spc="-5" dirty="0">
                <a:latin typeface="Arial" panose="020B0604020202020204"/>
                <a:cs typeface="Arial" panose="020B0604020202020204"/>
                <a:sym typeface="+mn-ea"/>
              </a:rPr>
              <a:t>,</a:t>
            </a:r>
            <a:r>
              <a:rPr sz="1100" i="1" spc="-125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1100" spc="-5" dirty="0">
                <a:latin typeface="LM Sans 10"/>
                <a:cs typeface="LM Sans 10"/>
                <a:sym typeface="+mn-ea"/>
              </a:rPr>
              <a:t>107</a:t>
            </a:r>
            <a:r>
              <a:rPr sz="1100" i="1" spc="-5" dirty="0">
                <a:latin typeface="Arial" panose="020B0604020202020204"/>
                <a:cs typeface="Arial" panose="020B0604020202020204"/>
                <a:sym typeface="+mn-ea"/>
              </a:rPr>
              <a:t>,</a:t>
            </a:r>
            <a:r>
              <a:rPr sz="1100" i="1" spc="-130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1100" spc="-5" dirty="0">
                <a:latin typeface="LM Sans 10"/>
                <a:cs typeface="LM Sans 10"/>
                <a:sym typeface="+mn-ea"/>
              </a:rPr>
              <a:t>103</a:t>
            </a:r>
            <a:endParaRPr sz="1100" spc="-25" dirty="0">
              <a:latin typeface="LM Sans 10"/>
              <a:cs typeface="LM Sans 10"/>
            </a:endParaRPr>
          </a:p>
          <a:p>
            <a:pPr marL="12700">
              <a:lnSpc>
                <a:spcPct val="100000"/>
              </a:lnSpc>
            </a:pPr>
            <a:endParaRPr sz="1100" spc="-25" dirty="0">
              <a:latin typeface="LM Sans 10"/>
              <a:cs typeface="LM Sans 10"/>
            </a:endParaRPr>
          </a:p>
          <a:p>
            <a:pPr marL="12700">
              <a:lnSpc>
                <a:spcPct val="100000"/>
              </a:lnSpc>
            </a:pPr>
            <a:r>
              <a:rPr sz="1100" spc="-25" dirty="0">
                <a:latin typeface="LM Sans 10"/>
                <a:cs typeface="LM Sans 10"/>
              </a:rPr>
              <a:t>We </a:t>
            </a:r>
            <a:r>
              <a:rPr sz="1100" spc="-10" dirty="0">
                <a:latin typeface="LM Sans 10"/>
                <a:cs typeface="LM Sans 10"/>
              </a:rPr>
              <a:t>can compress </a:t>
            </a:r>
            <a:r>
              <a:rPr sz="1100" spc="-5" dirty="0">
                <a:latin typeface="LM Sans 10"/>
                <a:cs typeface="LM Sans 10"/>
              </a:rPr>
              <a:t>the counting</a:t>
            </a:r>
            <a:r>
              <a:rPr sz="1100" spc="15" dirty="0">
                <a:latin typeface="LM Sans 10"/>
                <a:cs typeface="LM Sans 10"/>
              </a:rPr>
              <a:t> </a:t>
            </a:r>
            <a:r>
              <a:rPr sz="1100" spc="-35" dirty="0">
                <a:latin typeface="LM Sans 10"/>
                <a:cs typeface="LM Sans 10"/>
              </a:rPr>
              <a:t>array.</a:t>
            </a:r>
            <a:endParaRPr sz="1100" dirty="0">
              <a:latin typeface="LM Sans 10"/>
              <a:cs typeface="LM Sans 10"/>
            </a:endParaRPr>
          </a:p>
          <a:p>
            <a:pPr marL="12700" marR="5080">
              <a:lnSpc>
                <a:spcPct val="103000"/>
              </a:lnSpc>
            </a:pPr>
            <a:r>
              <a:rPr sz="1100" spc="-15" dirty="0">
                <a:latin typeface="LM Sans 10"/>
                <a:cs typeface="LM Sans 10"/>
              </a:rPr>
              <a:t>Actually, </a:t>
            </a:r>
            <a:r>
              <a:rPr sz="1100" spc="-25" dirty="0">
                <a:latin typeface="LM Sans 10"/>
                <a:cs typeface="LM Sans 10"/>
              </a:rPr>
              <a:t>we </a:t>
            </a:r>
            <a:r>
              <a:rPr sz="1100" spc="-10" dirty="0">
                <a:latin typeface="LM Sans 10"/>
                <a:cs typeface="LM Sans 10"/>
              </a:rPr>
              <a:t>can map </a:t>
            </a:r>
            <a:r>
              <a:rPr sz="1100" spc="-5" dirty="0">
                <a:latin typeface="LM Sans 10"/>
                <a:cs typeface="LM Sans 10"/>
              </a:rPr>
              <a:t>the </a:t>
            </a:r>
            <a:r>
              <a:rPr sz="1100" spc="-15" dirty="0">
                <a:latin typeface="LM Sans 10"/>
                <a:cs typeface="LM Sans 10"/>
              </a:rPr>
              <a:t>start </a:t>
            </a:r>
            <a:r>
              <a:rPr sz="1100" spc="-5" dirty="0">
                <a:latin typeface="LM Sans 10"/>
                <a:cs typeface="LM Sans 10"/>
              </a:rPr>
              <a:t>index of the counting </a:t>
            </a:r>
            <a:r>
              <a:rPr sz="1100" spc="-20" dirty="0">
                <a:latin typeface="LM Sans 10"/>
                <a:cs typeface="LM Sans 10"/>
              </a:rPr>
              <a:t>array </a:t>
            </a:r>
            <a:r>
              <a:rPr sz="1100" spc="-5" dirty="0">
                <a:latin typeface="LM Sans 10"/>
                <a:cs typeface="LM Sans 10"/>
              </a:rPr>
              <a:t>to the  </a:t>
            </a:r>
            <a:r>
              <a:rPr sz="1100" spc="-10" dirty="0">
                <a:latin typeface="LM Sans 10"/>
                <a:cs typeface="LM Sans 10"/>
              </a:rPr>
              <a:t>minimum </a:t>
            </a:r>
            <a:r>
              <a:rPr sz="1100" spc="-5" dirty="0">
                <a:latin typeface="LM Sans 10"/>
                <a:cs typeface="LM Sans 10"/>
              </a:rPr>
              <a:t>value of the </a:t>
            </a:r>
            <a:r>
              <a:rPr sz="1100" spc="-20" dirty="0">
                <a:latin typeface="LM Sans 10"/>
                <a:cs typeface="LM Sans 10"/>
              </a:rPr>
              <a:t>array </a:t>
            </a:r>
            <a:r>
              <a:rPr sz="1100" spc="-5" dirty="0">
                <a:latin typeface="LM Sans 10"/>
                <a:cs typeface="LM Sans 10"/>
              </a:rPr>
              <a:t>to </a:t>
            </a:r>
            <a:r>
              <a:rPr sz="1100" spc="10" dirty="0">
                <a:latin typeface="LM Sans 10"/>
                <a:cs typeface="LM Sans 10"/>
              </a:rPr>
              <a:t>be</a:t>
            </a:r>
            <a:r>
              <a:rPr sz="1100" spc="5" dirty="0">
                <a:latin typeface="LM Sans 10"/>
                <a:cs typeface="LM Sans 10"/>
              </a:rPr>
              <a:t> </a:t>
            </a:r>
            <a:r>
              <a:rPr sz="1100" spc="-10" dirty="0">
                <a:latin typeface="LM Sans 10"/>
                <a:cs typeface="LM Sans 10"/>
              </a:rPr>
              <a:t>sorted.</a:t>
            </a:r>
            <a:endParaRPr sz="1100" dirty="0">
              <a:latin typeface="LM Sans 10"/>
              <a:cs typeface="LM Sans 10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5" dirty="0">
                <a:latin typeface="LM Sans 10"/>
                <a:cs typeface="LM Sans 10"/>
              </a:rPr>
              <a:t>In this example, </a:t>
            </a:r>
            <a:r>
              <a:rPr sz="1100" spc="-25" dirty="0">
                <a:latin typeface="LM Sans 10"/>
                <a:cs typeface="LM Sans 10"/>
              </a:rPr>
              <a:t>we </a:t>
            </a:r>
            <a:r>
              <a:rPr sz="1100" spc="-10" dirty="0">
                <a:latin typeface="LM Sans 10"/>
                <a:cs typeface="LM Sans 10"/>
              </a:rPr>
              <a:t>can map </a:t>
            </a:r>
            <a:r>
              <a:rPr sz="1100" spc="-5" dirty="0">
                <a:latin typeface="LM Sans 10"/>
                <a:cs typeface="LM Sans 10"/>
              </a:rPr>
              <a:t>0 to</a:t>
            </a:r>
            <a:r>
              <a:rPr sz="1100" spc="10" dirty="0">
                <a:latin typeface="LM Sans 10"/>
                <a:cs typeface="LM Sans 10"/>
              </a:rPr>
              <a:t> </a:t>
            </a:r>
            <a:r>
              <a:rPr sz="1100" spc="-5" dirty="0">
                <a:latin typeface="LM Sans 10"/>
                <a:cs typeface="LM Sans 10"/>
              </a:rPr>
              <a:t>101.</a:t>
            </a:r>
            <a:endParaRPr sz="1100" dirty="0">
              <a:latin typeface="LM Sans 10"/>
              <a:cs typeface="LM Sans 10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16" name="object 16"/>
          <p:cNvSpPr txBox="1"/>
          <p:nvPr/>
        </p:nvSpPr>
        <p:spPr>
          <a:xfrm>
            <a:off x="1958606" y="3351784"/>
            <a:ext cx="690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CSC3100 </a:t>
            </a:r>
            <a:r>
              <a:rPr sz="600" spc="-1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Tutorial</a:t>
            </a:r>
            <a:r>
              <a:rPr sz="600" spc="-2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7</a:t>
            </a:r>
            <a:endParaRPr sz="600">
              <a:latin typeface="LM Sans 8"/>
              <a:cs typeface="LM Sans 8"/>
            </a:endParaRPr>
          </a:p>
        </p:txBody>
      </p:sp>
      <p:sp>
        <p:nvSpPr>
          <p:cNvPr id="18" name="object 13"/>
          <p:cNvSpPr txBox="1"/>
          <p:nvPr/>
        </p:nvSpPr>
        <p:spPr>
          <a:xfrm>
            <a:off x="3600450" y="3374390"/>
            <a:ext cx="679450" cy="86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2022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/10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/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3</a:t>
            </a:r>
            <a:endParaRPr lang="en-US" sz="600" spc="-5" dirty="0">
              <a:solidFill>
                <a:srgbClr val="FFFFFF"/>
              </a:solidFill>
              <a:latin typeface="LM Sans 8"/>
              <a:cs typeface="LM Sans 8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250" y="59690"/>
            <a:ext cx="3133090" cy="2324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FFFFFF"/>
                </a:solidFill>
                <a:latin typeface="LM Sans 12"/>
                <a:cs typeface="LM Sans 12"/>
              </a:rPr>
              <a:t>Advanced </a:t>
            </a:r>
            <a:r>
              <a:rPr sz="1400" spc="10" dirty="0">
                <a:solidFill>
                  <a:srgbClr val="FFFFFF"/>
                </a:solidFill>
                <a:latin typeface="LM Sans 12"/>
                <a:cs typeface="LM Sans 12"/>
              </a:rPr>
              <a:t>Counting</a:t>
            </a:r>
            <a:r>
              <a:rPr sz="1400" spc="-55" dirty="0">
                <a:solidFill>
                  <a:srgbClr val="FFFFFF"/>
                </a:solidFill>
                <a:latin typeface="LM Sans 12"/>
                <a:cs typeface="LM Sans 12"/>
              </a:rPr>
              <a:t> </a:t>
            </a:r>
            <a:r>
              <a:rPr sz="1400" dirty="0">
                <a:solidFill>
                  <a:srgbClr val="FFFFFF"/>
                </a:solidFill>
                <a:latin typeface="LM Sans 12"/>
                <a:cs typeface="LM Sans 12"/>
              </a:rPr>
              <a:t>Sort</a:t>
            </a:r>
            <a:endParaRPr sz="1400">
              <a:latin typeface="LM Sans 12"/>
              <a:cs typeface="LM Sans 1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244" y="799453"/>
            <a:ext cx="4292608" cy="190084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10" name="object 10"/>
          <p:cNvSpPr txBox="1"/>
          <p:nvPr/>
        </p:nvSpPr>
        <p:spPr>
          <a:xfrm>
            <a:off x="1958606" y="3351784"/>
            <a:ext cx="690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CSC3100 </a:t>
            </a:r>
            <a:r>
              <a:rPr sz="600" spc="-1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Tutorial</a:t>
            </a:r>
            <a:r>
              <a:rPr sz="600" spc="-2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7</a:t>
            </a:r>
            <a:endParaRPr sz="600">
              <a:latin typeface="LM Sans 8"/>
              <a:cs typeface="LM Sans 8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00450" y="3374390"/>
            <a:ext cx="679450" cy="86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2022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/10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/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3</a:t>
            </a:r>
            <a:endParaRPr lang="en-US" sz="600" spc="-5" dirty="0">
              <a:solidFill>
                <a:srgbClr val="FFFFFF"/>
              </a:solidFill>
              <a:latin typeface="LM Sans 8"/>
              <a:cs typeface="LM Sans 8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250" y="59690"/>
            <a:ext cx="3892550" cy="2324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FFFFFF"/>
                </a:solidFill>
                <a:latin typeface="LM Sans 12"/>
                <a:cs typeface="LM Sans 12"/>
              </a:rPr>
              <a:t>Advanced </a:t>
            </a:r>
            <a:r>
              <a:rPr sz="1400" spc="10" dirty="0">
                <a:solidFill>
                  <a:srgbClr val="FFFFFF"/>
                </a:solidFill>
                <a:latin typeface="LM Sans 12"/>
                <a:cs typeface="LM Sans 12"/>
              </a:rPr>
              <a:t>Counting</a:t>
            </a:r>
            <a:r>
              <a:rPr sz="1400" spc="-35" dirty="0">
                <a:solidFill>
                  <a:srgbClr val="FFFFFF"/>
                </a:solidFill>
                <a:latin typeface="LM Sans 12"/>
                <a:cs typeface="LM Sans 12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LM Sans 12"/>
                <a:cs typeface="LM Sans 12"/>
              </a:rPr>
              <a:t>Sort-Parallelization</a:t>
            </a:r>
            <a:endParaRPr sz="1400">
              <a:latin typeface="LM Sans 12"/>
              <a:cs typeface="LM Sans 1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544" y="760006"/>
            <a:ext cx="4324634" cy="230036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10" name="object 10"/>
          <p:cNvSpPr txBox="1"/>
          <p:nvPr/>
        </p:nvSpPr>
        <p:spPr>
          <a:xfrm>
            <a:off x="1958606" y="3351784"/>
            <a:ext cx="690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CSC3100 </a:t>
            </a:r>
            <a:r>
              <a:rPr sz="600" spc="-1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Tutorial</a:t>
            </a:r>
            <a:r>
              <a:rPr sz="600" spc="-2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7</a:t>
            </a:r>
            <a:endParaRPr sz="600">
              <a:latin typeface="LM Sans 8"/>
              <a:cs typeface="LM Sans 8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00450" y="3374390"/>
            <a:ext cx="679450" cy="86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2022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/10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/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3</a:t>
            </a:r>
            <a:endParaRPr lang="en-US" sz="600" spc="-5" dirty="0">
              <a:solidFill>
                <a:srgbClr val="FFFFFF"/>
              </a:solidFill>
              <a:latin typeface="LM Sans 8"/>
              <a:cs typeface="LM Sans 8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250" y="59690"/>
            <a:ext cx="3810000" cy="2324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FFFFFF"/>
                </a:solidFill>
                <a:latin typeface="LM Sans 12"/>
                <a:cs typeface="LM Sans 12"/>
              </a:rPr>
              <a:t>Advanced </a:t>
            </a:r>
            <a:r>
              <a:rPr sz="1400" spc="10" dirty="0">
                <a:solidFill>
                  <a:srgbClr val="FFFFFF"/>
                </a:solidFill>
                <a:latin typeface="LM Sans 12"/>
                <a:cs typeface="LM Sans 12"/>
              </a:rPr>
              <a:t>Counting</a:t>
            </a:r>
            <a:r>
              <a:rPr sz="1400" spc="-35" dirty="0">
                <a:solidFill>
                  <a:srgbClr val="FFFFFF"/>
                </a:solidFill>
                <a:latin typeface="LM Sans 12"/>
                <a:cs typeface="LM Sans 12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LM Sans 12"/>
                <a:cs typeface="LM Sans 12"/>
              </a:rPr>
              <a:t>Sort-Parallelization</a:t>
            </a:r>
            <a:endParaRPr sz="1400">
              <a:latin typeface="LM Sans 12"/>
              <a:cs typeface="LM Sans 1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730" y="1337310"/>
            <a:ext cx="4087495" cy="100647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0"/>
              </a:spcBef>
            </a:pPr>
            <a:r>
              <a:rPr sz="1200" b="1" spc="-20" dirty="0">
                <a:latin typeface="LM Sans 10"/>
                <a:cs typeface="LM Sans 10"/>
              </a:rPr>
              <a:t>How </a:t>
            </a:r>
            <a:r>
              <a:rPr sz="1200" b="1" spc="-5" dirty="0">
                <a:latin typeface="LM Sans 10"/>
                <a:cs typeface="LM Sans 10"/>
              </a:rPr>
              <a:t>to </a:t>
            </a:r>
            <a:r>
              <a:rPr sz="1200" b="1" spc="-15" dirty="0">
                <a:latin typeface="LM Sans 10"/>
                <a:cs typeface="LM Sans 10"/>
              </a:rPr>
              <a:t>make </a:t>
            </a:r>
            <a:r>
              <a:rPr sz="1200" b="1" spc="-5" dirty="0">
                <a:latin typeface="LM Sans 10"/>
                <a:cs typeface="LM Sans 10"/>
              </a:rPr>
              <a:t>the Output Phase to </a:t>
            </a:r>
            <a:r>
              <a:rPr sz="1200" b="1" spc="-10" dirty="0">
                <a:latin typeface="LM Sans 10"/>
                <a:cs typeface="LM Sans 10"/>
              </a:rPr>
              <a:t>parallelize?  </a:t>
            </a:r>
            <a:endParaRPr sz="1200" b="1" spc="-10" dirty="0">
              <a:latin typeface="LM Sans 10"/>
              <a:cs typeface="LM Sans 10"/>
            </a:endParaRPr>
          </a:p>
          <a:p>
            <a:pPr marL="12700" marR="5080">
              <a:lnSpc>
                <a:spcPts val="1390"/>
              </a:lnSpc>
              <a:spcBef>
                <a:spcPts val="180"/>
              </a:spcBef>
            </a:pPr>
            <a:endParaRPr sz="1200" b="1" spc="-10" dirty="0">
              <a:latin typeface="LM Sans 10"/>
              <a:cs typeface="LM Sans 10"/>
            </a:endParaRPr>
          </a:p>
          <a:p>
            <a:pPr marL="12700" marR="5080">
              <a:lnSpc>
                <a:spcPts val="1390"/>
              </a:lnSpc>
              <a:spcBef>
                <a:spcPts val="180"/>
              </a:spcBef>
            </a:pPr>
            <a:r>
              <a:rPr sz="1200" spc="-15" dirty="0">
                <a:latin typeface="LM Sans 12"/>
                <a:cs typeface="LM Sans 12"/>
              </a:rPr>
              <a:t>Firstly, </a:t>
            </a:r>
            <a:r>
              <a:rPr sz="1200" spc="-25" dirty="0">
                <a:latin typeface="LM Sans 12"/>
                <a:cs typeface="LM Sans 12"/>
              </a:rPr>
              <a:t>we </a:t>
            </a:r>
            <a:r>
              <a:rPr sz="1200" spc="-5" dirty="0">
                <a:latin typeface="LM Sans 12"/>
                <a:cs typeface="LM Sans 12"/>
              </a:rPr>
              <a:t>count the </a:t>
            </a:r>
            <a:r>
              <a:rPr sz="1200" spc="-10" dirty="0">
                <a:latin typeface="LM Sans 12"/>
                <a:cs typeface="LM Sans 12"/>
              </a:rPr>
              <a:t>prefix </a:t>
            </a:r>
            <a:r>
              <a:rPr sz="1200" spc="-5" dirty="0">
                <a:latin typeface="LM Sans 12"/>
                <a:cs typeface="LM Sans 12"/>
              </a:rPr>
              <a:t>sum of the counting </a:t>
            </a:r>
            <a:r>
              <a:rPr sz="1200" spc="-35" dirty="0">
                <a:latin typeface="LM Sans 12"/>
                <a:cs typeface="LM Sans 12"/>
              </a:rPr>
              <a:t>array.  </a:t>
            </a:r>
            <a:endParaRPr sz="1200" spc="-35" dirty="0">
              <a:latin typeface="LM Sans 12"/>
              <a:cs typeface="LM Sans 12"/>
            </a:endParaRPr>
          </a:p>
          <a:p>
            <a:pPr marL="12700" marR="5080">
              <a:lnSpc>
                <a:spcPts val="1390"/>
              </a:lnSpc>
              <a:spcBef>
                <a:spcPts val="180"/>
              </a:spcBef>
            </a:pPr>
            <a:endParaRPr sz="1200" b="1" spc="-35" dirty="0">
              <a:latin typeface="LM Sans 12"/>
              <a:cs typeface="LM Sans 12"/>
            </a:endParaRPr>
          </a:p>
          <a:p>
            <a:pPr marL="12700" marR="5080">
              <a:lnSpc>
                <a:spcPts val="1390"/>
              </a:lnSpc>
              <a:spcBef>
                <a:spcPts val="180"/>
              </a:spcBef>
            </a:pPr>
            <a:r>
              <a:rPr sz="1200" b="1" spc="-5" dirty="0">
                <a:latin typeface="LM Sans 10"/>
                <a:cs typeface="LM Sans 10"/>
              </a:rPr>
              <a:t>So, </a:t>
            </a:r>
            <a:r>
              <a:rPr sz="1200" b="1" spc="-20" dirty="0">
                <a:latin typeface="LM Sans 10"/>
                <a:cs typeface="LM Sans 10"/>
              </a:rPr>
              <a:t>how </a:t>
            </a:r>
            <a:r>
              <a:rPr sz="1200" b="1" spc="-5" dirty="0">
                <a:latin typeface="LM Sans 10"/>
                <a:cs typeface="LM Sans 10"/>
              </a:rPr>
              <a:t>to calculate the </a:t>
            </a:r>
            <a:r>
              <a:rPr sz="1200" b="1" spc="-10" dirty="0">
                <a:latin typeface="LM Sans 10"/>
                <a:cs typeface="LM Sans 10"/>
              </a:rPr>
              <a:t>prefix</a:t>
            </a:r>
            <a:r>
              <a:rPr sz="1200" b="1" spc="-5" dirty="0">
                <a:latin typeface="LM Sans 10"/>
                <a:cs typeface="LM Sans 10"/>
              </a:rPr>
              <a:t> sum?</a:t>
            </a:r>
            <a:endParaRPr sz="1200">
              <a:latin typeface="LM Sans 10"/>
              <a:cs typeface="LM Sans 10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10" name="object 10"/>
          <p:cNvSpPr txBox="1"/>
          <p:nvPr/>
        </p:nvSpPr>
        <p:spPr>
          <a:xfrm>
            <a:off x="1958606" y="3351784"/>
            <a:ext cx="690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CSC3100 </a:t>
            </a:r>
            <a:r>
              <a:rPr sz="600" spc="-1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Tutorial</a:t>
            </a:r>
            <a:r>
              <a:rPr sz="600" spc="-2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7</a:t>
            </a:r>
            <a:endParaRPr sz="600">
              <a:latin typeface="LM Sans 8"/>
              <a:cs typeface="LM Sans 8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00450" y="3374390"/>
            <a:ext cx="679450" cy="86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2022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/10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/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3</a:t>
            </a:r>
            <a:endParaRPr lang="en-US" sz="600" spc="-5" dirty="0">
              <a:solidFill>
                <a:srgbClr val="FFFFFF"/>
              </a:solidFill>
              <a:latin typeface="LM Sans 8"/>
              <a:cs typeface="LM Sans 8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250" y="15240"/>
            <a:ext cx="3650615" cy="4432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5"/>
              </a:spcBef>
            </a:pPr>
            <a:r>
              <a:rPr sz="1400" spc="15" dirty="0">
                <a:solidFill>
                  <a:srgbClr val="FFFFFF"/>
                </a:solidFill>
                <a:latin typeface="LM Sans 12"/>
                <a:cs typeface="LM Sans 12"/>
              </a:rPr>
              <a:t>Advanced </a:t>
            </a:r>
            <a:r>
              <a:rPr sz="1400" spc="10" dirty="0">
                <a:solidFill>
                  <a:srgbClr val="FFFFFF"/>
                </a:solidFill>
                <a:latin typeface="LM Sans 12"/>
                <a:cs typeface="LM Sans 12"/>
              </a:rPr>
              <a:t>Counting</a:t>
            </a:r>
            <a:r>
              <a:rPr sz="1400" spc="-35" dirty="0">
                <a:solidFill>
                  <a:srgbClr val="FFFFFF"/>
                </a:solidFill>
                <a:latin typeface="LM Sans 12"/>
                <a:cs typeface="LM Sans 12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LM Sans 12"/>
                <a:cs typeface="LM Sans 12"/>
              </a:rPr>
              <a:t>Sort-Parallelization</a:t>
            </a:r>
            <a:endParaRPr sz="1400">
              <a:latin typeface="LM Sans 12"/>
              <a:cs typeface="LM Sans 12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900" spc="-10" dirty="0">
                <a:solidFill>
                  <a:srgbClr val="FFFFFF"/>
                </a:solidFill>
                <a:latin typeface="LM Sans 9"/>
                <a:cs typeface="LM Sans 9"/>
              </a:rPr>
              <a:t>prefix </a:t>
            </a:r>
            <a:r>
              <a:rPr sz="900" spc="-5" dirty="0">
                <a:solidFill>
                  <a:srgbClr val="FFFFFF"/>
                </a:solidFill>
                <a:latin typeface="LM Sans 9"/>
                <a:cs typeface="LM Sans 9"/>
              </a:rPr>
              <a:t>sum</a:t>
            </a:r>
            <a:endParaRPr sz="900">
              <a:latin typeface="LM Sans 9"/>
              <a:cs typeface="LM Sans 9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35127" y="630724"/>
            <a:ext cx="2546423" cy="259234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10" name="object 10"/>
          <p:cNvSpPr txBox="1"/>
          <p:nvPr/>
        </p:nvSpPr>
        <p:spPr>
          <a:xfrm>
            <a:off x="1958606" y="3351784"/>
            <a:ext cx="690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CSC3100 </a:t>
            </a:r>
            <a:r>
              <a:rPr sz="600" spc="-1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Tutorial</a:t>
            </a:r>
            <a:r>
              <a:rPr sz="600" spc="-2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7</a:t>
            </a:r>
            <a:endParaRPr sz="600">
              <a:latin typeface="LM Sans 8"/>
              <a:cs typeface="LM Sans 8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00450" y="3374390"/>
            <a:ext cx="679450" cy="86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2022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/10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/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3</a:t>
            </a:r>
            <a:endParaRPr lang="en-US" sz="600" spc="-5" dirty="0">
              <a:solidFill>
                <a:srgbClr val="FFFFFF"/>
              </a:solidFill>
              <a:latin typeface="LM Sans 8"/>
              <a:cs typeface="LM Sans 8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250" y="59690"/>
            <a:ext cx="3822700" cy="2324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FFFFFF"/>
                </a:solidFill>
                <a:latin typeface="LM Sans 12"/>
                <a:cs typeface="LM Sans 12"/>
              </a:rPr>
              <a:t>Advanced </a:t>
            </a:r>
            <a:r>
              <a:rPr sz="1400" spc="10" dirty="0">
                <a:solidFill>
                  <a:srgbClr val="FFFFFF"/>
                </a:solidFill>
                <a:latin typeface="LM Sans 12"/>
                <a:cs typeface="LM Sans 12"/>
              </a:rPr>
              <a:t>Counting</a:t>
            </a:r>
            <a:r>
              <a:rPr sz="1400" spc="-35" dirty="0">
                <a:solidFill>
                  <a:srgbClr val="FFFFFF"/>
                </a:solidFill>
                <a:latin typeface="LM Sans 12"/>
                <a:cs typeface="LM Sans 12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LM Sans 12"/>
                <a:cs typeface="LM Sans 12"/>
              </a:rPr>
              <a:t>Sort-Parallelization</a:t>
            </a:r>
            <a:endParaRPr sz="1400">
              <a:latin typeface="LM Sans 12"/>
              <a:cs typeface="LM Sans 1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730" y="603250"/>
            <a:ext cx="4154805" cy="180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5" dirty="0">
                <a:latin typeface="LM Sans 10"/>
                <a:cs typeface="LM Sans 10"/>
              </a:rPr>
              <a:t>Now, </a:t>
            </a:r>
            <a:r>
              <a:rPr sz="1100" spc="-25" dirty="0">
                <a:latin typeface="LM Sans 10"/>
                <a:cs typeface="LM Sans 10"/>
              </a:rPr>
              <a:t>we </a:t>
            </a:r>
            <a:r>
              <a:rPr sz="1100" spc="-10" dirty="0">
                <a:latin typeface="LM Sans 10"/>
                <a:cs typeface="LM Sans 10"/>
              </a:rPr>
              <a:t>can </a:t>
            </a:r>
            <a:r>
              <a:rPr sz="1100" spc="-5" dirty="0">
                <a:latin typeface="LM Sans 10"/>
                <a:cs typeface="LM Sans 10"/>
              </a:rPr>
              <a:t>use the </a:t>
            </a:r>
            <a:r>
              <a:rPr sz="1100" spc="-15" dirty="0">
                <a:latin typeface="LM Sans 10"/>
                <a:cs typeface="LM Sans 10"/>
              </a:rPr>
              <a:t>prefix </a:t>
            </a:r>
            <a:r>
              <a:rPr sz="1100" spc="-10" dirty="0">
                <a:latin typeface="LM Sans 10"/>
                <a:cs typeface="LM Sans 10"/>
              </a:rPr>
              <a:t>sum </a:t>
            </a:r>
            <a:r>
              <a:rPr sz="1100" spc="-5" dirty="0">
                <a:latin typeface="LM Sans 10"/>
                <a:cs typeface="LM Sans 10"/>
              </a:rPr>
              <a:t>to construct the result</a:t>
            </a:r>
            <a:r>
              <a:rPr sz="1100" spc="55" dirty="0">
                <a:latin typeface="LM Sans 10"/>
                <a:cs typeface="LM Sans 10"/>
              </a:rPr>
              <a:t> </a:t>
            </a:r>
            <a:r>
              <a:rPr sz="1100" spc="-35" dirty="0">
                <a:latin typeface="LM Sans 10"/>
                <a:cs typeface="LM Sans 10"/>
              </a:rPr>
              <a:t>array.</a:t>
            </a:r>
            <a:endParaRPr sz="1100">
              <a:latin typeface="LM Sans 10"/>
              <a:cs typeface="LM Sans 1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8437" y="943862"/>
            <a:ext cx="3822368" cy="190856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11" name="object 11"/>
          <p:cNvSpPr txBox="1"/>
          <p:nvPr/>
        </p:nvSpPr>
        <p:spPr>
          <a:xfrm>
            <a:off x="1958606" y="3351784"/>
            <a:ext cx="690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CSC3100 </a:t>
            </a:r>
            <a:r>
              <a:rPr sz="600" spc="-1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Tutorial</a:t>
            </a:r>
            <a:r>
              <a:rPr sz="600" spc="-2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7</a:t>
            </a:r>
            <a:endParaRPr sz="600">
              <a:latin typeface="LM Sans 8"/>
              <a:cs typeface="LM Sans 8"/>
            </a:endParaRPr>
          </a:p>
        </p:txBody>
      </p:sp>
      <p:sp>
        <p:nvSpPr>
          <p:cNvPr id="14" name="object 13"/>
          <p:cNvSpPr txBox="1"/>
          <p:nvPr/>
        </p:nvSpPr>
        <p:spPr>
          <a:xfrm>
            <a:off x="3600450" y="3374390"/>
            <a:ext cx="679450" cy="86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2022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/10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/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3</a:t>
            </a:r>
            <a:endParaRPr lang="en-US" sz="600" spc="-5" dirty="0">
              <a:solidFill>
                <a:srgbClr val="FFFFFF"/>
              </a:solidFill>
              <a:latin typeface="LM Sans 8"/>
              <a:cs typeface="LM Sans 8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250" y="59690"/>
            <a:ext cx="3822700" cy="2324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FFFFFF"/>
                </a:solidFill>
                <a:latin typeface="LM Sans 12"/>
                <a:cs typeface="LM Sans 12"/>
              </a:rPr>
              <a:t>Advanced </a:t>
            </a:r>
            <a:r>
              <a:rPr sz="1400" spc="10" dirty="0">
                <a:solidFill>
                  <a:srgbClr val="FFFFFF"/>
                </a:solidFill>
                <a:latin typeface="LM Sans 12"/>
                <a:cs typeface="LM Sans 12"/>
              </a:rPr>
              <a:t>Counting</a:t>
            </a:r>
            <a:r>
              <a:rPr sz="1400" spc="-35" dirty="0">
                <a:solidFill>
                  <a:srgbClr val="FFFFFF"/>
                </a:solidFill>
                <a:latin typeface="LM Sans 12"/>
                <a:cs typeface="LM Sans 12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LM Sans 12"/>
                <a:cs typeface="LM Sans 12"/>
              </a:rPr>
              <a:t>Sort-Parallelization</a:t>
            </a:r>
            <a:endParaRPr sz="1400">
              <a:latin typeface="LM Sans 12"/>
              <a:cs typeface="LM Sans 12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11" name="object 11"/>
          <p:cNvSpPr txBox="1"/>
          <p:nvPr/>
        </p:nvSpPr>
        <p:spPr>
          <a:xfrm>
            <a:off x="1958606" y="3351784"/>
            <a:ext cx="690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CSC3100 </a:t>
            </a:r>
            <a:r>
              <a:rPr sz="600" spc="-1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Tutorial</a:t>
            </a:r>
            <a:r>
              <a:rPr sz="600" spc="-2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7</a:t>
            </a:r>
            <a:endParaRPr sz="600">
              <a:latin typeface="LM Sans 8"/>
              <a:cs typeface="LM Sans 8"/>
            </a:endParaRPr>
          </a:p>
        </p:txBody>
      </p:sp>
      <p:sp>
        <p:nvSpPr>
          <p:cNvPr id="14" name="object 13"/>
          <p:cNvSpPr txBox="1"/>
          <p:nvPr/>
        </p:nvSpPr>
        <p:spPr>
          <a:xfrm>
            <a:off x="3600450" y="3374390"/>
            <a:ext cx="679450" cy="86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2022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/10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/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3</a:t>
            </a:r>
            <a:endParaRPr lang="en-US" sz="600" spc="-5" dirty="0">
              <a:solidFill>
                <a:srgbClr val="FFFFFF"/>
              </a:solidFill>
              <a:latin typeface="LM Sans 8"/>
              <a:cs typeface="LM Sans 8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171450" y="446405"/>
            <a:ext cx="252095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latin typeface="Times New Roman Regular" panose="02020603050405020304" charset="0"/>
                <a:cs typeface="Times New Roman Regular" panose="02020603050405020304" charset="0"/>
              </a:rPr>
              <a:t>A pseudo code to help you understand</a:t>
            </a:r>
            <a:endParaRPr lang="en-US" sz="12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815975"/>
            <a:ext cx="4217670" cy="224345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59690"/>
            <a:ext cx="3644900" cy="2324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FFFFFF"/>
                </a:solidFill>
                <a:latin typeface="LM Sans 12"/>
                <a:cs typeface="LM Sans 12"/>
              </a:rPr>
              <a:t>Kth </a:t>
            </a:r>
            <a:r>
              <a:rPr sz="1400" spc="5" dirty="0">
                <a:solidFill>
                  <a:srgbClr val="FFFFFF"/>
                </a:solidFill>
                <a:latin typeface="LM Sans 12"/>
                <a:cs typeface="LM Sans 12"/>
              </a:rPr>
              <a:t>Largest </a:t>
            </a:r>
            <a:r>
              <a:rPr sz="1400" spc="15" dirty="0">
                <a:solidFill>
                  <a:srgbClr val="FFFFFF"/>
                </a:solidFill>
                <a:latin typeface="LM Sans 12"/>
                <a:cs typeface="LM Sans 12"/>
              </a:rPr>
              <a:t>Element </a:t>
            </a:r>
            <a:r>
              <a:rPr sz="1400" spc="10" dirty="0">
                <a:solidFill>
                  <a:srgbClr val="FFFFFF"/>
                </a:solidFill>
                <a:latin typeface="LM Sans 12"/>
                <a:cs typeface="LM Sans 12"/>
              </a:rPr>
              <a:t>in </a:t>
            </a:r>
            <a:r>
              <a:rPr sz="1400" spc="15" dirty="0">
                <a:solidFill>
                  <a:srgbClr val="FFFFFF"/>
                </a:solidFill>
                <a:latin typeface="LM Sans 12"/>
                <a:cs typeface="LM Sans 12"/>
              </a:rPr>
              <a:t>an</a:t>
            </a:r>
            <a:r>
              <a:rPr sz="1400" spc="-45" dirty="0">
                <a:solidFill>
                  <a:srgbClr val="FFFFFF"/>
                </a:solidFill>
                <a:latin typeface="LM Sans 12"/>
                <a:cs typeface="LM Sans 12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LM Sans 12"/>
                <a:cs typeface="LM Sans 12"/>
              </a:rPr>
              <a:t>Array</a:t>
            </a:r>
            <a:endParaRPr sz="1400">
              <a:latin typeface="LM Sans 12"/>
              <a:cs typeface="LM Sans 1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8544" y="1617763"/>
            <a:ext cx="29845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" dirty="0">
                <a:solidFill>
                  <a:srgbClr val="FFFFFF"/>
                </a:solidFill>
                <a:latin typeface="LM Sans 12"/>
                <a:cs typeface="LM Sans 12"/>
              </a:rPr>
              <a:t>Note</a:t>
            </a:r>
            <a:endParaRPr sz="1200">
              <a:latin typeface="LM Sans 12"/>
              <a:cs typeface="LM Sans 1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430" y="1120775"/>
            <a:ext cx="4382135" cy="9480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21285">
              <a:lnSpc>
                <a:spcPct val="103000"/>
              </a:lnSpc>
              <a:spcBef>
                <a:spcPts val="55"/>
              </a:spcBef>
            </a:pPr>
            <a:r>
              <a:rPr sz="1100" spc="-10" dirty="0">
                <a:latin typeface="LM Sans 10"/>
                <a:cs typeface="LM Sans 10"/>
              </a:rPr>
              <a:t>Given an </a:t>
            </a:r>
            <a:r>
              <a:rPr sz="1100" spc="-5" dirty="0">
                <a:latin typeface="LM Sans 10"/>
                <a:cs typeface="LM Sans 10"/>
              </a:rPr>
              <a:t>integer </a:t>
            </a:r>
            <a:r>
              <a:rPr sz="1100" spc="-20" dirty="0">
                <a:latin typeface="LM Sans 10"/>
                <a:cs typeface="LM Sans 10"/>
              </a:rPr>
              <a:t>array </a:t>
            </a:r>
            <a:r>
              <a:rPr sz="1100" spc="-10" dirty="0">
                <a:latin typeface="LM Sans 10"/>
                <a:cs typeface="LM Sans 10"/>
              </a:rPr>
              <a:t>nums and an </a:t>
            </a:r>
            <a:r>
              <a:rPr sz="1100" spc="-5" dirty="0">
                <a:latin typeface="LM Sans 10"/>
                <a:cs typeface="LM Sans 10"/>
              </a:rPr>
              <a:t>integer k, return the kth </a:t>
            </a:r>
            <a:r>
              <a:rPr sz="1100" spc="-10" dirty="0">
                <a:latin typeface="LM Sans 10"/>
                <a:cs typeface="LM Sans 10"/>
              </a:rPr>
              <a:t>largest  </a:t>
            </a:r>
            <a:r>
              <a:rPr sz="1100" spc="-5" dirty="0">
                <a:latin typeface="LM Sans 10"/>
                <a:cs typeface="LM Sans 10"/>
              </a:rPr>
              <a:t>element in the</a:t>
            </a:r>
            <a:r>
              <a:rPr sz="1100" spc="-10" dirty="0">
                <a:latin typeface="LM Sans 10"/>
                <a:cs typeface="LM Sans 10"/>
              </a:rPr>
              <a:t> </a:t>
            </a:r>
            <a:r>
              <a:rPr sz="1100" spc="-35" dirty="0">
                <a:latin typeface="LM Sans 10"/>
                <a:cs typeface="LM Sans 10"/>
              </a:rPr>
              <a:t>array.</a:t>
            </a:r>
            <a:endParaRPr sz="1100">
              <a:latin typeface="LM Sans 10"/>
              <a:cs typeface="LM Sans 10"/>
            </a:endParaRPr>
          </a:p>
          <a:p>
            <a:pPr>
              <a:lnSpc>
                <a:spcPct val="100000"/>
              </a:lnSpc>
            </a:pPr>
            <a:endParaRPr sz="1600">
              <a:latin typeface="LM Sans 10"/>
              <a:cs typeface="LM Sans 10"/>
            </a:endParaRPr>
          </a:p>
          <a:p>
            <a:pPr marL="12700" marR="5080">
              <a:lnSpc>
                <a:spcPct val="103000"/>
              </a:lnSpc>
            </a:pPr>
            <a:r>
              <a:rPr sz="1100" spc="-5" dirty="0">
                <a:latin typeface="LM Sans 10"/>
                <a:cs typeface="LM Sans 10"/>
              </a:rPr>
              <a:t>Note that it is the kth </a:t>
            </a:r>
            <a:r>
              <a:rPr sz="1100" spc="-10" dirty="0">
                <a:latin typeface="LM Sans 10"/>
                <a:cs typeface="LM Sans 10"/>
              </a:rPr>
              <a:t>largest </a:t>
            </a:r>
            <a:r>
              <a:rPr sz="1100" spc="-5" dirty="0">
                <a:latin typeface="LM Sans 10"/>
                <a:cs typeface="LM Sans 10"/>
              </a:rPr>
              <a:t>element in the </a:t>
            </a:r>
            <a:r>
              <a:rPr sz="1100" spc="-15" dirty="0">
                <a:latin typeface="LM Sans 10"/>
                <a:cs typeface="LM Sans 10"/>
              </a:rPr>
              <a:t>sorted order, </a:t>
            </a:r>
            <a:r>
              <a:rPr sz="1100" spc="-5" dirty="0">
                <a:latin typeface="LM Sans 10"/>
                <a:cs typeface="LM Sans 10"/>
              </a:rPr>
              <a:t>not the kth  distinct</a:t>
            </a:r>
            <a:r>
              <a:rPr sz="1100" spc="-10" dirty="0">
                <a:latin typeface="LM Sans 10"/>
                <a:cs typeface="LM Sans 10"/>
              </a:rPr>
              <a:t> </a:t>
            </a:r>
            <a:r>
              <a:rPr sz="1100" spc="-5" dirty="0">
                <a:latin typeface="LM Sans 10"/>
                <a:cs typeface="LM Sans 10"/>
              </a:rPr>
              <a:t>element.</a:t>
            </a:r>
            <a:endParaRPr sz="1100">
              <a:latin typeface="LM Sans 10"/>
              <a:cs typeface="LM Sans 10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15" name="object 15"/>
          <p:cNvSpPr txBox="1"/>
          <p:nvPr/>
        </p:nvSpPr>
        <p:spPr>
          <a:xfrm>
            <a:off x="1958606" y="3351784"/>
            <a:ext cx="690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CSC3100 </a:t>
            </a:r>
            <a:r>
              <a:rPr sz="600" spc="-1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Tutorial</a:t>
            </a:r>
            <a:r>
              <a:rPr sz="600" spc="-2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7</a:t>
            </a:r>
            <a:endParaRPr sz="600">
              <a:latin typeface="LM Sans 8"/>
              <a:cs typeface="LM Sans 8"/>
            </a:endParaRPr>
          </a:p>
        </p:txBody>
      </p:sp>
      <p:sp>
        <p:nvSpPr>
          <p:cNvPr id="17" name="object 13"/>
          <p:cNvSpPr txBox="1"/>
          <p:nvPr/>
        </p:nvSpPr>
        <p:spPr>
          <a:xfrm>
            <a:off x="3600450" y="3374390"/>
            <a:ext cx="679450" cy="86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2022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/10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/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3</a:t>
            </a:r>
            <a:endParaRPr lang="en-US" sz="600" spc="-5" dirty="0">
              <a:solidFill>
                <a:srgbClr val="FFFFFF"/>
              </a:solidFill>
              <a:latin typeface="LM Sans 8"/>
              <a:cs typeface="LM Sans 8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250" y="59690"/>
            <a:ext cx="3422015" cy="2324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FFFFFF"/>
                </a:solidFill>
                <a:latin typeface="LM Sans 12"/>
                <a:cs typeface="LM Sans 12"/>
              </a:rPr>
              <a:t>Kth </a:t>
            </a:r>
            <a:r>
              <a:rPr sz="1400" spc="5" dirty="0">
                <a:solidFill>
                  <a:srgbClr val="FFFFFF"/>
                </a:solidFill>
                <a:latin typeface="LM Sans 12"/>
                <a:cs typeface="LM Sans 12"/>
              </a:rPr>
              <a:t>Largest </a:t>
            </a:r>
            <a:r>
              <a:rPr sz="1400" spc="15" dirty="0">
                <a:solidFill>
                  <a:srgbClr val="FFFFFF"/>
                </a:solidFill>
                <a:latin typeface="LM Sans 12"/>
                <a:cs typeface="LM Sans 12"/>
              </a:rPr>
              <a:t>Element </a:t>
            </a:r>
            <a:r>
              <a:rPr sz="1400" spc="10" dirty="0">
                <a:solidFill>
                  <a:srgbClr val="FFFFFF"/>
                </a:solidFill>
                <a:latin typeface="LM Sans 12"/>
                <a:cs typeface="LM Sans 12"/>
              </a:rPr>
              <a:t>in </a:t>
            </a:r>
            <a:r>
              <a:rPr sz="1400" spc="15" dirty="0">
                <a:solidFill>
                  <a:srgbClr val="FFFFFF"/>
                </a:solidFill>
                <a:latin typeface="LM Sans 12"/>
                <a:cs typeface="LM Sans 12"/>
              </a:rPr>
              <a:t>an</a:t>
            </a:r>
            <a:r>
              <a:rPr sz="1400" spc="-45" dirty="0">
                <a:solidFill>
                  <a:srgbClr val="FFFFFF"/>
                </a:solidFill>
                <a:latin typeface="LM Sans 12"/>
                <a:cs typeface="LM Sans 12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LM Sans 12"/>
                <a:cs typeface="LM Sans 12"/>
              </a:rPr>
              <a:t>Array</a:t>
            </a:r>
            <a:endParaRPr sz="1400">
              <a:latin typeface="LM Sans 12"/>
              <a:cs typeface="LM Sans 1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743" y="1195755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8"/>
                </a:lnTo>
                <a:lnTo>
                  <a:pt x="4432567" y="198368"/>
                </a:lnTo>
                <a:lnTo>
                  <a:pt x="4432567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2" y="4008"/>
                </a:lnTo>
                <a:lnTo>
                  <a:pt x="4381767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8430" y="1224280"/>
            <a:ext cx="1095375" cy="146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" dirty="0">
                <a:solidFill>
                  <a:srgbClr val="FFFFFF"/>
                </a:solidFill>
                <a:latin typeface="LM Sans 12"/>
                <a:cs typeface="LM Sans 12"/>
              </a:rPr>
              <a:t>Examples</a:t>
            </a:r>
            <a:endParaRPr sz="1200">
              <a:latin typeface="LM Sans 12"/>
              <a:cs typeface="LM Sans 12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7743" y="1381467"/>
            <a:ext cx="4432935" cy="1097730"/>
            <a:chOff x="87743" y="1381467"/>
            <a:chExt cx="4432935" cy="1097730"/>
          </a:xfrm>
        </p:grpSpPr>
        <p:sp>
          <p:nvSpPr>
            <p:cNvPr id="7" name="object 7"/>
            <p:cNvSpPr/>
            <p:nvPr/>
          </p:nvSpPr>
          <p:spPr>
            <a:xfrm>
              <a:off x="87744" y="1381467"/>
              <a:ext cx="4432566" cy="50609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7743" y="1425732"/>
              <a:ext cx="4432935" cy="1053465"/>
            </a:xfrm>
            <a:custGeom>
              <a:avLst/>
              <a:gdLst/>
              <a:ahLst/>
              <a:cxnLst/>
              <a:rect l="l" t="t" r="r" b="b"/>
              <a:pathLst>
                <a:path w="4432935" h="1053464">
                  <a:moveTo>
                    <a:pt x="4432567" y="0"/>
                  </a:moveTo>
                  <a:lnTo>
                    <a:pt x="0" y="0"/>
                  </a:lnTo>
                  <a:lnTo>
                    <a:pt x="0" y="1002469"/>
                  </a:lnTo>
                  <a:lnTo>
                    <a:pt x="4008" y="1022194"/>
                  </a:lnTo>
                  <a:lnTo>
                    <a:pt x="14922" y="1038347"/>
                  </a:lnTo>
                  <a:lnTo>
                    <a:pt x="31075" y="1049261"/>
                  </a:lnTo>
                  <a:lnTo>
                    <a:pt x="50800" y="1053269"/>
                  </a:lnTo>
                  <a:lnTo>
                    <a:pt x="4381767" y="1053269"/>
                  </a:lnTo>
                  <a:lnTo>
                    <a:pt x="4401492" y="1049261"/>
                  </a:lnTo>
                  <a:lnTo>
                    <a:pt x="4417644" y="1038347"/>
                  </a:lnTo>
                  <a:lnTo>
                    <a:pt x="4428558" y="1022194"/>
                  </a:lnTo>
                  <a:lnTo>
                    <a:pt x="4432567" y="1002469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95250" y="968375"/>
            <a:ext cx="3087370" cy="1496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Sans 10"/>
                <a:cs typeface="LM Sans 10"/>
              </a:rPr>
              <a:t>Here </a:t>
            </a:r>
            <a:r>
              <a:rPr sz="1100" spc="-15" dirty="0">
                <a:latin typeface="LM Sans 10"/>
                <a:cs typeface="LM Sans 10"/>
              </a:rPr>
              <a:t>are </a:t>
            </a:r>
            <a:r>
              <a:rPr sz="1100" spc="-5" dirty="0">
                <a:latin typeface="LM Sans 10"/>
                <a:cs typeface="LM Sans 10"/>
              </a:rPr>
              <a:t>some</a:t>
            </a:r>
            <a:r>
              <a:rPr sz="1100" spc="-10" dirty="0">
                <a:latin typeface="LM Sans 10"/>
                <a:cs typeface="LM Sans 10"/>
              </a:rPr>
              <a:t> </a:t>
            </a:r>
            <a:r>
              <a:rPr sz="1100" spc="-5" dirty="0">
                <a:latin typeface="LM Sans 10"/>
                <a:cs typeface="LM Sans 10"/>
              </a:rPr>
              <a:t>examples:</a:t>
            </a:r>
            <a:endParaRPr sz="1100">
              <a:latin typeface="LM Sans 10"/>
              <a:cs typeface="LM Sans 10"/>
            </a:endParaRPr>
          </a:p>
          <a:p>
            <a:pPr>
              <a:lnSpc>
                <a:spcPct val="100000"/>
              </a:lnSpc>
            </a:pPr>
            <a:endParaRPr sz="1100">
              <a:latin typeface="LM Sans 10"/>
              <a:cs typeface="LM Sans 10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1100" b="1" spc="-10" dirty="0">
                <a:latin typeface="LM Sans 10"/>
                <a:cs typeface="LM Sans 10"/>
              </a:rPr>
              <a:t>example </a:t>
            </a:r>
            <a:r>
              <a:rPr sz="1100" b="1" spc="-5" dirty="0">
                <a:latin typeface="LM Sans 10"/>
                <a:cs typeface="LM Sans 10"/>
              </a:rPr>
              <a:t>1:</a:t>
            </a:r>
            <a:endParaRPr sz="1100">
              <a:latin typeface="LM Sans 10"/>
              <a:cs typeface="LM Sans 10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b="1" spc="-5" dirty="0">
                <a:latin typeface="LM Sans 10"/>
                <a:cs typeface="LM Sans 10"/>
              </a:rPr>
              <a:t>intput: </a:t>
            </a:r>
            <a:r>
              <a:rPr sz="1100" spc="-10" dirty="0">
                <a:latin typeface="LM Sans 10"/>
                <a:cs typeface="LM Sans 10"/>
              </a:rPr>
              <a:t>nums = </a:t>
            </a:r>
            <a:r>
              <a:rPr sz="1100" spc="-5" dirty="0">
                <a:latin typeface="LM Sans 10"/>
                <a:cs typeface="LM Sans 10"/>
              </a:rPr>
              <a:t>[3,2,1,5,6,4], </a:t>
            </a:r>
            <a:r>
              <a:rPr sz="1100" spc="-10" dirty="0">
                <a:latin typeface="LM Sans 10"/>
                <a:cs typeface="LM Sans 10"/>
              </a:rPr>
              <a:t>k =</a:t>
            </a:r>
            <a:r>
              <a:rPr sz="1100" spc="60" dirty="0">
                <a:latin typeface="LM Sans 10"/>
                <a:cs typeface="LM Sans 10"/>
              </a:rPr>
              <a:t> </a:t>
            </a:r>
            <a:r>
              <a:rPr sz="1100" spc="-5" dirty="0">
                <a:latin typeface="LM Sans 10"/>
                <a:cs typeface="LM Sans 10"/>
              </a:rPr>
              <a:t>2</a:t>
            </a:r>
            <a:endParaRPr sz="1100">
              <a:latin typeface="LM Sans 10"/>
              <a:cs typeface="LM Sans 10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b="1" spc="-5" dirty="0">
                <a:latin typeface="LM Sans 10"/>
                <a:cs typeface="LM Sans 10"/>
              </a:rPr>
              <a:t>output:</a:t>
            </a:r>
            <a:r>
              <a:rPr sz="1100" b="1" spc="75" dirty="0">
                <a:latin typeface="LM Sans 10"/>
                <a:cs typeface="LM Sans 10"/>
              </a:rPr>
              <a:t> </a:t>
            </a:r>
            <a:r>
              <a:rPr sz="1100" spc="-5" dirty="0">
                <a:latin typeface="LM Sans 10"/>
                <a:cs typeface="LM Sans 10"/>
              </a:rPr>
              <a:t>5</a:t>
            </a:r>
            <a:endParaRPr sz="1100">
              <a:latin typeface="LM Sans 10"/>
              <a:cs typeface="LM Sans 10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b="1" spc="-10" dirty="0">
                <a:latin typeface="LM Sans 10"/>
                <a:cs typeface="LM Sans 10"/>
              </a:rPr>
              <a:t>example </a:t>
            </a:r>
            <a:r>
              <a:rPr sz="1100" b="1" spc="-5" dirty="0">
                <a:latin typeface="LM Sans 10"/>
                <a:cs typeface="LM Sans 10"/>
              </a:rPr>
              <a:t>2:</a:t>
            </a:r>
            <a:endParaRPr sz="1100">
              <a:latin typeface="LM Sans 10"/>
              <a:cs typeface="LM Sans 10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b="1" spc="-5" dirty="0">
                <a:latin typeface="LM Sans 10"/>
                <a:cs typeface="LM Sans 10"/>
              </a:rPr>
              <a:t>intput: </a:t>
            </a:r>
            <a:r>
              <a:rPr sz="1100" spc="-10" dirty="0">
                <a:latin typeface="LM Sans 10"/>
                <a:cs typeface="LM Sans 10"/>
              </a:rPr>
              <a:t>nums = </a:t>
            </a:r>
            <a:r>
              <a:rPr sz="1100" spc="-5" dirty="0">
                <a:latin typeface="LM Sans 10"/>
                <a:cs typeface="LM Sans 10"/>
              </a:rPr>
              <a:t>[3,2,3,1,2,4,5,5,6], </a:t>
            </a:r>
            <a:r>
              <a:rPr sz="1100" spc="-10" dirty="0">
                <a:latin typeface="LM Sans 10"/>
                <a:cs typeface="LM Sans 10"/>
              </a:rPr>
              <a:t>k =</a:t>
            </a:r>
            <a:r>
              <a:rPr sz="1100" spc="35" dirty="0">
                <a:latin typeface="LM Sans 10"/>
                <a:cs typeface="LM Sans 10"/>
              </a:rPr>
              <a:t> </a:t>
            </a:r>
            <a:r>
              <a:rPr sz="1100" spc="-5" dirty="0">
                <a:latin typeface="LM Sans 10"/>
                <a:cs typeface="LM Sans 10"/>
              </a:rPr>
              <a:t>4</a:t>
            </a:r>
            <a:endParaRPr sz="1100">
              <a:latin typeface="LM Sans 10"/>
              <a:cs typeface="LM Sans 10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b="1" spc="-5" dirty="0">
                <a:latin typeface="LM Sans 10"/>
                <a:cs typeface="LM Sans 10"/>
              </a:rPr>
              <a:t>output:</a:t>
            </a:r>
            <a:r>
              <a:rPr sz="1100" b="1" spc="75" dirty="0">
                <a:latin typeface="LM Sans 10"/>
                <a:cs typeface="LM Sans 10"/>
              </a:rPr>
              <a:t> </a:t>
            </a:r>
            <a:r>
              <a:rPr sz="1100" spc="-5" dirty="0">
                <a:latin typeface="LM Sans 10"/>
                <a:cs typeface="LM Sans 10"/>
              </a:rPr>
              <a:t>4</a:t>
            </a:r>
            <a:endParaRPr sz="1100">
              <a:latin typeface="LM Sans 10"/>
              <a:cs typeface="LM Sans 10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16" name="object 16"/>
          <p:cNvSpPr txBox="1"/>
          <p:nvPr/>
        </p:nvSpPr>
        <p:spPr>
          <a:xfrm>
            <a:off x="1958606" y="3351784"/>
            <a:ext cx="690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CSC3100 </a:t>
            </a:r>
            <a:r>
              <a:rPr sz="600" spc="-1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Tutorial</a:t>
            </a:r>
            <a:r>
              <a:rPr sz="600" spc="-2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7</a:t>
            </a:r>
            <a:endParaRPr sz="600">
              <a:latin typeface="LM Sans 8"/>
              <a:cs typeface="LM Sans 8"/>
            </a:endParaRPr>
          </a:p>
        </p:txBody>
      </p:sp>
      <p:sp>
        <p:nvSpPr>
          <p:cNvPr id="18" name="object 13"/>
          <p:cNvSpPr txBox="1"/>
          <p:nvPr/>
        </p:nvSpPr>
        <p:spPr>
          <a:xfrm>
            <a:off x="3600450" y="3374390"/>
            <a:ext cx="679450" cy="86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2022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/10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/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3</a:t>
            </a:r>
            <a:endParaRPr lang="en-US" sz="600" spc="-5" dirty="0">
              <a:solidFill>
                <a:srgbClr val="FFFFFF"/>
              </a:solidFill>
              <a:latin typeface="LM Sans 8"/>
              <a:cs typeface="LM Sans 8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250" y="21590"/>
            <a:ext cx="3510915" cy="4432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5"/>
              </a:spcBef>
            </a:pPr>
            <a:r>
              <a:rPr sz="1400" spc="15" dirty="0">
                <a:solidFill>
                  <a:srgbClr val="FFFFFF"/>
                </a:solidFill>
                <a:latin typeface="LM Sans 12"/>
                <a:cs typeface="LM Sans 12"/>
              </a:rPr>
              <a:t>Kth </a:t>
            </a:r>
            <a:r>
              <a:rPr sz="1400" spc="5" dirty="0">
                <a:solidFill>
                  <a:srgbClr val="FFFFFF"/>
                </a:solidFill>
                <a:latin typeface="LM Sans 12"/>
                <a:cs typeface="LM Sans 12"/>
              </a:rPr>
              <a:t>Largest </a:t>
            </a:r>
            <a:r>
              <a:rPr sz="1400" spc="15" dirty="0">
                <a:solidFill>
                  <a:srgbClr val="FFFFFF"/>
                </a:solidFill>
                <a:latin typeface="LM Sans 12"/>
                <a:cs typeface="LM Sans 12"/>
              </a:rPr>
              <a:t>Element </a:t>
            </a:r>
            <a:r>
              <a:rPr sz="1400" spc="10" dirty="0">
                <a:solidFill>
                  <a:srgbClr val="FFFFFF"/>
                </a:solidFill>
                <a:latin typeface="LM Sans 12"/>
                <a:cs typeface="LM Sans 12"/>
              </a:rPr>
              <a:t>in </a:t>
            </a:r>
            <a:r>
              <a:rPr sz="1400" spc="15" dirty="0">
                <a:solidFill>
                  <a:srgbClr val="FFFFFF"/>
                </a:solidFill>
                <a:latin typeface="LM Sans 12"/>
                <a:cs typeface="LM Sans 12"/>
              </a:rPr>
              <a:t>an</a:t>
            </a:r>
            <a:r>
              <a:rPr sz="1400" spc="-45" dirty="0">
                <a:solidFill>
                  <a:srgbClr val="FFFFFF"/>
                </a:solidFill>
                <a:latin typeface="LM Sans 12"/>
                <a:cs typeface="LM Sans 12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LM Sans 12"/>
                <a:cs typeface="LM Sans 12"/>
              </a:rPr>
              <a:t>Array</a:t>
            </a:r>
            <a:endParaRPr sz="1400">
              <a:latin typeface="LM Sans 12"/>
              <a:cs typeface="LM Sans 12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900" spc="-5" dirty="0">
                <a:solidFill>
                  <a:srgbClr val="FFFFFF"/>
                </a:solidFill>
                <a:latin typeface="LM Sans 9"/>
                <a:cs typeface="LM Sans 9"/>
              </a:rPr>
              <a:t>Quick </a:t>
            </a:r>
            <a:r>
              <a:rPr sz="900" spc="-10" dirty="0">
                <a:solidFill>
                  <a:srgbClr val="FFFFFF"/>
                </a:solidFill>
                <a:latin typeface="LM Sans 9"/>
                <a:cs typeface="LM Sans 9"/>
              </a:rPr>
              <a:t>Sort Algorithm</a:t>
            </a:r>
            <a:r>
              <a:rPr sz="900" spc="-5" dirty="0">
                <a:solidFill>
                  <a:srgbClr val="FFFFFF"/>
                </a:solidFill>
                <a:latin typeface="LM Sans 9"/>
                <a:cs typeface="LM Sans 9"/>
              </a:rPr>
              <a:t> Review</a:t>
            </a:r>
            <a:endParaRPr sz="900">
              <a:latin typeface="LM Sans 9"/>
              <a:cs typeface="LM Sans 9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02936" y="640237"/>
            <a:ext cx="2593351" cy="257415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10" name="object 10"/>
          <p:cNvSpPr txBox="1"/>
          <p:nvPr/>
        </p:nvSpPr>
        <p:spPr>
          <a:xfrm>
            <a:off x="1958606" y="3351784"/>
            <a:ext cx="690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CSC3100 </a:t>
            </a:r>
            <a:r>
              <a:rPr sz="600" spc="-1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Tutorial</a:t>
            </a:r>
            <a:r>
              <a:rPr sz="600" spc="-2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7</a:t>
            </a:r>
            <a:endParaRPr sz="600">
              <a:latin typeface="LM Sans 8"/>
              <a:cs typeface="LM Sans 8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00450" y="3374390"/>
            <a:ext cx="679450" cy="86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2022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/10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/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3</a:t>
            </a:r>
            <a:endParaRPr lang="en-US" sz="600" spc="-5" dirty="0">
              <a:solidFill>
                <a:srgbClr val="FFFFFF"/>
              </a:solidFill>
              <a:latin typeface="LM Sans 8"/>
              <a:cs typeface="LM Sans 8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442302" y="901166"/>
            <a:ext cx="4086225" cy="101854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sz="1100" spc="-10" dirty="0">
                <a:latin typeface="LM Sans 10"/>
                <a:cs typeface="LM Sans 10"/>
              </a:rPr>
              <a:t>A </a:t>
            </a:r>
            <a:r>
              <a:rPr sz="1100" spc="-5" dirty="0">
                <a:latin typeface="LM Sans 10"/>
                <a:cs typeface="LM Sans 10"/>
              </a:rPr>
              <a:t>tree is </a:t>
            </a:r>
            <a:r>
              <a:rPr sz="1100" spc="-10" dirty="0">
                <a:latin typeface="LM Sans 10"/>
                <a:cs typeface="LM Sans 10"/>
              </a:rPr>
              <a:t>a finite </a:t>
            </a:r>
            <a:r>
              <a:rPr sz="1100" spc="-5" dirty="0">
                <a:latin typeface="LM Sans 10"/>
                <a:cs typeface="LM Sans 10"/>
              </a:rPr>
              <a:t>set of one </a:t>
            </a:r>
            <a:r>
              <a:rPr sz="1100" spc="-25" dirty="0">
                <a:latin typeface="LM Sans 10"/>
                <a:cs typeface="LM Sans 10"/>
              </a:rPr>
              <a:t>or </a:t>
            </a:r>
            <a:r>
              <a:rPr sz="1100" spc="-15" dirty="0">
                <a:latin typeface="LM Sans 10"/>
                <a:cs typeface="LM Sans 10"/>
              </a:rPr>
              <a:t>more </a:t>
            </a:r>
            <a:r>
              <a:rPr sz="1100" dirty="0">
                <a:latin typeface="LM Sans 10"/>
                <a:cs typeface="LM Sans 10"/>
              </a:rPr>
              <a:t>nodes </a:t>
            </a:r>
            <a:r>
              <a:rPr sz="1100" spc="-5" dirty="0">
                <a:latin typeface="LM Sans 10"/>
                <a:cs typeface="LM Sans 10"/>
              </a:rPr>
              <a:t>such</a:t>
            </a:r>
            <a:r>
              <a:rPr sz="1100" spc="25" dirty="0">
                <a:latin typeface="LM Sans 10"/>
                <a:cs typeface="LM Sans 10"/>
              </a:rPr>
              <a:t> </a:t>
            </a:r>
            <a:r>
              <a:rPr sz="1100" spc="-5" dirty="0">
                <a:latin typeface="LM Sans 10"/>
                <a:cs typeface="LM Sans 10"/>
              </a:rPr>
              <a:t>that</a:t>
            </a:r>
            <a:endParaRPr sz="1100">
              <a:latin typeface="LM Sans 10"/>
              <a:cs typeface="LM Sans 10"/>
            </a:endParaRPr>
          </a:p>
          <a:p>
            <a:pPr marL="314960">
              <a:lnSpc>
                <a:spcPts val="1200"/>
              </a:lnSpc>
              <a:spcBef>
                <a:spcPts val="175"/>
              </a:spcBef>
            </a:pPr>
            <a:r>
              <a:rPr sz="1000" spc="-5" dirty="0">
                <a:latin typeface="LM Sans 10"/>
                <a:cs typeface="LM Sans 10"/>
              </a:rPr>
              <a:t>Each </a:t>
            </a:r>
            <a:r>
              <a:rPr sz="1000" dirty="0">
                <a:latin typeface="LM Sans 10"/>
                <a:cs typeface="LM Sans 10"/>
              </a:rPr>
              <a:t>node </a:t>
            </a:r>
            <a:r>
              <a:rPr sz="1000" spc="-10" dirty="0">
                <a:latin typeface="LM Sans 10"/>
                <a:cs typeface="LM Sans 10"/>
              </a:rPr>
              <a:t>stores </a:t>
            </a:r>
            <a:r>
              <a:rPr sz="1000" spc="-5" dirty="0">
                <a:latin typeface="LM Sans 10"/>
                <a:cs typeface="LM Sans 10"/>
              </a:rPr>
              <a:t>an</a:t>
            </a:r>
            <a:r>
              <a:rPr sz="1000" spc="-10" dirty="0">
                <a:latin typeface="LM Sans 10"/>
                <a:cs typeface="LM Sans 10"/>
              </a:rPr>
              <a:t> </a:t>
            </a:r>
            <a:r>
              <a:rPr sz="1000" spc="-5" dirty="0">
                <a:latin typeface="LM Sans 10"/>
                <a:cs typeface="LM Sans 10"/>
              </a:rPr>
              <a:t>element</a:t>
            </a:r>
            <a:endParaRPr lang="en-US" sz="1000">
              <a:latin typeface="LM Sans 10"/>
              <a:cs typeface="LM Sans 10"/>
            </a:endParaRPr>
          </a:p>
          <a:p>
            <a:pPr marL="314960">
              <a:lnSpc>
                <a:spcPts val="1200"/>
              </a:lnSpc>
              <a:spcBef>
                <a:spcPts val="175"/>
              </a:spcBef>
            </a:pPr>
            <a:r>
              <a:rPr sz="1000" spc="-5" dirty="0">
                <a:latin typeface="LM Sans 10"/>
                <a:cs typeface="LM Sans 10"/>
              </a:rPr>
              <a:t>There is a </a:t>
            </a:r>
            <a:r>
              <a:rPr sz="1000" dirty="0">
                <a:latin typeface="LM Sans 10"/>
                <a:cs typeface="LM Sans 10"/>
              </a:rPr>
              <a:t>specially node </a:t>
            </a:r>
            <a:r>
              <a:rPr sz="1000" spc="-5" dirty="0">
                <a:latin typeface="LM Sans 10"/>
                <a:cs typeface="LM Sans 10"/>
              </a:rPr>
              <a:t>called the </a:t>
            </a:r>
            <a:r>
              <a:rPr sz="1000" dirty="0">
                <a:latin typeface="LM Sans 10"/>
                <a:cs typeface="LM Sans 10"/>
              </a:rPr>
              <a:t>root</a:t>
            </a:r>
            <a:endParaRPr sz="1000">
              <a:latin typeface="LM Sans 10"/>
              <a:cs typeface="LM Sans 10"/>
            </a:endParaRPr>
          </a:p>
          <a:p>
            <a:pPr marL="314960">
              <a:lnSpc>
                <a:spcPts val="1195"/>
              </a:lnSpc>
            </a:pPr>
            <a:r>
              <a:rPr sz="1000" spc="-5" dirty="0">
                <a:latin typeface="LM Sans 10"/>
                <a:cs typeface="LM Sans 10"/>
              </a:rPr>
              <a:t>The remaining</a:t>
            </a:r>
            <a:r>
              <a:rPr sz="1000" spc="5" dirty="0">
                <a:latin typeface="LM Sans 10"/>
                <a:cs typeface="LM Sans 10"/>
              </a:rPr>
              <a:t> </a:t>
            </a:r>
            <a:r>
              <a:rPr sz="1000" dirty="0">
                <a:latin typeface="LM Sans 10"/>
                <a:cs typeface="LM Sans 10"/>
              </a:rPr>
              <a:t>nodes </a:t>
            </a:r>
            <a:r>
              <a:rPr sz="1000" spc="-15" dirty="0">
                <a:latin typeface="LM Sans 10"/>
                <a:cs typeface="LM Sans 10"/>
              </a:rPr>
              <a:t>are</a:t>
            </a:r>
            <a:r>
              <a:rPr sz="1000" dirty="0">
                <a:latin typeface="LM Sans 10"/>
                <a:cs typeface="LM Sans 10"/>
              </a:rPr>
              <a:t> </a:t>
            </a:r>
            <a:r>
              <a:rPr sz="1000" spc="-5" dirty="0">
                <a:latin typeface="LM Sans 10"/>
                <a:cs typeface="LM Sans 10"/>
              </a:rPr>
              <a:t>partitioned</a:t>
            </a:r>
            <a:r>
              <a:rPr sz="1000" dirty="0">
                <a:latin typeface="LM Sans 10"/>
                <a:cs typeface="LM Sans 10"/>
              </a:rPr>
              <a:t> </a:t>
            </a:r>
            <a:r>
              <a:rPr sz="1000" spc="-5" dirty="0">
                <a:latin typeface="LM Sans 10"/>
                <a:cs typeface="LM Sans 10"/>
              </a:rPr>
              <a:t>into </a:t>
            </a:r>
            <a:r>
              <a:rPr sz="1000" i="1" spc="-5" dirty="0">
                <a:latin typeface="LM Sans 10"/>
                <a:cs typeface="LM Sans 10"/>
              </a:rPr>
              <a:t>n</a:t>
            </a:r>
            <a:r>
              <a:rPr sz="1000" dirty="0">
                <a:latin typeface="LM Sans 10"/>
                <a:cs typeface="LM Sans 10"/>
              </a:rPr>
              <a:t> </a:t>
            </a:r>
            <a:r>
              <a:rPr sz="1000" spc="-5" dirty="0">
                <a:latin typeface="LM Sans 10"/>
                <a:cs typeface="LM Sans 10"/>
              </a:rPr>
              <a:t>disjoint</a:t>
            </a:r>
            <a:r>
              <a:rPr sz="1000" dirty="0">
                <a:latin typeface="LM Sans 10"/>
                <a:cs typeface="LM Sans 10"/>
              </a:rPr>
              <a:t> </a:t>
            </a:r>
            <a:endParaRPr sz="1000" dirty="0">
              <a:latin typeface="LM Sans 10"/>
              <a:cs typeface="LM Sans 10"/>
            </a:endParaRPr>
          </a:p>
          <a:p>
            <a:pPr marL="314960">
              <a:lnSpc>
                <a:spcPts val="1195"/>
              </a:lnSpc>
            </a:pPr>
            <a:r>
              <a:rPr sz="1000" spc="-5" dirty="0">
                <a:latin typeface="LM Sans 10"/>
                <a:cs typeface="LM Sans 10"/>
              </a:rPr>
              <a:t>sets</a:t>
            </a:r>
            <a:r>
              <a:rPr sz="1000" dirty="0">
                <a:latin typeface="LM Sans 10"/>
                <a:cs typeface="LM Sans 10"/>
              </a:rPr>
              <a:t> </a:t>
            </a:r>
            <a:r>
              <a:rPr sz="1200" i="1" spc="10" dirty="0">
                <a:latin typeface="Times New Roman Regular" panose="02020603050405020304" charset="0"/>
                <a:cs typeface="Times New Roman Regular" panose="02020603050405020304" charset="0"/>
              </a:rPr>
              <a:t>T</a:t>
            </a:r>
            <a:r>
              <a:rPr sz="1200" spc="15" baseline="-12000" dirty="0">
                <a:latin typeface="Times New Roman Regular" panose="02020603050405020304" charset="0"/>
                <a:cs typeface="Times New Roman Regular" panose="02020603050405020304" charset="0"/>
              </a:rPr>
              <a:t>1</a:t>
            </a:r>
            <a:r>
              <a:rPr sz="1200" i="1" spc="10" dirty="0">
                <a:latin typeface="Times New Roman Regular" panose="02020603050405020304" charset="0"/>
                <a:cs typeface="Times New Roman Regular" panose="02020603050405020304" charset="0"/>
              </a:rPr>
              <a:t>,</a:t>
            </a:r>
            <a:r>
              <a:rPr sz="1200" i="1" spc="-114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sz="1200" i="1" spc="-5" dirty="0">
                <a:latin typeface="Times New Roman Regular" panose="02020603050405020304" charset="0"/>
                <a:cs typeface="Times New Roman Regular" panose="02020603050405020304" charset="0"/>
              </a:rPr>
              <a:t>...,</a:t>
            </a:r>
            <a:r>
              <a:rPr sz="1200" i="1" spc="-114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sz="1200" i="1" spc="-5" dirty="0">
                <a:latin typeface="Times New Roman Regular" panose="02020603050405020304" charset="0"/>
                <a:cs typeface="Times New Roman Regular" panose="02020603050405020304" charset="0"/>
              </a:rPr>
              <a:t>T</a:t>
            </a:r>
            <a:r>
              <a:rPr sz="1200" i="1" spc="-7" baseline="-12000" dirty="0">
                <a:latin typeface="Times New Roman Regular" panose="02020603050405020304" charset="0"/>
                <a:cs typeface="Times New Roman Regular" panose="02020603050405020304" charset="0"/>
              </a:rPr>
              <a:t>n</a:t>
            </a:r>
            <a:r>
              <a:rPr lang="en-US" sz="1200" i="1" spc="-7" baseline="-12000" dirty="0">
                <a:latin typeface="Times New Roman Regular" panose="02020603050405020304" charset="0"/>
                <a:cs typeface="Times New Roman Regular" panose="02020603050405020304" charset="0"/>
              </a:rPr>
              <a:t>, </a:t>
            </a:r>
            <a:r>
              <a:rPr sz="1000" spc="-5" dirty="0">
                <a:latin typeface="LM Sans 10"/>
                <a:cs typeface="LM Sans 10"/>
              </a:rPr>
              <a:t>where each of these sets is a</a:t>
            </a:r>
            <a:r>
              <a:rPr sz="1000" dirty="0">
                <a:latin typeface="LM Sans 10"/>
                <a:cs typeface="LM Sans 10"/>
              </a:rPr>
              <a:t> </a:t>
            </a:r>
            <a:r>
              <a:rPr sz="1000" spc="-5" dirty="0">
                <a:latin typeface="LM Sans 10"/>
                <a:cs typeface="LM Sans 10"/>
              </a:rPr>
              <a:t>tree</a:t>
            </a:r>
            <a:endParaRPr sz="1000">
              <a:latin typeface="LM Sans 10"/>
              <a:cs typeface="LM Sans 10"/>
            </a:endParaRPr>
          </a:p>
          <a:p>
            <a:pPr marL="314960">
              <a:lnSpc>
                <a:spcPts val="1200"/>
              </a:lnSpc>
            </a:pPr>
            <a:r>
              <a:rPr sz="1000" spc="-20" dirty="0">
                <a:latin typeface="LM Sans 10"/>
                <a:cs typeface="LM Sans 10"/>
              </a:rPr>
              <a:t>We </a:t>
            </a:r>
            <a:r>
              <a:rPr sz="1000" spc="-5" dirty="0">
                <a:latin typeface="LM Sans 10"/>
                <a:cs typeface="LM Sans 10"/>
              </a:rPr>
              <a:t>call </a:t>
            </a:r>
            <a:r>
              <a:rPr sz="1000" i="1" spc="10" dirty="0">
                <a:latin typeface="LM Sans 10"/>
                <a:cs typeface="LM Sans 10"/>
              </a:rPr>
              <a:t>T</a:t>
            </a:r>
            <a:r>
              <a:rPr sz="1050" spc="15" baseline="-12000" dirty="0">
                <a:latin typeface="LM Sans 8"/>
                <a:cs typeface="LM Sans 8"/>
              </a:rPr>
              <a:t>1</a:t>
            </a:r>
            <a:r>
              <a:rPr sz="1000" i="1" spc="10" dirty="0">
                <a:latin typeface="Arial" panose="020B0604020202020204"/>
                <a:cs typeface="Arial" panose="020B0604020202020204"/>
              </a:rPr>
              <a:t>, </a:t>
            </a:r>
            <a:r>
              <a:rPr sz="1000" i="1" spc="-5" dirty="0">
                <a:latin typeface="Arial" panose="020B0604020202020204"/>
                <a:cs typeface="Arial" panose="020B0604020202020204"/>
              </a:rPr>
              <a:t>..., </a:t>
            </a:r>
            <a:r>
              <a:rPr sz="1000" i="1" spc="-5" dirty="0">
                <a:latin typeface="LM Sans 10"/>
                <a:cs typeface="LM Sans 10"/>
              </a:rPr>
              <a:t>T</a:t>
            </a:r>
            <a:r>
              <a:rPr sz="1050" i="1" spc="-7" baseline="-12000" dirty="0">
                <a:latin typeface="LM Sans 8"/>
                <a:cs typeface="LM Sans 8"/>
              </a:rPr>
              <a:t>n </a:t>
            </a:r>
            <a:r>
              <a:rPr sz="1000" spc="-5" dirty="0">
                <a:latin typeface="LM Sans 10"/>
                <a:cs typeface="LM Sans 10"/>
              </a:rPr>
              <a:t>the subtrees of the</a:t>
            </a:r>
            <a:r>
              <a:rPr sz="1000" spc="-60" dirty="0">
                <a:latin typeface="LM Sans 10"/>
                <a:cs typeface="LM Sans 10"/>
              </a:rPr>
              <a:t> </a:t>
            </a:r>
            <a:r>
              <a:rPr sz="1000" dirty="0">
                <a:latin typeface="LM Sans 10"/>
                <a:cs typeface="LM Sans 10"/>
              </a:rPr>
              <a:t>root</a:t>
            </a:r>
            <a:endParaRPr sz="1000">
              <a:latin typeface="LM Sans 10"/>
              <a:cs typeface="LM Sans 10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250" y="29210"/>
            <a:ext cx="3126740" cy="4432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5"/>
              </a:spcBef>
            </a:pPr>
            <a:r>
              <a:rPr sz="1400" spc="-15" dirty="0">
                <a:solidFill>
                  <a:srgbClr val="FFFFFF"/>
                </a:solidFill>
                <a:latin typeface="LM Sans 12"/>
                <a:cs typeface="LM Sans 12"/>
              </a:rPr>
              <a:t>Tree</a:t>
            </a:r>
            <a:r>
              <a:rPr lang="en-US" sz="1400" spc="-15" dirty="0">
                <a:solidFill>
                  <a:srgbClr val="FFFFFF"/>
                </a:solidFill>
                <a:latin typeface="LM Sans 12"/>
                <a:cs typeface="LM Sans 12"/>
              </a:rPr>
              <a:t> &amp; Binary Tree</a:t>
            </a:r>
            <a:endParaRPr sz="1400">
              <a:latin typeface="LM Sans 12"/>
              <a:cs typeface="LM Sans 12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900" spc="-5" dirty="0">
                <a:solidFill>
                  <a:srgbClr val="FFFFFF"/>
                </a:solidFill>
                <a:latin typeface="LM Sans 9"/>
                <a:cs typeface="LM Sans 9"/>
              </a:rPr>
              <a:t>Review</a:t>
            </a:r>
            <a:endParaRPr sz="900">
              <a:latin typeface="LM Sans 9"/>
              <a:cs typeface="LM Sans 9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1409" y="968425"/>
            <a:ext cx="65265" cy="6526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0865" y="1156322"/>
            <a:ext cx="52590" cy="525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70865" y="1384350"/>
            <a:ext cx="52590" cy="525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70865" y="1542542"/>
            <a:ext cx="52590" cy="525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0865" y="1806829"/>
            <a:ext cx="52590" cy="525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15" name="object 15"/>
          <p:cNvSpPr txBox="1"/>
          <p:nvPr/>
        </p:nvSpPr>
        <p:spPr>
          <a:xfrm>
            <a:off x="1958606" y="3351784"/>
            <a:ext cx="690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LM Sans 8"/>
                <a:cs typeface="LM Sans 8"/>
                <a:hlinkClick r:id="rId4" action="ppaction://hlinksldjump"/>
              </a:rPr>
              <a:t>CSC3100 </a:t>
            </a:r>
            <a:r>
              <a:rPr sz="600" spc="-15" dirty="0">
                <a:solidFill>
                  <a:srgbClr val="FFFFFF"/>
                </a:solidFill>
                <a:latin typeface="LM Sans 8"/>
                <a:cs typeface="LM Sans 8"/>
                <a:hlinkClick r:id="rId4" action="ppaction://hlinksldjump"/>
              </a:rPr>
              <a:t>Tutorial</a:t>
            </a:r>
            <a:r>
              <a:rPr sz="600" spc="-25" dirty="0">
                <a:solidFill>
                  <a:srgbClr val="FFFFFF"/>
                </a:solidFill>
                <a:latin typeface="LM Sans 8"/>
                <a:cs typeface="LM Sans 8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  <a:hlinkClick r:id="rId4" action="ppaction://hlinksldjump"/>
              </a:rPr>
              <a:t>7</a:t>
            </a:r>
            <a:endParaRPr sz="600">
              <a:latin typeface="LM Sans 8"/>
              <a:cs typeface="LM Sans 8"/>
            </a:endParaRPr>
          </a:p>
        </p:txBody>
      </p:sp>
      <p:sp>
        <p:nvSpPr>
          <p:cNvPr id="17" name="object 13"/>
          <p:cNvSpPr txBox="1"/>
          <p:nvPr/>
        </p:nvSpPr>
        <p:spPr>
          <a:xfrm>
            <a:off x="3600450" y="3374390"/>
            <a:ext cx="679450" cy="86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2022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/10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/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3</a:t>
            </a:r>
            <a:endParaRPr lang="en-US" sz="600" spc="-5" dirty="0">
              <a:solidFill>
                <a:srgbClr val="FFFFFF"/>
              </a:solidFill>
              <a:latin typeface="LM Sans 8"/>
              <a:cs typeface="LM Sans 8"/>
            </a:endParaRPr>
          </a:p>
        </p:txBody>
      </p:sp>
      <p:sp>
        <p:nvSpPr>
          <p:cNvPr id="18" name="object 6"/>
          <p:cNvSpPr txBox="1"/>
          <p:nvPr/>
        </p:nvSpPr>
        <p:spPr>
          <a:xfrm>
            <a:off x="476250" y="2187575"/>
            <a:ext cx="3358515" cy="38163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spc="-10" dirty="0">
                <a:latin typeface="LM Sans 10"/>
                <a:cs typeface="LM Sans 10"/>
              </a:rPr>
              <a:t>A binary </a:t>
            </a:r>
            <a:r>
              <a:rPr sz="1100" spc="-5" dirty="0">
                <a:latin typeface="LM Sans 10"/>
                <a:cs typeface="LM Sans 10"/>
              </a:rPr>
              <a:t>tree is </a:t>
            </a:r>
            <a:r>
              <a:rPr sz="1100" spc="-10" dirty="0">
                <a:latin typeface="LM Sans 10"/>
                <a:cs typeface="LM Sans 10"/>
              </a:rPr>
              <a:t>a</a:t>
            </a:r>
            <a:r>
              <a:rPr sz="1100" spc="-5" dirty="0">
                <a:latin typeface="LM Sans 10"/>
                <a:cs typeface="LM Sans 10"/>
              </a:rPr>
              <a:t> tree</a:t>
            </a:r>
            <a:endParaRPr sz="1100">
              <a:latin typeface="LM Sans 10"/>
              <a:cs typeface="LM Sans 10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000" spc="-5" dirty="0">
                <a:latin typeface="LM Sans 10"/>
                <a:cs typeface="LM Sans 10"/>
              </a:rPr>
              <a:t>in which no </a:t>
            </a:r>
            <a:r>
              <a:rPr sz="1000" dirty="0">
                <a:latin typeface="LM Sans 10"/>
                <a:cs typeface="LM Sans 10"/>
              </a:rPr>
              <a:t>node </a:t>
            </a:r>
            <a:r>
              <a:rPr sz="1000" spc="-5" dirty="0">
                <a:latin typeface="LM Sans 10"/>
                <a:cs typeface="LM Sans 10"/>
              </a:rPr>
              <a:t>can have </a:t>
            </a:r>
            <a:r>
              <a:rPr sz="1000" spc="-10" dirty="0">
                <a:latin typeface="LM Sans 10"/>
                <a:cs typeface="LM Sans 10"/>
              </a:rPr>
              <a:t>more </a:t>
            </a:r>
            <a:r>
              <a:rPr sz="1000" spc="-5" dirty="0">
                <a:latin typeface="LM Sans 10"/>
                <a:cs typeface="LM Sans 10"/>
              </a:rPr>
              <a:t>than </a:t>
            </a:r>
            <a:r>
              <a:rPr sz="1000" spc="-25" dirty="0">
                <a:latin typeface="LM Sans 10"/>
                <a:cs typeface="LM Sans 10"/>
              </a:rPr>
              <a:t>two</a:t>
            </a:r>
            <a:r>
              <a:rPr sz="1000" dirty="0">
                <a:latin typeface="LM Sans 10"/>
                <a:cs typeface="LM Sans 10"/>
              </a:rPr>
              <a:t> </a:t>
            </a:r>
            <a:r>
              <a:rPr sz="1000" spc="-5" dirty="0">
                <a:latin typeface="LM Sans 10"/>
                <a:cs typeface="LM Sans 10"/>
              </a:rPr>
              <a:t>children</a:t>
            </a:r>
            <a:endParaRPr sz="1000">
              <a:latin typeface="LM Sans 10"/>
              <a:cs typeface="LM Sans 10"/>
            </a:endParaRPr>
          </a:p>
        </p:txBody>
      </p:sp>
      <p:sp>
        <p:nvSpPr>
          <p:cNvPr id="19" name="object 4"/>
          <p:cNvSpPr/>
          <p:nvPr/>
        </p:nvSpPr>
        <p:spPr>
          <a:xfrm>
            <a:off x="300774" y="2263825"/>
            <a:ext cx="65265" cy="6526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sp>
        <p:nvSpPr>
          <p:cNvPr id="20" name="object 8"/>
          <p:cNvSpPr/>
          <p:nvPr/>
        </p:nvSpPr>
        <p:spPr>
          <a:xfrm>
            <a:off x="545465" y="2467229"/>
            <a:ext cx="52590" cy="525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250" y="15240"/>
            <a:ext cx="2360930" cy="4432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5"/>
              </a:spcBef>
            </a:pPr>
            <a:r>
              <a:rPr sz="1400" spc="5" dirty="0">
                <a:solidFill>
                  <a:srgbClr val="FFFFFF"/>
                </a:solidFill>
                <a:latin typeface="LM Sans 12"/>
                <a:cs typeface="LM Sans 12"/>
              </a:rPr>
              <a:t>Binary</a:t>
            </a:r>
            <a:r>
              <a:rPr sz="1400" spc="-60" dirty="0">
                <a:solidFill>
                  <a:srgbClr val="FFFFFF"/>
                </a:solidFill>
                <a:latin typeface="LM Sans 12"/>
                <a:cs typeface="LM Sans 12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LM Sans 12"/>
                <a:cs typeface="LM Sans 12"/>
              </a:rPr>
              <a:t>Tree</a:t>
            </a:r>
            <a:endParaRPr sz="1400">
              <a:latin typeface="LM Sans 12"/>
              <a:cs typeface="LM Sans 12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900" spc="-5" dirty="0">
                <a:solidFill>
                  <a:srgbClr val="FFFFFF"/>
                </a:solidFill>
                <a:latin typeface="LM Sans 9"/>
                <a:cs typeface="LM Sans 9"/>
              </a:rPr>
              <a:t>strategy</a:t>
            </a:r>
            <a:endParaRPr sz="900">
              <a:latin typeface="LM Sans 9"/>
              <a:cs typeface="LM Sans 9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1089" y="942352"/>
            <a:ext cx="65265" cy="6526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0865" y="1132166"/>
            <a:ext cx="52590" cy="525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70865" y="1283995"/>
            <a:ext cx="52590" cy="525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70865" y="1435823"/>
            <a:ext cx="52590" cy="525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1089" y="1612938"/>
            <a:ext cx="65265" cy="6526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70865" y="1802752"/>
            <a:ext cx="52590" cy="525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0865" y="1954580"/>
            <a:ext cx="52590" cy="525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70865" y="2106409"/>
            <a:ext cx="52590" cy="525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81089" y="2283523"/>
            <a:ext cx="65265" cy="652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70865" y="2473337"/>
            <a:ext cx="52590" cy="525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70865" y="2625166"/>
            <a:ext cx="52590" cy="525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70865" y="2776994"/>
            <a:ext cx="52590" cy="525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03225" y="833755"/>
            <a:ext cx="3202940" cy="211645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spc="-10" dirty="0">
                <a:latin typeface="LM Sans 10"/>
                <a:cs typeface="LM Sans 10"/>
              </a:rPr>
              <a:t>Preorder (depth-first)</a:t>
            </a:r>
            <a:endParaRPr sz="1100">
              <a:latin typeface="LM Sans 10"/>
              <a:cs typeface="LM Sans 10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sz="1000" spc="-5" dirty="0">
                <a:latin typeface="LM Sans 10"/>
                <a:cs typeface="LM Sans 10"/>
              </a:rPr>
              <a:t>Visit the</a:t>
            </a:r>
            <a:r>
              <a:rPr sz="1000" spc="-10" dirty="0">
                <a:latin typeface="LM Sans 10"/>
                <a:cs typeface="LM Sans 10"/>
              </a:rPr>
              <a:t> </a:t>
            </a:r>
            <a:r>
              <a:rPr sz="1000" dirty="0">
                <a:latin typeface="LM Sans 10"/>
                <a:cs typeface="LM Sans 10"/>
              </a:rPr>
              <a:t>node</a:t>
            </a:r>
            <a:endParaRPr sz="1000">
              <a:latin typeface="LM Sans 10"/>
              <a:cs typeface="LM Sans 10"/>
            </a:endParaRPr>
          </a:p>
          <a:p>
            <a:pPr marL="289560" marR="70485">
              <a:lnSpc>
                <a:spcPts val="1200"/>
              </a:lnSpc>
              <a:spcBef>
                <a:spcPts val="40"/>
              </a:spcBef>
            </a:pPr>
            <a:r>
              <a:rPr sz="1000" spc="-15" dirty="0">
                <a:latin typeface="LM Sans 10"/>
                <a:cs typeface="LM Sans 10"/>
              </a:rPr>
              <a:t>Traverse </a:t>
            </a:r>
            <a:r>
              <a:rPr sz="1000" spc="-5" dirty="0">
                <a:latin typeface="LM Sans 10"/>
                <a:cs typeface="LM Sans 10"/>
              </a:rPr>
              <a:t>the left subtree in </a:t>
            </a:r>
            <a:r>
              <a:rPr sz="1000" spc="-15" dirty="0">
                <a:latin typeface="LM Sans 10"/>
                <a:cs typeface="LM Sans 10"/>
              </a:rPr>
              <a:t>preorder  </a:t>
            </a:r>
            <a:endParaRPr sz="1000" spc="-15" dirty="0">
              <a:latin typeface="LM Sans 10"/>
              <a:cs typeface="LM Sans 10"/>
            </a:endParaRPr>
          </a:p>
          <a:p>
            <a:pPr marL="289560" marR="70485">
              <a:lnSpc>
                <a:spcPts val="1200"/>
              </a:lnSpc>
              <a:spcBef>
                <a:spcPts val="40"/>
              </a:spcBef>
            </a:pPr>
            <a:r>
              <a:rPr sz="1000" spc="-15" dirty="0">
                <a:latin typeface="LM Sans 10"/>
                <a:cs typeface="LM Sans 10"/>
              </a:rPr>
              <a:t>Traverse </a:t>
            </a:r>
            <a:r>
              <a:rPr sz="1000" spc="-5" dirty="0">
                <a:latin typeface="LM Sans 10"/>
                <a:cs typeface="LM Sans 10"/>
              </a:rPr>
              <a:t>the right subtree in</a:t>
            </a:r>
            <a:r>
              <a:rPr sz="1000" spc="-20" dirty="0">
                <a:latin typeface="LM Sans 10"/>
                <a:cs typeface="LM Sans 10"/>
              </a:rPr>
              <a:t> </a:t>
            </a:r>
            <a:r>
              <a:rPr sz="1000" spc="-10" dirty="0">
                <a:latin typeface="LM Sans 10"/>
                <a:cs typeface="LM Sans 10"/>
              </a:rPr>
              <a:t>preorder</a:t>
            </a:r>
            <a:endParaRPr sz="1000">
              <a:latin typeface="LM Sans 10"/>
              <a:cs typeface="LM Sans 10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100" spc="-10" dirty="0">
                <a:latin typeface="LM Sans 10"/>
                <a:cs typeface="LM Sans 10"/>
              </a:rPr>
              <a:t>Inorder</a:t>
            </a:r>
            <a:endParaRPr sz="1100">
              <a:latin typeface="LM Sans 10"/>
              <a:cs typeface="LM Sans 10"/>
            </a:endParaRPr>
          </a:p>
          <a:p>
            <a:pPr marL="289560" marR="212090">
              <a:lnSpc>
                <a:spcPct val="100000"/>
              </a:lnSpc>
              <a:spcBef>
                <a:spcPts val="175"/>
              </a:spcBef>
            </a:pPr>
            <a:r>
              <a:rPr sz="1000" spc="-15" dirty="0">
                <a:latin typeface="LM Sans 10"/>
                <a:cs typeface="LM Sans 10"/>
              </a:rPr>
              <a:t>Traverse </a:t>
            </a:r>
            <a:r>
              <a:rPr sz="1000" spc="-5" dirty="0">
                <a:latin typeface="LM Sans 10"/>
                <a:cs typeface="LM Sans 10"/>
              </a:rPr>
              <a:t>the left subtree in </a:t>
            </a:r>
            <a:r>
              <a:rPr sz="1000" spc="-10" dirty="0">
                <a:latin typeface="LM Sans 10"/>
                <a:cs typeface="LM Sans 10"/>
              </a:rPr>
              <a:t>inorder  </a:t>
            </a:r>
            <a:endParaRPr sz="1000" spc="-10" dirty="0">
              <a:latin typeface="LM Sans 10"/>
              <a:cs typeface="LM Sans 10"/>
            </a:endParaRPr>
          </a:p>
          <a:p>
            <a:pPr marL="289560" marR="212090">
              <a:lnSpc>
                <a:spcPct val="100000"/>
              </a:lnSpc>
              <a:spcBef>
                <a:spcPts val="175"/>
              </a:spcBef>
            </a:pPr>
            <a:r>
              <a:rPr sz="1000" spc="-5" dirty="0">
                <a:latin typeface="LM Sans 10"/>
                <a:cs typeface="LM Sans 10"/>
              </a:rPr>
              <a:t>Visit the</a:t>
            </a:r>
            <a:r>
              <a:rPr sz="1000" spc="-10" dirty="0">
                <a:latin typeface="LM Sans 10"/>
                <a:cs typeface="LM Sans 10"/>
              </a:rPr>
              <a:t> </a:t>
            </a:r>
            <a:r>
              <a:rPr sz="1000" dirty="0">
                <a:latin typeface="LM Sans 10"/>
                <a:cs typeface="LM Sans 10"/>
              </a:rPr>
              <a:t>node</a:t>
            </a:r>
            <a:endParaRPr sz="1000">
              <a:latin typeface="LM Sans 10"/>
              <a:cs typeface="LM Sans 10"/>
            </a:endParaRPr>
          </a:p>
          <a:p>
            <a:pPr marL="289560">
              <a:lnSpc>
                <a:spcPts val="1190"/>
              </a:lnSpc>
            </a:pPr>
            <a:r>
              <a:rPr sz="1000" spc="-15" dirty="0">
                <a:latin typeface="LM Sans 10"/>
                <a:cs typeface="LM Sans 10"/>
              </a:rPr>
              <a:t>Traverse </a:t>
            </a:r>
            <a:r>
              <a:rPr sz="1000" spc="-5" dirty="0">
                <a:latin typeface="LM Sans 10"/>
                <a:cs typeface="LM Sans 10"/>
              </a:rPr>
              <a:t>the right subtree in</a:t>
            </a:r>
            <a:r>
              <a:rPr sz="1000" spc="5" dirty="0">
                <a:latin typeface="LM Sans 10"/>
                <a:cs typeface="LM Sans 10"/>
              </a:rPr>
              <a:t> </a:t>
            </a:r>
            <a:r>
              <a:rPr sz="1000" spc="-10" dirty="0">
                <a:latin typeface="LM Sans 10"/>
                <a:cs typeface="LM Sans 10"/>
              </a:rPr>
              <a:t>inorder</a:t>
            </a:r>
            <a:endParaRPr sz="1000">
              <a:latin typeface="LM Sans 10"/>
              <a:cs typeface="LM Sans 10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100" spc="-15" dirty="0">
                <a:latin typeface="LM Sans 10"/>
                <a:cs typeface="LM Sans 10"/>
              </a:rPr>
              <a:t>Postorder</a:t>
            </a:r>
            <a:endParaRPr sz="1100">
              <a:latin typeface="LM Sans 10"/>
              <a:cs typeface="LM Sans 10"/>
            </a:endParaRPr>
          </a:p>
          <a:p>
            <a:pPr marL="289560" marR="5080">
              <a:lnSpc>
                <a:spcPct val="100000"/>
              </a:lnSpc>
              <a:spcBef>
                <a:spcPts val="175"/>
              </a:spcBef>
            </a:pPr>
            <a:r>
              <a:rPr sz="1000" spc="-15" dirty="0">
                <a:latin typeface="LM Sans 10"/>
                <a:cs typeface="LM Sans 10"/>
              </a:rPr>
              <a:t>Traverse </a:t>
            </a:r>
            <a:r>
              <a:rPr sz="1000" spc="-5" dirty="0">
                <a:latin typeface="LM Sans 10"/>
                <a:cs typeface="LM Sans 10"/>
              </a:rPr>
              <a:t>the left subtree in postorder  </a:t>
            </a:r>
            <a:endParaRPr sz="1000" spc="-5" dirty="0">
              <a:latin typeface="LM Sans 10"/>
              <a:cs typeface="LM Sans 10"/>
            </a:endParaRPr>
          </a:p>
          <a:p>
            <a:pPr marL="289560" marR="5080">
              <a:lnSpc>
                <a:spcPct val="100000"/>
              </a:lnSpc>
              <a:spcBef>
                <a:spcPts val="175"/>
              </a:spcBef>
            </a:pPr>
            <a:r>
              <a:rPr sz="1000" spc="-15" dirty="0">
                <a:latin typeface="LM Sans 10"/>
                <a:cs typeface="LM Sans 10"/>
              </a:rPr>
              <a:t>Traverse </a:t>
            </a:r>
            <a:r>
              <a:rPr sz="1000" spc="-5" dirty="0">
                <a:latin typeface="LM Sans 10"/>
                <a:cs typeface="LM Sans 10"/>
              </a:rPr>
              <a:t>the right subtree in postorder  </a:t>
            </a:r>
            <a:endParaRPr sz="1000" spc="-5" dirty="0">
              <a:latin typeface="LM Sans 10"/>
              <a:cs typeface="LM Sans 10"/>
            </a:endParaRPr>
          </a:p>
          <a:p>
            <a:pPr marL="289560" marR="5080">
              <a:lnSpc>
                <a:spcPct val="100000"/>
              </a:lnSpc>
              <a:spcBef>
                <a:spcPts val="175"/>
              </a:spcBef>
            </a:pPr>
            <a:r>
              <a:rPr sz="1000" spc="-5" dirty="0">
                <a:latin typeface="LM Sans 10"/>
                <a:cs typeface="LM Sans 10"/>
              </a:rPr>
              <a:t>Visit the</a:t>
            </a:r>
            <a:r>
              <a:rPr sz="1000" spc="-10" dirty="0">
                <a:latin typeface="LM Sans 10"/>
                <a:cs typeface="LM Sans 10"/>
              </a:rPr>
              <a:t> </a:t>
            </a:r>
            <a:r>
              <a:rPr sz="1000" dirty="0">
                <a:latin typeface="LM Sans 10"/>
                <a:cs typeface="LM Sans 10"/>
              </a:rPr>
              <a:t>node</a:t>
            </a:r>
            <a:endParaRPr sz="1000">
              <a:latin typeface="LM Sans 10"/>
              <a:cs typeface="LM Sans 10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8" name="object 1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22" name="object 22"/>
          <p:cNvSpPr txBox="1"/>
          <p:nvPr/>
        </p:nvSpPr>
        <p:spPr>
          <a:xfrm>
            <a:off x="1958606" y="3351784"/>
            <a:ext cx="690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LM Sans 8"/>
                <a:cs typeface="LM Sans 8"/>
                <a:hlinkClick r:id="rId5" action="ppaction://hlinksldjump"/>
              </a:rPr>
              <a:t>CSC3100 </a:t>
            </a:r>
            <a:r>
              <a:rPr sz="600" spc="-15" dirty="0">
                <a:solidFill>
                  <a:srgbClr val="FFFFFF"/>
                </a:solidFill>
                <a:latin typeface="LM Sans 8"/>
                <a:cs typeface="LM Sans 8"/>
                <a:hlinkClick r:id="rId5" action="ppaction://hlinksldjump"/>
              </a:rPr>
              <a:t>Tutorial</a:t>
            </a:r>
            <a:r>
              <a:rPr sz="600" spc="-25" dirty="0">
                <a:solidFill>
                  <a:srgbClr val="FFFFFF"/>
                </a:solidFill>
                <a:latin typeface="LM Sans 8"/>
                <a:cs typeface="LM Sans 8"/>
                <a:hlinkClick r:id="rId5" action="ppaction://hlinksldjump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  <a:hlinkClick r:id="rId5" action="ppaction://hlinksldjump"/>
              </a:rPr>
              <a:t>7</a:t>
            </a:r>
            <a:endParaRPr sz="600">
              <a:latin typeface="LM Sans 8"/>
              <a:cs typeface="LM Sans 8"/>
            </a:endParaRPr>
          </a:p>
        </p:txBody>
      </p:sp>
      <p:sp>
        <p:nvSpPr>
          <p:cNvPr id="24" name="object 13"/>
          <p:cNvSpPr txBox="1"/>
          <p:nvPr/>
        </p:nvSpPr>
        <p:spPr>
          <a:xfrm>
            <a:off x="3600450" y="3374390"/>
            <a:ext cx="679450" cy="86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2022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/10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/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3</a:t>
            </a:r>
            <a:endParaRPr lang="en-US" sz="600" spc="-5" dirty="0">
              <a:solidFill>
                <a:srgbClr val="FFFFFF"/>
              </a:solidFill>
              <a:latin typeface="LM Sans 8"/>
              <a:cs typeface="LM Sans 8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628650" y="511175"/>
            <a:ext cx="3227070" cy="168910"/>
          </a:xfrm>
        </p:spPr>
        <p:txBody>
          <a:bodyPr/>
          <a:p>
            <a:r>
              <a:rPr lang="en-US"/>
              <a:t>Below is an example.</a:t>
            </a:r>
            <a:endParaRPr lang="en-US"/>
          </a:p>
        </p:txBody>
      </p:sp>
      <p:sp>
        <p:nvSpPr>
          <p:cNvPr id="4" name="object 3"/>
          <p:cNvSpPr txBox="1">
            <a:spLocks noGrp="1"/>
          </p:cNvSpPr>
          <p:nvPr>
            <p:ph type="title"/>
          </p:nvPr>
        </p:nvSpPr>
        <p:spPr>
          <a:xfrm>
            <a:off x="95250" y="-22225"/>
            <a:ext cx="3013075" cy="4432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p>
            <a:pPr marL="12700">
              <a:lnSpc>
                <a:spcPct val="100000"/>
              </a:lnSpc>
              <a:spcBef>
                <a:spcPts val="485"/>
              </a:spcBef>
            </a:pPr>
            <a:r>
              <a:rPr sz="1400" spc="5" dirty="0">
                <a:solidFill>
                  <a:srgbClr val="FFFFFF"/>
                </a:solidFill>
                <a:latin typeface="LM Sans 12"/>
                <a:cs typeface="LM Sans 12"/>
              </a:rPr>
              <a:t>Binary</a:t>
            </a:r>
            <a:r>
              <a:rPr sz="1400" spc="-60" dirty="0">
                <a:solidFill>
                  <a:srgbClr val="FFFFFF"/>
                </a:solidFill>
                <a:latin typeface="LM Sans 12"/>
                <a:cs typeface="LM Sans 12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LM Sans 12"/>
                <a:cs typeface="LM Sans 12"/>
              </a:rPr>
              <a:t>Tree</a:t>
            </a:r>
            <a:endParaRPr sz="1400">
              <a:latin typeface="LM Sans 12"/>
              <a:cs typeface="LM Sans 12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endParaRPr sz="900">
              <a:latin typeface="LM Sans 9"/>
              <a:cs typeface="LM Sans 9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940" y="848360"/>
            <a:ext cx="3354705" cy="16725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552450" y="587375"/>
            <a:ext cx="92456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latin typeface="Times New Roman Regular" panose="02020603050405020304" charset="0"/>
                <a:cs typeface="Times New Roman Regular" panose="02020603050405020304" charset="0"/>
              </a:rPr>
              <a:t>java version</a:t>
            </a:r>
            <a:endParaRPr lang="en-US" sz="12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8" name="object 2"/>
          <p:cNvSpPr/>
          <p:nvPr/>
        </p:nvSpPr>
        <p:spPr>
          <a:xfrm>
            <a:off x="0" y="889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p/>
        </p:txBody>
      </p:sp>
      <p:sp>
        <p:nvSpPr>
          <p:cNvPr id="9" name="object 3"/>
          <p:cNvSpPr txBox="1">
            <a:spLocks noGrp="1"/>
          </p:cNvSpPr>
          <p:nvPr>
            <p:ph type="title"/>
          </p:nvPr>
        </p:nvSpPr>
        <p:spPr>
          <a:xfrm>
            <a:off x="95250" y="15240"/>
            <a:ext cx="2741295" cy="4432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p>
            <a:pPr marL="12700">
              <a:lnSpc>
                <a:spcPct val="100000"/>
              </a:lnSpc>
              <a:spcBef>
                <a:spcPts val="485"/>
              </a:spcBef>
            </a:pPr>
            <a:r>
              <a:rPr sz="1400" spc="5" dirty="0">
                <a:solidFill>
                  <a:srgbClr val="FFFFFF"/>
                </a:solidFill>
                <a:latin typeface="LM Sans 12"/>
                <a:cs typeface="LM Sans 12"/>
              </a:rPr>
              <a:t>Binary </a:t>
            </a:r>
            <a:r>
              <a:rPr sz="1400" spc="-15" dirty="0">
                <a:solidFill>
                  <a:srgbClr val="FFFFFF"/>
                </a:solidFill>
                <a:latin typeface="LM Sans 12"/>
                <a:cs typeface="LM Sans 12"/>
              </a:rPr>
              <a:t>Tree</a:t>
            </a:r>
            <a:endParaRPr sz="1400">
              <a:latin typeface="LM Sans 12"/>
              <a:cs typeface="LM Sans 12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900" spc="-15" dirty="0">
                <a:solidFill>
                  <a:srgbClr val="FFFFFF"/>
                </a:solidFill>
                <a:latin typeface="LM Sans 9"/>
                <a:cs typeface="LM Sans 9"/>
              </a:rPr>
              <a:t>How </a:t>
            </a:r>
            <a:r>
              <a:rPr sz="900" spc="-5" dirty="0">
                <a:solidFill>
                  <a:srgbClr val="FFFFFF"/>
                </a:solidFill>
                <a:latin typeface="LM Sans 9"/>
                <a:cs typeface="LM Sans 9"/>
              </a:rPr>
              <a:t>to traverse a tree using recursion</a:t>
            </a:r>
            <a:endParaRPr sz="900">
              <a:latin typeface="LM Sans 9"/>
              <a:cs typeface="LM Sans 9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91870"/>
            <a:ext cx="2227580" cy="9842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663575"/>
            <a:ext cx="2847975" cy="25749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171450" y="511175"/>
            <a:ext cx="92456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latin typeface="Times New Roman Regular" panose="02020603050405020304" charset="0"/>
                <a:cs typeface="Times New Roman Regular" panose="02020603050405020304" charset="0"/>
              </a:rPr>
              <a:t>java version</a:t>
            </a:r>
            <a:endParaRPr lang="en-US" sz="12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8" name="object 2"/>
          <p:cNvSpPr/>
          <p:nvPr/>
        </p:nvSpPr>
        <p:spPr>
          <a:xfrm>
            <a:off x="0" y="889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p/>
        </p:txBody>
      </p:sp>
      <p:sp>
        <p:nvSpPr>
          <p:cNvPr id="6" name="object 3"/>
          <p:cNvSpPr txBox="1"/>
          <p:nvPr/>
        </p:nvSpPr>
        <p:spPr>
          <a:xfrm>
            <a:off x="95250" y="29210"/>
            <a:ext cx="2599055" cy="4432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5"/>
              </a:spcBef>
            </a:pPr>
            <a:r>
              <a:rPr sz="1400" spc="5" dirty="0">
                <a:solidFill>
                  <a:srgbClr val="FFFFFF"/>
                </a:solidFill>
                <a:latin typeface="LM Sans 12"/>
                <a:cs typeface="LM Sans 12"/>
              </a:rPr>
              <a:t>Binary</a:t>
            </a:r>
            <a:r>
              <a:rPr sz="1400" dirty="0">
                <a:solidFill>
                  <a:srgbClr val="FFFFFF"/>
                </a:solidFill>
                <a:latin typeface="LM Sans 12"/>
                <a:cs typeface="LM Sans 12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LM Sans 12"/>
                <a:cs typeface="LM Sans 12"/>
              </a:rPr>
              <a:t>Tree</a:t>
            </a:r>
            <a:endParaRPr sz="1400">
              <a:latin typeface="LM Sans 12"/>
              <a:cs typeface="LM Sans 12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900" spc="-15" dirty="0">
                <a:solidFill>
                  <a:srgbClr val="FFFFFF"/>
                </a:solidFill>
                <a:latin typeface="LM Sans 9"/>
                <a:cs typeface="LM Sans 9"/>
              </a:rPr>
              <a:t>How </a:t>
            </a:r>
            <a:r>
              <a:rPr sz="900" spc="-5" dirty="0">
                <a:solidFill>
                  <a:srgbClr val="FFFFFF"/>
                </a:solidFill>
                <a:latin typeface="LM Sans 9"/>
                <a:cs typeface="LM Sans 9"/>
              </a:rPr>
              <a:t>to traverse a tree using</a:t>
            </a:r>
            <a:r>
              <a:rPr sz="900" spc="-15" dirty="0">
                <a:solidFill>
                  <a:srgbClr val="FFFFFF"/>
                </a:solidFill>
                <a:latin typeface="LM Sans 9"/>
                <a:cs typeface="LM Sans 9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LM Sans 9"/>
                <a:cs typeface="LM Sans 9"/>
              </a:rPr>
              <a:t>stack</a:t>
            </a:r>
            <a:endParaRPr sz="900">
              <a:latin typeface="LM Sans 9"/>
              <a:cs typeface="LM Sans 9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850" y="473075"/>
            <a:ext cx="2748915" cy="29737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250" y="15240"/>
            <a:ext cx="2748280" cy="4432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5"/>
              </a:spcBef>
            </a:pPr>
            <a:r>
              <a:rPr sz="1400" spc="5" dirty="0">
                <a:solidFill>
                  <a:srgbClr val="FFFFFF"/>
                </a:solidFill>
                <a:latin typeface="LM Sans 12"/>
                <a:cs typeface="LM Sans 12"/>
              </a:rPr>
              <a:t>Binary </a:t>
            </a:r>
            <a:r>
              <a:rPr sz="1400" spc="-15" dirty="0">
                <a:solidFill>
                  <a:srgbClr val="FFFFFF"/>
                </a:solidFill>
                <a:latin typeface="LM Sans 12"/>
                <a:cs typeface="LM Sans 12"/>
              </a:rPr>
              <a:t>Tree</a:t>
            </a:r>
            <a:endParaRPr sz="1400">
              <a:latin typeface="LM Sans 12"/>
              <a:cs typeface="LM Sans 12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900" spc="-15" dirty="0">
                <a:solidFill>
                  <a:srgbClr val="FFFFFF"/>
                </a:solidFill>
                <a:latin typeface="LM Sans 9"/>
                <a:cs typeface="LM Sans 9"/>
              </a:rPr>
              <a:t>How </a:t>
            </a:r>
            <a:r>
              <a:rPr sz="900" spc="-5" dirty="0">
                <a:solidFill>
                  <a:srgbClr val="FFFFFF"/>
                </a:solidFill>
                <a:latin typeface="LM Sans 9"/>
                <a:cs typeface="LM Sans 9"/>
              </a:rPr>
              <a:t>to traverse a tree using recursion</a:t>
            </a:r>
            <a:endParaRPr sz="900">
              <a:latin typeface="LM Sans 9"/>
              <a:cs typeface="LM Sans 9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5087" y="954024"/>
            <a:ext cx="4297680" cy="1718310"/>
            <a:chOff x="215087" y="954024"/>
            <a:chExt cx="4297680" cy="1718310"/>
          </a:xfrm>
        </p:grpSpPr>
        <p:sp>
          <p:nvSpPr>
            <p:cNvPr id="5" name="object 5"/>
            <p:cNvSpPr/>
            <p:nvPr/>
          </p:nvSpPr>
          <p:spPr>
            <a:xfrm>
              <a:off x="217627" y="956564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17627" y="999579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17627" y="1138758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7627" y="1277937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7627" y="1417116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7627" y="1556296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17627" y="1695475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17627" y="1834654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17627" y="1973834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17627" y="2113000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17627" y="2252180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17627" y="2391359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17627" y="2530538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509947" y="956564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509947" y="999579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509947" y="1138758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509947" y="1277937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509947" y="1417116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509947" y="1556296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509947" y="1695475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509947" y="1834654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509947" y="1973834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509947" y="2113000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509947" y="2252180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509947" y="2391359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509947" y="2530538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-17195" y="959091"/>
          <a:ext cx="4526915" cy="1750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950"/>
                <a:gridCol w="219709"/>
                <a:gridCol w="3803015"/>
                <a:gridCol w="269239"/>
              </a:tblGrid>
              <a:tr h="178482"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1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23495" marB="0"/>
                </a:tc>
                <a:tc gridSpan="2"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50" dirty="0">
                          <a:solidFill>
                            <a:srgbClr val="2727FF"/>
                          </a:solidFill>
                          <a:latin typeface="LM Mono 10"/>
                          <a:cs typeface="LM Mono 10"/>
                        </a:rPr>
                        <a:t>void</a:t>
                      </a:r>
                      <a:r>
                        <a:rPr lang="en-US" sz="900" spc="50" dirty="0">
                          <a:solidFill>
                            <a:srgbClr val="2727FF"/>
                          </a:solidFill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50" dirty="0">
                          <a:latin typeface="LM Mono 10"/>
                          <a:cs typeface="LM Mono 10"/>
                        </a:rPr>
                        <a:t>pre</a:t>
                      </a:r>
                      <a:r>
                        <a:rPr sz="900" spc="-38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5" dirty="0">
                          <a:latin typeface="LM Mono 10"/>
                          <a:cs typeface="LM Mono 10"/>
                        </a:rPr>
                        <a:t>Order</a:t>
                      </a:r>
                      <a:r>
                        <a:rPr sz="900" spc="-39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5" dirty="0">
                          <a:latin typeface="LM Mono 10"/>
                          <a:cs typeface="LM Mono 10"/>
                        </a:rPr>
                        <a:t>Recur</a:t>
                      </a:r>
                      <a:r>
                        <a:rPr sz="900" spc="-33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(</a:t>
                      </a:r>
                      <a:r>
                        <a:rPr sz="900" spc="-34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55" dirty="0">
                          <a:latin typeface="LM Mono 10"/>
                          <a:cs typeface="LM Mono 10"/>
                        </a:rPr>
                        <a:t>Tree</a:t>
                      </a:r>
                      <a:r>
                        <a:rPr sz="900" spc="-39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55" dirty="0">
                          <a:latin typeface="LM Mono 10"/>
                          <a:cs typeface="LM Mono 10"/>
                        </a:rPr>
                        <a:t>Node</a:t>
                      </a:r>
                      <a:r>
                        <a:rPr sz="900" spc="-34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*</a:t>
                      </a:r>
                      <a:r>
                        <a:rPr sz="900" spc="21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root</a:t>
                      </a:r>
                      <a:r>
                        <a:rPr sz="900" spc="-30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,</a:t>
                      </a:r>
                      <a:r>
                        <a:rPr sz="900" spc="22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50" dirty="0">
                          <a:latin typeface="LM Mono 10"/>
                          <a:cs typeface="LM Mono 10"/>
                        </a:rPr>
                        <a:t>vector</a:t>
                      </a:r>
                      <a:r>
                        <a:rPr sz="900" spc="-28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25" dirty="0">
                          <a:latin typeface="LM Mono 10"/>
                          <a:cs typeface="LM Mono 10"/>
                        </a:rPr>
                        <a:t>&lt;</a:t>
                      </a:r>
                      <a:r>
                        <a:rPr sz="900" spc="25" dirty="0">
                          <a:solidFill>
                            <a:srgbClr val="2727FF"/>
                          </a:solidFill>
                          <a:latin typeface="LM Mono 10"/>
                          <a:cs typeface="LM Mono 10"/>
                        </a:rPr>
                        <a:t>int</a:t>
                      </a:r>
                      <a:r>
                        <a:rPr sz="900" spc="25" dirty="0">
                          <a:latin typeface="LM Mono 10"/>
                          <a:cs typeface="LM Mono 10"/>
                        </a:rPr>
                        <a:t>&gt;&amp;</a:t>
                      </a:r>
                      <a:r>
                        <a:rPr sz="900" spc="25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0" dirty="0">
                          <a:latin typeface="LM Mono 10"/>
                          <a:cs typeface="LM Mono 10"/>
                        </a:rPr>
                        <a:t>result</a:t>
                      </a:r>
                      <a:r>
                        <a:rPr sz="900" spc="-35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)</a:t>
                      </a:r>
                      <a:r>
                        <a:rPr sz="900" spc="19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{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2349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9172">
                <a:tc>
                  <a:txBody>
                    <a:bodyPr/>
                    <a:lstStyle/>
                    <a:p>
                      <a:pPr marR="78105" algn="r">
                        <a:lnSpc>
                          <a:spcPts val="955"/>
                        </a:lnSpc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2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7185">
                        <a:lnSpc>
                          <a:spcPts val="955"/>
                        </a:lnSpc>
                      </a:pPr>
                      <a:r>
                        <a:rPr sz="900" spc="60" dirty="0">
                          <a:latin typeface="LM Mono 10"/>
                          <a:cs typeface="LM Mono 10"/>
                        </a:rPr>
                        <a:t>result</a:t>
                      </a:r>
                      <a:r>
                        <a:rPr sz="900" spc="-35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.</a:t>
                      </a:r>
                      <a:r>
                        <a:rPr sz="900" spc="-34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0" dirty="0">
                          <a:latin typeface="LM Mono 10"/>
                          <a:cs typeface="LM Mono 10"/>
                        </a:rPr>
                        <a:t>push_</a:t>
                      </a:r>
                      <a:r>
                        <a:rPr sz="900" spc="-39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55" dirty="0">
                          <a:latin typeface="LM Mono 10"/>
                          <a:cs typeface="LM Mono 10"/>
                        </a:rPr>
                        <a:t>back</a:t>
                      </a:r>
                      <a:r>
                        <a:rPr sz="900" spc="-34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(</a:t>
                      </a:r>
                      <a:r>
                        <a:rPr sz="900" spc="-36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root</a:t>
                      </a:r>
                      <a:r>
                        <a:rPr sz="900" spc="-30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-&gt;</a:t>
                      </a:r>
                      <a:r>
                        <a:rPr sz="900" spc="-35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val</a:t>
                      </a:r>
                      <a:r>
                        <a:rPr sz="900" spc="-35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);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vMerge="1"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R="78105" algn="r">
                        <a:lnSpc>
                          <a:spcPts val="955"/>
                        </a:lnSpc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3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5280">
                        <a:lnSpc>
                          <a:spcPts val="955"/>
                        </a:lnSpc>
                      </a:pPr>
                      <a:r>
                        <a:rPr sz="900" spc="15" dirty="0">
                          <a:solidFill>
                            <a:srgbClr val="2727FF"/>
                          </a:solidFill>
                          <a:latin typeface="LM Mono 10"/>
                          <a:cs typeface="LM Mono 10"/>
                        </a:rPr>
                        <a:t>if</a:t>
                      </a:r>
                      <a:r>
                        <a:rPr sz="900" spc="15" dirty="0">
                          <a:latin typeface="LM Mono 10"/>
                          <a:cs typeface="LM Mono 10"/>
                        </a:rPr>
                        <a:t>(</a:t>
                      </a:r>
                      <a:r>
                        <a:rPr sz="900" spc="-36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root</a:t>
                      </a:r>
                      <a:r>
                        <a:rPr sz="900" spc="-30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-&gt;</a:t>
                      </a:r>
                      <a:r>
                        <a:rPr sz="900" spc="-35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50" dirty="0">
                          <a:latin typeface="LM Mono 10"/>
                          <a:cs typeface="LM Mono 10"/>
                        </a:rPr>
                        <a:t>left</a:t>
                      </a:r>
                      <a:r>
                        <a:rPr sz="900" spc="23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25" dirty="0">
                          <a:latin typeface="LM Mono 10"/>
                          <a:cs typeface="LM Mono 10"/>
                        </a:rPr>
                        <a:t>==</a:t>
                      </a:r>
                      <a:r>
                        <a:rPr sz="900" spc="24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5" dirty="0">
                          <a:latin typeface="LM Mono 10"/>
                          <a:cs typeface="LM Mono 10"/>
                        </a:rPr>
                        <a:t>nullptr</a:t>
                      </a:r>
                      <a:r>
                        <a:rPr sz="900" spc="24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25" dirty="0">
                          <a:latin typeface="LM Mono 10"/>
                          <a:cs typeface="LM Mono 10"/>
                        </a:rPr>
                        <a:t>&amp;&amp;</a:t>
                      </a:r>
                      <a:r>
                        <a:rPr sz="900" spc="22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root</a:t>
                      </a:r>
                      <a:r>
                        <a:rPr sz="900" spc="-30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-&gt;</a:t>
                      </a:r>
                      <a:r>
                        <a:rPr sz="900" spc="-35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55" dirty="0">
                          <a:latin typeface="LM Mono 10"/>
                          <a:cs typeface="LM Mono 10"/>
                        </a:rPr>
                        <a:t>right</a:t>
                      </a:r>
                      <a:r>
                        <a:rPr sz="900" spc="23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25" dirty="0">
                          <a:latin typeface="LM Mono 10"/>
                          <a:cs typeface="LM Mono 10"/>
                        </a:rPr>
                        <a:t>==</a:t>
                      </a:r>
                      <a:r>
                        <a:rPr sz="900" spc="24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5" dirty="0">
                          <a:latin typeface="LM Mono 10"/>
                          <a:cs typeface="LM Mono 10"/>
                        </a:rPr>
                        <a:t>nullptr</a:t>
                      </a:r>
                      <a:r>
                        <a:rPr sz="900" spc="-34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)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ts val="955"/>
                        </a:lnSpc>
                      </a:pPr>
                      <a:r>
                        <a:rPr sz="900" dirty="0">
                          <a:latin typeface="LM Mono 10"/>
                          <a:cs typeface="LM Mono 10"/>
                        </a:rPr>
                        <a:t>{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</a:tr>
              <a:tr h="127110">
                <a:tc>
                  <a:txBody>
                    <a:bodyPr/>
                    <a:lstStyle/>
                    <a:p>
                      <a:pPr marR="78105" algn="r">
                        <a:lnSpc>
                          <a:spcPts val="860"/>
                        </a:lnSpc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4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04495">
                        <a:lnSpc>
                          <a:spcPts val="860"/>
                        </a:lnSpc>
                      </a:pPr>
                      <a:r>
                        <a:rPr sz="900" spc="55" dirty="0">
                          <a:solidFill>
                            <a:srgbClr val="2727FF"/>
                          </a:solidFill>
                          <a:latin typeface="LM Mono 10"/>
                          <a:cs typeface="LM Mono 10"/>
                        </a:rPr>
                        <a:t>return</a:t>
                      </a:r>
                      <a:r>
                        <a:rPr sz="900" spc="55" dirty="0">
                          <a:latin typeface="LM Mono 10"/>
                          <a:cs typeface="LM Mono 10"/>
                        </a:rPr>
                        <a:t>;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</a:tr>
              <a:tr h="139179">
                <a:tc>
                  <a:txBody>
                    <a:bodyPr/>
                    <a:lstStyle/>
                    <a:p>
                      <a:pPr marR="78105" algn="r">
                        <a:lnSpc>
                          <a:spcPts val="955"/>
                        </a:lnSpc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5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13030">
                        <a:lnSpc>
                          <a:spcPts val="955"/>
                        </a:lnSpc>
                      </a:pPr>
                      <a:r>
                        <a:rPr sz="900" dirty="0">
                          <a:latin typeface="LM Mono 10"/>
                          <a:cs typeface="LM Mono 10"/>
                        </a:rPr>
                        <a:t>}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</a:tr>
              <a:tr h="139179">
                <a:tc>
                  <a:txBody>
                    <a:bodyPr/>
                    <a:lstStyle/>
                    <a:p>
                      <a:pPr marR="78105" algn="r">
                        <a:lnSpc>
                          <a:spcPts val="955"/>
                        </a:lnSpc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6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15570">
                        <a:lnSpc>
                          <a:spcPts val="955"/>
                        </a:lnSpc>
                      </a:pPr>
                      <a:r>
                        <a:rPr sz="900" spc="15" dirty="0">
                          <a:solidFill>
                            <a:srgbClr val="2727FF"/>
                          </a:solidFill>
                          <a:latin typeface="LM Mono 10"/>
                          <a:cs typeface="LM Mono 10"/>
                        </a:rPr>
                        <a:t>if</a:t>
                      </a:r>
                      <a:r>
                        <a:rPr sz="900" spc="15" dirty="0">
                          <a:latin typeface="LM Mono 10"/>
                          <a:cs typeface="LM Mono 10"/>
                        </a:rPr>
                        <a:t>(</a:t>
                      </a:r>
                      <a:r>
                        <a:rPr sz="900" spc="-37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root</a:t>
                      </a:r>
                      <a:r>
                        <a:rPr sz="900" spc="-30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-&gt;</a:t>
                      </a:r>
                      <a:r>
                        <a:rPr sz="900" spc="-35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50" dirty="0">
                          <a:latin typeface="LM Mono 10"/>
                          <a:cs typeface="LM Mono 10"/>
                        </a:rPr>
                        <a:t>left</a:t>
                      </a:r>
                      <a:r>
                        <a:rPr sz="900" spc="229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25" dirty="0">
                          <a:latin typeface="LM Mono 10"/>
                          <a:cs typeface="LM Mono 10"/>
                        </a:rPr>
                        <a:t>!=</a:t>
                      </a:r>
                      <a:r>
                        <a:rPr sz="900" spc="23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5" dirty="0">
                          <a:latin typeface="LM Mono 10"/>
                          <a:cs typeface="LM Mono 10"/>
                        </a:rPr>
                        <a:t>nullptr</a:t>
                      </a:r>
                      <a:r>
                        <a:rPr sz="900" spc="-34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)</a:t>
                      </a:r>
                      <a:r>
                        <a:rPr sz="900" spc="18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{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</a:tr>
              <a:tr h="139179">
                <a:tc>
                  <a:txBody>
                    <a:bodyPr/>
                    <a:lstStyle/>
                    <a:p>
                      <a:pPr marR="78105" algn="r">
                        <a:lnSpc>
                          <a:spcPts val="955"/>
                        </a:lnSpc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7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05130">
                        <a:lnSpc>
                          <a:spcPts val="955"/>
                        </a:lnSpc>
                      </a:pPr>
                      <a:r>
                        <a:rPr sz="900" spc="50" dirty="0">
                          <a:latin typeface="LM Mono 10"/>
                          <a:cs typeface="LM Mono 10"/>
                        </a:rPr>
                        <a:t>pre</a:t>
                      </a:r>
                      <a:r>
                        <a:rPr sz="900" spc="-38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5" dirty="0">
                          <a:latin typeface="LM Mono 10"/>
                          <a:cs typeface="LM Mono 10"/>
                        </a:rPr>
                        <a:t>Order</a:t>
                      </a:r>
                      <a:r>
                        <a:rPr sz="900" spc="-39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5" dirty="0">
                          <a:latin typeface="LM Mono 10"/>
                          <a:cs typeface="LM Mono 10"/>
                        </a:rPr>
                        <a:t>Recur</a:t>
                      </a:r>
                      <a:r>
                        <a:rPr sz="900" spc="-34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(</a:t>
                      </a:r>
                      <a:r>
                        <a:rPr sz="900" spc="-36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root</a:t>
                      </a:r>
                      <a:r>
                        <a:rPr sz="900" spc="-30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-&gt;</a:t>
                      </a:r>
                      <a:r>
                        <a:rPr sz="900" spc="-36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left</a:t>
                      </a:r>
                      <a:r>
                        <a:rPr sz="900" spc="-30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,</a:t>
                      </a:r>
                      <a:r>
                        <a:rPr sz="900" spc="21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0" dirty="0">
                          <a:latin typeface="LM Mono 10"/>
                          <a:cs typeface="LM Mono 10"/>
                        </a:rPr>
                        <a:t>result</a:t>
                      </a:r>
                      <a:r>
                        <a:rPr sz="900" spc="-34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);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</a:tr>
              <a:tr h="139179">
                <a:tc>
                  <a:txBody>
                    <a:bodyPr/>
                    <a:lstStyle/>
                    <a:p>
                      <a:pPr marR="78105" algn="r">
                        <a:lnSpc>
                          <a:spcPts val="955"/>
                        </a:lnSpc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8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13030">
                        <a:lnSpc>
                          <a:spcPts val="955"/>
                        </a:lnSpc>
                      </a:pPr>
                      <a:r>
                        <a:rPr sz="900" dirty="0">
                          <a:latin typeface="LM Mono 10"/>
                          <a:cs typeface="LM Mono 10"/>
                        </a:rPr>
                        <a:t>}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</a:tr>
              <a:tr h="139179">
                <a:tc>
                  <a:txBody>
                    <a:bodyPr/>
                    <a:lstStyle/>
                    <a:p>
                      <a:pPr marR="78105" algn="r">
                        <a:lnSpc>
                          <a:spcPts val="955"/>
                        </a:lnSpc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9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15570">
                        <a:lnSpc>
                          <a:spcPts val="955"/>
                        </a:lnSpc>
                      </a:pPr>
                      <a:r>
                        <a:rPr sz="900" spc="15" dirty="0">
                          <a:solidFill>
                            <a:srgbClr val="2727FF"/>
                          </a:solidFill>
                          <a:latin typeface="LM Mono 10"/>
                          <a:cs typeface="LM Mono 10"/>
                        </a:rPr>
                        <a:t>if</a:t>
                      </a:r>
                      <a:r>
                        <a:rPr sz="900" spc="15" dirty="0">
                          <a:latin typeface="LM Mono 10"/>
                          <a:cs typeface="LM Mono 10"/>
                        </a:rPr>
                        <a:t>(</a:t>
                      </a:r>
                      <a:r>
                        <a:rPr sz="900" spc="-37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root</a:t>
                      </a:r>
                      <a:r>
                        <a:rPr sz="900" spc="-30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-&gt;</a:t>
                      </a:r>
                      <a:r>
                        <a:rPr sz="900" spc="-35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55" dirty="0">
                          <a:latin typeface="LM Mono 10"/>
                          <a:cs typeface="LM Mono 10"/>
                        </a:rPr>
                        <a:t>right</a:t>
                      </a:r>
                      <a:r>
                        <a:rPr sz="900" spc="229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25" dirty="0">
                          <a:latin typeface="LM Mono 10"/>
                          <a:cs typeface="LM Mono 10"/>
                        </a:rPr>
                        <a:t>!=</a:t>
                      </a:r>
                      <a:r>
                        <a:rPr sz="900" spc="23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5" dirty="0">
                          <a:latin typeface="LM Mono 10"/>
                          <a:cs typeface="LM Mono 10"/>
                        </a:rPr>
                        <a:t>nullptr</a:t>
                      </a:r>
                      <a:r>
                        <a:rPr sz="900" spc="-34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)</a:t>
                      </a:r>
                      <a:r>
                        <a:rPr sz="900" spc="18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{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</a:tr>
              <a:tr h="139179">
                <a:tc>
                  <a:txBody>
                    <a:bodyPr/>
                    <a:lstStyle/>
                    <a:p>
                      <a:pPr marR="78105" algn="r">
                        <a:lnSpc>
                          <a:spcPts val="955"/>
                        </a:lnSpc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10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05130">
                        <a:lnSpc>
                          <a:spcPts val="955"/>
                        </a:lnSpc>
                      </a:pPr>
                      <a:r>
                        <a:rPr sz="900" spc="50" dirty="0">
                          <a:latin typeface="LM Mono 10"/>
                          <a:cs typeface="LM Mono 10"/>
                        </a:rPr>
                        <a:t>pre</a:t>
                      </a:r>
                      <a:r>
                        <a:rPr sz="900" spc="-39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5" dirty="0">
                          <a:latin typeface="LM Mono 10"/>
                          <a:cs typeface="LM Mono 10"/>
                        </a:rPr>
                        <a:t>Order</a:t>
                      </a:r>
                      <a:r>
                        <a:rPr sz="900" spc="-39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5" dirty="0">
                          <a:latin typeface="LM Mono 10"/>
                          <a:cs typeface="LM Mono 10"/>
                        </a:rPr>
                        <a:t>Recur</a:t>
                      </a:r>
                      <a:r>
                        <a:rPr sz="900" spc="-34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(</a:t>
                      </a:r>
                      <a:r>
                        <a:rPr sz="900" spc="-36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root</a:t>
                      </a:r>
                      <a:r>
                        <a:rPr sz="900" spc="-30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-&gt;</a:t>
                      </a:r>
                      <a:r>
                        <a:rPr sz="900" spc="-36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50" dirty="0">
                          <a:latin typeface="LM Mono 10"/>
                          <a:cs typeface="LM Mono 10"/>
                        </a:rPr>
                        <a:t>right</a:t>
                      </a:r>
                      <a:r>
                        <a:rPr sz="900" spc="-29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,</a:t>
                      </a:r>
                      <a:r>
                        <a:rPr sz="900" spc="21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0" dirty="0">
                          <a:latin typeface="LM Mono 10"/>
                          <a:cs typeface="LM Mono 10"/>
                        </a:rPr>
                        <a:t>result</a:t>
                      </a:r>
                      <a:r>
                        <a:rPr sz="900" spc="-34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);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</a:tr>
              <a:tr h="139172">
                <a:tc>
                  <a:txBody>
                    <a:bodyPr/>
                    <a:lstStyle/>
                    <a:p>
                      <a:pPr marR="78105" algn="r">
                        <a:lnSpc>
                          <a:spcPts val="955"/>
                        </a:lnSpc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11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13030">
                        <a:lnSpc>
                          <a:spcPts val="955"/>
                        </a:lnSpc>
                      </a:pPr>
                      <a:r>
                        <a:rPr sz="900" dirty="0">
                          <a:latin typeface="LM Mono 10"/>
                          <a:cs typeface="LM Mono 10"/>
                        </a:rPr>
                        <a:t>}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</a:tr>
              <a:tr h="180850">
                <a:tc>
                  <a:txBody>
                    <a:bodyPr/>
                    <a:lstStyle/>
                    <a:p>
                      <a:pPr marR="78105" algn="r">
                        <a:lnSpc>
                          <a:spcPts val="955"/>
                        </a:lnSpc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12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955"/>
                        </a:lnSpc>
                      </a:pPr>
                      <a:r>
                        <a:rPr sz="900" dirty="0">
                          <a:latin typeface="LM Mono 10"/>
                          <a:cs typeface="LM Mono 10"/>
                        </a:rPr>
                        <a:t>}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</a:tr>
            </a:tbl>
          </a:graphicData>
        </a:graphic>
      </p:graphicFrame>
      <p:grpSp>
        <p:nvGrpSpPr>
          <p:cNvPr id="32" name="object 32"/>
          <p:cNvGrpSpPr/>
          <p:nvPr/>
        </p:nvGrpSpPr>
        <p:grpSpPr>
          <a:xfrm>
            <a:off x="215087" y="2669717"/>
            <a:ext cx="4297680" cy="43180"/>
            <a:chOff x="215087" y="2669717"/>
            <a:chExt cx="4297680" cy="43180"/>
          </a:xfrm>
        </p:grpSpPr>
        <p:sp>
          <p:nvSpPr>
            <p:cNvPr id="33" name="object 33"/>
            <p:cNvSpPr/>
            <p:nvPr/>
          </p:nvSpPr>
          <p:spPr>
            <a:xfrm>
              <a:off x="217627" y="2669717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15087" y="2710205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58114" y="2710205"/>
              <a:ext cx="4211955" cy="0"/>
            </a:xfrm>
            <a:custGeom>
              <a:avLst/>
              <a:gdLst/>
              <a:ahLst/>
              <a:cxnLst/>
              <a:rect l="l" t="t" r="r" b="b"/>
              <a:pathLst>
                <a:path w="4211955">
                  <a:moveTo>
                    <a:pt x="0" y="0"/>
                  </a:moveTo>
                  <a:lnTo>
                    <a:pt x="421134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469460" y="2710205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509947" y="2669717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9" name="object 3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43" name="object 43"/>
          <p:cNvSpPr txBox="1"/>
          <p:nvPr/>
        </p:nvSpPr>
        <p:spPr>
          <a:xfrm>
            <a:off x="1958606" y="3351784"/>
            <a:ext cx="690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CSC3100 </a:t>
            </a:r>
            <a:r>
              <a:rPr sz="600" spc="-1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Tutorial</a:t>
            </a:r>
            <a:r>
              <a:rPr sz="600" spc="-2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7</a:t>
            </a:r>
            <a:endParaRPr sz="600">
              <a:latin typeface="LM Sans 8"/>
              <a:cs typeface="LM Sans 8"/>
            </a:endParaRPr>
          </a:p>
        </p:txBody>
      </p:sp>
      <p:sp>
        <p:nvSpPr>
          <p:cNvPr id="45" name="object 13"/>
          <p:cNvSpPr txBox="1"/>
          <p:nvPr/>
        </p:nvSpPr>
        <p:spPr>
          <a:xfrm>
            <a:off x="3600450" y="3374390"/>
            <a:ext cx="679450" cy="86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2022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/10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/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3</a:t>
            </a:r>
            <a:endParaRPr lang="en-US" sz="600" spc="-5" dirty="0">
              <a:solidFill>
                <a:srgbClr val="FFFFFF"/>
              </a:solidFill>
              <a:latin typeface="LM Sans 8"/>
              <a:cs typeface="LM Sans 8"/>
            </a:endParaRPr>
          </a:p>
        </p:txBody>
      </p:sp>
      <p:sp>
        <p:nvSpPr>
          <p:cNvPr id="44" name="Text Box 43"/>
          <p:cNvSpPr txBox="1"/>
          <p:nvPr/>
        </p:nvSpPr>
        <p:spPr>
          <a:xfrm>
            <a:off x="217805" y="544830"/>
            <a:ext cx="97663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latin typeface="Times New Roman Regular" panose="02020603050405020304" charset="0"/>
                <a:cs typeface="Times New Roman Regular" panose="02020603050405020304" charset="0"/>
              </a:rPr>
              <a:t>C++ Version</a:t>
            </a:r>
            <a:endParaRPr lang="en-US" sz="12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250" y="15240"/>
            <a:ext cx="2741295" cy="4432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5"/>
              </a:spcBef>
            </a:pPr>
            <a:r>
              <a:rPr sz="1400" spc="5" dirty="0">
                <a:solidFill>
                  <a:srgbClr val="FFFFFF"/>
                </a:solidFill>
                <a:latin typeface="LM Sans 12"/>
                <a:cs typeface="LM Sans 12"/>
              </a:rPr>
              <a:t>Binary </a:t>
            </a:r>
            <a:r>
              <a:rPr sz="1400" spc="-15" dirty="0">
                <a:solidFill>
                  <a:srgbClr val="FFFFFF"/>
                </a:solidFill>
                <a:latin typeface="LM Sans 12"/>
                <a:cs typeface="LM Sans 12"/>
              </a:rPr>
              <a:t>Tree</a:t>
            </a:r>
            <a:endParaRPr sz="1400">
              <a:latin typeface="LM Sans 12"/>
              <a:cs typeface="LM Sans 12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900" spc="-15" dirty="0">
                <a:solidFill>
                  <a:srgbClr val="FFFFFF"/>
                </a:solidFill>
                <a:latin typeface="LM Sans 9"/>
                <a:cs typeface="LM Sans 9"/>
              </a:rPr>
              <a:t>How </a:t>
            </a:r>
            <a:r>
              <a:rPr sz="900" spc="-5" dirty="0">
                <a:solidFill>
                  <a:srgbClr val="FFFFFF"/>
                </a:solidFill>
                <a:latin typeface="LM Sans 9"/>
                <a:cs typeface="LM Sans 9"/>
              </a:rPr>
              <a:t>to traverse a tree using recursion</a:t>
            </a:r>
            <a:endParaRPr sz="900">
              <a:latin typeface="LM Sans 9"/>
              <a:cs typeface="LM Sans 9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2547" y="1121041"/>
            <a:ext cx="4302760" cy="187325"/>
            <a:chOff x="212547" y="1121041"/>
            <a:chExt cx="4302760" cy="187325"/>
          </a:xfrm>
        </p:grpSpPr>
        <p:sp>
          <p:nvSpPr>
            <p:cNvPr id="5" name="object 5"/>
            <p:cNvSpPr/>
            <p:nvPr/>
          </p:nvSpPr>
          <p:spPr>
            <a:xfrm>
              <a:off x="217627" y="1123581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15087" y="1126109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58114" y="1126109"/>
              <a:ext cx="4211955" cy="0"/>
            </a:xfrm>
            <a:custGeom>
              <a:avLst/>
              <a:gdLst/>
              <a:ahLst/>
              <a:cxnLst/>
              <a:rect l="l" t="t" r="r" b="b"/>
              <a:pathLst>
                <a:path w="4211955">
                  <a:moveTo>
                    <a:pt x="0" y="0"/>
                  </a:moveTo>
                  <a:lnTo>
                    <a:pt x="421134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469460" y="1126109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509947" y="1123581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7627" y="1166596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09947" y="1166596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0363" y="1137445"/>
            <a:ext cx="4094479" cy="150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7010" algn="l"/>
              </a:tabLst>
            </a:pPr>
            <a:r>
              <a:rPr sz="900" spc="-5" dirty="0">
                <a:solidFill>
                  <a:srgbClr val="3F3F3F"/>
                </a:solidFill>
                <a:latin typeface="LM Sans 9"/>
                <a:cs typeface="LM Sans 9"/>
              </a:rPr>
              <a:t>1	</a:t>
            </a:r>
            <a:r>
              <a:rPr sz="900" spc="45" dirty="0">
                <a:solidFill>
                  <a:srgbClr val="2727FF"/>
                </a:solidFill>
                <a:latin typeface="LM Mono 10"/>
                <a:cs typeface="LM Mono 10"/>
              </a:rPr>
              <a:t>void</a:t>
            </a:r>
            <a:r>
              <a:rPr lang="en-US" sz="900" spc="45" dirty="0">
                <a:solidFill>
                  <a:srgbClr val="2727FF"/>
                </a:solidFill>
                <a:latin typeface="LM Mono 10"/>
                <a:cs typeface="LM Mono 10"/>
              </a:rPr>
              <a:t> </a:t>
            </a:r>
            <a:r>
              <a:rPr sz="900" spc="45" dirty="0">
                <a:latin typeface="LM Mono 10"/>
                <a:cs typeface="LM Mono 10"/>
              </a:rPr>
              <a:t>in</a:t>
            </a:r>
            <a:r>
              <a:rPr sz="900" spc="-390" dirty="0">
                <a:latin typeface="LM Mono 10"/>
                <a:cs typeface="LM Mono 10"/>
              </a:rPr>
              <a:t> </a:t>
            </a:r>
            <a:r>
              <a:rPr sz="900" spc="65" dirty="0">
                <a:latin typeface="LM Mono 10"/>
                <a:cs typeface="LM Mono 10"/>
              </a:rPr>
              <a:t>Order</a:t>
            </a:r>
            <a:r>
              <a:rPr sz="900" spc="-390" dirty="0">
                <a:latin typeface="LM Mono 10"/>
                <a:cs typeface="LM Mono 10"/>
              </a:rPr>
              <a:t> </a:t>
            </a:r>
            <a:r>
              <a:rPr sz="900" spc="65" dirty="0">
                <a:latin typeface="LM Mono 10"/>
                <a:cs typeface="LM Mono 10"/>
              </a:rPr>
              <a:t>Recur</a:t>
            </a:r>
            <a:r>
              <a:rPr sz="900" spc="-340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(</a:t>
            </a:r>
            <a:r>
              <a:rPr sz="900" spc="-340" dirty="0">
                <a:latin typeface="LM Mono 10"/>
                <a:cs typeface="LM Mono 10"/>
              </a:rPr>
              <a:t> </a:t>
            </a:r>
            <a:r>
              <a:rPr sz="900" spc="55" dirty="0">
                <a:latin typeface="LM Mono 10"/>
                <a:cs typeface="LM Mono 10"/>
              </a:rPr>
              <a:t>Tree</a:t>
            </a:r>
            <a:r>
              <a:rPr sz="900" spc="-390" dirty="0">
                <a:latin typeface="LM Mono 10"/>
                <a:cs typeface="LM Mono 10"/>
              </a:rPr>
              <a:t> </a:t>
            </a:r>
            <a:r>
              <a:rPr sz="900" spc="55" dirty="0">
                <a:latin typeface="LM Mono 10"/>
                <a:cs typeface="LM Mono 10"/>
              </a:rPr>
              <a:t>Node</a:t>
            </a:r>
            <a:r>
              <a:rPr sz="900" spc="-340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*</a:t>
            </a:r>
            <a:r>
              <a:rPr sz="900" spc="210" dirty="0">
                <a:latin typeface="LM Mono 10"/>
                <a:cs typeface="LM Mono 10"/>
              </a:rPr>
              <a:t> </a:t>
            </a:r>
            <a:r>
              <a:rPr sz="900" spc="40" dirty="0">
                <a:latin typeface="LM Mono 10"/>
                <a:cs typeface="LM Mono 10"/>
              </a:rPr>
              <a:t>root</a:t>
            </a:r>
            <a:r>
              <a:rPr sz="900" spc="-305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,</a:t>
            </a:r>
            <a:r>
              <a:rPr sz="900" spc="220" dirty="0">
                <a:latin typeface="LM Mono 10"/>
                <a:cs typeface="LM Mono 10"/>
              </a:rPr>
              <a:t> </a:t>
            </a:r>
            <a:r>
              <a:rPr sz="900" spc="50" dirty="0">
                <a:latin typeface="LM Mono 10"/>
                <a:cs typeface="LM Mono 10"/>
              </a:rPr>
              <a:t>vector</a:t>
            </a:r>
            <a:r>
              <a:rPr sz="900" spc="-280" dirty="0">
                <a:latin typeface="LM Mono 10"/>
                <a:cs typeface="LM Mono 10"/>
              </a:rPr>
              <a:t> </a:t>
            </a:r>
            <a:r>
              <a:rPr sz="900" spc="25" dirty="0">
                <a:latin typeface="LM Mono 10"/>
                <a:cs typeface="LM Mono 10"/>
              </a:rPr>
              <a:t>&lt;</a:t>
            </a:r>
            <a:r>
              <a:rPr sz="900" spc="25" dirty="0">
                <a:solidFill>
                  <a:srgbClr val="2727FF"/>
                </a:solidFill>
                <a:latin typeface="LM Mono 10"/>
                <a:cs typeface="LM Mono 10"/>
              </a:rPr>
              <a:t>int</a:t>
            </a:r>
            <a:r>
              <a:rPr sz="900" spc="25" dirty="0">
                <a:latin typeface="LM Mono 10"/>
                <a:cs typeface="LM Mono 10"/>
              </a:rPr>
              <a:t>&gt;&amp;</a:t>
            </a:r>
            <a:r>
              <a:rPr sz="900" spc="245" dirty="0">
                <a:latin typeface="LM Mono 10"/>
                <a:cs typeface="LM Mono 10"/>
              </a:rPr>
              <a:t> </a:t>
            </a:r>
            <a:r>
              <a:rPr sz="900" spc="60" dirty="0">
                <a:latin typeface="LM Mono 10"/>
                <a:cs typeface="LM Mono 10"/>
              </a:rPr>
              <a:t>result</a:t>
            </a:r>
            <a:r>
              <a:rPr sz="900" spc="-345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)</a:t>
            </a:r>
            <a:r>
              <a:rPr sz="900" spc="195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{</a:t>
            </a:r>
            <a:endParaRPr sz="900">
              <a:latin typeface="LM Mono 10"/>
              <a:cs typeface="LM Mono 10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15087" y="1303235"/>
            <a:ext cx="4297680" cy="1118870"/>
            <a:chOff x="215087" y="1303235"/>
            <a:chExt cx="4297680" cy="1118870"/>
          </a:xfrm>
        </p:grpSpPr>
        <p:sp>
          <p:nvSpPr>
            <p:cNvPr id="14" name="object 14"/>
            <p:cNvSpPr/>
            <p:nvPr/>
          </p:nvSpPr>
          <p:spPr>
            <a:xfrm>
              <a:off x="4509947" y="1305775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09947" y="1444955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509947" y="1584134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509947" y="1723313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509947" y="1862480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509947" y="2001659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509947" y="2140839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509947" y="2280018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17627" y="1305775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17627" y="1444955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17627" y="1584134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17627" y="1723313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17627" y="1862480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17627" y="2001659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17627" y="2140839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17627" y="2280018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41313" y="1316654"/>
          <a:ext cx="3256915" cy="11430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530"/>
                <a:gridCol w="220345"/>
                <a:gridCol w="2860040"/>
              </a:tblGrid>
              <a:tr h="127110">
                <a:tc>
                  <a:txBody>
                    <a:bodyPr/>
                    <a:lstStyle/>
                    <a:p>
                      <a:pPr marL="31750">
                        <a:lnSpc>
                          <a:spcPts val="860"/>
                        </a:lnSpc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2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860"/>
                        </a:lnSpc>
                      </a:pPr>
                      <a:r>
                        <a:rPr sz="900" spc="15" dirty="0">
                          <a:solidFill>
                            <a:srgbClr val="2727FF"/>
                          </a:solidFill>
                          <a:latin typeface="LM Mono 10"/>
                          <a:cs typeface="LM Mono 10"/>
                        </a:rPr>
                        <a:t>if</a:t>
                      </a:r>
                      <a:r>
                        <a:rPr sz="900" spc="15" dirty="0">
                          <a:latin typeface="LM Mono 10"/>
                          <a:cs typeface="LM Mono 10"/>
                        </a:rPr>
                        <a:t>(</a:t>
                      </a:r>
                      <a:r>
                        <a:rPr sz="900" spc="-37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root</a:t>
                      </a:r>
                      <a:r>
                        <a:rPr sz="900" spc="-30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-&gt;</a:t>
                      </a:r>
                      <a:r>
                        <a:rPr sz="900" spc="-35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50" dirty="0">
                          <a:latin typeface="LM Mono 10"/>
                          <a:cs typeface="LM Mono 10"/>
                        </a:rPr>
                        <a:t>left</a:t>
                      </a:r>
                      <a:r>
                        <a:rPr sz="900" spc="229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25" dirty="0">
                          <a:latin typeface="LM Mono 10"/>
                          <a:cs typeface="LM Mono 10"/>
                        </a:rPr>
                        <a:t>!=</a:t>
                      </a:r>
                      <a:r>
                        <a:rPr sz="900" spc="23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5" dirty="0">
                          <a:latin typeface="LM Mono 10"/>
                          <a:cs typeface="LM Mono 10"/>
                        </a:rPr>
                        <a:t>nullptr</a:t>
                      </a:r>
                      <a:r>
                        <a:rPr sz="900" spc="-34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)</a:t>
                      </a:r>
                      <a:r>
                        <a:rPr sz="900" spc="18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{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</a:tr>
              <a:tr h="139179">
                <a:tc>
                  <a:txBody>
                    <a:bodyPr/>
                    <a:lstStyle/>
                    <a:p>
                      <a:pPr marL="31750">
                        <a:lnSpc>
                          <a:spcPts val="955"/>
                        </a:lnSpc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3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5250" algn="r">
                        <a:lnSpc>
                          <a:spcPts val="955"/>
                        </a:lnSpc>
                      </a:pPr>
                      <a:r>
                        <a:rPr sz="900" spc="40" dirty="0">
                          <a:latin typeface="LM Mono 10"/>
                          <a:cs typeface="LM Mono 10"/>
                        </a:rPr>
                        <a:t>in</a:t>
                      </a:r>
                      <a:r>
                        <a:rPr sz="900" spc="-39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5" dirty="0">
                          <a:latin typeface="LM Mono 10"/>
                          <a:cs typeface="LM Mono 10"/>
                        </a:rPr>
                        <a:t>Order</a:t>
                      </a:r>
                      <a:r>
                        <a:rPr sz="900" spc="-39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5" dirty="0">
                          <a:latin typeface="LM Mono 10"/>
                          <a:cs typeface="LM Mono 10"/>
                        </a:rPr>
                        <a:t>Recur</a:t>
                      </a:r>
                      <a:r>
                        <a:rPr sz="900" spc="-34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(</a:t>
                      </a:r>
                      <a:r>
                        <a:rPr sz="900" spc="-36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root</a:t>
                      </a:r>
                      <a:r>
                        <a:rPr sz="900" spc="-30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-&gt;</a:t>
                      </a:r>
                      <a:r>
                        <a:rPr sz="900" spc="-36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left</a:t>
                      </a:r>
                      <a:r>
                        <a:rPr sz="900" spc="-30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,</a:t>
                      </a:r>
                      <a:r>
                        <a:rPr sz="900" spc="21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0" dirty="0">
                          <a:latin typeface="LM Mono 10"/>
                          <a:cs typeface="LM Mono 10"/>
                        </a:rPr>
                        <a:t>result</a:t>
                      </a:r>
                      <a:r>
                        <a:rPr sz="900" spc="-35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);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</a:tr>
              <a:tr h="139179">
                <a:tc>
                  <a:txBody>
                    <a:bodyPr/>
                    <a:lstStyle/>
                    <a:p>
                      <a:pPr marL="31750">
                        <a:lnSpc>
                          <a:spcPts val="955"/>
                        </a:lnSpc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4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955"/>
                        </a:lnSpc>
                      </a:pPr>
                      <a:r>
                        <a:rPr sz="900" dirty="0">
                          <a:latin typeface="LM Mono 10"/>
                          <a:cs typeface="LM Mono 10"/>
                        </a:rPr>
                        <a:t>}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</a:tr>
              <a:tr h="139065">
                <a:tc>
                  <a:txBody>
                    <a:bodyPr/>
                    <a:lstStyle/>
                    <a:p>
                      <a:pPr marL="31750">
                        <a:lnSpc>
                          <a:spcPts val="955"/>
                        </a:lnSpc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5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955"/>
                        </a:lnSpc>
                      </a:pPr>
                      <a:r>
                        <a:rPr sz="900" spc="60" dirty="0">
                          <a:latin typeface="LM Mono 10"/>
                          <a:cs typeface="LM Mono 10"/>
                        </a:rPr>
                        <a:t>result</a:t>
                      </a:r>
                      <a:r>
                        <a:rPr sz="900" spc="-35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.</a:t>
                      </a:r>
                      <a:r>
                        <a:rPr sz="900" spc="-34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0" dirty="0">
                          <a:latin typeface="LM Mono 10"/>
                          <a:cs typeface="LM Mono 10"/>
                        </a:rPr>
                        <a:t>push_</a:t>
                      </a:r>
                      <a:r>
                        <a:rPr sz="900" spc="-39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55" dirty="0">
                          <a:latin typeface="LM Mono 10"/>
                          <a:cs typeface="LM Mono 10"/>
                        </a:rPr>
                        <a:t>back</a:t>
                      </a:r>
                      <a:r>
                        <a:rPr sz="900" spc="-34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(</a:t>
                      </a:r>
                      <a:r>
                        <a:rPr sz="900" spc="-36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root</a:t>
                      </a:r>
                      <a:r>
                        <a:rPr sz="900" spc="-30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-&gt;</a:t>
                      </a:r>
                      <a:r>
                        <a:rPr sz="900" spc="-35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val</a:t>
                      </a:r>
                      <a:r>
                        <a:rPr sz="900" spc="-35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);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</a:tr>
              <a:tr h="139179">
                <a:tc>
                  <a:txBody>
                    <a:bodyPr/>
                    <a:lstStyle/>
                    <a:p>
                      <a:pPr marL="31750">
                        <a:lnSpc>
                          <a:spcPts val="955"/>
                        </a:lnSpc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6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955"/>
                        </a:lnSpc>
                      </a:pPr>
                      <a:r>
                        <a:rPr sz="900" spc="15" dirty="0">
                          <a:solidFill>
                            <a:srgbClr val="2727FF"/>
                          </a:solidFill>
                          <a:latin typeface="LM Mono 10"/>
                          <a:cs typeface="LM Mono 10"/>
                        </a:rPr>
                        <a:t>if</a:t>
                      </a:r>
                      <a:r>
                        <a:rPr sz="900" spc="15" dirty="0">
                          <a:latin typeface="LM Mono 10"/>
                          <a:cs typeface="LM Mono 10"/>
                        </a:rPr>
                        <a:t>(</a:t>
                      </a:r>
                      <a:r>
                        <a:rPr sz="900" spc="-37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root</a:t>
                      </a:r>
                      <a:r>
                        <a:rPr sz="900" spc="-30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-&gt;</a:t>
                      </a:r>
                      <a:r>
                        <a:rPr sz="900" spc="-35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55" dirty="0">
                          <a:latin typeface="LM Mono 10"/>
                          <a:cs typeface="LM Mono 10"/>
                        </a:rPr>
                        <a:t>right</a:t>
                      </a:r>
                      <a:r>
                        <a:rPr sz="900" spc="229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25" dirty="0">
                          <a:latin typeface="LM Mono 10"/>
                          <a:cs typeface="LM Mono 10"/>
                        </a:rPr>
                        <a:t>!=</a:t>
                      </a:r>
                      <a:r>
                        <a:rPr sz="900" spc="23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5" dirty="0">
                          <a:latin typeface="LM Mono 10"/>
                          <a:cs typeface="LM Mono 10"/>
                        </a:rPr>
                        <a:t>nullptr</a:t>
                      </a:r>
                      <a:r>
                        <a:rPr sz="900" spc="-34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)</a:t>
                      </a:r>
                      <a:r>
                        <a:rPr sz="900" spc="18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{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</a:tr>
              <a:tr h="139179">
                <a:tc>
                  <a:txBody>
                    <a:bodyPr/>
                    <a:lstStyle/>
                    <a:p>
                      <a:pPr marL="31750">
                        <a:lnSpc>
                          <a:spcPts val="955"/>
                        </a:lnSpc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7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955"/>
                        </a:lnSpc>
                      </a:pPr>
                      <a:r>
                        <a:rPr sz="900" spc="40" dirty="0">
                          <a:latin typeface="LM Mono 10"/>
                          <a:cs typeface="LM Mono 10"/>
                        </a:rPr>
                        <a:t>in</a:t>
                      </a:r>
                      <a:r>
                        <a:rPr sz="900" spc="-39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5" dirty="0">
                          <a:latin typeface="LM Mono 10"/>
                          <a:cs typeface="LM Mono 10"/>
                        </a:rPr>
                        <a:t>Order</a:t>
                      </a:r>
                      <a:r>
                        <a:rPr sz="900" spc="-39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5" dirty="0">
                          <a:latin typeface="LM Mono 10"/>
                          <a:cs typeface="LM Mono 10"/>
                        </a:rPr>
                        <a:t>Recur</a:t>
                      </a:r>
                      <a:r>
                        <a:rPr sz="900" spc="-34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(</a:t>
                      </a:r>
                      <a:r>
                        <a:rPr sz="900" spc="-37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root</a:t>
                      </a:r>
                      <a:r>
                        <a:rPr sz="900" spc="-30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-&gt;</a:t>
                      </a:r>
                      <a:r>
                        <a:rPr sz="900" spc="-36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50" dirty="0">
                          <a:latin typeface="LM Mono 10"/>
                          <a:cs typeface="LM Mono 10"/>
                        </a:rPr>
                        <a:t>right</a:t>
                      </a:r>
                      <a:r>
                        <a:rPr sz="900" spc="-30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,</a:t>
                      </a:r>
                      <a:r>
                        <a:rPr sz="900" spc="204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0" dirty="0">
                          <a:latin typeface="LM Mono 10"/>
                          <a:cs typeface="LM Mono 10"/>
                        </a:rPr>
                        <a:t>result</a:t>
                      </a:r>
                      <a:r>
                        <a:rPr sz="900" spc="-35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);</a:t>
                      </a:r>
                      <a:endParaRPr sz="900" dirty="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</a:tr>
              <a:tr h="139172">
                <a:tc>
                  <a:txBody>
                    <a:bodyPr/>
                    <a:lstStyle/>
                    <a:p>
                      <a:pPr marL="31750">
                        <a:lnSpc>
                          <a:spcPts val="955"/>
                        </a:lnSpc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8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955"/>
                        </a:lnSpc>
                      </a:pPr>
                      <a:r>
                        <a:rPr sz="900" dirty="0">
                          <a:latin typeface="LM Mono 10"/>
                          <a:cs typeface="LM Mono 10"/>
                        </a:rPr>
                        <a:t>}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</a:tr>
              <a:tr h="180850">
                <a:tc>
                  <a:txBody>
                    <a:bodyPr/>
                    <a:lstStyle/>
                    <a:p>
                      <a:pPr marL="31750">
                        <a:lnSpc>
                          <a:spcPts val="955"/>
                        </a:lnSpc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9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955"/>
                        </a:lnSpc>
                      </a:pPr>
                      <a:r>
                        <a:rPr sz="900" dirty="0">
                          <a:latin typeface="LM Mono 10"/>
                          <a:cs typeface="LM Mono 10"/>
                        </a:rPr>
                        <a:t>}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grpSp>
        <p:nvGrpSpPr>
          <p:cNvPr id="31" name="object 31"/>
          <p:cNvGrpSpPr/>
          <p:nvPr/>
        </p:nvGrpSpPr>
        <p:grpSpPr>
          <a:xfrm>
            <a:off x="215087" y="2419197"/>
            <a:ext cx="4297680" cy="43180"/>
            <a:chOff x="215087" y="2419197"/>
            <a:chExt cx="4297680" cy="43180"/>
          </a:xfrm>
        </p:grpSpPr>
        <p:sp>
          <p:nvSpPr>
            <p:cNvPr id="32" name="object 32"/>
            <p:cNvSpPr/>
            <p:nvPr/>
          </p:nvSpPr>
          <p:spPr>
            <a:xfrm>
              <a:off x="217627" y="2419197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15087" y="2459685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58114" y="2459685"/>
              <a:ext cx="4211955" cy="0"/>
            </a:xfrm>
            <a:custGeom>
              <a:avLst/>
              <a:gdLst/>
              <a:ahLst/>
              <a:cxnLst/>
              <a:rect l="l" t="t" r="r" b="b"/>
              <a:pathLst>
                <a:path w="4211955">
                  <a:moveTo>
                    <a:pt x="0" y="0"/>
                  </a:moveTo>
                  <a:lnTo>
                    <a:pt x="421134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469460" y="2459685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509947" y="2419197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8" name="object 3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42" name="object 42"/>
          <p:cNvSpPr txBox="1"/>
          <p:nvPr/>
        </p:nvSpPr>
        <p:spPr>
          <a:xfrm>
            <a:off x="1958606" y="3351784"/>
            <a:ext cx="690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CSC3100 </a:t>
            </a:r>
            <a:r>
              <a:rPr sz="600" spc="-1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Tutorial</a:t>
            </a:r>
            <a:r>
              <a:rPr sz="600" spc="-2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7</a:t>
            </a:r>
            <a:endParaRPr sz="600">
              <a:latin typeface="LM Sans 8"/>
              <a:cs typeface="LM Sans 8"/>
            </a:endParaRPr>
          </a:p>
        </p:txBody>
      </p:sp>
      <p:sp>
        <p:nvSpPr>
          <p:cNvPr id="44" name="object 13"/>
          <p:cNvSpPr txBox="1"/>
          <p:nvPr/>
        </p:nvSpPr>
        <p:spPr>
          <a:xfrm>
            <a:off x="3600450" y="3374390"/>
            <a:ext cx="679450" cy="86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2022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/10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/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3</a:t>
            </a:r>
            <a:endParaRPr lang="en-US" sz="600" spc="-5" dirty="0">
              <a:solidFill>
                <a:srgbClr val="FFFFFF"/>
              </a:solidFill>
              <a:latin typeface="LM Sans 8"/>
              <a:cs typeface="LM Sans 8"/>
            </a:endParaRPr>
          </a:p>
        </p:txBody>
      </p:sp>
      <p:sp>
        <p:nvSpPr>
          <p:cNvPr id="43" name="Text Box 42"/>
          <p:cNvSpPr txBox="1"/>
          <p:nvPr/>
        </p:nvSpPr>
        <p:spPr>
          <a:xfrm>
            <a:off x="217805" y="544830"/>
            <a:ext cx="97663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latin typeface="Times New Roman Regular" panose="02020603050405020304" charset="0"/>
                <a:cs typeface="Times New Roman Regular" panose="02020603050405020304" charset="0"/>
              </a:rPr>
              <a:t>C++ Version</a:t>
            </a:r>
            <a:endParaRPr lang="en-US" sz="12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250" y="15240"/>
            <a:ext cx="2436495" cy="4432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5"/>
              </a:spcBef>
            </a:pPr>
            <a:r>
              <a:rPr sz="1400" spc="5" dirty="0">
                <a:solidFill>
                  <a:srgbClr val="FFFFFF"/>
                </a:solidFill>
                <a:latin typeface="LM Sans 12"/>
                <a:cs typeface="LM Sans 12"/>
              </a:rPr>
              <a:t>Binary </a:t>
            </a:r>
            <a:r>
              <a:rPr sz="1400" spc="-15" dirty="0">
                <a:solidFill>
                  <a:srgbClr val="FFFFFF"/>
                </a:solidFill>
                <a:latin typeface="LM Sans 12"/>
                <a:cs typeface="LM Sans 12"/>
              </a:rPr>
              <a:t>Tree</a:t>
            </a:r>
            <a:endParaRPr sz="1400">
              <a:latin typeface="LM Sans 12"/>
              <a:cs typeface="LM Sans 12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900" spc="-15" dirty="0">
                <a:solidFill>
                  <a:srgbClr val="FFFFFF"/>
                </a:solidFill>
                <a:latin typeface="LM Sans 9"/>
                <a:cs typeface="LM Sans 9"/>
              </a:rPr>
              <a:t>How </a:t>
            </a:r>
            <a:r>
              <a:rPr sz="900" spc="-5" dirty="0">
                <a:solidFill>
                  <a:srgbClr val="FFFFFF"/>
                </a:solidFill>
                <a:latin typeface="LM Sans 9"/>
                <a:cs typeface="LM Sans 9"/>
              </a:rPr>
              <a:t>to traverse a tree using recursion</a:t>
            </a:r>
            <a:endParaRPr sz="900">
              <a:latin typeface="LM Sans 9"/>
              <a:cs typeface="LM Sans 9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2547" y="1121041"/>
            <a:ext cx="4302760" cy="187325"/>
            <a:chOff x="212547" y="1121041"/>
            <a:chExt cx="4302760" cy="187325"/>
          </a:xfrm>
        </p:grpSpPr>
        <p:sp>
          <p:nvSpPr>
            <p:cNvPr id="5" name="object 5"/>
            <p:cNvSpPr/>
            <p:nvPr/>
          </p:nvSpPr>
          <p:spPr>
            <a:xfrm>
              <a:off x="217627" y="1123581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15087" y="1126109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58114" y="1126109"/>
              <a:ext cx="4211955" cy="0"/>
            </a:xfrm>
            <a:custGeom>
              <a:avLst/>
              <a:gdLst/>
              <a:ahLst/>
              <a:cxnLst/>
              <a:rect l="l" t="t" r="r" b="b"/>
              <a:pathLst>
                <a:path w="4211955">
                  <a:moveTo>
                    <a:pt x="0" y="0"/>
                  </a:moveTo>
                  <a:lnTo>
                    <a:pt x="421134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469460" y="1126109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509947" y="1123581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7627" y="1166596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09947" y="1166596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3642935" y="1137445"/>
            <a:ext cx="6553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60" dirty="0">
                <a:latin typeface="LM Mono 10"/>
                <a:cs typeface="LM Mono 10"/>
              </a:rPr>
              <a:t>result </a:t>
            </a:r>
            <a:r>
              <a:rPr sz="900" spc="-5" dirty="0">
                <a:latin typeface="LM Mono 10"/>
                <a:cs typeface="LM Mono 10"/>
              </a:rPr>
              <a:t>)</a:t>
            </a:r>
            <a:r>
              <a:rPr sz="900" spc="-285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{</a:t>
            </a:r>
            <a:endParaRPr sz="900">
              <a:latin typeface="LM Mono 10"/>
              <a:cs typeface="LM Mono 10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15087" y="1303235"/>
            <a:ext cx="4297680" cy="283845"/>
            <a:chOff x="215087" y="1303235"/>
            <a:chExt cx="4297680" cy="283845"/>
          </a:xfrm>
        </p:grpSpPr>
        <p:sp>
          <p:nvSpPr>
            <p:cNvPr id="14" name="object 14"/>
            <p:cNvSpPr/>
            <p:nvPr/>
          </p:nvSpPr>
          <p:spPr>
            <a:xfrm>
              <a:off x="217627" y="1305775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09947" y="1305775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17627" y="1444955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509947" y="1444955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0363" y="1137445"/>
            <a:ext cx="3518535" cy="431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7010" indent="-194945">
              <a:lnSpc>
                <a:spcPct val="100000"/>
              </a:lnSpc>
              <a:spcBef>
                <a:spcPts val="95"/>
              </a:spcBef>
              <a:buClr>
                <a:srgbClr val="3F3F3F"/>
              </a:buClr>
              <a:buFont typeface="LM Sans 9"/>
              <a:buAutoNum type="arabicPlain"/>
              <a:tabLst>
                <a:tab pos="207010" algn="l"/>
                <a:tab pos="207645" algn="l"/>
              </a:tabLst>
            </a:pPr>
            <a:r>
              <a:rPr sz="900" spc="55" dirty="0">
                <a:solidFill>
                  <a:srgbClr val="2727FF"/>
                </a:solidFill>
                <a:latin typeface="LM Mono 10"/>
                <a:cs typeface="LM Mono 10"/>
              </a:rPr>
              <a:t>void</a:t>
            </a:r>
            <a:r>
              <a:rPr lang="en-US" sz="900" spc="55" dirty="0">
                <a:solidFill>
                  <a:srgbClr val="2727FF"/>
                </a:solidFill>
                <a:latin typeface="LM Mono 10"/>
                <a:cs typeface="LM Mono 10"/>
              </a:rPr>
              <a:t> </a:t>
            </a:r>
            <a:r>
              <a:rPr sz="900" spc="55" dirty="0">
                <a:latin typeface="LM Mono 10"/>
                <a:cs typeface="LM Mono 10"/>
              </a:rPr>
              <a:t>post</a:t>
            </a:r>
            <a:r>
              <a:rPr sz="900" spc="-385" dirty="0">
                <a:latin typeface="LM Mono 10"/>
                <a:cs typeface="LM Mono 10"/>
              </a:rPr>
              <a:t> </a:t>
            </a:r>
            <a:r>
              <a:rPr sz="900" spc="65" dirty="0">
                <a:latin typeface="LM Mono 10"/>
                <a:cs typeface="LM Mono 10"/>
              </a:rPr>
              <a:t>Order</a:t>
            </a:r>
            <a:r>
              <a:rPr sz="900" spc="-385" dirty="0">
                <a:latin typeface="LM Mono 10"/>
                <a:cs typeface="LM Mono 10"/>
              </a:rPr>
              <a:t> </a:t>
            </a:r>
            <a:r>
              <a:rPr sz="900" spc="65" dirty="0">
                <a:latin typeface="LM Mono 10"/>
                <a:cs typeface="LM Mono 10"/>
              </a:rPr>
              <a:t>Recur</a:t>
            </a:r>
            <a:r>
              <a:rPr sz="900" spc="-340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(</a:t>
            </a:r>
            <a:r>
              <a:rPr sz="900" spc="-345" dirty="0">
                <a:latin typeface="LM Mono 10"/>
                <a:cs typeface="LM Mono 10"/>
              </a:rPr>
              <a:t> </a:t>
            </a:r>
            <a:r>
              <a:rPr sz="900" spc="55" dirty="0">
                <a:latin typeface="LM Mono 10"/>
                <a:cs typeface="LM Mono 10"/>
              </a:rPr>
              <a:t>Tree</a:t>
            </a:r>
            <a:r>
              <a:rPr sz="900" spc="-385" dirty="0">
                <a:latin typeface="LM Mono 10"/>
                <a:cs typeface="LM Mono 10"/>
              </a:rPr>
              <a:t> </a:t>
            </a:r>
            <a:r>
              <a:rPr sz="900" spc="55" dirty="0">
                <a:latin typeface="LM Mono 10"/>
                <a:cs typeface="LM Mono 10"/>
              </a:rPr>
              <a:t>Node</a:t>
            </a:r>
            <a:r>
              <a:rPr sz="900" spc="-345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*</a:t>
            </a:r>
            <a:r>
              <a:rPr sz="900" spc="204" dirty="0">
                <a:latin typeface="LM Mono 10"/>
                <a:cs typeface="LM Mono 10"/>
              </a:rPr>
              <a:t> </a:t>
            </a:r>
            <a:r>
              <a:rPr sz="900" spc="40" dirty="0">
                <a:latin typeface="LM Mono 10"/>
                <a:cs typeface="LM Mono 10"/>
              </a:rPr>
              <a:t>root</a:t>
            </a:r>
            <a:r>
              <a:rPr sz="900" spc="-305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,</a:t>
            </a:r>
            <a:r>
              <a:rPr sz="900" spc="220" dirty="0">
                <a:latin typeface="LM Mono 10"/>
                <a:cs typeface="LM Mono 10"/>
              </a:rPr>
              <a:t> </a:t>
            </a:r>
            <a:r>
              <a:rPr sz="900" spc="50" dirty="0">
                <a:latin typeface="LM Mono 10"/>
                <a:cs typeface="LM Mono 10"/>
              </a:rPr>
              <a:t>vector</a:t>
            </a:r>
            <a:r>
              <a:rPr sz="900" spc="-285" dirty="0">
                <a:latin typeface="LM Mono 10"/>
                <a:cs typeface="LM Mono 10"/>
              </a:rPr>
              <a:t> </a:t>
            </a:r>
            <a:r>
              <a:rPr sz="900" spc="25" dirty="0">
                <a:latin typeface="LM Mono 10"/>
                <a:cs typeface="LM Mono 10"/>
              </a:rPr>
              <a:t>&lt;</a:t>
            </a:r>
            <a:r>
              <a:rPr sz="900" spc="25" dirty="0">
                <a:solidFill>
                  <a:srgbClr val="2727FF"/>
                </a:solidFill>
                <a:latin typeface="LM Mono 10"/>
                <a:cs typeface="LM Mono 10"/>
              </a:rPr>
              <a:t>int</a:t>
            </a:r>
            <a:r>
              <a:rPr sz="900" spc="25" dirty="0">
                <a:latin typeface="LM Mono 10"/>
                <a:cs typeface="LM Mono 10"/>
              </a:rPr>
              <a:t>&gt;&amp;</a:t>
            </a:r>
            <a:endParaRPr sz="900">
              <a:latin typeface="LM Mono 10"/>
              <a:cs typeface="LM Mono 10"/>
            </a:endParaRPr>
          </a:p>
          <a:p>
            <a:pPr marL="492125" indent="-480060">
              <a:lnSpc>
                <a:spcPct val="100000"/>
              </a:lnSpc>
              <a:spcBef>
                <a:spcPts val="15"/>
              </a:spcBef>
              <a:buClr>
                <a:srgbClr val="3F3F3F"/>
              </a:buClr>
              <a:buFont typeface="LM Sans 9"/>
              <a:buAutoNum type="arabicPlain"/>
              <a:tabLst>
                <a:tab pos="492125" algn="l"/>
                <a:tab pos="492125" algn="l"/>
              </a:tabLst>
            </a:pPr>
            <a:r>
              <a:rPr sz="900" spc="15" dirty="0">
                <a:solidFill>
                  <a:srgbClr val="2727FF"/>
                </a:solidFill>
                <a:latin typeface="LM Mono 10"/>
                <a:cs typeface="LM Mono 10"/>
              </a:rPr>
              <a:t>if</a:t>
            </a:r>
            <a:r>
              <a:rPr sz="900" spc="15" dirty="0">
                <a:latin typeface="LM Mono 10"/>
                <a:cs typeface="LM Mono 10"/>
              </a:rPr>
              <a:t>(</a:t>
            </a:r>
            <a:r>
              <a:rPr sz="900" spc="-370" dirty="0">
                <a:latin typeface="LM Mono 10"/>
                <a:cs typeface="LM Mono 10"/>
              </a:rPr>
              <a:t> </a:t>
            </a:r>
            <a:r>
              <a:rPr sz="900" spc="40" dirty="0">
                <a:latin typeface="LM Mono 10"/>
                <a:cs typeface="LM Mono 10"/>
              </a:rPr>
              <a:t>root</a:t>
            </a:r>
            <a:r>
              <a:rPr sz="900" spc="-305" dirty="0">
                <a:latin typeface="LM Mono 10"/>
                <a:cs typeface="LM Mono 10"/>
              </a:rPr>
              <a:t> </a:t>
            </a:r>
            <a:r>
              <a:rPr sz="900" spc="40" dirty="0">
                <a:latin typeface="LM Mono 10"/>
                <a:cs typeface="LM Mono 10"/>
              </a:rPr>
              <a:t>-&gt;</a:t>
            </a:r>
            <a:r>
              <a:rPr sz="900" spc="-350" dirty="0">
                <a:latin typeface="LM Mono 10"/>
                <a:cs typeface="LM Mono 10"/>
              </a:rPr>
              <a:t> </a:t>
            </a:r>
            <a:r>
              <a:rPr sz="900" spc="50" dirty="0">
                <a:latin typeface="LM Mono 10"/>
                <a:cs typeface="LM Mono 10"/>
              </a:rPr>
              <a:t>left</a:t>
            </a:r>
            <a:r>
              <a:rPr sz="900" spc="229" dirty="0">
                <a:latin typeface="LM Mono 10"/>
                <a:cs typeface="LM Mono 10"/>
              </a:rPr>
              <a:t> </a:t>
            </a:r>
            <a:r>
              <a:rPr sz="900" spc="25" dirty="0">
                <a:latin typeface="LM Mono 10"/>
                <a:cs typeface="LM Mono 10"/>
              </a:rPr>
              <a:t>!=</a:t>
            </a:r>
            <a:r>
              <a:rPr sz="900" spc="235" dirty="0">
                <a:latin typeface="LM Mono 10"/>
                <a:cs typeface="LM Mono 10"/>
              </a:rPr>
              <a:t> </a:t>
            </a:r>
            <a:r>
              <a:rPr sz="900" spc="65" dirty="0">
                <a:latin typeface="LM Mono 10"/>
                <a:cs typeface="LM Mono 10"/>
              </a:rPr>
              <a:t>nullptr</a:t>
            </a:r>
            <a:r>
              <a:rPr sz="900" spc="-345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)</a:t>
            </a:r>
            <a:r>
              <a:rPr sz="900" spc="185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{</a:t>
            </a:r>
            <a:endParaRPr sz="900">
              <a:latin typeface="LM Mono 10"/>
              <a:cs typeface="LM Mono 10"/>
            </a:endParaRPr>
          </a:p>
          <a:p>
            <a:pPr marL="782320" indent="-770255">
              <a:lnSpc>
                <a:spcPct val="100000"/>
              </a:lnSpc>
              <a:spcBef>
                <a:spcPts val="15"/>
              </a:spcBef>
              <a:buClr>
                <a:srgbClr val="3F3F3F"/>
              </a:buClr>
              <a:buFont typeface="LM Sans 9"/>
              <a:buAutoNum type="arabicPlain"/>
              <a:tabLst>
                <a:tab pos="782320" algn="l"/>
                <a:tab pos="782955" algn="l"/>
              </a:tabLst>
            </a:pPr>
            <a:r>
              <a:rPr sz="900" spc="60" dirty="0">
                <a:latin typeface="LM Mono 10"/>
                <a:cs typeface="LM Mono 10"/>
              </a:rPr>
              <a:t>post</a:t>
            </a:r>
            <a:r>
              <a:rPr sz="900" spc="-390" dirty="0">
                <a:latin typeface="LM Mono 10"/>
                <a:cs typeface="LM Mono 10"/>
              </a:rPr>
              <a:t> </a:t>
            </a:r>
            <a:r>
              <a:rPr sz="900" spc="65" dirty="0">
                <a:latin typeface="LM Mono 10"/>
                <a:cs typeface="LM Mono 10"/>
              </a:rPr>
              <a:t>Order</a:t>
            </a:r>
            <a:r>
              <a:rPr sz="900" spc="-385" dirty="0">
                <a:latin typeface="LM Mono 10"/>
                <a:cs typeface="LM Mono 10"/>
              </a:rPr>
              <a:t> </a:t>
            </a:r>
            <a:r>
              <a:rPr sz="900" spc="65" dirty="0">
                <a:latin typeface="LM Mono 10"/>
                <a:cs typeface="LM Mono 10"/>
              </a:rPr>
              <a:t>Recur</a:t>
            </a:r>
            <a:r>
              <a:rPr sz="900" spc="-340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(</a:t>
            </a:r>
            <a:r>
              <a:rPr sz="900" spc="-365" dirty="0">
                <a:latin typeface="LM Mono 10"/>
                <a:cs typeface="LM Mono 10"/>
              </a:rPr>
              <a:t> </a:t>
            </a:r>
            <a:r>
              <a:rPr sz="900" spc="40" dirty="0">
                <a:latin typeface="LM Mono 10"/>
                <a:cs typeface="LM Mono 10"/>
              </a:rPr>
              <a:t>root</a:t>
            </a:r>
            <a:r>
              <a:rPr sz="900" spc="-305" dirty="0">
                <a:latin typeface="LM Mono 10"/>
                <a:cs typeface="LM Mono 10"/>
              </a:rPr>
              <a:t> </a:t>
            </a:r>
            <a:r>
              <a:rPr sz="900" spc="40" dirty="0">
                <a:latin typeface="LM Mono 10"/>
                <a:cs typeface="LM Mono 10"/>
              </a:rPr>
              <a:t>-&gt;</a:t>
            </a:r>
            <a:r>
              <a:rPr sz="900" spc="-365" dirty="0">
                <a:latin typeface="LM Mono 10"/>
                <a:cs typeface="LM Mono 10"/>
              </a:rPr>
              <a:t> </a:t>
            </a:r>
            <a:r>
              <a:rPr sz="900" spc="40" dirty="0">
                <a:latin typeface="LM Mono 10"/>
                <a:cs typeface="LM Mono 10"/>
              </a:rPr>
              <a:t>left</a:t>
            </a:r>
            <a:r>
              <a:rPr sz="900" spc="-305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,</a:t>
            </a:r>
            <a:r>
              <a:rPr sz="900" spc="220" dirty="0">
                <a:latin typeface="LM Mono 10"/>
                <a:cs typeface="LM Mono 10"/>
              </a:rPr>
              <a:t> </a:t>
            </a:r>
            <a:r>
              <a:rPr sz="900" spc="60" dirty="0">
                <a:latin typeface="LM Mono 10"/>
                <a:cs typeface="LM Mono 10"/>
              </a:rPr>
              <a:t>result</a:t>
            </a:r>
            <a:r>
              <a:rPr sz="900" spc="-350" dirty="0">
                <a:latin typeface="LM Mono 10"/>
                <a:cs typeface="LM Mono 10"/>
              </a:rPr>
              <a:t> </a:t>
            </a:r>
            <a:r>
              <a:rPr sz="900" spc="40" dirty="0">
                <a:latin typeface="LM Mono 10"/>
                <a:cs typeface="LM Mono 10"/>
              </a:rPr>
              <a:t>);</a:t>
            </a:r>
            <a:endParaRPr sz="900">
              <a:latin typeface="LM Mono 10"/>
              <a:cs typeface="LM Mono 10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15087" y="1581594"/>
            <a:ext cx="4297680" cy="840740"/>
            <a:chOff x="215087" y="1581594"/>
            <a:chExt cx="4297680" cy="840740"/>
          </a:xfrm>
        </p:grpSpPr>
        <p:sp>
          <p:nvSpPr>
            <p:cNvPr id="20" name="object 20"/>
            <p:cNvSpPr/>
            <p:nvPr/>
          </p:nvSpPr>
          <p:spPr>
            <a:xfrm>
              <a:off x="4509947" y="1584134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509947" y="1723313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509947" y="1862480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509947" y="2001659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509947" y="2140839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509947" y="2280018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17627" y="1584134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17627" y="1723313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17627" y="1862480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17627" y="2001659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17627" y="2140839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17627" y="2280018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41313" y="1595012"/>
          <a:ext cx="3400425" cy="8646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530"/>
                <a:gridCol w="220345"/>
                <a:gridCol w="3003550"/>
              </a:tblGrid>
              <a:tr h="127110">
                <a:tc>
                  <a:txBody>
                    <a:bodyPr/>
                    <a:lstStyle/>
                    <a:p>
                      <a:pPr marL="31750">
                        <a:lnSpc>
                          <a:spcPts val="860"/>
                        </a:lnSpc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4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860"/>
                        </a:lnSpc>
                      </a:pPr>
                      <a:r>
                        <a:rPr sz="900" dirty="0">
                          <a:latin typeface="LM Mono 10"/>
                          <a:cs typeface="LM Mono 10"/>
                        </a:rPr>
                        <a:t>}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</a:tr>
              <a:tr h="139179">
                <a:tc>
                  <a:txBody>
                    <a:bodyPr/>
                    <a:lstStyle/>
                    <a:p>
                      <a:pPr marL="31750">
                        <a:lnSpc>
                          <a:spcPts val="955"/>
                        </a:lnSpc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5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955"/>
                        </a:lnSpc>
                      </a:pPr>
                      <a:r>
                        <a:rPr sz="900" spc="15" dirty="0">
                          <a:solidFill>
                            <a:srgbClr val="2727FF"/>
                          </a:solidFill>
                          <a:latin typeface="LM Mono 10"/>
                          <a:cs typeface="LM Mono 10"/>
                        </a:rPr>
                        <a:t>if</a:t>
                      </a:r>
                      <a:r>
                        <a:rPr sz="900" spc="15" dirty="0">
                          <a:latin typeface="LM Mono 10"/>
                          <a:cs typeface="LM Mono 10"/>
                        </a:rPr>
                        <a:t>(</a:t>
                      </a:r>
                      <a:r>
                        <a:rPr sz="900" spc="-37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root</a:t>
                      </a:r>
                      <a:r>
                        <a:rPr sz="900" spc="-30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-&gt;</a:t>
                      </a:r>
                      <a:r>
                        <a:rPr sz="900" spc="-35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55" dirty="0">
                          <a:latin typeface="LM Mono 10"/>
                          <a:cs typeface="LM Mono 10"/>
                        </a:rPr>
                        <a:t>right</a:t>
                      </a:r>
                      <a:r>
                        <a:rPr sz="900" spc="229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25" dirty="0">
                          <a:latin typeface="LM Mono 10"/>
                          <a:cs typeface="LM Mono 10"/>
                        </a:rPr>
                        <a:t>!=</a:t>
                      </a:r>
                      <a:r>
                        <a:rPr sz="900" spc="23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5" dirty="0">
                          <a:latin typeface="LM Mono 10"/>
                          <a:cs typeface="LM Mono 10"/>
                        </a:rPr>
                        <a:t>nullptr</a:t>
                      </a:r>
                      <a:r>
                        <a:rPr sz="900" spc="-34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)</a:t>
                      </a:r>
                      <a:r>
                        <a:rPr sz="900" spc="18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{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</a:tr>
              <a:tr h="139179">
                <a:tc>
                  <a:txBody>
                    <a:bodyPr/>
                    <a:lstStyle/>
                    <a:p>
                      <a:pPr marL="31750">
                        <a:lnSpc>
                          <a:spcPts val="955"/>
                        </a:lnSpc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6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5130">
                        <a:lnSpc>
                          <a:spcPts val="955"/>
                        </a:lnSpc>
                      </a:pPr>
                      <a:r>
                        <a:rPr sz="900" spc="60" dirty="0">
                          <a:latin typeface="LM Mono 10"/>
                          <a:cs typeface="LM Mono 10"/>
                        </a:rPr>
                        <a:t>post</a:t>
                      </a:r>
                      <a:r>
                        <a:rPr sz="900" spc="-39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5" dirty="0">
                          <a:latin typeface="LM Mono 10"/>
                          <a:cs typeface="LM Mono 10"/>
                        </a:rPr>
                        <a:t>Order</a:t>
                      </a:r>
                      <a:r>
                        <a:rPr sz="900" spc="-38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5" dirty="0">
                          <a:latin typeface="LM Mono 10"/>
                          <a:cs typeface="LM Mono 10"/>
                        </a:rPr>
                        <a:t>Recur</a:t>
                      </a:r>
                      <a:r>
                        <a:rPr sz="900" spc="-34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(</a:t>
                      </a:r>
                      <a:r>
                        <a:rPr sz="900" spc="-36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root</a:t>
                      </a:r>
                      <a:r>
                        <a:rPr sz="900" spc="-30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-&gt;</a:t>
                      </a:r>
                      <a:r>
                        <a:rPr sz="900" spc="-36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50" dirty="0">
                          <a:latin typeface="LM Mono 10"/>
                          <a:cs typeface="LM Mono 10"/>
                        </a:rPr>
                        <a:t>right</a:t>
                      </a:r>
                      <a:r>
                        <a:rPr sz="900" spc="-29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,</a:t>
                      </a:r>
                      <a:r>
                        <a:rPr sz="900" spc="21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0" dirty="0">
                          <a:latin typeface="LM Mono 10"/>
                          <a:cs typeface="LM Mono 10"/>
                        </a:rPr>
                        <a:t>result</a:t>
                      </a:r>
                      <a:r>
                        <a:rPr sz="900" spc="-35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);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</a:tr>
              <a:tr h="139179">
                <a:tc>
                  <a:txBody>
                    <a:bodyPr/>
                    <a:lstStyle/>
                    <a:p>
                      <a:pPr marL="31750">
                        <a:lnSpc>
                          <a:spcPts val="955"/>
                        </a:lnSpc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7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955"/>
                        </a:lnSpc>
                      </a:pPr>
                      <a:r>
                        <a:rPr sz="900" dirty="0">
                          <a:latin typeface="LM Mono 10"/>
                          <a:cs typeface="LM Mono 10"/>
                        </a:rPr>
                        <a:t>}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</a:tr>
              <a:tr h="139172">
                <a:tc>
                  <a:txBody>
                    <a:bodyPr/>
                    <a:lstStyle/>
                    <a:p>
                      <a:pPr marL="31750">
                        <a:lnSpc>
                          <a:spcPts val="955"/>
                        </a:lnSpc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8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955"/>
                        </a:lnSpc>
                      </a:pPr>
                      <a:r>
                        <a:rPr sz="900" spc="60" dirty="0">
                          <a:latin typeface="LM Mono 10"/>
                          <a:cs typeface="LM Mono 10"/>
                        </a:rPr>
                        <a:t>result</a:t>
                      </a:r>
                      <a:r>
                        <a:rPr sz="900" spc="-35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.</a:t>
                      </a:r>
                      <a:r>
                        <a:rPr sz="900" spc="-34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60" dirty="0">
                          <a:latin typeface="LM Mono 10"/>
                          <a:cs typeface="LM Mono 10"/>
                        </a:rPr>
                        <a:t>push_</a:t>
                      </a:r>
                      <a:r>
                        <a:rPr sz="900" spc="-39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55" dirty="0">
                          <a:latin typeface="LM Mono 10"/>
                          <a:cs typeface="LM Mono 10"/>
                        </a:rPr>
                        <a:t>back</a:t>
                      </a:r>
                      <a:r>
                        <a:rPr sz="900" spc="-34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(</a:t>
                      </a:r>
                      <a:r>
                        <a:rPr sz="900" spc="-36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root</a:t>
                      </a:r>
                      <a:r>
                        <a:rPr sz="900" spc="-30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-&gt;</a:t>
                      </a:r>
                      <a:r>
                        <a:rPr sz="900" spc="-35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val</a:t>
                      </a:r>
                      <a:r>
                        <a:rPr sz="900" spc="-35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);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</a:tr>
              <a:tr h="180850">
                <a:tc>
                  <a:txBody>
                    <a:bodyPr/>
                    <a:lstStyle/>
                    <a:p>
                      <a:pPr marL="31750">
                        <a:lnSpc>
                          <a:spcPts val="955"/>
                        </a:lnSpc>
                      </a:pPr>
                      <a:r>
                        <a:rPr sz="900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9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955"/>
                        </a:lnSpc>
                      </a:pPr>
                      <a:r>
                        <a:rPr sz="900" dirty="0">
                          <a:latin typeface="LM Mono 10"/>
                          <a:cs typeface="LM Mono 10"/>
                        </a:rPr>
                        <a:t>}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grpSp>
        <p:nvGrpSpPr>
          <p:cNvPr id="33" name="object 33"/>
          <p:cNvGrpSpPr/>
          <p:nvPr/>
        </p:nvGrpSpPr>
        <p:grpSpPr>
          <a:xfrm>
            <a:off x="215087" y="2419197"/>
            <a:ext cx="4297680" cy="43180"/>
            <a:chOff x="215087" y="2419197"/>
            <a:chExt cx="4297680" cy="43180"/>
          </a:xfrm>
        </p:grpSpPr>
        <p:sp>
          <p:nvSpPr>
            <p:cNvPr id="34" name="object 34"/>
            <p:cNvSpPr/>
            <p:nvPr/>
          </p:nvSpPr>
          <p:spPr>
            <a:xfrm>
              <a:off x="217627" y="2419197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15087" y="2459685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58114" y="2459685"/>
              <a:ext cx="4211955" cy="0"/>
            </a:xfrm>
            <a:custGeom>
              <a:avLst/>
              <a:gdLst/>
              <a:ahLst/>
              <a:cxnLst/>
              <a:rect l="l" t="t" r="r" b="b"/>
              <a:pathLst>
                <a:path w="4211955">
                  <a:moveTo>
                    <a:pt x="0" y="0"/>
                  </a:moveTo>
                  <a:lnTo>
                    <a:pt x="421134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469460" y="2459685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509947" y="2419197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40" name="object 4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44" name="object 44"/>
          <p:cNvSpPr txBox="1"/>
          <p:nvPr/>
        </p:nvSpPr>
        <p:spPr>
          <a:xfrm>
            <a:off x="1958606" y="3351784"/>
            <a:ext cx="690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CSC3100 </a:t>
            </a:r>
            <a:r>
              <a:rPr sz="600" spc="-1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Tutorial</a:t>
            </a:r>
            <a:r>
              <a:rPr sz="600" spc="-2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7</a:t>
            </a:r>
            <a:endParaRPr sz="600">
              <a:latin typeface="LM Sans 8"/>
              <a:cs typeface="LM Sans 8"/>
            </a:endParaRPr>
          </a:p>
        </p:txBody>
      </p:sp>
      <p:sp>
        <p:nvSpPr>
          <p:cNvPr id="46" name="object 13"/>
          <p:cNvSpPr txBox="1"/>
          <p:nvPr/>
        </p:nvSpPr>
        <p:spPr>
          <a:xfrm>
            <a:off x="3600450" y="3374390"/>
            <a:ext cx="679450" cy="86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2022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/10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/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3</a:t>
            </a:r>
            <a:endParaRPr lang="en-US" sz="600" spc="-5" dirty="0">
              <a:solidFill>
                <a:srgbClr val="FFFFFF"/>
              </a:solidFill>
              <a:latin typeface="LM Sans 8"/>
              <a:cs typeface="LM Sans 8"/>
            </a:endParaRPr>
          </a:p>
        </p:txBody>
      </p:sp>
      <p:sp>
        <p:nvSpPr>
          <p:cNvPr id="45" name="Text Box 44"/>
          <p:cNvSpPr txBox="1"/>
          <p:nvPr/>
        </p:nvSpPr>
        <p:spPr>
          <a:xfrm>
            <a:off x="217805" y="544830"/>
            <a:ext cx="97663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latin typeface="Times New Roman Regular" panose="02020603050405020304" charset="0"/>
                <a:cs typeface="Times New Roman Regular" panose="02020603050405020304" charset="0"/>
              </a:rPr>
              <a:t>C++ Version</a:t>
            </a:r>
            <a:endParaRPr lang="en-US" sz="12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250" y="15240"/>
            <a:ext cx="2505075" cy="4432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5"/>
              </a:spcBef>
            </a:pPr>
            <a:r>
              <a:rPr sz="1400" spc="5" dirty="0">
                <a:solidFill>
                  <a:srgbClr val="FFFFFF"/>
                </a:solidFill>
                <a:latin typeface="LM Sans 12"/>
                <a:cs typeface="LM Sans 12"/>
              </a:rPr>
              <a:t>Binary</a:t>
            </a:r>
            <a:r>
              <a:rPr sz="1400" dirty="0">
                <a:solidFill>
                  <a:srgbClr val="FFFFFF"/>
                </a:solidFill>
                <a:latin typeface="LM Sans 12"/>
                <a:cs typeface="LM Sans 12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LM Sans 12"/>
                <a:cs typeface="LM Sans 12"/>
              </a:rPr>
              <a:t>Tree</a:t>
            </a:r>
            <a:endParaRPr sz="1400">
              <a:latin typeface="LM Sans 12"/>
              <a:cs typeface="LM Sans 12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900" spc="-15" dirty="0">
                <a:solidFill>
                  <a:srgbClr val="FFFFFF"/>
                </a:solidFill>
                <a:latin typeface="LM Sans 9"/>
                <a:cs typeface="LM Sans 9"/>
              </a:rPr>
              <a:t>How </a:t>
            </a:r>
            <a:r>
              <a:rPr sz="900" spc="-5" dirty="0">
                <a:solidFill>
                  <a:srgbClr val="FFFFFF"/>
                </a:solidFill>
                <a:latin typeface="LM Sans 9"/>
                <a:cs typeface="LM Sans 9"/>
              </a:rPr>
              <a:t>to traverse a tree using</a:t>
            </a:r>
            <a:r>
              <a:rPr sz="900" spc="-15" dirty="0">
                <a:solidFill>
                  <a:srgbClr val="FFFFFF"/>
                </a:solidFill>
                <a:latin typeface="LM Sans 9"/>
                <a:cs typeface="LM Sans 9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LM Sans 9"/>
                <a:cs typeface="LM Sans 9"/>
              </a:rPr>
              <a:t>stack</a:t>
            </a:r>
            <a:endParaRPr sz="900">
              <a:latin typeface="LM Sans 9"/>
              <a:cs typeface="LM Sans 9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2547" y="728802"/>
            <a:ext cx="4302760" cy="187325"/>
            <a:chOff x="212547" y="731342"/>
            <a:chExt cx="4302760" cy="187325"/>
          </a:xfrm>
        </p:grpSpPr>
        <p:sp>
          <p:nvSpPr>
            <p:cNvPr id="5" name="object 5"/>
            <p:cNvSpPr/>
            <p:nvPr/>
          </p:nvSpPr>
          <p:spPr>
            <a:xfrm>
              <a:off x="217627" y="733882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79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15087" y="736409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58114" y="736409"/>
              <a:ext cx="4211955" cy="0"/>
            </a:xfrm>
            <a:custGeom>
              <a:avLst/>
              <a:gdLst/>
              <a:ahLst/>
              <a:cxnLst/>
              <a:rect l="l" t="t" r="r" b="b"/>
              <a:pathLst>
                <a:path w="4211955">
                  <a:moveTo>
                    <a:pt x="0" y="0"/>
                  </a:moveTo>
                  <a:lnTo>
                    <a:pt x="421134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469460" y="736409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509947" y="733882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79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7627" y="776897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09947" y="776897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3642935" y="747745"/>
            <a:ext cx="6553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60" dirty="0">
                <a:latin typeface="LM Mono 10"/>
                <a:cs typeface="LM Mono 10"/>
              </a:rPr>
              <a:t>result </a:t>
            </a:r>
            <a:r>
              <a:rPr sz="900" spc="-5" dirty="0">
                <a:latin typeface="LM Mono 10"/>
                <a:cs typeface="LM Mono 10"/>
              </a:rPr>
              <a:t>)</a:t>
            </a:r>
            <a:r>
              <a:rPr sz="900" spc="-285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{</a:t>
            </a:r>
            <a:endParaRPr sz="900">
              <a:latin typeface="LM Mono 10"/>
              <a:cs typeface="LM Mono 10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15087" y="913536"/>
            <a:ext cx="4297680" cy="1397000"/>
            <a:chOff x="215087" y="913536"/>
            <a:chExt cx="4297680" cy="1397000"/>
          </a:xfrm>
        </p:grpSpPr>
        <p:sp>
          <p:nvSpPr>
            <p:cNvPr id="14" name="object 14"/>
            <p:cNvSpPr/>
            <p:nvPr/>
          </p:nvSpPr>
          <p:spPr>
            <a:xfrm>
              <a:off x="217627" y="916076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09947" y="916076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17627" y="1055255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509947" y="1055255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17627" y="1194435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509947" y="1194435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17627" y="1333614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509947" y="1333614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17627" y="1472793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509947" y="1472793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17627" y="1611960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509947" y="1611960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17627" y="1751139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509947" y="1751139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17627" y="1890318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509947" y="1890318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17627" y="2029498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509947" y="2029498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17627" y="2168677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509947" y="2168677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1854" y="747745"/>
            <a:ext cx="3576954" cy="1555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indent="-194945">
              <a:lnSpc>
                <a:spcPct val="100000"/>
              </a:lnSpc>
              <a:spcBef>
                <a:spcPts val="95"/>
              </a:spcBef>
              <a:buClr>
                <a:srgbClr val="3F3F3F"/>
              </a:buClr>
              <a:buFont typeface="LM Sans 9"/>
              <a:buAutoNum type="arabicPlain"/>
              <a:tabLst>
                <a:tab pos="265430" algn="l"/>
                <a:tab pos="266065" algn="l"/>
              </a:tabLst>
            </a:pPr>
            <a:r>
              <a:rPr sz="900" spc="55" dirty="0">
                <a:solidFill>
                  <a:srgbClr val="2727FF"/>
                </a:solidFill>
                <a:latin typeface="LM Mono 10"/>
                <a:cs typeface="LM Mono 10"/>
              </a:rPr>
              <a:t>void</a:t>
            </a:r>
            <a:r>
              <a:rPr lang="en-US" sz="900" spc="55" dirty="0">
                <a:solidFill>
                  <a:srgbClr val="2727FF"/>
                </a:solidFill>
                <a:latin typeface="LM Mono 10"/>
                <a:cs typeface="LM Mono 10"/>
              </a:rPr>
              <a:t> </a:t>
            </a:r>
            <a:r>
              <a:rPr sz="900" spc="55" dirty="0">
                <a:latin typeface="LM Mono 10"/>
                <a:cs typeface="LM Mono 10"/>
              </a:rPr>
              <a:t>post</a:t>
            </a:r>
            <a:r>
              <a:rPr sz="900" spc="-385" dirty="0">
                <a:latin typeface="LM Mono 10"/>
                <a:cs typeface="LM Mono 10"/>
              </a:rPr>
              <a:t> </a:t>
            </a:r>
            <a:r>
              <a:rPr sz="900" spc="65" dirty="0">
                <a:latin typeface="LM Mono 10"/>
                <a:cs typeface="LM Mono 10"/>
              </a:rPr>
              <a:t>Order</a:t>
            </a:r>
            <a:r>
              <a:rPr sz="900" spc="-385" dirty="0">
                <a:latin typeface="LM Mono 10"/>
                <a:cs typeface="LM Mono 10"/>
              </a:rPr>
              <a:t> </a:t>
            </a:r>
            <a:r>
              <a:rPr sz="900" spc="65" dirty="0">
                <a:latin typeface="LM Mono 10"/>
                <a:cs typeface="LM Mono 10"/>
              </a:rPr>
              <a:t>Stack</a:t>
            </a:r>
            <a:r>
              <a:rPr sz="900" spc="-340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(</a:t>
            </a:r>
            <a:r>
              <a:rPr sz="900" spc="-345" dirty="0">
                <a:latin typeface="LM Mono 10"/>
                <a:cs typeface="LM Mono 10"/>
              </a:rPr>
              <a:t> </a:t>
            </a:r>
            <a:r>
              <a:rPr sz="900" spc="55" dirty="0">
                <a:latin typeface="LM Mono 10"/>
                <a:cs typeface="LM Mono 10"/>
              </a:rPr>
              <a:t>Tree</a:t>
            </a:r>
            <a:r>
              <a:rPr sz="900" spc="-385" dirty="0">
                <a:latin typeface="LM Mono 10"/>
                <a:cs typeface="LM Mono 10"/>
              </a:rPr>
              <a:t> </a:t>
            </a:r>
            <a:r>
              <a:rPr sz="900" spc="55" dirty="0">
                <a:latin typeface="LM Mono 10"/>
                <a:cs typeface="LM Mono 10"/>
              </a:rPr>
              <a:t>Node</a:t>
            </a:r>
            <a:r>
              <a:rPr sz="900" spc="-345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*</a:t>
            </a:r>
            <a:r>
              <a:rPr sz="900" spc="204" dirty="0">
                <a:latin typeface="LM Mono 10"/>
                <a:cs typeface="LM Mono 10"/>
              </a:rPr>
              <a:t> </a:t>
            </a:r>
            <a:r>
              <a:rPr sz="900" spc="40" dirty="0">
                <a:latin typeface="LM Mono 10"/>
                <a:cs typeface="LM Mono 10"/>
              </a:rPr>
              <a:t>root</a:t>
            </a:r>
            <a:r>
              <a:rPr sz="900" spc="-305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,</a:t>
            </a:r>
            <a:r>
              <a:rPr sz="900" spc="220" dirty="0">
                <a:latin typeface="LM Mono 10"/>
                <a:cs typeface="LM Mono 10"/>
              </a:rPr>
              <a:t> </a:t>
            </a:r>
            <a:r>
              <a:rPr sz="900" spc="50" dirty="0">
                <a:latin typeface="LM Mono 10"/>
                <a:cs typeface="LM Mono 10"/>
              </a:rPr>
              <a:t>vector</a:t>
            </a:r>
            <a:r>
              <a:rPr sz="900" spc="-285" dirty="0">
                <a:latin typeface="LM Mono 10"/>
                <a:cs typeface="LM Mono 10"/>
              </a:rPr>
              <a:t> </a:t>
            </a:r>
            <a:r>
              <a:rPr sz="900" spc="25" dirty="0">
                <a:latin typeface="LM Mono 10"/>
                <a:cs typeface="LM Mono 10"/>
              </a:rPr>
              <a:t>&lt;</a:t>
            </a:r>
            <a:r>
              <a:rPr sz="900" spc="25" dirty="0">
                <a:solidFill>
                  <a:srgbClr val="2727FF"/>
                </a:solidFill>
                <a:latin typeface="LM Mono 10"/>
                <a:cs typeface="LM Mono 10"/>
              </a:rPr>
              <a:t>int</a:t>
            </a:r>
            <a:r>
              <a:rPr sz="900" spc="25" dirty="0">
                <a:latin typeface="LM Mono 10"/>
                <a:cs typeface="LM Mono 10"/>
              </a:rPr>
              <a:t>&gt;&amp;</a:t>
            </a:r>
            <a:endParaRPr sz="900">
              <a:latin typeface="LM Mono 10"/>
              <a:cs typeface="LM Mono 10"/>
            </a:endParaRPr>
          </a:p>
          <a:p>
            <a:pPr marL="551180" indent="-480695">
              <a:lnSpc>
                <a:spcPct val="100000"/>
              </a:lnSpc>
              <a:spcBef>
                <a:spcPts val="15"/>
              </a:spcBef>
              <a:buClr>
                <a:srgbClr val="3F3F3F"/>
              </a:buClr>
              <a:buFont typeface="LM Sans 9"/>
              <a:buAutoNum type="arabicPlain"/>
              <a:tabLst>
                <a:tab pos="551180" algn="l"/>
                <a:tab pos="551815" algn="l"/>
              </a:tabLst>
            </a:pPr>
            <a:r>
              <a:rPr sz="900" spc="50" dirty="0">
                <a:latin typeface="LM Mono 10"/>
                <a:cs typeface="LM Mono 10"/>
              </a:rPr>
              <a:t>stack</a:t>
            </a:r>
            <a:r>
              <a:rPr sz="900" spc="-305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&lt;</a:t>
            </a:r>
            <a:r>
              <a:rPr sz="900" spc="-350" dirty="0">
                <a:latin typeface="LM Mono 10"/>
                <a:cs typeface="LM Mono 10"/>
              </a:rPr>
              <a:t> </a:t>
            </a:r>
            <a:r>
              <a:rPr sz="900" spc="55" dirty="0">
                <a:latin typeface="LM Mono 10"/>
                <a:cs typeface="LM Mono 10"/>
              </a:rPr>
              <a:t>Tree</a:t>
            </a:r>
            <a:r>
              <a:rPr sz="900" spc="-395" dirty="0">
                <a:latin typeface="LM Mono 10"/>
                <a:cs typeface="LM Mono 10"/>
              </a:rPr>
              <a:t> </a:t>
            </a:r>
            <a:r>
              <a:rPr sz="900" spc="55" dirty="0">
                <a:latin typeface="LM Mono 10"/>
                <a:cs typeface="LM Mono 10"/>
              </a:rPr>
              <a:t>Node</a:t>
            </a:r>
            <a:r>
              <a:rPr sz="900" spc="-350" dirty="0">
                <a:latin typeface="LM Mono 10"/>
                <a:cs typeface="LM Mono 10"/>
              </a:rPr>
              <a:t> </a:t>
            </a:r>
            <a:r>
              <a:rPr sz="900" spc="40" dirty="0">
                <a:latin typeface="LM Mono 10"/>
                <a:cs typeface="LM Mono 10"/>
              </a:rPr>
              <a:t>*&gt;</a:t>
            </a:r>
            <a:r>
              <a:rPr sz="900" spc="150" dirty="0">
                <a:latin typeface="LM Mono 10"/>
                <a:cs typeface="LM Mono 10"/>
              </a:rPr>
              <a:t> </a:t>
            </a:r>
            <a:r>
              <a:rPr sz="900" spc="40" dirty="0">
                <a:latin typeface="LM Mono 10"/>
                <a:cs typeface="LM Mono 10"/>
              </a:rPr>
              <a:t>s;</a:t>
            </a:r>
            <a:endParaRPr sz="900">
              <a:latin typeface="LM Mono 10"/>
              <a:cs typeface="LM Mono 10"/>
            </a:endParaRPr>
          </a:p>
          <a:p>
            <a:pPr marL="552450" indent="-481965">
              <a:lnSpc>
                <a:spcPct val="100000"/>
              </a:lnSpc>
              <a:spcBef>
                <a:spcPts val="15"/>
              </a:spcBef>
              <a:buClr>
                <a:srgbClr val="3F3F3F"/>
              </a:buClr>
              <a:buFont typeface="LM Sans 9"/>
              <a:buAutoNum type="arabicPlain"/>
              <a:tabLst>
                <a:tab pos="552450" algn="l"/>
                <a:tab pos="553085" algn="l"/>
              </a:tabLst>
            </a:pPr>
            <a:r>
              <a:rPr sz="900" spc="60" dirty="0">
                <a:solidFill>
                  <a:srgbClr val="2727FF"/>
                </a:solidFill>
                <a:latin typeface="LM Mono 10"/>
                <a:cs typeface="LM Mono 10"/>
              </a:rPr>
              <a:t>auto</a:t>
            </a:r>
            <a:r>
              <a:rPr lang="en-US" sz="900" spc="60" dirty="0">
                <a:solidFill>
                  <a:srgbClr val="2727FF"/>
                </a:solidFill>
                <a:latin typeface="LM Mono 10"/>
                <a:cs typeface="LM Mono 10"/>
              </a:rPr>
              <a:t> </a:t>
            </a:r>
            <a:r>
              <a:rPr sz="900" spc="60" dirty="0">
                <a:latin typeface="LM Mono 10"/>
                <a:cs typeface="LM Mono 10"/>
              </a:rPr>
              <a:t>current </a:t>
            </a:r>
            <a:r>
              <a:rPr sz="900" spc="-5" dirty="0">
                <a:latin typeface="LM Mono 10"/>
                <a:cs typeface="LM Mono 10"/>
              </a:rPr>
              <a:t>=</a:t>
            </a:r>
            <a:r>
              <a:rPr sz="900" spc="-80" dirty="0">
                <a:latin typeface="LM Mono 10"/>
                <a:cs typeface="LM Mono 10"/>
              </a:rPr>
              <a:t> </a:t>
            </a:r>
            <a:r>
              <a:rPr sz="900" spc="50" dirty="0">
                <a:latin typeface="LM Mono 10"/>
                <a:cs typeface="LM Mono 10"/>
              </a:rPr>
              <a:t>root </a:t>
            </a:r>
            <a:r>
              <a:rPr sz="900" spc="-5" dirty="0">
                <a:latin typeface="LM Mono 10"/>
                <a:cs typeface="LM Mono 10"/>
              </a:rPr>
              <a:t>;</a:t>
            </a:r>
            <a:endParaRPr sz="900">
              <a:latin typeface="LM Mono 10"/>
              <a:cs typeface="LM Mono 10"/>
            </a:endParaRPr>
          </a:p>
          <a:p>
            <a:pPr marL="552450" indent="-481965">
              <a:lnSpc>
                <a:spcPct val="100000"/>
              </a:lnSpc>
              <a:spcBef>
                <a:spcPts val="20"/>
              </a:spcBef>
              <a:buClr>
                <a:srgbClr val="3F3F3F"/>
              </a:buClr>
              <a:buFont typeface="LM Sans 9"/>
              <a:buAutoNum type="arabicPlain"/>
              <a:tabLst>
                <a:tab pos="552450" algn="l"/>
                <a:tab pos="553085" algn="l"/>
              </a:tabLst>
            </a:pPr>
            <a:r>
              <a:rPr sz="900" spc="55" dirty="0">
                <a:solidFill>
                  <a:srgbClr val="2727FF"/>
                </a:solidFill>
                <a:latin typeface="LM Mono 10"/>
                <a:cs typeface="LM Mono 10"/>
              </a:rPr>
              <a:t>auto</a:t>
            </a:r>
            <a:r>
              <a:rPr lang="en-US" sz="900" spc="55" dirty="0">
                <a:solidFill>
                  <a:srgbClr val="2727FF"/>
                </a:solidFill>
                <a:latin typeface="LM Mono 10"/>
                <a:cs typeface="LM Mono 10"/>
              </a:rPr>
              <a:t> </a:t>
            </a:r>
            <a:r>
              <a:rPr sz="900" spc="55" dirty="0">
                <a:latin typeface="LM Mono 10"/>
                <a:cs typeface="LM Mono 10"/>
              </a:rPr>
              <a:t>last </a:t>
            </a:r>
            <a:r>
              <a:rPr sz="900" spc="70" dirty="0">
                <a:latin typeface="LM Mono 10"/>
                <a:cs typeface="LM Mono 10"/>
              </a:rPr>
              <a:t>Visited </a:t>
            </a:r>
            <a:r>
              <a:rPr sz="900" spc="-5" dirty="0">
                <a:latin typeface="LM Mono 10"/>
                <a:cs typeface="LM Mono 10"/>
              </a:rPr>
              <a:t>= </a:t>
            </a:r>
            <a:r>
              <a:rPr sz="900" spc="50" dirty="0">
                <a:latin typeface="LM Mono 10"/>
                <a:cs typeface="LM Mono 10"/>
              </a:rPr>
              <a:t>root</a:t>
            </a:r>
            <a:r>
              <a:rPr sz="900" spc="-434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;</a:t>
            </a:r>
            <a:endParaRPr sz="900">
              <a:latin typeface="LM Mono 10"/>
              <a:cs typeface="LM Mono 10"/>
            </a:endParaRPr>
          </a:p>
          <a:p>
            <a:pPr marL="553085" indent="-482600">
              <a:lnSpc>
                <a:spcPct val="100000"/>
              </a:lnSpc>
              <a:spcBef>
                <a:spcPts val="15"/>
              </a:spcBef>
              <a:buClr>
                <a:srgbClr val="3F3F3F"/>
              </a:buClr>
              <a:buFont typeface="LM Sans 9"/>
              <a:buAutoNum type="arabicPlain"/>
              <a:tabLst>
                <a:tab pos="553085" algn="l"/>
                <a:tab pos="553720" algn="l"/>
              </a:tabLst>
            </a:pPr>
            <a:r>
              <a:rPr sz="900" spc="45" dirty="0">
                <a:solidFill>
                  <a:srgbClr val="2727FF"/>
                </a:solidFill>
                <a:latin typeface="LM Mono 10"/>
                <a:cs typeface="LM Mono 10"/>
              </a:rPr>
              <a:t>while</a:t>
            </a:r>
            <a:r>
              <a:rPr lang="en-US" sz="900" spc="45" dirty="0">
                <a:solidFill>
                  <a:srgbClr val="2727FF"/>
                </a:solidFill>
                <a:latin typeface="LM Mono 10"/>
                <a:cs typeface="LM Mono 10"/>
              </a:rPr>
              <a:t> </a:t>
            </a:r>
            <a:r>
              <a:rPr sz="900" spc="45" dirty="0">
                <a:latin typeface="LM Mono 10"/>
                <a:cs typeface="LM Mono 10"/>
              </a:rPr>
              <a:t>(!</a:t>
            </a:r>
            <a:r>
              <a:rPr sz="900" spc="-370" dirty="0">
                <a:latin typeface="LM Mono 10"/>
                <a:cs typeface="LM Mono 10"/>
              </a:rPr>
              <a:t> </a:t>
            </a:r>
            <a:r>
              <a:rPr sz="900" spc="40" dirty="0">
                <a:latin typeface="LM Mono 10"/>
                <a:cs typeface="LM Mono 10"/>
              </a:rPr>
              <a:t>s.</a:t>
            </a:r>
            <a:r>
              <a:rPr sz="900" spc="-350" dirty="0">
                <a:latin typeface="LM Mono 10"/>
                <a:cs typeface="LM Mono 10"/>
              </a:rPr>
              <a:t> </a:t>
            </a:r>
            <a:r>
              <a:rPr sz="900" spc="55" dirty="0">
                <a:latin typeface="LM Mono 10"/>
                <a:cs typeface="LM Mono 10"/>
              </a:rPr>
              <a:t>empty</a:t>
            </a:r>
            <a:r>
              <a:rPr sz="900" spc="-335" dirty="0">
                <a:latin typeface="LM Mono 10"/>
                <a:cs typeface="LM Mono 10"/>
              </a:rPr>
              <a:t> </a:t>
            </a:r>
            <a:r>
              <a:rPr sz="900" spc="25" dirty="0">
                <a:latin typeface="LM Mono 10"/>
                <a:cs typeface="LM Mono 10"/>
              </a:rPr>
              <a:t>()</a:t>
            </a:r>
            <a:r>
              <a:rPr sz="900" spc="215" dirty="0">
                <a:latin typeface="LM Mono 10"/>
                <a:cs typeface="LM Mono 10"/>
              </a:rPr>
              <a:t> </a:t>
            </a:r>
            <a:r>
              <a:rPr sz="900" spc="25" dirty="0">
                <a:latin typeface="LM Mono 10"/>
                <a:cs typeface="LM Mono 10"/>
              </a:rPr>
              <a:t>||</a:t>
            </a:r>
            <a:r>
              <a:rPr sz="900" spc="240" dirty="0">
                <a:latin typeface="LM Mono 10"/>
                <a:cs typeface="LM Mono 10"/>
              </a:rPr>
              <a:t> </a:t>
            </a:r>
            <a:r>
              <a:rPr sz="900" spc="65" dirty="0">
                <a:latin typeface="LM Mono 10"/>
                <a:cs typeface="LM Mono 10"/>
              </a:rPr>
              <a:t>current</a:t>
            </a:r>
            <a:r>
              <a:rPr sz="900" spc="-345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)</a:t>
            </a:r>
            <a:r>
              <a:rPr sz="900" spc="180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{</a:t>
            </a:r>
            <a:endParaRPr sz="900">
              <a:latin typeface="LM Mono 10"/>
              <a:cs typeface="LM Mono 10"/>
            </a:endParaRPr>
          </a:p>
          <a:p>
            <a:pPr marL="840105" indent="-769620">
              <a:lnSpc>
                <a:spcPct val="100000"/>
              </a:lnSpc>
              <a:spcBef>
                <a:spcPts val="15"/>
              </a:spcBef>
              <a:buClr>
                <a:srgbClr val="3F3F3F"/>
              </a:buClr>
              <a:buFont typeface="LM Sans 9"/>
              <a:buAutoNum type="arabicPlain"/>
              <a:tabLst>
                <a:tab pos="838835" algn="l"/>
                <a:tab pos="840740" algn="l"/>
              </a:tabLst>
            </a:pPr>
            <a:r>
              <a:rPr sz="900" spc="45" dirty="0">
                <a:solidFill>
                  <a:srgbClr val="2727FF"/>
                </a:solidFill>
                <a:latin typeface="LM Mono 10"/>
                <a:cs typeface="LM Mono 10"/>
              </a:rPr>
              <a:t>while</a:t>
            </a:r>
            <a:r>
              <a:rPr sz="900" spc="45" dirty="0">
                <a:latin typeface="LM Mono 10"/>
                <a:cs typeface="LM Mono 10"/>
              </a:rPr>
              <a:t>(</a:t>
            </a:r>
            <a:r>
              <a:rPr sz="900" spc="-350" dirty="0">
                <a:latin typeface="LM Mono 10"/>
                <a:cs typeface="LM Mono 10"/>
              </a:rPr>
              <a:t> </a:t>
            </a:r>
            <a:r>
              <a:rPr sz="900" spc="65" dirty="0">
                <a:latin typeface="LM Mono 10"/>
                <a:cs typeface="LM Mono 10"/>
              </a:rPr>
              <a:t>current</a:t>
            </a:r>
            <a:r>
              <a:rPr sz="900" spc="-345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)</a:t>
            </a:r>
            <a:r>
              <a:rPr sz="900" spc="185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{</a:t>
            </a:r>
            <a:endParaRPr sz="900">
              <a:latin typeface="LM Mono 10"/>
              <a:cs typeface="LM Mono 10"/>
            </a:endParaRPr>
          </a:p>
          <a:p>
            <a:pPr marL="1122680" indent="-1052195">
              <a:lnSpc>
                <a:spcPct val="100000"/>
              </a:lnSpc>
              <a:spcBef>
                <a:spcPts val="15"/>
              </a:spcBef>
              <a:buClr>
                <a:srgbClr val="3F3F3F"/>
              </a:buClr>
              <a:buFont typeface="LM Sans 9"/>
              <a:buAutoNum type="arabicPlain"/>
              <a:tabLst>
                <a:tab pos="1122680" algn="l"/>
                <a:tab pos="1123315" algn="l"/>
              </a:tabLst>
            </a:pPr>
            <a:r>
              <a:rPr sz="900" spc="40" dirty="0">
                <a:latin typeface="LM Mono 10"/>
                <a:cs typeface="LM Mono 10"/>
              </a:rPr>
              <a:t>s.</a:t>
            </a:r>
            <a:r>
              <a:rPr sz="900" spc="-355" dirty="0">
                <a:latin typeface="LM Mono 10"/>
                <a:cs typeface="LM Mono 10"/>
              </a:rPr>
              <a:t> </a:t>
            </a:r>
            <a:r>
              <a:rPr sz="900" spc="50" dirty="0">
                <a:latin typeface="LM Mono 10"/>
                <a:cs typeface="LM Mono 10"/>
              </a:rPr>
              <a:t>push</a:t>
            </a:r>
            <a:r>
              <a:rPr sz="900" spc="-350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(</a:t>
            </a:r>
            <a:r>
              <a:rPr sz="900" spc="-345" dirty="0">
                <a:latin typeface="LM Mono 10"/>
                <a:cs typeface="LM Mono 10"/>
              </a:rPr>
              <a:t> </a:t>
            </a:r>
            <a:r>
              <a:rPr sz="900" spc="65" dirty="0">
                <a:latin typeface="LM Mono 10"/>
                <a:cs typeface="LM Mono 10"/>
              </a:rPr>
              <a:t>current</a:t>
            </a:r>
            <a:r>
              <a:rPr sz="900" spc="-345" dirty="0">
                <a:latin typeface="LM Mono 10"/>
                <a:cs typeface="LM Mono 10"/>
              </a:rPr>
              <a:t> </a:t>
            </a:r>
            <a:r>
              <a:rPr sz="900" spc="40" dirty="0">
                <a:latin typeface="LM Mono 10"/>
                <a:cs typeface="LM Mono 10"/>
              </a:rPr>
              <a:t>);</a:t>
            </a:r>
            <a:endParaRPr sz="900">
              <a:latin typeface="LM Mono 10"/>
              <a:cs typeface="LM Mono 10"/>
            </a:endParaRPr>
          </a:p>
          <a:p>
            <a:pPr marL="1127125" indent="-1056640">
              <a:lnSpc>
                <a:spcPct val="100000"/>
              </a:lnSpc>
              <a:spcBef>
                <a:spcPts val="15"/>
              </a:spcBef>
              <a:buClr>
                <a:srgbClr val="3F3F3F"/>
              </a:buClr>
              <a:buFont typeface="LM Sans 9"/>
              <a:buAutoNum type="arabicPlain"/>
              <a:tabLst>
                <a:tab pos="1127125" algn="l"/>
                <a:tab pos="1127760" algn="l"/>
              </a:tabLst>
            </a:pPr>
            <a:r>
              <a:rPr sz="900" spc="65" dirty="0">
                <a:latin typeface="LM Mono 10"/>
                <a:cs typeface="LM Mono 10"/>
              </a:rPr>
              <a:t>current</a:t>
            </a:r>
            <a:r>
              <a:rPr sz="900" spc="215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=</a:t>
            </a:r>
            <a:r>
              <a:rPr sz="900" spc="204" dirty="0">
                <a:latin typeface="LM Mono 10"/>
                <a:cs typeface="LM Mono 10"/>
              </a:rPr>
              <a:t> </a:t>
            </a:r>
            <a:r>
              <a:rPr sz="900" spc="55" dirty="0">
                <a:latin typeface="LM Mono 10"/>
                <a:cs typeface="LM Mono 10"/>
              </a:rPr>
              <a:t>current</a:t>
            </a:r>
            <a:r>
              <a:rPr sz="900" spc="-280" dirty="0">
                <a:latin typeface="LM Mono 10"/>
                <a:cs typeface="LM Mono 10"/>
              </a:rPr>
              <a:t> </a:t>
            </a:r>
            <a:r>
              <a:rPr sz="900" spc="40" dirty="0">
                <a:latin typeface="LM Mono 10"/>
                <a:cs typeface="LM Mono 10"/>
              </a:rPr>
              <a:t>-&gt;</a:t>
            </a:r>
            <a:r>
              <a:rPr sz="900" spc="-355" dirty="0">
                <a:latin typeface="LM Mono 10"/>
                <a:cs typeface="LM Mono 10"/>
              </a:rPr>
              <a:t> </a:t>
            </a:r>
            <a:r>
              <a:rPr sz="900" spc="50" dirty="0">
                <a:latin typeface="LM Mono 10"/>
                <a:cs typeface="LM Mono 10"/>
              </a:rPr>
              <a:t>left</a:t>
            </a:r>
            <a:r>
              <a:rPr sz="900" spc="-350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;</a:t>
            </a:r>
            <a:endParaRPr sz="900">
              <a:latin typeface="LM Mono 10"/>
              <a:cs typeface="LM Mono 10"/>
            </a:endParaRPr>
          </a:p>
          <a:p>
            <a:pPr marL="71120">
              <a:lnSpc>
                <a:spcPct val="100000"/>
              </a:lnSpc>
              <a:spcBef>
                <a:spcPts val="15"/>
              </a:spcBef>
              <a:tabLst>
                <a:tab pos="835660" algn="l"/>
              </a:tabLst>
            </a:pPr>
            <a:r>
              <a:rPr sz="900" spc="-5" dirty="0">
                <a:solidFill>
                  <a:srgbClr val="3F3F3F"/>
                </a:solidFill>
                <a:latin typeface="LM Sans 9"/>
                <a:cs typeface="LM Sans 9"/>
              </a:rPr>
              <a:t>9	</a:t>
            </a:r>
            <a:r>
              <a:rPr sz="900" spc="-5" dirty="0">
                <a:latin typeface="LM Mono 10"/>
                <a:cs typeface="LM Mono 10"/>
              </a:rPr>
              <a:t>}</a:t>
            </a:r>
            <a:endParaRPr sz="900">
              <a:latin typeface="LM Mono 10"/>
              <a:cs typeface="LM Mono 10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840105" algn="l"/>
              </a:tabLst>
            </a:pPr>
            <a:r>
              <a:rPr sz="900" spc="-5" dirty="0">
                <a:solidFill>
                  <a:srgbClr val="3F3F3F"/>
                </a:solidFill>
                <a:latin typeface="LM Sans 9"/>
                <a:cs typeface="LM Sans 9"/>
              </a:rPr>
              <a:t>10	</a:t>
            </a:r>
            <a:r>
              <a:rPr sz="900" spc="65" dirty="0">
                <a:latin typeface="LM Mono 10"/>
                <a:cs typeface="LM Mono 10"/>
              </a:rPr>
              <a:t>current </a:t>
            </a:r>
            <a:r>
              <a:rPr sz="900" spc="-5" dirty="0">
                <a:latin typeface="LM Mono 10"/>
                <a:cs typeface="LM Mono 10"/>
              </a:rPr>
              <a:t>= </a:t>
            </a:r>
            <a:r>
              <a:rPr sz="900" spc="40" dirty="0">
                <a:latin typeface="LM Mono 10"/>
                <a:cs typeface="LM Mono 10"/>
              </a:rPr>
              <a:t>s. top</a:t>
            </a:r>
            <a:r>
              <a:rPr sz="900" spc="-400" dirty="0">
                <a:latin typeface="LM Mono 10"/>
                <a:cs typeface="LM Mono 10"/>
              </a:rPr>
              <a:t> </a:t>
            </a:r>
            <a:r>
              <a:rPr sz="900" spc="50" dirty="0">
                <a:latin typeface="LM Mono 10"/>
                <a:cs typeface="LM Mono 10"/>
              </a:rPr>
              <a:t>();</a:t>
            </a:r>
            <a:endParaRPr sz="900">
              <a:latin typeface="LM Mono 10"/>
              <a:cs typeface="LM Mono 10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5" dirty="0">
                <a:solidFill>
                  <a:srgbClr val="3F3F3F"/>
                </a:solidFill>
                <a:latin typeface="LM Sans 9"/>
                <a:cs typeface="LM Sans 9"/>
              </a:rPr>
              <a:t>11</a:t>
            </a:r>
            <a:endParaRPr sz="900">
              <a:latin typeface="LM Sans 9"/>
              <a:cs typeface="LM Sans 9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15087" y="2307856"/>
            <a:ext cx="4297680" cy="739140"/>
            <a:chOff x="215087" y="2307856"/>
            <a:chExt cx="4297680" cy="739140"/>
          </a:xfrm>
        </p:grpSpPr>
        <p:sp>
          <p:nvSpPr>
            <p:cNvPr id="36" name="object 36"/>
            <p:cNvSpPr/>
            <p:nvPr/>
          </p:nvSpPr>
          <p:spPr>
            <a:xfrm>
              <a:off x="217627" y="2307856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509947" y="2307856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17627" y="2447036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509947" y="2447036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17627" y="2586215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509947" y="2586215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17627" y="2725394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509947" y="2725394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17627" y="2864573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509947" y="2864573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17627" y="3003753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15087" y="3044240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58114" y="3044240"/>
              <a:ext cx="4211955" cy="0"/>
            </a:xfrm>
            <a:custGeom>
              <a:avLst/>
              <a:gdLst/>
              <a:ahLst/>
              <a:cxnLst/>
              <a:rect l="l" t="t" r="r" b="b"/>
              <a:pathLst>
                <a:path w="4211955">
                  <a:moveTo>
                    <a:pt x="0" y="0"/>
                  </a:moveTo>
                  <a:lnTo>
                    <a:pt x="421134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469460" y="3044240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509947" y="3003753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827405" y="2139315"/>
            <a:ext cx="2815590" cy="8489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68605" marR="5080" indent="-256540">
              <a:lnSpc>
                <a:spcPct val="101000"/>
              </a:lnSpc>
              <a:spcBef>
                <a:spcPts val="80"/>
              </a:spcBef>
            </a:pPr>
            <a:r>
              <a:rPr sz="900" spc="25" dirty="0">
                <a:solidFill>
                  <a:srgbClr val="2727FF"/>
                </a:solidFill>
                <a:latin typeface="LM Mono 10"/>
                <a:cs typeface="LM Mono 10"/>
              </a:rPr>
              <a:t>if</a:t>
            </a:r>
            <a:r>
              <a:rPr lang="en-US" sz="900" spc="25" dirty="0">
                <a:solidFill>
                  <a:srgbClr val="2727FF"/>
                </a:solidFill>
                <a:latin typeface="LM Mono 10"/>
                <a:cs typeface="LM Mono 10"/>
              </a:rPr>
              <a:t> </a:t>
            </a:r>
            <a:r>
              <a:rPr sz="900" spc="25" dirty="0">
                <a:latin typeface="LM Mono 10"/>
                <a:cs typeface="LM Mono 10"/>
              </a:rPr>
              <a:t>(!</a:t>
            </a:r>
            <a:r>
              <a:rPr sz="900" spc="-340" dirty="0">
                <a:latin typeface="LM Mono 10"/>
                <a:cs typeface="LM Mono 10"/>
              </a:rPr>
              <a:t> </a:t>
            </a:r>
            <a:r>
              <a:rPr sz="900" spc="55" dirty="0">
                <a:latin typeface="LM Mono 10"/>
                <a:cs typeface="LM Mono 10"/>
              </a:rPr>
              <a:t>current</a:t>
            </a:r>
            <a:r>
              <a:rPr sz="900" spc="-280" dirty="0">
                <a:latin typeface="LM Mono 10"/>
                <a:cs typeface="LM Mono 10"/>
              </a:rPr>
              <a:t> </a:t>
            </a:r>
            <a:r>
              <a:rPr sz="900" spc="40" dirty="0">
                <a:latin typeface="LM Mono 10"/>
                <a:cs typeface="LM Mono 10"/>
              </a:rPr>
              <a:t>-&gt;</a:t>
            </a:r>
            <a:r>
              <a:rPr sz="900" spc="-350" dirty="0">
                <a:latin typeface="LM Mono 10"/>
                <a:cs typeface="LM Mono 10"/>
              </a:rPr>
              <a:t> </a:t>
            </a:r>
            <a:r>
              <a:rPr sz="900" spc="55" dirty="0">
                <a:latin typeface="LM Mono 10"/>
                <a:cs typeface="LM Mono 10"/>
              </a:rPr>
              <a:t>right</a:t>
            </a:r>
            <a:r>
              <a:rPr sz="900" spc="235" dirty="0">
                <a:latin typeface="LM Mono 10"/>
                <a:cs typeface="LM Mono 10"/>
              </a:rPr>
              <a:t> </a:t>
            </a:r>
            <a:r>
              <a:rPr sz="900" spc="25" dirty="0">
                <a:latin typeface="LM Mono 10"/>
                <a:cs typeface="LM Mono 10"/>
              </a:rPr>
              <a:t>||</a:t>
            </a:r>
            <a:r>
              <a:rPr sz="900" spc="229" dirty="0">
                <a:latin typeface="LM Mono 10"/>
                <a:cs typeface="LM Mono 10"/>
              </a:rPr>
              <a:t> </a:t>
            </a:r>
            <a:r>
              <a:rPr sz="900" spc="55" dirty="0">
                <a:latin typeface="LM Mono 10"/>
                <a:cs typeface="LM Mono 10"/>
              </a:rPr>
              <a:t>current</a:t>
            </a:r>
            <a:r>
              <a:rPr sz="900" spc="-280" dirty="0">
                <a:latin typeface="LM Mono 10"/>
                <a:cs typeface="LM Mono 10"/>
              </a:rPr>
              <a:t> </a:t>
            </a:r>
            <a:r>
              <a:rPr sz="900" spc="40" dirty="0">
                <a:latin typeface="LM Mono 10"/>
                <a:cs typeface="LM Mono 10"/>
              </a:rPr>
              <a:t>-&gt;</a:t>
            </a:r>
            <a:r>
              <a:rPr sz="900" spc="-350" dirty="0">
                <a:latin typeface="LM Mono 10"/>
                <a:cs typeface="LM Mono 10"/>
              </a:rPr>
              <a:t> </a:t>
            </a:r>
            <a:r>
              <a:rPr sz="900" spc="55" dirty="0">
                <a:latin typeface="LM Mono 10"/>
                <a:cs typeface="LM Mono 10"/>
              </a:rPr>
              <a:t>right</a:t>
            </a:r>
            <a:r>
              <a:rPr sz="900" spc="235" dirty="0">
                <a:latin typeface="LM Mono 10"/>
                <a:cs typeface="LM Mono 10"/>
              </a:rPr>
              <a:t> </a:t>
            </a:r>
            <a:r>
              <a:rPr sz="900" spc="25" dirty="0">
                <a:latin typeface="LM Mono 10"/>
                <a:cs typeface="LM Mono 10"/>
              </a:rPr>
              <a:t>==  </a:t>
            </a:r>
            <a:r>
              <a:rPr sz="900" spc="60" dirty="0">
                <a:latin typeface="LM Mono 10"/>
                <a:cs typeface="LM Mono 10"/>
              </a:rPr>
              <a:t>last</a:t>
            </a:r>
            <a:r>
              <a:rPr sz="900" spc="70" dirty="0">
                <a:latin typeface="LM Mono 10"/>
                <a:cs typeface="LM Mono 10"/>
              </a:rPr>
              <a:t>Visited</a:t>
            </a:r>
            <a:r>
              <a:rPr sz="900" spc="-340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)</a:t>
            </a:r>
            <a:r>
              <a:rPr sz="900" spc="180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{</a:t>
            </a:r>
            <a:endParaRPr sz="900">
              <a:latin typeface="LM Mono 10"/>
              <a:cs typeface="LM Mono 10"/>
            </a:endParaRPr>
          </a:p>
          <a:p>
            <a:pPr marL="301625" marR="273685" indent="-4445">
              <a:lnSpc>
                <a:spcPct val="101000"/>
              </a:lnSpc>
            </a:pPr>
            <a:r>
              <a:rPr sz="900" spc="40" dirty="0">
                <a:latin typeface="LM Mono 10"/>
                <a:cs typeface="LM Mono 10"/>
              </a:rPr>
              <a:t>s. pop </a:t>
            </a:r>
            <a:r>
              <a:rPr sz="900" spc="50" dirty="0">
                <a:latin typeface="LM Mono 10"/>
                <a:cs typeface="LM Mono 10"/>
              </a:rPr>
              <a:t>();  </a:t>
            </a:r>
            <a:endParaRPr sz="900" spc="50" dirty="0">
              <a:latin typeface="LM Mono 10"/>
              <a:cs typeface="LM Mono 10"/>
            </a:endParaRPr>
          </a:p>
          <a:p>
            <a:pPr marL="301625" marR="273685" indent="-4445">
              <a:lnSpc>
                <a:spcPct val="101000"/>
              </a:lnSpc>
            </a:pPr>
            <a:r>
              <a:rPr sz="900" spc="60" dirty="0">
                <a:latin typeface="LM Mono 10"/>
                <a:cs typeface="LM Mono 10"/>
              </a:rPr>
              <a:t>result</a:t>
            </a:r>
            <a:r>
              <a:rPr sz="900" spc="-345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.</a:t>
            </a:r>
            <a:r>
              <a:rPr sz="900" spc="-345" dirty="0">
                <a:latin typeface="LM Mono 10"/>
                <a:cs typeface="LM Mono 10"/>
              </a:rPr>
              <a:t> </a:t>
            </a:r>
            <a:r>
              <a:rPr sz="900" spc="60" dirty="0">
                <a:latin typeface="LM Mono 10"/>
                <a:cs typeface="LM Mono 10"/>
              </a:rPr>
              <a:t>push_</a:t>
            </a:r>
            <a:r>
              <a:rPr sz="900" spc="-390" dirty="0">
                <a:latin typeface="LM Mono 10"/>
                <a:cs typeface="LM Mono 10"/>
              </a:rPr>
              <a:t> </a:t>
            </a:r>
            <a:r>
              <a:rPr sz="900" spc="55" dirty="0">
                <a:latin typeface="LM Mono 10"/>
                <a:cs typeface="LM Mono 10"/>
              </a:rPr>
              <a:t>back</a:t>
            </a:r>
            <a:r>
              <a:rPr sz="900" spc="-340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(</a:t>
            </a:r>
            <a:r>
              <a:rPr sz="900" spc="-355" dirty="0">
                <a:latin typeface="LM Mono 10"/>
                <a:cs typeface="LM Mono 10"/>
              </a:rPr>
              <a:t> </a:t>
            </a:r>
            <a:r>
              <a:rPr sz="900" spc="55" dirty="0">
                <a:latin typeface="LM Mono 10"/>
                <a:cs typeface="LM Mono 10"/>
              </a:rPr>
              <a:t>current</a:t>
            </a:r>
            <a:r>
              <a:rPr sz="900" spc="-275" dirty="0">
                <a:latin typeface="LM Mono 10"/>
                <a:cs typeface="LM Mono 10"/>
              </a:rPr>
              <a:t> </a:t>
            </a:r>
            <a:r>
              <a:rPr sz="900" spc="40" dirty="0">
                <a:latin typeface="LM Mono 10"/>
                <a:cs typeface="LM Mono 10"/>
              </a:rPr>
              <a:t>-&gt;</a:t>
            </a:r>
            <a:r>
              <a:rPr sz="900" spc="-355" dirty="0">
                <a:latin typeface="LM Mono 10"/>
                <a:cs typeface="LM Mono 10"/>
              </a:rPr>
              <a:t> </a:t>
            </a:r>
            <a:r>
              <a:rPr sz="900" spc="40" dirty="0">
                <a:latin typeface="LM Mono 10"/>
                <a:cs typeface="LM Mono 10"/>
              </a:rPr>
              <a:t>val</a:t>
            </a:r>
            <a:r>
              <a:rPr sz="900" spc="-355" dirty="0">
                <a:latin typeface="LM Mono 10"/>
                <a:cs typeface="LM Mono 10"/>
              </a:rPr>
              <a:t> </a:t>
            </a:r>
            <a:r>
              <a:rPr sz="900" spc="40" dirty="0">
                <a:latin typeface="LM Mono 10"/>
                <a:cs typeface="LM Mono 10"/>
              </a:rPr>
              <a:t>);  </a:t>
            </a:r>
            <a:r>
              <a:rPr sz="900" spc="60" dirty="0">
                <a:latin typeface="LM Mono 10"/>
                <a:cs typeface="LM Mono 10"/>
              </a:rPr>
              <a:t>last</a:t>
            </a:r>
            <a:r>
              <a:rPr sz="900" spc="70" dirty="0">
                <a:latin typeface="LM Mono 10"/>
                <a:cs typeface="LM Mono 10"/>
              </a:rPr>
              <a:t>Visited </a:t>
            </a:r>
            <a:r>
              <a:rPr sz="900" spc="-5" dirty="0">
                <a:latin typeface="LM Mono 10"/>
                <a:cs typeface="LM Mono 10"/>
              </a:rPr>
              <a:t>= </a:t>
            </a:r>
            <a:r>
              <a:rPr sz="900" spc="65" dirty="0">
                <a:latin typeface="LM Mono 10"/>
                <a:cs typeface="LM Mono 10"/>
              </a:rPr>
              <a:t>current</a:t>
            </a:r>
            <a:r>
              <a:rPr sz="900" spc="-434" dirty="0">
                <a:latin typeface="LM Mono 10"/>
                <a:cs typeface="LM Mono 10"/>
              </a:rPr>
              <a:t> </a:t>
            </a:r>
            <a:r>
              <a:rPr sz="900" spc="-5" dirty="0">
                <a:latin typeface="LM Mono 10"/>
                <a:cs typeface="LM Mono 10"/>
              </a:rPr>
              <a:t>;</a:t>
            </a:r>
            <a:endParaRPr sz="900">
              <a:latin typeface="LM Mono 10"/>
              <a:cs typeface="LM Mono 10"/>
            </a:endParaRPr>
          </a:p>
          <a:p>
            <a:pPr marL="301625">
              <a:lnSpc>
                <a:spcPct val="100000"/>
              </a:lnSpc>
              <a:spcBef>
                <a:spcPts val="15"/>
              </a:spcBef>
            </a:pPr>
            <a:r>
              <a:rPr sz="900" spc="65" dirty="0">
                <a:latin typeface="LM Mono 10"/>
                <a:cs typeface="LM Mono 10"/>
              </a:rPr>
              <a:t>current </a:t>
            </a:r>
            <a:r>
              <a:rPr sz="900" spc="-5" dirty="0">
                <a:latin typeface="LM Mono 10"/>
                <a:cs typeface="LM Mono 10"/>
              </a:rPr>
              <a:t>=</a:t>
            </a:r>
            <a:r>
              <a:rPr sz="900" spc="-45" dirty="0">
                <a:latin typeface="LM Mono 10"/>
                <a:cs typeface="LM Mono 10"/>
              </a:rPr>
              <a:t> </a:t>
            </a:r>
            <a:r>
              <a:rPr sz="900" spc="65" dirty="0">
                <a:latin typeface="LM Mono 10"/>
                <a:cs typeface="LM Mono 10"/>
              </a:rPr>
              <a:t>nullptr </a:t>
            </a:r>
            <a:r>
              <a:rPr sz="900" spc="-5" dirty="0">
                <a:latin typeface="LM Mono 10"/>
                <a:cs typeface="LM Mono 10"/>
              </a:rPr>
              <a:t>;</a:t>
            </a:r>
            <a:endParaRPr sz="900">
              <a:latin typeface="LM Mono 10"/>
              <a:cs typeface="LM Mono 10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905" y="2418080"/>
            <a:ext cx="309880" cy="572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" dirty="0">
                <a:solidFill>
                  <a:srgbClr val="3F3F3F"/>
                </a:solidFill>
                <a:latin typeface="LM Sans 9"/>
                <a:cs typeface="LM Sans 9"/>
              </a:rPr>
              <a:t>12</a:t>
            </a:r>
            <a:endParaRPr sz="900">
              <a:latin typeface="LM Sans 9"/>
              <a:cs typeface="LM Sans 9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5" dirty="0">
                <a:solidFill>
                  <a:srgbClr val="3F3F3F"/>
                </a:solidFill>
                <a:latin typeface="LM Sans 9"/>
                <a:cs typeface="LM Sans 9"/>
              </a:rPr>
              <a:t>13</a:t>
            </a:r>
            <a:endParaRPr sz="900">
              <a:latin typeface="LM Sans 9"/>
              <a:cs typeface="LM Sans 9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5" dirty="0">
                <a:solidFill>
                  <a:srgbClr val="3F3F3F"/>
                </a:solidFill>
                <a:latin typeface="LM Sans 9"/>
                <a:cs typeface="LM Sans 9"/>
              </a:rPr>
              <a:t>14</a:t>
            </a:r>
            <a:endParaRPr sz="900">
              <a:latin typeface="LM Sans 9"/>
              <a:cs typeface="LM Sans 9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spc="-5" dirty="0">
                <a:solidFill>
                  <a:srgbClr val="3F3F3F"/>
                </a:solidFill>
                <a:latin typeface="LM Sans 9"/>
                <a:cs typeface="LM Sans 9"/>
              </a:rPr>
              <a:t>15</a:t>
            </a:r>
            <a:endParaRPr sz="900">
              <a:latin typeface="LM Sans 9"/>
              <a:cs typeface="LM Sans 9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4" name="object 54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58" name="object 58"/>
          <p:cNvSpPr txBox="1"/>
          <p:nvPr/>
        </p:nvSpPr>
        <p:spPr>
          <a:xfrm>
            <a:off x="1958606" y="3351784"/>
            <a:ext cx="690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CSC3100 </a:t>
            </a:r>
            <a:r>
              <a:rPr sz="600" spc="-1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Tutorial</a:t>
            </a:r>
            <a:r>
              <a:rPr sz="600" spc="-2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7</a:t>
            </a:r>
            <a:endParaRPr sz="600">
              <a:latin typeface="LM Sans 8"/>
              <a:cs typeface="LM Sans 8"/>
            </a:endParaRPr>
          </a:p>
        </p:txBody>
      </p:sp>
      <p:sp>
        <p:nvSpPr>
          <p:cNvPr id="60" name="object 13"/>
          <p:cNvSpPr txBox="1"/>
          <p:nvPr/>
        </p:nvSpPr>
        <p:spPr>
          <a:xfrm>
            <a:off x="3600450" y="3374390"/>
            <a:ext cx="679450" cy="86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2022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/10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/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3</a:t>
            </a:r>
            <a:endParaRPr lang="en-US" sz="600" spc="-5" dirty="0">
              <a:solidFill>
                <a:srgbClr val="FFFFFF"/>
              </a:solidFill>
              <a:latin typeface="LM Sans 8"/>
              <a:cs typeface="LM Sans 8"/>
            </a:endParaRPr>
          </a:p>
        </p:txBody>
      </p:sp>
      <p:sp>
        <p:nvSpPr>
          <p:cNvPr id="59" name="Text Box 58"/>
          <p:cNvSpPr txBox="1"/>
          <p:nvPr/>
        </p:nvSpPr>
        <p:spPr>
          <a:xfrm>
            <a:off x="171450" y="502285"/>
            <a:ext cx="97663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latin typeface="Times New Roman Regular" panose="02020603050405020304" charset="0"/>
                <a:cs typeface="Times New Roman Regular" panose="02020603050405020304" charset="0"/>
              </a:rPr>
              <a:t>C++ Version</a:t>
            </a:r>
            <a:endParaRPr lang="en-US" sz="12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250" y="29210"/>
            <a:ext cx="2599055" cy="4432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5"/>
              </a:spcBef>
            </a:pPr>
            <a:r>
              <a:rPr sz="1400" spc="5" dirty="0">
                <a:solidFill>
                  <a:srgbClr val="FFFFFF"/>
                </a:solidFill>
                <a:latin typeface="LM Sans 12"/>
                <a:cs typeface="LM Sans 12"/>
              </a:rPr>
              <a:t>Binary</a:t>
            </a:r>
            <a:r>
              <a:rPr sz="1400" dirty="0">
                <a:solidFill>
                  <a:srgbClr val="FFFFFF"/>
                </a:solidFill>
                <a:latin typeface="LM Sans 12"/>
                <a:cs typeface="LM Sans 12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LM Sans 12"/>
                <a:cs typeface="LM Sans 12"/>
              </a:rPr>
              <a:t>Tree</a:t>
            </a:r>
            <a:endParaRPr sz="1400">
              <a:latin typeface="LM Sans 12"/>
              <a:cs typeface="LM Sans 12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900" spc="-15" dirty="0">
                <a:solidFill>
                  <a:srgbClr val="FFFFFF"/>
                </a:solidFill>
                <a:latin typeface="LM Sans 9"/>
                <a:cs typeface="LM Sans 9"/>
              </a:rPr>
              <a:t>How </a:t>
            </a:r>
            <a:r>
              <a:rPr sz="900" spc="-5" dirty="0">
                <a:solidFill>
                  <a:srgbClr val="FFFFFF"/>
                </a:solidFill>
                <a:latin typeface="LM Sans 9"/>
                <a:cs typeface="LM Sans 9"/>
              </a:rPr>
              <a:t>to traverse a tree using</a:t>
            </a:r>
            <a:r>
              <a:rPr sz="900" spc="-15" dirty="0">
                <a:solidFill>
                  <a:srgbClr val="FFFFFF"/>
                </a:solidFill>
                <a:latin typeface="LM Sans 9"/>
                <a:cs typeface="LM Sans 9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LM Sans 9"/>
                <a:cs typeface="LM Sans 9"/>
              </a:rPr>
              <a:t>stack</a:t>
            </a:r>
            <a:endParaRPr sz="900">
              <a:latin typeface="LM Sans 9"/>
              <a:cs typeface="LM Sans 9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2547" y="1343723"/>
            <a:ext cx="4302760" cy="744220"/>
            <a:chOff x="212547" y="1343723"/>
            <a:chExt cx="4302760" cy="744220"/>
          </a:xfrm>
        </p:grpSpPr>
        <p:sp>
          <p:nvSpPr>
            <p:cNvPr id="5" name="object 5"/>
            <p:cNvSpPr/>
            <p:nvPr/>
          </p:nvSpPr>
          <p:spPr>
            <a:xfrm>
              <a:off x="215087" y="1348790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58114" y="1348790"/>
              <a:ext cx="4211955" cy="0"/>
            </a:xfrm>
            <a:custGeom>
              <a:avLst/>
              <a:gdLst/>
              <a:ahLst/>
              <a:cxnLst/>
              <a:rect l="l" t="t" r="r" b="b"/>
              <a:pathLst>
                <a:path w="4211955">
                  <a:moveTo>
                    <a:pt x="0" y="0"/>
                  </a:moveTo>
                  <a:lnTo>
                    <a:pt x="421134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469460" y="1348790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09947" y="1346263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509947" y="1389278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509947" y="1528457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09947" y="1667637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09947" y="1806816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09947" y="1945995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17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-17195" y="1348790"/>
          <a:ext cx="2955924" cy="776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950"/>
                <a:gridCol w="219709"/>
                <a:gridCol w="287020"/>
                <a:gridCol w="2214245"/>
              </a:tblGrid>
              <a:tr h="178476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5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16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2349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35" dirty="0">
                          <a:latin typeface="LM Mono 10"/>
                          <a:cs typeface="LM Mono 10"/>
                        </a:rPr>
                        <a:t>}</a:t>
                      </a:r>
                      <a:r>
                        <a:rPr sz="900" spc="35" dirty="0">
                          <a:solidFill>
                            <a:srgbClr val="2727FF"/>
                          </a:solidFill>
                          <a:latin typeface="LM Mono 10"/>
                          <a:cs typeface="LM Mono 10"/>
                        </a:rPr>
                        <a:t>else</a:t>
                      </a:r>
                      <a:r>
                        <a:rPr sz="900" spc="35" dirty="0">
                          <a:latin typeface="LM Mono 10"/>
                          <a:cs typeface="LM Mono 10"/>
                        </a:rPr>
                        <a:t>{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23495" marB="0"/>
                </a:tc>
              </a:tr>
              <a:tr h="139179">
                <a:tc>
                  <a:txBody>
                    <a:bodyPr/>
                    <a:lstStyle/>
                    <a:p>
                      <a:pPr marL="31750">
                        <a:lnSpc>
                          <a:spcPts val="955"/>
                        </a:lnSpc>
                      </a:pPr>
                      <a:r>
                        <a:rPr sz="900" spc="-5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17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ts val="955"/>
                        </a:lnSpc>
                      </a:pPr>
                      <a:r>
                        <a:rPr sz="900" spc="65" dirty="0">
                          <a:latin typeface="LM Mono 10"/>
                          <a:cs typeface="LM Mono 10"/>
                        </a:rPr>
                        <a:t>current</a:t>
                      </a:r>
                      <a:r>
                        <a:rPr sz="900" spc="204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=</a:t>
                      </a:r>
                      <a:r>
                        <a:rPr sz="900" spc="20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55" dirty="0">
                          <a:latin typeface="LM Mono 10"/>
                          <a:cs typeface="LM Mono 10"/>
                        </a:rPr>
                        <a:t>current</a:t>
                      </a:r>
                      <a:r>
                        <a:rPr sz="900" spc="-28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40" dirty="0">
                          <a:latin typeface="LM Mono 10"/>
                          <a:cs typeface="LM Mono 10"/>
                        </a:rPr>
                        <a:t>-&gt;</a:t>
                      </a:r>
                      <a:r>
                        <a:rPr sz="900" spc="-350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55" dirty="0">
                          <a:latin typeface="LM Mono 10"/>
                          <a:cs typeface="LM Mono 10"/>
                        </a:rPr>
                        <a:t>right</a:t>
                      </a:r>
                      <a:r>
                        <a:rPr sz="900" spc="-355" dirty="0">
                          <a:latin typeface="LM Mono 10"/>
                          <a:cs typeface="LM Mono 10"/>
                        </a:rPr>
                        <a:t> </a:t>
                      </a:r>
                      <a:r>
                        <a:rPr sz="900" spc="-5" dirty="0">
                          <a:latin typeface="LM Mono 10"/>
                          <a:cs typeface="LM Mono 10"/>
                        </a:rPr>
                        <a:t>;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</a:tr>
              <a:tr h="139179">
                <a:tc>
                  <a:txBody>
                    <a:bodyPr/>
                    <a:lstStyle/>
                    <a:p>
                      <a:pPr marL="31750">
                        <a:lnSpc>
                          <a:spcPts val="955"/>
                        </a:lnSpc>
                      </a:pPr>
                      <a:r>
                        <a:rPr sz="900" spc="-5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18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955"/>
                        </a:lnSpc>
                      </a:pPr>
                      <a:r>
                        <a:rPr sz="900" dirty="0">
                          <a:latin typeface="LM Mono 10"/>
                          <a:cs typeface="LM Mono 10"/>
                        </a:rPr>
                        <a:t>}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</a:tr>
              <a:tr h="139179">
                <a:tc>
                  <a:txBody>
                    <a:bodyPr/>
                    <a:lstStyle/>
                    <a:p>
                      <a:pPr marL="31750">
                        <a:lnSpc>
                          <a:spcPts val="955"/>
                        </a:lnSpc>
                      </a:pPr>
                      <a:r>
                        <a:rPr sz="900" spc="-5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19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55"/>
                        </a:lnSpc>
                      </a:pPr>
                      <a:r>
                        <a:rPr sz="900" dirty="0">
                          <a:latin typeface="LM Mono 10"/>
                          <a:cs typeface="LM Mono 10"/>
                        </a:rPr>
                        <a:t>}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180857">
                <a:tc>
                  <a:txBody>
                    <a:bodyPr/>
                    <a:lstStyle/>
                    <a:p>
                      <a:pPr marL="31750">
                        <a:lnSpc>
                          <a:spcPts val="955"/>
                        </a:lnSpc>
                      </a:pPr>
                      <a:r>
                        <a:rPr sz="900" spc="-5" dirty="0">
                          <a:solidFill>
                            <a:srgbClr val="3F3F3F"/>
                          </a:solidFill>
                          <a:latin typeface="LM Sans 9"/>
                          <a:cs typeface="LM Sans 9"/>
                        </a:rPr>
                        <a:t>20</a:t>
                      </a:r>
                      <a:endParaRPr sz="900">
                        <a:latin typeface="LM Sans 9"/>
                        <a:cs typeface="LM Sans 9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955"/>
                        </a:lnSpc>
                      </a:pPr>
                      <a:r>
                        <a:rPr sz="900" dirty="0">
                          <a:latin typeface="LM Mono 10"/>
                          <a:cs typeface="LM Mono 10"/>
                        </a:rPr>
                        <a:t>}</a:t>
                      </a:r>
                      <a:endParaRPr sz="900">
                        <a:latin typeface="LM Mono 10"/>
                        <a:cs typeface="LM Mono 10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grpSp>
        <p:nvGrpSpPr>
          <p:cNvPr id="15" name="object 15"/>
          <p:cNvGrpSpPr/>
          <p:nvPr/>
        </p:nvGrpSpPr>
        <p:grpSpPr>
          <a:xfrm>
            <a:off x="215087" y="2085175"/>
            <a:ext cx="4297680" cy="43180"/>
            <a:chOff x="215087" y="2085175"/>
            <a:chExt cx="4297680" cy="43180"/>
          </a:xfrm>
        </p:grpSpPr>
        <p:sp>
          <p:nvSpPr>
            <p:cNvPr id="16" name="object 16"/>
            <p:cNvSpPr/>
            <p:nvPr/>
          </p:nvSpPr>
          <p:spPr>
            <a:xfrm>
              <a:off x="215087" y="2125662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58114" y="2125662"/>
              <a:ext cx="4211955" cy="0"/>
            </a:xfrm>
            <a:custGeom>
              <a:avLst/>
              <a:gdLst/>
              <a:ahLst/>
              <a:cxnLst/>
              <a:rect l="l" t="t" r="r" b="b"/>
              <a:pathLst>
                <a:path w="4211955">
                  <a:moveTo>
                    <a:pt x="0" y="0"/>
                  </a:moveTo>
                  <a:lnTo>
                    <a:pt x="421134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469460" y="2125662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301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509947" y="2085175"/>
              <a:ext cx="0" cy="43180"/>
            </a:xfrm>
            <a:custGeom>
              <a:avLst/>
              <a:gdLst/>
              <a:ahLst/>
              <a:cxnLst/>
              <a:rect l="l" t="t" r="r" b="b"/>
              <a:pathLst>
                <a:path h="43180">
                  <a:moveTo>
                    <a:pt x="0" y="4301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1" name="object 2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25" name="object 25"/>
          <p:cNvSpPr txBox="1"/>
          <p:nvPr/>
        </p:nvSpPr>
        <p:spPr>
          <a:xfrm>
            <a:off x="1958606" y="3351784"/>
            <a:ext cx="690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CSC3100 </a:t>
            </a:r>
            <a:r>
              <a:rPr sz="600" spc="-1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Tutorial</a:t>
            </a:r>
            <a:r>
              <a:rPr sz="600" spc="-2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7</a:t>
            </a:r>
            <a:endParaRPr sz="600">
              <a:latin typeface="LM Sans 8"/>
              <a:cs typeface="LM Sans 8"/>
            </a:endParaRPr>
          </a:p>
        </p:txBody>
      </p:sp>
      <p:sp>
        <p:nvSpPr>
          <p:cNvPr id="27" name="object 13"/>
          <p:cNvSpPr txBox="1"/>
          <p:nvPr/>
        </p:nvSpPr>
        <p:spPr>
          <a:xfrm>
            <a:off x="3600450" y="3374390"/>
            <a:ext cx="679450" cy="86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2022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/10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/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3</a:t>
            </a:r>
            <a:endParaRPr lang="en-US" sz="600" spc="-5" dirty="0">
              <a:solidFill>
                <a:srgbClr val="FFFFFF"/>
              </a:solidFill>
              <a:latin typeface="LM Sans 8"/>
              <a:cs typeface="LM Sans 8"/>
            </a:endParaRPr>
          </a:p>
        </p:txBody>
      </p:sp>
      <p:sp>
        <p:nvSpPr>
          <p:cNvPr id="44" name="Text Box 43"/>
          <p:cNvSpPr txBox="1"/>
          <p:nvPr/>
        </p:nvSpPr>
        <p:spPr>
          <a:xfrm>
            <a:off x="217805" y="544830"/>
            <a:ext cx="97663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latin typeface="Times New Roman Regular" panose="02020603050405020304" charset="0"/>
                <a:cs typeface="Times New Roman Regular" panose="02020603050405020304" charset="0"/>
              </a:rPr>
              <a:t>C++ Version</a:t>
            </a:r>
            <a:endParaRPr lang="en-US" sz="12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587375"/>
            <a:ext cx="2672715" cy="273558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71450" y="511175"/>
            <a:ext cx="109347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latin typeface="Times New Roman Regular" panose="02020603050405020304" charset="0"/>
                <a:cs typeface="Times New Roman Regular" panose="02020603050405020304" charset="0"/>
              </a:rPr>
              <a:t>python version</a:t>
            </a:r>
            <a:endParaRPr lang="en-US" sz="12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8" name="object 2"/>
          <p:cNvSpPr/>
          <p:nvPr/>
        </p:nvSpPr>
        <p:spPr>
          <a:xfrm>
            <a:off x="0" y="889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p/>
        </p:txBody>
      </p:sp>
      <p:sp>
        <p:nvSpPr>
          <p:cNvPr id="9" name="object 3"/>
          <p:cNvSpPr txBox="1">
            <a:spLocks noGrp="1"/>
          </p:cNvSpPr>
          <p:nvPr>
            <p:ph type="title"/>
          </p:nvPr>
        </p:nvSpPr>
        <p:spPr>
          <a:xfrm>
            <a:off x="95250" y="15240"/>
            <a:ext cx="2741295" cy="4432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p>
            <a:pPr marL="12700">
              <a:lnSpc>
                <a:spcPct val="100000"/>
              </a:lnSpc>
              <a:spcBef>
                <a:spcPts val="485"/>
              </a:spcBef>
            </a:pPr>
            <a:r>
              <a:rPr sz="1400" spc="5" dirty="0">
                <a:solidFill>
                  <a:srgbClr val="FFFFFF"/>
                </a:solidFill>
                <a:latin typeface="LM Sans 12"/>
                <a:cs typeface="LM Sans 12"/>
              </a:rPr>
              <a:t>Binary </a:t>
            </a:r>
            <a:r>
              <a:rPr sz="1400" spc="-15" dirty="0">
                <a:solidFill>
                  <a:srgbClr val="FFFFFF"/>
                </a:solidFill>
                <a:latin typeface="LM Sans 12"/>
                <a:cs typeface="LM Sans 12"/>
              </a:rPr>
              <a:t>Tree</a:t>
            </a:r>
            <a:endParaRPr sz="1400">
              <a:latin typeface="LM Sans 12"/>
              <a:cs typeface="LM Sans 12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900" spc="-15" dirty="0">
                <a:solidFill>
                  <a:srgbClr val="FFFFFF"/>
                </a:solidFill>
                <a:latin typeface="LM Sans 9"/>
                <a:cs typeface="LM Sans 9"/>
              </a:rPr>
              <a:t>How </a:t>
            </a:r>
            <a:r>
              <a:rPr sz="900" spc="-5" dirty="0">
                <a:solidFill>
                  <a:srgbClr val="FFFFFF"/>
                </a:solidFill>
                <a:latin typeface="LM Sans 9"/>
                <a:cs typeface="LM Sans 9"/>
              </a:rPr>
              <a:t>to traverse a tree using recursion</a:t>
            </a:r>
            <a:endParaRPr sz="900">
              <a:latin typeface="LM Sans 9"/>
              <a:cs typeface="LM Sans 9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171450" y="511175"/>
            <a:ext cx="109347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>
                <a:latin typeface="Times New Roman Regular" panose="02020603050405020304" charset="0"/>
                <a:cs typeface="Times New Roman Regular" panose="02020603050405020304" charset="0"/>
              </a:rPr>
              <a:t>python version</a:t>
            </a:r>
            <a:endParaRPr lang="en-US" sz="12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8" name="object 2"/>
          <p:cNvSpPr/>
          <p:nvPr/>
        </p:nvSpPr>
        <p:spPr>
          <a:xfrm>
            <a:off x="0" y="889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p/>
        </p:txBody>
      </p:sp>
      <p:sp>
        <p:nvSpPr>
          <p:cNvPr id="6" name="object 3"/>
          <p:cNvSpPr txBox="1"/>
          <p:nvPr/>
        </p:nvSpPr>
        <p:spPr>
          <a:xfrm>
            <a:off x="95250" y="29210"/>
            <a:ext cx="2599055" cy="4432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5"/>
              </a:spcBef>
            </a:pPr>
            <a:r>
              <a:rPr sz="1400" spc="5" dirty="0">
                <a:solidFill>
                  <a:srgbClr val="FFFFFF"/>
                </a:solidFill>
                <a:latin typeface="LM Sans 12"/>
                <a:cs typeface="LM Sans 12"/>
              </a:rPr>
              <a:t>Binary</a:t>
            </a:r>
            <a:r>
              <a:rPr sz="1400" dirty="0">
                <a:solidFill>
                  <a:srgbClr val="FFFFFF"/>
                </a:solidFill>
                <a:latin typeface="LM Sans 12"/>
                <a:cs typeface="LM Sans 12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LM Sans 12"/>
                <a:cs typeface="LM Sans 12"/>
              </a:rPr>
              <a:t>Tree</a:t>
            </a:r>
            <a:endParaRPr sz="1400">
              <a:latin typeface="LM Sans 12"/>
              <a:cs typeface="LM Sans 12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900" spc="-15" dirty="0">
                <a:solidFill>
                  <a:srgbClr val="FFFFFF"/>
                </a:solidFill>
                <a:latin typeface="LM Sans 9"/>
                <a:cs typeface="LM Sans 9"/>
              </a:rPr>
              <a:t>How </a:t>
            </a:r>
            <a:r>
              <a:rPr sz="900" spc="-5" dirty="0">
                <a:solidFill>
                  <a:srgbClr val="FFFFFF"/>
                </a:solidFill>
                <a:latin typeface="LM Sans 9"/>
                <a:cs typeface="LM Sans 9"/>
              </a:rPr>
              <a:t>to traverse a tree using</a:t>
            </a:r>
            <a:r>
              <a:rPr sz="900" spc="-15" dirty="0">
                <a:solidFill>
                  <a:srgbClr val="FFFFFF"/>
                </a:solidFill>
                <a:latin typeface="LM Sans 9"/>
                <a:cs typeface="LM Sans 9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LM Sans 9"/>
                <a:cs typeface="LM Sans 9"/>
              </a:rPr>
              <a:t>stack</a:t>
            </a:r>
            <a:endParaRPr sz="900">
              <a:latin typeface="LM Sans 9"/>
              <a:cs typeface="LM Sans 9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587375"/>
            <a:ext cx="2532380" cy="27400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59690"/>
            <a:ext cx="1304290" cy="2324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LM Sans 12"/>
                <a:cs typeface="LM Sans 12"/>
              </a:rPr>
              <a:t>Exercise</a:t>
            </a:r>
            <a:endParaRPr sz="1400">
              <a:latin typeface="LM Sans 12"/>
              <a:cs typeface="LM Sans 1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1089" y="1497393"/>
            <a:ext cx="65265" cy="6526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03225" y="1370330"/>
            <a:ext cx="3597910" cy="4356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spc="-5" dirty="0">
                <a:latin typeface="LM Sans 10"/>
                <a:cs typeface="LM Sans 10"/>
              </a:rPr>
              <a:t>Implement </a:t>
            </a:r>
            <a:r>
              <a:rPr sz="1100" spc="-10" dirty="0">
                <a:latin typeface="LM Sans 10"/>
                <a:cs typeface="LM Sans 10"/>
              </a:rPr>
              <a:t>Parallelized Count</a:t>
            </a:r>
            <a:r>
              <a:rPr sz="1100" spc="-15" dirty="0">
                <a:latin typeface="LM Sans 10"/>
                <a:cs typeface="LM Sans 10"/>
              </a:rPr>
              <a:t> </a:t>
            </a:r>
            <a:r>
              <a:rPr sz="1100" spc="-10" dirty="0">
                <a:latin typeface="LM Sans 10"/>
                <a:cs typeface="LM Sans 10"/>
              </a:rPr>
              <a:t>Sorting</a:t>
            </a:r>
            <a:endParaRPr sz="1100">
              <a:latin typeface="LM Sans 10"/>
              <a:cs typeface="LM Sans 10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5" dirty="0">
                <a:latin typeface="LM Sans 10"/>
                <a:cs typeface="LM Sans 10"/>
              </a:rPr>
              <a:t>Implement </a:t>
            </a:r>
            <a:r>
              <a:rPr sz="1100" spc="-15" dirty="0">
                <a:latin typeface="LM Sans 10"/>
                <a:cs typeface="LM Sans 10"/>
              </a:rPr>
              <a:t>preorder </a:t>
            </a:r>
            <a:r>
              <a:rPr sz="1100" spc="-10" dirty="0">
                <a:latin typeface="LM Sans 10"/>
                <a:cs typeface="LM Sans 10"/>
              </a:rPr>
              <a:t>and inorder </a:t>
            </a:r>
            <a:r>
              <a:rPr sz="1100" spc="-5" dirty="0">
                <a:latin typeface="LM Sans 10"/>
                <a:cs typeface="LM Sans 10"/>
              </a:rPr>
              <a:t>traversal using</a:t>
            </a:r>
            <a:r>
              <a:rPr sz="1100" spc="-25" dirty="0">
                <a:latin typeface="LM Sans 10"/>
                <a:cs typeface="LM Sans 10"/>
              </a:rPr>
              <a:t> </a:t>
            </a:r>
            <a:r>
              <a:rPr sz="1100" spc="-5" dirty="0">
                <a:latin typeface="LM Sans 10"/>
                <a:cs typeface="LM Sans 10"/>
              </a:rPr>
              <a:t>stack</a:t>
            </a:r>
            <a:endParaRPr sz="1100">
              <a:latin typeface="LM Sans 10"/>
              <a:cs typeface="LM Sans 1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1089" y="1707426"/>
            <a:ext cx="65265" cy="652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11" name="object 11"/>
          <p:cNvSpPr txBox="1"/>
          <p:nvPr/>
        </p:nvSpPr>
        <p:spPr>
          <a:xfrm>
            <a:off x="1958606" y="3351784"/>
            <a:ext cx="690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LM Sans 8"/>
                <a:cs typeface="LM Sans 8"/>
                <a:hlinkClick r:id="rId3" action="ppaction://hlinksldjump"/>
              </a:rPr>
              <a:t>CSC3100 </a:t>
            </a:r>
            <a:r>
              <a:rPr sz="600" spc="-15" dirty="0">
                <a:solidFill>
                  <a:srgbClr val="FFFFFF"/>
                </a:solidFill>
                <a:latin typeface="LM Sans 8"/>
                <a:cs typeface="LM Sans 8"/>
                <a:hlinkClick r:id="rId3" action="ppaction://hlinksldjump"/>
              </a:rPr>
              <a:t>Tutorial</a:t>
            </a:r>
            <a:r>
              <a:rPr sz="600" spc="-25" dirty="0">
                <a:solidFill>
                  <a:srgbClr val="FFFFFF"/>
                </a:solidFill>
                <a:latin typeface="LM Sans 8"/>
                <a:cs typeface="LM Sans 8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  <a:hlinkClick r:id="rId3" action="ppaction://hlinksldjump"/>
              </a:rPr>
              <a:t>7</a:t>
            </a:r>
            <a:endParaRPr sz="600">
              <a:latin typeface="LM Sans 8"/>
              <a:cs typeface="LM Sans 8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00450" y="3374390"/>
            <a:ext cx="679450" cy="86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2022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/10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/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3</a:t>
            </a:r>
            <a:endParaRPr lang="en-US" sz="600" spc="-5" dirty="0">
              <a:solidFill>
                <a:srgbClr val="FFFFFF"/>
              </a:solidFill>
              <a:latin typeface="LM Sans 8"/>
              <a:cs typeface="LM Sans 8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250" y="15240"/>
            <a:ext cx="2205990" cy="4432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5"/>
              </a:spcBef>
            </a:pPr>
            <a:r>
              <a:rPr sz="1400" spc="10" dirty="0">
                <a:solidFill>
                  <a:srgbClr val="FFFFFF"/>
                </a:solidFill>
                <a:latin typeface="LM Sans 12"/>
                <a:cs typeface="LM Sans 12"/>
              </a:rPr>
              <a:t>Exercise</a:t>
            </a:r>
            <a:endParaRPr sz="1400">
              <a:latin typeface="LM Sans 12"/>
              <a:cs typeface="LM Sans 12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900" spc="-10" dirty="0">
                <a:solidFill>
                  <a:srgbClr val="FFFFFF"/>
                </a:solidFill>
                <a:latin typeface="LM Sans 9"/>
                <a:cs typeface="LM Sans 9"/>
              </a:rPr>
              <a:t>Sort</a:t>
            </a:r>
            <a:r>
              <a:rPr sz="900" spc="-100" dirty="0">
                <a:solidFill>
                  <a:srgbClr val="FFFFFF"/>
                </a:solidFill>
                <a:latin typeface="LM Sans 9"/>
                <a:cs typeface="LM Sans 9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LM Sans 9"/>
                <a:cs typeface="LM Sans 9"/>
              </a:rPr>
              <a:t>Colors</a:t>
            </a:r>
            <a:endParaRPr sz="900">
              <a:latin typeface="LM Sans 9"/>
              <a:cs typeface="LM Sans 9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594" y="891881"/>
            <a:ext cx="4291965" cy="15659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8415" algn="just">
              <a:lnSpc>
                <a:spcPct val="103000"/>
              </a:lnSpc>
              <a:spcBef>
                <a:spcPts val="55"/>
              </a:spcBef>
            </a:pPr>
            <a:r>
              <a:rPr sz="1100" spc="-10" dirty="0">
                <a:latin typeface="LM Sans 10"/>
                <a:cs typeface="LM Sans 10"/>
              </a:rPr>
              <a:t>Given an </a:t>
            </a:r>
            <a:r>
              <a:rPr sz="1100" spc="-20" dirty="0">
                <a:latin typeface="LM Sans 10"/>
                <a:cs typeface="LM Sans 10"/>
              </a:rPr>
              <a:t>array </a:t>
            </a:r>
            <a:r>
              <a:rPr sz="1100" spc="-10" dirty="0">
                <a:latin typeface="LM Sans 10"/>
                <a:cs typeface="LM Sans 10"/>
              </a:rPr>
              <a:t>nums </a:t>
            </a:r>
            <a:r>
              <a:rPr sz="1100" spc="-5" dirty="0">
                <a:latin typeface="LM Sans 10"/>
                <a:cs typeface="LM Sans 10"/>
              </a:rPr>
              <a:t>with </a:t>
            </a:r>
            <a:r>
              <a:rPr sz="1100" spc="-10" dirty="0">
                <a:latin typeface="LM Sans 10"/>
                <a:cs typeface="LM Sans 10"/>
              </a:rPr>
              <a:t>n </a:t>
            </a:r>
            <a:r>
              <a:rPr sz="1100" spc="-5" dirty="0">
                <a:latin typeface="LM Sans 10"/>
                <a:cs typeface="LM Sans 10"/>
              </a:rPr>
              <a:t>objects </a:t>
            </a:r>
            <a:r>
              <a:rPr sz="1100" spc="-10" dirty="0">
                <a:latin typeface="LM Sans 10"/>
                <a:cs typeface="LM Sans 10"/>
              </a:rPr>
              <a:t>colored </a:t>
            </a:r>
            <a:r>
              <a:rPr sz="1100" spc="-5" dirty="0">
                <a:latin typeface="LM Sans 10"/>
                <a:cs typeface="LM Sans 10"/>
              </a:rPr>
              <a:t>red, </a:t>
            </a:r>
            <a:r>
              <a:rPr sz="1100" spc="-10" dirty="0">
                <a:latin typeface="LM Sans 10"/>
                <a:cs typeface="LM Sans 10"/>
              </a:rPr>
              <a:t>white, </a:t>
            </a:r>
            <a:r>
              <a:rPr sz="1100" spc="-25" dirty="0">
                <a:latin typeface="LM Sans 10"/>
                <a:cs typeface="LM Sans 10"/>
              </a:rPr>
              <a:t>or </a:t>
            </a:r>
            <a:r>
              <a:rPr sz="1100" spc="-5" dirty="0">
                <a:latin typeface="LM Sans 10"/>
                <a:cs typeface="LM Sans 10"/>
              </a:rPr>
              <a:t>blue, </a:t>
            </a:r>
            <a:r>
              <a:rPr sz="1100" spc="-15" dirty="0">
                <a:latin typeface="LM Sans 10"/>
                <a:cs typeface="LM Sans 10"/>
              </a:rPr>
              <a:t>sort </a:t>
            </a:r>
            <a:r>
              <a:rPr sz="1100" spc="-10" dirty="0">
                <a:latin typeface="LM Sans 10"/>
                <a:cs typeface="LM Sans 10"/>
              </a:rPr>
              <a:t>them </a:t>
            </a:r>
            <a:r>
              <a:rPr sz="1100" spc="-5" dirty="0">
                <a:latin typeface="LM Sans 10"/>
                <a:cs typeface="LM Sans 10"/>
              </a:rPr>
              <a:t>in-place so that objects of the </a:t>
            </a:r>
            <a:r>
              <a:rPr sz="1100" spc="-10" dirty="0">
                <a:latin typeface="LM Sans 10"/>
                <a:cs typeface="LM Sans 10"/>
              </a:rPr>
              <a:t>same </a:t>
            </a:r>
            <a:r>
              <a:rPr sz="1100" spc="-15" dirty="0">
                <a:latin typeface="LM Sans 10"/>
                <a:cs typeface="LM Sans 10"/>
              </a:rPr>
              <a:t>color are </a:t>
            </a:r>
            <a:r>
              <a:rPr sz="1100" spc="-10" dirty="0">
                <a:latin typeface="LM Sans 10"/>
                <a:cs typeface="LM Sans 10"/>
              </a:rPr>
              <a:t>adjacent, </a:t>
            </a:r>
            <a:r>
              <a:rPr sz="1100" spc="-5" dirty="0">
                <a:latin typeface="LM Sans 10"/>
                <a:cs typeface="LM Sans 10"/>
              </a:rPr>
              <a:t>with the </a:t>
            </a:r>
            <a:r>
              <a:rPr sz="1100" spc="-10" dirty="0">
                <a:latin typeface="LM Sans 10"/>
                <a:cs typeface="LM Sans 10"/>
              </a:rPr>
              <a:t>colors </a:t>
            </a:r>
            <a:r>
              <a:rPr sz="1100" spc="-5" dirty="0">
                <a:latin typeface="LM Sans 10"/>
                <a:cs typeface="LM Sans 10"/>
              </a:rPr>
              <a:t>in the </a:t>
            </a:r>
            <a:r>
              <a:rPr sz="1100" spc="-15" dirty="0">
                <a:latin typeface="LM Sans 10"/>
                <a:cs typeface="LM Sans 10"/>
              </a:rPr>
              <a:t>order </a:t>
            </a:r>
            <a:r>
              <a:rPr sz="1100" spc="-5" dirty="0">
                <a:latin typeface="LM Sans 10"/>
                <a:cs typeface="LM Sans 10"/>
              </a:rPr>
              <a:t>red, white, </a:t>
            </a:r>
            <a:r>
              <a:rPr sz="1100" spc="-10" dirty="0">
                <a:latin typeface="LM Sans 10"/>
                <a:cs typeface="LM Sans 10"/>
              </a:rPr>
              <a:t>and</a:t>
            </a:r>
            <a:r>
              <a:rPr sz="1100" dirty="0">
                <a:latin typeface="LM Sans 10"/>
                <a:cs typeface="LM Sans 10"/>
              </a:rPr>
              <a:t> </a:t>
            </a:r>
            <a:r>
              <a:rPr sz="1100" spc="-5" dirty="0">
                <a:latin typeface="LM Sans 10"/>
                <a:cs typeface="LM Sans 10"/>
              </a:rPr>
              <a:t>blue.</a:t>
            </a:r>
            <a:endParaRPr sz="1100">
              <a:latin typeface="LM Sans 10"/>
              <a:cs typeface="LM Sans 10"/>
            </a:endParaRPr>
          </a:p>
          <a:p>
            <a:pPr marL="12700" marR="5080" algn="just">
              <a:lnSpc>
                <a:spcPct val="103000"/>
              </a:lnSpc>
            </a:pPr>
            <a:endParaRPr sz="1100" spc="-25" dirty="0">
              <a:latin typeface="LM Sans 10"/>
              <a:cs typeface="LM Sans 10"/>
            </a:endParaRPr>
          </a:p>
          <a:p>
            <a:pPr marL="12700" marR="5080" algn="just">
              <a:lnSpc>
                <a:spcPct val="103000"/>
              </a:lnSpc>
            </a:pPr>
            <a:r>
              <a:rPr sz="1100" spc="-25" dirty="0">
                <a:latin typeface="LM Sans 10"/>
                <a:cs typeface="LM Sans 10"/>
              </a:rPr>
              <a:t>We </a:t>
            </a:r>
            <a:r>
              <a:rPr sz="1100" spc="-5" dirty="0">
                <a:latin typeface="LM Sans 10"/>
                <a:cs typeface="LM Sans 10"/>
              </a:rPr>
              <a:t>will use the integers 0, 1, </a:t>
            </a:r>
            <a:r>
              <a:rPr sz="1100" spc="-10" dirty="0">
                <a:latin typeface="LM Sans 10"/>
                <a:cs typeface="LM Sans 10"/>
              </a:rPr>
              <a:t>and </a:t>
            </a:r>
            <a:r>
              <a:rPr sz="1100" spc="-5" dirty="0">
                <a:latin typeface="LM Sans 10"/>
                <a:cs typeface="LM Sans 10"/>
              </a:rPr>
              <a:t>2 to </a:t>
            </a:r>
            <a:r>
              <a:rPr sz="1100" spc="-10" dirty="0">
                <a:latin typeface="LM Sans 10"/>
                <a:cs typeface="LM Sans 10"/>
              </a:rPr>
              <a:t>represent </a:t>
            </a:r>
            <a:r>
              <a:rPr sz="1100" spc="-5" dirty="0">
                <a:latin typeface="LM Sans 10"/>
                <a:cs typeface="LM Sans 10"/>
              </a:rPr>
              <a:t>the </a:t>
            </a:r>
            <a:r>
              <a:rPr sz="1100" spc="-15" dirty="0">
                <a:latin typeface="LM Sans 10"/>
                <a:cs typeface="LM Sans 10"/>
              </a:rPr>
              <a:t>color </a:t>
            </a:r>
            <a:r>
              <a:rPr sz="1100" spc="-5" dirty="0">
                <a:latin typeface="LM Sans 10"/>
                <a:cs typeface="LM Sans 10"/>
              </a:rPr>
              <a:t>red, white, </a:t>
            </a:r>
            <a:r>
              <a:rPr sz="1100" spc="-10" dirty="0">
                <a:latin typeface="LM Sans 10"/>
                <a:cs typeface="LM Sans 10"/>
              </a:rPr>
              <a:t>and  </a:t>
            </a:r>
            <a:r>
              <a:rPr sz="1100" spc="-5" dirty="0">
                <a:latin typeface="LM Sans 10"/>
                <a:cs typeface="LM Sans 10"/>
              </a:rPr>
              <a:t>blue,</a:t>
            </a:r>
            <a:r>
              <a:rPr sz="1100" spc="-10" dirty="0">
                <a:latin typeface="LM Sans 10"/>
                <a:cs typeface="LM Sans 10"/>
              </a:rPr>
              <a:t> respectively.</a:t>
            </a:r>
            <a:endParaRPr sz="1100">
              <a:latin typeface="LM Sans 10"/>
              <a:cs typeface="LM Sans 10"/>
            </a:endParaRPr>
          </a:p>
          <a:p>
            <a:pPr marL="12700" algn="just">
              <a:lnSpc>
                <a:spcPct val="100000"/>
              </a:lnSpc>
              <a:spcBef>
                <a:spcPts val="35"/>
              </a:spcBef>
            </a:pPr>
            <a:endParaRPr sz="1100" spc="-40" dirty="0">
              <a:latin typeface="LM Sans 10"/>
              <a:cs typeface="LM Sans 10"/>
            </a:endParaRPr>
          </a:p>
          <a:p>
            <a:pPr marL="12700" algn="just">
              <a:lnSpc>
                <a:spcPct val="100000"/>
              </a:lnSpc>
              <a:spcBef>
                <a:spcPts val="35"/>
              </a:spcBef>
            </a:pPr>
            <a:r>
              <a:rPr sz="1100" spc="-40" dirty="0">
                <a:latin typeface="LM Sans 10"/>
                <a:cs typeface="LM Sans 10"/>
              </a:rPr>
              <a:t>You </a:t>
            </a:r>
            <a:r>
              <a:rPr sz="1100" spc="-5" dirty="0">
                <a:latin typeface="LM Sans 10"/>
                <a:cs typeface="LM Sans 10"/>
              </a:rPr>
              <a:t>must solve this </a:t>
            </a:r>
            <a:r>
              <a:rPr sz="1100" spc="-10" dirty="0">
                <a:latin typeface="LM Sans 10"/>
                <a:cs typeface="LM Sans 10"/>
              </a:rPr>
              <a:t>problem </a:t>
            </a:r>
            <a:r>
              <a:rPr sz="1100" spc="-5" dirty="0">
                <a:latin typeface="LM Sans 10"/>
                <a:cs typeface="LM Sans 10"/>
              </a:rPr>
              <a:t>without using the </a:t>
            </a:r>
            <a:r>
              <a:rPr sz="1100" spc="-15" dirty="0">
                <a:latin typeface="LM Sans 10"/>
                <a:cs typeface="LM Sans 10"/>
              </a:rPr>
              <a:t>library’s sort</a:t>
            </a:r>
            <a:r>
              <a:rPr sz="1100" spc="35" dirty="0">
                <a:latin typeface="LM Sans 10"/>
                <a:cs typeface="LM Sans 10"/>
              </a:rPr>
              <a:t> </a:t>
            </a:r>
            <a:r>
              <a:rPr sz="1100" spc="-5" dirty="0">
                <a:latin typeface="LM Sans 10"/>
                <a:cs typeface="LM Sans 10"/>
              </a:rPr>
              <a:t>function.</a:t>
            </a:r>
            <a:endParaRPr sz="1100">
              <a:latin typeface="LM Sans 10"/>
              <a:cs typeface="LM Sans 10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10" name="object 10"/>
          <p:cNvSpPr txBox="1"/>
          <p:nvPr/>
        </p:nvSpPr>
        <p:spPr>
          <a:xfrm>
            <a:off x="1958606" y="3351784"/>
            <a:ext cx="690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CSC3100 </a:t>
            </a:r>
            <a:r>
              <a:rPr sz="600" spc="-1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Tutorial</a:t>
            </a:r>
            <a:r>
              <a:rPr sz="600" spc="-2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7</a:t>
            </a:r>
            <a:endParaRPr sz="600">
              <a:latin typeface="LM Sans 8"/>
              <a:cs typeface="LM Sans 8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00450" y="3374390"/>
            <a:ext cx="679450" cy="86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2022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/10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/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3</a:t>
            </a:r>
            <a:endParaRPr lang="en-US" sz="600" spc="-5" dirty="0">
              <a:solidFill>
                <a:srgbClr val="FFFFFF"/>
              </a:solidFill>
              <a:latin typeface="LM Sans 8"/>
              <a:cs typeface="LM Sans 8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250" y="15240"/>
            <a:ext cx="1138555" cy="4432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5"/>
              </a:spcBef>
            </a:pPr>
            <a:r>
              <a:rPr sz="1400" spc="10" dirty="0">
                <a:solidFill>
                  <a:srgbClr val="FFFFFF"/>
                </a:solidFill>
                <a:latin typeface="LM Sans 12"/>
                <a:cs typeface="LM Sans 12"/>
              </a:rPr>
              <a:t>Exercise</a:t>
            </a:r>
            <a:endParaRPr sz="1400">
              <a:latin typeface="LM Sans 12"/>
              <a:cs typeface="LM Sans 12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900" spc="-10" dirty="0">
                <a:solidFill>
                  <a:srgbClr val="FFFFFF"/>
                </a:solidFill>
                <a:latin typeface="LM Sans 9"/>
                <a:cs typeface="LM Sans 9"/>
              </a:rPr>
              <a:t>Sort</a:t>
            </a:r>
            <a:r>
              <a:rPr sz="900" spc="-100" dirty="0">
                <a:solidFill>
                  <a:srgbClr val="FFFFFF"/>
                </a:solidFill>
                <a:latin typeface="LM Sans 9"/>
                <a:cs typeface="LM Sans 9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LM Sans 9"/>
                <a:cs typeface="LM Sans 9"/>
              </a:rPr>
              <a:t>Colors</a:t>
            </a:r>
            <a:endParaRPr sz="900">
              <a:latin typeface="LM Sans 9"/>
              <a:cs typeface="LM Sans 9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743" y="128376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8"/>
                </a:lnTo>
                <a:lnTo>
                  <a:pt x="4432567" y="198368"/>
                </a:lnTo>
                <a:lnTo>
                  <a:pt x="4432567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2" y="4008"/>
                </a:lnTo>
                <a:lnTo>
                  <a:pt x="4381767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8430" y="1311910"/>
            <a:ext cx="1095375" cy="146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" dirty="0">
                <a:solidFill>
                  <a:srgbClr val="FFFFFF"/>
                </a:solidFill>
                <a:latin typeface="LM Sans 12"/>
                <a:cs typeface="LM Sans 12"/>
              </a:rPr>
              <a:t>Examples</a:t>
            </a:r>
            <a:endParaRPr sz="1200">
              <a:latin typeface="LM Sans 12"/>
              <a:cs typeface="LM Sans 12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5250" y="1458595"/>
            <a:ext cx="4432935" cy="1162685"/>
            <a:chOff x="87743" y="1469479"/>
            <a:chExt cx="4432935" cy="1105360"/>
          </a:xfrm>
        </p:grpSpPr>
        <p:sp>
          <p:nvSpPr>
            <p:cNvPr id="7" name="object 7"/>
            <p:cNvSpPr/>
            <p:nvPr/>
          </p:nvSpPr>
          <p:spPr>
            <a:xfrm>
              <a:off x="87744" y="1469479"/>
              <a:ext cx="4432566" cy="50609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7743" y="1513754"/>
              <a:ext cx="4432935" cy="1061085"/>
            </a:xfrm>
            <a:custGeom>
              <a:avLst/>
              <a:gdLst/>
              <a:ahLst/>
              <a:cxnLst/>
              <a:rect l="l" t="t" r="r" b="b"/>
              <a:pathLst>
                <a:path w="4432935" h="1061085">
                  <a:moveTo>
                    <a:pt x="4432567" y="0"/>
                  </a:moveTo>
                  <a:lnTo>
                    <a:pt x="0" y="0"/>
                  </a:lnTo>
                  <a:lnTo>
                    <a:pt x="0" y="1010166"/>
                  </a:lnTo>
                  <a:lnTo>
                    <a:pt x="4008" y="1029891"/>
                  </a:lnTo>
                  <a:lnTo>
                    <a:pt x="14922" y="1046044"/>
                  </a:lnTo>
                  <a:lnTo>
                    <a:pt x="31075" y="1056958"/>
                  </a:lnTo>
                  <a:lnTo>
                    <a:pt x="50800" y="1060967"/>
                  </a:lnTo>
                  <a:lnTo>
                    <a:pt x="4381767" y="1060967"/>
                  </a:lnTo>
                  <a:lnTo>
                    <a:pt x="4401492" y="1056958"/>
                  </a:lnTo>
                  <a:lnTo>
                    <a:pt x="4417644" y="1046044"/>
                  </a:lnTo>
                  <a:lnTo>
                    <a:pt x="4428558" y="1029891"/>
                  </a:lnTo>
                  <a:lnTo>
                    <a:pt x="4432567" y="1010166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87744" y="815719"/>
            <a:ext cx="2212340" cy="17741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Here </a:t>
            </a:r>
            <a:r>
              <a:rPr spc="-15" dirty="0"/>
              <a:t>are </a:t>
            </a:r>
            <a:r>
              <a:rPr spc="-5" dirty="0"/>
              <a:t>some</a:t>
            </a:r>
            <a:r>
              <a:rPr spc="-10" dirty="0"/>
              <a:t> </a:t>
            </a:r>
            <a:r>
              <a:rPr spc="-5" dirty="0"/>
              <a:t>examples:</a:t>
            </a:r>
            <a:endParaRPr spc="-5" dirty="0"/>
          </a:p>
          <a:p>
            <a:pPr>
              <a:lnSpc>
                <a:spcPct val="100000"/>
              </a:lnSpc>
            </a:pPr>
            <a:endParaRPr spc="-5" dirty="0"/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endParaRPr b="1" spc="-10" dirty="0">
              <a:latin typeface="LM Sans 10"/>
              <a:cs typeface="LM Sans 10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b="1" spc="-10" dirty="0">
                <a:latin typeface="LM Sans 10"/>
                <a:cs typeface="LM Sans 10"/>
              </a:rPr>
              <a:t>example </a:t>
            </a:r>
            <a:r>
              <a:rPr b="1" spc="-5" dirty="0">
                <a:latin typeface="LM Sans 10"/>
                <a:cs typeface="LM Sans 10"/>
              </a:rPr>
              <a:t>1:</a:t>
            </a:r>
            <a:endParaRPr b="1" spc="-5" dirty="0">
              <a:latin typeface="LM Sans 10"/>
              <a:cs typeface="LM Sans 10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b="1" spc="-5" dirty="0">
                <a:latin typeface="LM Sans 10"/>
                <a:cs typeface="LM Sans 10"/>
              </a:rPr>
              <a:t>intput: </a:t>
            </a:r>
            <a:r>
              <a:rPr spc="-10" dirty="0"/>
              <a:t>nums =</a:t>
            </a:r>
            <a:r>
              <a:rPr spc="45" dirty="0"/>
              <a:t> </a:t>
            </a:r>
            <a:r>
              <a:rPr spc="-5" dirty="0"/>
              <a:t>[2,0,2,1,1,0]</a:t>
            </a:r>
            <a:endParaRPr spc="-5" dirty="0"/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b="1" spc="-5" dirty="0">
                <a:latin typeface="LM Sans 10"/>
                <a:cs typeface="LM Sans 10"/>
              </a:rPr>
              <a:t>output:</a:t>
            </a:r>
            <a:r>
              <a:rPr b="1" spc="75" dirty="0">
                <a:latin typeface="LM Sans 10"/>
                <a:cs typeface="LM Sans 10"/>
              </a:rPr>
              <a:t> </a:t>
            </a:r>
            <a:r>
              <a:rPr spc="-5" dirty="0"/>
              <a:t>[0,0,1,1,2,2]</a:t>
            </a:r>
            <a:endParaRPr spc="-5" dirty="0"/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b="1" spc="-10" dirty="0">
                <a:latin typeface="LM Sans 10"/>
                <a:cs typeface="LM Sans 10"/>
              </a:rPr>
              <a:t>example </a:t>
            </a:r>
            <a:r>
              <a:rPr b="1" spc="-5" dirty="0">
                <a:latin typeface="LM Sans 10"/>
                <a:cs typeface="LM Sans 10"/>
              </a:rPr>
              <a:t>2:</a:t>
            </a:r>
            <a:endParaRPr b="1" spc="-5" dirty="0">
              <a:latin typeface="LM Sans 10"/>
              <a:cs typeface="LM Sans 10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b="1" spc="-5" dirty="0">
                <a:latin typeface="LM Sans 10"/>
                <a:cs typeface="LM Sans 10"/>
              </a:rPr>
              <a:t>intput: </a:t>
            </a:r>
            <a:r>
              <a:rPr spc="-10" dirty="0"/>
              <a:t>nums =</a:t>
            </a:r>
            <a:r>
              <a:rPr spc="65" dirty="0"/>
              <a:t> </a:t>
            </a:r>
            <a:r>
              <a:rPr spc="-5" dirty="0"/>
              <a:t>[2,0,1]</a:t>
            </a:r>
            <a:endParaRPr spc="-5" dirty="0"/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b="1" spc="-5" dirty="0">
                <a:latin typeface="LM Sans 10"/>
                <a:cs typeface="LM Sans 10"/>
              </a:rPr>
              <a:t>output:</a:t>
            </a:r>
            <a:r>
              <a:rPr b="1" spc="75" dirty="0">
                <a:latin typeface="LM Sans 10"/>
                <a:cs typeface="LM Sans 10"/>
              </a:rPr>
              <a:t> </a:t>
            </a:r>
            <a:r>
              <a:rPr spc="-5" dirty="0"/>
              <a:t>[0,1,2]</a:t>
            </a:r>
            <a:endParaRPr spc="-5" dirty="0"/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16" name="object 16"/>
          <p:cNvSpPr txBox="1"/>
          <p:nvPr/>
        </p:nvSpPr>
        <p:spPr>
          <a:xfrm>
            <a:off x="1958606" y="3351784"/>
            <a:ext cx="690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CSC3100 </a:t>
            </a:r>
            <a:r>
              <a:rPr sz="600" spc="-1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Tutorial</a:t>
            </a:r>
            <a:r>
              <a:rPr sz="600" spc="-2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  <a:hlinkClick r:id="rId2" action="ppaction://hlinksldjump"/>
              </a:rPr>
              <a:t>7</a:t>
            </a:r>
            <a:endParaRPr sz="600">
              <a:latin typeface="LM Sans 8"/>
              <a:cs typeface="LM Sans 8"/>
            </a:endParaRPr>
          </a:p>
        </p:txBody>
      </p:sp>
      <p:sp>
        <p:nvSpPr>
          <p:cNvPr id="18" name="object 13"/>
          <p:cNvSpPr txBox="1"/>
          <p:nvPr/>
        </p:nvSpPr>
        <p:spPr>
          <a:xfrm>
            <a:off x="3600450" y="3374390"/>
            <a:ext cx="679450" cy="86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2022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/10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/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3</a:t>
            </a:r>
            <a:endParaRPr lang="en-US" sz="600" spc="-5" dirty="0">
              <a:solidFill>
                <a:srgbClr val="FFFFFF"/>
              </a:solidFill>
              <a:latin typeface="LM Sans 8"/>
              <a:cs typeface="LM Sans 8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248732"/>
            <a:ext cx="4608195" cy="207645"/>
            <a:chOff x="0" y="3248732"/>
            <a:chExt cx="4608195" cy="207645"/>
          </a:xfrm>
        </p:grpSpPr>
        <p:sp>
          <p:nvSpPr>
            <p:cNvPr id="3" name="object 3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41805" y="1093470"/>
            <a:ext cx="1719580" cy="64643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95910" marR="5080" indent="-283845">
              <a:lnSpc>
                <a:spcPct val="101000"/>
              </a:lnSpc>
              <a:spcBef>
                <a:spcPts val="85"/>
              </a:spcBef>
            </a:pPr>
            <a:r>
              <a:rPr spc="5" dirty="0"/>
              <a:t>Thank</a:t>
            </a:r>
            <a:r>
              <a:rPr spc="-80" dirty="0"/>
              <a:t> </a:t>
            </a:r>
            <a:r>
              <a:rPr spc="-15" dirty="0"/>
              <a:t>you  </a:t>
            </a:r>
            <a:r>
              <a:rPr spc="5" dirty="0"/>
              <a:t>Q&amp;A</a:t>
            </a:r>
            <a:endParaRPr spc="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Wenyu </a:t>
            </a:r>
            <a:r>
              <a:rPr spc="-5" dirty="0"/>
              <a:t>Huang</a:t>
            </a:r>
            <a:r>
              <a:rPr spc="180" dirty="0"/>
              <a:t> </a:t>
            </a:r>
            <a:r>
              <a:rPr spc="-5" dirty="0"/>
              <a:t>(CUHKSZ)</a:t>
            </a:r>
            <a:endParaRPr spc="-5" dirty="0"/>
          </a:p>
        </p:txBody>
      </p:sp>
      <p:sp>
        <p:nvSpPr>
          <p:cNvPr id="8" name="object 8"/>
          <p:cNvSpPr txBox="1"/>
          <p:nvPr/>
        </p:nvSpPr>
        <p:spPr>
          <a:xfrm>
            <a:off x="1958606" y="3351784"/>
            <a:ext cx="690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CSC3100 </a:t>
            </a:r>
            <a:r>
              <a:rPr sz="600" spc="-1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Tutorial</a:t>
            </a:r>
            <a:r>
              <a:rPr sz="600" spc="-2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  <a:hlinkClick r:id="rId1" action="ppaction://hlinksldjump"/>
              </a:rPr>
              <a:t>7</a:t>
            </a:r>
            <a:endParaRPr sz="600">
              <a:latin typeface="LM Sans 8"/>
              <a:cs typeface="LM Sans 8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00450" y="3374390"/>
            <a:ext cx="679450" cy="86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2022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/10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/</a:t>
            </a:r>
            <a:r>
              <a:rPr sz="600" spc="-135" dirty="0">
                <a:solidFill>
                  <a:srgbClr val="FFFFFF"/>
                </a:solidFill>
                <a:latin typeface="LM Sans 8"/>
                <a:cs typeface="LM Sans 8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LM Sans 8"/>
                <a:cs typeface="LM Sans 8"/>
              </a:rPr>
              <a:t>2</a:t>
            </a:r>
            <a:r>
              <a:rPr lang="en-US" sz="600" spc="-5" dirty="0">
                <a:solidFill>
                  <a:srgbClr val="FFFFFF"/>
                </a:solidFill>
                <a:latin typeface="LM Sans 8"/>
                <a:cs typeface="LM Sans 8"/>
              </a:rPr>
              <a:t>3</a:t>
            </a:r>
            <a:endParaRPr lang="en-US" sz="600" spc="-5" dirty="0">
              <a:solidFill>
                <a:srgbClr val="FFFFFF"/>
              </a:solidFill>
              <a:latin typeface="LM Sans 8"/>
              <a:cs typeface="LM Sans 8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6117</Words>
  <Application>WPS Writer</Application>
  <PresentationFormat>自定义</PresentationFormat>
  <Paragraphs>504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58" baseType="lpstr">
      <vt:lpstr>Arial</vt:lpstr>
      <vt:lpstr>宋体</vt:lpstr>
      <vt:lpstr>Wingdings</vt:lpstr>
      <vt:lpstr>LM Sans 17</vt:lpstr>
      <vt:lpstr>Thonburi</vt:lpstr>
      <vt:lpstr>LM Sans 10</vt:lpstr>
      <vt:lpstr>LM Sans 8</vt:lpstr>
      <vt:lpstr>LM Sans 12</vt:lpstr>
      <vt:lpstr>Times New Roman Regular</vt:lpstr>
      <vt:lpstr>Arial</vt:lpstr>
      <vt:lpstr>LM Sans 9</vt:lpstr>
      <vt:lpstr>LM Mono 10</vt:lpstr>
      <vt:lpstr>Times New Roman</vt:lpstr>
      <vt:lpstr>Calibri</vt:lpstr>
      <vt:lpstr>Helvetica Neue</vt:lpstr>
      <vt:lpstr>微软雅黑</vt:lpstr>
      <vt:lpstr>汉仪旗黑</vt:lpstr>
      <vt:lpstr>汉仪书宋二KW</vt:lpstr>
      <vt:lpstr>宋体</vt:lpstr>
      <vt:lpstr>Arial Unicode MS</vt:lpstr>
      <vt:lpstr>LM Mono 10</vt:lpstr>
      <vt:lpstr>LM Sans 10</vt:lpstr>
      <vt:lpstr>LM Sans 12</vt:lpstr>
      <vt:lpstr>LM Sans 17</vt:lpstr>
      <vt:lpstr>LM Sans 8</vt:lpstr>
      <vt:lpstr>LM Sans 9</vt:lpstr>
      <vt:lpstr>Times New Roman</vt:lpstr>
      <vt:lpstr>苹方-简</vt:lpstr>
      <vt:lpstr>Comic Sans MS Regular</vt:lpstr>
      <vt:lpstr>Office Theme</vt:lpstr>
      <vt:lpstr>PowerPoint 演示文稿</vt:lpstr>
      <vt:lpstr>Advanced Counting Sort</vt:lpstr>
      <vt:lpstr>Advanced Counting Sort</vt:lpstr>
      <vt:lpstr>PowerPoint 演示文稿</vt:lpstr>
      <vt:lpstr>PowerPoint 演示文稿</vt:lpstr>
      <vt:lpstr>Advanced Counting Sort-Parallelization</vt:lpstr>
      <vt:lpstr>PowerPoint 演示文稿</vt:lpstr>
      <vt:lpstr>Advanced Counting Sort-Parallelization</vt:lpstr>
      <vt:lpstr>Advanced Counting Sort-Parallelization</vt:lpstr>
      <vt:lpstr>PowerPoint 演示文稿</vt:lpstr>
      <vt:lpstr>Kth Largest Element in an Array</vt:lpstr>
      <vt:lpstr>PowerPoint 演示文稿</vt:lpstr>
      <vt:lpstr>Review</vt:lpstr>
      <vt:lpstr>strategy</vt:lpstr>
      <vt:lpstr>strategy</vt:lpstr>
      <vt:lpstr>How to traverse a tree using recursion</vt:lpstr>
      <vt:lpstr>PowerPoint 演示文稿</vt:lpstr>
      <vt:lpstr>PowerPoint 演示文稿</vt:lpstr>
      <vt:lpstr>How to traverse a tree using recursion</vt:lpstr>
      <vt:lpstr>How to traverse a tree using recursion</vt:lpstr>
      <vt:lpstr>How to traverse a tree using stack</vt:lpstr>
      <vt:lpstr>PowerPoint 演示文稿</vt:lpstr>
      <vt:lpstr>How to traverse a tree using recursion</vt:lpstr>
      <vt:lpstr>How to traverse a tree using recursion</vt:lpstr>
      <vt:lpstr>PowerPoint 演示文稿</vt:lpstr>
      <vt:lpstr>Sort Colors</vt:lpstr>
      <vt:lpstr>Sort Colors</vt:lpstr>
      <vt:lpstr>Thank you  Q&amp;A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CSC3100 Tutorial 7 - Sorting Algorithm and Tree</dc:title>
  <dc:creator>Wenyu Huang</dc:creator>
  <cp:lastModifiedBy>乐乐</cp:lastModifiedBy>
  <cp:revision>29</cp:revision>
  <dcterms:created xsi:type="dcterms:W3CDTF">2022-10-23T15:02:46Z</dcterms:created>
  <dcterms:modified xsi:type="dcterms:W3CDTF">2022-10-23T15:02:46Z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2022-03-17T16:00:00Z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2022-10-23T16:00:00Z</vt:filetime>
  </property>
  <property fmtid="{D5CDD505-2E9C-101B-9397-08002B2CF9AE}" pid="5" name="ICV">
    <vt:lpwstr>87AC15E928D0207C83335563A64818E5</vt:lpwstr>
  </property>
  <property fmtid="{D5CDD505-2E9C-101B-9397-08002B2CF9AE}" pid="6" name="KSOProductBuildVer">
    <vt:lpwstr>1033-4.6.1.7467</vt:lpwstr>
  </property>
</Properties>
</file>