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81" r:id="rId3"/>
    <p:sldId id="257" r:id="rId4"/>
    <p:sldId id="285" r:id="rId5"/>
    <p:sldId id="284" r:id="rId6"/>
    <p:sldId id="287" r:id="rId7"/>
    <p:sldId id="289" r:id="rId8"/>
    <p:sldId id="290" r:id="rId9"/>
    <p:sldId id="288" r:id="rId10"/>
    <p:sldId id="291" r:id="rId11"/>
    <p:sldId id="292" r:id="rId12"/>
    <p:sldId id="293" r:id="rId13"/>
    <p:sldId id="294" r:id="rId14"/>
    <p:sldId id="295"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6"/>
  </p:normalViewPr>
  <p:slideViewPr>
    <p:cSldViewPr snapToGrid="0" snapToObjects="1">
      <p:cViewPr varScale="1">
        <p:scale>
          <a:sx n="109" d="100"/>
          <a:sy n="109" d="100"/>
        </p:scale>
        <p:origin x="63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1FF701-555A-4A3A-8FC6-2E99876E71C1}" type="datetimeFigureOut">
              <a:rPr lang="zh-CN" altLang="en-US" smtClean="0"/>
              <a:t>2022/10/10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CA50CC-A1F8-40DB-96CE-A7B39552D89D}" type="slidenum">
              <a:rPr lang="zh-CN" altLang="en-US" smtClean="0"/>
              <a:t>‹#›</a:t>
            </a:fld>
            <a:endParaRPr lang="zh-CN" altLang="en-US"/>
          </a:p>
        </p:txBody>
      </p:sp>
    </p:spTree>
    <p:extLst>
      <p:ext uri="{BB962C8B-B14F-4D97-AF65-F5344CB8AC3E}">
        <p14:creationId xmlns:p14="http://schemas.microsoft.com/office/powerpoint/2010/main" val="313682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FCA50CC-A1F8-40DB-96CE-A7B39552D89D}" type="slidenum">
              <a:rPr lang="zh-CN" altLang="en-US" smtClean="0"/>
              <a:t>9</a:t>
            </a:fld>
            <a:endParaRPr lang="zh-CN" altLang="en-US"/>
          </a:p>
        </p:txBody>
      </p:sp>
    </p:spTree>
    <p:extLst>
      <p:ext uri="{BB962C8B-B14F-4D97-AF65-F5344CB8AC3E}">
        <p14:creationId xmlns:p14="http://schemas.microsoft.com/office/powerpoint/2010/main" val="34722702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07F1EED-34A0-7642-996C-E4F438EC8731}"/>
              </a:ext>
            </a:extLst>
          </p:cNvPr>
          <p:cNvSpPr/>
          <p:nvPr userDrawn="1"/>
        </p:nvSpPr>
        <p:spPr>
          <a:xfrm>
            <a:off x="-2" y="0"/>
            <a:ext cx="12192002" cy="1564036"/>
          </a:xfrm>
          <a:prstGeom prst="rect">
            <a:avLst/>
          </a:prstGeom>
          <a:solidFill>
            <a:srgbClr val="632E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a:extLst>
              <a:ext uri="{FF2B5EF4-FFF2-40B4-BE49-F238E27FC236}">
                <a16:creationId xmlns:a16="http://schemas.microsoft.com/office/drawing/2014/main" id="{440C9BF1-2922-4143-A17D-7494A6B561F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37591614-B6D2-1946-A942-CBCE1EF417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792865F9-797F-1345-B283-78BF0C72381C}"/>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5" name="页脚占位符 4">
            <a:extLst>
              <a:ext uri="{FF2B5EF4-FFF2-40B4-BE49-F238E27FC236}">
                <a16:creationId xmlns:a16="http://schemas.microsoft.com/office/drawing/2014/main" id="{0859546C-F383-4343-9AD9-79362F470EB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785DAA6-2FC9-A746-AF17-B6939604890D}"/>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pic>
        <p:nvPicPr>
          <p:cNvPr id="8" name="图片 29">
            <a:extLst>
              <a:ext uri="{FF2B5EF4-FFF2-40B4-BE49-F238E27FC236}">
                <a16:creationId xmlns:a16="http://schemas.microsoft.com/office/drawing/2014/main" id="{5ACBB7FF-39EF-2E41-A193-5DCF6DCA3652}"/>
              </a:ext>
            </a:extLst>
          </p:cNvPr>
          <p:cNvPicPr>
            <a:picLocks noChangeAspect="1"/>
          </p:cNvPicPr>
          <p:nvPr userDrawn="1"/>
        </p:nvPicPr>
        <p:blipFill>
          <a:blip r:embed="rId2"/>
          <a:stretch>
            <a:fillRect/>
          </a:stretch>
        </p:blipFill>
        <p:spPr>
          <a:xfrm>
            <a:off x="-106808" y="167329"/>
            <a:ext cx="5569133" cy="1248560"/>
          </a:xfrm>
          <a:prstGeom prst="rect">
            <a:avLst/>
          </a:prstGeom>
          <a:noFill/>
          <a:ln w="9525">
            <a:noFill/>
          </a:ln>
        </p:spPr>
      </p:pic>
    </p:spTree>
    <p:extLst>
      <p:ext uri="{BB962C8B-B14F-4D97-AF65-F5344CB8AC3E}">
        <p14:creationId xmlns:p14="http://schemas.microsoft.com/office/powerpoint/2010/main" val="737726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E18B7E-5B76-A548-A214-FA7FBB3B9300}"/>
              </a:ext>
            </a:extLst>
          </p:cNvPr>
          <p:cNvSpPr>
            <a:spLocks noGrp="1"/>
          </p:cNvSpPr>
          <p:nvPr>
            <p:ph type="title"/>
          </p:nvPr>
        </p:nvSpPr>
        <p:spPr/>
        <p:txBody>
          <a:body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CF75D319-64CB-064A-B11B-2570C9C93CB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CBC7A68-10D1-2B4D-991A-02F9F1EEEA2F}"/>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5" name="页脚占位符 4">
            <a:extLst>
              <a:ext uri="{FF2B5EF4-FFF2-40B4-BE49-F238E27FC236}">
                <a16:creationId xmlns:a16="http://schemas.microsoft.com/office/drawing/2014/main" id="{C0B59D66-91A0-994B-B4E7-07D1E7EA243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DBB9EEA-2C32-404F-B86E-3FAD7DAF0F1F}"/>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
        <p:nvSpPr>
          <p:cNvPr id="7" name="矩形 6">
            <a:extLst>
              <a:ext uri="{FF2B5EF4-FFF2-40B4-BE49-F238E27FC236}">
                <a16:creationId xmlns:a16="http://schemas.microsoft.com/office/drawing/2014/main" id="{180CBB19-E0DF-F348-9832-B97DC85135EA}"/>
              </a:ext>
            </a:extLst>
          </p:cNvPr>
          <p:cNvSpPr/>
          <p:nvPr userDrawn="1"/>
        </p:nvSpPr>
        <p:spPr>
          <a:xfrm>
            <a:off x="0" y="-17777"/>
            <a:ext cx="12192000" cy="514157"/>
          </a:xfrm>
          <a:prstGeom prst="rect">
            <a:avLst/>
          </a:prstGeom>
          <a:solidFill>
            <a:srgbClr val="632E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8" name="图片 7">
            <a:extLst>
              <a:ext uri="{FF2B5EF4-FFF2-40B4-BE49-F238E27FC236}">
                <a16:creationId xmlns:a16="http://schemas.microsoft.com/office/drawing/2014/main" id="{635254CB-6339-1449-A108-C8FF51B01C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1532" y="-76963"/>
            <a:ext cx="2819449" cy="632528"/>
          </a:xfrm>
          <a:prstGeom prst="rect">
            <a:avLst/>
          </a:prstGeom>
        </p:spPr>
      </p:pic>
      <p:pic>
        <p:nvPicPr>
          <p:cNvPr id="9" name="图片 10">
            <a:extLst>
              <a:ext uri="{FF2B5EF4-FFF2-40B4-BE49-F238E27FC236}">
                <a16:creationId xmlns:a16="http://schemas.microsoft.com/office/drawing/2014/main" id="{4E33D71F-A681-414E-85C1-B55167A1F644}"/>
              </a:ext>
            </a:extLst>
          </p:cNvPr>
          <p:cNvPicPr>
            <a:picLocks noChangeAspect="1"/>
          </p:cNvPicPr>
          <p:nvPr userDrawn="1"/>
        </p:nvPicPr>
        <p:blipFill>
          <a:blip r:embed="rId3"/>
          <a:stretch>
            <a:fillRect/>
          </a:stretch>
        </p:blipFill>
        <p:spPr>
          <a:xfrm>
            <a:off x="6426065" y="108382"/>
            <a:ext cx="2518928" cy="278506"/>
          </a:xfrm>
          <a:prstGeom prst="rect">
            <a:avLst/>
          </a:prstGeom>
        </p:spPr>
      </p:pic>
    </p:spTree>
    <p:extLst>
      <p:ext uri="{BB962C8B-B14F-4D97-AF65-F5344CB8AC3E}">
        <p14:creationId xmlns:p14="http://schemas.microsoft.com/office/powerpoint/2010/main" val="1187875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C3FBE4-9361-1F44-9CF8-30ABA9F6A93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A753FD13-3C2B-9549-80A0-FCAD039489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69BE259-7B63-7148-8C09-D10D26EFDA67}"/>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5" name="页脚占位符 4">
            <a:extLst>
              <a:ext uri="{FF2B5EF4-FFF2-40B4-BE49-F238E27FC236}">
                <a16:creationId xmlns:a16="http://schemas.microsoft.com/office/drawing/2014/main" id="{F376BE04-404C-6A45-8EB7-5407BC9824C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93A31C3-CAF3-3644-9691-D0F57C4D03F1}"/>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2814731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22345-7964-B840-A813-FEBA730B9F8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7142479-C688-9341-9FD9-F6FE810C5FA0}"/>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CB626A14-2A52-2448-820C-F7CD7591B443}"/>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B930D4C-5F41-0D42-86E7-A0D5DADC1448}"/>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6" name="页脚占位符 5">
            <a:extLst>
              <a:ext uri="{FF2B5EF4-FFF2-40B4-BE49-F238E27FC236}">
                <a16:creationId xmlns:a16="http://schemas.microsoft.com/office/drawing/2014/main" id="{974C324F-5C20-3D40-B17B-184661AAE12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8E7FD4-9194-0D42-84E7-F697597D2372}"/>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2189477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05F632-9FF5-8041-BFFD-1F34B2ED3F8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55C82B7-5A53-AB4D-B842-FF0BC1D1D0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167522D-87EC-6843-A1CC-9D12B49604BF}"/>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EB1F5B66-2034-3C43-80F2-F7FB05B092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7C8405D-C39F-7E4B-837A-470D6616A05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029041-8EBD-084E-8DDB-9F2748AA7494}"/>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8" name="页脚占位符 7">
            <a:extLst>
              <a:ext uri="{FF2B5EF4-FFF2-40B4-BE49-F238E27FC236}">
                <a16:creationId xmlns:a16="http://schemas.microsoft.com/office/drawing/2014/main" id="{986E9A88-6ABE-7448-8051-BEBB1CD0FF5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66E7B6B-43B2-0E46-90E9-0E9F65D8B7BD}"/>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131273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9C270E-175B-E54B-8675-B633DA3E8BF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B94DF59-F1FF-6F44-BE8A-315C88F3EFD0}"/>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4" name="页脚占位符 3">
            <a:extLst>
              <a:ext uri="{FF2B5EF4-FFF2-40B4-BE49-F238E27FC236}">
                <a16:creationId xmlns:a16="http://schemas.microsoft.com/office/drawing/2014/main" id="{8B90E56A-9C6B-1049-B663-4F38FE69233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B3DC43C6-7D1B-A74F-8AAB-43BBC60E21CC}"/>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1917241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BD8E8DA-BA8E-074B-8B51-CDA5BD8C0953}"/>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3" name="页脚占位符 2">
            <a:extLst>
              <a:ext uri="{FF2B5EF4-FFF2-40B4-BE49-F238E27FC236}">
                <a16:creationId xmlns:a16="http://schemas.microsoft.com/office/drawing/2014/main" id="{28B79BC5-4D9B-884A-A0CF-F77A6BE84235}"/>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30CF2BF-DC76-B04B-8324-2B2A2E0A0E4C}"/>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3464643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324C39-B828-7F47-8DF3-C2983CF92083}"/>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3FB3CAE-A068-A342-B494-917BB1322F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126F5F99-6971-9B4A-BB4E-01A01D67D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86CF8EA-13F7-C847-A502-5372D4D05C5E}"/>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6" name="页脚占位符 5">
            <a:extLst>
              <a:ext uri="{FF2B5EF4-FFF2-40B4-BE49-F238E27FC236}">
                <a16:creationId xmlns:a16="http://schemas.microsoft.com/office/drawing/2014/main" id="{97D1301D-901E-6044-AD0D-B8EB2D6EE1E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1A902AA-C2DE-FE4D-BDE3-45E81AC1188D}"/>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803049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18251C-9380-DC48-A6A1-D584547AB64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6F60CE77-3BA9-154A-974A-27185B2420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E00957D1-8FC5-8E44-A885-E32F737E05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DFEBDE1-034D-F44E-BDA7-64421562498F}"/>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6" name="页脚占位符 5">
            <a:extLst>
              <a:ext uri="{FF2B5EF4-FFF2-40B4-BE49-F238E27FC236}">
                <a16:creationId xmlns:a16="http://schemas.microsoft.com/office/drawing/2014/main" id="{522DB93D-5FD3-C24A-9E88-FE1A8DD7704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6204D78-9724-1E42-9EB5-5F88BE510783}"/>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224109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4783A-3E5C-994A-9323-C346B3F503D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B1F4EF5-8E38-FC4D-8705-B79E93423074}"/>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1065207-060B-3B49-A54C-4E8FFE44E912}"/>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5" name="页脚占位符 4">
            <a:extLst>
              <a:ext uri="{FF2B5EF4-FFF2-40B4-BE49-F238E27FC236}">
                <a16:creationId xmlns:a16="http://schemas.microsoft.com/office/drawing/2014/main" id="{97FB5884-BF56-1343-8A21-12097464263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D303873-43E7-C846-906F-A22B584DE542}"/>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311122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4C1F546-5FFB-A649-B7B2-150B30C3A311}"/>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3DC2C24-A0C5-564B-8603-EC50F17BD2E1}"/>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4509066-0340-944E-9223-294BE1EA0299}"/>
              </a:ext>
            </a:extLst>
          </p:cNvPr>
          <p:cNvSpPr>
            <a:spLocks noGrp="1"/>
          </p:cNvSpPr>
          <p:nvPr>
            <p:ph type="dt" sz="half" idx="10"/>
          </p:nvPr>
        </p:nvSpPr>
        <p:spPr/>
        <p:txBody>
          <a:bodyPr/>
          <a:lstStyle/>
          <a:p>
            <a:fld id="{415452E6-AA83-184C-9B99-B817E6157F40}" type="datetimeFigureOut">
              <a:rPr kumimoji="1" lang="zh-CN" altLang="en-US" smtClean="0"/>
              <a:t>2022/10/10</a:t>
            </a:fld>
            <a:endParaRPr kumimoji="1" lang="zh-CN" altLang="en-US"/>
          </a:p>
        </p:txBody>
      </p:sp>
      <p:sp>
        <p:nvSpPr>
          <p:cNvPr id="5" name="页脚占位符 4">
            <a:extLst>
              <a:ext uri="{FF2B5EF4-FFF2-40B4-BE49-F238E27FC236}">
                <a16:creationId xmlns:a16="http://schemas.microsoft.com/office/drawing/2014/main" id="{C5F0CCFD-D568-6943-BA9F-ADFD5FFC9CC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7B31245-2540-0340-B761-29D560C7FB55}"/>
              </a:ext>
            </a:extLst>
          </p:cNvPr>
          <p:cNvSpPr>
            <a:spLocks noGrp="1"/>
          </p:cNvSpPr>
          <p:nvPr>
            <p:ph type="sldNum" sz="quarter" idx="12"/>
          </p:nvPr>
        </p:nvSpPr>
        <p:spPr/>
        <p:txBody>
          <a:body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3004451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6F07158-4232-E24B-ACE6-EDB9E6DE0D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16900A3-B02B-A94E-B7AF-3F3443609C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DCFBA64-B464-114F-A787-1EE4133653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5452E6-AA83-184C-9B99-B817E6157F40}" type="datetimeFigureOut">
              <a:rPr kumimoji="1" lang="zh-CN" altLang="en-US" smtClean="0"/>
              <a:t>2022/10/10</a:t>
            </a:fld>
            <a:endParaRPr kumimoji="1" lang="zh-CN" altLang="en-US"/>
          </a:p>
        </p:txBody>
      </p:sp>
      <p:sp>
        <p:nvSpPr>
          <p:cNvPr id="5" name="页脚占位符 4">
            <a:extLst>
              <a:ext uri="{FF2B5EF4-FFF2-40B4-BE49-F238E27FC236}">
                <a16:creationId xmlns:a16="http://schemas.microsoft.com/office/drawing/2014/main" id="{8B88CCE6-AD4A-3C45-AEBF-664EEB9D1C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B6EF5E3E-B556-2049-A069-41492C5810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E2670D-19FC-414A-ACBC-2B0704AD515A}" type="slidenum">
              <a:rPr kumimoji="1" lang="zh-CN" altLang="en-US" smtClean="0"/>
              <a:t>‹#›</a:t>
            </a:fld>
            <a:endParaRPr kumimoji="1" lang="zh-CN" altLang="en-US"/>
          </a:p>
        </p:txBody>
      </p:sp>
    </p:spTree>
    <p:extLst>
      <p:ext uri="{BB962C8B-B14F-4D97-AF65-F5344CB8AC3E}">
        <p14:creationId xmlns:p14="http://schemas.microsoft.com/office/powerpoint/2010/main" val="3637353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DBC80-A8A2-CA41-BAEC-9510F4EA1B9A}"/>
              </a:ext>
            </a:extLst>
          </p:cNvPr>
          <p:cNvSpPr>
            <a:spLocks noGrp="1"/>
          </p:cNvSpPr>
          <p:nvPr>
            <p:ph type="ctrTitle"/>
          </p:nvPr>
        </p:nvSpPr>
        <p:spPr/>
        <p:txBody>
          <a:bodyPr/>
          <a:lstStyle/>
          <a:p>
            <a:r>
              <a:rPr kumimoji="1" lang="en-US" altLang="zh-CN" dirty="0"/>
              <a:t>CSC3100 Data Structures</a:t>
            </a:r>
            <a:endParaRPr kumimoji="1" lang="zh-CN" altLang="en-US" dirty="0"/>
          </a:p>
        </p:txBody>
      </p:sp>
      <p:sp>
        <p:nvSpPr>
          <p:cNvPr id="3" name="副标题 2">
            <a:extLst>
              <a:ext uri="{FF2B5EF4-FFF2-40B4-BE49-F238E27FC236}">
                <a16:creationId xmlns:a16="http://schemas.microsoft.com/office/drawing/2014/main" id="{DDA15F8E-BDF5-314A-913B-94158E9A107A}"/>
              </a:ext>
            </a:extLst>
          </p:cNvPr>
          <p:cNvSpPr>
            <a:spLocks noGrp="1"/>
          </p:cNvSpPr>
          <p:nvPr>
            <p:ph type="subTitle" idx="1"/>
          </p:nvPr>
        </p:nvSpPr>
        <p:spPr>
          <a:xfrm>
            <a:off x="1524000" y="3789178"/>
            <a:ext cx="9144000" cy="1655762"/>
          </a:xfrm>
        </p:spPr>
        <p:txBody>
          <a:bodyPr>
            <a:normAutofit/>
          </a:bodyPr>
          <a:lstStyle/>
          <a:p>
            <a:r>
              <a:rPr kumimoji="1" lang="en-US" altLang="zh-CN" sz="4800"/>
              <a:t>Tutorial 5</a:t>
            </a:r>
            <a:endParaRPr kumimoji="1" lang="en-US" altLang="zh-CN" sz="4800" dirty="0"/>
          </a:p>
        </p:txBody>
      </p:sp>
      <p:pic>
        <p:nvPicPr>
          <p:cNvPr id="5" name="图片 29">
            <a:extLst>
              <a:ext uri="{FF2B5EF4-FFF2-40B4-BE49-F238E27FC236}">
                <a16:creationId xmlns:a16="http://schemas.microsoft.com/office/drawing/2014/main" id="{CD0FD8D7-F19A-B042-92B7-29B4D0710805}"/>
              </a:ext>
            </a:extLst>
          </p:cNvPr>
          <p:cNvPicPr>
            <a:picLocks noChangeAspect="1"/>
          </p:cNvPicPr>
          <p:nvPr/>
        </p:nvPicPr>
        <p:blipFill>
          <a:blip r:embed="rId2"/>
          <a:stretch>
            <a:fillRect/>
          </a:stretch>
        </p:blipFill>
        <p:spPr>
          <a:xfrm>
            <a:off x="-106808" y="167329"/>
            <a:ext cx="5569133" cy="1248560"/>
          </a:xfrm>
          <a:prstGeom prst="rect">
            <a:avLst/>
          </a:prstGeom>
          <a:noFill/>
          <a:ln w="9525">
            <a:noFill/>
          </a:ln>
        </p:spPr>
      </p:pic>
      <p:sp>
        <p:nvSpPr>
          <p:cNvPr id="6" name="文本框 5">
            <a:extLst>
              <a:ext uri="{FF2B5EF4-FFF2-40B4-BE49-F238E27FC236}">
                <a16:creationId xmlns:a16="http://schemas.microsoft.com/office/drawing/2014/main" id="{1144685F-411F-FD45-95FB-E4E53405D613}"/>
              </a:ext>
            </a:extLst>
          </p:cNvPr>
          <p:cNvSpPr txBox="1"/>
          <p:nvPr/>
        </p:nvSpPr>
        <p:spPr>
          <a:xfrm>
            <a:off x="6780810" y="843148"/>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1001607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D5BE60-5C54-8B4A-B823-7813CB65CE8B}"/>
              </a:ext>
            </a:extLst>
          </p:cNvPr>
          <p:cNvSpPr>
            <a:spLocks noGrp="1"/>
          </p:cNvSpPr>
          <p:nvPr>
            <p:ph type="title"/>
          </p:nvPr>
        </p:nvSpPr>
        <p:spPr/>
        <p:txBody>
          <a:bodyPr/>
          <a:lstStyle/>
          <a:p>
            <a:r>
              <a:rPr kumimoji="1" lang="en-US" altLang="zh-CN" dirty="0"/>
              <a:t>Roadmap</a:t>
            </a:r>
            <a:endParaRPr kumimoji="1" lang="zh-CN" altLang="en-US" dirty="0"/>
          </a:p>
        </p:txBody>
      </p:sp>
      <p:sp>
        <p:nvSpPr>
          <p:cNvPr id="3" name="内容占位符 2">
            <a:extLst>
              <a:ext uri="{FF2B5EF4-FFF2-40B4-BE49-F238E27FC236}">
                <a16:creationId xmlns:a16="http://schemas.microsoft.com/office/drawing/2014/main" id="{6D12DEF6-8933-634A-8713-66FD019D449F}"/>
              </a:ext>
            </a:extLst>
          </p:cNvPr>
          <p:cNvSpPr>
            <a:spLocks noGrp="1"/>
          </p:cNvSpPr>
          <p:nvPr>
            <p:ph idx="1"/>
          </p:nvPr>
        </p:nvSpPr>
        <p:spPr>
          <a:xfrm>
            <a:off x="1265711" y="1837501"/>
            <a:ext cx="10515600" cy="4351338"/>
          </a:xfrm>
        </p:spPr>
        <p:txBody>
          <a:bodyPr/>
          <a:lstStyle/>
          <a:p>
            <a:r>
              <a:rPr kumimoji="1" lang="en-US" altLang="zh-CN" dirty="0"/>
              <a:t>Stack Concept</a:t>
            </a:r>
          </a:p>
          <a:p>
            <a:r>
              <a:rPr kumimoji="1" lang="en-US" altLang="zh-CN" dirty="0"/>
              <a:t>Stack and List Exercise</a:t>
            </a:r>
            <a:endParaRPr kumimoji="1" lang="zh-CN" altLang="en-US" dirty="0"/>
          </a:p>
        </p:txBody>
      </p:sp>
    </p:spTree>
    <p:extLst>
      <p:ext uri="{BB962C8B-B14F-4D97-AF65-F5344CB8AC3E}">
        <p14:creationId xmlns:p14="http://schemas.microsoft.com/office/powerpoint/2010/main" val="108490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83D5F-20ED-1646-B2F4-6D11171C687A}"/>
              </a:ext>
            </a:extLst>
          </p:cNvPr>
          <p:cNvSpPr>
            <a:spLocks noGrp="1"/>
          </p:cNvSpPr>
          <p:nvPr>
            <p:ph type="title"/>
          </p:nvPr>
        </p:nvSpPr>
        <p:spPr/>
        <p:txBody>
          <a:bodyPr/>
          <a:lstStyle/>
          <a:p>
            <a:r>
              <a:rPr kumimoji="1" lang="en-US" altLang="zh-CN" dirty="0"/>
              <a:t>Stack</a:t>
            </a:r>
            <a:endParaRPr kumimoji="1" lang="zh-CN" altLang="en-US" dirty="0"/>
          </a:p>
        </p:txBody>
      </p:sp>
      <p:pic>
        <p:nvPicPr>
          <p:cNvPr id="4" name="Picture 7">
            <a:extLst>
              <a:ext uri="{FF2B5EF4-FFF2-40B4-BE49-F238E27FC236}">
                <a16:creationId xmlns:a16="http://schemas.microsoft.com/office/drawing/2014/main" id="{501117AE-7E02-D54E-AFEB-41E89F260890}"/>
              </a:ext>
            </a:extLst>
          </p:cNvPr>
          <p:cNvPicPr>
            <a:picLocks noChangeAspect="1"/>
          </p:cNvPicPr>
          <p:nvPr/>
        </p:nvPicPr>
        <p:blipFill>
          <a:blip r:embed="rId2"/>
          <a:stretch>
            <a:fillRect/>
          </a:stretch>
        </p:blipFill>
        <p:spPr>
          <a:xfrm>
            <a:off x="1135083" y="1690688"/>
            <a:ext cx="3245856" cy="2434392"/>
          </a:xfrm>
          <a:prstGeom prst="rect">
            <a:avLst/>
          </a:prstGeom>
        </p:spPr>
      </p:pic>
      <p:sp>
        <p:nvSpPr>
          <p:cNvPr id="6" name="TextBox 8">
            <a:extLst>
              <a:ext uri="{FF2B5EF4-FFF2-40B4-BE49-F238E27FC236}">
                <a16:creationId xmlns:a16="http://schemas.microsoft.com/office/drawing/2014/main" id="{9A096D99-B672-6F44-8B03-D06BA08A2AD7}"/>
              </a:ext>
            </a:extLst>
          </p:cNvPr>
          <p:cNvSpPr txBox="1"/>
          <p:nvPr/>
        </p:nvSpPr>
        <p:spPr>
          <a:xfrm>
            <a:off x="838200" y="4301900"/>
            <a:ext cx="5117122" cy="1938020"/>
          </a:xfrm>
          <a:prstGeom prst="rect">
            <a:avLst/>
          </a:prstGeom>
          <a:noFill/>
        </p:spPr>
        <p:txBody>
          <a:bodyPr wrap="square" rtlCol="0">
            <a:spAutoFit/>
          </a:bodyPr>
          <a:lstStyle/>
          <a:p>
            <a:pPr marL="285750" indent="-285750">
              <a:buClr>
                <a:srgbClr val="00B050"/>
              </a:buClr>
              <a:buFont typeface="Wingdings" panose="05000000000000000000" pitchFamily="2" charset="2"/>
              <a:buChar char="u"/>
            </a:pPr>
            <a:r>
              <a:rPr lang="en-US" altLang="zh-CN" sz="2000" dirty="0">
                <a:latin typeface="Arial" panose="020B0604020202020204" pitchFamily="34" charset="0"/>
                <a:cs typeface="Arial" panose="020B0604020202020204" pitchFamily="34" charset="0"/>
              </a:rPr>
              <a:t>Uses of stacks?</a:t>
            </a:r>
          </a:p>
          <a:p>
            <a:pPr marL="742950" lvl="1" indent="-285750">
              <a:buClr>
                <a:srgbClr val="00B050"/>
              </a:buClr>
              <a:buFont typeface="Wingdings" panose="05000000000000000000" pitchFamily="2" charset="2"/>
              <a:buChar char="u"/>
            </a:pPr>
            <a:r>
              <a:rPr lang="en-US" altLang="zh-CN" sz="2000" dirty="0">
                <a:latin typeface="Arial" panose="020B0604020202020204" pitchFamily="34" charset="0"/>
                <a:cs typeface="Arial" panose="020B0604020202020204" pitchFamily="34" charset="0"/>
              </a:rPr>
              <a:t>Implement recursive algorithms</a:t>
            </a:r>
          </a:p>
          <a:p>
            <a:pPr marL="742950" lvl="1" indent="-285750">
              <a:buClr>
                <a:srgbClr val="00B050"/>
              </a:buClr>
              <a:buFont typeface="Wingdings" panose="05000000000000000000" pitchFamily="2" charset="2"/>
              <a:buChar char="u"/>
            </a:pPr>
            <a:r>
              <a:rPr lang="en-US" altLang="zh-CN" sz="2000" dirty="0">
                <a:latin typeface="Arial" panose="020B0604020202020204" pitchFamily="34" charset="0"/>
                <a:cs typeface="Arial" panose="020B0604020202020204" pitchFamily="34" charset="0"/>
              </a:rPr>
              <a:t>Compiling and running programs</a:t>
            </a:r>
          </a:p>
          <a:p>
            <a:pPr marL="742950" lvl="1" indent="-285750">
              <a:buClr>
                <a:srgbClr val="00B050"/>
              </a:buClr>
              <a:buFont typeface="Wingdings" panose="05000000000000000000" pitchFamily="2" charset="2"/>
              <a:buChar char="u"/>
            </a:pPr>
            <a:r>
              <a:rPr lang="en-US" altLang="zh-CN" sz="2000" dirty="0">
                <a:latin typeface="Arial" panose="020B0604020202020204" pitchFamily="34" charset="0"/>
                <a:cs typeface="Arial" panose="020B0604020202020204" pitchFamily="34" charset="0"/>
              </a:rPr>
              <a:t>Backtracking algorithms like constraint satisfaction</a:t>
            </a:r>
            <a:br>
              <a:rPr lang="en-US" altLang="zh-CN" sz="2000" dirty="0">
                <a:latin typeface="Arial" panose="020B0604020202020204" pitchFamily="34" charset="0"/>
                <a:cs typeface="Arial" panose="020B0604020202020204" pitchFamily="34" charset="0"/>
              </a:rPr>
            </a:br>
            <a:r>
              <a:rPr lang="en-US" altLang="zh-CN" sz="2000" dirty="0">
                <a:latin typeface="Arial" panose="020B0604020202020204" pitchFamily="34" charset="0"/>
                <a:cs typeface="Arial" panose="020B0604020202020204" pitchFamily="34" charset="0"/>
              </a:rPr>
              <a:t>(e.g. Sudoku(</a:t>
            </a:r>
            <a:r>
              <a:rPr lang="zh-CN" altLang="en-US" sz="2000" dirty="0">
                <a:latin typeface="Arial" panose="020B0604020202020204" pitchFamily="34" charset="0"/>
                <a:cs typeface="Arial" panose="020B0604020202020204" pitchFamily="34" charset="0"/>
              </a:rPr>
              <a:t>数独</a:t>
            </a:r>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A5136AF0-2071-5C73-B368-DC7816D6D81B}"/>
              </a:ext>
            </a:extLst>
          </p:cNvPr>
          <p:cNvSpPr txBox="1"/>
          <p:nvPr/>
        </p:nvSpPr>
        <p:spPr>
          <a:xfrm>
            <a:off x="6236680" y="1545354"/>
            <a:ext cx="5249883" cy="3785652"/>
          </a:xfrm>
          <a:prstGeom prst="rect">
            <a:avLst/>
          </a:prstGeom>
          <a:noFill/>
        </p:spPr>
        <p:txBody>
          <a:bodyPr wrap="square">
            <a:spAutoFit/>
          </a:bodyPr>
          <a:lstStyle/>
          <a:p>
            <a:r>
              <a:rPr lang="en-US" altLang="zh-CN" sz="2400" dirty="0"/>
              <a:t>In computer science, a stack is an abstract data type that serves as a collection of elements, with two main operations:</a:t>
            </a:r>
          </a:p>
          <a:p>
            <a:endParaRPr lang="en-US" altLang="zh-CN" sz="2400" dirty="0"/>
          </a:p>
          <a:p>
            <a:r>
              <a:rPr lang="en-US" altLang="zh-CN" sz="2400" dirty="0"/>
              <a:t>1. Push, which adds an element to the collection</a:t>
            </a:r>
          </a:p>
          <a:p>
            <a:r>
              <a:rPr lang="en-US" altLang="zh-CN" sz="2400" dirty="0"/>
              <a:t>2. Pop, which removes the most recently added element that was not yet removed.</a:t>
            </a:r>
            <a:endParaRPr lang="zh-CN" altLang="en-US" sz="2400" dirty="0"/>
          </a:p>
        </p:txBody>
      </p:sp>
    </p:spTree>
    <p:extLst>
      <p:ext uri="{BB962C8B-B14F-4D97-AF65-F5344CB8AC3E}">
        <p14:creationId xmlns:p14="http://schemas.microsoft.com/office/powerpoint/2010/main" val="79407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230C9-585A-B1B3-78FE-C438549D2BC2}"/>
              </a:ext>
            </a:extLst>
          </p:cNvPr>
          <p:cNvSpPr>
            <a:spLocks noGrp="1"/>
          </p:cNvSpPr>
          <p:nvPr>
            <p:ph type="title"/>
          </p:nvPr>
        </p:nvSpPr>
        <p:spPr/>
        <p:txBody>
          <a:bodyPr/>
          <a:lstStyle/>
          <a:p>
            <a:r>
              <a:rPr lang="en-US" altLang="zh-CN" dirty="0"/>
              <a:t>Stack-FILO principle</a:t>
            </a:r>
            <a:endParaRPr lang="zh-CN" altLang="en-US" dirty="0"/>
          </a:p>
        </p:txBody>
      </p:sp>
      <p:sp>
        <p:nvSpPr>
          <p:cNvPr id="3" name="内容占位符 2">
            <a:extLst>
              <a:ext uri="{FF2B5EF4-FFF2-40B4-BE49-F238E27FC236}">
                <a16:creationId xmlns:a16="http://schemas.microsoft.com/office/drawing/2014/main" id="{240DF976-CEAC-DA37-1D29-478D357935DF}"/>
              </a:ext>
            </a:extLst>
          </p:cNvPr>
          <p:cNvSpPr>
            <a:spLocks noGrp="1"/>
          </p:cNvSpPr>
          <p:nvPr>
            <p:ph idx="1"/>
          </p:nvPr>
        </p:nvSpPr>
        <p:spPr/>
        <p:txBody>
          <a:bodyPr>
            <a:normAutofit/>
          </a:bodyPr>
          <a:lstStyle/>
          <a:p>
            <a:r>
              <a:rPr lang="en-AU" altLang="zh-CN" sz="2400" dirty="0">
                <a:latin typeface="+mj-lt"/>
                <a:cs typeface="Arial" panose="020B0604020202020204" pitchFamily="34" charset="0"/>
              </a:rPr>
              <a:t>A stack is a collection of objects that are inserted and removed according to the </a:t>
            </a:r>
            <a:r>
              <a:rPr lang="en-AU" altLang="zh-CN" sz="2400" dirty="0">
                <a:solidFill>
                  <a:srgbClr val="FF0000"/>
                </a:solidFill>
                <a:latin typeface="+mj-lt"/>
                <a:cs typeface="Arial" panose="020B0604020202020204" pitchFamily="34" charset="0"/>
              </a:rPr>
              <a:t>first-in, last-out (FILO) </a:t>
            </a:r>
            <a:r>
              <a:rPr lang="en-AU" altLang="zh-CN" sz="2400" dirty="0">
                <a:latin typeface="+mj-lt"/>
                <a:cs typeface="Arial" panose="020B0604020202020204" pitchFamily="34" charset="0"/>
              </a:rPr>
              <a:t>principle</a:t>
            </a:r>
          </a:p>
          <a:p>
            <a:r>
              <a:rPr lang="en-AU" altLang="zh-CN" sz="2400" dirty="0">
                <a:latin typeface="+mj-lt"/>
                <a:cs typeface="Arial" panose="020B0604020202020204" pitchFamily="34" charset="0"/>
              </a:rPr>
              <a:t>The basic operations of a stack are push and pop</a:t>
            </a:r>
          </a:p>
          <a:p>
            <a:endParaRPr lang="zh-CN" altLang="en-US" sz="2400" dirty="0"/>
          </a:p>
        </p:txBody>
      </p:sp>
      <p:pic>
        <p:nvPicPr>
          <p:cNvPr id="4" name="图片 3">
            <a:extLst>
              <a:ext uri="{FF2B5EF4-FFF2-40B4-BE49-F238E27FC236}">
                <a16:creationId xmlns:a16="http://schemas.microsoft.com/office/drawing/2014/main" id="{5BC74955-3392-04E1-E963-FACC20174B26}"/>
              </a:ext>
            </a:extLst>
          </p:cNvPr>
          <p:cNvPicPr>
            <a:picLocks noChangeAspect="1"/>
          </p:cNvPicPr>
          <p:nvPr/>
        </p:nvPicPr>
        <p:blipFill>
          <a:blip r:embed="rId2"/>
          <a:stretch>
            <a:fillRect/>
          </a:stretch>
        </p:blipFill>
        <p:spPr>
          <a:xfrm>
            <a:off x="4186795" y="3591454"/>
            <a:ext cx="3249450" cy="2438611"/>
          </a:xfrm>
          <a:prstGeom prst="rect">
            <a:avLst/>
          </a:prstGeom>
        </p:spPr>
      </p:pic>
    </p:spTree>
    <p:extLst>
      <p:ext uri="{BB962C8B-B14F-4D97-AF65-F5344CB8AC3E}">
        <p14:creationId xmlns:p14="http://schemas.microsoft.com/office/powerpoint/2010/main" val="1661082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8AD28-7C1C-0D4D-B375-0C63A3C76C40}"/>
              </a:ext>
            </a:extLst>
          </p:cNvPr>
          <p:cNvSpPr>
            <a:spLocks noGrp="1"/>
          </p:cNvSpPr>
          <p:nvPr>
            <p:ph type="title"/>
          </p:nvPr>
        </p:nvSpPr>
        <p:spPr/>
        <p:txBody>
          <a:bodyPr/>
          <a:lstStyle/>
          <a:p>
            <a:r>
              <a:rPr kumimoji="1" lang="en-US" altLang="zh-CN" dirty="0"/>
              <a:t>Exercise 1: sort by using two stacks</a:t>
            </a:r>
            <a:endParaRPr kumimoji="1" lang="zh-CN" altLang="en-US" dirty="0"/>
          </a:p>
        </p:txBody>
      </p:sp>
      <p:sp>
        <p:nvSpPr>
          <p:cNvPr id="3" name="内容占位符 2">
            <a:extLst>
              <a:ext uri="{FF2B5EF4-FFF2-40B4-BE49-F238E27FC236}">
                <a16:creationId xmlns:a16="http://schemas.microsoft.com/office/drawing/2014/main" id="{83EFACBD-551B-D247-8EA5-E17D534CC773}"/>
              </a:ext>
            </a:extLst>
          </p:cNvPr>
          <p:cNvSpPr>
            <a:spLocks noGrp="1"/>
          </p:cNvSpPr>
          <p:nvPr>
            <p:ph idx="1"/>
          </p:nvPr>
        </p:nvSpPr>
        <p:spPr/>
        <p:txBody>
          <a:bodyPr/>
          <a:lstStyle/>
          <a:p>
            <a:r>
              <a:rPr kumimoji="1" lang="en-US" altLang="zh-CN" dirty="0">
                <a:latin typeface="Times New Roman" panose="02020603050405020304" pitchFamily="18" charset="0"/>
                <a:cs typeface="Times New Roman" panose="02020603050405020304" pitchFamily="18" charset="0"/>
              </a:rPr>
              <a:t>Use only 2 stacks to sort a sequence of numbers</a:t>
            </a:r>
          </a:p>
          <a:p>
            <a:endParaRPr kumimoji="1"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4638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E9981-A4FE-ED39-5E04-B70D76AA27D5}"/>
              </a:ext>
            </a:extLst>
          </p:cNvPr>
          <p:cNvSpPr>
            <a:spLocks noGrp="1"/>
          </p:cNvSpPr>
          <p:nvPr>
            <p:ph type="title"/>
          </p:nvPr>
        </p:nvSpPr>
        <p:spPr/>
        <p:txBody>
          <a:bodyPr/>
          <a:lstStyle/>
          <a:p>
            <a:r>
              <a:rPr kumimoji="1" lang="en-US" altLang="zh-CN" dirty="0"/>
              <a:t>Exercise 2:reverse</a:t>
            </a:r>
            <a:endParaRPr lang="zh-CN" altLang="en-US" dirty="0"/>
          </a:p>
        </p:txBody>
      </p:sp>
      <p:sp>
        <p:nvSpPr>
          <p:cNvPr id="4" name="Rectangle 1">
            <a:extLst>
              <a:ext uri="{FF2B5EF4-FFF2-40B4-BE49-F238E27FC236}">
                <a16:creationId xmlns:a16="http://schemas.microsoft.com/office/drawing/2014/main" id="{3E52E67C-6F29-8A9F-ACB5-89A70E8E9377}"/>
              </a:ext>
            </a:extLst>
          </p:cNvPr>
          <p:cNvSpPr>
            <a:spLocks noGrp="1" noChangeArrowheads="1"/>
          </p:cNvSpPr>
          <p:nvPr>
            <p:ph idx="1"/>
          </p:nvPr>
        </p:nvSpPr>
        <p:spPr bwMode="auto">
          <a:xfrm>
            <a:off x="838200" y="2043112"/>
            <a:ext cx="10784840" cy="29546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zh-CN" altLang="zh-CN" sz="2400" b="0" i="0" u="none" strike="noStrike" cap="none" normalizeH="0" baseline="0" dirty="0">
                <a:ln>
                  <a:noFill/>
                </a:ln>
                <a:solidFill>
                  <a:srgbClr val="273239"/>
                </a:solidFill>
                <a:effectLst/>
                <a:latin typeface="+mj-lt"/>
                <a:ea typeface="urw-din"/>
              </a:rPr>
              <a:t>Given a linked list, write a function to reverse every k nodes (where k is an input to the function). </a:t>
            </a:r>
            <a:endParaRPr kumimoji="0" lang="zh-CN" altLang="zh-CN" sz="2400" b="0" i="0" u="none" strike="noStrike" cap="none" normalizeH="0" baseline="0" dirty="0">
              <a:ln>
                <a:noFill/>
              </a:ln>
              <a:solidFill>
                <a:schemeClr val="tx1"/>
              </a:solidFill>
              <a:effectLst/>
              <a:latin typeface="+mj-lt"/>
            </a:endParaRPr>
          </a:p>
          <a:p>
            <a:pPr>
              <a:lnSpc>
                <a:spcPct val="100000"/>
              </a:lnSpc>
            </a:pPr>
            <a:r>
              <a:rPr kumimoji="0" lang="zh-CN" altLang="zh-CN" sz="2400" b="1" i="0" u="none" strike="noStrike" cap="none" normalizeH="0" baseline="0" dirty="0">
                <a:ln>
                  <a:noFill/>
                </a:ln>
                <a:solidFill>
                  <a:srgbClr val="273239"/>
                </a:solidFill>
                <a:effectLst/>
                <a:latin typeface="+mj-lt"/>
                <a:ea typeface="urw-din"/>
              </a:rPr>
              <a:t>Example:</a:t>
            </a:r>
            <a:r>
              <a:rPr kumimoji="0" lang="zh-CN" altLang="zh-CN" sz="2400" b="0" i="0" u="none" strike="noStrike" cap="none" normalizeH="0" baseline="0" dirty="0">
                <a:ln>
                  <a:noFill/>
                </a:ln>
                <a:solidFill>
                  <a:srgbClr val="273239"/>
                </a:solidFill>
                <a:effectLst/>
                <a:latin typeface="+mj-lt"/>
                <a:ea typeface="urw-din"/>
              </a:rPr>
              <a:t> </a:t>
            </a:r>
            <a:endParaRPr kumimoji="0" lang="zh-CN" altLang="zh-CN" sz="2400" b="0" i="0" u="none" strike="noStrike" cap="none" normalizeH="0" baseline="0" dirty="0">
              <a:ln>
                <a:noFill/>
              </a:ln>
              <a:solidFill>
                <a:schemeClr val="tx1"/>
              </a:solidFill>
              <a:effectLst/>
              <a:latin typeface="+mj-lt"/>
            </a:endParaRPr>
          </a:p>
          <a:p>
            <a:pPr>
              <a:lnSpc>
                <a:spcPct val="100000"/>
              </a:lnSpc>
            </a:pPr>
            <a:r>
              <a:rPr kumimoji="0" lang="zh-CN" altLang="zh-CN" sz="2400" b="1" i="0" u="none" strike="noStrike" cap="none" normalizeH="0" baseline="0" dirty="0">
                <a:ln>
                  <a:noFill/>
                </a:ln>
                <a:solidFill>
                  <a:schemeClr val="tx1"/>
                </a:solidFill>
                <a:effectLst/>
                <a:latin typeface="+mj-lt"/>
              </a:rPr>
              <a:t>Input</a:t>
            </a:r>
            <a:r>
              <a:rPr kumimoji="0" lang="zh-CN" altLang="zh-CN" sz="2400" b="0" i="0" u="none" strike="noStrike" cap="none" normalizeH="0" baseline="0" dirty="0">
                <a:ln>
                  <a:noFill/>
                </a:ln>
                <a:solidFill>
                  <a:schemeClr val="tx1"/>
                </a:solidFill>
                <a:effectLst/>
                <a:latin typeface="+mj-lt"/>
              </a:rPr>
              <a:t>: 1-&gt;2-&gt;3-&gt;4-&gt;5-&gt;6-&gt;7-&gt;8-&gt;NULL, K = 3 </a:t>
            </a:r>
            <a:endParaRPr kumimoji="0" lang="en-US" altLang="zh-CN" sz="2400" b="0" i="0" u="none" strike="noStrike" cap="none" normalizeH="0" baseline="0" dirty="0">
              <a:ln>
                <a:noFill/>
              </a:ln>
              <a:solidFill>
                <a:schemeClr val="tx1"/>
              </a:solidFill>
              <a:effectLst/>
              <a:latin typeface="+mj-lt"/>
            </a:endParaRPr>
          </a:p>
          <a:p>
            <a:pPr>
              <a:lnSpc>
                <a:spcPct val="100000"/>
              </a:lnSpc>
            </a:pPr>
            <a:r>
              <a:rPr kumimoji="0" lang="zh-CN" altLang="zh-CN" sz="2400" b="1" i="0" u="none" strike="noStrike" cap="none" normalizeH="0" baseline="0" dirty="0">
                <a:ln>
                  <a:noFill/>
                </a:ln>
                <a:solidFill>
                  <a:schemeClr val="tx1"/>
                </a:solidFill>
                <a:effectLst/>
                <a:latin typeface="+mj-lt"/>
              </a:rPr>
              <a:t>Output</a:t>
            </a:r>
            <a:r>
              <a:rPr kumimoji="0" lang="zh-CN" altLang="zh-CN" sz="2400" b="0" i="0" u="none" strike="noStrike" cap="none" normalizeH="0" baseline="0" dirty="0">
                <a:ln>
                  <a:noFill/>
                </a:ln>
                <a:solidFill>
                  <a:schemeClr val="tx1"/>
                </a:solidFill>
                <a:effectLst/>
                <a:latin typeface="+mj-lt"/>
              </a:rPr>
              <a:t>: 3-&gt;2-&gt;1-&gt;6-&gt;5-&gt;4-&gt;8-&gt;7-&gt;NULL </a:t>
            </a:r>
            <a:endParaRPr kumimoji="0" lang="en-US" altLang="zh-CN" sz="2400" b="0" i="0" u="none" strike="noStrike" cap="none" normalizeH="0" baseline="0" dirty="0">
              <a:ln>
                <a:noFill/>
              </a:ln>
              <a:solidFill>
                <a:schemeClr val="tx1"/>
              </a:solidFill>
              <a:effectLst/>
              <a:latin typeface="+mj-lt"/>
            </a:endParaRPr>
          </a:p>
          <a:p>
            <a:pPr>
              <a:lnSpc>
                <a:spcPct val="100000"/>
              </a:lnSpc>
            </a:pPr>
            <a:r>
              <a:rPr kumimoji="0" lang="zh-CN" altLang="zh-CN" sz="2400" b="1" i="0" u="none" strike="noStrike" cap="none" normalizeH="0" baseline="0" dirty="0">
                <a:ln>
                  <a:noFill/>
                </a:ln>
                <a:solidFill>
                  <a:schemeClr val="tx1"/>
                </a:solidFill>
                <a:effectLst/>
                <a:latin typeface="+mj-lt"/>
              </a:rPr>
              <a:t>Input</a:t>
            </a:r>
            <a:r>
              <a:rPr kumimoji="0" lang="zh-CN" altLang="zh-CN" sz="2400" b="0" i="0" u="none" strike="noStrike" cap="none" normalizeH="0" baseline="0" dirty="0">
                <a:ln>
                  <a:noFill/>
                </a:ln>
                <a:solidFill>
                  <a:schemeClr val="tx1"/>
                </a:solidFill>
                <a:effectLst/>
                <a:latin typeface="+mj-lt"/>
              </a:rPr>
              <a:t>: 1-&gt;2-&gt;3-&gt;4-&gt;5-&gt;6-&gt;7-&gt;8-&gt;NULL, K = 5 </a:t>
            </a:r>
            <a:endParaRPr kumimoji="0" lang="en-US" altLang="zh-CN" sz="2400" b="0" i="0" u="none" strike="noStrike" cap="none" normalizeH="0" baseline="0" dirty="0">
              <a:ln>
                <a:noFill/>
              </a:ln>
              <a:solidFill>
                <a:schemeClr val="tx1"/>
              </a:solidFill>
              <a:effectLst/>
              <a:latin typeface="+mj-lt"/>
            </a:endParaRPr>
          </a:p>
          <a:p>
            <a:pPr>
              <a:lnSpc>
                <a:spcPct val="100000"/>
              </a:lnSpc>
            </a:pPr>
            <a:r>
              <a:rPr kumimoji="0" lang="zh-CN" altLang="zh-CN" sz="2400" b="1" i="0" u="none" strike="noStrike" cap="none" normalizeH="0" baseline="0" dirty="0">
                <a:ln>
                  <a:noFill/>
                </a:ln>
                <a:solidFill>
                  <a:schemeClr val="tx1"/>
                </a:solidFill>
                <a:effectLst/>
                <a:latin typeface="+mj-lt"/>
              </a:rPr>
              <a:t>Output</a:t>
            </a:r>
            <a:r>
              <a:rPr kumimoji="0" lang="zh-CN" altLang="zh-CN" sz="2400" b="0" i="0" u="none" strike="noStrike" cap="none" normalizeH="0" baseline="0" dirty="0">
                <a:ln>
                  <a:noFill/>
                </a:ln>
                <a:solidFill>
                  <a:schemeClr val="tx1"/>
                </a:solidFill>
                <a:effectLst/>
                <a:latin typeface="+mj-lt"/>
              </a:rPr>
              <a:t>: 5-&gt;4-&gt;3-&gt;2-&gt;1-&gt;8-&gt;7-&gt;6-&gt;NULL </a:t>
            </a:r>
            <a:endParaRPr kumimoji="0" lang="en-US" altLang="zh-CN" sz="2400" b="0" i="0" u="none" strike="noStrike" cap="none" normalizeH="0" baseline="0" dirty="0">
              <a:ln>
                <a:noFill/>
              </a:ln>
              <a:solidFill>
                <a:schemeClr val="tx1"/>
              </a:solidFill>
              <a:effectLst/>
              <a:latin typeface="+mj-lt"/>
            </a:endParaRPr>
          </a:p>
          <a:p>
            <a:pPr>
              <a:lnSpc>
                <a:spcPct val="100000"/>
              </a:lnSpc>
            </a:pPr>
            <a:endParaRPr lang="en-US" altLang="zh-CN" sz="2400" dirty="0">
              <a:latin typeface="+mj-lt"/>
            </a:endParaRPr>
          </a:p>
        </p:txBody>
      </p:sp>
    </p:spTree>
    <p:extLst>
      <p:ext uri="{BB962C8B-B14F-4D97-AF65-F5344CB8AC3E}">
        <p14:creationId xmlns:p14="http://schemas.microsoft.com/office/powerpoint/2010/main" val="3113938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571744-C211-D146-2E56-DF89AD7FF3D6}"/>
              </a:ext>
            </a:extLst>
          </p:cNvPr>
          <p:cNvSpPr>
            <a:spLocks noGrp="1"/>
          </p:cNvSpPr>
          <p:nvPr>
            <p:ph type="title"/>
          </p:nvPr>
        </p:nvSpPr>
        <p:spPr/>
        <p:txBody>
          <a:bodyPr/>
          <a:lstStyle/>
          <a:p>
            <a:r>
              <a:rPr lang="en-US" altLang="zh-CN" dirty="0"/>
              <a:t>Solution 1:</a:t>
            </a:r>
            <a:endParaRPr lang="zh-CN" altLang="en-US" dirty="0"/>
          </a:p>
        </p:txBody>
      </p:sp>
      <p:sp>
        <p:nvSpPr>
          <p:cNvPr id="3" name="内容占位符 2">
            <a:extLst>
              <a:ext uri="{FF2B5EF4-FFF2-40B4-BE49-F238E27FC236}">
                <a16:creationId xmlns:a16="http://schemas.microsoft.com/office/drawing/2014/main" id="{1BC011B0-A720-D25A-0A21-BE14DC587986}"/>
              </a:ext>
            </a:extLst>
          </p:cNvPr>
          <p:cNvSpPr>
            <a:spLocks noGrp="1"/>
          </p:cNvSpPr>
          <p:nvPr>
            <p:ph idx="1"/>
          </p:nvPr>
        </p:nvSpPr>
        <p:spPr>
          <a:xfrm>
            <a:off x="838200" y="1432560"/>
            <a:ext cx="10515600" cy="5750559"/>
          </a:xfrm>
        </p:spPr>
        <p:txBody>
          <a:bodyPr>
            <a:normAutofit lnSpcReduction="10000"/>
          </a:bodyPr>
          <a:lstStyle/>
          <a:p>
            <a:r>
              <a:rPr kumimoji="0" lang="en-US" altLang="zh-CN" sz="2800" b="0" i="0" u="none" strike="noStrike" cap="none" normalizeH="0" baseline="0" dirty="0">
                <a:ln>
                  <a:noFill/>
                </a:ln>
                <a:solidFill>
                  <a:schemeClr val="tx1"/>
                </a:solidFill>
                <a:effectLst/>
                <a:latin typeface="+mj-lt"/>
              </a:rPr>
              <a:t>You can use an array to store the value in the list and reverse </a:t>
            </a:r>
            <a:r>
              <a:rPr lang="en-US" altLang="zh-CN" dirty="0">
                <a:latin typeface="+mj-lt"/>
              </a:rPr>
              <a:t>the sequence as the question told you.</a:t>
            </a:r>
          </a:p>
          <a:p>
            <a:pPr marL="0" indent="0">
              <a:buNone/>
            </a:pPr>
            <a:r>
              <a:rPr lang="en-US" altLang="zh-CN" sz="1600" b="0" dirty="0">
                <a:effectLst/>
                <a:latin typeface="Consolas" panose="020B0609020204030204" pitchFamily="49" charset="0"/>
              </a:rPr>
              <a:t>Array A[]</a:t>
            </a:r>
          </a:p>
          <a:p>
            <a:pPr marL="0" indent="0">
              <a:buNone/>
            </a:pPr>
            <a:r>
              <a:rPr lang="en-US" altLang="zh-CN" sz="1600" b="0" dirty="0">
                <a:effectLst/>
                <a:latin typeface="Consolas" panose="020B0609020204030204" pitchFamily="49" charset="0"/>
              </a:rPr>
              <a:t>Int count=0</a:t>
            </a:r>
          </a:p>
          <a:p>
            <a:pPr marL="0" indent="0">
              <a:buNone/>
            </a:pPr>
            <a:r>
              <a:rPr lang="en-US" altLang="zh-CN" sz="1600" b="0" dirty="0">
                <a:effectLst/>
                <a:latin typeface="Consolas" panose="020B0609020204030204" pitchFamily="49" charset="0"/>
              </a:rPr>
              <a:t>Node </a:t>
            </a:r>
            <a:r>
              <a:rPr lang="en-US" altLang="zh-CN" sz="1600" b="0" dirty="0" err="1">
                <a:effectLst/>
                <a:latin typeface="Consolas" panose="020B0609020204030204" pitchFamily="49" charset="0"/>
              </a:rPr>
              <a:t>thead</a:t>
            </a:r>
            <a:r>
              <a:rPr lang="en-US" altLang="zh-CN" sz="1600" b="0" dirty="0">
                <a:effectLst/>
                <a:latin typeface="Consolas" panose="020B0609020204030204" pitchFamily="49" charset="0"/>
              </a:rPr>
              <a:t>=head</a:t>
            </a:r>
          </a:p>
          <a:p>
            <a:pPr marL="0" indent="0">
              <a:buNone/>
            </a:pPr>
            <a:r>
              <a:rPr lang="en-US" altLang="zh-CN" sz="1600" b="0" dirty="0">
                <a:effectLst/>
                <a:latin typeface="Consolas" panose="020B0609020204030204" pitchFamily="49" charset="0"/>
              </a:rPr>
              <a:t>While head!=null</a:t>
            </a:r>
          </a:p>
          <a:p>
            <a:pPr marL="0" indent="0">
              <a:buNone/>
            </a:pPr>
            <a:r>
              <a:rPr lang="en-US" altLang="zh-CN" sz="1600" b="0" dirty="0">
                <a:effectLst/>
                <a:latin typeface="Consolas" panose="020B0609020204030204" pitchFamily="49" charset="0"/>
              </a:rPr>
              <a:t>    A[count++]=</a:t>
            </a:r>
            <a:r>
              <a:rPr lang="en-US" altLang="zh-CN" sz="1600" b="0" dirty="0" err="1">
                <a:effectLst/>
                <a:latin typeface="Consolas" panose="020B0609020204030204" pitchFamily="49" charset="0"/>
              </a:rPr>
              <a:t>head.val</a:t>
            </a:r>
            <a:endParaRPr lang="en-US" altLang="zh-CN" sz="1600" b="0" dirty="0">
              <a:effectLst/>
              <a:latin typeface="Consolas" panose="020B0609020204030204" pitchFamily="49" charset="0"/>
            </a:endParaRPr>
          </a:p>
          <a:p>
            <a:pPr marL="0" indent="0">
              <a:buNone/>
            </a:pPr>
            <a:r>
              <a:rPr lang="en-US" altLang="zh-CN" sz="1600" b="0" dirty="0">
                <a:effectLst/>
                <a:latin typeface="Consolas" panose="020B0609020204030204" pitchFamily="49" charset="0"/>
              </a:rPr>
              <a:t>    head=</a:t>
            </a:r>
            <a:r>
              <a:rPr lang="en-US" altLang="zh-CN" sz="1600" b="0" dirty="0" err="1">
                <a:effectLst/>
                <a:latin typeface="Consolas" panose="020B0609020204030204" pitchFamily="49" charset="0"/>
              </a:rPr>
              <a:t>head.next</a:t>
            </a:r>
            <a:endParaRPr lang="en-US" altLang="zh-CN" sz="1600" b="0" dirty="0">
              <a:effectLst/>
              <a:latin typeface="Consolas" panose="020B0609020204030204" pitchFamily="49" charset="0"/>
            </a:endParaRPr>
          </a:p>
          <a:p>
            <a:pPr marL="0" indent="0">
              <a:buNone/>
            </a:pPr>
            <a:r>
              <a:rPr lang="en-US" altLang="zh-CN" sz="1600" b="0" dirty="0">
                <a:effectLst/>
                <a:latin typeface="Consolas" panose="020B0609020204030204" pitchFamily="49" charset="0"/>
              </a:rPr>
              <a:t>For </a:t>
            </a:r>
            <a:r>
              <a:rPr lang="en-US" altLang="zh-CN" sz="1600" b="0" dirty="0" err="1">
                <a:effectLst/>
                <a:latin typeface="Consolas" panose="020B0609020204030204" pitchFamily="49" charset="0"/>
              </a:rPr>
              <a:t>i</a:t>
            </a:r>
            <a:r>
              <a:rPr lang="en-US" altLang="zh-CN" sz="1600" b="0" dirty="0">
                <a:effectLst/>
                <a:latin typeface="Consolas" panose="020B0609020204030204" pitchFamily="49" charset="0"/>
              </a:rPr>
              <a:t> from 0 to count-1</a:t>
            </a:r>
          </a:p>
          <a:p>
            <a:pPr marL="0" indent="0">
              <a:buNone/>
            </a:pPr>
            <a:r>
              <a:rPr lang="en-US" altLang="zh-CN" sz="1600" b="0" dirty="0">
                <a:effectLst/>
                <a:latin typeface="Consolas" panose="020B0609020204030204" pitchFamily="49" charset="0"/>
              </a:rPr>
              <a:t>    int group=</a:t>
            </a:r>
            <a:r>
              <a:rPr lang="en-US" altLang="zh-CN" sz="1600" b="0" dirty="0" err="1">
                <a:effectLst/>
                <a:latin typeface="Consolas" panose="020B0609020204030204" pitchFamily="49" charset="0"/>
              </a:rPr>
              <a:t>i</a:t>
            </a:r>
            <a:r>
              <a:rPr lang="en-US" altLang="zh-CN" sz="1600" b="0" dirty="0">
                <a:effectLst/>
                <a:latin typeface="Consolas" panose="020B0609020204030204" pitchFamily="49" charset="0"/>
              </a:rPr>
              <a:t>/K</a:t>
            </a:r>
          </a:p>
          <a:p>
            <a:pPr marL="0" indent="0">
              <a:buNone/>
            </a:pPr>
            <a:r>
              <a:rPr lang="en-US" altLang="zh-CN" sz="1600" b="0" dirty="0">
                <a:effectLst/>
                <a:latin typeface="Consolas" panose="020B0609020204030204" pitchFamily="49" charset="0"/>
              </a:rPr>
              <a:t>    int id=</a:t>
            </a:r>
            <a:r>
              <a:rPr lang="en-US" altLang="zh-CN" sz="1600" b="0" dirty="0" err="1">
                <a:effectLst/>
                <a:latin typeface="Consolas" panose="020B0609020204030204" pitchFamily="49" charset="0"/>
              </a:rPr>
              <a:t>i</a:t>
            </a:r>
            <a:r>
              <a:rPr lang="en-US" altLang="zh-CN" sz="1600" b="0" dirty="0">
                <a:effectLst/>
                <a:latin typeface="Consolas" panose="020B0609020204030204" pitchFamily="49" charset="0"/>
              </a:rPr>
              <a:t>-group*K</a:t>
            </a:r>
          </a:p>
          <a:p>
            <a:pPr marL="0" indent="0">
              <a:buNone/>
            </a:pPr>
            <a:r>
              <a:rPr lang="en-US" altLang="zh-CN" sz="1600" b="0" dirty="0">
                <a:effectLst/>
                <a:latin typeface="Consolas" panose="020B0609020204030204" pitchFamily="49" charset="0"/>
              </a:rPr>
              <a:t>    int </a:t>
            </a:r>
            <a:r>
              <a:rPr lang="en-US" altLang="zh-CN" sz="1600" b="0" dirty="0" err="1">
                <a:effectLst/>
                <a:latin typeface="Consolas" panose="020B0609020204030204" pitchFamily="49" charset="0"/>
              </a:rPr>
              <a:t>swid</a:t>
            </a:r>
            <a:r>
              <a:rPr lang="en-US" altLang="zh-CN" sz="1600" b="0" dirty="0">
                <a:effectLst/>
                <a:latin typeface="Consolas" panose="020B0609020204030204" pitchFamily="49" charset="0"/>
              </a:rPr>
              <a:t>=K-id</a:t>
            </a:r>
          </a:p>
          <a:p>
            <a:pPr marL="0" indent="0">
              <a:buNone/>
            </a:pPr>
            <a:r>
              <a:rPr lang="en-US" altLang="zh-CN" sz="1600" b="0" dirty="0">
                <a:effectLst/>
                <a:latin typeface="Consolas" panose="020B0609020204030204" pitchFamily="49" charset="0"/>
              </a:rPr>
              <a:t>    if id&lt;K/2</a:t>
            </a:r>
          </a:p>
          <a:p>
            <a:pPr marL="0" indent="0">
              <a:buNone/>
            </a:pPr>
            <a:r>
              <a:rPr lang="en-US" altLang="zh-CN" sz="1600" b="0" dirty="0">
                <a:effectLst/>
                <a:latin typeface="Consolas" panose="020B0609020204030204" pitchFamily="49" charset="0"/>
              </a:rPr>
              <a:t>        swap(A[</a:t>
            </a:r>
            <a:r>
              <a:rPr lang="en-US" altLang="zh-CN" sz="1600" b="0" dirty="0" err="1">
                <a:effectLst/>
                <a:latin typeface="Consolas" panose="020B0609020204030204" pitchFamily="49" charset="0"/>
              </a:rPr>
              <a:t>i</a:t>
            </a:r>
            <a:r>
              <a:rPr lang="en-US" altLang="zh-CN" sz="1600" b="0" dirty="0">
                <a:effectLst/>
                <a:latin typeface="Consolas" panose="020B0609020204030204" pitchFamily="49" charset="0"/>
              </a:rPr>
              <a:t>], A[</a:t>
            </a:r>
            <a:r>
              <a:rPr lang="en-US" altLang="zh-CN" sz="1600" b="0" dirty="0" err="1">
                <a:effectLst/>
                <a:latin typeface="Consolas" panose="020B0609020204030204" pitchFamily="49" charset="0"/>
              </a:rPr>
              <a:t>swid+group</a:t>
            </a:r>
            <a:r>
              <a:rPr lang="en-US" altLang="zh-CN" sz="1600" b="0" dirty="0">
                <a:effectLst/>
                <a:latin typeface="Consolas" panose="020B0609020204030204" pitchFamily="49" charset="0"/>
              </a:rPr>
              <a:t>*K])</a:t>
            </a:r>
          </a:p>
          <a:p>
            <a:pPr marL="0" indent="0">
              <a:buNone/>
            </a:pPr>
            <a:endParaRPr lang="en-US" altLang="zh-CN" sz="2200" dirty="0">
              <a:latin typeface="+mj-lt"/>
            </a:endParaRPr>
          </a:p>
          <a:p>
            <a:pPr marL="0" indent="0">
              <a:buNone/>
            </a:pPr>
            <a:r>
              <a:rPr lang="en-US" altLang="zh-CN" sz="2200" dirty="0">
                <a:latin typeface="+mj-lt"/>
              </a:rPr>
              <a:t>	</a:t>
            </a:r>
            <a:endParaRPr lang="zh-CN" altLang="en-US" sz="2200" dirty="0">
              <a:latin typeface="+mj-lt"/>
            </a:endParaRPr>
          </a:p>
        </p:txBody>
      </p:sp>
      <p:sp>
        <p:nvSpPr>
          <p:cNvPr id="5" name="文本框 4">
            <a:extLst>
              <a:ext uri="{FF2B5EF4-FFF2-40B4-BE49-F238E27FC236}">
                <a16:creationId xmlns:a16="http://schemas.microsoft.com/office/drawing/2014/main" id="{A51D260D-4E7A-825C-157E-B820224EAE02}"/>
              </a:ext>
            </a:extLst>
          </p:cNvPr>
          <p:cNvSpPr txBox="1"/>
          <p:nvPr/>
        </p:nvSpPr>
        <p:spPr>
          <a:xfrm>
            <a:off x="5872480" y="2228671"/>
            <a:ext cx="6096000" cy="2585323"/>
          </a:xfrm>
          <a:prstGeom prst="rect">
            <a:avLst/>
          </a:prstGeom>
          <a:noFill/>
        </p:spPr>
        <p:txBody>
          <a:bodyPr wrap="square">
            <a:spAutoFit/>
          </a:bodyPr>
          <a:lstStyle/>
          <a:p>
            <a:pPr marL="0" indent="0">
              <a:buNone/>
            </a:pPr>
            <a:r>
              <a:rPr lang="en-US" altLang="zh-CN" sz="1800" b="0" dirty="0">
                <a:effectLst/>
                <a:latin typeface="Consolas" panose="020B0609020204030204" pitchFamily="49" charset="0"/>
              </a:rPr>
              <a:t>count=0</a:t>
            </a:r>
          </a:p>
          <a:p>
            <a:pPr marL="0" indent="0">
              <a:buNone/>
            </a:pPr>
            <a:r>
              <a:rPr lang="en-US" altLang="zh-CN" sz="1800" b="0" dirty="0">
                <a:effectLst/>
                <a:latin typeface="Consolas" panose="020B0609020204030204" pitchFamily="49" charset="0"/>
              </a:rPr>
              <a:t>while </a:t>
            </a:r>
            <a:r>
              <a:rPr lang="en-US" altLang="zh-CN" sz="1800" b="0" dirty="0" err="1">
                <a:effectLst/>
                <a:latin typeface="Consolas" panose="020B0609020204030204" pitchFamily="49" charset="0"/>
              </a:rPr>
              <a:t>thead</a:t>
            </a:r>
            <a:r>
              <a:rPr lang="en-US" altLang="zh-CN" sz="1800" b="0" dirty="0">
                <a:effectLst/>
                <a:latin typeface="Consolas" panose="020B0609020204030204" pitchFamily="49" charset="0"/>
              </a:rPr>
              <a:t>!=null</a:t>
            </a:r>
          </a:p>
          <a:p>
            <a:pPr marL="0" indent="0">
              <a:buNone/>
            </a:pPr>
            <a:r>
              <a:rPr lang="en-US" altLang="zh-CN" sz="1800" b="0" dirty="0">
                <a:effectLst/>
                <a:latin typeface="Consolas" panose="020B0609020204030204" pitchFamily="49" charset="0"/>
              </a:rPr>
              <a:t>    </a:t>
            </a:r>
            <a:r>
              <a:rPr lang="en-US" altLang="zh-CN" sz="1800" b="0" dirty="0" err="1">
                <a:effectLst/>
                <a:latin typeface="Consolas" panose="020B0609020204030204" pitchFamily="49" charset="0"/>
              </a:rPr>
              <a:t>thead.val</a:t>
            </a:r>
            <a:r>
              <a:rPr lang="en-US" altLang="zh-CN" sz="1800" b="0" dirty="0">
                <a:effectLst/>
                <a:latin typeface="Consolas" panose="020B0609020204030204" pitchFamily="49" charset="0"/>
              </a:rPr>
              <a:t>=A[count++]</a:t>
            </a:r>
          </a:p>
          <a:p>
            <a:pPr marL="0" indent="0">
              <a:buNone/>
            </a:pPr>
            <a:r>
              <a:rPr lang="en-US" altLang="zh-CN" sz="1800" b="0" dirty="0">
                <a:effectLst/>
                <a:latin typeface="Consolas" panose="020B0609020204030204" pitchFamily="49" charset="0"/>
              </a:rPr>
              <a:t>    </a:t>
            </a:r>
            <a:r>
              <a:rPr lang="en-US" altLang="zh-CN" sz="1800" b="0" dirty="0" err="1">
                <a:effectLst/>
                <a:latin typeface="Consolas" panose="020B0609020204030204" pitchFamily="49" charset="0"/>
              </a:rPr>
              <a:t>thead</a:t>
            </a:r>
            <a:r>
              <a:rPr lang="en-US" altLang="zh-CN" sz="1800" b="0" dirty="0">
                <a:effectLst/>
                <a:latin typeface="Consolas" panose="020B0609020204030204" pitchFamily="49" charset="0"/>
              </a:rPr>
              <a:t>=</a:t>
            </a:r>
            <a:r>
              <a:rPr lang="en-US" altLang="zh-CN" sz="1800" b="0" dirty="0" err="1">
                <a:effectLst/>
                <a:latin typeface="Consolas" panose="020B0609020204030204" pitchFamily="49" charset="0"/>
              </a:rPr>
              <a:t>thead.next</a:t>
            </a:r>
            <a:endParaRPr lang="en-US" altLang="zh-CN" sz="1800" b="0" dirty="0">
              <a:effectLst/>
              <a:latin typeface="Consolas" panose="020B0609020204030204" pitchFamily="49" charset="0"/>
            </a:endParaRPr>
          </a:p>
          <a:p>
            <a:pPr marL="0" indent="0">
              <a:buNone/>
            </a:pPr>
            <a:endParaRPr lang="en-US" altLang="zh-CN" dirty="0">
              <a:latin typeface="Consolas" panose="020B0609020204030204" pitchFamily="49" charset="0"/>
            </a:endParaRPr>
          </a:p>
          <a:p>
            <a:pPr marL="0" indent="0">
              <a:buNone/>
            </a:pPr>
            <a:r>
              <a:rPr lang="en-US" altLang="zh-CN" sz="2400" b="0" dirty="0">
                <a:effectLst/>
                <a:latin typeface="+mj-lt"/>
              </a:rPr>
              <a:t>The time complexity would be O(n) but the memory complexity would be O(n), </a:t>
            </a:r>
            <a:r>
              <a:rPr lang="en-US" altLang="zh-CN" sz="2400" b="0" dirty="0" smtClean="0">
                <a:effectLst/>
                <a:latin typeface="+mj-lt"/>
              </a:rPr>
              <a:t>too</a:t>
            </a:r>
          </a:p>
          <a:p>
            <a:pPr marL="0" indent="0">
              <a:buNone/>
            </a:pPr>
            <a:r>
              <a:rPr lang="en-US" altLang="zh-CN" sz="2400" dirty="0" smtClean="0">
                <a:latin typeface="+mj-lt"/>
              </a:rPr>
              <a:t>Can’t </a:t>
            </a:r>
            <a:r>
              <a:rPr lang="en-US" altLang="zh-CN" sz="2400" smtClean="0">
                <a:latin typeface="+mj-lt"/>
              </a:rPr>
              <a:t>solve corner cases.</a:t>
            </a:r>
            <a:endParaRPr lang="en-US" altLang="zh-CN" sz="2400" b="0" dirty="0">
              <a:effectLst/>
              <a:latin typeface="+mj-lt"/>
            </a:endParaRPr>
          </a:p>
        </p:txBody>
      </p:sp>
    </p:spTree>
    <p:extLst>
      <p:ext uri="{BB962C8B-B14F-4D97-AF65-F5344CB8AC3E}">
        <p14:creationId xmlns:p14="http://schemas.microsoft.com/office/powerpoint/2010/main" val="1876284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F67EA-92E5-D1E2-58F4-BA79FE052E28}"/>
              </a:ext>
            </a:extLst>
          </p:cNvPr>
          <p:cNvSpPr>
            <a:spLocks noGrp="1"/>
          </p:cNvSpPr>
          <p:nvPr>
            <p:ph type="title"/>
          </p:nvPr>
        </p:nvSpPr>
        <p:spPr/>
        <p:txBody>
          <a:bodyPr/>
          <a:lstStyle/>
          <a:p>
            <a:r>
              <a:rPr lang="en-US" altLang="zh-CN" dirty="0"/>
              <a:t>Solution 2</a:t>
            </a:r>
            <a:endParaRPr lang="zh-CN" altLang="en-US" dirty="0"/>
          </a:p>
        </p:txBody>
      </p:sp>
      <p:sp>
        <p:nvSpPr>
          <p:cNvPr id="3" name="内容占位符 2">
            <a:extLst>
              <a:ext uri="{FF2B5EF4-FFF2-40B4-BE49-F238E27FC236}">
                <a16:creationId xmlns:a16="http://schemas.microsoft.com/office/drawing/2014/main" id="{5C20A49E-5C78-3A68-DF79-544365DD7A90}"/>
              </a:ext>
            </a:extLst>
          </p:cNvPr>
          <p:cNvSpPr>
            <a:spLocks noGrp="1"/>
          </p:cNvSpPr>
          <p:nvPr>
            <p:ph idx="1"/>
          </p:nvPr>
        </p:nvSpPr>
        <p:spPr/>
        <p:txBody>
          <a:bodyPr/>
          <a:lstStyle/>
          <a:p>
            <a:r>
              <a:rPr lang="en-US" altLang="zh-CN" dirty="0">
                <a:latin typeface="+mj-lt"/>
              </a:rPr>
              <a:t>There is better solution. The time complexity would be O(n) while the memory complexity would be O(1). </a:t>
            </a:r>
          </a:p>
          <a:p>
            <a:r>
              <a:rPr kumimoji="0" lang="en-US" altLang="zh-CN" sz="2800" b="0" i="0" u="none" strike="noStrike" cap="none" normalizeH="0" baseline="0" dirty="0">
                <a:ln>
                  <a:noFill/>
                </a:ln>
                <a:solidFill>
                  <a:schemeClr val="tx1"/>
                </a:solidFill>
                <a:effectLst/>
                <a:latin typeface="+mj-lt"/>
              </a:rPr>
              <a:t>You can download the code on </a:t>
            </a:r>
            <a:r>
              <a:rPr kumimoji="0" lang="en-US" altLang="zh-CN" sz="2800" b="0" i="0" u="none" strike="noStrike" cap="none" normalizeH="0" baseline="0" dirty="0" err="1">
                <a:ln>
                  <a:noFill/>
                </a:ln>
                <a:solidFill>
                  <a:schemeClr val="tx1"/>
                </a:solidFill>
                <a:effectLst/>
                <a:latin typeface="+mj-lt"/>
              </a:rPr>
              <a:t>BlackBoard</a:t>
            </a:r>
            <a:r>
              <a:rPr kumimoji="0" lang="en-US" altLang="zh-CN" sz="2800" b="0" i="0" u="none" strike="noStrike" cap="none" normalizeH="0" baseline="0" dirty="0">
                <a:ln>
                  <a:noFill/>
                </a:ln>
                <a:solidFill>
                  <a:schemeClr val="tx1"/>
                </a:solidFill>
                <a:effectLst/>
                <a:latin typeface="+mj-lt"/>
              </a:rPr>
              <a:t> and try to simulate some examples.</a:t>
            </a:r>
            <a:endParaRPr kumimoji="0" lang="zh-CN" altLang="zh-CN" sz="2800" b="0" i="0" u="none" strike="noStrike" cap="none" normalizeH="0" baseline="0" dirty="0">
              <a:ln>
                <a:noFill/>
              </a:ln>
              <a:solidFill>
                <a:schemeClr val="tx1"/>
              </a:solidFill>
              <a:effectLst/>
              <a:latin typeface="+mj-lt"/>
            </a:endParaRPr>
          </a:p>
          <a:p>
            <a:endParaRPr lang="en-US" altLang="zh-CN" dirty="0">
              <a:latin typeface="+mj-lt"/>
            </a:endParaRPr>
          </a:p>
        </p:txBody>
      </p:sp>
    </p:spTree>
    <p:extLst>
      <p:ext uri="{BB962C8B-B14F-4D97-AF65-F5344CB8AC3E}">
        <p14:creationId xmlns:p14="http://schemas.microsoft.com/office/powerpoint/2010/main" val="649017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F731FF-D00A-0005-A482-5E0371C8E66B}"/>
              </a:ext>
            </a:extLst>
          </p:cNvPr>
          <p:cNvSpPr>
            <a:spLocks noGrp="1"/>
          </p:cNvSpPr>
          <p:nvPr>
            <p:ph type="title"/>
          </p:nvPr>
        </p:nvSpPr>
        <p:spPr/>
        <p:txBody>
          <a:bodyPr/>
          <a:lstStyle/>
          <a:p>
            <a:r>
              <a:rPr lang="en-US" altLang="zh-CN" dirty="0"/>
              <a:t>Exercise 3:</a:t>
            </a:r>
            <a:r>
              <a:rPr lang="en-US" altLang="zh-CN" b="0" dirty="0">
                <a:effectLst/>
              </a:rPr>
              <a:t>detectAndRemoveLoop</a:t>
            </a:r>
            <a:endParaRPr lang="zh-CN" altLang="en-US" dirty="0"/>
          </a:p>
        </p:txBody>
      </p:sp>
      <p:sp>
        <p:nvSpPr>
          <p:cNvPr id="3" name="内容占位符 2">
            <a:extLst>
              <a:ext uri="{FF2B5EF4-FFF2-40B4-BE49-F238E27FC236}">
                <a16:creationId xmlns:a16="http://schemas.microsoft.com/office/drawing/2014/main" id="{C8A2D655-9F19-C0CF-5C66-E4DA6F1201E1}"/>
              </a:ext>
            </a:extLst>
          </p:cNvPr>
          <p:cNvSpPr>
            <a:spLocks noGrp="1"/>
          </p:cNvSpPr>
          <p:nvPr>
            <p:ph idx="1"/>
          </p:nvPr>
        </p:nvSpPr>
        <p:spPr>
          <a:xfrm>
            <a:off x="838200" y="1436370"/>
            <a:ext cx="10515600" cy="4351338"/>
          </a:xfrm>
        </p:spPr>
        <p:txBody>
          <a:bodyPr>
            <a:normAutofit/>
          </a:bodyPr>
          <a:lstStyle/>
          <a:p>
            <a:pPr eaLnBrk="0" fontAlgn="base" hangingPunct="0">
              <a:lnSpc>
                <a:spcPct val="100000"/>
              </a:lnSpc>
              <a:spcBef>
                <a:spcPct val="0"/>
              </a:spcBef>
              <a:spcAft>
                <a:spcPct val="0"/>
              </a:spcAft>
            </a:pPr>
            <a:r>
              <a:rPr lang="en-US" altLang="zh-CN" b="0" i="0" dirty="0">
                <a:solidFill>
                  <a:srgbClr val="273239"/>
                </a:solidFill>
                <a:effectLst/>
                <a:latin typeface="+mj-lt"/>
              </a:rPr>
              <a:t>Write a function </a:t>
            </a:r>
            <a:r>
              <a:rPr lang="en-US" altLang="zh-CN" b="0" i="1" dirty="0" err="1">
                <a:solidFill>
                  <a:srgbClr val="273239"/>
                </a:solidFill>
                <a:effectLst/>
                <a:latin typeface="+mj-lt"/>
              </a:rPr>
              <a:t>detectAndRemoveLoop</a:t>
            </a:r>
            <a:r>
              <a:rPr lang="en-US" altLang="zh-CN" b="0" i="1" dirty="0">
                <a:solidFill>
                  <a:srgbClr val="273239"/>
                </a:solidFill>
                <a:effectLst/>
                <a:latin typeface="+mj-lt"/>
              </a:rPr>
              <a:t>()</a:t>
            </a:r>
            <a:r>
              <a:rPr lang="en-US" altLang="zh-CN" b="0" i="0" dirty="0">
                <a:solidFill>
                  <a:srgbClr val="273239"/>
                </a:solidFill>
                <a:effectLst/>
                <a:latin typeface="+mj-lt"/>
              </a:rPr>
              <a:t> that checks whether a given Linked List contains a loop and if the loop is present then removes the loop and returns true. If the list doesn’t contain a loop then it returns false. The below diagram shows a linked list with a loop. </a:t>
            </a:r>
            <a:r>
              <a:rPr lang="en-US" altLang="zh-CN" b="0" i="1" dirty="0" err="1">
                <a:solidFill>
                  <a:srgbClr val="273239"/>
                </a:solidFill>
                <a:effectLst/>
                <a:latin typeface="+mj-lt"/>
              </a:rPr>
              <a:t>detectAndRemoveLoop</a:t>
            </a:r>
            <a:r>
              <a:rPr lang="en-US" altLang="zh-CN" b="0" i="1" dirty="0">
                <a:solidFill>
                  <a:srgbClr val="273239"/>
                </a:solidFill>
                <a:effectLst/>
                <a:latin typeface="+mj-lt"/>
              </a:rPr>
              <a:t>()</a:t>
            </a:r>
            <a:r>
              <a:rPr lang="en-US" altLang="zh-CN" b="0" i="0" dirty="0">
                <a:solidFill>
                  <a:srgbClr val="273239"/>
                </a:solidFill>
                <a:effectLst/>
                <a:latin typeface="+mj-lt"/>
              </a:rPr>
              <a:t> must change the below list to 1-&gt;2-&gt;3-&gt;4-&gt;5-&gt;NULL.</a:t>
            </a:r>
            <a:endParaRPr kumimoji="0" lang="en-US" altLang="zh-CN" sz="2800" b="0" i="0" u="none" strike="noStrike" cap="none" normalizeH="0" baseline="0" dirty="0">
              <a:ln>
                <a:noFill/>
              </a:ln>
              <a:solidFill>
                <a:schemeClr val="tx1"/>
              </a:solidFill>
              <a:effectLst/>
              <a:latin typeface="+mj-lt"/>
            </a:endParaRPr>
          </a:p>
        </p:txBody>
      </p:sp>
      <p:pic>
        <p:nvPicPr>
          <p:cNvPr id="1028" name="Picture 4">
            <a:extLst>
              <a:ext uri="{FF2B5EF4-FFF2-40B4-BE49-F238E27FC236}">
                <a16:creationId xmlns:a16="http://schemas.microsoft.com/office/drawing/2014/main" id="{7B99F61E-E711-1E22-BEE4-217077538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3040" y="4076064"/>
            <a:ext cx="3515360" cy="175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249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8AB9D7-9862-61F4-3AEB-91A35E87C59B}"/>
              </a:ext>
            </a:extLst>
          </p:cNvPr>
          <p:cNvSpPr>
            <a:spLocks noGrp="1"/>
          </p:cNvSpPr>
          <p:nvPr>
            <p:ph type="title"/>
          </p:nvPr>
        </p:nvSpPr>
        <p:spPr/>
        <p:txBody>
          <a:bodyPr/>
          <a:lstStyle/>
          <a:p>
            <a:r>
              <a:rPr lang="en-US" altLang="zh-CN" dirty="0"/>
              <a:t>Brainstorm</a:t>
            </a:r>
            <a:endParaRPr lang="zh-CN" altLang="en-US" dirty="0"/>
          </a:p>
        </p:txBody>
      </p:sp>
      <p:sp>
        <p:nvSpPr>
          <p:cNvPr id="3" name="内容占位符 2">
            <a:extLst>
              <a:ext uri="{FF2B5EF4-FFF2-40B4-BE49-F238E27FC236}">
                <a16:creationId xmlns:a16="http://schemas.microsoft.com/office/drawing/2014/main" id="{9C9CCFF8-4261-8DA8-3168-07A0DED02D4B}"/>
              </a:ext>
            </a:extLst>
          </p:cNvPr>
          <p:cNvSpPr>
            <a:spLocks noGrp="1"/>
          </p:cNvSpPr>
          <p:nvPr>
            <p:ph idx="1"/>
          </p:nvPr>
        </p:nvSpPr>
        <p:spPr>
          <a:xfrm>
            <a:off x="767080" y="1690688"/>
            <a:ext cx="10515600" cy="5648960"/>
          </a:xfrm>
        </p:spPr>
        <p:txBody>
          <a:bodyPr>
            <a:normAutofit/>
          </a:bodyPr>
          <a:lstStyle/>
          <a:p>
            <a:r>
              <a:rPr lang="en-US" altLang="zh-CN" dirty="0">
                <a:latin typeface="+mj-lt"/>
              </a:rPr>
              <a:t>In the last tutorial, we talked out how to judge whether there is a loop in a list : fast and slow pointer. If we know where the fast pointer and the slow pointer meet, how can we use it to remove the loop?</a:t>
            </a:r>
          </a:p>
        </p:txBody>
      </p:sp>
      <p:pic>
        <p:nvPicPr>
          <p:cNvPr id="5" name="Picture 2">
            <a:extLst>
              <a:ext uri="{FF2B5EF4-FFF2-40B4-BE49-F238E27FC236}">
                <a16:creationId xmlns:a16="http://schemas.microsoft.com/office/drawing/2014/main" id="{A33716B7-DAD5-A743-9373-D5DE39A99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039" y="3098527"/>
            <a:ext cx="7492240" cy="3621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4790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3360B0B-37A7-21DE-6008-0F67AE68EF02}"/>
              </a:ext>
            </a:extLst>
          </p:cNvPr>
          <p:cNvSpPr>
            <a:spLocks noGrp="1"/>
          </p:cNvSpPr>
          <p:nvPr>
            <p:ph idx="1"/>
          </p:nvPr>
        </p:nvSpPr>
        <p:spPr>
          <a:xfrm>
            <a:off x="970280" y="1107440"/>
            <a:ext cx="8620760" cy="4978083"/>
          </a:xfrm>
        </p:spPr>
        <p:txBody>
          <a:bodyPr>
            <a:normAutofit/>
          </a:bodyPr>
          <a:lstStyle/>
          <a:p>
            <a:pPr marL="0" indent="0">
              <a:buNone/>
            </a:pPr>
            <a:r>
              <a:rPr lang="en-US" altLang="zh-CN" dirty="0">
                <a:latin typeface="+mj-lt"/>
              </a:rPr>
              <a:t>Distance traveled by fast pointer = 2 * (Distance traveled </a:t>
            </a:r>
          </a:p>
          <a:p>
            <a:pPr marL="0" indent="0">
              <a:buNone/>
            </a:pPr>
            <a:r>
              <a:rPr lang="en-US" altLang="zh-CN" dirty="0">
                <a:latin typeface="+mj-lt"/>
              </a:rPr>
              <a:t>                                         by slow pointer)</a:t>
            </a:r>
          </a:p>
          <a:p>
            <a:pPr marL="0" indent="0">
              <a:buNone/>
            </a:pPr>
            <a:r>
              <a:rPr lang="en-US" altLang="zh-CN" dirty="0">
                <a:latin typeface="+mj-lt"/>
              </a:rPr>
              <a:t>(m + n*x + k) = 2*(m + n*y + k) </a:t>
            </a:r>
          </a:p>
          <a:p>
            <a:pPr marL="0" indent="0">
              <a:buNone/>
            </a:pPr>
            <a:r>
              <a:rPr lang="en-US" altLang="zh-CN" dirty="0">
                <a:latin typeface="+mj-lt"/>
              </a:rPr>
              <a:t>Note that before meeting the point shown above, fast</a:t>
            </a:r>
          </a:p>
          <a:p>
            <a:pPr marL="0" indent="0">
              <a:buNone/>
            </a:pPr>
            <a:r>
              <a:rPr lang="en-US" altLang="zh-CN" dirty="0">
                <a:latin typeface="+mj-lt"/>
              </a:rPr>
              <a:t>was moving at twice speed.</a:t>
            </a:r>
          </a:p>
          <a:p>
            <a:pPr marL="0" indent="0">
              <a:buNone/>
            </a:pPr>
            <a:r>
              <a:rPr lang="en-US" altLang="zh-CN" dirty="0">
                <a:latin typeface="+mj-lt"/>
              </a:rPr>
              <a:t>x --&gt;  Number of complete cyclic rounds made by </a:t>
            </a:r>
          </a:p>
          <a:p>
            <a:pPr marL="0" indent="0">
              <a:buNone/>
            </a:pPr>
            <a:r>
              <a:rPr lang="en-US" altLang="zh-CN" dirty="0">
                <a:latin typeface="+mj-lt"/>
              </a:rPr>
              <a:t>       fast pointer before they meet first time</a:t>
            </a:r>
          </a:p>
          <a:p>
            <a:pPr marL="0" indent="0">
              <a:buNone/>
            </a:pPr>
            <a:r>
              <a:rPr lang="en-US" altLang="zh-CN" dirty="0">
                <a:latin typeface="+mj-lt"/>
              </a:rPr>
              <a:t>y --&gt;  Number of complete cyclic rounds made by </a:t>
            </a:r>
          </a:p>
          <a:p>
            <a:pPr marL="0" indent="0">
              <a:buNone/>
            </a:pPr>
            <a:r>
              <a:rPr lang="en-US" altLang="zh-CN" dirty="0">
                <a:latin typeface="+mj-lt"/>
              </a:rPr>
              <a:t>       slow pointer before they meet first time</a:t>
            </a:r>
            <a:endParaRPr lang="zh-CN" altLang="en-US" dirty="0">
              <a:latin typeface="+mj-lt"/>
            </a:endParaRPr>
          </a:p>
          <a:p>
            <a:endParaRPr lang="zh-CN" altLang="en-US" dirty="0"/>
          </a:p>
        </p:txBody>
      </p:sp>
    </p:spTree>
    <p:extLst>
      <p:ext uri="{BB962C8B-B14F-4D97-AF65-F5344CB8AC3E}">
        <p14:creationId xmlns:p14="http://schemas.microsoft.com/office/powerpoint/2010/main" val="3368372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DEF97C-4074-D994-1C15-0A01701A668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03D210C-9665-DAC3-4436-C69FEB526EF8}"/>
              </a:ext>
            </a:extLst>
          </p:cNvPr>
          <p:cNvSpPr>
            <a:spLocks noGrp="1"/>
          </p:cNvSpPr>
          <p:nvPr>
            <p:ph idx="1"/>
          </p:nvPr>
        </p:nvSpPr>
        <p:spPr>
          <a:xfrm>
            <a:off x="416560" y="484505"/>
            <a:ext cx="10688320" cy="4351338"/>
          </a:xfrm>
        </p:spPr>
        <p:txBody>
          <a:bodyPr>
            <a:noAutofit/>
          </a:bodyPr>
          <a:lstStyle/>
          <a:p>
            <a:r>
              <a:rPr lang="en-US" altLang="zh-CN" dirty="0">
                <a:latin typeface="+mj-lt"/>
              </a:rPr>
              <a:t> m + k = (x-2y)*n</a:t>
            </a:r>
          </a:p>
          <a:p>
            <a:r>
              <a:rPr lang="en-US" altLang="zh-CN" dirty="0">
                <a:latin typeface="+mj-lt"/>
              </a:rPr>
              <a:t>Which means </a:t>
            </a:r>
            <a:r>
              <a:rPr lang="en-US" altLang="zh-CN" dirty="0" err="1">
                <a:latin typeface="+mj-lt"/>
              </a:rPr>
              <a:t>m+k</a:t>
            </a:r>
            <a:r>
              <a:rPr lang="en-US" altLang="zh-CN" dirty="0">
                <a:latin typeface="+mj-lt"/>
              </a:rPr>
              <a:t> is a multiple of n. </a:t>
            </a:r>
          </a:p>
          <a:p>
            <a:r>
              <a:rPr lang="en-US" altLang="zh-CN" dirty="0">
                <a:latin typeface="+mj-lt"/>
              </a:rPr>
              <a:t>Thus we can write, m + k = </a:t>
            </a:r>
            <a:r>
              <a:rPr lang="en-US" altLang="zh-CN" dirty="0" err="1">
                <a:latin typeface="+mj-lt"/>
              </a:rPr>
              <a:t>i</a:t>
            </a:r>
            <a:r>
              <a:rPr lang="en-US" altLang="zh-CN" dirty="0">
                <a:latin typeface="+mj-lt"/>
              </a:rPr>
              <a:t>*n or m = </a:t>
            </a:r>
            <a:r>
              <a:rPr lang="en-US" altLang="zh-CN" dirty="0" err="1">
                <a:latin typeface="+mj-lt"/>
              </a:rPr>
              <a:t>i</a:t>
            </a:r>
            <a:r>
              <a:rPr lang="en-US" altLang="zh-CN" dirty="0">
                <a:latin typeface="+mj-lt"/>
              </a:rPr>
              <a:t>*n - k.</a:t>
            </a:r>
          </a:p>
          <a:p>
            <a:r>
              <a:rPr lang="en-US" altLang="zh-CN" dirty="0" smtClean="0">
                <a:latin typeface="+mj-lt"/>
              </a:rPr>
              <a:t>m=(i</a:t>
            </a:r>
            <a:r>
              <a:rPr lang="en-US" altLang="zh-CN" dirty="0" smtClean="0">
                <a:latin typeface="+mj-lt"/>
              </a:rPr>
              <a:t>-1)*</a:t>
            </a:r>
            <a:r>
              <a:rPr lang="en-US" altLang="zh-CN" dirty="0" err="1" smtClean="0">
                <a:latin typeface="+mj-lt"/>
              </a:rPr>
              <a:t>n</a:t>
            </a:r>
            <a:r>
              <a:rPr lang="en-US" altLang="zh-CN" dirty="0" err="1" smtClean="0">
                <a:latin typeface="+mj-lt"/>
              </a:rPr>
              <a:t>+n</a:t>
            </a:r>
            <a:r>
              <a:rPr lang="en-US" altLang="zh-CN" dirty="0" smtClean="0">
                <a:latin typeface="+mj-lt"/>
              </a:rPr>
              <a:t> </a:t>
            </a:r>
            <a:r>
              <a:rPr lang="en-US" altLang="zh-CN" dirty="0">
                <a:latin typeface="+mj-lt"/>
              </a:rPr>
              <a:t>- k (cover the loop completely i-1 times and start from n-k).</a:t>
            </a:r>
          </a:p>
          <a:p>
            <a:r>
              <a:rPr lang="en-US" altLang="zh-CN" b="0" i="0" dirty="0">
                <a:solidFill>
                  <a:srgbClr val="273239"/>
                </a:solidFill>
                <a:effectLst/>
                <a:latin typeface="+mj-lt"/>
              </a:rPr>
              <a:t>So if we start moving both pointers again at </a:t>
            </a:r>
            <a:r>
              <a:rPr lang="en-US" altLang="zh-CN" b="1" i="0" dirty="0">
                <a:solidFill>
                  <a:srgbClr val="273239"/>
                </a:solidFill>
                <a:effectLst/>
                <a:latin typeface="+mj-lt"/>
              </a:rPr>
              <a:t>same speed</a:t>
            </a:r>
            <a:r>
              <a:rPr lang="en-US" altLang="zh-CN" b="0" i="0" dirty="0">
                <a:solidFill>
                  <a:srgbClr val="273239"/>
                </a:solidFill>
                <a:effectLst/>
                <a:latin typeface="+mj-lt"/>
              </a:rPr>
              <a:t> such that one pointer (say slow) begins from head node of linked list and other pointer (say fast) begins from meeting point. When the slow pointer reaches the beginning of the loop (has made m steps), the fast pointer would have made also moved m steps as they are now moving at the same pace. Since </a:t>
            </a:r>
            <a:r>
              <a:rPr lang="en-US" altLang="zh-CN" b="0" i="0" dirty="0" err="1">
                <a:solidFill>
                  <a:srgbClr val="273239"/>
                </a:solidFill>
                <a:effectLst/>
                <a:latin typeface="+mj-lt"/>
              </a:rPr>
              <a:t>m+k</a:t>
            </a:r>
            <a:r>
              <a:rPr lang="en-US" altLang="zh-CN" b="0" i="0" dirty="0">
                <a:solidFill>
                  <a:srgbClr val="273239"/>
                </a:solidFill>
                <a:effectLst/>
                <a:latin typeface="+mj-lt"/>
              </a:rPr>
              <a:t> is a multiple of n and fast starts from k, they would meet at the beginning. Can they meet before also? No because slow pointer enters the cycle first time after m steps. </a:t>
            </a:r>
            <a:endParaRPr lang="zh-CN" altLang="en-US" dirty="0">
              <a:latin typeface="+mj-lt"/>
            </a:endParaRPr>
          </a:p>
        </p:txBody>
      </p:sp>
    </p:spTree>
    <p:extLst>
      <p:ext uri="{BB962C8B-B14F-4D97-AF65-F5344CB8AC3E}">
        <p14:creationId xmlns:p14="http://schemas.microsoft.com/office/powerpoint/2010/main" val="186403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120D35-B276-9869-046E-AE528AE8AC7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7E3D922-6769-8B1D-36A1-2A27DA063993}"/>
              </a:ext>
            </a:extLst>
          </p:cNvPr>
          <p:cNvSpPr>
            <a:spLocks noGrp="1"/>
          </p:cNvSpPr>
          <p:nvPr>
            <p:ph idx="1"/>
          </p:nvPr>
        </p:nvSpPr>
        <p:spPr/>
        <p:txBody>
          <a:bodyPr/>
          <a:lstStyle/>
          <a:p>
            <a:r>
              <a:rPr lang="en-US" altLang="zh-CN" dirty="0">
                <a:latin typeface="+mj-lt"/>
              </a:rPr>
              <a:t>You can download the code on </a:t>
            </a:r>
            <a:r>
              <a:rPr lang="en-US" altLang="zh-CN" dirty="0" err="1">
                <a:latin typeface="+mj-lt"/>
              </a:rPr>
              <a:t>BlackBoard</a:t>
            </a:r>
            <a:r>
              <a:rPr lang="en-US" altLang="zh-CN" dirty="0">
                <a:latin typeface="+mj-lt"/>
              </a:rPr>
              <a:t> and try a few examples by yourself.</a:t>
            </a:r>
            <a:endParaRPr lang="zh-CN" altLang="en-US" dirty="0">
              <a:latin typeface="+mj-lt"/>
            </a:endParaRPr>
          </a:p>
        </p:txBody>
      </p:sp>
    </p:spTree>
    <p:extLst>
      <p:ext uri="{BB962C8B-B14F-4D97-AF65-F5344CB8AC3E}">
        <p14:creationId xmlns:p14="http://schemas.microsoft.com/office/powerpoint/2010/main" val="2709743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465728-1384-3CF3-5EDB-8B4079DFE673}"/>
              </a:ext>
            </a:extLst>
          </p:cNvPr>
          <p:cNvSpPr>
            <a:spLocks noGrp="1"/>
          </p:cNvSpPr>
          <p:nvPr>
            <p:ph type="title"/>
          </p:nvPr>
        </p:nvSpPr>
        <p:spPr>
          <a:xfrm>
            <a:off x="838200" y="2766218"/>
            <a:ext cx="10515600" cy="1325563"/>
          </a:xfrm>
        </p:spPr>
        <p:txBody>
          <a:bodyPr/>
          <a:lstStyle/>
          <a:p>
            <a:r>
              <a:rPr lang="en-US" altLang="zh-CN" dirty="0"/>
              <a:t>Q&amp;A</a:t>
            </a:r>
            <a:endParaRPr lang="zh-CN" altLang="en-US" dirty="0"/>
          </a:p>
        </p:txBody>
      </p:sp>
      <p:sp>
        <p:nvSpPr>
          <p:cNvPr id="3" name="内容占位符 2">
            <a:extLst>
              <a:ext uri="{FF2B5EF4-FFF2-40B4-BE49-F238E27FC236}">
                <a16:creationId xmlns:a16="http://schemas.microsoft.com/office/drawing/2014/main" id="{B985B116-3514-236D-709B-2B7C6FE0E5E8}"/>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9950062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2693</TotalTime>
  <Words>451</Words>
  <Application>Microsoft Office PowerPoint</Application>
  <PresentationFormat>Widescreen</PresentationFormat>
  <Paragraphs>73</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urw-din</vt:lpstr>
      <vt:lpstr>等线</vt:lpstr>
      <vt:lpstr>黑体</vt:lpstr>
      <vt:lpstr>宋体</vt:lpstr>
      <vt:lpstr>Arial</vt:lpstr>
      <vt:lpstr>Consolas</vt:lpstr>
      <vt:lpstr>Times New Roman</vt:lpstr>
      <vt:lpstr>Wingdings</vt:lpstr>
      <vt:lpstr>Office 主题​​</vt:lpstr>
      <vt:lpstr>CSC3100 Data Structures</vt:lpstr>
      <vt:lpstr>Roadmap</vt:lpstr>
      <vt:lpstr>Stack</vt:lpstr>
      <vt:lpstr>Stack-FILO principle</vt:lpstr>
      <vt:lpstr>Exercise 1: sort by using two stacks</vt:lpstr>
      <vt:lpstr>Exercise 2:reverse</vt:lpstr>
      <vt:lpstr>Solution 1:</vt:lpstr>
      <vt:lpstr>Solution 2</vt:lpstr>
      <vt:lpstr>Exercise 3:detectAndRemoveLoop</vt:lpstr>
      <vt:lpstr>Brainstorm</vt:lpstr>
      <vt:lpstr>PowerPoint Presentation</vt:lpstr>
      <vt:lpstr>PowerPoint Presentation</vt:lpstr>
      <vt:lpstr>PowerPoint Presentation</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Zenn Kangel</dc:creator>
  <cp:lastModifiedBy>Jie Pan (SDS, 121090434)</cp:lastModifiedBy>
  <cp:revision>52</cp:revision>
  <dcterms:created xsi:type="dcterms:W3CDTF">2021-06-22T03:40:52Z</dcterms:created>
  <dcterms:modified xsi:type="dcterms:W3CDTF">2022-10-10T11:42:38Z</dcterms:modified>
</cp:coreProperties>
</file>