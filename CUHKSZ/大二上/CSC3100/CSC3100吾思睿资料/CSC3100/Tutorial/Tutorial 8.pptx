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7"/>
  </p:handoutMasterIdLst>
  <p:sldIdLst>
    <p:sldId id="273" r:id="rId3"/>
    <p:sldId id="275" r:id="rId5"/>
    <p:sldId id="272" r:id="rId6"/>
    <p:sldId id="296" r:id="rId7"/>
    <p:sldId id="257" r:id="rId8"/>
    <p:sldId id="294" r:id="rId9"/>
    <p:sldId id="295" r:id="rId10"/>
    <p:sldId id="297" r:id="rId11"/>
    <p:sldId id="298" r:id="rId12"/>
    <p:sldId id="299" r:id="rId13"/>
    <p:sldId id="259" r:id="rId14"/>
    <p:sldId id="260" r:id="rId15"/>
    <p:sldId id="261" r:id="rId16"/>
    <p:sldId id="301" r:id="rId17"/>
    <p:sldId id="302" r:id="rId18"/>
    <p:sldId id="300" r:id="rId19"/>
    <p:sldId id="293" r:id="rId20"/>
    <p:sldId id="263" r:id="rId21"/>
    <p:sldId id="303" r:id="rId22"/>
    <p:sldId id="264" r:id="rId23"/>
    <p:sldId id="265" r:id="rId24"/>
    <p:sldId id="304" r:id="rId25"/>
    <p:sldId id="274" r:id="rId2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1C6D"/>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0" autoAdjust="0"/>
    <p:restoredTop sz="86374"/>
  </p:normalViewPr>
  <p:slideViewPr>
    <p:cSldViewPr snapToGrid="0" showGuides="1">
      <p:cViewPr varScale="1">
        <p:scale>
          <a:sx n="97" d="100"/>
          <a:sy n="97" d="100"/>
        </p:scale>
        <p:origin x="1206" y="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1" d="100"/>
          <a:sy n="81" d="100"/>
        </p:scale>
        <p:origin x="4286" y="48"/>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a:t>hello everyone, this is the tutorial 4 function, today, firstly, we will do a quick recap of the function and explain some exercises</a:t>
            </a:r>
            <a:endParaRPr kumimoji="1" lang="en-US" altLang="zh-CN" dirty="0"/>
          </a:p>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en-AU" dirty="0">
                <a:sym typeface="+mn-ea"/>
              </a:rPr>
              <a:t>- </a:t>
            </a:r>
            <a:r>
              <a:rPr lang="en-AU" dirty="0">
                <a:sym typeface="+mn-ea"/>
              </a:rPr>
              <a:t>There are two types of functions in </a:t>
            </a:r>
            <a:r>
              <a:rPr lang="en-AU" dirty="0">
                <a:solidFill>
                  <a:srgbClr val="FF0000"/>
                </a:solidFill>
                <a:sym typeface="+mn-ea"/>
              </a:rPr>
              <a:t>Python</a:t>
            </a:r>
            <a:endParaRPr lang="en-AU" dirty="0">
              <a:solidFill>
                <a:srgbClr val="FF0000"/>
              </a:solidFill>
              <a:sym typeface="+mn-ea"/>
            </a:endParaRPr>
          </a:p>
          <a:p>
            <a:r>
              <a:rPr lang="en-US" altLang="en-AU" dirty="0">
                <a:solidFill>
                  <a:srgbClr val="FF0000"/>
                </a:solidFill>
                <a:sym typeface="+mn-ea"/>
              </a:rPr>
              <a:t>1.</a:t>
            </a:r>
            <a:r>
              <a:rPr lang="en-AU" dirty="0">
                <a:solidFill>
                  <a:srgbClr val="FF0000"/>
                </a:solidFill>
                <a:sym typeface="+mn-ea"/>
              </a:rPr>
              <a:t>Built-in functions</a:t>
            </a:r>
            <a:r>
              <a:rPr lang="en-AU" dirty="0">
                <a:sym typeface="+mn-ea"/>
              </a:rPr>
              <a:t> which are part of Python, such as </a:t>
            </a:r>
            <a:r>
              <a:rPr lang="en-AU" dirty="0">
                <a:solidFill>
                  <a:srgbClr val="7030A0"/>
                </a:solidFill>
                <a:sym typeface="+mn-ea"/>
              </a:rPr>
              <a:t>print(), </a:t>
            </a:r>
            <a:r>
              <a:rPr lang="en-AU" dirty="0" err="1">
                <a:solidFill>
                  <a:srgbClr val="7030A0"/>
                </a:solidFill>
                <a:sym typeface="+mn-ea"/>
              </a:rPr>
              <a:t>int</a:t>
            </a:r>
            <a:r>
              <a:rPr lang="en-AU" dirty="0">
                <a:solidFill>
                  <a:srgbClr val="7030A0"/>
                </a:solidFill>
                <a:sym typeface="+mn-ea"/>
              </a:rPr>
              <a:t>(), float(), </a:t>
            </a:r>
            <a:r>
              <a:rPr lang="en-AU" dirty="0" err="1">
                <a:sym typeface="+mn-ea"/>
              </a:rPr>
              <a:t>etc</a:t>
            </a:r>
            <a:endParaRPr lang="en-AU" dirty="0" err="1">
              <a:sym typeface="+mn-ea"/>
            </a:endParaRPr>
          </a:p>
          <a:p>
            <a:r>
              <a:rPr lang="en-US" altLang="en-AU" dirty="0">
                <a:sym typeface="+mn-ea"/>
              </a:rPr>
              <a:t>2.</a:t>
            </a:r>
            <a:r>
              <a:rPr lang="en-AU" dirty="0">
                <a:sym typeface="+mn-ea"/>
              </a:rPr>
              <a:t>Functions that we define </a:t>
            </a:r>
            <a:r>
              <a:rPr lang="en-AU" dirty="0">
                <a:solidFill>
                  <a:srgbClr val="FF0000"/>
                </a:solidFill>
                <a:sym typeface="+mn-ea"/>
              </a:rPr>
              <a:t>ourselves</a:t>
            </a:r>
            <a:r>
              <a:rPr lang="en-AU" dirty="0">
                <a:sym typeface="+mn-ea"/>
              </a:rPr>
              <a:t> and then use</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Use the def keyword with the function name to define a function.</a:t>
            </a:r>
            <a:endParaRPr lang="zh-CN" altLang="en-US"/>
          </a:p>
          <a:p>
            <a:r>
              <a:rPr lang="zh-CN" altLang="en-US"/>
              <a:t>Next, take two parameters</a:t>
            </a:r>
            <a:endParaRPr lang="zh-CN" altLang="en-US"/>
          </a:p>
          <a:p>
            <a:r>
              <a:rPr lang="zh-CN" altLang="en-US"/>
              <a:t>Print them using the print() function</a:t>
            </a:r>
            <a:endParaRPr lang="zh-CN" altLang="en-US"/>
          </a:p>
          <a:p>
            <a:r>
              <a:rPr lang="zh-CN" altLang="en-US"/>
              <a:t>Call function by passing name and age.</a:t>
            </a:r>
            <a:endParaRPr lang="zh-CN" altLang="en-US"/>
          </a:p>
          <a:p>
            <a:r>
              <a:rPr lang="en-US" altLang="zh-CN"/>
              <a:t>ok, this is very easy and basic.</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Let's look at the first exercise，</a:t>
            </a:r>
            <a:r>
              <a:rPr lang="en-US" altLang="zh-CN"/>
              <a:t>this is a simple problem. and now we look at the solution</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Use the def keyword with the function name to define a function.</a:t>
            </a:r>
            <a:endParaRPr lang="zh-CN" altLang="en-US"/>
          </a:p>
          <a:p>
            <a:r>
              <a:rPr lang="zh-CN" altLang="en-US"/>
              <a:t>Next, take two parameters</a:t>
            </a:r>
            <a:endParaRPr lang="zh-CN" altLang="en-US"/>
          </a:p>
          <a:p>
            <a:r>
              <a:rPr lang="zh-CN" altLang="en-US"/>
              <a:t>Print them using the print() function</a:t>
            </a:r>
            <a:endParaRPr lang="zh-CN" altLang="en-US"/>
          </a:p>
          <a:p>
            <a:r>
              <a:rPr lang="zh-CN" altLang="en-US"/>
              <a:t>Call function by passing name and age.</a:t>
            </a:r>
            <a:endParaRPr lang="zh-CN" altLang="en-US"/>
          </a:p>
          <a:p>
            <a:r>
              <a:rPr lang="en-US" altLang="zh-CN"/>
              <a:t>ok, this is very easy and basic.</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Use the def keyword with the function name to define a function.</a:t>
            </a:r>
            <a:endParaRPr lang="zh-CN" altLang="en-US"/>
          </a:p>
          <a:p>
            <a:r>
              <a:rPr lang="zh-CN" altLang="en-US"/>
              <a:t>Next, take two parameters</a:t>
            </a:r>
            <a:endParaRPr lang="zh-CN" altLang="en-US"/>
          </a:p>
          <a:p>
            <a:r>
              <a:rPr lang="zh-CN" altLang="en-US"/>
              <a:t>Print them using the print() function</a:t>
            </a:r>
            <a:endParaRPr lang="zh-CN" altLang="en-US"/>
          </a:p>
          <a:p>
            <a:r>
              <a:rPr lang="zh-CN" altLang="en-US"/>
              <a:t>Call function by passing name and age.</a:t>
            </a:r>
            <a:endParaRPr lang="zh-CN" altLang="en-US"/>
          </a:p>
          <a:p>
            <a:r>
              <a:rPr lang="en-US" altLang="zh-CN"/>
              <a:t>ok, this is very easy and basic.</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Use the def keyword with the function name to define a function.</a:t>
            </a:r>
            <a:endParaRPr lang="zh-CN" altLang="en-US"/>
          </a:p>
          <a:p>
            <a:r>
              <a:rPr lang="zh-CN" altLang="en-US"/>
              <a:t>Next, take two parameters</a:t>
            </a:r>
            <a:endParaRPr lang="zh-CN" altLang="en-US"/>
          </a:p>
          <a:p>
            <a:r>
              <a:rPr lang="zh-CN" altLang="en-US"/>
              <a:t>Print them using the print() function</a:t>
            </a:r>
            <a:endParaRPr lang="zh-CN" altLang="en-US"/>
          </a:p>
          <a:p>
            <a:r>
              <a:rPr lang="zh-CN" altLang="en-US"/>
              <a:t>Call function by passing name and age.</a:t>
            </a:r>
            <a:endParaRPr lang="zh-CN" altLang="en-US"/>
          </a:p>
          <a:p>
            <a:r>
              <a:rPr lang="en-US" altLang="zh-CN"/>
              <a:t>ok, this is very easy and basic.</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Use the def keyword with the function name to define a function.</a:t>
            </a:r>
            <a:endParaRPr lang="zh-CN" altLang="en-US"/>
          </a:p>
          <a:p>
            <a:r>
              <a:rPr lang="zh-CN" altLang="en-US"/>
              <a:t>Next, take two parameters</a:t>
            </a:r>
            <a:endParaRPr lang="zh-CN" altLang="en-US"/>
          </a:p>
          <a:p>
            <a:r>
              <a:rPr lang="zh-CN" altLang="en-US"/>
              <a:t>Print them using the print() function</a:t>
            </a:r>
            <a:endParaRPr lang="zh-CN" altLang="en-US"/>
          </a:p>
          <a:p>
            <a:r>
              <a:rPr lang="zh-CN" altLang="en-US"/>
              <a:t>Call function by passing name and age.</a:t>
            </a:r>
            <a:endParaRPr lang="zh-CN" altLang="en-US"/>
          </a:p>
          <a:p>
            <a:r>
              <a:rPr lang="en-US" altLang="zh-CN"/>
              <a:t>ok, this is very easy and basic.</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Use the def keyword with the function name to define a function.</a:t>
            </a:r>
            <a:endParaRPr lang="zh-CN" altLang="en-US"/>
          </a:p>
          <a:p>
            <a:r>
              <a:rPr lang="zh-CN" altLang="en-US"/>
              <a:t>Next, take two parameters</a:t>
            </a:r>
            <a:endParaRPr lang="zh-CN" altLang="en-US"/>
          </a:p>
          <a:p>
            <a:r>
              <a:rPr lang="zh-CN" altLang="en-US"/>
              <a:t>Print them using the print() function</a:t>
            </a:r>
            <a:endParaRPr lang="zh-CN" altLang="en-US"/>
          </a:p>
          <a:p>
            <a:r>
              <a:rPr lang="zh-CN" altLang="en-US"/>
              <a:t>Call function by passing name and age.</a:t>
            </a:r>
            <a:endParaRPr lang="zh-CN" altLang="en-US"/>
          </a:p>
          <a:p>
            <a:r>
              <a:rPr lang="en-US" altLang="zh-CN"/>
              <a:t>ok, this is very easy and basic.</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The target codes have been given a part</a:t>
            </a:r>
            <a:r>
              <a:rPr lang="zh-CN" altLang="en-US"/>
              <a:t>，</a:t>
            </a:r>
            <a:r>
              <a:rPr lang="en-US" altLang="zh-CN"/>
              <a:t>you should base it and complete it. ok let’s look at the solutions</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the simplest one method that we think of if create </a:t>
            </a:r>
            <a:r>
              <a:rPr lang="zh-CN" altLang="en-US"/>
              <a:t>a variable</a:t>
            </a:r>
            <a:r>
              <a:rPr lang="en-US" altLang="zh-CN"/>
              <a:t> called addition that stores the result of a plus b, and create another variable called subtraction that stores the result of a minus b. then return multipule values separated by comma. the output of calculation is given to the variable called res, and the res is a tuple (50, 30)</a:t>
            </a:r>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we can also simplify the solution 1, we could directly return the result of a plus b and a minus b, which can save the memory when run the program and also make the function looks more simple. we can use two variables to receive the output of the calculation function. and the add and sub variable are both int type.</a:t>
            </a:r>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en-AU" dirty="0">
                <a:sym typeface="+mn-ea"/>
              </a:rPr>
              <a:t>- </a:t>
            </a:r>
            <a:r>
              <a:rPr lang="en-AU" dirty="0">
                <a:sym typeface="+mn-ea"/>
              </a:rPr>
              <a:t>There are two types of functions in </a:t>
            </a:r>
            <a:r>
              <a:rPr lang="en-AU" dirty="0">
                <a:solidFill>
                  <a:srgbClr val="FF0000"/>
                </a:solidFill>
                <a:sym typeface="+mn-ea"/>
              </a:rPr>
              <a:t>Python</a:t>
            </a:r>
            <a:endParaRPr lang="en-AU" dirty="0">
              <a:solidFill>
                <a:srgbClr val="FF0000"/>
              </a:solidFill>
              <a:sym typeface="+mn-ea"/>
            </a:endParaRPr>
          </a:p>
          <a:p>
            <a:r>
              <a:rPr lang="en-US" altLang="en-AU" dirty="0">
                <a:solidFill>
                  <a:srgbClr val="FF0000"/>
                </a:solidFill>
                <a:sym typeface="+mn-ea"/>
              </a:rPr>
              <a:t>1.</a:t>
            </a:r>
            <a:r>
              <a:rPr lang="en-AU" dirty="0">
                <a:solidFill>
                  <a:srgbClr val="FF0000"/>
                </a:solidFill>
                <a:sym typeface="+mn-ea"/>
              </a:rPr>
              <a:t>Built-in functions</a:t>
            </a:r>
            <a:r>
              <a:rPr lang="en-AU" dirty="0">
                <a:sym typeface="+mn-ea"/>
              </a:rPr>
              <a:t> which are part of Python, such as </a:t>
            </a:r>
            <a:r>
              <a:rPr lang="en-AU" dirty="0">
                <a:solidFill>
                  <a:srgbClr val="7030A0"/>
                </a:solidFill>
                <a:sym typeface="+mn-ea"/>
              </a:rPr>
              <a:t>print(), </a:t>
            </a:r>
            <a:r>
              <a:rPr lang="en-AU" dirty="0" err="1">
                <a:solidFill>
                  <a:srgbClr val="7030A0"/>
                </a:solidFill>
                <a:sym typeface="+mn-ea"/>
              </a:rPr>
              <a:t>int</a:t>
            </a:r>
            <a:r>
              <a:rPr lang="en-AU" dirty="0">
                <a:solidFill>
                  <a:srgbClr val="7030A0"/>
                </a:solidFill>
                <a:sym typeface="+mn-ea"/>
              </a:rPr>
              <a:t>(), float(), </a:t>
            </a:r>
            <a:r>
              <a:rPr lang="en-AU" dirty="0" err="1">
                <a:sym typeface="+mn-ea"/>
              </a:rPr>
              <a:t>etc</a:t>
            </a:r>
            <a:endParaRPr lang="en-AU" dirty="0" err="1">
              <a:sym typeface="+mn-ea"/>
            </a:endParaRPr>
          </a:p>
          <a:p>
            <a:r>
              <a:rPr lang="en-US" altLang="en-AU" dirty="0">
                <a:sym typeface="+mn-ea"/>
              </a:rPr>
              <a:t>2.</a:t>
            </a:r>
            <a:r>
              <a:rPr lang="en-AU" dirty="0">
                <a:sym typeface="+mn-ea"/>
              </a:rPr>
              <a:t>Functions that we define </a:t>
            </a:r>
            <a:r>
              <a:rPr lang="en-AU" dirty="0">
                <a:solidFill>
                  <a:srgbClr val="FF0000"/>
                </a:solidFill>
                <a:sym typeface="+mn-ea"/>
              </a:rPr>
              <a:t>ourselves</a:t>
            </a:r>
            <a:r>
              <a:rPr lang="en-AU" dirty="0">
                <a:sym typeface="+mn-ea"/>
              </a:rPr>
              <a:t> and then use</a:t>
            </a:r>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the hint shows that how to use the fucntion and display the output of the fucntion, you know, we learned the parameter and the equal sign and the default value can support the fucntion having default argument.</a:t>
            </a:r>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Default arguments take the default value during the function call if we do not pass them. </a:t>
            </a:r>
            <a:r>
              <a:rPr lang="en-US" altLang="zh-CN"/>
              <a:t>For example, , it is equal to the default value. </a:t>
            </a:r>
            <a:r>
              <a:rPr lang="zh-CN" altLang="en-US"/>
              <a:t>We can assign a default value to an argument in function definition using the = assignment operator.</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Default arguments take the default value during the function call if we do not pass them. </a:t>
            </a:r>
            <a:r>
              <a:rPr lang="en-US" altLang="zh-CN"/>
              <a:t>For example, , it is equal to the default value. </a:t>
            </a:r>
            <a:r>
              <a:rPr lang="zh-CN" altLang="en-US"/>
              <a:t>We can assign a default value to an argument in function definition using the = assignment operator.</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标题占位符 1"/>
          <p:cNvSpPr>
            <a:spLocks noGrp="1"/>
          </p:cNvSpPr>
          <p:nvPr>
            <p:ph type="title"/>
          </p:nvPr>
        </p:nvSpPr>
        <p:spPr>
          <a:xfrm>
            <a:off x="802516" y="685186"/>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文本占位符 2"/>
          <p:cNvSpPr>
            <a:spLocks noGrp="1"/>
          </p:cNvSpPr>
          <p:nvPr>
            <p:ph idx="1"/>
          </p:nvPr>
        </p:nvSpPr>
        <p:spPr>
          <a:xfrm>
            <a:off x="802516" y="2080904"/>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1.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02516" y="685186"/>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02516" y="2080904"/>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grpSp>
        <p:nvGrpSpPr>
          <p:cNvPr id="7" name="组合 6"/>
          <p:cNvGrpSpPr/>
          <p:nvPr userDrawn="1"/>
        </p:nvGrpSpPr>
        <p:grpSpPr>
          <a:xfrm>
            <a:off x="0" y="-62678"/>
            <a:ext cx="12192000" cy="854684"/>
            <a:chOff x="-62235" y="561670"/>
            <a:chExt cx="12192000" cy="854684"/>
          </a:xfrm>
        </p:grpSpPr>
        <p:sp>
          <p:nvSpPr>
            <p:cNvPr id="8" name="矩形 7"/>
            <p:cNvSpPr/>
            <p:nvPr/>
          </p:nvSpPr>
          <p:spPr>
            <a:xfrm>
              <a:off x="-62235" y="619124"/>
              <a:ext cx="12192000" cy="714375"/>
            </a:xfrm>
            <a:prstGeom prst="rect">
              <a:avLst/>
            </a:prstGeom>
            <a:solidFill>
              <a:srgbClr val="621C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2"/>
            <p:cNvPicPr>
              <a:picLocks noChangeAspect="1" noChangeArrowheads="1"/>
            </p:cNvPicPr>
            <p:nvPr/>
          </p:nvPicPr>
          <p:blipFill rotWithShape="1">
            <a:blip r:embed="rId11">
              <a:extLst>
                <a:ext uri="{28A0092B-C50C-407E-A947-70E740481C1C}">
                  <a14:useLocalDpi xmlns:a14="http://schemas.microsoft.com/office/drawing/2010/main" val="0"/>
                </a:ext>
              </a:extLst>
            </a:blip>
            <a:srcRect r="84981"/>
            <a:stretch>
              <a:fillRect/>
            </a:stretch>
          </p:blipFill>
          <p:spPr bwMode="auto">
            <a:xfrm>
              <a:off x="5743575" y="561670"/>
              <a:ext cx="932528" cy="85468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p:cNvPicPr>
              <a:picLocks noChangeAspect="1" noChangeArrowheads="1"/>
            </p:cNvPicPr>
            <p:nvPr/>
          </p:nvPicPr>
          <p:blipFill rotWithShape="1">
            <a:blip r:embed="rId11">
              <a:lum bright="70000" contrast="-70000"/>
              <a:extLst>
                <a:ext uri="{28A0092B-C50C-407E-A947-70E740481C1C}">
                  <a14:useLocalDpi xmlns:a14="http://schemas.microsoft.com/office/drawing/2010/main" val="0"/>
                </a:ext>
              </a:extLst>
            </a:blip>
            <a:srcRect l="14206"/>
            <a:stretch>
              <a:fillRect/>
            </a:stretch>
          </p:blipFill>
          <p:spPr bwMode="auto">
            <a:xfrm>
              <a:off x="6625610" y="561670"/>
              <a:ext cx="5326996" cy="854684"/>
            </a:xfrm>
            <a:prstGeom prst="rect">
              <a:avLst/>
            </a:prstGeom>
            <a:noFill/>
            <a:extLst>
              <a:ext uri="{909E8E84-426E-40DD-AFC4-6F175D3DCCD1}">
                <a14:hiddenFill xmlns:a14="http://schemas.microsoft.com/office/drawing/2010/main">
                  <a:solidFill>
                    <a:srgbClr val="FFFFFF"/>
                  </a:solidFill>
                </a14:hiddenFill>
              </a:ext>
            </a:extLst>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62678"/>
            <a:ext cx="12192000" cy="854684"/>
            <a:chOff x="-62235" y="561670"/>
            <a:chExt cx="12192000" cy="854684"/>
          </a:xfrm>
        </p:grpSpPr>
        <p:sp>
          <p:nvSpPr>
            <p:cNvPr id="10" name="矩形 9"/>
            <p:cNvSpPr/>
            <p:nvPr/>
          </p:nvSpPr>
          <p:spPr>
            <a:xfrm>
              <a:off x="-62235" y="631824"/>
              <a:ext cx="12192000" cy="714375"/>
            </a:xfrm>
            <a:prstGeom prst="rect">
              <a:avLst/>
            </a:prstGeom>
            <a:solidFill>
              <a:srgbClr val="621C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r="84981"/>
            <a:stretch>
              <a:fillRect/>
            </a:stretch>
          </p:blipFill>
          <p:spPr bwMode="auto">
            <a:xfrm>
              <a:off x="5743575" y="561670"/>
              <a:ext cx="932528" cy="85468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noChangeArrowheads="1"/>
            </p:cNvPicPr>
            <p:nvPr/>
          </p:nvPicPr>
          <p:blipFill rotWithShape="1">
            <a:blip r:embed="rId1">
              <a:lum bright="70000" contrast="-70000"/>
              <a:extLst>
                <a:ext uri="{28A0092B-C50C-407E-A947-70E740481C1C}">
                  <a14:useLocalDpi xmlns:a14="http://schemas.microsoft.com/office/drawing/2010/main" val="0"/>
                </a:ext>
              </a:extLst>
            </a:blip>
            <a:srcRect l="14206"/>
            <a:stretch>
              <a:fillRect/>
            </a:stretch>
          </p:blipFill>
          <p:spPr bwMode="auto">
            <a:xfrm>
              <a:off x="6625610" y="561670"/>
              <a:ext cx="5326996" cy="854684"/>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标题 1"/>
          <p:cNvSpPr txBox="1"/>
          <p:nvPr/>
        </p:nvSpPr>
        <p:spPr>
          <a:xfrm>
            <a:off x="1524000" y="1322962"/>
            <a:ext cx="9144000" cy="2187001"/>
          </a:xfrm>
          <a:prstGeom prst="rect">
            <a:avLst/>
          </a:prstGeom>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algn="ctr"/>
            <a:r>
              <a:rPr lang="en-US" altLang="en-AU" sz="4000" b="1" dirty="0">
                <a:latin typeface="微软雅黑" panose="020B0503020204020204" pitchFamily="34" charset="-122"/>
                <a:ea typeface="微软雅黑" panose="020B0503020204020204" pitchFamily="34" charset="-122"/>
                <a:sym typeface="+mn-ea"/>
              </a:rPr>
              <a:t>Tutorial 8</a:t>
            </a:r>
            <a:endParaRPr lang="en-US" altLang="en-AU" sz="4000" b="1" dirty="0">
              <a:latin typeface="微软雅黑" panose="020B0503020204020204" pitchFamily="34" charset="-122"/>
              <a:ea typeface="微软雅黑" panose="020B0503020204020204" pitchFamily="34" charset="-122"/>
              <a:sym typeface="+mn-ea"/>
            </a:endParaRPr>
          </a:p>
          <a:p>
            <a:pPr algn="ctr"/>
            <a:r>
              <a:rPr lang="en-US" altLang="en-AU" sz="4000" b="1" dirty="0">
                <a:latin typeface="微软雅黑" panose="020B0503020204020204" pitchFamily="34" charset="-122"/>
                <a:ea typeface="微软雅黑" panose="020B0503020204020204" pitchFamily="34" charset="-122"/>
                <a:sym typeface="+mn-ea"/>
              </a:rPr>
              <a:t>Binary Search </a:t>
            </a:r>
            <a:r>
              <a:rPr lang="en-US" altLang="en-AU" sz="4000" b="1" dirty="0">
                <a:latin typeface="微软雅黑" panose="020B0503020204020204" pitchFamily="34" charset="-122"/>
                <a:ea typeface="微软雅黑" panose="020B0503020204020204" pitchFamily="34" charset="-122"/>
                <a:sym typeface="+mn-ea"/>
              </a:rPr>
              <a:t>Tree &amp; AVL Tree</a:t>
            </a:r>
            <a:endParaRPr lang="en-US" altLang="en-AU" sz="4000" b="1" dirty="0">
              <a:latin typeface="微软雅黑" panose="020B0503020204020204" pitchFamily="34" charset="-122"/>
              <a:ea typeface="微软雅黑" panose="020B0503020204020204" pitchFamily="34" charset="-122"/>
              <a:sym typeface="+mn-ea"/>
            </a:endParaRPr>
          </a:p>
        </p:txBody>
      </p:sp>
      <p:sp>
        <p:nvSpPr>
          <p:cNvPr id="7" name="副标题 4"/>
          <p:cNvSpPr txBox="1"/>
          <p:nvPr/>
        </p:nvSpPr>
        <p:spPr>
          <a:xfrm>
            <a:off x="1524000" y="3608438"/>
            <a:ext cx="9144000" cy="164936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b="1" dirty="0">
              <a:latin typeface="微软雅黑" panose="020B0503020204020204" pitchFamily="34" charset="-122"/>
              <a:ea typeface="微软雅黑" panose="020B0503020204020204" pitchFamily="34" charset="-122"/>
              <a:sym typeface="+mn-ea"/>
            </a:endParaRPr>
          </a:p>
          <a:p>
            <a:pPr marL="0" indent="0" algn="ctr">
              <a:buNone/>
            </a:pPr>
            <a:endParaRPr lang="en-US" altLang="zh-CN" dirty="0">
              <a:latin typeface="微软雅黑" panose="020B0503020204020204" pitchFamily="34" charset="-122"/>
              <a:ea typeface="微软雅黑" panose="020B0503020204020204" pitchFamily="34" charset="-122"/>
            </a:endParaRPr>
          </a:p>
          <a:p>
            <a:pPr marL="0" indent="0" algn="ctr">
              <a:buNone/>
            </a:pPr>
            <a:r>
              <a:rPr lang="en-US" altLang="zh-CN" dirty="0">
                <a:latin typeface="微软雅黑" panose="020B0503020204020204" pitchFamily="34" charset="-122"/>
                <a:ea typeface="微软雅黑" panose="020B0503020204020204" pitchFamily="34" charset="-122"/>
              </a:rPr>
              <a:t>Xi Chen</a:t>
            </a:r>
            <a:endParaRPr lang="en-US" altLang="zh-CN" dirty="0">
              <a:latin typeface="微软雅黑" panose="020B0503020204020204" pitchFamily="34" charset="-122"/>
              <a:ea typeface="微软雅黑" panose="020B0503020204020204" pitchFamily="34" charset="-122"/>
            </a:endParaRPr>
          </a:p>
          <a:p>
            <a:pPr marL="0" indent="0" algn="ctr">
              <a:buNone/>
            </a:pPr>
            <a:r>
              <a:rPr lang="en-US" altLang="zh-CN" dirty="0">
                <a:latin typeface="微软雅黑" panose="020B0503020204020204" pitchFamily="34" charset="-122"/>
                <a:ea typeface="微软雅黑" panose="020B0503020204020204" pitchFamily="34" charset="-122"/>
              </a:rPr>
              <a:t>E-mail: xichen7@link.cuhk.edu.cn</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latin typeface="微软雅黑 (标题)"/>
              </a:rPr>
              <a:t>Outline</a:t>
            </a:r>
            <a:endParaRPr lang="zh-CN" altLang="en-US" sz="4000" b="1" dirty="0">
              <a:latin typeface="微软雅黑 (标题)"/>
            </a:endParaRPr>
          </a:p>
        </p:txBody>
      </p:sp>
      <p:sp>
        <p:nvSpPr>
          <p:cNvPr id="3" name="内容占位符 2"/>
          <p:cNvSpPr>
            <a:spLocks noGrp="1"/>
          </p:cNvSpPr>
          <p:nvPr>
            <p:ph idx="1"/>
          </p:nvPr>
        </p:nvSpPr>
        <p:spPr/>
        <p:txBody>
          <a:bodyPr>
            <a:normAutofit/>
          </a:bodyPr>
          <a:lstStyle/>
          <a:p>
            <a:r>
              <a:rPr lang="en-US" altLang="zh-CN" sz="3600" dirty="0">
                <a:latin typeface="微软雅黑 (标题)"/>
              </a:rPr>
              <a:t>Recap</a:t>
            </a:r>
            <a:endParaRPr lang="en-US" altLang="zh-CN" sz="3600" dirty="0">
              <a:latin typeface="微软雅黑 (标题)"/>
            </a:endParaRPr>
          </a:p>
          <a:p>
            <a:r>
              <a:rPr lang="en-US" altLang="zh-CN" sz="3600" dirty="0">
                <a:latin typeface="微软雅黑 (标题)"/>
              </a:rPr>
              <a:t>Exercises</a:t>
            </a:r>
            <a:endParaRPr lang="en-US" altLang="zh-CN" sz="3200" dirty="0">
              <a:latin typeface="微软雅黑 (标题)"/>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681037"/>
            <a:ext cx="10515600" cy="1325563"/>
          </a:xfrm>
        </p:spPr>
        <p:txBody>
          <a:bodyPr>
            <a:normAutofit/>
          </a:bodyPr>
          <a:lstStyle/>
          <a:p>
            <a:r>
              <a:rPr lang="zh-CN" altLang="en-US" sz="4000" b="1" dirty="0">
                <a:latin typeface="+mj-ea"/>
              </a:rPr>
              <a:t>Recap</a:t>
            </a:r>
            <a:endParaRPr lang="zh-CN" altLang="en-US" sz="4000" b="1" dirty="0">
              <a:latin typeface="+mj-ea"/>
            </a:endParaRPr>
          </a:p>
        </p:txBody>
      </p:sp>
      <p:sp>
        <p:nvSpPr>
          <p:cNvPr id="3" name="内容占位符 2"/>
          <p:cNvSpPr>
            <a:spLocks noGrp="1"/>
          </p:cNvSpPr>
          <p:nvPr>
            <p:ph idx="4294967295"/>
          </p:nvPr>
        </p:nvSpPr>
        <p:spPr>
          <a:xfrm>
            <a:off x="647700" y="1825625"/>
            <a:ext cx="7843520" cy="4351655"/>
          </a:xfrm>
        </p:spPr>
        <p:txBody>
          <a:bodyPr/>
          <a:lstStyle/>
          <a:p>
            <a:pPr marL="0" indent="0">
              <a:buNone/>
            </a:pPr>
            <a:r>
              <a:rPr lang="en-US" altLang="zh-CN" dirty="0"/>
              <a:t>Binary Search Tree(BST)</a:t>
            </a:r>
            <a:endParaRPr lang="en-US" altLang="zh-CN" dirty="0"/>
          </a:p>
          <a:p>
            <a:r>
              <a:rPr lang="en-US" altLang="zh-CN" dirty="0"/>
              <a:t>BST is a tree such that for each node T</a:t>
            </a:r>
            <a:endParaRPr lang="en-US" altLang="zh-CN" dirty="0"/>
          </a:p>
          <a:p>
            <a:pPr lvl="1"/>
            <a:r>
              <a:rPr lang="en-US" altLang="zh-CN" dirty="0"/>
              <a:t>the key values in its left subtree are </a:t>
            </a:r>
            <a:r>
              <a:rPr lang="en-US" altLang="zh-CN" dirty="0">
                <a:solidFill>
                  <a:srgbClr val="FF0000"/>
                </a:solidFill>
              </a:rPr>
              <a:t>smaller</a:t>
            </a:r>
            <a:r>
              <a:rPr lang="en-US" altLang="zh-CN" dirty="0"/>
              <a:t> than the key value of T</a:t>
            </a:r>
            <a:endParaRPr lang="en-US" altLang="zh-CN" dirty="0"/>
          </a:p>
          <a:p>
            <a:pPr lvl="1"/>
            <a:r>
              <a:rPr lang="en-US" altLang="zh-CN" dirty="0"/>
              <a:t>the key values in its right subtree are </a:t>
            </a:r>
            <a:r>
              <a:rPr lang="en-US" altLang="zh-CN" dirty="0">
                <a:solidFill>
                  <a:srgbClr val="FF0000"/>
                </a:solidFill>
              </a:rPr>
              <a:t>larger</a:t>
            </a:r>
            <a:r>
              <a:rPr lang="en-US" altLang="zh-CN" dirty="0"/>
              <a:t> than the key value of T</a:t>
            </a:r>
            <a:endParaRPr lang="en-US" altLang="zh-CN" dirty="0"/>
          </a:p>
        </p:txBody>
      </p:sp>
      <p:pic>
        <p:nvPicPr>
          <p:cNvPr id="4" name="图片 3"/>
          <p:cNvPicPr>
            <a:picLocks noChangeAspect="1"/>
          </p:cNvPicPr>
          <p:nvPr/>
        </p:nvPicPr>
        <p:blipFill>
          <a:blip r:embed="rId1"/>
          <a:stretch>
            <a:fillRect/>
          </a:stretch>
        </p:blipFill>
        <p:spPr>
          <a:xfrm>
            <a:off x="8258175" y="2334260"/>
            <a:ext cx="3086735" cy="23291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en-US" altLang="zh-CN" sz="4000" b="1" dirty="0">
                <a:latin typeface="+mj-ea"/>
              </a:rPr>
              <a:t>DFS and BFS</a:t>
            </a:r>
            <a:endParaRPr lang="zh-CN" altLang="en-US" sz="4000" b="1" dirty="0">
              <a:latin typeface="+mj-ea"/>
            </a:endParaRPr>
          </a:p>
        </p:txBody>
      </p:sp>
      <p:sp>
        <p:nvSpPr>
          <p:cNvPr id="6" name="文本框 5"/>
          <p:cNvSpPr txBox="1"/>
          <p:nvPr/>
        </p:nvSpPr>
        <p:spPr>
          <a:xfrm>
            <a:off x="647701" y="1911851"/>
            <a:ext cx="11128288" cy="4524315"/>
          </a:xfrm>
          <a:prstGeom prst="rect">
            <a:avLst/>
          </a:prstGeom>
          <a:noFill/>
        </p:spPr>
        <p:txBody>
          <a:bodyPr wrap="square">
            <a:spAutoFit/>
          </a:bodyPr>
          <a:lstStyle/>
          <a:p>
            <a:r>
              <a:rPr lang="en-US" altLang="zh-CN" sz="2400" b="1" dirty="0"/>
              <a:t>Depth First Search (DFS)</a:t>
            </a:r>
            <a:endParaRPr lang="en-US" altLang="zh-CN" sz="2400" b="1" dirty="0"/>
          </a:p>
          <a:p>
            <a:r>
              <a:rPr lang="en-US" altLang="zh-CN" sz="2400" dirty="0"/>
              <a:t>In this strategy, we adopt the depth as the priority, so that one would start from a root and reach all the way down to certain leaf, and then back to root to reach another branch.</a:t>
            </a:r>
            <a:endParaRPr lang="en-US" altLang="zh-CN" sz="2400" dirty="0"/>
          </a:p>
          <a:p>
            <a:r>
              <a:rPr lang="en-US" altLang="zh-CN" sz="2400" dirty="0"/>
              <a:t>The DFS strategy can further be distinguished as preorder, in-order, and post-order depending on the relative order among the root node, left node and right node.</a:t>
            </a:r>
            <a:endParaRPr lang="en-US" altLang="zh-CN" sz="2400" dirty="0"/>
          </a:p>
          <a:p>
            <a:endParaRPr lang="en-US" altLang="zh-CN" sz="2400" dirty="0"/>
          </a:p>
          <a:p>
            <a:r>
              <a:rPr lang="en-US" altLang="zh-CN" sz="2400" b="1" dirty="0"/>
              <a:t>Breadth First Search (BFS)</a:t>
            </a:r>
            <a:endParaRPr lang="en-US" altLang="zh-CN" sz="2400" b="1" dirty="0"/>
          </a:p>
          <a:p>
            <a:r>
              <a:rPr lang="en-US" altLang="zh-CN" sz="2400" dirty="0"/>
              <a:t>We scan through the tree level by level, following the order of height, from top to bottom. The nodes on higher level would be visited before the ones with lower levels.</a:t>
            </a:r>
            <a:endParaRPr lang="zh-CN"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1201400" cy="1325563"/>
          </a:xfrm>
        </p:spPr>
        <p:txBody>
          <a:bodyPr>
            <a:normAutofit/>
          </a:bodyPr>
          <a:lstStyle/>
          <a:p>
            <a:r>
              <a:rPr lang="zh-CN" altLang="en-US" sz="4000" b="1" dirty="0">
                <a:latin typeface="+mj-ea"/>
              </a:rPr>
              <a:t>Ex1: </a:t>
            </a:r>
            <a:r>
              <a:rPr lang="en-US" altLang="zh-CN" sz="4000" b="1" dirty="0">
                <a:latin typeface="+mj-ea"/>
              </a:rPr>
              <a:t>Kth Smallest Element in a BST</a:t>
            </a:r>
            <a:endParaRPr lang="zh-CN" altLang="en-US" sz="4000" b="1" dirty="0">
              <a:latin typeface="+mj-ea"/>
            </a:endParaRPr>
          </a:p>
        </p:txBody>
      </p:sp>
      <p:pic>
        <p:nvPicPr>
          <p:cNvPr id="5" name="内容占位符 4"/>
          <p:cNvPicPr>
            <a:picLocks noGrp="1" noChangeAspect="1"/>
          </p:cNvPicPr>
          <p:nvPr>
            <p:ph idx="4294967295"/>
          </p:nvPr>
        </p:nvPicPr>
        <p:blipFill>
          <a:blip r:embed="rId1"/>
          <a:stretch>
            <a:fillRect/>
          </a:stretch>
        </p:blipFill>
        <p:spPr>
          <a:xfrm>
            <a:off x="529974" y="1736484"/>
            <a:ext cx="11436852" cy="1541553"/>
          </a:xfrm>
        </p:spPr>
      </p:pic>
      <p:pic>
        <p:nvPicPr>
          <p:cNvPr id="7" name="图片 6"/>
          <p:cNvPicPr>
            <a:picLocks noChangeAspect="1"/>
          </p:cNvPicPr>
          <p:nvPr/>
        </p:nvPicPr>
        <p:blipFill>
          <a:blip r:embed="rId2"/>
          <a:stretch>
            <a:fillRect/>
          </a:stretch>
        </p:blipFill>
        <p:spPr>
          <a:xfrm>
            <a:off x="808340" y="3278037"/>
            <a:ext cx="2670054" cy="3540468"/>
          </a:xfrm>
          <a:prstGeom prst="rect">
            <a:avLst/>
          </a:prstGeom>
        </p:spPr>
      </p:pic>
      <p:pic>
        <p:nvPicPr>
          <p:cNvPr id="9" name="图片 8"/>
          <p:cNvPicPr>
            <a:picLocks noChangeAspect="1"/>
          </p:cNvPicPr>
          <p:nvPr/>
        </p:nvPicPr>
        <p:blipFill>
          <a:blip r:embed="rId3"/>
          <a:stretch>
            <a:fillRect/>
          </a:stretch>
        </p:blipFill>
        <p:spPr>
          <a:xfrm>
            <a:off x="4394644" y="3429000"/>
            <a:ext cx="3327965" cy="33113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en-US" altLang="zh-CN" sz="4000" b="1" dirty="0">
                <a:latin typeface="+mj-ea"/>
              </a:rPr>
              <a:t>Ex1: DFS and BFS</a:t>
            </a:r>
            <a:endParaRPr lang="zh-CN" altLang="en-US" sz="4000" b="1" dirty="0">
              <a:latin typeface="+mj-ea"/>
            </a:endParaRPr>
          </a:p>
        </p:txBody>
      </p:sp>
      <p:pic>
        <p:nvPicPr>
          <p:cNvPr id="2050" name="Picture 2" descr="postorde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1795" y="1819557"/>
            <a:ext cx="9387016" cy="47998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en-US" altLang="zh-CN" sz="4000" b="1" dirty="0">
                <a:latin typeface="+mj-ea"/>
              </a:rPr>
              <a:t>Ex1: </a:t>
            </a:r>
            <a:r>
              <a:rPr lang="zh-CN" altLang="en-US" sz="4000" b="1" dirty="0">
                <a:latin typeface="+mj-ea"/>
              </a:rPr>
              <a:t>Solution</a:t>
            </a:r>
            <a:endParaRPr lang="zh-CN" altLang="en-US" sz="4000" b="1" dirty="0">
              <a:latin typeface="+mj-ea"/>
            </a:endParaRPr>
          </a:p>
        </p:txBody>
      </p:sp>
      <p:sp>
        <p:nvSpPr>
          <p:cNvPr id="5" name="文本框 4"/>
          <p:cNvSpPr txBox="1"/>
          <p:nvPr/>
        </p:nvSpPr>
        <p:spPr>
          <a:xfrm>
            <a:off x="501993" y="1911912"/>
            <a:ext cx="10807014" cy="3785652"/>
          </a:xfrm>
          <a:prstGeom prst="rect">
            <a:avLst/>
          </a:prstGeom>
          <a:noFill/>
        </p:spPr>
        <p:txBody>
          <a:bodyPr wrap="square">
            <a:spAutoFit/>
          </a:bodyPr>
          <a:lstStyle/>
          <a:p>
            <a:r>
              <a:rPr lang="en-US" altLang="zh-CN" sz="2400" dirty="0"/>
              <a:t>To solve the problem, one could use the property of BST : </a:t>
            </a:r>
            <a:r>
              <a:rPr lang="en-US" altLang="zh-CN" sz="2400" dirty="0" err="1"/>
              <a:t>inorder</a:t>
            </a:r>
            <a:r>
              <a:rPr lang="en-US" altLang="zh-CN" sz="2400" dirty="0"/>
              <a:t> traversal of BST is an array sorted in the ascending order.</a:t>
            </a:r>
            <a:endParaRPr lang="en-US" altLang="zh-CN" sz="2400" b="1" dirty="0"/>
          </a:p>
          <a:p>
            <a:pPr algn="l"/>
            <a:r>
              <a:rPr lang="en-US" altLang="zh-CN" sz="2400" b="1" dirty="0"/>
              <a:t>Approach 1: Recursive In-order Traversal</a:t>
            </a:r>
            <a:endParaRPr lang="en-US" altLang="zh-CN" sz="2400" b="1" dirty="0"/>
          </a:p>
          <a:p>
            <a:pPr algn="l"/>
            <a:r>
              <a:rPr lang="en-US" altLang="zh-CN" sz="2400" dirty="0"/>
              <a:t>It's a very straightforward approach with </a:t>
            </a:r>
            <a:r>
              <a:rPr lang="en-US" altLang="zh-CN" sz="2400" b="1" dirty="0"/>
              <a:t>O(N)</a:t>
            </a:r>
            <a:r>
              <a:rPr lang="en-US" altLang="zh-CN" sz="2400" dirty="0"/>
              <a:t> time complexity. The idea is to build an </a:t>
            </a:r>
            <a:r>
              <a:rPr lang="en-US" altLang="zh-CN" sz="2400" dirty="0" err="1"/>
              <a:t>inorder</a:t>
            </a:r>
            <a:r>
              <a:rPr lang="en-US" altLang="zh-CN" sz="2400" dirty="0"/>
              <a:t> traversal of BST which is an array sorted in the ascending order. Now the answer is the </a:t>
            </a:r>
            <a:r>
              <a:rPr lang="en-US" altLang="zh-CN" sz="2400" b="1" dirty="0"/>
              <a:t>(k – 1)</a:t>
            </a:r>
            <a:r>
              <a:rPr lang="en-US" altLang="zh-CN" sz="2400" b="1" dirty="0" err="1"/>
              <a:t>th</a:t>
            </a:r>
            <a:r>
              <a:rPr lang="en-US" altLang="zh-CN" sz="2400" dirty="0"/>
              <a:t> element of this array.</a:t>
            </a:r>
            <a:endParaRPr lang="en-US" altLang="zh-CN" sz="2400" dirty="0"/>
          </a:p>
          <a:p>
            <a:br>
              <a:rPr lang="en-US" altLang="zh-CN" sz="2400" b="1" dirty="0"/>
            </a:br>
            <a:endParaRPr lang="en-US" altLang="zh-CN" sz="2400" b="1" dirty="0"/>
          </a:p>
          <a:p>
            <a:endParaRPr lang="en-US" altLang="zh-CN" sz="2400" dirty="0"/>
          </a:p>
          <a:p>
            <a:endParaRPr lang="zh-CN" altLang="en-US" sz="2400" dirty="0"/>
          </a:p>
        </p:txBody>
      </p:sp>
      <p:pic>
        <p:nvPicPr>
          <p:cNvPr id="3074" name="Picture 2" descr="bl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65870" y="4182041"/>
            <a:ext cx="8571470" cy="28091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en-US" altLang="zh-CN" sz="4000" b="1" dirty="0">
                <a:latin typeface="+mj-ea"/>
              </a:rPr>
              <a:t>Ex1: </a:t>
            </a:r>
            <a:r>
              <a:rPr lang="zh-CN" altLang="en-US" sz="4000" b="1" dirty="0">
                <a:latin typeface="+mj-ea"/>
              </a:rPr>
              <a:t>Solution</a:t>
            </a:r>
            <a:r>
              <a:rPr lang="en-US" altLang="zh-CN" sz="4000" b="1" dirty="0">
                <a:latin typeface="+mj-ea"/>
              </a:rPr>
              <a:t>(Java)</a:t>
            </a:r>
            <a:endParaRPr lang="zh-CN" altLang="en-US" sz="4000" b="1" dirty="0">
              <a:latin typeface="+mj-ea"/>
            </a:endParaRPr>
          </a:p>
        </p:txBody>
      </p:sp>
      <p:pic>
        <p:nvPicPr>
          <p:cNvPr id="4" name="图片 3"/>
          <p:cNvPicPr>
            <a:picLocks noChangeAspect="1"/>
          </p:cNvPicPr>
          <p:nvPr/>
        </p:nvPicPr>
        <p:blipFill>
          <a:blip r:embed="rId1"/>
          <a:stretch>
            <a:fillRect/>
          </a:stretch>
        </p:blipFill>
        <p:spPr>
          <a:xfrm>
            <a:off x="741405" y="1753895"/>
            <a:ext cx="9034977" cy="4686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en-US" altLang="zh-CN" sz="4000" b="1" dirty="0">
                <a:latin typeface="+mj-ea"/>
              </a:rPr>
              <a:t>Ex1: </a:t>
            </a:r>
            <a:r>
              <a:rPr lang="zh-CN" altLang="en-US" sz="4000" b="1" dirty="0">
                <a:latin typeface="+mj-ea"/>
              </a:rPr>
              <a:t>Solution</a:t>
            </a:r>
            <a:r>
              <a:rPr lang="en-US" altLang="zh-CN" sz="4000" b="1" dirty="0">
                <a:latin typeface="+mj-ea"/>
              </a:rPr>
              <a:t>(Python)</a:t>
            </a:r>
            <a:endParaRPr lang="zh-CN" altLang="en-US" sz="4000" b="1" dirty="0">
              <a:latin typeface="+mj-ea"/>
            </a:endParaRPr>
          </a:p>
        </p:txBody>
      </p:sp>
      <p:pic>
        <p:nvPicPr>
          <p:cNvPr id="5" name="图片 4"/>
          <p:cNvPicPr>
            <a:picLocks noChangeAspect="1"/>
          </p:cNvPicPr>
          <p:nvPr/>
        </p:nvPicPr>
        <p:blipFill>
          <a:blip r:embed="rId1"/>
          <a:stretch>
            <a:fillRect/>
          </a:stretch>
        </p:blipFill>
        <p:spPr>
          <a:xfrm>
            <a:off x="836140" y="1797321"/>
            <a:ext cx="10138719" cy="50606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en-US" altLang="zh-CN" sz="4000" b="1" dirty="0">
                <a:latin typeface="+mj-ea"/>
              </a:rPr>
              <a:t>Ex1: </a:t>
            </a:r>
            <a:r>
              <a:rPr lang="zh-CN" altLang="en-US" sz="4000" b="1" dirty="0">
                <a:latin typeface="+mj-ea"/>
              </a:rPr>
              <a:t>Solution</a:t>
            </a:r>
            <a:r>
              <a:rPr lang="en-US" altLang="zh-CN" sz="4000" b="1" dirty="0">
                <a:latin typeface="+mj-ea"/>
              </a:rPr>
              <a:t>(C++)</a:t>
            </a:r>
            <a:endParaRPr lang="zh-CN" altLang="en-US" sz="4000" b="1" dirty="0">
              <a:latin typeface="+mj-ea"/>
            </a:endParaRPr>
          </a:p>
        </p:txBody>
      </p:sp>
      <p:pic>
        <p:nvPicPr>
          <p:cNvPr id="4" name="图片 3"/>
          <p:cNvPicPr>
            <a:picLocks noChangeAspect="1"/>
          </p:cNvPicPr>
          <p:nvPr/>
        </p:nvPicPr>
        <p:blipFill>
          <a:blip r:embed="rId1"/>
          <a:stretch>
            <a:fillRect/>
          </a:stretch>
        </p:blipFill>
        <p:spPr>
          <a:xfrm>
            <a:off x="738649" y="2172929"/>
            <a:ext cx="5257800" cy="381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220344"/>
            <a:ext cx="12687300" cy="2332355"/>
          </a:xfrm>
        </p:spPr>
        <p:txBody>
          <a:bodyPr>
            <a:normAutofit/>
          </a:bodyPr>
          <a:lstStyle/>
          <a:p>
            <a:r>
              <a:rPr lang="zh-CN" altLang="en-US" sz="4000" b="1" dirty="0">
                <a:latin typeface="+mj-ea"/>
              </a:rPr>
              <a:t>E</a:t>
            </a:r>
            <a:r>
              <a:rPr lang="en-US" altLang="zh-CN" sz="4000" b="1" dirty="0">
                <a:latin typeface="+mj-ea"/>
              </a:rPr>
              <a:t>x2</a:t>
            </a:r>
            <a:r>
              <a:rPr lang="zh-CN" altLang="en-US" sz="4000" b="1" dirty="0">
                <a:latin typeface="+mj-ea"/>
              </a:rPr>
              <a:t>: </a:t>
            </a:r>
            <a:r>
              <a:rPr lang="en-US" altLang="zh-CN" sz="4000" b="1" dirty="0">
                <a:latin typeface="+mj-ea"/>
              </a:rPr>
              <a:t>Trim a Binary Search Tree</a:t>
            </a:r>
            <a:endParaRPr lang="zh-CN" altLang="en-US" sz="4000" b="1" dirty="0">
              <a:latin typeface="+mj-ea"/>
            </a:endParaRPr>
          </a:p>
        </p:txBody>
      </p:sp>
      <p:sp>
        <p:nvSpPr>
          <p:cNvPr id="3" name="内容占位符 2"/>
          <p:cNvSpPr>
            <a:spLocks noGrp="1"/>
          </p:cNvSpPr>
          <p:nvPr>
            <p:ph idx="4294967295"/>
          </p:nvPr>
        </p:nvSpPr>
        <p:spPr>
          <a:xfrm>
            <a:off x="647700" y="1825625"/>
            <a:ext cx="10515600" cy="4351338"/>
          </a:xfrm>
        </p:spPr>
        <p:txBody>
          <a:bodyPr/>
          <a:lstStyle/>
          <a:p>
            <a:endParaRPr lang="zh-CN" altLang="en-US" dirty="0"/>
          </a:p>
          <a:p>
            <a:pPr marL="0" indent="0">
              <a:buNone/>
            </a:pPr>
            <a:endParaRPr lang="zh-CN" altLang="en-US" dirty="0"/>
          </a:p>
        </p:txBody>
      </p:sp>
      <p:pic>
        <p:nvPicPr>
          <p:cNvPr id="5" name="图片 4"/>
          <p:cNvPicPr>
            <a:picLocks noChangeAspect="1"/>
          </p:cNvPicPr>
          <p:nvPr/>
        </p:nvPicPr>
        <p:blipFill>
          <a:blip r:embed="rId1"/>
          <a:stretch>
            <a:fillRect/>
          </a:stretch>
        </p:blipFill>
        <p:spPr>
          <a:xfrm>
            <a:off x="634421" y="1679317"/>
            <a:ext cx="11446224" cy="2269510"/>
          </a:xfrm>
          <a:prstGeom prst="rect">
            <a:avLst/>
          </a:prstGeom>
        </p:spPr>
      </p:pic>
      <p:pic>
        <p:nvPicPr>
          <p:cNvPr id="7" name="图片 6"/>
          <p:cNvPicPr>
            <a:picLocks noChangeAspect="1"/>
          </p:cNvPicPr>
          <p:nvPr/>
        </p:nvPicPr>
        <p:blipFill>
          <a:blip r:embed="rId2"/>
          <a:stretch>
            <a:fillRect/>
          </a:stretch>
        </p:blipFill>
        <p:spPr>
          <a:xfrm>
            <a:off x="912951" y="3863155"/>
            <a:ext cx="4085676" cy="1928223"/>
          </a:xfrm>
          <a:prstGeom prst="rect">
            <a:avLst/>
          </a:prstGeom>
        </p:spPr>
      </p:pic>
      <p:pic>
        <p:nvPicPr>
          <p:cNvPr id="9" name="图片 8"/>
          <p:cNvPicPr>
            <a:picLocks noChangeAspect="1"/>
          </p:cNvPicPr>
          <p:nvPr/>
        </p:nvPicPr>
        <p:blipFill>
          <a:blip r:embed="rId3"/>
          <a:stretch>
            <a:fillRect/>
          </a:stretch>
        </p:blipFill>
        <p:spPr>
          <a:xfrm>
            <a:off x="5643716" y="3669381"/>
            <a:ext cx="4874495" cy="337776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zh-CN" altLang="en-US" sz="4000" b="1" dirty="0">
                <a:latin typeface="+mj-ea"/>
              </a:rPr>
              <a:t>E</a:t>
            </a:r>
            <a:r>
              <a:rPr lang="en-US" altLang="zh-CN" sz="4000" b="1" dirty="0">
                <a:latin typeface="+mj-ea"/>
              </a:rPr>
              <a:t>x2</a:t>
            </a:r>
            <a:r>
              <a:rPr lang="zh-CN" altLang="en-US" sz="4000" b="1" dirty="0">
                <a:latin typeface="+mj-ea"/>
              </a:rPr>
              <a:t>: </a:t>
            </a:r>
            <a:r>
              <a:rPr lang="en-US" altLang="zh-CN" sz="4000" b="1" dirty="0">
                <a:latin typeface="+mj-ea"/>
              </a:rPr>
              <a:t>Hint</a:t>
            </a:r>
            <a:endParaRPr lang="zh-CN" altLang="en-US" sz="4000" dirty="0"/>
          </a:p>
        </p:txBody>
      </p:sp>
      <p:sp>
        <p:nvSpPr>
          <p:cNvPr id="3" name="内容占位符 2"/>
          <p:cNvSpPr>
            <a:spLocks noGrp="1"/>
          </p:cNvSpPr>
          <p:nvPr>
            <p:ph idx="4294967295"/>
          </p:nvPr>
        </p:nvSpPr>
        <p:spPr>
          <a:xfrm>
            <a:off x="647700" y="1825625"/>
            <a:ext cx="10515600" cy="4351338"/>
          </a:xfrm>
        </p:spPr>
        <p:txBody>
          <a:bodyPr/>
          <a:lstStyle/>
          <a:p>
            <a:endParaRPr lang="zh-CN" altLang="en-US"/>
          </a:p>
        </p:txBody>
      </p:sp>
      <p:pic>
        <p:nvPicPr>
          <p:cNvPr id="6" name="图片 5"/>
          <p:cNvPicPr>
            <a:picLocks noChangeAspect="1"/>
          </p:cNvPicPr>
          <p:nvPr/>
        </p:nvPicPr>
        <p:blipFill>
          <a:blip r:embed="rId1"/>
          <a:stretch>
            <a:fillRect/>
          </a:stretch>
        </p:blipFill>
        <p:spPr>
          <a:xfrm>
            <a:off x="490567" y="1736213"/>
            <a:ext cx="11053733" cy="28299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en-US" altLang="zh-CN" sz="4000" b="1" dirty="0">
                <a:latin typeface="+mj-ea"/>
              </a:rPr>
              <a:t>Ex2: Solution-1(Java)</a:t>
            </a:r>
            <a:endParaRPr lang="en-US" altLang="zh-CN" sz="4000" b="1" dirty="0">
              <a:latin typeface="+mj-ea"/>
            </a:endParaRPr>
          </a:p>
        </p:txBody>
      </p:sp>
      <p:pic>
        <p:nvPicPr>
          <p:cNvPr id="5" name="图片 4"/>
          <p:cNvPicPr>
            <a:picLocks noChangeAspect="1"/>
          </p:cNvPicPr>
          <p:nvPr/>
        </p:nvPicPr>
        <p:blipFill>
          <a:blip r:embed="rId1"/>
          <a:stretch>
            <a:fillRect/>
          </a:stretch>
        </p:blipFill>
        <p:spPr>
          <a:xfrm>
            <a:off x="687029" y="1894091"/>
            <a:ext cx="7783557" cy="334650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en-US" altLang="zh-CN" sz="4000" b="1" dirty="0">
                <a:latin typeface="+mj-ea"/>
              </a:rPr>
              <a:t>Ex2: Solution-1 (Python)</a:t>
            </a:r>
            <a:endParaRPr lang="zh-CN" altLang="en-US" sz="4000" dirty="0"/>
          </a:p>
        </p:txBody>
      </p:sp>
      <p:pic>
        <p:nvPicPr>
          <p:cNvPr id="4" name="图片 3"/>
          <p:cNvPicPr>
            <a:picLocks noChangeAspect="1"/>
          </p:cNvPicPr>
          <p:nvPr/>
        </p:nvPicPr>
        <p:blipFill>
          <a:blip r:embed="rId1"/>
          <a:stretch>
            <a:fillRect/>
          </a:stretch>
        </p:blipFill>
        <p:spPr>
          <a:xfrm>
            <a:off x="1155290" y="1865041"/>
            <a:ext cx="6088280" cy="485530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b="1" dirty="0">
                <a:latin typeface="+mj-ea"/>
              </a:rPr>
              <a:t>Ex2: Solution-1(C++)</a:t>
            </a:r>
            <a:endParaRPr lang="zh-CN" altLang="en-US" dirty="0"/>
          </a:p>
        </p:txBody>
      </p:sp>
      <p:sp>
        <p:nvSpPr>
          <p:cNvPr id="3" name="内容占位符 2"/>
          <p:cNvSpPr>
            <a:spLocks noGrp="1"/>
          </p:cNvSpPr>
          <p:nvPr>
            <p:ph idx="1"/>
          </p:nvPr>
        </p:nvSpPr>
        <p:spPr/>
        <p:txBody>
          <a:bodyPr/>
          <a:lstStyle/>
          <a:p>
            <a:endParaRPr lang="zh-CN" altLang="en-US"/>
          </a:p>
        </p:txBody>
      </p:sp>
      <p:pic>
        <p:nvPicPr>
          <p:cNvPr id="5" name="图片 4"/>
          <p:cNvPicPr>
            <a:picLocks noChangeAspect="1"/>
          </p:cNvPicPr>
          <p:nvPr/>
        </p:nvPicPr>
        <p:blipFill>
          <a:blip r:embed="rId1"/>
          <a:stretch>
            <a:fillRect/>
          </a:stretch>
        </p:blipFill>
        <p:spPr>
          <a:xfrm>
            <a:off x="758927" y="2010749"/>
            <a:ext cx="6515100" cy="46577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b="1" dirty="0">
                <a:latin typeface="+mj-ea"/>
              </a:rPr>
              <a:t>Ex2: Complexity</a:t>
            </a:r>
            <a:endParaRPr lang="zh-CN" altLang="en-US" dirty="0"/>
          </a:p>
        </p:txBody>
      </p:sp>
      <p:sp>
        <p:nvSpPr>
          <p:cNvPr id="3" name="内容占位符 2"/>
          <p:cNvSpPr>
            <a:spLocks noGrp="1"/>
          </p:cNvSpPr>
          <p:nvPr>
            <p:ph idx="1"/>
          </p:nvPr>
        </p:nvSpPr>
        <p:spPr/>
        <p:txBody>
          <a:bodyPr/>
          <a:lstStyle/>
          <a:p>
            <a:endParaRPr lang="zh-CN" altLang="en-US"/>
          </a:p>
        </p:txBody>
      </p:sp>
      <p:pic>
        <p:nvPicPr>
          <p:cNvPr id="5" name="图片 4"/>
          <p:cNvPicPr>
            <a:picLocks noChangeAspect="1"/>
          </p:cNvPicPr>
          <p:nvPr/>
        </p:nvPicPr>
        <p:blipFill>
          <a:blip r:embed="rId1"/>
          <a:stretch>
            <a:fillRect/>
          </a:stretch>
        </p:blipFill>
        <p:spPr>
          <a:xfrm>
            <a:off x="873884" y="2053865"/>
            <a:ext cx="10502650" cy="235098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681037"/>
            <a:ext cx="10515600" cy="1325563"/>
          </a:xfrm>
        </p:spPr>
        <p:txBody>
          <a:bodyPr>
            <a:normAutofit/>
          </a:bodyPr>
          <a:lstStyle/>
          <a:p>
            <a:r>
              <a:rPr lang="zh-CN" altLang="en-US" sz="4000" b="1" dirty="0">
                <a:latin typeface="+mj-ea"/>
              </a:rPr>
              <a:t>Recap</a:t>
            </a:r>
            <a:endParaRPr lang="zh-CN" altLang="en-US" sz="4000" b="1" dirty="0">
              <a:latin typeface="+mj-ea"/>
            </a:endParaRPr>
          </a:p>
        </p:txBody>
      </p:sp>
      <p:sp>
        <p:nvSpPr>
          <p:cNvPr id="3" name="内容占位符 2"/>
          <p:cNvSpPr>
            <a:spLocks noGrp="1"/>
          </p:cNvSpPr>
          <p:nvPr>
            <p:ph idx="4294967295"/>
          </p:nvPr>
        </p:nvSpPr>
        <p:spPr>
          <a:xfrm>
            <a:off x="647700" y="1825625"/>
            <a:ext cx="6631940" cy="4351655"/>
          </a:xfrm>
        </p:spPr>
        <p:txBody>
          <a:bodyPr/>
          <a:lstStyle/>
          <a:p>
            <a:pPr marL="0" indent="0">
              <a:buNone/>
            </a:pPr>
            <a:r>
              <a:rPr lang="en-US" altLang="zh-CN" dirty="0"/>
              <a:t>AVL Tree</a:t>
            </a:r>
            <a:endParaRPr lang="en-US" altLang="zh-CN" dirty="0"/>
          </a:p>
          <a:p>
            <a:pPr marL="0" indent="0">
              <a:buNone/>
            </a:pPr>
            <a:endParaRPr lang="en-US" altLang="zh-CN" dirty="0"/>
          </a:p>
          <a:p>
            <a:r>
              <a:rPr lang="en-US" altLang="zh-CN" dirty="0"/>
              <a:t>An AVL tree is a self-balancing BST</a:t>
            </a:r>
            <a:endParaRPr lang="en-US" altLang="zh-CN" dirty="0"/>
          </a:p>
          <a:p>
            <a:pPr lvl="1"/>
            <a:r>
              <a:rPr lang="en-US" altLang="zh-CN" dirty="0"/>
              <a:t>For </a:t>
            </a:r>
            <a:r>
              <a:rPr lang="en-US" altLang="zh-CN" dirty="0">
                <a:solidFill>
                  <a:srgbClr val="FF0000"/>
                </a:solidFill>
              </a:rPr>
              <a:t>every node</a:t>
            </a:r>
            <a:r>
              <a:rPr lang="en-US" altLang="zh-CN" dirty="0"/>
              <a:t> in the tree, the height of the </a:t>
            </a:r>
            <a:r>
              <a:rPr lang="en-US" altLang="zh-CN" dirty="0">
                <a:solidFill>
                  <a:srgbClr val="FF0000"/>
                </a:solidFill>
              </a:rPr>
              <a:t>left subtree</a:t>
            </a:r>
            <a:r>
              <a:rPr lang="en-US" altLang="zh-CN" dirty="0"/>
              <a:t> differs from the height of the </a:t>
            </a:r>
            <a:r>
              <a:rPr lang="en-US" altLang="zh-CN" dirty="0">
                <a:solidFill>
                  <a:srgbClr val="FF0000"/>
                </a:solidFill>
              </a:rPr>
              <a:t>right subtree</a:t>
            </a:r>
            <a:r>
              <a:rPr lang="en-US" altLang="zh-CN" dirty="0"/>
              <a:t> by at most 1</a:t>
            </a:r>
            <a:endParaRPr lang="en-US" altLang="zh-CN" dirty="0"/>
          </a:p>
          <a:p>
            <a:pPr lvl="1"/>
            <a:endParaRPr lang="en-US" altLang="zh-CN" dirty="0"/>
          </a:p>
          <a:p>
            <a:pPr lvl="1"/>
            <a:r>
              <a:rPr lang="en-US" altLang="zh-CN" dirty="0"/>
              <a:t>If at any time they differ by more than one, </a:t>
            </a:r>
            <a:r>
              <a:rPr lang="en-US" altLang="zh-CN" dirty="0">
                <a:solidFill>
                  <a:srgbClr val="FF0000"/>
                </a:solidFill>
              </a:rPr>
              <a:t>rebalancing</a:t>
            </a:r>
            <a:r>
              <a:rPr lang="en-US" altLang="zh-CN" dirty="0"/>
              <a:t> isdone to restore this property</a:t>
            </a:r>
            <a:endParaRPr lang="en-US" altLang="zh-CN" dirty="0"/>
          </a:p>
        </p:txBody>
      </p:sp>
      <p:pic>
        <p:nvPicPr>
          <p:cNvPr id="5" name="图片 4"/>
          <p:cNvPicPr>
            <a:picLocks noChangeAspect="1"/>
          </p:cNvPicPr>
          <p:nvPr/>
        </p:nvPicPr>
        <p:blipFill>
          <a:blip r:embed="rId1"/>
          <a:stretch>
            <a:fillRect/>
          </a:stretch>
        </p:blipFill>
        <p:spPr>
          <a:xfrm>
            <a:off x="8176260" y="804545"/>
            <a:ext cx="3366770" cy="3041650"/>
          </a:xfrm>
          <a:prstGeom prst="rect">
            <a:avLst/>
          </a:prstGeom>
        </p:spPr>
      </p:pic>
      <p:pic>
        <p:nvPicPr>
          <p:cNvPr id="6" name="图片 5"/>
          <p:cNvPicPr>
            <a:picLocks noChangeAspect="1"/>
          </p:cNvPicPr>
          <p:nvPr/>
        </p:nvPicPr>
        <p:blipFill>
          <a:blip r:embed="rId2"/>
          <a:stretch>
            <a:fillRect/>
          </a:stretch>
        </p:blipFill>
        <p:spPr>
          <a:xfrm>
            <a:off x="8460105" y="3749675"/>
            <a:ext cx="2839720" cy="30619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2800" y="731257"/>
            <a:ext cx="11595100" cy="1834143"/>
          </a:xfrm>
        </p:spPr>
        <p:txBody>
          <a:bodyPr>
            <a:normAutofit/>
          </a:bodyPr>
          <a:lstStyle/>
          <a:p>
            <a:r>
              <a:rPr lang="zh-CN" altLang="en-US" sz="3600" b="1" dirty="0">
                <a:latin typeface="+mj-ea"/>
              </a:rPr>
              <a:t>Ex</a:t>
            </a:r>
            <a:r>
              <a:rPr lang="en-US" altLang="zh-CN" sz="3600" b="1" dirty="0">
                <a:latin typeface="+mj-ea"/>
              </a:rPr>
              <a:t>3</a:t>
            </a:r>
            <a:r>
              <a:rPr lang="zh-CN" altLang="en-US" sz="3600" b="1" dirty="0">
                <a:latin typeface="+mj-ea"/>
              </a:rPr>
              <a:t>: </a:t>
            </a:r>
            <a:r>
              <a:rPr lang="en-US" altLang="zh-CN" sz="3600" b="1" dirty="0">
                <a:latin typeface="+mj-ea"/>
              </a:rPr>
              <a:t>Convert Sorted Array to Binary Search Tree</a:t>
            </a:r>
            <a:endParaRPr lang="zh-CN" altLang="en-US" sz="3600" b="1" dirty="0">
              <a:latin typeface="+mj-ea"/>
            </a:endParaRPr>
          </a:p>
        </p:txBody>
      </p:sp>
      <p:sp>
        <p:nvSpPr>
          <p:cNvPr id="3" name="内容占位符 2"/>
          <p:cNvSpPr>
            <a:spLocks noGrp="1"/>
          </p:cNvSpPr>
          <p:nvPr>
            <p:ph idx="4294967295"/>
          </p:nvPr>
        </p:nvSpPr>
        <p:spPr>
          <a:xfrm>
            <a:off x="812800" y="2005781"/>
            <a:ext cx="10515600" cy="4156101"/>
          </a:xfrm>
        </p:spPr>
        <p:txBody>
          <a:bodyPr/>
          <a:lstStyle/>
          <a:p>
            <a:r>
              <a:rPr lang="en-US" altLang="zh-CN" dirty="0"/>
              <a:t>Given an integer array </a:t>
            </a:r>
            <a:r>
              <a:rPr lang="en-US" altLang="zh-CN" b="1" dirty="0" err="1"/>
              <a:t>nums</a:t>
            </a:r>
            <a:r>
              <a:rPr lang="en-US" altLang="zh-CN" dirty="0"/>
              <a:t> where the elements are sorted in </a:t>
            </a:r>
            <a:r>
              <a:rPr lang="en-US" altLang="zh-CN" b="1" dirty="0"/>
              <a:t>ascending order</a:t>
            </a:r>
            <a:r>
              <a:rPr lang="en-US" altLang="zh-CN" dirty="0"/>
              <a:t>, convert it to a </a:t>
            </a:r>
            <a:r>
              <a:rPr lang="en-US" altLang="zh-CN" b="1" dirty="0"/>
              <a:t>height-balanced</a:t>
            </a:r>
            <a:r>
              <a:rPr lang="en-US" altLang="zh-CN" dirty="0"/>
              <a:t> binary search tree.</a:t>
            </a:r>
            <a:endParaRPr lang="zh-CN" altLang="en-US" dirty="0"/>
          </a:p>
        </p:txBody>
      </p:sp>
      <p:pic>
        <p:nvPicPr>
          <p:cNvPr id="8" name="图片 7"/>
          <p:cNvPicPr>
            <a:picLocks noChangeAspect="1"/>
          </p:cNvPicPr>
          <p:nvPr/>
        </p:nvPicPr>
        <p:blipFill>
          <a:blip r:embed="rId1"/>
          <a:stretch>
            <a:fillRect/>
          </a:stretch>
        </p:blipFill>
        <p:spPr>
          <a:xfrm>
            <a:off x="437535" y="3247480"/>
            <a:ext cx="5129857" cy="3330300"/>
          </a:xfrm>
          <a:prstGeom prst="rect">
            <a:avLst/>
          </a:prstGeom>
        </p:spPr>
      </p:pic>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4951" y="4382422"/>
            <a:ext cx="2876550" cy="2114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2800" y="731257"/>
            <a:ext cx="11595100" cy="1834143"/>
          </a:xfrm>
        </p:spPr>
        <p:txBody>
          <a:bodyPr>
            <a:normAutofit/>
          </a:bodyPr>
          <a:lstStyle/>
          <a:p>
            <a:r>
              <a:rPr lang="zh-CN" altLang="en-US" sz="3600" b="1" dirty="0">
                <a:latin typeface="+mj-ea"/>
              </a:rPr>
              <a:t>Ex</a:t>
            </a:r>
            <a:r>
              <a:rPr lang="en-US" altLang="zh-CN" sz="3600" b="1" dirty="0">
                <a:latin typeface="+mj-ea"/>
              </a:rPr>
              <a:t>3</a:t>
            </a:r>
            <a:r>
              <a:rPr lang="zh-CN" altLang="en-US" sz="3600" b="1" dirty="0">
                <a:latin typeface="+mj-ea"/>
              </a:rPr>
              <a:t>: </a:t>
            </a:r>
            <a:r>
              <a:rPr lang="en-US" altLang="zh-CN" sz="3600" b="1" dirty="0">
                <a:latin typeface="+mj-ea"/>
              </a:rPr>
              <a:t>Convert Sorted Array to Binary Search Tree</a:t>
            </a:r>
            <a:endParaRPr lang="zh-CN" altLang="en-US" sz="3600" b="1" dirty="0">
              <a:latin typeface="+mj-ea"/>
            </a:endParaRPr>
          </a:p>
        </p:txBody>
      </p:sp>
      <p:sp>
        <p:nvSpPr>
          <p:cNvPr id="3" name="内容占位符 2"/>
          <p:cNvSpPr>
            <a:spLocks noGrp="1"/>
          </p:cNvSpPr>
          <p:nvPr>
            <p:ph idx="4294967295"/>
          </p:nvPr>
        </p:nvSpPr>
        <p:spPr>
          <a:xfrm>
            <a:off x="812800" y="2005781"/>
            <a:ext cx="10515600" cy="4156101"/>
          </a:xfrm>
        </p:spPr>
        <p:txBody>
          <a:bodyPr/>
          <a:lstStyle/>
          <a:p>
            <a:r>
              <a:rPr lang="en-US" altLang="zh-CN" dirty="0"/>
              <a:t>Given an integer array </a:t>
            </a:r>
            <a:r>
              <a:rPr lang="en-US" altLang="zh-CN" b="1" dirty="0" err="1"/>
              <a:t>nums</a:t>
            </a:r>
            <a:r>
              <a:rPr lang="en-US" altLang="zh-CN" dirty="0"/>
              <a:t> where the elements are sorted in </a:t>
            </a:r>
            <a:r>
              <a:rPr lang="en-US" altLang="zh-CN" b="1" dirty="0"/>
              <a:t>ascending order</a:t>
            </a:r>
            <a:r>
              <a:rPr lang="en-US" altLang="zh-CN" dirty="0"/>
              <a:t>, convert it to a </a:t>
            </a:r>
            <a:r>
              <a:rPr lang="en-US" altLang="zh-CN" b="1" dirty="0"/>
              <a:t>height-balanced</a:t>
            </a:r>
            <a:r>
              <a:rPr lang="en-US" altLang="zh-CN" dirty="0"/>
              <a:t> binary search tree.</a:t>
            </a:r>
            <a:endParaRPr lang="zh-CN" altLang="en-US" dirty="0"/>
          </a:p>
        </p:txBody>
      </p:sp>
      <p:pic>
        <p:nvPicPr>
          <p:cNvPr id="5" name="图片 4"/>
          <p:cNvPicPr>
            <a:picLocks noChangeAspect="1"/>
          </p:cNvPicPr>
          <p:nvPr/>
        </p:nvPicPr>
        <p:blipFill rotWithShape="1">
          <a:blip r:embed="rId1"/>
          <a:srcRect t="7273"/>
          <a:stretch>
            <a:fillRect/>
          </a:stretch>
        </p:blipFill>
        <p:spPr>
          <a:xfrm>
            <a:off x="294353" y="3429000"/>
            <a:ext cx="6362700" cy="3206084"/>
          </a:xfrm>
          <a:prstGeom prst="rect">
            <a:avLst/>
          </a:prstGeom>
        </p:spPr>
      </p:pic>
      <p:pic>
        <p:nvPicPr>
          <p:cNvPr id="7" name="图片 6"/>
          <p:cNvPicPr>
            <a:picLocks noChangeAspect="1"/>
          </p:cNvPicPr>
          <p:nvPr/>
        </p:nvPicPr>
        <p:blipFill>
          <a:blip r:embed="rId2"/>
          <a:stretch>
            <a:fillRect/>
          </a:stretch>
        </p:blipFill>
        <p:spPr>
          <a:xfrm>
            <a:off x="7045325" y="4427435"/>
            <a:ext cx="4333875" cy="15525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en-US" altLang="zh-CN" sz="4000" b="1" dirty="0">
                <a:latin typeface="微软雅黑 (标题)"/>
                <a:sym typeface="+mn-ea"/>
              </a:rPr>
              <a:t>Ex3: Hint(Recursion)</a:t>
            </a:r>
            <a:endParaRPr lang="zh-CN" altLang="en-US" sz="4000" b="1" dirty="0">
              <a:latin typeface="微软雅黑 (标题)"/>
            </a:endParaRPr>
          </a:p>
        </p:txBody>
      </p:sp>
      <p:sp>
        <p:nvSpPr>
          <p:cNvPr id="4" name="文本框 3"/>
          <p:cNvSpPr txBox="1"/>
          <p:nvPr/>
        </p:nvSpPr>
        <p:spPr>
          <a:xfrm>
            <a:off x="688257" y="1993009"/>
            <a:ext cx="9026013" cy="1754326"/>
          </a:xfrm>
          <a:prstGeom prst="rect">
            <a:avLst/>
          </a:prstGeom>
          <a:noFill/>
        </p:spPr>
        <p:txBody>
          <a:bodyPr wrap="square">
            <a:spAutoFit/>
          </a:bodyPr>
          <a:lstStyle/>
          <a:p>
            <a:r>
              <a:rPr lang="en-US" altLang="zh-CN" dirty="0"/>
              <a:t>Since </a:t>
            </a:r>
            <a:r>
              <a:rPr lang="en-US" altLang="zh-CN" b="1" dirty="0" err="1"/>
              <a:t>nums</a:t>
            </a:r>
            <a:r>
              <a:rPr lang="en-US" altLang="zh-CN" dirty="0"/>
              <a:t> is a sorted list, the middle element </a:t>
            </a:r>
            <a:r>
              <a:rPr lang="en-US" altLang="zh-CN" b="1" dirty="0" err="1"/>
              <a:t>nums</a:t>
            </a:r>
            <a:r>
              <a:rPr lang="en-US" altLang="zh-CN" b="1" dirty="0"/>
              <a:t>[</a:t>
            </a:r>
            <a:r>
              <a:rPr lang="en-US" altLang="zh-CN" b="1" dirty="0" err="1"/>
              <a:t>len</a:t>
            </a:r>
            <a:r>
              <a:rPr lang="en-US" altLang="zh-CN" b="1" dirty="0"/>
              <a:t>(</a:t>
            </a:r>
            <a:r>
              <a:rPr lang="en-US" altLang="zh-CN" b="1" dirty="0" err="1"/>
              <a:t>nums</a:t>
            </a:r>
            <a:r>
              <a:rPr lang="en-US" altLang="zh-CN" b="1" dirty="0"/>
              <a:t>)//2] </a:t>
            </a:r>
            <a:r>
              <a:rPr lang="en-US" altLang="zh-CN" dirty="0"/>
              <a:t>must be the root node of </a:t>
            </a:r>
            <a:r>
              <a:rPr lang="en-US" altLang="zh-CN" b="1" dirty="0" err="1"/>
              <a:t>nums</a:t>
            </a:r>
            <a:r>
              <a:rPr lang="en-US" altLang="zh-CN" dirty="0"/>
              <a:t>.</a:t>
            </a:r>
            <a:endParaRPr lang="en-US" altLang="zh-CN" dirty="0"/>
          </a:p>
          <a:p>
            <a:r>
              <a:rPr lang="en-US" altLang="zh-CN" dirty="0"/>
              <a:t>Thus, after setting the middle element be the root, finding the middle element in the left </a:t>
            </a:r>
            <a:r>
              <a:rPr lang="en-US" altLang="zh-CN" dirty="0" err="1"/>
              <a:t>subarry</a:t>
            </a:r>
            <a:r>
              <a:rPr lang="en-US" altLang="zh-CN" dirty="0"/>
              <a:t> </a:t>
            </a:r>
            <a:r>
              <a:rPr lang="en-US" altLang="zh-CN" b="1" dirty="0" err="1"/>
              <a:t>nums</a:t>
            </a:r>
            <a:r>
              <a:rPr lang="en-US" altLang="zh-CN" b="1" dirty="0"/>
              <a:t>[:</a:t>
            </a:r>
            <a:r>
              <a:rPr lang="en-US" altLang="zh-CN" b="1" dirty="0" err="1"/>
              <a:t>len</a:t>
            </a:r>
            <a:r>
              <a:rPr lang="en-US" altLang="zh-CN" b="1" dirty="0"/>
              <a:t>(</a:t>
            </a:r>
            <a:r>
              <a:rPr lang="en-US" altLang="zh-CN" b="1" dirty="0" err="1"/>
              <a:t>nums</a:t>
            </a:r>
            <a:r>
              <a:rPr lang="en-US" altLang="zh-CN" b="1" dirty="0"/>
              <a:t>)//2]</a:t>
            </a:r>
            <a:r>
              <a:rPr lang="en-US" altLang="zh-CN" dirty="0"/>
              <a:t> and right </a:t>
            </a:r>
            <a:r>
              <a:rPr lang="en-US" altLang="zh-CN" dirty="0" err="1"/>
              <a:t>subarry</a:t>
            </a:r>
            <a:r>
              <a:rPr lang="en-US" altLang="zh-CN" dirty="0"/>
              <a:t> </a:t>
            </a:r>
            <a:r>
              <a:rPr lang="en-US" altLang="zh-CN" b="1" dirty="0" err="1"/>
              <a:t>nums</a:t>
            </a:r>
            <a:r>
              <a:rPr lang="en-US" altLang="zh-CN" b="1" dirty="0"/>
              <a:t>[</a:t>
            </a:r>
            <a:r>
              <a:rPr lang="en-US" altLang="zh-CN" b="1" dirty="0" err="1"/>
              <a:t>len</a:t>
            </a:r>
            <a:r>
              <a:rPr lang="en-US" altLang="zh-CN" b="1" dirty="0"/>
              <a:t>(</a:t>
            </a:r>
            <a:r>
              <a:rPr lang="en-US" altLang="zh-CN" b="1" dirty="0" err="1"/>
              <a:t>nums</a:t>
            </a:r>
            <a:r>
              <a:rPr lang="en-US" altLang="zh-CN" b="1" dirty="0"/>
              <a:t>)//2 + 1 :]</a:t>
            </a:r>
            <a:endParaRPr lang="en-US" altLang="zh-CN" b="1" dirty="0"/>
          </a:p>
          <a:p>
            <a:endParaRPr lang="en-US" altLang="zh-CN" dirty="0"/>
          </a:p>
          <a:p>
            <a:r>
              <a:rPr lang="en-US" altLang="zh-CN" dirty="0"/>
              <a:t>For example, </a:t>
            </a:r>
            <a:r>
              <a:rPr lang="en-US" altLang="zh-CN" dirty="0" err="1"/>
              <a:t>nums</a:t>
            </a:r>
            <a:r>
              <a:rPr lang="en-US" altLang="zh-CN" dirty="0"/>
              <a:t> = [0, 1, 2, 3, 4, 5, 6, 7]</a:t>
            </a:r>
            <a:endParaRPr lang="zh-CN" altLang="en-US" dirty="0"/>
          </a:p>
        </p:txBody>
      </p:sp>
      <p:pic>
        <p:nvPicPr>
          <p:cNvPr id="1026" name="Picture 2" descr="imag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49129" y="3818757"/>
            <a:ext cx="3810000" cy="28289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en-US" altLang="zh-CN" sz="4000" b="1" dirty="0">
                <a:latin typeface="微软雅黑 (标题)"/>
                <a:sym typeface="+mn-ea"/>
              </a:rPr>
              <a:t>Ex3: </a:t>
            </a:r>
            <a:r>
              <a:rPr lang="zh-CN" altLang="en-US" sz="4000" b="1" dirty="0">
                <a:latin typeface="微软雅黑 (标题)"/>
                <a:sym typeface="+mn-ea"/>
              </a:rPr>
              <a:t>Solution</a:t>
            </a:r>
            <a:r>
              <a:rPr lang="en-US" altLang="zh-CN" sz="4000" b="1">
                <a:latin typeface="微软雅黑 (标题)"/>
                <a:sym typeface="+mn-ea"/>
              </a:rPr>
              <a:t>(Java)</a:t>
            </a:r>
            <a:endParaRPr lang="zh-CN" altLang="en-US" sz="4000" b="1" dirty="0">
              <a:latin typeface="微软雅黑 (标题)"/>
            </a:endParaRPr>
          </a:p>
        </p:txBody>
      </p:sp>
      <p:pic>
        <p:nvPicPr>
          <p:cNvPr id="6" name="图片 5"/>
          <p:cNvPicPr>
            <a:picLocks noChangeAspect="1"/>
          </p:cNvPicPr>
          <p:nvPr/>
        </p:nvPicPr>
        <p:blipFill>
          <a:blip r:embed="rId1"/>
          <a:stretch>
            <a:fillRect/>
          </a:stretch>
        </p:blipFill>
        <p:spPr>
          <a:xfrm>
            <a:off x="0" y="1765848"/>
            <a:ext cx="12192000" cy="44865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700" y="731257"/>
            <a:ext cx="10515600" cy="1325563"/>
          </a:xfrm>
        </p:spPr>
        <p:txBody>
          <a:bodyPr>
            <a:normAutofit/>
          </a:bodyPr>
          <a:lstStyle/>
          <a:p>
            <a:r>
              <a:rPr lang="en-US" altLang="zh-CN" sz="4000" b="1" dirty="0">
                <a:latin typeface="微软雅黑 (标题)"/>
                <a:sym typeface="+mn-ea"/>
              </a:rPr>
              <a:t>Ex3: </a:t>
            </a:r>
            <a:r>
              <a:rPr lang="zh-CN" altLang="en-US" sz="4000" b="1" dirty="0">
                <a:latin typeface="微软雅黑 (标题)"/>
                <a:sym typeface="+mn-ea"/>
              </a:rPr>
              <a:t>Solution</a:t>
            </a:r>
            <a:r>
              <a:rPr lang="en-US" altLang="zh-CN" sz="4000" b="1" dirty="0">
                <a:latin typeface="微软雅黑 (标题)"/>
                <a:sym typeface="+mn-ea"/>
              </a:rPr>
              <a:t>(Python)</a:t>
            </a:r>
            <a:endParaRPr lang="zh-CN" altLang="en-US" sz="4000" b="1" dirty="0">
              <a:latin typeface="微软雅黑 (标题)"/>
            </a:endParaRPr>
          </a:p>
        </p:txBody>
      </p:sp>
      <p:pic>
        <p:nvPicPr>
          <p:cNvPr id="4" name="图片 3"/>
          <p:cNvPicPr>
            <a:picLocks noChangeAspect="1"/>
          </p:cNvPicPr>
          <p:nvPr/>
        </p:nvPicPr>
        <p:blipFill>
          <a:blip r:embed="rId1"/>
          <a:stretch>
            <a:fillRect/>
          </a:stretch>
        </p:blipFill>
        <p:spPr>
          <a:xfrm>
            <a:off x="1309687" y="1914525"/>
            <a:ext cx="9572625" cy="30289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8"/>
            <a:ext cx="10515600" cy="1325563"/>
          </a:xfrm>
        </p:spPr>
        <p:txBody>
          <a:bodyPr>
            <a:normAutofit/>
          </a:bodyPr>
          <a:lstStyle/>
          <a:p>
            <a:pPr algn="ctr"/>
            <a:r>
              <a:rPr lang="en-US" altLang="zh-CN" sz="4000" b="1" dirty="0">
                <a:latin typeface="微软雅黑 (标题)"/>
              </a:rPr>
              <a:t>Thanks</a:t>
            </a:r>
            <a:endParaRPr lang="zh-CN" altLang="en-US" sz="4000" b="1" dirty="0">
              <a:latin typeface="微软雅黑 (标题)"/>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2474</Words>
  <Application>WPS 表格</Application>
  <PresentationFormat>宽屏</PresentationFormat>
  <Paragraphs>91</Paragraphs>
  <Slides>23</Slides>
  <Notes>20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23</vt:i4>
      </vt:variant>
    </vt:vector>
  </HeadingPairs>
  <TitlesOfParts>
    <vt:vector size="38" baseType="lpstr">
      <vt:lpstr>Arial</vt:lpstr>
      <vt:lpstr>宋体</vt:lpstr>
      <vt:lpstr>Wingdings</vt:lpstr>
      <vt:lpstr>微软雅黑</vt:lpstr>
      <vt:lpstr>汉仪旗黑</vt:lpstr>
      <vt:lpstr>微软雅黑 (标题)</vt:lpstr>
      <vt:lpstr>汉仪中黑KW</vt:lpstr>
      <vt:lpstr>宋体</vt:lpstr>
      <vt:lpstr>Arial Unicode MS</vt:lpstr>
      <vt:lpstr>汉仪书宋二KW</vt:lpstr>
      <vt:lpstr>Arial Black</vt:lpstr>
      <vt:lpstr>黑体</vt:lpstr>
      <vt:lpstr>Calibri</vt:lpstr>
      <vt:lpstr>Helvetica Neue</vt:lpstr>
      <vt:lpstr>Office 主题​​</vt:lpstr>
      <vt:lpstr>PowerPoint 演示文稿</vt:lpstr>
      <vt:lpstr>Outline</vt:lpstr>
      <vt:lpstr>Recap</vt:lpstr>
      <vt:lpstr>DFS and BFS</vt:lpstr>
      <vt:lpstr>Ex1: Kth Smallest Element in a BST</vt:lpstr>
      <vt:lpstr>Ex1: DFS and BFS</vt:lpstr>
      <vt:lpstr>Ex1: Solution</vt:lpstr>
      <vt:lpstr>Ex1: Solution(Java)</vt:lpstr>
      <vt:lpstr>Ex1: Solution(Python)</vt:lpstr>
      <vt:lpstr>Ex1: Solution(C++)</vt:lpstr>
      <vt:lpstr>Ex2: Trim a Binary Search Tree</vt:lpstr>
      <vt:lpstr>Ex2: Hint</vt:lpstr>
      <vt:lpstr>Ex2: Solution-1(Java)</vt:lpstr>
      <vt:lpstr>Ex2: Solution-1 (Python)</vt:lpstr>
      <vt:lpstr>Ex2: Solution-1(C++)</vt:lpstr>
      <vt:lpstr>Ex2: Complexity</vt:lpstr>
      <vt:lpstr>Recap</vt:lpstr>
      <vt:lpstr>Ex3: Convert Sorted Array to Binary Search Tree</vt:lpstr>
      <vt:lpstr>Ex3: Convert Sorted Array to Binary Search Tree</vt:lpstr>
      <vt:lpstr>Ex3: Hint(Recursion)</vt:lpstr>
      <vt:lpstr>Ex3: Solution(Java)</vt:lpstr>
      <vt:lpstr>Ex3: Solution(Python)</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chenxi</dc:creator>
  <cp:lastModifiedBy>曦</cp:lastModifiedBy>
  <cp:revision>37</cp:revision>
  <dcterms:created xsi:type="dcterms:W3CDTF">2022-10-30T03:57:49Z</dcterms:created>
  <dcterms:modified xsi:type="dcterms:W3CDTF">2022-10-30T03:57:49Z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2052-4.6.1.7451</vt:lpwstr>
  </property>
  <property fmtid="{D5CDD505-2E9C-101B-9397-08002B2CF9AE}" pid="3" name="ICV">
    <vt:lpwstr>6522A7AF266B95CF3DF65D6317EF57F5</vt:lpwstr>
  </property>
</Properties>
</file>