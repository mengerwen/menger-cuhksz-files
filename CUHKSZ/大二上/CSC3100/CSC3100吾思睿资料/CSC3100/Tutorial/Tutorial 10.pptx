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73" r:id="rId2"/>
    <p:sldId id="275" r:id="rId3"/>
    <p:sldId id="272" r:id="rId4"/>
    <p:sldId id="306" r:id="rId5"/>
    <p:sldId id="307" r:id="rId6"/>
    <p:sldId id="305" r:id="rId7"/>
    <p:sldId id="257" r:id="rId8"/>
    <p:sldId id="294" r:id="rId9"/>
    <p:sldId id="309" r:id="rId10"/>
    <p:sldId id="295" r:id="rId11"/>
    <p:sldId id="310" r:id="rId12"/>
    <p:sldId id="313" r:id="rId13"/>
    <p:sldId id="316" r:id="rId14"/>
    <p:sldId id="314" r:id="rId15"/>
    <p:sldId id="317" r:id="rId16"/>
    <p:sldId id="326" r:id="rId17"/>
    <p:sldId id="321" r:id="rId18"/>
    <p:sldId id="327" r:id="rId19"/>
    <p:sldId id="328" r:id="rId20"/>
    <p:sldId id="329" r:id="rId21"/>
    <p:sldId id="322" r:id="rId22"/>
    <p:sldId id="331" r:id="rId23"/>
    <p:sldId id="318" r:id="rId24"/>
    <p:sldId id="325" r:id="rId25"/>
    <p:sldId id="319" r:id="rId26"/>
    <p:sldId id="320" r:id="rId27"/>
    <p:sldId id="323" r:id="rId28"/>
    <p:sldId id="324" r:id="rId29"/>
    <p:sldId id="274" r:id="rId3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621C6D"/>
    <a:srgbClr val="B2B2B2"/>
    <a:srgbClr val="202020"/>
    <a:srgbClr val="323232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374"/>
  </p:normalViewPr>
  <p:slideViewPr>
    <p:cSldViewPr snapToGrid="0" showGuides="1">
      <p:cViewPr varScale="1">
        <p:scale>
          <a:sx n="81" d="100"/>
          <a:sy n="81" d="100"/>
        </p:scale>
        <p:origin x="127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4286" y="4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hello everyone, this is the tutorial 10, today, firstly, we will explain the question 2 and question 4 in the assignment 2 and explain some exercises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Let’s first recall the problem2. </a:t>
            </a:r>
          </a:p>
          <a:p>
            <a:r>
              <a:rPr lang="en-US" altLang="zh-CN" dirty="0"/>
              <a:t>It means the segment 1 in the top terminal must point on segment a[1] (i.e., 4)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 is a more detailed example</a:t>
            </a:r>
          </a:p>
          <a:p>
            <a:r>
              <a:rPr lang="en-US" altLang="zh-CN" dirty="0"/>
              <a:t>In this case, we can have three crossings at most.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039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927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We can iterate over all </a:t>
            </a:r>
            <a:r>
              <a:rPr lang="en-US" altLang="zh-CN" dirty="0" err="1"/>
              <a:t>i</a:t>
            </a:r>
            <a:r>
              <a:rPr lang="en-US" altLang="zh-CN" dirty="0"/>
              <a:t> and j to calculate the final result</a:t>
            </a:r>
          </a:p>
        </p:txBody>
      </p:sp>
    </p:spTree>
    <p:extLst>
      <p:ext uri="{BB962C8B-B14F-4D97-AF65-F5344CB8AC3E}">
        <p14:creationId xmlns:p14="http://schemas.microsoft.com/office/powerpoint/2010/main" val="1423240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We use the following example to illustrate this process</a:t>
            </a:r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We can see this is a classical </a:t>
            </a:r>
            <a:r>
              <a:rPr lang="en-US" altLang="zh-CN" dirty="0" err="1"/>
              <a:t>mergesort</a:t>
            </a:r>
            <a:r>
              <a:rPr lang="en-US" altLang="zh-CN" dirty="0"/>
              <a:t> code,  we can see in the merge process we calculate the number of inverse pairs. And this code have already uploaded into the bb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2984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562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it's kind of like a prefix summation array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14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delete is also very similar to the normal </a:t>
            </a:r>
            <a:r>
              <a:rPr lang="en-US" altLang="zh-CN" dirty="0" err="1"/>
              <a:t>bst</a:t>
            </a:r>
            <a:r>
              <a:rPr lang="en-US" altLang="zh-CN" dirty="0"/>
              <a:t> deletion.</a:t>
            </a:r>
          </a:p>
          <a:p>
            <a:r>
              <a:rPr lang="en-US" altLang="zh-CN" dirty="0"/>
              <a:t>After the node is deleted, we also need to update the information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13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802516" y="6851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802516" y="2080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2022/11/15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02516" y="6851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16" y="2080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-62678"/>
            <a:ext cx="12192000" cy="854684"/>
            <a:chOff x="-62235" y="561670"/>
            <a:chExt cx="12192000" cy="854684"/>
          </a:xfrm>
        </p:grpSpPr>
        <p:sp>
          <p:nvSpPr>
            <p:cNvPr id="8" name="矩形 7"/>
            <p:cNvSpPr/>
            <p:nvPr/>
          </p:nvSpPr>
          <p:spPr>
            <a:xfrm>
              <a:off x="-62235" y="619124"/>
              <a:ext cx="12192000" cy="714375"/>
            </a:xfrm>
            <a:prstGeom prst="rect">
              <a:avLst/>
            </a:prstGeom>
            <a:solidFill>
              <a:srgbClr val="621C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981"/>
            <a:stretch>
              <a:fillRect/>
            </a:stretch>
          </p:blipFill>
          <p:spPr bwMode="auto">
            <a:xfrm>
              <a:off x="5743575" y="561670"/>
              <a:ext cx="932528" cy="854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1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06"/>
            <a:stretch>
              <a:fillRect/>
            </a:stretch>
          </p:blipFill>
          <p:spPr bwMode="auto">
            <a:xfrm>
              <a:off x="6625610" y="561670"/>
              <a:ext cx="5326996" cy="854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62678"/>
            <a:ext cx="12192000" cy="854684"/>
            <a:chOff x="-62235" y="561670"/>
            <a:chExt cx="12192000" cy="854684"/>
          </a:xfrm>
        </p:grpSpPr>
        <p:sp>
          <p:nvSpPr>
            <p:cNvPr id="10" name="矩形 9"/>
            <p:cNvSpPr/>
            <p:nvPr/>
          </p:nvSpPr>
          <p:spPr>
            <a:xfrm>
              <a:off x="-62235" y="631824"/>
              <a:ext cx="12192000" cy="714375"/>
            </a:xfrm>
            <a:prstGeom prst="rect">
              <a:avLst/>
            </a:prstGeom>
            <a:solidFill>
              <a:srgbClr val="621C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981"/>
            <a:stretch>
              <a:fillRect/>
            </a:stretch>
          </p:blipFill>
          <p:spPr bwMode="auto">
            <a:xfrm>
              <a:off x="5743575" y="561670"/>
              <a:ext cx="932528" cy="854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06"/>
            <a:stretch>
              <a:fillRect/>
            </a:stretch>
          </p:blipFill>
          <p:spPr bwMode="auto">
            <a:xfrm>
              <a:off x="6625610" y="561670"/>
              <a:ext cx="5326996" cy="854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标题 1"/>
          <p:cNvSpPr txBox="1"/>
          <p:nvPr/>
        </p:nvSpPr>
        <p:spPr>
          <a:xfrm>
            <a:off x="1524000" y="2246117"/>
            <a:ext cx="9144000" cy="218700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AU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Tutorial 10</a:t>
            </a:r>
          </a:p>
          <a:p>
            <a:pPr algn="ctr"/>
            <a:r>
              <a:rPr lang="en-US" altLang="en-AU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Assignment2&amp; H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eap</a:t>
            </a:r>
            <a:endParaRPr lang="en-US" altLang="en-AU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副标题 4"/>
          <p:cNvSpPr txBox="1"/>
          <p:nvPr/>
        </p:nvSpPr>
        <p:spPr>
          <a:xfrm>
            <a:off x="1524000" y="3608438"/>
            <a:ext cx="9144000" cy="1649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ctr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微软雅黑 (标题)"/>
              </a:rPr>
              <a:t>Outline</a:t>
            </a:r>
            <a:endParaRPr lang="zh-CN" altLang="en-US" sz="4000" b="1" dirty="0">
              <a:latin typeface="微软雅黑 (标题)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微软雅黑 (标题)"/>
              </a:rPr>
              <a:t>Assinment2</a:t>
            </a:r>
            <a:r>
              <a:rPr lang="zh-CN" altLang="en-US" sz="3600" dirty="0">
                <a:latin typeface="微软雅黑 (标题)"/>
              </a:rPr>
              <a:t>（</a:t>
            </a:r>
            <a:r>
              <a:rPr lang="en-US" altLang="zh-CN" sz="3600" dirty="0">
                <a:latin typeface="微软雅黑 (标题)"/>
              </a:rPr>
              <a:t>Problem2&amp;4</a:t>
            </a:r>
            <a:r>
              <a:rPr lang="zh-CN" altLang="en-US" sz="3600" dirty="0">
                <a:latin typeface="微软雅黑 (标题)"/>
              </a:rPr>
              <a:t>）</a:t>
            </a:r>
            <a:endParaRPr lang="en-US" altLang="zh-CN" sz="3600" dirty="0">
              <a:latin typeface="微软雅黑 (标题)"/>
            </a:endParaRPr>
          </a:p>
          <a:p>
            <a:r>
              <a:rPr lang="en-US" altLang="zh-CN" sz="3600" dirty="0">
                <a:latin typeface="微软雅黑 (标题)"/>
              </a:rPr>
              <a:t>Heap-Exercise</a:t>
            </a:r>
            <a:endParaRPr lang="en-US" altLang="zh-CN" sz="3200" dirty="0">
              <a:latin typeface="微软雅黑 (标题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j-ea"/>
              </a:rPr>
              <a:t>Problem2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DE4A26-6281-BE1D-ADBD-27953AC10985}"/>
              </a:ext>
            </a:extLst>
          </p:cNvPr>
          <p:cNvSpPr txBox="1"/>
          <p:nvPr/>
        </p:nvSpPr>
        <p:spPr>
          <a:xfrm>
            <a:off x="647700" y="1655820"/>
            <a:ext cx="10186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0" i="0" u="none" strike="noStrike" baseline="0" dirty="0"/>
              <a:t>You are given an array a of length </a:t>
            </a:r>
            <a:r>
              <a:rPr lang="en-US" altLang="zh-CN" sz="1800" b="0" i="1" u="none" strike="noStrike" baseline="0" dirty="0"/>
              <a:t>n</a:t>
            </a:r>
            <a:r>
              <a:rPr lang="en-US" altLang="zh-CN" sz="1800" b="0" i="0" u="none" strike="noStrike" baseline="0" dirty="0"/>
              <a:t>. For all </a:t>
            </a:r>
            <a:r>
              <a:rPr lang="en-US" altLang="zh-CN" sz="1800" b="0" i="1" u="none" strike="noStrike" baseline="0" dirty="0" err="1"/>
              <a:t>i</a:t>
            </a:r>
            <a:r>
              <a:rPr lang="en-US" altLang="zh-CN" sz="1800" b="0" i="1" u="none" strike="noStrike" baseline="0" dirty="0"/>
              <a:t> </a:t>
            </a:r>
            <a:r>
              <a:rPr lang="en-US" altLang="zh-CN" sz="1800" b="0" i="0" u="none" strike="noStrike" baseline="0" dirty="0"/>
              <a:t>= 1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2</a:t>
            </a:r>
            <a:r>
              <a:rPr lang="en-US" altLang="zh-CN" sz="1800" b="0" i="1" u="none" strike="noStrike" baseline="0" dirty="0"/>
              <a:t>, , n</a:t>
            </a:r>
            <a:r>
              <a:rPr lang="en-US" altLang="zh-CN" sz="1800" b="0" i="0" u="none" strike="noStrike" baseline="0" dirty="0"/>
              <a:t>, there should be a straight wire from some</a:t>
            </a:r>
          </a:p>
          <a:p>
            <a:pPr algn="l"/>
            <a:r>
              <a:rPr lang="en-US" altLang="zh-CN" sz="1800" b="0" i="0" u="none" strike="noStrike" baseline="0" dirty="0"/>
              <a:t>point on segment </a:t>
            </a:r>
            <a:r>
              <a:rPr lang="en-US" altLang="zh-CN" sz="1800" b="0" i="0" u="none" strike="noStrike" baseline="0" dirty="0" err="1"/>
              <a:t>i</a:t>
            </a:r>
            <a:r>
              <a:rPr lang="en-US" altLang="zh-CN" sz="1800" b="0" i="0" u="none" strike="noStrike" baseline="0" dirty="0"/>
              <a:t> of the top terminal to some point on segment </a:t>
            </a:r>
            <a:r>
              <a:rPr lang="en-US" altLang="zh-CN" sz="1800" b="0" i="1" u="none" strike="noStrike" baseline="0" dirty="0"/>
              <a:t>a</a:t>
            </a:r>
            <a:r>
              <a:rPr lang="en-US" altLang="zh-CN" sz="800" b="0" i="1" u="none" strike="noStrike" baseline="0" dirty="0"/>
              <a:t>i </a:t>
            </a:r>
            <a:r>
              <a:rPr lang="en-US" altLang="zh-CN" sz="1800" b="0" i="0" u="none" strike="noStrike" baseline="0" dirty="0"/>
              <a:t>of the bottom terminal. You can’t</a:t>
            </a:r>
          </a:p>
          <a:p>
            <a:pPr algn="l"/>
            <a:r>
              <a:rPr lang="en-US" altLang="zh-CN" sz="1800" b="0" i="0" u="none" strike="noStrike" baseline="0" dirty="0"/>
              <a:t>select the endpoints of a segment. For example, the following pictures show two possible wirings if</a:t>
            </a:r>
          </a:p>
          <a:p>
            <a:pPr algn="l"/>
            <a:r>
              <a:rPr lang="en-US" altLang="zh-CN" sz="1800" b="0" i="1" u="none" strike="noStrike" baseline="0" dirty="0"/>
              <a:t>n </a:t>
            </a:r>
            <a:r>
              <a:rPr lang="en-US" altLang="zh-CN" sz="1800" b="0" i="0" u="none" strike="noStrike" baseline="0" dirty="0"/>
              <a:t>= 7 and </a:t>
            </a:r>
            <a:r>
              <a:rPr lang="en-US" altLang="zh-CN" sz="1800" b="0" i="1" u="none" strike="noStrike" baseline="0" dirty="0"/>
              <a:t>a </a:t>
            </a:r>
            <a:r>
              <a:rPr lang="en-US" altLang="zh-CN" sz="1800" b="0" i="0" u="none" strike="noStrike" baseline="0" dirty="0"/>
              <a:t>= [4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1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4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6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7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7</a:t>
            </a:r>
            <a:r>
              <a:rPr lang="en-US" altLang="zh-CN" sz="1800" b="0" i="1" u="none" strike="noStrike" baseline="0" dirty="0"/>
              <a:t>, </a:t>
            </a:r>
            <a:r>
              <a:rPr lang="en-US" altLang="zh-CN" sz="1800" b="0" i="0" u="none" strike="noStrike" baseline="0" dirty="0"/>
              <a:t>5].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614016-3A72-A84D-2E87-75E489B6B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76" y="2856149"/>
            <a:ext cx="5340624" cy="153394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1CDAF7C-51B9-3F2E-1945-E0DD0359A715}"/>
              </a:ext>
            </a:extLst>
          </p:cNvPr>
          <p:cNvSpPr txBox="1"/>
          <p:nvPr/>
        </p:nvSpPr>
        <p:spPr>
          <a:xfrm>
            <a:off x="578224" y="4528235"/>
            <a:ext cx="10585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baseline="0" dirty="0"/>
              <a:t>What is the maximum number of crossings there can be if you place the wires optimally?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37FEF-14F1-7F64-F14A-8C398DB2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Example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386E96-9CC6-F325-8317-C7DA211F4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9371" y="1583500"/>
            <a:ext cx="7036162" cy="1231963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0CB438-3EA6-4355-E019-7382A4CD3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41" y="2776756"/>
            <a:ext cx="3553111" cy="217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4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EF27B-C69F-6902-9F03-E92088AC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79F3FB6-CA96-3F25-9B96-6F81FB717A0B}"/>
                  </a:ext>
                </a:extLst>
              </p:cNvPr>
              <p:cNvSpPr txBox="1"/>
              <p:nvPr/>
            </p:nvSpPr>
            <p:spPr>
              <a:xfrm>
                <a:off x="448408" y="1656391"/>
                <a:ext cx="11142955" cy="4683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800" b="0" i="0" u="none" strike="noStrike" baseline="0" dirty="0">
                    <a:solidFill>
                      <a:srgbClr val="333333"/>
                    </a:solidFill>
                  </a:rPr>
                  <a:t>For the given wires, it contains crossings n*(n-1) at most.</a:t>
                </a:r>
              </a:p>
              <a:p>
                <a:pPr lvl="1"/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Proof. for each vertex vi (1&lt;= </a:t>
                </a:r>
                <a:r>
                  <a:rPr lang="en-US" altLang="zh-CN" sz="2000" b="0" i="0" u="none" strike="noStrike" baseline="0" dirty="0" err="1">
                    <a:solidFill>
                      <a:srgbClr val="333333"/>
                    </a:solidFill>
                  </a:rPr>
                  <a:t>i</a:t>
                </a:r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 &lt;=n), it crossings (n-1) at most.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b="0" i="0" u="none" strike="noStrike" baseline="0" dirty="0">
                    <a:solidFill>
                      <a:srgbClr val="333333"/>
                    </a:solidFill>
                  </a:rPr>
                  <a:t>Now look at two wires </a:t>
                </a:r>
                <a:r>
                  <a:rPr lang="en-US" altLang="zh-CN" sz="2400" b="0" i="0" u="none" strike="noStrike" baseline="0" dirty="0" err="1">
                    <a:solidFill>
                      <a:srgbClr val="333333"/>
                    </a:solidFill>
                  </a:rPr>
                  <a:t>i</a:t>
                </a:r>
                <a:r>
                  <a:rPr lang="en-US" altLang="zh-CN" sz="2400" b="0" i="0" u="none" strike="noStrike" baseline="0" dirty="0">
                    <a:solidFill>
                      <a:srgbClr val="333333"/>
                    </a:solidFill>
                  </a:rPr>
                  <a:t> -&gt; ai; j -&gt; </a:t>
                </a:r>
                <a:r>
                  <a:rPr lang="en-US" altLang="zh-CN" sz="2400" b="0" i="0" u="none" strike="noStrike" baseline="0" dirty="0" err="1">
                    <a:solidFill>
                      <a:srgbClr val="333333"/>
                    </a:solidFill>
                  </a:rPr>
                  <a:t>aj</a:t>
                </a:r>
                <a:endParaRPr lang="en-US" altLang="zh-CN" sz="2400" b="0" i="0" u="none" strike="noStrike" baseline="0" dirty="0">
                  <a:solidFill>
                    <a:srgbClr val="333333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rgbClr val="333333"/>
                    </a:solidFill>
                  </a:rPr>
                  <a:t>If ai &gt; </a:t>
                </a:r>
                <a:r>
                  <a:rPr lang="en-US" altLang="zh-CN" sz="2000" dirty="0" err="1">
                    <a:solidFill>
                      <a:srgbClr val="333333"/>
                    </a:solidFill>
                  </a:rPr>
                  <a:t>aj</a:t>
                </a:r>
                <a:r>
                  <a:rPr lang="en-US" altLang="zh-CN" sz="2000" dirty="0">
                    <a:solidFill>
                      <a:srgbClr val="333333"/>
                    </a:solidFill>
                  </a:rPr>
                  <a:t> then the wire i must cross with wire j.</a:t>
                </a:r>
              </a:p>
              <a:p>
                <a:pPr lvl="1"/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If ai &lt; </a:t>
                </a:r>
                <a:r>
                  <a:rPr lang="en-US" altLang="zh-CN" sz="2000" b="0" i="0" u="none" strike="noStrike" baseline="0" dirty="0" err="1">
                    <a:solidFill>
                      <a:srgbClr val="333333"/>
                    </a:solidFill>
                  </a:rPr>
                  <a:t>aj</a:t>
                </a:r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 then the wire </a:t>
                </a:r>
                <a:r>
                  <a:rPr lang="en-US" altLang="zh-CN" sz="2000" b="0" i="0" u="none" strike="noStrike" baseline="0" dirty="0" err="1">
                    <a:solidFill>
                      <a:srgbClr val="333333"/>
                    </a:solidFill>
                  </a:rPr>
                  <a:t>i</a:t>
                </a:r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 must not cross with wire j. </a:t>
                </a:r>
              </a:p>
              <a:p>
                <a:pPr lvl="1"/>
                <a:endParaRPr lang="en-US" altLang="zh-CN" sz="2000" b="0" i="0" u="none" strike="noStrike" baseline="0" dirty="0">
                  <a:solidFill>
                    <a:srgbClr val="333333"/>
                  </a:solidFill>
                </a:endParaRPr>
              </a:p>
              <a:p>
                <a:pPr lvl="1"/>
                <a:endParaRPr lang="en-US" altLang="zh-CN" sz="2000" dirty="0">
                  <a:solidFill>
                    <a:srgbClr val="333333"/>
                  </a:solidFill>
                </a:endParaRPr>
              </a:p>
              <a:p>
                <a:pPr lvl="1"/>
                <a:endParaRPr lang="en-US" altLang="zh-CN" sz="2000" b="0" i="0" u="none" strike="noStrike" baseline="0" dirty="0">
                  <a:solidFill>
                    <a:srgbClr val="333333"/>
                  </a:solidFill>
                </a:endParaRPr>
              </a:p>
              <a:p>
                <a:pPr lvl="1"/>
                <a:endParaRPr lang="en-US" altLang="zh-CN" sz="2000" b="0" i="0" u="none" strike="noStrike" baseline="0" dirty="0">
                  <a:solidFill>
                    <a:srgbClr val="333333"/>
                  </a:solidFill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b="0" i="0" u="none" strike="noStrike" baseline="0" dirty="0">
                    <a:solidFill>
                      <a:srgbClr val="333333"/>
                    </a:solidFill>
                  </a:rPr>
                  <a:t>Consider what will happen if  ai = </a:t>
                </a:r>
                <a:r>
                  <a:rPr lang="en-US" altLang="zh-CN" sz="2400" b="0" i="0" u="none" strike="noStrike" baseline="0" dirty="0" err="1">
                    <a:solidFill>
                      <a:srgbClr val="333333"/>
                    </a:solidFill>
                  </a:rPr>
                  <a:t>aj</a:t>
                </a:r>
                <a:r>
                  <a:rPr lang="en-US" altLang="zh-CN" sz="2400" b="0" i="0" u="none" strike="noStrike" baseline="0" dirty="0">
                    <a:solidFill>
                      <a:srgbClr val="333333"/>
                    </a:solidFill>
                  </a:rPr>
                  <a:t>.</a:t>
                </a:r>
              </a:p>
              <a:p>
                <a:pPr lvl="1"/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Since we want to achieve the maximum number of crossings.</a:t>
                </a:r>
              </a:p>
              <a:p>
                <a:pPr lvl="1"/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We place the front one on the upper terminal at the back of the lower terminal.</a:t>
                </a:r>
              </a:p>
              <a:p>
                <a:pPr lvl="1"/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Then wire </a:t>
                </a:r>
                <a:r>
                  <a:rPr lang="en-US" altLang="zh-CN" sz="2000" dirty="0" err="1">
                    <a:solidFill>
                      <a:srgbClr val="333333"/>
                    </a:solidFill>
                  </a:rPr>
                  <a:t>i</a:t>
                </a:r>
                <a:r>
                  <a:rPr lang="en-US" altLang="zh-CN" sz="2000" dirty="0">
                    <a:solidFill>
                      <a:srgbClr val="333333"/>
                    </a:solidFill>
                  </a:rPr>
                  <a:t> </a:t>
                </a:r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and wire j must form a crossing.</a:t>
                </a:r>
              </a:p>
              <a:p>
                <a:pPr lvl="1"/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The answer is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u="none" strike="noStrike" baseline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u="none" strike="noStrike" baseline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u="none" strike="noStrike" baseline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u="none" strike="noStrike" baseline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u="none" strike="noStrike" baseline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u="none" strike="noStrike" baseline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  <m:r>
                                  <a:rPr lang="en-US" altLang="zh-CN" sz="2000" b="0" i="1" u="none" strike="noStrike" baseline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sz="2000" b="0" i="1" u="none" strike="noStrike" baseline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𝑎𝑗</m:t>
                                </m:r>
                              </m:e>
                            </m:d>
                            <m:r>
                              <a:rPr lang="en-US" altLang="zh-CN" sz="2000" b="0" i="1" u="none" strike="noStrike" baseline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2000" b="0" i="0" u="none" strike="noStrike" baseline="0" dirty="0">
                    <a:solidFill>
                      <a:srgbClr val="333333"/>
                    </a:solidFill>
                  </a:rPr>
                  <a:t>  where [P]=1 if is true, else [P] = 0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79F3FB6-CA96-3F25-9B96-6F81FB717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08" y="1656391"/>
                <a:ext cx="11142955" cy="4683205"/>
              </a:xfrm>
              <a:prstGeom prst="rect">
                <a:avLst/>
              </a:prstGeom>
              <a:blipFill>
                <a:blip r:embed="rId3"/>
                <a:stretch>
                  <a:fillRect l="-985" t="-1432" b="-14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7492F60-4AF9-28C6-78CB-56F8B2D16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08" y="3482790"/>
            <a:ext cx="5804473" cy="117387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C7A3E83-509F-5148-DCC4-32296BFDD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038" y="3684310"/>
            <a:ext cx="2870348" cy="154948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6620829-E95A-43D0-ABEE-4D4FBE1DDD79}"/>
              </a:ext>
            </a:extLst>
          </p:cNvPr>
          <p:cNvCxnSpPr/>
          <p:nvPr/>
        </p:nvCxnSpPr>
        <p:spPr>
          <a:xfrm flipV="1">
            <a:off x="9135035" y="5189787"/>
            <a:ext cx="71718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3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j-ea"/>
              </a:rPr>
              <a:t>Problem Simplification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47700" y="1825308"/>
            <a:ext cx="11373971" cy="4351655"/>
          </a:xfrm>
        </p:spPr>
        <p:txBody>
          <a:bodyPr/>
          <a:lstStyle/>
          <a:p>
            <a:r>
              <a:rPr lang="en-US" altLang="zh-CN" sz="2800" b="0" i="0" u="none" strike="noStrike" baseline="0" dirty="0"/>
              <a:t>Given a series of integers of length n, calculate the number of inverse pairs in the series.</a:t>
            </a:r>
          </a:p>
          <a:p>
            <a:r>
              <a:rPr lang="en-US" altLang="zh-CN" dirty="0"/>
              <a:t>An inverse pair is defined as follows: for the </a:t>
            </a:r>
            <a:r>
              <a:rPr lang="en-US" altLang="zh-CN" dirty="0" err="1"/>
              <a:t>i-th</a:t>
            </a:r>
            <a:r>
              <a:rPr lang="en-US" altLang="zh-CN" dirty="0"/>
              <a:t> and j-</a:t>
            </a:r>
            <a:r>
              <a:rPr lang="en-US" altLang="zh-CN" dirty="0" err="1"/>
              <a:t>th</a:t>
            </a:r>
            <a:r>
              <a:rPr lang="en-US" altLang="zh-CN" dirty="0"/>
              <a:t> elements of a series, it is an inverse pair if it satisfies </a:t>
            </a:r>
            <a:r>
              <a:rPr lang="en-US" altLang="zh-CN" dirty="0" err="1"/>
              <a:t>i</a:t>
            </a:r>
            <a:r>
              <a:rPr lang="en-US" altLang="zh-CN" dirty="0"/>
              <a:t>&lt;j and a[</a:t>
            </a:r>
            <a:r>
              <a:rPr lang="en-US" altLang="zh-CN" dirty="0" err="1"/>
              <a:t>i</a:t>
            </a:r>
            <a:r>
              <a:rPr lang="en-US" altLang="zh-CN" dirty="0"/>
              <a:t>]&gt;=a[j]; otherwise it is not.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742E09-BE87-00A4-7F39-4B4478542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逆序对的定义如下：对于数列的第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i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i 个和第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j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j 个元素，如果满足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i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j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i&lt;j 且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a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[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i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]&gt;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a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[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j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]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a[i]&gt;a[j]，则其为一个逆序对；否则不是。</a:t>
            </a: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9D1096B-636C-BEF9-9EA1-FD471DD1DD07}"/>
              </a:ext>
            </a:extLst>
          </p:cNvPr>
          <p:cNvSpPr/>
          <p:nvPr/>
        </p:nvSpPr>
        <p:spPr>
          <a:xfrm>
            <a:off x="721659" y="4303059"/>
            <a:ext cx="8364070" cy="10130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CC3300"/>
                </a:solidFill>
              </a:rPr>
              <a:t>Of course, We have an trivial double loop algorithm, but its so time-consuming! </a:t>
            </a:r>
            <a:endParaRPr lang="zh-CN" altLang="en-US" sz="2800" dirty="0">
              <a:solidFill>
                <a:srgbClr val="CC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70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731257"/>
            <a:ext cx="112014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j-ea"/>
              </a:rPr>
              <a:t>Merge Sort to Solve this problem.</a:t>
            </a:r>
            <a:endParaRPr lang="zh-CN" altLang="en-US" sz="4000" b="1" dirty="0">
              <a:latin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D68F2B-D7E0-8E51-71CD-022AAD275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19" y="2811043"/>
            <a:ext cx="3412198" cy="11065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ABD8FE-9B3A-2FF8-E6BD-4CF45F51F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19" y="4173072"/>
            <a:ext cx="3290993" cy="21757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5BDE3D-9D7E-49A8-05B4-37117EFB9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527" y="2570776"/>
            <a:ext cx="3735761" cy="18191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6A29F94-EEB0-DB2F-F7F7-7BB0B2A8B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5588" y="4764733"/>
            <a:ext cx="3370993" cy="16641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1B9BEAC-0318-5CA7-C82C-0A09F331DE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005" y="2710699"/>
            <a:ext cx="2908848" cy="188280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64B7BC4-B545-EF10-8E80-E3800696F4B5}"/>
              </a:ext>
            </a:extLst>
          </p:cNvPr>
          <p:cNvSpPr txBox="1"/>
          <p:nvPr/>
        </p:nvSpPr>
        <p:spPr>
          <a:xfrm>
            <a:off x="389019" y="1790201"/>
            <a:ext cx="109468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Calculate the number of inverse pairs in the merge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If a[i] &gt; a[j], then a[i] and the elements after it are greater than a[j], and a[i] constitutes the number of inverse pairs: res += mid - i + 1;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4A2F152-F4E3-094C-E686-5965DC589C45}"/>
              </a:ext>
            </a:extLst>
          </p:cNvPr>
          <p:cNvSpPr txBox="1"/>
          <p:nvPr/>
        </p:nvSpPr>
        <p:spPr>
          <a:xfrm>
            <a:off x="510224" y="3867471"/>
            <a:ext cx="361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Two sorted Merged segments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1054BA-F878-BF84-CFF6-191A77BA5859}"/>
              </a:ext>
            </a:extLst>
          </p:cNvPr>
          <p:cNvSpPr txBox="1"/>
          <p:nvPr/>
        </p:nvSpPr>
        <p:spPr>
          <a:xfrm>
            <a:off x="425059" y="6348782"/>
            <a:ext cx="361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 = 0, j = mid + 1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02B3AC-D825-DF4A-8E4F-A16B1A511A3F}"/>
              </a:ext>
            </a:extLst>
          </p:cNvPr>
          <p:cNvSpPr txBox="1"/>
          <p:nvPr/>
        </p:nvSpPr>
        <p:spPr>
          <a:xfrm>
            <a:off x="4072423" y="4297925"/>
            <a:ext cx="4253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&gt; a[j] (2 &gt; 1)</a:t>
            </a:r>
          </a:p>
          <a:p>
            <a:r>
              <a:rPr lang="en-US" altLang="zh-CN" dirty="0"/>
              <a:t> res += 1 – 0 + 1 = 2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FE141F-7635-B63C-F09F-7B400188B468}"/>
              </a:ext>
            </a:extLst>
          </p:cNvPr>
          <p:cNvSpPr txBox="1"/>
          <p:nvPr/>
        </p:nvSpPr>
        <p:spPr>
          <a:xfrm>
            <a:off x="7799294" y="4524019"/>
            <a:ext cx="250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&gt; a[j] (7 &gt; 4)</a:t>
            </a:r>
          </a:p>
          <a:p>
            <a:r>
              <a:rPr lang="en-US" altLang="zh-CN" dirty="0"/>
              <a:t> res += 1 – 1 + 1 = 4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56CD93-0D35-DCBB-441F-600271E68AB4}"/>
              </a:ext>
            </a:extLst>
          </p:cNvPr>
          <p:cNvSpPr txBox="1"/>
          <p:nvPr/>
        </p:nvSpPr>
        <p:spPr>
          <a:xfrm>
            <a:off x="4217142" y="6244922"/>
            <a:ext cx="4253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&gt; a[j] (7 &gt; 3) </a:t>
            </a:r>
          </a:p>
          <a:p>
            <a:r>
              <a:rPr lang="en-US" altLang="zh-CN" dirty="0"/>
              <a:t>res += 1 – 1 + 1 = 3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58782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j-ea"/>
              </a:rPr>
              <a:t>Problem2 Solution: (Java)</a:t>
            </a:r>
            <a:endParaRPr lang="zh-CN" altLang="en-US" sz="4000" b="1" dirty="0">
              <a:latin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BDCF72-6EDD-BF88-C6A7-25F628BA2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24" y="1641296"/>
            <a:ext cx="5506188" cy="4990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B0A5C3A-8600-24C7-B759-0AA24C438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049" y="1771163"/>
            <a:ext cx="5689892" cy="4445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58782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j-ea"/>
              </a:rPr>
              <a:t>Problem2 Solution: (Python)</a:t>
            </a:r>
            <a:endParaRPr lang="zh-CN" altLang="en-US" sz="4000" b="1" dirty="0">
              <a:latin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C1BD2C-9EA1-8534-7F03-71A6EF028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0" y="1488709"/>
            <a:ext cx="6483724" cy="516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53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735" y="7447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j-ea"/>
              </a:rPr>
              <a:t>Problem4</a:t>
            </a:r>
            <a:endParaRPr lang="zh-CN" altLang="en-US" sz="4000" b="1" dirty="0">
              <a:latin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570944-B9E4-A716-75AE-13F4899F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53" y="1799587"/>
            <a:ext cx="10725982" cy="43726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68103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+mj-ea"/>
              </a:rPr>
              <a:t>Recap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47700" y="1825625"/>
            <a:ext cx="7843520" cy="43516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Binary Search Tree(BST)</a:t>
            </a:r>
          </a:p>
          <a:p>
            <a:r>
              <a:rPr lang="en-US" altLang="zh-CN" dirty="0"/>
              <a:t>BST is a tree such that for each node T</a:t>
            </a:r>
          </a:p>
          <a:p>
            <a:pPr lvl="1"/>
            <a:r>
              <a:rPr lang="en-US" altLang="zh-CN" dirty="0"/>
              <a:t>the key values in its left subtree are </a:t>
            </a:r>
            <a:r>
              <a:rPr lang="en-US" altLang="zh-CN" dirty="0">
                <a:solidFill>
                  <a:srgbClr val="FF0000"/>
                </a:solidFill>
              </a:rPr>
              <a:t>smaller</a:t>
            </a:r>
            <a:r>
              <a:rPr lang="en-US" altLang="zh-CN" dirty="0"/>
              <a:t> than the key value of T</a:t>
            </a:r>
          </a:p>
          <a:p>
            <a:pPr lvl="1"/>
            <a:r>
              <a:rPr lang="en-US" altLang="zh-CN" dirty="0"/>
              <a:t>the key values in its right subtree are </a:t>
            </a:r>
            <a:r>
              <a:rPr lang="en-US" altLang="zh-CN" dirty="0">
                <a:solidFill>
                  <a:srgbClr val="FF0000"/>
                </a:solidFill>
              </a:rPr>
              <a:t>larger</a:t>
            </a:r>
            <a:r>
              <a:rPr lang="en-US" altLang="zh-CN" dirty="0"/>
              <a:t> than the key value of 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175" y="2346959"/>
            <a:ext cx="3086735" cy="23291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BECF8-74D5-0DCD-7F6D-EEDEA1AC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2BF3A-4FDC-0B91-64D0-6AFE6FA8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15" y="1729538"/>
            <a:ext cx="11668885" cy="4351338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Build a </a:t>
            </a:r>
            <a:r>
              <a:rPr lang="en-US" altLang="zh-CN" sz="2400" b="0" i="0" u="none" strike="noStrike" baseline="0" dirty="0" err="1">
                <a:solidFill>
                  <a:srgbClr val="333333"/>
                </a:solidFill>
              </a:rPr>
              <a:t>bst</a:t>
            </a:r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 to maintain the array.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For each node of the </a:t>
            </a:r>
            <a:r>
              <a:rPr lang="en-US" altLang="zh-CN" sz="2400" b="0" i="0" u="none" strike="noStrike" baseline="0" dirty="0" err="1">
                <a:solidFill>
                  <a:srgbClr val="333333"/>
                </a:solidFill>
              </a:rPr>
              <a:t>bst</a:t>
            </a:r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, the key is the element's position in the array, the value is the element's value.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In order to maintain the key of each node efficiently, we define :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When inserting or deleting a node, we can get the key of each node by finding the size value of its left child and the remains of the previous node. Then we can insert or delete a node as we do in a common </a:t>
            </a:r>
            <a:r>
              <a:rPr lang="en-US" altLang="zh-CN" sz="2400" b="0" i="0" u="none" strike="noStrike" baseline="0" dirty="0" err="1">
                <a:solidFill>
                  <a:srgbClr val="333333"/>
                </a:solidFill>
              </a:rPr>
              <a:t>bst</a:t>
            </a:r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.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After inserting a node or deleting a node, there will be at most O(h) node's size changed, where  h is the height of the </a:t>
            </a:r>
            <a:r>
              <a:rPr lang="en-US" altLang="zh-CN" sz="2400" b="0" i="0" u="none" strike="noStrike" baseline="0" dirty="0" err="1">
                <a:solidFill>
                  <a:srgbClr val="333333"/>
                </a:solidFill>
              </a:rPr>
              <a:t>bst</a:t>
            </a:r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960CC8-5F6B-7324-467F-79FEF1E4E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648" y="2990827"/>
            <a:ext cx="2292468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79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AF806-D58F-1947-B899-C0CAC9FB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37E8C9-DA8C-7A01-D672-33A2162F5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17" y="1852304"/>
            <a:ext cx="10515600" cy="3320829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Then we can solve the insert and delete operation in O(h)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Still, we can maintain the sum as we do to maintain size. we define :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If we need to calculate sum(1,r) , it can be reformulated to sum(1,r) – sum(1, l – 1) .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We can </a:t>
            </a:r>
            <a:r>
              <a:rPr lang="en-US" altLang="zh-CN" sz="2400" b="0" i="0" u="none" strike="noStrike" baseline="0" dirty="0" err="1">
                <a:solidFill>
                  <a:srgbClr val="333333"/>
                </a:solidFill>
              </a:rPr>
              <a:t>caculate</a:t>
            </a:r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  sum (1, x) in  </a:t>
            </a:r>
            <a:r>
              <a:rPr lang="en-US" altLang="zh-CN" sz="2400" dirty="0">
                <a:solidFill>
                  <a:srgbClr val="333333"/>
                </a:solidFill>
              </a:rPr>
              <a:t>O(h) </a:t>
            </a:r>
            <a:r>
              <a:rPr lang="en-US" altLang="zh-CN" sz="2400" b="0" i="0" u="none" strike="noStrike" baseline="0" dirty="0">
                <a:solidFill>
                  <a:srgbClr val="333333"/>
                </a:solidFill>
              </a:rPr>
              <a:t>since we have maintained sum for each node.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A17B30-7F79-8D7A-32C8-002E0C5DE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34" y="2222500"/>
            <a:ext cx="1892397" cy="56726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548DEB1-935E-3990-06D7-15F246575321}"/>
              </a:ext>
            </a:extLst>
          </p:cNvPr>
          <p:cNvSpPr/>
          <p:nvPr/>
        </p:nvSpPr>
        <p:spPr>
          <a:xfrm>
            <a:off x="850900" y="4593167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40C2A1-6D15-87B1-70EC-9142374E7D4F}"/>
              </a:ext>
            </a:extLst>
          </p:cNvPr>
          <p:cNvSpPr/>
          <p:nvPr/>
        </p:nvSpPr>
        <p:spPr>
          <a:xfrm>
            <a:off x="1392767" y="4593167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9E7BBA-4865-64FB-E6E7-0F225D2991A2}"/>
              </a:ext>
            </a:extLst>
          </p:cNvPr>
          <p:cNvSpPr/>
          <p:nvPr/>
        </p:nvSpPr>
        <p:spPr>
          <a:xfrm>
            <a:off x="1934634" y="4593167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4B1126-304C-F47B-A027-993591CFC7D4}"/>
              </a:ext>
            </a:extLst>
          </p:cNvPr>
          <p:cNvSpPr/>
          <p:nvPr/>
        </p:nvSpPr>
        <p:spPr>
          <a:xfrm>
            <a:off x="2469851" y="4593167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1F714E-4F55-E1B4-6644-B337E20BF0B3}"/>
              </a:ext>
            </a:extLst>
          </p:cNvPr>
          <p:cNvSpPr/>
          <p:nvPr/>
        </p:nvSpPr>
        <p:spPr>
          <a:xfrm>
            <a:off x="3687233" y="4576234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E0537F-3657-AD7A-AC2C-3804F7A34F2F}"/>
              </a:ext>
            </a:extLst>
          </p:cNvPr>
          <p:cNvSpPr/>
          <p:nvPr/>
        </p:nvSpPr>
        <p:spPr>
          <a:xfrm>
            <a:off x="4229100" y="4576234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9A92AA-1D9F-465C-2023-E5B5732A0C20}"/>
              </a:ext>
            </a:extLst>
          </p:cNvPr>
          <p:cNvSpPr/>
          <p:nvPr/>
        </p:nvSpPr>
        <p:spPr>
          <a:xfrm>
            <a:off x="4770967" y="4576234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B2873A-0193-5CDB-21A6-8FF8112F54D1}"/>
              </a:ext>
            </a:extLst>
          </p:cNvPr>
          <p:cNvSpPr/>
          <p:nvPr/>
        </p:nvSpPr>
        <p:spPr>
          <a:xfrm>
            <a:off x="5306184" y="4576234"/>
            <a:ext cx="541867" cy="44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EFCAFD-7A2D-54FD-FAD7-AC3F77794A12}"/>
              </a:ext>
            </a:extLst>
          </p:cNvPr>
          <p:cNvSpPr txBox="1"/>
          <p:nvPr/>
        </p:nvSpPr>
        <p:spPr>
          <a:xfrm>
            <a:off x="1202267" y="5126567"/>
            <a:ext cx="140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011798-FFC4-196A-4974-1C44CFC810EA}"/>
              </a:ext>
            </a:extLst>
          </p:cNvPr>
          <p:cNvSpPr txBox="1"/>
          <p:nvPr/>
        </p:nvSpPr>
        <p:spPr>
          <a:xfrm>
            <a:off x="3914016" y="5089552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Pre-Sum Array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486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箭头: 右 8">
            <a:extLst>
              <a:ext uri="{FF2B5EF4-FFF2-40B4-BE49-F238E27FC236}">
                <a16:creationId xmlns:a16="http://schemas.microsoft.com/office/drawing/2014/main" id="{1D5AD9CC-C582-460F-A2D2-9EBA01F1C8AB}"/>
              </a:ext>
            </a:extLst>
          </p:cNvPr>
          <p:cNvSpPr/>
          <p:nvPr/>
        </p:nvSpPr>
        <p:spPr>
          <a:xfrm>
            <a:off x="2750422" y="4478806"/>
            <a:ext cx="3086100" cy="436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93AAE3-58D0-AD5A-448C-67B449F1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04" y="496927"/>
            <a:ext cx="10515600" cy="1325563"/>
          </a:xfrm>
        </p:spPr>
        <p:txBody>
          <a:bodyPr/>
          <a:lstStyle/>
          <a:p>
            <a:r>
              <a:rPr lang="en-US" altLang="zh-CN" dirty="0"/>
              <a:t>Details: Struct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62CB6C-DC45-8FF0-1D8F-CCC3FF3F874C}"/>
              </a:ext>
            </a:extLst>
          </p:cNvPr>
          <p:cNvSpPr txBox="1"/>
          <p:nvPr/>
        </p:nvSpPr>
        <p:spPr>
          <a:xfrm>
            <a:off x="5020733" y="2485073"/>
            <a:ext cx="51604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each node, we initialize its size = 1, and </a:t>
            </a:r>
            <a:r>
              <a:rPr lang="en-US" altLang="zh-CN" dirty="0" err="1"/>
              <a:t>val</a:t>
            </a:r>
            <a:r>
              <a:rPr lang="en-US" altLang="zh-CN" dirty="0"/>
              <a:t> = input value,</a:t>
            </a:r>
          </a:p>
          <a:p>
            <a:r>
              <a:rPr lang="en-US" altLang="zh-CN" dirty="0"/>
              <a:t>We need to maintain two values</a:t>
            </a:r>
          </a:p>
          <a:p>
            <a:pPr marL="342900" indent="-342900">
              <a:buAutoNum type="arabicPeriod"/>
            </a:pPr>
            <a:r>
              <a:rPr lang="en-US" altLang="zh-CN" dirty="0" err="1"/>
              <a:t>this.size</a:t>
            </a:r>
            <a:r>
              <a:rPr lang="en-US" altLang="zh-CN" dirty="0"/>
              <a:t> = its subtree size + 1(it self)</a:t>
            </a:r>
          </a:p>
          <a:p>
            <a:pPr marL="342900" indent="-342900">
              <a:buAutoNum type="arabicPeriod"/>
            </a:pPr>
            <a:r>
              <a:rPr lang="en-US" altLang="zh-CN" dirty="0" err="1"/>
              <a:t>this.sum</a:t>
            </a:r>
            <a:r>
              <a:rPr lang="en-US" altLang="zh-CN" dirty="0"/>
              <a:t> = its subtree sum value + (</a:t>
            </a:r>
            <a:r>
              <a:rPr lang="en-US" altLang="zh-CN" dirty="0" err="1"/>
              <a:t>this.value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4BB25B-3684-7FF3-6C31-51395BEDA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04" y="1499969"/>
            <a:ext cx="4078319" cy="5238208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920074-7DF0-5269-1E99-EEB4B6A5CCA6}"/>
              </a:ext>
            </a:extLst>
          </p:cNvPr>
          <p:cNvSpPr/>
          <p:nvPr/>
        </p:nvSpPr>
        <p:spPr>
          <a:xfrm>
            <a:off x="5880974" y="4295248"/>
            <a:ext cx="2396066" cy="10075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Integrating information from subtrees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8607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3AAE3-58D0-AD5A-448C-67B449F1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Details: Insert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F202CE8-188E-728F-B306-64F830AA9D3F}"/>
              </a:ext>
            </a:extLst>
          </p:cNvPr>
          <p:cNvSpPr/>
          <p:nvPr/>
        </p:nvSpPr>
        <p:spPr>
          <a:xfrm>
            <a:off x="3009900" y="4165205"/>
            <a:ext cx="3086100" cy="436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B56851B-BFCC-73C2-8C2E-0BF1D4F2A04A}"/>
              </a:ext>
            </a:extLst>
          </p:cNvPr>
          <p:cNvSpPr/>
          <p:nvPr/>
        </p:nvSpPr>
        <p:spPr>
          <a:xfrm>
            <a:off x="6159000" y="3915040"/>
            <a:ext cx="2396066" cy="10075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Determining whether to insert a left or right subtree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78E38E-F99D-E50A-E2B6-EFC6A824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7" y="2338204"/>
            <a:ext cx="5154706" cy="41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F2B7-8F01-7383-710D-C00B91A0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BST: Insert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5ADBE1-2D7C-7FB6-DA74-BBF6CA7DA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713" y="2081213"/>
            <a:ext cx="7122724" cy="4351337"/>
          </a:xfrm>
        </p:spPr>
      </p:pic>
    </p:spTree>
    <p:extLst>
      <p:ext uri="{BB962C8B-B14F-4D97-AF65-F5344CB8AC3E}">
        <p14:creationId xmlns:p14="http://schemas.microsoft.com/office/powerpoint/2010/main" val="2250252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箭头: 右 8">
            <a:extLst>
              <a:ext uri="{FF2B5EF4-FFF2-40B4-BE49-F238E27FC236}">
                <a16:creationId xmlns:a16="http://schemas.microsoft.com/office/drawing/2014/main" id="{8BADA300-63DB-5D65-422C-68783F7D353A}"/>
              </a:ext>
            </a:extLst>
          </p:cNvPr>
          <p:cNvSpPr/>
          <p:nvPr/>
        </p:nvSpPr>
        <p:spPr>
          <a:xfrm>
            <a:off x="3128742" y="5680866"/>
            <a:ext cx="2738966" cy="27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D09A578-6B4D-84DD-4ED6-38B4924FE914}"/>
              </a:ext>
            </a:extLst>
          </p:cNvPr>
          <p:cNvSpPr/>
          <p:nvPr/>
        </p:nvSpPr>
        <p:spPr>
          <a:xfrm>
            <a:off x="3074953" y="5103069"/>
            <a:ext cx="2738966" cy="351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93AAE3-58D0-AD5A-448C-67B449F1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6" y="587291"/>
            <a:ext cx="10515600" cy="1325563"/>
          </a:xfrm>
        </p:spPr>
        <p:txBody>
          <a:bodyPr/>
          <a:lstStyle/>
          <a:p>
            <a:r>
              <a:rPr lang="en-US" altLang="zh-CN" dirty="0"/>
              <a:t>Details: Delete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F202CE8-188E-728F-B306-64F830AA9D3F}"/>
              </a:ext>
            </a:extLst>
          </p:cNvPr>
          <p:cNvSpPr/>
          <p:nvPr/>
        </p:nvSpPr>
        <p:spPr>
          <a:xfrm>
            <a:off x="2903542" y="6332068"/>
            <a:ext cx="3020858" cy="436033"/>
          </a:xfrm>
          <a:prstGeom prst="rightArrow">
            <a:avLst>
              <a:gd name="adj1" fmla="val 50000"/>
              <a:gd name="adj2" fmla="val 746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B56851B-BFCC-73C2-8C2E-0BF1D4F2A04A}"/>
              </a:ext>
            </a:extLst>
          </p:cNvPr>
          <p:cNvSpPr/>
          <p:nvPr/>
        </p:nvSpPr>
        <p:spPr>
          <a:xfrm>
            <a:off x="5924400" y="6393818"/>
            <a:ext cx="2396066" cy="4598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Delete the root node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EF27B77-FA19-6481-04DE-3A73F9B83318}"/>
              </a:ext>
            </a:extLst>
          </p:cNvPr>
          <p:cNvSpPr/>
          <p:nvPr/>
        </p:nvSpPr>
        <p:spPr>
          <a:xfrm>
            <a:off x="5813919" y="5026359"/>
            <a:ext cx="2396066" cy="589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Delete the node  in the left subtree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F7A5A4B-AEE8-7262-C499-1D60B41D7193}"/>
              </a:ext>
            </a:extLst>
          </p:cNvPr>
          <p:cNvSpPr/>
          <p:nvPr/>
        </p:nvSpPr>
        <p:spPr>
          <a:xfrm>
            <a:off x="5867708" y="5742616"/>
            <a:ext cx="2396066" cy="589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Delete the node  in the right subtree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9A1894-3EA7-B372-6D3C-D116EF6AC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2" y="1559528"/>
            <a:ext cx="4732574" cy="52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43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F2B7-8F01-7383-710D-C00B91A0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BST: Delete-1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1A5C20-5E59-984B-7247-C83D29B34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71" y="1772397"/>
            <a:ext cx="7316354" cy="4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44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F2B7-8F01-7383-710D-C00B91A0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BST: Delete-2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8E82C7-B928-194C-497A-093FA8AEF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53" y="1661078"/>
            <a:ext cx="8763247" cy="475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83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F2B7-8F01-7383-710D-C00B91A0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BST: Delete-3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D9CE32-0C66-1A41-4B3B-24B80D408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16" y="1672867"/>
            <a:ext cx="8276413" cy="474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56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3AAE3-58D0-AD5A-448C-67B449F1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Details: Sum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C673FC0-D610-06CF-4034-5FEB1BE2EA84}"/>
              </a:ext>
            </a:extLst>
          </p:cNvPr>
          <p:cNvSpPr/>
          <p:nvPr/>
        </p:nvSpPr>
        <p:spPr>
          <a:xfrm>
            <a:off x="7983234" y="1810940"/>
            <a:ext cx="1030778" cy="546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Root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76BBE36-45FE-B155-40A0-447E53B5F5D3}"/>
              </a:ext>
            </a:extLst>
          </p:cNvPr>
          <p:cNvSpPr/>
          <p:nvPr/>
        </p:nvSpPr>
        <p:spPr>
          <a:xfrm>
            <a:off x="7254688" y="3105128"/>
            <a:ext cx="900953" cy="546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B3A6D10-14C3-943E-6607-97BF33BDA825}"/>
              </a:ext>
            </a:extLst>
          </p:cNvPr>
          <p:cNvSpPr/>
          <p:nvPr/>
        </p:nvSpPr>
        <p:spPr>
          <a:xfrm>
            <a:off x="8798859" y="3105128"/>
            <a:ext cx="900953" cy="546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7878805-F2BE-BF70-F5D9-CE27C5DEF510}"/>
              </a:ext>
            </a:extLst>
          </p:cNvPr>
          <p:cNvCxnSpPr>
            <a:endCxn id="8" idx="0"/>
          </p:cNvCxnSpPr>
          <p:nvPr/>
        </p:nvCxnSpPr>
        <p:spPr>
          <a:xfrm flipH="1">
            <a:off x="7705165" y="2357787"/>
            <a:ext cx="555811" cy="747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2BBE53-468E-676A-DDE9-9ABC7955929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606118" y="2357787"/>
            <a:ext cx="643218" cy="747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532C6BE-5F35-8D8C-5BEA-52335228835B}"/>
              </a:ext>
            </a:extLst>
          </p:cNvPr>
          <p:cNvSpPr txBox="1"/>
          <p:nvPr/>
        </p:nvSpPr>
        <p:spPr>
          <a:xfrm>
            <a:off x="6884246" y="4108588"/>
            <a:ext cx="5168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K &lt;= </a:t>
            </a:r>
            <a:r>
              <a:rPr lang="en-US" altLang="zh-CN" dirty="0" err="1"/>
              <a:t>L.size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 Get the sum in the left sub-tree</a:t>
            </a:r>
          </a:p>
          <a:p>
            <a:r>
              <a:rPr lang="en-US" altLang="zh-CN" dirty="0"/>
              <a:t>2. K &gt; </a:t>
            </a:r>
            <a:r>
              <a:rPr lang="en-US" altLang="zh-CN" dirty="0" err="1"/>
              <a:t>L.size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Return </a:t>
            </a:r>
            <a:r>
              <a:rPr lang="en-US" altLang="zh-CN" dirty="0" err="1"/>
              <a:t>L.sum</a:t>
            </a:r>
            <a:r>
              <a:rPr lang="en-US" altLang="zh-CN" dirty="0"/>
              <a:t> + </a:t>
            </a:r>
            <a:r>
              <a:rPr lang="en-US" altLang="zh-CN" dirty="0" err="1"/>
              <a:t>root.val</a:t>
            </a:r>
            <a:r>
              <a:rPr lang="en-US" altLang="zh-CN" dirty="0"/>
              <a:t> + </a:t>
            </a:r>
          </a:p>
          <a:p>
            <a:r>
              <a:rPr lang="en-US" altLang="zh-CN" dirty="0"/>
              <a:t>get the (k – </a:t>
            </a:r>
            <a:r>
              <a:rPr lang="en-US" altLang="zh-CN" dirty="0" err="1"/>
              <a:t>L.size</a:t>
            </a:r>
            <a:r>
              <a:rPr lang="en-US" altLang="zh-CN" dirty="0"/>
              <a:t> + 1)’s sum in the right sub-tree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705AA4-2E61-2B77-BBAA-95F34CFDF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46" y="1931036"/>
            <a:ext cx="5593943" cy="34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12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33FB-1EA6-4515-AF3D-C8724DA4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Example-1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1177ED-3341-6445-2E8D-33785F78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97" y="1637966"/>
            <a:ext cx="8628974" cy="49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3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79FBF-B1F1-6D86-820A-BC2FAE59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49" y="755341"/>
            <a:ext cx="10515600" cy="1325563"/>
          </a:xfrm>
        </p:spPr>
        <p:txBody>
          <a:bodyPr/>
          <a:lstStyle/>
          <a:p>
            <a:r>
              <a:rPr lang="en-US" altLang="zh-CN" dirty="0"/>
              <a:t>Ex1 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C373CD-EAAD-95F5-3523-0E18D4B1EE49}"/>
              </a:ext>
            </a:extLst>
          </p:cNvPr>
          <p:cNvSpPr txBox="1"/>
          <p:nvPr/>
        </p:nvSpPr>
        <p:spPr>
          <a:xfrm>
            <a:off x="401999" y="1741070"/>
            <a:ext cx="111429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</a:rPr>
              <a:t>Given an array of integers </a:t>
            </a:r>
            <a:r>
              <a:rPr lang="en-US" altLang="zh-CN" sz="2000" dirty="0" err="1">
                <a:solidFill>
                  <a:srgbClr val="333333"/>
                </a:solidFill>
              </a:rPr>
              <a:t>nums</a:t>
            </a:r>
            <a:r>
              <a:rPr lang="en-US" altLang="zh-CN" sz="2000" dirty="0">
                <a:solidFill>
                  <a:srgbClr val="333333"/>
                </a:solidFill>
              </a:rPr>
              <a:t> and an integer k, return the kth largest element of the array.</a:t>
            </a:r>
          </a:p>
          <a:p>
            <a:pPr algn="l"/>
            <a:r>
              <a:rPr lang="en-US" altLang="zh-CN" sz="2000" dirty="0">
                <a:solidFill>
                  <a:srgbClr val="333333"/>
                </a:solidFill>
              </a:rPr>
              <a:t>Note that you need to find the kth largest element of the array after sorting, not the kth different element.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2CDC20-A561-53EC-EE7D-F028BBA96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49" y="2913366"/>
            <a:ext cx="6502734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00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FDDF6-2C43-D64C-93F2-A806D6C6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Definition of Heap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05EE07-6DC1-084C-AC0B-39CFFF8D22DE}"/>
              </a:ext>
            </a:extLst>
          </p:cNvPr>
          <p:cNvSpPr txBox="1"/>
          <p:nvPr/>
        </p:nvSpPr>
        <p:spPr>
          <a:xfrm>
            <a:off x="1338422" y="1513143"/>
            <a:ext cx="9051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 max-heap is a heap where the value of each parent is greater than or equal to the values of its children. Which of the following is a max-heap?</a:t>
            </a:r>
            <a:endParaRPr kumimoji="1" lang="zh-CN" altLang="en-US" b="1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87AD531E-181E-8F4E-A78E-A8D530A92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721" y="2159474"/>
            <a:ext cx="6397512" cy="430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96A2B-E08C-800F-8893-2AA108B6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00368-B231-C502-5AAE-1193F89C8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66" y="1767637"/>
            <a:ext cx="10987318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Depending on the number of elements in the current min-heap or the size of the current element in relation to the top element of the min-heap, the discussion is divided into cases.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When there are less than k elements in the min-heap, the current element can be placed directly into the min-heap.</a:t>
            </a:r>
            <a:br>
              <a:rPr lang="en-US" altLang="zh-CN" dirty="0"/>
            </a:br>
            <a:r>
              <a:rPr lang="en-US" altLang="zh-CN" dirty="0"/>
              <a:t>When the number of min-heap elements reaches k, and the current element is larger than the top element of the min-heap, the current element can be put into the min-heap.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510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5CC9-FE15-1B95-77E9-C9CFEBCF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F3170C-0874-7E0E-BC3E-C50C295DD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55" y="2193819"/>
            <a:ext cx="7233022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78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5CC9-FE15-1B95-77E9-C9CFEBCF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Code(Java)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421CE6-6A75-E66F-D4E9-00BE8397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16" y="2261596"/>
            <a:ext cx="7537837" cy="280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50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5CC9-FE15-1B95-77E9-C9CFEBCF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Code(Python)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D4EC26-D785-1412-DE36-D3A0802D7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9" y="2153659"/>
            <a:ext cx="7880755" cy="192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41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latin typeface="微软雅黑 (标题)"/>
              </a:rPr>
              <a:t>Thanks</a:t>
            </a:r>
            <a:endParaRPr lang="zh-CN" altLang="en-US" sz="4000" b="1" dirty="0">
              <a:latin typeface="微软雅黑 (标题)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1344</Words>
  <Application>Microsoft Office PowerPoint</Application>
  <PresentationFormat>宽屏</PresentationFormat>
  <Paragraphs>127</Paragraphs>
  <Slides>29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黑体</vt:lpstr>
      <vt:lpstr>宋体</vt:lpstr>
      <vt:lpstr>微软雅黑</vt:lpstr>
      <vt:lpstr>微软雅黑 (标题)</vt:lpstr>
      <vt:lpstr>Arial</vt:lpstr>
      <vt:lpstr>Arial Black</vt:lpstr>
      <vt:lpstr>Calibri</vt:lpstr>
      <vt:lpstr>Cambria Math</vt:lpstr>
      <vt:lpstr>Office 主题​​</vt:lpstr>
      <vt:lpstr>PowerPoint 演示文稿</vt:lpstr>
      <vt:lpstr>Outline</vt:lpstr>
      <vt:lpstr>Problem2</vt:lpstr>
      <vt:lpstr>Other Example</vt:lpstr>
      <vt:lpstr>Solution:</vt:lpstr>
      <vt:lpstr>Problem Simplification</vt:lpstr>
      <vt:lpstr>Merge Sort to Solve this problem.</vt:lpstr>
      <vt:lpstr>Problem2 Solution: (Java)</vt:lpstr>
      <vt:lpstr>Problem2 Solution: (Python)</vt:lpstr>
      <vt:lpstr>Problem4</vt:lpstr>
      <vt:lpstr>Recap</vt:lpstr>
      <vt:lpstr>Solution</vt:lpstr>
      <vt:lpstr>Solution</vt:lpstr>
      <vt:lpstr>Details: Struct</vt:lpstr>
      <vt:lpstr>Details: Insert</vt:lpstr>
      <vt:lpstr>BST: Insert</vt:lpstr>
      <vt:lpstr>Details: Delete</vt:lpstr>
      <vt:lpstr>BST: Delete-1</vt:lpstr>
      <vt:lpstr>BST: Delete-2</vt:lpstr>
      <vt:lpstr>BST: Delete-3</vt:lpstr>
      <vt:lpstr>Details: Sum</vt:lpstr>
      <vt:lpstr>Example-1</vt:lpstr>
      <vt:lpstr>Ex1 </vt:lpstr>
      <vt:lpstr>Definition of Heap</vt:lpstr>
      <vt:lpstr>Solution</vt:lpstr>
      <vt:lpstr>Example</vt:lpstr>
      <vt:lpstr>Code(Java)</vt:lpstr>
      <vt:lpstr>Code(Python)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chenxi</dc:creator>
  <cp:lastModifiedBy>guo qingshuo</cp:lastModifiedBy>
  <cp:revision>42</cp:revision>
  <dcterms:created xsi:type="dcterms:W3CDTF">2022-10-30T03:57:49Z</dcterms:created>
  <dcterms:modified xsi:type="dcterms:W3CDTF">2022-11-15T05:18:20Z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2052-4.6.1.7451</vt:lpwstr>
  </property>
  <property fmtid="{D5CDD505-2E9C-101B-9397-08002B2CF9AE}" pid="3" name="ICV">
    <vt:lpwstr>6522A7AF266B95CF3DF65D6317EF57F5</vt:lpwstr>
  </property>
</Properties>
</file>