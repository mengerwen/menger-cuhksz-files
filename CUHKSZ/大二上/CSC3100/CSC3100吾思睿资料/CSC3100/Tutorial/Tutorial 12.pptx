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8" d="100"/>
          <a:sy n="168" d="100"/>
        </p:scale>
        <p:origin x="787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2631" y="76349"/>
            <a:ext cx="124142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F9F9F9"/>
                </a:solidFill>
                <a:latin typeface="Trebuchet MS" panose="020B0703020202020204"/>
                <a:cs typeface="Trebuchet MS" panose="020B07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9F9F9"/>
                </a:solidFill>
                <a:latin typeface="Trebuchet MS" panose="020B0703020202020204"/>
                <a:cs typeface="Trebuchet MS" panose="020B07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9F9F9"/>
                </a:solidFill>
                <a:latin typeface="Trebuchet MS" panose="020B0703020202020204"/>
                <a:cs typeface="Trebuchet MS" panose="020B07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9F9F9"/>
                </a:solidFill>
                <a:latin typeface="Trebuchet MS" panose="020B0703020202020204"/>
                <a:cs typeface="Trebuchet MS" panose="020B07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76555"/>
          </a:xfrm>
          <a:custGeom>
            <a:avLst/>
            <a:gdLst/>
            <a:ahLst/>
            <a:cxnLst/>
            <a:rect l="l" t="t" r="r" b="b"/>
            <a:pathLst>
              <a:path w="5760085" h="376555">
                <a:moveTo>
                  <a:pt x="5759996" y="0"/>
                </a:moveTo>
                <a:lnTo>
                  <a:pt x="0" y="0"/>
                </a:lnTo>
                <a:lnTo>
                  <a:pt x="0" y="376186"/>
                </a:lnTo>
                <a:lnTo>
                  <a:pt x="5759996" y="376186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631" y="76349"/>
            <a:ext cx="124142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F9F9F9"/>
                </a:solidFill>
                <a:latin typeface="Trebuchet MS" panose="020B0703020202020204"/>
                <a:cs typeface="Trebuchet MS" panose="020B07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746321"/>
            <a:ext cx="5071211" cy="180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01563" y="2954236"/>
            <a:ext cx="189229" cy="173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slide" Target="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875586"/>
            <a:ext cx="3101975" cy="5334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30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CSC3100</a:t>
            </a:r>
            <a:r>
              <a:rPr sz="1400" b="1" spc="-5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 </a:t>
            </a:r>
            <a:r>
              <a:rPr sz="1400" b="1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Data Structures</a:t>
            </a:r>
            <a:r>
              <a:rPr sz="1400" b="1" spc="-5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 </a:t>
            </a:r>
            <a:r>
              <a:rPr lang="en-US" altLang="" sz="1400" b="1" spc="-5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Fall</a:t>
            </a:r>
            <a:r>
              <a:rPr sz="1400" b="1" spc="5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 </a:t>
            </a:r>
            <a:r>
              <a:rPr sz="1400" b="1" spc="-20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2022</a:t>
            </a:r>
            <a:endParaRPr sz="1400">
              <a:latin typeface="Trebuchet MS" panose="020B0703020202020204"/>
              <a:cs typeface="Trebuchet MS" panose="020B0703020202020204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200" dirty="0">
                <a:solidFill>
                  <a:srgbClr val="22373A"/>
                </a:solidFill>
                <a:latin typeface="Calibri"/>
                <a:cs typeface="Calibri"/>
              </a:rPr>
              <a:t>Tutorial</a:t>
            </a:r>
            <a:r>
              <a:rPr sz="12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22373A"/>
                </a:solidFill>
                <a:latin typeface="Calibri"/>
                <a:cs typeface="Calibri"/>
              </a:rPr>
              <a:t>12-</a:t>
            </a:r>
            <a:r>
              <a:rPr sz="1200" dirty="0">
                <a:solidFill>
                  <a:srgbClr val="22373A"/>
                </a:solidFill>
                <a:latin typeface="Calibri"/>
                <a:cs typeface="Calibri"/>
              </a:rPr>
              <a:t>2:</a:t>
            </a:r>
            <a:r>
              <a:rPr sz="1200" spc="3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2373A"/>
                </a:solidFill>
                <a:latin typeface="Calibri"/>
                <a:cs typeface="Calibri"/>
              </a:rPr>
              <a:t>Graph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9994" y="1627193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1866271"/>
            <a:ext cx="766445" cy="22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5524" y="1126665"/>
            <a:ext cx="14141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  <a:hlinkClick r:id="rId1" action="ppaction://hlinksldjump"/>
              </a:rPr>
              <a:t>Basic</a:t>
            </a:r>
            <a:r>
              <a:rPr sz="1400" b="1" spc="30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  <a:hlinkClick r:id="rId1" action="ppaction://hlinksldjump"/>
              </a:rPr>
              <a:t> </a:t>
            </a:r>
            <a:r>
              <a:rPr sz="1400" b="1" spc="-10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  <a:hlinkClick r:id="rId1" action="ppaction://hlinksldjump"/>
              </a:rPr>
              <a:t>Definitions</a:t>
            </a:r>
            <a:endParaRPr sz="1400">
              <a:latin typeface="Trebuchet MS" panose="020B0703020202020204"/>
              <a:cs typeface="Trebuchet MS" panose="020B0703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8224" y="1492688"/>
            <a:ext cx="2783840" cy="5080"/>
            <a:chOff x="1488224" y="1492688"/>
            <a:chExt cx="2783840" cy="5080"/>
          </a:xfrm>
        </p:grpSpPr>
        <p:sp>
          <p:nvSpPr>
            <p:cNvPr id="4" name="object 4"/>
            <p:cNvSpPr/>
            <p:nvPr/>
          </p:nvSpPr>
          <p:spPr>
            <a:xfrm>
              <a:off x="1488224" y="1492688"/>
              <a:ext cx="2783840" cy="5080"/>
            </a:xfrm>
            <a:custGeom>
              <a:avLst/>
              <a:gdLst/>
              <a:ahLst/>
              <a:cxnLst/>
              <a:rect l="l" t="t" r="r" b="b"/>
              <a:pathLst>
                <a:path w="2783840" h="5080">
                  <a:moveTo>
                    <a:pt x="0" y="5060"/>
                  </a:moveTo>
                  <a:lnTo>
                    <a:pt x="0" y="0"/>
                  </a:lnTo>
                  <a:lnTo>
                    <a:pt x="2783597" y="0"/>
                  </a:lnTo>
                  <a:lnTo>
                    <a:pt x="278359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88224" y="1492688"/>
              <a:ext cx="206375" cy="5080"/>
            </a:xfrm>
            <a:custGeom>
              <a:avLst/>
              <a:gdLst/>
              <a:ahLst/>
              <a:cxnLst/>
              <a:rect l="l" t="t" r="r" b="b"/>
              <a:pathLst>
                <a:path w="206375" h="5080">
                  <a:moveTo>
                    <a:pt x="0" y="5060"/>
                  </a:moveTo>
                  <a:lnTo>
                    <a:pt x="0" y="0"/>
                  </a:lnTo>
                  <a:lnTo>
                    <a:pt x="206212" y="0"/>
                  </a:lnTo>
                  <a:lnTo>
                    <a:pt x="20621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Basic</a:t>
            </a:r>
            <a:r>
              <a:rPr spc="-65" dirty="0"/>
              <a:t> </a:t>
            </a:r>
            <a:r>
              <a:rPr spc="-10" dirty="0"/>
              <a:t>Definitions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362529" y="1082467"/>
            <a:ext cx="774065" cy="324485"/>
          </a:xfrm>
          <a:custGeom>
            <a:avLst/>
            <a:gdLst/>
            <a:ahLst/>
            <a:cxnLst/>
            <a:rect l="l" t="t" r="r" b="b"/>
            <a:pathLst>
              <a:path w="774065" h="324484">
                <a:moveTo>
                  <a:pt x="144001" y="72000"/>
                </a:moveTo>
                <a:lnTo>
                  <a:pt x="138343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3"/>
                </a:lnTo>
                <a:lnTo>
                  <a:pt x="72000" y="144001"/>
                </a:lnTo>
                <a:lnTo>
                  <a:pt x="100027" y="138343"/>
                </a:lnTo>
                <a:lnTo>
                  <a:pt x="122913" y="122913"/>
                </a:lnTo>
                <a:lnTo>
                  <a:pt x="138343" y="100027"/>
                </a:lnTo>
                <a:lnTo>
                  <a:pt x="144001" y="72000"/>
                </a:lnTo>
                <a:close/>
              </a:path>
              <a:path w="774065" h="324484">
                <a:moveTo>
                  <a:pt x="504006" y="72000"/>
                </a:moveTo>
                <a:lnTo>
                  <a:pt x="498348" y="43974"/>
                </a:lnTo>
                <a:lnTo>
                  <a:pt x="482918" y="21088"/>
                </a:lnTo>
                <a:lnTo>
                  <a:pt x="460031" y="5658"/>
                </a:lnTo>
                <a:lnTo>
                  <a:pt x="432005" y="0"/>
                </a:lnTo>
                <a:lnTo>
                  <a:pt x="403979" y="5658"/>
                </a:lnTo>
                <a:lnTo>
                  <a:pt x="381092" y="21088"/>
                </a:lnTo>
                <a:lnTo>
                  <a:pt x="365662" y="43974"/>
                </a:lnTo>
                <a:lnTo>
                  <a:pt x="360004" y="72000"/>
                </a:lnTo>
                <a:lnTo>
                  <a:pt x="365662" y="100027"/>
                </a:lnTo>
                <a:lnTo>
                  <a:pt x="381092" y="122913"/>
                </a:lnTo>
                <a:lnTo>
                  <a:pt x="403979" y="138343"/>
                </a:lnTo>
                <a:lnTo>
                  <a:pt x="432005" y="144001"/>
                </a:lnTo>
                <a:lnTo>
                  <a:pt x="460031" y="138343"/>
                </a:lnTo>
                <a:lnTo>
                  <a:pt x="482918" y="122913"/>
                </a:lnTo>
                <a:lnTo>
                  <a:pt x="498348" y="100027"/>
                </a:lnTo>
                <a:lnTo>
                  <a:pt x="504006" y="72000"/>
                </a:lnTo>
                <a:close/>
              </a:path>
              <a:path w="774065" h="324484">
                <a:moveTo>
                  <a:pt x="774009" y="252003"/>
                </a:moveTo>
                <a:lnTo>
                  <a:pt x="768351" y="223976"/>
                </a:lnTo>
                <a:lnTo>
                  <a:pt x="752921" y="201090"/>
                </a:lnTo>
                <a:lnTo>
                  <a:pt x="730034" y="185660"/>
                </a:lnTo>
                <a:lnTo>
                  <a:pt x="702008" y="180001"/>
                </a:lnTo>
                <a:lnTo>
                  <a:pt x="673982" y="185660"/>
                </a:lnTo>
                <a:lnTo>
                  <a:pt x="651096" y="201090"/>
                </a:lnTo>
                <a:lnTo>
                  <a:pt x="635665" y="223976"/>
                </a:lnTo>
                <a:lnTo>
                  <a:pt x="630007" y="252003"/>
                </a:lnTo>
                <a:lnTo>
                  <a:pt x="635665" y="280029"/>
                </a:lnTo>
                <a:lnTo>
                  <a:pt x="651096" y="302915"/>
                </a:lnTo>
                <a:lnTo>
                  <a:pt x="673982" y="318346"/>
                </a:lnTo>
                <a:lnTo>
                  <a:pt x="702008" y="324004"/>
                </a:lnTo>
                <a:lnTo>
                  <a:pt x="730034" y="318346"/>
                </a:lnTo>
                <a:lnTo>
                  <a:pt x="752921" y="302915"/>
                </a:lnTo>
                <a:lnTo>
                  <a:pt x="768351" y="280029"/>
                </a:lnTo>
                <a:lnTo>
                  <a:pt x="774009" y="252003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830445"/>
            <a:ext cx="2736215" cy="551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Undirected </a:t>
            </a:r>
            <a:r>
              <a:rPr sz="1000" b="1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graph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There</a:t>
            </a:r>
            <a:r>
              <a:rPr sz="10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no</a:t>
            </a:r>
            <a:r>
              <a:rPr sz="10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order</a:t>
            </a:r>
            <a:r>
              <a:rPr sz="10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an</a:t>
            </a:r>
            <a:r>
              <a:rPr sz="10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edge.</a:t>
            </a:r>
            <a:endParaRPr sz="1000">
              <a:latin typeface="Calibri"/>
              <a:cs typeface="Calibri"/>
            </a:endParaRPr>
          </a:p>
          <a:p>
            <a:pPr marL="69215">
              <a:lnSpc>
                <a:spcPct val="100000"/>
              </a:lnSpc>
              <a:spcBef>
                <a:spcPts val="930"/>
              </a:spcBef>
              <a:tabLst>
                <a:tab pos="428625" algn="l"/>
              </a:tabLst>
            </a:pPr>
            <a:r>
              <a:rPr sz="500" spc="-50" dirty="0">
                <a:solidFill>
                  <a:srgbClr val="22373A"/>
                </a:solidFill>
                <a:latin typeface="Cambria"/>
                <a:cs typeface="Cambria"/>
              </a:rPr>
              <a:t>1</a:t>
            </a: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	</a:t>
            </a:r>
            <a:r>
              <a:rPr sz="500" spc="-50" dirty="0">
                <a:solidFill>
                  <a:srgbClr val="22373A"/>
                </a:solidFill>
                <a:latin typeface="Cambria"/>
                <a:cs typeface="Cambria"/>
              </a:rPr>
              <a:t>2</a:t>
            </a:r>
            <a:endParaRPr sz="5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5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3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2533" y="1442471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2" y="72000"/>
                </a:moveTo>
                <a:lnTo>
                  <a:pt x="138344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4" y="100027"/>
                </a:lnTo>
                <a:lnTo>
                  <a:pt x="144002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64127" y="1460680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4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2529" y="1442471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144001" y="72000"/>
                </a:moveTo>
                <a:lnTo>
                  <a:pt x="138343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3" y="100027"/>
                </a:lnTo>
                <a:lnTo>
                  <a:pt x="144001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04120" y="1459918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5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4530" y="1154468"/>
            <a:ext cx="569595" cy="360045"/>
          </a:xfrm>
          <a:custGeom>
            <a:avLst/>
            <a:gdLst/>
            <a:ahLst/>
            <a:cxnLst/>
            <a:rect l="l" t="t" r="r" b="b"/>
            <a:pathLst>
              <a:path w="569594" h="360044">
                <a:moveTo>
                  <a:pt x="73266" y="0"/>
                </a:moveTo>
                <a:lnTo>
                  <a:pt x="286738" y="0"/>
                </a:lnTo>
              </a:path>
              <a:path w="569594" h="360044">
                <a:moveTo>
                  <a:pt x="0" y="73266"/>
                </a:moveTo>
                <a:lnTo>
                  <a:pt x="0" y="286737"/>
                </a:lnTo>
              </a:path>
              <a:path w="569594" h="360044">
                <a:moveTo>
                  <a:pt x="420963" y="40638"/>
                </a:moveTo>
                <a:lnTo>
                  <a:pt x="569049" y="139363"/>
                </a:lnTo>
              </a:path>
              <a:path w="569594" h="360044">
                <a:moveTo>
                  <a:pt x="360004" y="73266"/>
                </a:moveTo>
                <a:lnTo>
                  <a:pt x="360004" y="286737"/>
                </a:lnTo>
              </a:path>
              <a:path w="569594" h="360044">
                <a:moveTo>
                  <a:pt x="308197" y="51806"/>
                </a:moveTo>
                <a:lnTo>
                  <a:pt x="51807" y="308197"/>
                </a:lnTo>
              </a:path>
              <a:path w="569594" h="360044">
                <a:moveTo>
                  <a:pt x="569049" y="220640"/>
                </a:moveTo>
                <a:lnTo>
                  <a:pt x="420963" y="319365"/>
                </a:lnTo>
              </a:path>
              <a:path w="569594" h="360044">
                <a:moveTo>
                  <a:pt x="286738" y="360004"/>
                </a:moveTo>
                <a:lnTo>
                  <a:pt x="73266" y="360004"/>
                </a:lnTo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359989" y="1950715"/>
            <a:ext cx="869315" cy="149225"/>
            <a:chOff x="359989" y="1950715"/>
            <a:chExt cx="869315" cy="149225"/>
          </a:xfrm>
        </p:grpSpPr>
        <p:sp>
          <p:nvSpPr>
            <p:cNvPr id="11" name="object 11"/>
            <p:cNvSpPr/>
            <p:nvPr/>
          </p:nvSpPr>
          <p:spPr>
            <a:xfrm>
              <a:off x="362529" y="1953255"/>
              <a:ext cx="504190" cy="144145"/>
            </a:xfrm>
            <a:custGeom>
              <a:avLst/>
              <a:gdLst/>
              <a:ahLst/>
              <a:cxnLst/>
              <a:rect l="l" t="t" r="r" b="b"/>
              <a:pathLst>
                <a:path w="504190" h="144144">
                  <a:moveTo>
                    <a:pt x="144001" y="72000"/>
                  </a:moveTo>
                  <a:lnTo>
                    <a:pt x="138343" y="43974"/>
                  </a:lnTo>
                  <a:lnTo>
                    <a:pt x="122913" y="21088"/>
                  </a:lnTo>
                  <a:lnTo>
                    <a:pt x="100027" y="5658"/>
                  </a:lnTo>
                  <a:lnTo>
                    <a:pt x="72000" y="0"/>
                  </a:lnTo>
                  <a:lnTo>
                    <a:pt x="43974" y="5658"/>
                  </a:lnTo>
                  <a:lnTo>
                    <a:pt x="21088" y="21088"/>
                  </a:lnTo>
                  <a:lnTo>
                    <a:pt x="5658" y="43974"/>
                  </a:lnTo>
                  <a:lnTo>
                    <a:pt x="0" y="72000"/>
                  </a:lnTo>
                  <a:lnTo>
                    <a:pt x="5658" y="100027"/>
                  </a:lnTo>
                  <a:lnTo>
                    <a:pt x="21088" y="122913"/>
                  </a:lnTo>
                  <a:lnTo>
                    <a:pt x="43974" y="138343"/>
                  </a:lnTo>
                  <a:lnTo>
                    <a:pt x="72000" y="144001"/>
                  </a:lnTo>
                  <a:lnTo>
                    <a:pt x="100027" y="138343"/>
                  </a:lnTo>
                  <a:lnTo>
                    <a:pt x="122913" y="122913"/>
                  </a:lnTo>
                  <a:lnTo>
                    <a:pt x="138343" y="100027"/>
                  </a:lnTo>
                  <a:lnTo>
                    <a:pt x="144001" y="72000"/>
                  </a:lnTo>
                  <a:close/>
                </a:path>
                <a:path w="504190" h="144144">
                  <a:moveTo>
                    <a:pt x="504006" y="72000"/>
                  </a:moveTo>
                  <a:lnTo>
                    <a:pt x="498348" y="43974"/>
                  </a:lnTo>
                  <a:lnTo>
                    <a:pt x="482918" y="21088"/>
                  </a:lnTo>
                  <a:lnTo>
                    <a:pt x="460031" y="5658"/>
                  </a:lnTo>
                  <a:lnTo>
                    <a:pt x="432005" y="0"/>
                  </a:lnTo>
                  <a:lnTo>
                    <a:pt x="403979" y="5658"/>
                  </a:lnTo>
                  <a:lnTo>
                    <a:pt x="381092" y="21088"/>
                  </a:lnTo>
                  <a:lnTo>
                    <a:pt x="365662" y="43974"/>
                  </a:lnTo>
                  <a:lnTo>
                    <a:pt x="360004" y="72000"/>
                  </a:lnTo>
                  <a:lnTo>
                    <a:pt x="365662" y="100027"/>
                  </a:lnTo>
                  <a:lnTo>
                    <a:pt x="381092" y="122913"/>
                  </a:lnTo>
                  <a:lnTo>
                    <a:pt x="403979" y="138343"/>
                  </a:lnTo>
                  <a:lnTo>
                    <a:pt x="432005" y="144001"/>
                  </a:lnTo>
                  <a:lnTo>
                    <a:pt x="460031" y="138343"/>
                  </a:lnTo>
                  <a:lnTo>
                    <a:pt x="482918" y="122913"/>
                  </a:lnTo>
                  <a:lnTo>
                    <a:pt x="498348" y="100027"/>
                  </a:lnTo>
                  <a:lnTo>
                    <a:pt x="504006" y="7200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80007" y="1950724"/>
              <a:ext cx="149063" cy="14906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47294" y="1701233"/>
            <a:ext cx="2583815" cy="372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Directed</a:t>
            </a:r>
            <a:r>
              <a:rPr sz="1000" b="1" spc="-35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 </a:t>
            </a:r>
            <a:r>
              <a:rPr sz="1000" b="1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graph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sz="10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There</a:t>
            </a:r>
            <a:r>
              <a:rPr sz="10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an</a:t>
            </a:r>
            <a:r>
              <a:rPr sz="10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order</a:t>
            </a:r>
            <a:r>
              <a:rPr sz="10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an</a:t>
            </a:r>
            <a:r>
              <a:rPr sz="10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edge.</a:t>
            </a:r>
            <a:endParaRPr sz="1000">
              <a:latin typeface="Calibri"/>
              <a:cs typeface="Calibri"/>
            </a:endParaRPr>
          </a:p>
          <a:p>
            <a:pPr marL="69215">
              <a:lnSpc>
                <a:spcPct val="100000"/>
              </a:lnSpc>
              <a:spcBef>
                <a:spcPts val="930"/>
              </a:spcBef>
              <a:tabLst>
                <a:tab pos="428625" algn="l"/>
                <a:tab pos="789305" algn="l"/>
              </a:tabLst>
            </a:pPr>
            <a:r>
              <a:rPr sz="500" spc="-50" dirty="0">
                <a:solidFill>
                  <a:srgbClr val="22373A"/>
                </a:solidFill>
                <a:latin typeface="Cambria"/>
                <a:cs typeface="Cambria"/>
              </a:rPr>
              <a:t>1</a:t>
            </a: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	</a:t>
            </a:r>
            <a:r>
              <a:rPr sz="500" spc="-50" dirty="0">
                <a:solidFill>
                  <a:srgbClr val="22373A"/>
                </a:solidFill>
                <a:latin typeface="Cambria"/>
                <a:cs typeface="Cambria"/>
              </a:rPr>
              <a:t>2</a:t>
            </a: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	</a:t>
            </a:r>
            <a:r>
              <a:rPr sz="500" spc="-60" dirty="0">
                <a:solidFill>
                  <a:srgbClr val="22373A"/>
                </a:solidFill>
                <a:latin typeface="Cambria"/>
                <a:cs typeface="Cambria"/>
              </a:rPr>
              <a:t>3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2529" y="2313259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144001" y="72000"/>
                </a:moveTo>
                <a:lnTo>
                  <a:pt x="138343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3" y="100027"/>
                </a:lnTo>
                <a:lnTo>
                  <a:pt x="144001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04120" y="2331468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4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2533" y="2313259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2" y="72000"/>
                </a:moveTo>
                <a:lnTo>
                  <a:pt x="138344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4" y="100027"/>
                </a:lnTo>
                <a:lnTo>
                  <a:pt x="144002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64127" y="2330719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5</a:t>
            </a:r>
            <a:endParaRPr sz="500">
              <a:latin typeface="Cambria"/>
              <a:cs typeface="Cambri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007" y="2310729"/>
            <a:ext cx="149063" cy="149063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124121" y="2331100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6</a:t>
            </a:r>
            <a:endParaRPr sz="50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12262" y="2002988"/>
            <a:ext cx="764540" cy="405130"/>
            <a:chOff x="412262" y="2002988"/>
            <a:chExt cx="764540" cy="405130"/>
          </a:xfrm>
        </p:grpSpPr>
        <p:sp>
          <p:nvSpPr>
            <p:cNvPr id="21" name="object 21"/>
            <p:cNvSpPr/>
            <p:nvPr/>
          </p:nvSpPr>
          <p:spPr>
            <a:xfrm>
              <a:off x="507796" y="2025256"/>
              <a:ext cx="208279" cy="0"/>
            </a:xfrm>
            <a:custGeom>
              <a:avLst/>
              <a:gdLst/>
              <a:ahLst/>
              <a:cxnLst/>
              <a:rect l="l" t="t" r="r" b="b"/>
              <a:pathLst>
                <a:path w="208279">
                  <a:moveTo>
                    <a:pt x="0" y="0"/>
                  </a:moveTo>
                  <a:lnTo>
                    <a:pt x="207651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00265" y="2005012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34530" y="2098522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651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14286" y="2290990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40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94534" y="2098522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651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74290" y="2290990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40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50457" y="2077063"/>
              <a:ext cx="252729" cy="252729"/>
            </a:xfrm>
            <a:custGeom>
              <a:avLst/>
              <a:gdLst/>
              <a:ahLst/>
              <a:cxnLst/>
              <a:rect l="l" t="t" r="r" b="b"/>
              <a:pathLst>
                <a:path w="252730" h="252730">
                  <a:moveTo>
                    <a:pt x="252274" y="0"/>
                  </a:moveTo>
                  <a:lnTo>
                    <a:pt x="0" y="252274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46879" y="2304287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28628" y="28628"/>
                  </a:moveTo>
                  <a:lnTo>
                    <a:pt x="22156" y="26350"/>
                  </a:lnTo>
                  <a:lnTo>
                    <a:pt x="13755" y="25833"/>
                  </a:lnTo>
                  <a:lnTo>
                    <a:pt x="5857" y="26490"/>
                  </a:lnTo>
                  <a:lnTo>
                    <a:pt x="894" y="27734"/>
                  </a:lnTo>
                  <a:lnTo>
                    <a:pt x="2138" y="22771"/>
                  </a:lnTo>
                  <a:lnTo>
                    <a:pt x="2795" y="14873"/>
                  </a:lnTo>
                  <a:lnTo>
                    <a:pt x="2278" y="6472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154539" y="2098522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651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134295" y="2290990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40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6337" y="2081178"/>
              <a:ext cx="252729" cy="252729"/>
            </a:xfrm>
            <a:custGeom>
              <a:avLst/>
              <a:gdLst/>
              <a:ahLst/>
              <a:cxnLst/>
              <a:rect l="l" t="t" r="r" b="b"/>
              <a:pathLst>
                <a:path w="252729" h="252730">
                  <a:moveTo>
                    <a:pt x="0" y="252274"/>
                  </a:moveTo>
                  <a:lnTo>
                    <a:pt x="252274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13561" y="2077600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0" y="0"/>
                  </a:moveTo>
                  <a:lnTo>
                    <a:pt x="6472" y="2278"/>
                  </a:lnTo>
                  <a:lnTo>
                    <a:pt x="14873" y="2795"/>
                  </a:lnTo>
                  <a:lnTo>
                    <a:pt x="22771" y="2138"/>
                  </a:lnTo>
                  <a:lnTo>
                    <a:pt x="27734" y="894"/>
                  </a:lnTo>
                  <a:lnTo>
                    <a:pt x="26490" y="5857"/>
                  </a:lnTo>
                  <a:lnTo>
                    <a:pt x="25833" y="13755"/>
                  </a:lnTo>
                  <a:lnTo>
                    <a:pt x="26350" y="22156"/>
                  </a:lnTo>
                  <a:lnTo>
                    <a:pt x="28628" y="28628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13616" y="2385260"/>
              <a:ext cx="208279" cy="0"/>
            </a:xfrm>
            <a:custGeom>
              <a:avLst/>
              <a:gdLst/>
              <a:ahLst/>
              <a:cxnLst/>
              <a:rect l="l" t="t" r="r" b="b"/>
              <a:pathLst>
                <a:path w="208279">
                  <a:moveTo>
                    <a:pt x="207651" y="0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09821" y="2365016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Basic</a:t>
            </a:r>
            <a:r>
              <a:rPr spc="-65" dirty="0"/>
              <a:t> </a:t>
            </a:r>
            <a:r>
              <a:rPr spc="-10" dirty="0"/>
              <a:t>Definitions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47294" y="534270"/>
            <a:ext cx="4972050" cy="823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Multiple</a:t>
            </a:r>
            <a:r>
              <a:rPr sz="1000" b="1" spc="25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 </a:t>
            </a:r>
            <a:r>
              <a:rPr sz="1000" b="1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edges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sz="1000" spc="2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undirected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graph,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two</a:t>
            </a:r>
            <a:r>
              <a:rPr sz="10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or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more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edges</a:t>
            </a:r>
            <a:r>
              <a:rPr sz="10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that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are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between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30" dirty="0">
                <a:solidFill>
                  <a:srgbClr val="22373A"/>
                </a:solidFill>
                <a:latin typeface="Calibri"/>
                <a:cs typeface="Calibri"/>
              </a:rPr>
              <a:t>same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vertex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mbria"/>
                <a:cs typeface="Cambria"/>
              </a:rPr>
              <a:t>𝑢</a:t>
            </a:r>
            <a:r>
              <a:rPr sz="1000" spc="170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same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vertex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mbria"/>
                <a:cs typeface="Cambria"/>
              </a:rPr>
              <a:t>𝑣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sz="1000" spc="25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directed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graph,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two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or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more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edges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that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are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from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the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same</a:t>
            </a:r>
            <a:r>
              <a:rPr sz="10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vertex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mbria"/>
                <a:cs typeface="Cambria"/>
              </a:rPr>
              <a:t>𝑢</a:t>
            </a:r>
            <a:r>
              <a:rPr sz="1000" spc="150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same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vertex</a:t>
            </a:r>
            <a:r>
              <a:rPr sz="10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mbria"/>
                <a:cs typeface="Cambria"/>
              </a:rPr>
              <a:t>𝑣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000" b="1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Self</a:t>
            </a:r>
            <a:r>
              <a:rPr sz="1000" b="1" spc="5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 </a:t>
            </a:r>
            <a:r>
              <a:rPr sz="1000" b="1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loop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sz="1000" spc="2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An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edge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that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between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vertex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mbria"/>
                <a:cs typeface="Cambria"/>
              </a:rPr>
              <a:t>𝑢</a:t>
            </a:r>
            <a:r>
              <a:rPr sz="1000" spc="160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itself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mbria"/>
                <a:cs typeface="Cambria"/>
              </a:rPr>
              <a:t>𝑢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7463" y="1429978"/>
          <a:ext cx="3331845" cy="1286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050"/>
                <a:gridCol w="894080"/>
                <a:gridCol w="1000759"/>
                <a:gridCol w="652145"/>
              </a:tblGrid>
              <a:tr h="18669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4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1000" spc="5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4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edges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self</a:t>
                      </a:r>
                      <a:r>
                        <a:rPr sz="1000" spc="229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3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loop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669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5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Directed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5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simple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graph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1610">
                <a:tc vMerge="1"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graph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1610">
                <a:tc vMerge="1"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multigraph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669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5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Undirected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5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simple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graph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1610">
                <a:tc vMerge="1"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graph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1610">
                <a:tc vMerge="1"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multigraph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Basic</a:t>
            </a:r>
            <a:r>
              <a:rPr spc="-65" dirty="0"/>
              <a:t> </a:t>
            </a:r>
            <a:r>
              <a:rPr spc="-20" dirty="0"/>
              <a:t>Definition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47294" y="1439868"/>
            <a:ext cx="5066030" cy="38989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An</a:t>
            </a:r>
            <a:r>
              <a:rPr sz="10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undirected</a:t>
            </a:r>
            <a:r>
              <a:rPr sz="10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graph</a:t>
            </a:r>
            <a:r>
              <a:rPr sz="10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connected</a:t>
            </a:r>
            <a:r>
              <a:rPr sz="1000" b="1" spc="105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if</a:t>
            </a:r>
            <a:r>
              <a:rPr sz="10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every</a:t>
            </a:r>
            <a:r>
              <a:rPr sz="10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vertex</a:t>
            </a:r>
            <a:r>
              <a:rPr sz="10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reachable</a:t>
            </a:r>
            <a:r>
              <a:rPr sz="10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from</a:t>
            </a:r>
            <a:r>
              <a:rPr sz="10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all</a:t>
            </a:r>
            <a:r>
              <a:rPr sz="10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other</a:t>
            </a:r>
            <a:r>
              <a:rPr sz="1000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vertices.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directed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graph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strong-</a:t>
            </a:r>
            <a:r>
              <a:rPr sz="1000" b="1" spc="-25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connected</a:t>
            </a:r>
            <a:r>
              <a:rPr sz="1000" b="1" spc="90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if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every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two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vertices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are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reachable</a:t>
            </a:r>
            <a:r>
              <a:rPr sz="10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from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each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other.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5524" y="935357"/>
            <a:ext cx="2426335" cy="5721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8000"/>
              </a:lnSpc>
              <a:spcBef>
                <a:spcPts val="90"/>
              </a:spcBef>
            </a:pPr>
            <a:r>
              <a:rPr sz="1400" b="1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  <a:hlinkClick r:id="rId1" action="ppaction://hlinksldjump"/>
              </a:rPr>
              <a:t>Representations</a:t>
            </a:r>
            <a:r>
              <a:rPr sz="1400" b="1" spc="40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  <a:hlinkClick r:id="rId1" action="ppaction://hlinksldjump"/>
              </a:rPr>
              <a:t> </a:t>
            </a:r>
            <a:r>
              <a:rPr sz="1400" b="1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  <a:hlinkClick r:id="rId1" action="ppaction://hlinksldjump"/>
              </a:rPr>
              <a:t>of</a:t>
            </a:r>
            <a:r>
              <a:rPr sz="1400" b="1" spc="45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  <a:hlinkClick r:id="rId1" action="ppaction://hlinksldjump"/>
              </a:rPr>
              <a:t> </a:t>
            </a:r>
            <a:r>
              <a:rPr sz="1400" b="1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  <a:hlinkClick r:id="rId1" action="ppaction://hlinksldjump"/>
              </a:rPr>
              <a:t>graphs</a:t>
            </a:r>
            <a:r>
              <a:rPr sz="1400" b="1" spc="45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  <a:hlinkClick r:id="rId1" action="ppaction://hlinksldjump"/>
              </a:rPr>
              <a:t> </a:t>
            </a:r>
            <a:r>
              <a:rPr sz="1400" b="1" spc="-25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  <a:hlinkClick r:id="rId1" action="ppaction://hlinksldjump"/>
              </a:rPr>
              <a:t>in</a:t>
            </a:r>
            <a:r>
              <a:rPr sz="1400" b="1" spc="-25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 </a:t>
            </a:r>
            <a:r>
              <a:rPr sz="1400" b="1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  <a:hlinkClick r:id="rId1" action="ppaction://hlinksldjump"/>
              </a:rPr>
              <a:t>programming</a:t>
            </a:r>
            <a:r>
              <a:rPr sz="1400" b="1" spc="65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  <a:hlinkClick r:id="rId1" action="ppaction://hlinksldjump"/>
              </a:rPr>
              <a:t> </a:t>
            </a:r>
            <a:r>
              <a:rPr sz="1400" b="1" spc="-10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  <a:hlinkClick r:id="rId1" action="ppaction://hlinksldjump"/>
              </a:rPr>
              <a:t>language</a:t>
            </a:r>
            <a:endParaRPr sz="1400">
              <a:latin typeface="Trebuchet MS" panose="020B0703020202020204"/>
              <a:cs typeface="Trebuchet MS" panose="020B0703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8224" y="1629327"/>
            <a:ext cx="2783840" cy="5080"/>
            <a:chOff x="1488224" y="1629327"/>
            <a:chExt cx="2783840" cy="5080"/>
          </a:xfrm>
        </p:grpSpPr>
        <p:sp>
          <p:nvSpPr>
            <p:cNvPr id="4" name="object 4"/>
            <p:cNvSpPr/>
            <p:nvPr/>
          </p:nvSpPr>
          <p:spPr>
            <a:xfrm>
              <a:off x="1488224" y="1629327"/>
              <a:ext cx="2783840" cy="5080"/>
            </a:xfrm>
            <a:custGeom>
              <a:avLst/>
              <a:gdLst/>
              <a:ahLst/>
              <a:cxnLst/>
              <a:rect l="l" t="t" r="r" b="b"/>
              <a:pathLst>
                <a:path w="2783840" h="5080">
                  <a:moveTo>
                    <a:pt x="0" y="5060"/>
                  </a:moveTo>
                  <a:lnTo>
                    <a:pt x="0" y="0"/>
                  </a:lnTo>
                  <a:lnTo>
                    <a:pt x="2783597" y="0"/>
                  </a:lnTo>
                  <a:lnTo>
                    <a:pt x="278359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88224" y="1629327"/>
              <a:ext cx="619125" cy="5080"/>
            </a:xfrm>
            <a:custGeom>
              <a:avLst/>
              <a:gdLst/>
              <a:ahLst/>
              <a:cxnLst/>
              <a:rect l="l" t="t" r="r" b="b"/>
              <a:pathLst>
                <a:path w="619125" h="5080">
                  <a:moveTo>
                    <a:pt x="0" y="5060"/>
                  </a:moveTo>
                  <a:lnTo>
                    <a:pt x="0" y="0"/>
                  </a:lnTo>
                  <a:lnTo>
                    <a:pt x="618595" y="0"/>
                  </a:lnTo>
                  <a:lnTo>
                    <a:pt x="6185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76555"/>
          </a:xfrm>
          <a:custGeom>
            <a:avLst/>
            <a:gdLst/>
            <a:ahLst/>
            <a:cxnLst/>
            <a:rect l="l" t="t" r="r" b="b"/>
            <a:pathLst>
              <a:path w="5760085" h="376555">
                <a:moveTo>
                  <a:pt x="5759996" y="0"/>
                </a:moveTo>
                <a:lnTo>
                  <a:pt x="0" y="0"/>
                </a:lnTo>
                <a:lnTo>
                  <a:pt x="0" y="376186"/>
                </a:lnTo>
                <a:lnTo>
                  <a:pt x="5759996" y="376186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631" y="76349"/>
            <a:ext cx="90931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F9F9F9"/>
                </a:solidFill>
                <a:latin typeface="Trebuchet MS" panose="020B0703020202020204"/>
                <a:cs typeface="Trebuchet MS" panose="020B0703020202020204"/>
              </a:rPr>
              <a:t>List</a:t>
            </a:r>
            <a:r>
              <a:rPr sz="1200" b="1" spc="-85" dirty="0">
                <a:solidFill>
                  <a:srgbClr val="F9F9F9"/>
                </a:solidFill>
                <a:latin typeface="Trebuchet MS" panose="020B0703020202020204"/>
                <a:cs typeface="Trebuchet MS" panose="020B0703020202020204"/>
              </a:rPr>
              <a:t> </a:t>
            </a:r>
            <a:r>
              <a:rPr sz="1200" b="1" dirty="0">
                <a:solidFill>
                  <a:srgbClr val="F9F9F9"/>
                </a:solidFill>
                <a:latin typeface="Trebuchet MS" panose="020B0703020202020204"/>
                <a:cs typeface="Trebuchet MS" panose="020B0703020202020204"/>
              </a:rPr>
              <a:t>of</a:t>
            </a:r>
            <a:r>
              <a:rPr sz="1200" b="1" spc="-80" dirty="0">
                <a:solidFill>
                  <a:srgbClr val="F9F9F9"/>
                </a:solidFill>
                <a:latin typeface="Trebuchet MS" panose="020B0703020202020204"/>
                <a:cs typeface="Trebuchet MS" panose="020B0703020202020204"/>
              </a:rPr>
              <a:t> </a:t>
            </a:r>
            <a:r>
              <a:rPr sz="1200" b="1" spc="-20" dirty="0">
                <a:solidFill>
                  <a:srgbClr val="F9F9F9"/>
                </a:solidFill>
                <a:latin typeface="Trebuchet MS" panose="020B0703020202020204"/>
                <a:cs typeface="Trebuchet MS" panose="020B0703020202020204"/>
              </a:rPr>
              <a:t>edges</a:t>
            </a:r>
            <a:endParaRPr sz="1200">
              <a:latin typeface="Trebuchet MS" panose="020B0703020202020204"/>
              <a:cs typeface="Trebuchet MS" panose="020B07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2529" y="1377957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144001" y="72000"/>
                </a:moveTo>
                <a:lnTo>
                  <a:pt x="138343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3"/>
                </a:lnTo>
                <a:lnTo>
                  <a:pt x="72000" y="144001"/>
                </a:lnTo>
                <a:lnTo>
                  <a:pt x="100027" y="138343"/>
                </a:lnTo>
                <a:lnTo>
                  <a:pt x="122913" y="122913"/>
                </a:lnTo>
                <a:lnTo>
                  <a:pt x="138343" y="100027"/>
                </a:lnTo>
                <a:lnTo>
                  <a:pt x="144001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04120" y="1395789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1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2533" y="1377957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2" y="72000"/>
                </a:moveTo>
                <a:lnTo>
                  <a:pt x="138344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3"/>
                </a:lnTo>
                <a:lnTo>
                  <a:pt x="72000" y="144001"/>
                </a:lnTo>
                <a:lnTo>
                  <a:pt x="100027" y="138343"/>
                </a:lnTo>
                <a:lnTo>
                  <a:pt x="122913" y="122913"/>
                </a:lnTo>
                <a:lnTo>
                  <a:pt x="138344" y="100027"/>
                </a:lnTo>
                <a:lnTo>
                  <a:pt x="144002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64127" y="1396170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2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92537" y="1557959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2" y="72001"/>
                </a:moveTo>
                <a:lnTo>
                  <a:pt x="138344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1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4" y="100027"/>
                </a:lnTo>
                <a:lnTo>
                  <a:pt x="144002" y="72001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34129" y="1575786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3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2533" y="1737962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2" y="72000"/>
                </a:moveTo>
                <a:lnTo>
                  <a:pt x="138344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4" y="100027"/>
                </a:lnTo>
                <a:lnTo>
                  <a:pt x="144002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64127" y="1756177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4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2529" y="1737962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144001" y="72000"/>
                </a:moveTo>
                <a:lnTo>
                  <a:pt x="138343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3" y="100027"/>
                </a:lnTo>
                <a:lnTo>
                  <a:pt x="144001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04120" y="1755415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5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4530" y="1449958"/>
            <a:ext cx="569595" cy="360045"/>
          </a:xfrm>
          <a:custGeom>
            <a:avLst/>
            <a:gdLst/>
            <a:ahLst/>
            <a:cxnLst/>
            <a:rect l="l" t="t" r="r" b="b"/>
            <a:pathLst>
              <a:path w="569594" h="360044">
                <a:moveTo>
                  <a:pt x="73266" y="0"/>
                </a:moveTo>
                <a:lnTo>
                  <a:pt x="286738" y="0"/>
                </a:lnTo>
              </a:path>
              <a:path w="569594" h="360044">
                <a:moveTo>
                  <a:pt x="0" y="73266"/>
                </a:moveTo>
                <a:lnTo>
                  <a:pt x="0" y="286737"/>
                </a:lnTo>
              </a:path>
              <a:path w="569594" h="360044">
                <a:moveTo>
                  <a:pt x="420963" y="40638"/>
                </a:moveTo>
                <a:lnTo>
                  <a:pt x="569049" y="139363"/>
                </a:lnTo>
              </a:path>
              <a:path w="569594" h="360044">
                <a:moveTo>
                  <a:pt x="360004" y="73266"/>
                </a:moveTo>
                <a:lnTo>
                  <a:pt x="360004" y="286737"/>
                </a:lnTo>
              </a:path>
              <a:path w="569594" h="360044">
                <a:moveTo>
                  <a:pt x="308197" y="51806"/>
                </a:moveTo>
                <a:lnTo>
                  <a:pt x="51807" y="308197"/>
                </a:lnTo>
              </a:path>
              <a:path w="569594" h="360044">
                <a:moveTo>
                  <a:pt x="569049" y="220640"/>
                </a:moveTo>
                <a:lnTo>
                  <a:pt x="420963" y="319365"/>
                </a:lnTo>
              </a:path>
              <a:path w="569594" h="360044">
                <a:moveTo>
                  <a:pt x="286738" y="360004"/>
                </a:moveTo>
                <a:lnTo>
                  <a:pt x="73266" y="360004"/>
                </a:lnTo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59891" y="1526164"/>
            <a:ext cx="1574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70" dirty="0">
                <a:solidFill>
                  <a:srgbClr val="22373A"/>
                </a:solidFill>
                <a:latin typeface="Cambria"/>
                <a:cs typeface="Cambria"/>
              </a:rPr>
              <a:t>⇒</a:t>
            </a:r>
            <a:endParaRPr sz="1000">
              <a:latin typeface="Cambria"/>
              <a:cs typeface="Cambria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335173" y="972029"/>
          <a:ext cx="432434" cy="1306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720"/>
              </a:tblGrid>
              <a:tr h="186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(1,</a:t>
                      </a:r>
                      <a:r>
                        <a:rPr sz="1000" spc="-5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2)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(1,</a:t>
                      </a:r>
                      <a:r>
                        <a:rPr sz="1000" spc="-5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5)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(2,</a:t>
                      </a:r>
                      <a:r>
                        <a:rPr sz="1000" spc="-5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3)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(2,</a:t>
                      </a:r>
                      <a:r>
                        <a:rPr sz="1000" spc="-5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4)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(2,</a:t>
                      </a:r>
                      <a:r>
                        <a:rPr sz="1000" spc="-5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5)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(3,</a:t>
                      </a:r>
                      <a:r>
                        <a:rPr sz="1000" spc="-5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4)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(4,</a:t>
                      </a:r>
                      <a:r>
                        <a:rPr sz="1000" spc="-5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5)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2053801" y="1377957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1" y="72000"/>
                </a:moveTo>
                <a:lnTo>
                  <a:pt x="138343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3"/>
                </a:lnTo>
                <a:lnTo>
                  <a:pt x="72000" y="144001"/>
                </a:lnTo>
                <a:lnTo>
                  <a:pt x="100027" y="138343"/>
                </a:lnTo>
                <a:lnTo>
                  <a:pt x="122913" y="122913"/>
                </a:lnTo>
                <a:lnTo>
                  <a:pt x="138343" y="100027"/>
                </a:lnTo>
                <a:lnTo>
                  <a:pt x="144001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095385" y="1395789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1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13805" y="1377957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2" y="72000"/>
                </a:moveTo>
                <a:lnTo>
                  <a:pt x="138344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3"/>
                </a:lnTo>
                <a:lnTo>
                  <a:pt x="72000" y="144001"/>
                </a:lnTo>
                <a:lnTo>
                  <a:pt x="100027" y="138343"/>
                </a:lnTo>
                <a:lnTo>
                  <a:pt x="122913" y="122913"/>
                </a:lnTo>
                <a:lnTo>
                  <a:pt x="138344" y="100027"/>
                </a:lnTo>
                <a:lnTo>
                  <a:pt x="144002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455392" y="1396170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2</a:t>
            </a:r>
            <a:endParaRPr sz="500">
              <a:latin typeface="Cambria"/>
              <a:cs typeface="Cambri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771279" y="1375427"/>
            <a:ext cx="149063" cy="14906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815399" y="1395789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3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053801" y="1737962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1" y="72000"/>
                </a:moveTo>
                <a:lnTo>
                  <a:pt x="138343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3" y="100027"/>
                </a:lnTo>
                <a:lnTo>
                  <a:pt x="144001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095385" y="1756177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4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413805" y="1737962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2" y="72000"/>
                </a:moveTo>
                <a:lnTo>
                  <a:pt x="138344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4" y="100027"/>
                </a:lnTo>
                <a:lnTo>
                  <a:pt x="144002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455392" y="1755415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5</a:t>
            </a:r>
            <a:endParaRPr sz="500">
              <a:latin typeface="Cambria"/>
              <a:cs typeface="Cambri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1279" y="1735431"/>
            <a:ext cx="149063" cy="149063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2815399" y="1755796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6</a:t>
            </a:r>
            <a:endParaRPr sz="500">
              <a:latin typeface="Cambria"/>
              <a:cs typeface="Cambri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103534" y="1427690"/>
            <a:ext cx="764540" cy="405130"/>
            <a:chOff x="2103534" y="1427690"/>
            <a:chExt cx="764540" cy="405130"/>
          </a:xfrm>
        </p:grpSpPr>
        <p:sp>
          <p:nvSpPr>
            <p:cNvPr id="30" name="object 30"/>
            <p:cNvSpPr/>
            <p:nvPr/>
          </p:nvSpPr>
          <p:spPr>
            <a:xfrm>
              <a:off x="2199068" y="1449958"/>
              <a:ext cx="208279" cy="0"/>
            </a:xfrm>
            <a:custGeom>
              <a:avLst/>
              <a:gdLst/>
              <a:ahLst/>
              <a:cxnLst/>
              <a:rect l="l" t="t" r="r" b="b"/>
              <a:pathLst>
                <a:path w="208280">
                  <a:moveTo>
                    <a:pt x="0" y="0"/>
                  </a:moveTo>
                  <a:lnTo>
                    <a:pt x="207651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391537" y="1429714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125802" y="1523225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651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105558" y="1715693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485806" y="1523225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651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465562" y="1715693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541729" y="1501765"/>
              <a:ext cx="252729" cy="252729"/>
            </a:xfrm>
            <a:custGeom>
              <a:avLst/>
              <a:gdLst/>
              <a:ahLst/>
              <a:cxnLst/>
              <a:rect l="l" t="t" r="r" b="b"/>
              <a:pathLst>
                <a:path w="252730" h="252730">
                  <a:moveTo>
                    <a:pt x="252274" y="0"/>
                  </a:moveTo>
                  <a:lnTo>
                    <a:pt x="0" y="252274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538150" y="1728990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28628" y="28628"/>
                  </a:moveTo>
                  <a:lnTo>
                    <a:pt x="22156" y="26350"/>
                  </a:lnTo>
                  <a:lnTo>
                    <a:pt x="13755" y="25833"/>
                  </a:lnTo>
                  <a:lnTo>
                    <a:pt x="5857" y="26490"/>
                  </a:lnTo>
                  <a:lnTo>
                    <a:pt x="894" y="27734"/>
                  </a:lnTo>
                  <a:lnTo>
                    <a:pt x="2138" y="22771"/>
                  </a:lnTo>
                  <a:lnTo>
                    <a:pt x="2795" y="14873"/>
                  </a:lnTo>
                  <a:lnTo>
                    <a:pt x="2278" y="6472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845811" y="1523225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651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825567" y="1715693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177609" y="1505881"/>
              <a:ext cx="252729" cy="252729"/>
            </a:xfrm>
            <a:custGeom>
              <a:avLst/>
              <a:gdLst/>
              <a:ahLst/>
              <a:cxnLst/>
              <a:rect l="l" t="t" r="r" b="b"/>
              <a:pathLst>
                <a:path w="252730" h="252730">
                  <a:moveTo>
                    <a:pt x="0" y="252274"/>
                  </a:moveTo>
                  <a:lnTo>
                    <a:pt x="252274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404833" y="1502302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09">
                  <a:moveTo>
                    <a:pt x="0" y="0"/>
                  </a:moveTo>
                  <a:lnTo>
                    <a:pt x="6472" y="2278"/>
                  </a:lnTo>
                  <a:lnTo>
                    <a:pt x="14873" y="2795"/>
                  </a:lnTo>
                  <a:lnTo>
                    <a:pt x="22771" y="2138"/>
                  </a:lnTo>
                  <a:lnTo>
                    <a:pt x="27734" y="894"/>
                  </a:lnTo>
                  <a:lnTo>
                    <a:pt x="26490" y="5857"/>
                  </a:lnTo>
                  <a:lnTo>
                    <a:pt x="25833" y="13755"/>
                  </a:lnTo>
                  <a:lnTo>
                    <a:pt x="26350" y="22156"/>
                  </a:lnTo>
                  <a:lnTo>
                    <a:pt x="28628" y="28628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204888" y="1809963"/>
              <a:ext cx="208279" cy="0"/>
            </a:xfrm>
            <a:custGeom>
              <a:avLst/>
              <a:gdLst/>
              <a:ahLst/>
              <a:cxnLst/>
              <a:rect l="l" t="t" r="r" b="b"/>
              <a:pathLst>
                <a:path w="208280">
                  <a:moveTo>
                    <a:pt x="207651" y="0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201093" y="178971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2941154" y="1526164"/>
            <a:ext cx="1574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70" dirty="0">
                <a:solidFill>
                  <a:srgbClr val="22373A"/>
                </a:solidFill>
                <a:latin typeface="Cambria"/>
                <a:cs typeface="Cambria"/>
              </a:rPr>
              <a:t>⇒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3116449" y="972029"/>
          <a:ext cx="432434" cy="1306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720"/>
              </a:tblGrid>
              <a:tr h="186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(1,</a:t>
                      </a:r>
                      <a:r>
                        <a:rPr sz="1000" spc="-5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2)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(1,</a:t>
                      </a:r>
                      <a:r>
                        <a:rPr sz="1000" spc="-5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4)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(2,</a:t>
                      </a:r>
                      <a:r>
                        <a:rPr sz="1000" spc="-5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5)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(3,</a:t>
                      </a:r>
                      <a:r>
                        <a:rPr sz="1000" spc="-5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5)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(3,</a:t>
                      </a:r>
                      <a:r>
                        <a:rPr sz="1000" spc="-5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6)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(4,</a:t>
                      </a:r>
                      <a:r>
                        <a:rPr sz="1000" spc="-5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2)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(5,</a:t>
                      </a:r>
                      <a:r>
                        <a:rPr sz="1000" spc="-5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4)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76555"/>
          </a:xfrm>
          <a:custGeom>
            <a:avLst/>
            <a:gdLst/>
            <a:ahLst/>
            <a:cxnLst/>
            <a:rect l="l" t="t" r="r" b="b"/>
            <a:pathLst>
              <a:path w="5760085" h="376555">
                <a:moveTo>
                  <a:pt x="5759996" y="0"/>
                </a:moveTo>
                <a:lnTo>
                  <a:pt x="0" y="0"/>
                </a:lnTo>
                <a:lnTo>
                  <a:pt x="0" y="376186"/>
                </a:lnTo>
                <a:lnTo>
                  <a:pt x="5759996" y="376186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631" y="76349"/>
            <a:ext cx="12414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40" dirty="0">
                <a:solidFill>
                  <a:srgbClr val="F9F9F9"/>
                </a:solidFill>
                <a:latin typeface="Trebuchet MS" panose="020B0703020202020204"/>
                <a:cs typeface="Trebuchet MS" panose="020B0703020202020204"/>
              </a:rPr>
              <a:t>Adjacency-</a:t>
            </a:r>
            <a:r>
              <a:rPr sz="1200" b="1" spc="-10" dirty="0">
                <a:solidFill>
                  <a:srgbClr val="F9F9F9"/>
                </a:solidFill>
                <a:latin typeface="Trebuchet MS" panose="020B0703020202020204"/>
                <a:cs typeface="Trebuchet MS" panose="020B0703020202020204"/>
              </a:rPr>
              <a:t>matrix</a:t>
            </a:r>
            <a:endParaRPr sz="1200">
              <a:latin typeface="Trebuchet MS" panose="020B0703020202020204"/>
              <a:cs typeface="Trebuchet MS" panose="020B07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2529" y="1374414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144001" y="72000"/>
                </a:moveTo>
                <a:lnTo>
                  <a:pt x="138343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3"/>
                </a:lnTo>
                <a:lnTo>
                  <a:pt x="72000" y="144001"/>
                </a:lnTo>
                <a:lnTo>
                  <a:pt x="100027" y="138343"/>
                </a:lnTo>
                <a:lnTo>
                  <a:pt x="122913" y="122913"/>
                </a:lnTo>
                <a:lnTo>
                  <a:pt x="138343" y="100027"/>
                </a:lnTo>
                <a:lnTo>
                  <a:pt x="144001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04120" y="1392239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1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2533" y="1374414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2" y="72000"/>
                </a:moveTo>
                <a:lnTo>
                  <a:pt x="138344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3"/>
                </a:lnTo>
                <a:lnTo>
                  <a:pt x="72000" y="144001"/>
                </a:lnTo>
                <a:lnTo>
                  <a:pt x="100027" y="138343"/>
                </a:lnTo>
                <a:lnTo>
                  <a:pt x="122913" y="122913"/>
                </a:lnTo>
                <a:lnTo>
                  <a:pt x="138344" y="100027"/>
                </a:lnTo>
                <a:lnTo>
                  <a:pt x="144002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64127" y="1392620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2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92537" y="1554416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2" y="72001"/>
                </a:moveTo>
                <a:lnTo>
                  <a:pt x="138344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1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4" y="100027"/>
                </a:lnTo>
                <a:lnTo>
                  <a:pt x="144002" y="72001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34129" y="1572249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3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2533" y="1734418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2" y="72000"/>
                </a:moveTo>
                <a:lnTo>
                  <a:pt x="138344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4" y="100027"/>
                </a:lnTo>
                <a:lnTo>
                  <a:pt x="144002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64127" y="1752627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4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2529" y="1734418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144001" y="72000"/>
                </a:moveTo>
                <a:lnTo>
                  <a:pt x="138343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3" y="100027"/>
                </a:lnTo>
                <a:lnTo>
                  <a:pt x="144001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04120" y="1751865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5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4530" y="1446415"/>
            <a:ext cx="569595" cy="360045"/>
          </a:xfrm>
          <a:custGeom>
            <a:avLst/>
            <a:gdLst/>
            <a:ahLst/>
            <a:cxnLst/>
            <a:rect l="l" t="t" r="r" b="b"/>
            <a:pathLst>
              <a:path w="569594" h="360044">
                <a:moveTo>
                  <a:pt x="73266" y="0"/>
                </a:moveTo>
                <a:lnTo>
                  <a:pt x="286738" y="0"/>
                </a:lnTo>
              </a:path>
              <a:path w="569594" h="360044">
                <a:moveTo>
                  <a:pt x="0" y="73266"/>
                </a:moveTo>
                <a:lnTo>
                  <a:pt x="0" y="286737"/>
                </a:lnTo>
              </a:path>
              <a:path w="569594" h="360044">
                <a:moveTo>
                  <a:pt x="420963" y="40638"/>
                </a:moveTo>
                <a:lnTo>
                  <a:pt x="569049" y="139363"/>
                </a:lnTo>
              </a:path>
              <a:path w="569594" h="360044">
                <a:moveTo>
                  <a:pt x="360004" y="73266"/>
                </a:moveTo>
                <a:lnTo>
                  <a:pt x="360004" y="286737"/>
                </a:lnTo>
              </a:path>
              <a:path w="569594" h="360044">
                <a:moveTo>
                  <a:pt x="308197" y="51806"/>
                </a:moveTo>
                <a:lnTo>
                  <a:pt x="51807" y="308197"/>
                </a:lnTo>
              </a:path>
              <a:path w="569594" h="360044">
                <a:moveTo>
                  <a:pt x="569049" y="220640"/>
                </a:moveTo>
                <a:lnTo>
                  <a:pt x="420963" y="319365"/>
                </a:lnTo>
              </a:path>
              <a:path w="569594" h="360044">
                <a:moveTo>
                  <a:pt x="286738" y="360004"/>
                </a:moveTo>
                <a:lnTo>
                  <a:pt x="73266" y="360004"/>
                </a:lnTo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59891" y="1522620"/>
            <a:ext cx="1574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70" dirty="0">
                <a:solidFill>
                  <a:srgbClr val="22373A"/>
                </a:solidFill>
                <a:latin typeface="Cambria"/>
                <a:cs typeface="Cambria"/>
              </a:rPr>
              <a:t>⇒</a:t>
            </a:r>
            <a:endParaRPr sz="1000">
              <a:latin typeface="Cambria"/>
              <a:cs typeface="Cambria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335424" y="1110697"/>
          <a:ext cx="1229995" cy="1031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090"/>
                <a:gridCol w="212090"/>
                <a:gridCol w="200660"/>
                <a:gridCol w="200659"/>
                <a:gridCol w="200659"/>
                <a:gridCol w="200659"/>
              </a:tblGrid>
              <a:tr h="177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R w="6350">
                      <a:solidFill>
                        <a:srgbClr val="22373A"/>
                      </a:solidFill>
                      <a:prstDash val="solid"/>
                    </a:lnR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1065"/>
                        </a:lnSpc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1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065"/>
                        </a:lnSpc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2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065"/>
                        </a:lnSpc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3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065"/>
                        </a:lnSpc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4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5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1610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1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1651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1651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1651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1651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1651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1651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2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3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4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5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2852085" y="1374414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1" y="72000"/>
                </a:moveTo>
                <a:lnTo>
                  <a:pt x="138343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3"/>
                </a:lnTo>
                <a:lnTo>
                  <a:pt x="72000" y="144001"/>
                </a:lnTo>
                <a:lnTo>
                  <a:pt x="100027" y="138343"/>
                </a:lnTo>
                <a:lnTo>
                  <a:pt x="122913" y="122913"/>
                </a:lnTo>
                <a:lnTo>
                  <a:pt x="138343" y="100027"/>
                </a:lnTo>
                <a:lnTo>
                  <a:pt x="144001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893675" y="1392239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1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212089" y="1374414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144002" y="72000"/>
                </a:moveTo>
                <a:lnTo>
                  <a:pt x="138344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3"/>
                </a:lnTo>
                <a:lnTo>
                  <a:pt x="72000" y="144001"/>
                </a:lnTo>
                <a:lnTo>
                  <a:pt x="100027" y="138343"/>
                </a:lnTo>
                <a:lnTo>
                  <a:pt x="122913" y="122913"/>
                </a:lnTo>
                <a:lnTo>
                  <a:pt x="138344" y="100027"/>
                </a:lnTo>
                <a:lnTo>
                  <a:pt x="144002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253670" y="1392620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2</a:t>
            </a:r>
            <a:endParaRPr sz="500">
              <a:latin typeface="Cambria"/>
              <a:cs typeface="Cambri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69563" y="1371884"/>
            <a:ext cx="149063" cy="14906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613677" y="1392239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3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52085" y="1734418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1" y="72000"/>
                </a:moveTo>
                <a:lnTo>
                  <a:pt x="138343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3" y="100027"/>
                </a:lnTo>
                <a:lnTo>
                  <a:pt x="144001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893675" y="1752627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4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212089" y="1734418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144002" y="72000"/>
                </a:moveTo>
                <a:lnTo>
                  <a:pt x="138344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4" y="100027"/>
                </a:lnTo>
                <a:lnTo>
                  <a:pt x="144002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253670" y="1751865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5</a:t>
            </a:r>
            <a:endParaRPr sz="500">
              <a:latin typeface="Cambria"/>
              <a:cs typeface="Cambri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563" y="1731888"/>
            <a:ext cx="149063" cy="149063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3613677" y="1752246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6</a:t>
            </a:r>
            <a:endParaRPr sz="500">
              <a:latin typeface="Cambria"/>
              <a:cs typeface="Cambri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901817" y="1424147"/>
            <a:ext cx="764540" cy="405130"/>
            <a:chOff x="2901817" y="1424147"/>
            <a:chExt cx="764540" cy="405130"/>
          </a:xfrm>
        </p:grpSpPr>
        <p:sp>
          <p:nvSpPr>
            <p:cNvPr id="30" name="object 30"/>
            <p:cNvSpPr/>
            <p:nvPr/>
          </p:nvSpPr>
          <p:spPr>
            <a:xfrm>
              <a:off x="2997352" y="1446415"/>
              <a:ext cx="208279" cy="0"/>
            </a:xfrm>
            <a:custGeom>
              <a:avLst/>
              <a:gdLst/>
              <a:ahLst/>
              <a:cxnLst/>
              <a:rect l="l" t="t" r="r" b="b"/>
              <a:pathLst>
                <a:path w="208280">
                  <a:moveTo>
                    <a:pt x="0" y="0"/>
                  </a:moveTo>
                  <a:lnTo>
                    <a:pt x="207651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189821" y="1426171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924086" y="1519681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651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903842" y="1712150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284090" y="1519681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651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263846" y="1712150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340013" y="1498222"/>
              <a:ext cx="252729" cy="252729"/>
            </a:xfrm>
            <a:custGeom>
              <a:avLst/>
              <a:gdLst/>
              <a:ahLst/>
              <a:cxnLst/>
              <a:rect l="l" t="t" r="r" b="b"/>
              <a:pathLst>
                <a:path w="252729" h="252730">
                  <a:moveTo>
                    <a:pt x="252274" y="0"/>
                  </a:moveTo>
                  <a:lnTo>
                    <a:pt x="0" y="252274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336434" y="1725446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28628" y="28628"/>
                  </a:moveTo>
                  <a:lnTo>
                    <a:pt x="22156" y="26350"/>
                  </a:lnTo>
                  <a:lnTo>
                    <a:pt x="13755" y="25833"/>
                  </a:lnTo>
                  <a:lnTo>
                    <a:pt x="5857" y="26490"/>
                  </a:lnTo>
                  <a:lnTo>
                    <a:pt x="894" y="27734"/>
                  </a:lnTo>
                  <a:lnTo>
                    <a:pt x="2138" y="22771"/>
                  </a:lnTo>
                  <a:lnTo>
                    <a:pt x="2795" y="14873"/>
                  </a:lnTo>
                  <a:lnTo>
                    <a:pt x="2278" y="6472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644095" y="1519681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651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623851" y="1712150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975893" y="1502338"/>
              <a:ext cx="252729" cy="252729"/>
            </a:xfrm>
            <a:custGeom>
              <a:avLst/>
              <a:gdLst/>
              <a:ahLst/>
              <a:cxnLst/>
              <a:rect l="l" t="t" r="r" b="b"/>
              <a:pathLst>
                <a:path w="252730" h="252730">
                  <a:moveTo>
                    <a:pt x="0" y="252274"/>
                  </a:moveTo>
                  <a:lnTo>
                    <a:pt x="252274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203117" y="1498759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09">
                  <a:moveTo>
                    <a:pt x="0" y="0"/>
                  </a:moveTo>
                  <a:lnTo>
                    <a:pt x="6472" y="2278"/>
                  </a:lnTo>
                  <a:lnTo>
                    <a:pt x="14873" y="2795"/>
                  </a:lnTo>
                  <a:lnTo>
                    <a:pt x="22771" y="2138"/>
                  </a:lnTo>
                  <a:lnTo>
                    <a:pt x="27734" y="894"/>
                  </a:lnTo>
                  <a:lnTo>
                    <a:pt x="26490" y="5857"/>
                  </a:lnTo>
                  <a:lnTo>
                    <a:pt x="25833" y="13755"/>
                  </a:lnTo>
                  <a:lnTo>
                    <a:pt x="26350" y="22156"/>
                  </a:lnTo>
                  <a:lnTo>
                    <a:pt x="28628" y="28628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003172" y="1806419"/>
              <a:ext cx="208279" cy="0"/>
            </a:xfrm>
            <a:custGeom>
              <a:avLst/>
              <a:gdLst/>
              <a:ahLst/>
              <a:cxnLst/>
              <a:rect l="l" t="t" r="r" b="b"/>
              <a:pathLst>
                <a:path w="208280">
                  <a:moveTo>
                    <a:pt x="207651" y="0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999377" y="1786176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3739438" y="1522620"/>
            <a:ext cx="1574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70" dirty="0">
                <a:solidFill>
                  <a:srgbClr val="22373A"/>
                </a:solidFill>
                <a:latin typeface="Cambria"/>
                <a:cs typeface="Cambria"/>
              </a:rPr>
              <a:t>⇒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3914991" y="1026435"/>
          <a:ext cx="1430655" cy="1200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090"/>
                <a:gridCol w="212090"/>
                <a:gridCol w="200660"/>
                <a:gridCol w="200659"/>
                <a:gridCol w="200659"/>
                <a:gridCol w="200659"/>
                <a:gridCol w="200659"/>
              </a:tblGrid>
              <a:tr h="177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R w="6350">
                      <a:solidFill>
                        <a:srgbClr val="22373A"/>
                      </a:solidFill>
                      <a:prstDash val="solid"/>
                    </a:lnR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065"/>
                        </a:lnSpc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1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065"/>
                        </a:lnSpc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2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065"/>
                        </a:lnSpc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3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065"/>
                        </a:lnSpc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4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065"/>
                        </a:lnSpc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5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065"/>
                        </a:lnSpc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6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1610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1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1651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1651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1651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1651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1651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1651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1651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2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3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4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5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6</a:t>
                      </a:r>
                      <a:endParaRPr sz="9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254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Adjacency-</a:t>
            </a:r>
            <a:r>
              <a:rPr spc="-10" dirty="0"/>
              <a:t>matrix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47294" y="472648"/>
            <a:ext cx="4069079" cy="2266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programming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language,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use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array</a:t>
            </a:r>
            <a:r>
              <a:rPr sz="10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arrays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represent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matrix.</a:t>
            </a:r>
            <a:endParaRPr sz="1000">
              <a:latin typeface="Calibri"/>
              <a:cs typeface="Calibri"/>
            </a:endParaRPr>
          </a:p>
          <a:p>
            <a:pPr marL="12700" marR="1651635">
              <a:lnSpc>
                <a:spcPct val="165000"/>
              </a:lnSpc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examples</a:t>
            </a:r>
            <a:r>
              <a:rPr sz="10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are</a:t>
            </a:r>
            <a:r>
              <a:rPr sz="1000" spc="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base</a:t>
            </a:r>
            <a:r>
              <a:rPr sz="10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on</a:t>
            </a:r>
            <a:r>
              <a:rPr sz="1000" spc="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directed</a:t>
            </a:r>
            <a:r>
              <a:rPr sz="1000" b="1" spc="-35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 </a:t>
            </a:r>
            <a:r>
              <a:rPr sz="1000" b="1" spc="-10" dirty="0">
                <a:solidFill>
                  <a:srgbClr val="22373A"/>
                </a:solidFill>
                <a:latin typeface="Trebuchet MS" panose="020B0703020202020204"/>
                <a:cs typeface="Trebuchet MS" panose="020B0703020202020204"/>
              </a:rPr>
              <a:t>graph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.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Calibri"/>
                <a:cs typeface="Calibri"/>
              </a:rPr>
              <a:t>C++,</a:t>
            </a:r>
            <a:r>
              <a:rPr sz="10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sz="10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0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use</a:t>
            </a:r>
            <a:r>
              <a:rPr sz="10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new</a:t>
            </a:r>
            <a:r>
              <a:rPr sz="1000" spc="-27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create</a:t>
            </a:r>
            <a:r>
              <a:rPr sz="10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it.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955"/>
              </a:lnSpc>
              <a:spcBef>
                <a:spcPts val="1090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initialize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0"/>
              </a:lnSpc>
            </a:pPr>
            <a:r>
              <a:rPr sz="80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bool</a:t>
            </a:r>
            <a:r>
              <a:rPr sz="800" spc="-25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**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</a:t>
            </a:r>
            <a:r>
              <a:rPr sz="800" spc="-2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new</a:t>
            </a:r>
            <a:r>
              <a:rPr sz="800" spc="-2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bool</a:t>
            </a:r>
            <a:r>
              <a:rPr sz="800" spc="-25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*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[n];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 marR="1739900" indent="-243205">
              <a:lnSpc>
                <a:spcPts val="950"/>
              </a:lnSpc>
              <a:spcBef>
                <a:spcPts val="35"/>
              </a:spcBef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(std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size_t</a:t>
            </a:r>
            <a:r>
              <a:rPr sz="800" spc="-2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0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;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!=</a:t>
            </a:r>
            <a:r>
              <a:rPr sz="80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n;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++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i)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graph[i]</a:t>
            </a:r>
            <a:r>
              <a:rPr sz="800" spc="-2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-2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new</a:t>
            </a:r>
            <a:r>
              <a:rPr sz="800" spc="-2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bool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[n];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15"/>
              </a:lnSpc>
            </a:pPr>
            <a:r>
              <a:rPr sz="80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  <a:spcBef>
                <a:spcPts val="935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set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 marR="1315085" indent="-243205">
              <a:lnSpc>
                <a:spcPts val="950"/>
              </a:lnSpc>
              <a:spcBef>
                <a:spcPts val="35"/>
              </a:spcBef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if</a:t>
            </a:r>
            <a:r>
              <a:rPr sz="80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/*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there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exists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en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edge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from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*/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)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graph[i][j]</a:t>
            </a:r>
            <a:r>
              <a:rPr sz="800" spc="-3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-3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true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;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10"/>
              </a:lnSpc>
            </a:pP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else</a:t>
            </a:r>
            <a:r>
              <a:rPr sz="800" spc="-1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>
              <a:lnSpc>
                <a:spcPts val="950"/>
              </a:lnSpc>
            </a:pP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graph[i][j]</a:t>
            </a:r>
            <a:r>
              <a:rPr sz="800" spc="-3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-3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false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;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Adjacency-</a:t>
            </a:r>
            <a:r>
              <a:rPr spc="-10" dirty="0"/>
              <a:t>matrix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55"/>
              </a:lnSpc>
              <a:spcBef>
                <a:spcPts val="95"/>
              </a:spcBef>
            </a:pP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b="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get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b="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(std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b="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size_t</a:t>
            </a:r>
            <a:r>
              <a:rPr sz="800" b="0" spc="-2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i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b="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0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;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i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!=</a:t>
            </a:r>
            <a:r>
              <a:rPr sz="800" b="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n;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++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i)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50" dirty="0">
                <a:latin typeface="Courier New" panose="02070309020205020404"/>
                <a:cs typeface="Courier New" panose="02070309020205020404"/>
              </a:rPr>
              <a:t>{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>
              <a:lnSpc>
                <a:spcPts val="955"/>
              </a:lnSpc>
            </a:pPr>
            <a:r>
              <a:rPr sz="8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b="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(std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b="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size_t</a:t>
            </a:r>
            <a:r>
              <a:rPr sz="800" b="0" spc="-2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j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b="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0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;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j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!=</a:t>
            </a:r>
            <a:r>
              <a:rPr sz="800" b="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n;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++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j)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50" dirty="0">
                <a:latin typeface="Courier New" panose="02070309020205020404"/>
                <a:cs typeface="Courier New" panose="02070309020205020404"/>
              </a:rPr>
              <a:t>{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50"/>
              </a:lnSpc>
            </a:pPr>
            <a:r>
              <a:rPr sz="8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if</a:t>
            </a:r>
            <a:r>
              <a:rPr sz="800" b="0" spc="-4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(graph[i][j])</a:t>
            </a:r>
            <a:r>
              <a:rPr sz="800" b="0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50" dirty="0">
                <a:latin typeface="Courier New" panose="02070309020205020404"/>
                <a:cs typeface="Courier New" panose="02070309020205020404"/>
              </a:rPr>
              <a:t>{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741045">
              <a:lnSpc>
                <a:spcPts val="950"/>
              </a:lnSpc>
            </a:pP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/*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there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exists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en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edge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from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b="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*/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50"/>
              </a:lnSpc>
            </a:pPr>
            <a:r>
              <a:rPr sz="800" b="0" spc="-5" dirty="0"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>
              <a:lnSpc>
                <a:spcPts val="950"/>
              </a:lnSpc>
            </a:pPr>
            <a:r>
              <a:rPr sz="800" b="0" spc="-5" dirty="0"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b="0" spc="-5" dirty="0"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  <a:spcBef>
                <a:spcPts val="935"/>
              </a:spcBef>
            </a:pP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b="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1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finalize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0"/>
              </a:lnSpc>
            </a:pPr>
            <a:r>
              <a:rPr sz="8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b="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(std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b="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size_t</a:t>
            </a:r>
            <a:r>
              <a:rPr sz="800" b="0" spc="-2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i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b="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0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;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i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!=</a:t>
            </a:r>
            <a:r>
              <a:rPr sz="800" b="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n;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++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i)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50" dirty="0">
                <a:latin typeface="Courier New" panose="02070309020205020404"/>
                <a:cs typeface="Courier New" panose="02070309020205020404"/>
              </a:rPr>
              <a:t>{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>
              <a:lnSpc>
                <a:spcPts val="950"/>
              </a:lnSpc>
            </a:pPr>
            <a:r>
              <a:rPr sz="8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delete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[]</a:t>
            </a:r>
            <a:r>
              <a:rPr sz="800" b="0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10" dirty="0">
                <a:latin typeface="Courier New" panose="02070309020205020404"/>
                <a:cs typeface="Courier New" panose="02070309020205020404"/>
              </a:rPr>
              <a:t>graph[i];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0"/>
              </a:lnSpc>
            </a:pPr>
            <a:r>
              <a:rPr sz="800" b="0" spc="-5" dirty="0"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delete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[]</a:t>
            </a:r>
            <a:r>
              <a:rPr sz="800" b="0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10" dirty="0">
                <a:latin typeface="Courier New" panose="02070309020205020404"/>
                <a:cs typeface="Courier New" panose="02070309020205020404"/>
              </a:rPr>
              <a:t>graph;</a:t>
            </a:r>
            <a:endParaRPr sz="8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Adjacency-</a:t>
            </a:r>
            <a:r>
              <a:rPr spc="-10" dirty="0"/>
              <a:t>matrix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47294" y="904664"/>
            <a:ext cx="3790950" cy="140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Calibri"/>
                <a:cs typeface="Calibri"/>
              </a:rPr>
              <a:t>C++,</a:t>
            </a:r>
            <a:r>
              <a:rPr sz="10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sz="10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0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also</a:t>
            </a:r>
            <a:r>
              <a:rPr sz="10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use</a:t>
            </a:r>
            <a:r>
              <a:rPr sz="10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std::vector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955"/>
              </a:lnSpc>
              <a:spcBef>
                <a:spcPts val="1090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initialize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std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vector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&lt;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std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vector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&lt;</a:t>
            </a:r>
            <a:r>
              <a:rPr sz="800" spc="-1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bool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&gt;&gt;</a:t>
            </a:r>
            <a:r>
              <a:rPr sz="800" spc="5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graph(n,</a:t>
            </a:r>
            <a:r>
              <a:rPr sz="800" spc="5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std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vector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&lt;</a:t>
            </a:r>
            <a:r>
              <a:rPr sz="800" spc="-1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bool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&gt;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(n));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  <a:spcBef>
                <a:spcPts val="930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set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 marR="1097915" indent="-243205">
              <a:lnSpc>
                <a:spcPts val="950"/>
              </a:lnSpc>
              <a:spcBef>
                <a:spcPts val="40"/>
              </a:spcBef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if</a:t>
            </a:r>
            <a:r>
              <a:rPr sz="80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/*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there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exist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en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edge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from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*/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)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graph[i][j]</a:t>
            </a:r>
            <a:r>
              <a:rPr sz="800" spc="-3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-3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true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;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10"/>
              </a:lnSpc>
            </a:pP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else</a:t>
            </a:r>
            <a:r>
              <a:rPr sz="800" spc="-1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>
              <a:lnSpc>
                <a:spcPts val="950"/>
              </a:lnSpc>
            </a:pP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graph[i][j]</a:t>
            </a:r>
            <a:r>
              <a:rPr sz="800" spc="-3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-3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false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;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Adjacency-</a:t>
            </a:r>
            <a:r>
              <a:rPr spc="-10" dirty="0"/>
              <a:t>matrix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94771" rIns="0" bIns="0" rtlCol="0">
            <a:spAutoFit/>
          </a:bodyPr>
          <a:lstStyle/>
          <a:p>
            <a:pPr marL="12700">
              <a:lnSpc>
                <a:spcPts val="955"/>
              </a:lnSpc>
              <a:spcBef>
                <a:spcPts val="95"/>
              </a:spcBef>
            </a:pP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b="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get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b="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(std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b="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size_t</a:t>
            </a:r>
            <a:r>
              <a:rPr sz="800" b="0" spc="-2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i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b="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0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;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i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!=</a:t>
            </a:r>
            <a:r>
              <a:rPr sz="800" b="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n;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++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i)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50" dirty="0">
                <a:latin typeface="Courier New" panose="02070309020205020404"/>
                <a:cs typeface="Courier New" panose="02070309020205020404"/>
              </a:rPr>
              <a:t>{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>
              <a:lnSpc>
                <a:spcPts val="955"/>
              </a:lnSpc>
            </a:pPr>
            <a:r>
              <a:rPr sz="8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b="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(std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b="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size_t</a:t>
            </a:r>
            <a:r>
              <a:rPr sz="800" b="0" spc="-2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j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b="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0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;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j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!=</a:t>
            </a:r>
            <a:r>
              <a:rPr sz="800" b="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n;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++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j)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50" dirty="0">
                <a:latin typeface="Courier New" panose="02070309020205020404"/>
                <a:cs typeface="Courier New" panose="02070309020205020404"/>
              </a:rPr>
              <a:t>{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50"/>
              </a:lnSpc>
            </a:pPr>
            <a:r>
              <a:rPr sz="8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if</a:t>
            </a:r>
            <a:r>
              <a:rPr sz="800" b="0" spc="-4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(graph[i][j])</a:t>
            </a:r>
            <a:r>
              <a:rPr sz="800" b="0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50" dirty="0">
                <a:latin typeface="Courier New" panose="02070309020205020404"/>
                <a:cs typeface="Courier New" panose="02070309020205020404"/>
              </a:rPr>
              <a:t>{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741045">
              <a:lnSpc>
                <a:spcPts val="950"/>
              </a:lnSpc>
            </a:pP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b="0" spc="-3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there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exist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en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edge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from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5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j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50"/>
              </a:lnSpc>
            </a:pPr>
            <a:r>
              <a:rPr sz="800" b="0" spc="-5" dirty="0"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>
              <a:lnSpc>
                <a:spcPts val="950"/>
              </a:lnSpc>
            </a:pPr>
            <a:r>
              <a:rPr sz="800" b="0" spc="-5" dirty="0"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b="0" spc="-5" dirty="0"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Adjacency-</a:t>
            </a:r>
            <a:r>
              <a:rPr spc="-10" dirty="0"/>
              <a:t>matrix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47294" y="543577"/>
            <a:ext cx="3244215" cy="2124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Java,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use</a:t>
            </a:r>
            <a:r>
              <a:rPr sz="10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new</a:t>
            </a:r>
            <a:r>
              <a:rPr sz="1000" spc="-254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create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it.</a:t>
            </a:r>
            <a:endParaRPr sz="1000" dirty="0">
              <a:latin typeface="Calibri"/>
              <a:cs typeface="Calibri"/>
            </a:endParaRPr>
          </a:p>
          <a:p>
            <a:pPr marL="12700">
              <a:lnSpc>
                <a:spcPts val="955"/>
              </a:lnSpc>
              <a:spcBef>
                <a:spcPts val="1090"/>
              </a:spcBef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class</a:t>
            </a:r>
            <a:r>
              <a:rPr sz="800" spc="-3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Test</a:t>
            </a:r>
            <a:r>
              <a:rPr sz="800" spc="-2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255270">
              <a:lnSpc>
                <a:spcPts val="955"/>
              </a:lnSpc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public</a:t>
            </a:r>
            <a:r>
              <a:rPr sz="800" spc="-3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void</a:t>
            </a:r>
            <a:r>
              <a:rPr sz="800" spc="-3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test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()</a:t>
            </a:r>
            <a:r>
              <a:rPr sz="800" spc="-3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55"/>
              </a:lnSpc>
              <a:spcBef>
                <a:spcPts val="930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initialize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55"/>
              </a:lnSpc>
            </a:pPr>
            <a:r>
              <a:rPr sz="80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boolean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[][]</a:t>
            </a:r>
            <a:r>
              <a:rPr sz="800" spc="-3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</a:t>
            </a:r>
            <a:r>
              <a:rPr sz="800" spc="-3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-3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new</a:t>
            </a:r>
            <a:r>
              <a:rPr sz="800" spc="-3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boolean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[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n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][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n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]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;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55"/>
              </a:lnSpc>
              <a:spcBef>
                <a:spcPts val="935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set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741045" marR="5080" indent="-243205">
              <a:lnSpc>
                <a:spcPts val="950"/>
              </a:lnSpc>
              <a:spcBef>
                <a:spcPts val="35"/>
              </a:spcBef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if</a:t>
            </a:r>
            <a:r>
              <a:rPr sz="80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/*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there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exists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en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edge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from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*/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)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[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][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]</a:t>
            </a:r>
            <a:r>
              <a:rPr sz="800" spc="-3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-3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true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;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10"/>
              </a:lnSpc>
            </a:pP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else</a:t>
            </a:r>
            <a:r>
              <a:rPr sz="800" spc="-1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741045">
              <a:lnSpc>
                <a:spcPts val="950"/>
              </a:lnSpc>
            </a:pP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[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][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]</a:t>
            </a:r>
            <a:r>
              <a:rPr sz="800" spc="-3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-3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false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;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55"/>
              </a:lnSpc>
            </a:pPr>
            <a:r>
              <a:rPr sz="80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255270">
              <a:lnSpc>
                <a:spcPts val="955"/>
              </a:lnSpc>
              <a:spcBef>
                <a:spcPts val="940"/>
              </a:spcBef>
            </a:pPr>
            <a:r>
              <a:rPr sz="80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800" dirty="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Adjacency-</a:t>
            </a:r>
            <a:r>
              <a:rPr spc="-10" dirty="0"/>
              <a:t>matrix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55"/>
              </a:lnSpc>
              <a:spcBef>
                <a:spcPts val="95"/>
              </a:spcBef>
            </a:pPr>
            <a:r>
              <a:rPr sz="8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class</a:t>
            </a:r>
            <a:r>
              <a:rPr sz="800" b="0" spc="-3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Test</a:t>
            </a:r>
            <a:r>
              <a:rPr sz="800" b="0" spc="-2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50" dirty="0">
                <a:latin typeface="Courier New" panose="02070309020205020404"/>
                <a:cs typeface="Courier New" panose="02070309020205020404"/>
              </a:rPr>
              <a:t>{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>
              <a:lnSpc>
                <a:spcPts val="955"/>
              </a:lnSpc>
            </a:pPr>
            <a:r>
              <a:rPr sz="8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public</a:t>
            </a:r>
            <a:r>
              <a:rPr sz="800" b="0" spc="-3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void</a:t>
            </a:r>
            <a:r>
              <a:rPr sz="800" b="0" spc="-3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test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()</a:t>
            </a:r>
            <a:r>
              <a:rPr sz="800" b="0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50" dirty="0">
                <a:latin typeface="Courier New" panose="02070309020205020404"/>
                <a:cs typeface="Courier New" panose="02070309020205020404"/>
              </a:rPr>
              <a:t>{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55"/>
              </a:lnSpc>
              <a:spcBef>
                <a:spcPts val="935"/>
              </a:spcBef>
            </a:pP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b="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get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55"/>
              </a:lnSpc>
            </a:pPr>
            <a:r>
              <a:rPr sz="8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b="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800" b="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int</a:t>
            </a:r>
            <a:r>
              <a:rPr sz="800" b="0" spc="-15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i</a:t>
            </a:r>
            <a:r>
              <a:rPr sz="800" b="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b="0" spc="-1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0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;</a:t>
            </a:r>
            <a:r>
              <a:rPr sz="800" b="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i</a:t>
            </a:r>
            <a:r>
              <a:rPr sz="800" b="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&lt;</a:t>
            </a:r>
            <a:r>
              <a:rPr sz="800" b="0" spc="-1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n;</a:t>
            </a:r>
            <a:r>
              <a:rPr sz="800" b="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++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i)</a:t>
            </a:r>
            <a:r>
              <a:rPr sz="800" b="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50" dirty="0">
                <a:latin typeface="Courier New" panose="02070309020205020404"/>
                <a:cs typeface="Courier New" panose="02070309020205020404"/>
              </a:rPr>
              <a:t>{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741045">
              <a:lnSpc>
                <a:spcPts val="955"/>
              </a:lnSpc>
            </a:pPr>
            <a:r>
              <a:rPr sz="8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b="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800" b="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int</a:t>
            </a:r>
            <a:r>
              <a:rPr sz="800" b="0" spc="-15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j</a:t>
            </a:r>
            <a:r>
              <a:rPr sz="800" b="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b="0" spc="-1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0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;</a:t>
            </a:r>
            <a:r>
              <a:rPr sz="800" b="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j</a:t>
            </a:r>
            <a:r>
              <a:rPr sz="800" b="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!=</a:t>
            </a:r>
            <a:r>
              <a:rPr sz="800" b="0" spc="-1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n;</a:t>
            </a:r>
            <a:r>
              <a:rPr sz="800" b="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++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j)</a:t>
            </a:r>
            <a:r>
              <a:rPr sz="800" b="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50" dirty="0">
                <a:latin typeface="Courier New" panose="02070309020205020404"/>
                <a:cs typeface="Courier New" panose="02070309020205020404"/>
              </a:rPr>
              <a:t>{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984250">
              <a:lnSpc>
                <a:spcPts val="950"/>
              </a:lnSpc>
            </a:pPr>
            <a:r>
              <a:rPr sz="8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if</a:t>
            </a:r>
            <a:r>
              <a:rPr sz="800" b="0" spc="-4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(graph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[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i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][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j</a:t>
            </a:r>
            <a:r>
              <a:rPr sz="800" b="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]</a:t>
            </a:r>
            <a:r>
              <a:rPr sz="800" b="0" dirty="0">
                <a:latin typeface="Courier New" panose="02070309020205020404"/>
                <a:cs typeface="Courier New" panose="02070309020205020404"/>
              </a:rPr>
              <a:t>)</a:t>
            </a:r>
            <a:r>
              <a:rPr sz="800" b="0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50" dirty="0">
                <a:latin typeface="Courier New" panose="02070309020205020404"/>
                <a:cs typeface="Courier New" panose="02070309020205020404"/>
              </a:rPr>
              <a:t>{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26820">
              <a:lnSpc>
                <a:spcPts val="950"/>
              </a:lnSpc>
            </a:pP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/*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there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exists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en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edge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from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800" b="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b="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b="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*/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984250">
              <a:lnSpc>
                <a:spcPts val="950"/>
              </a:lnSpc>
            </a:pPr>
            <a:r>
              <a:rPr sz="800" b="0" spc="-5" dirty="0"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741045">
              <a:lnSpc>
                <a:spcPts val="950"/>
              </a:lnSpc>
            </a:pPr>
            <a:r>
              <a:rPr sz="800" b="0" spc="-5" dirty="0"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55"/>
              </a:lnSpc>
            </a:pPr>
            <a:r>
              <a:rPr sz="800" b="0" spc="-5" dirty="0"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>
              <a:lnSpc>
                <a:spcPts val="955"/>
              </a:lnSpc>
              <a:spcBef>
                <a:spcPts val="935"/>
              </a:spcBef>
            </a:pPr>
            <a:r>
              <a:rPr sz="800" b="0" spc="-5" dirty="0"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b="0" spc="-5" dirty="0"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Adjacency-</a:t>
            </a:r>
            <a:r>
              <a:rPr spc="-10" dirty="0"/>
              <a:t>matrix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47294" y="604194"/>
            <a:ext cx="3122930" cy="2003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Python,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use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list</a:t>
            </a:r>
            <a:r>
              <a:rPr sz="1000" spc="-24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create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it.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955"/>
              </a:lnSpc>
              <a:spcBef>
                <a:spcPts val="1090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#</a:t>
            </a:r>
            <a:r>
              <a:rPr sz="800" spc="-1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initialize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[[</a:t>
            </a: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False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]</a:t>
            </a:r>
            <a:r>
              <a:rPr sz="800" spc="-1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*</a:t>
            </a:r>
            <a:r>
              <a:rPr sz="80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n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spc="-1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_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AA21FF"/>
                </a:solidFill>
                <a:latin typeface="Courier New" panose="02070309020205020404"/>
                <a:cs typeface="Courier New" panose="02070309020205020404"/>
              </a:rPr>
              <a:t>in</a:t>
            </a:r>
            <a:r>
              <a:rPr sz="800" spc="-20" dirty="0">
                <a:solidFill>
                  <a:srgbClr val="AA21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range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(n)]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  <a:spcBef>
                <a:spcPts val="930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#</a:t>
            </a:r>
            <a:r>
              <a:rPr sz="800" spc="-1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set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 marR="490855" indent="-243205">
              <a:lnSpc>
                <a:spcPts val="950"/>
              </a:lnSpc>
              <a:spcBef>
                <a:spcPts val="35"/>
              </a:spcBef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if</a:t>
            </a:r>
            <a:r>
              <a:rPr sz="800" spc="-2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'''there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exists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en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edge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from</a:t>
            </a:r>
            <a:r>
              <a:rPr sz="800" spc="-25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'''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: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graph[i][j]</a:t>
            </a:r>
            <a:r>
              <a:rPr sz="800" spc="-3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-3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True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05"/>
              </a:lnSpc>
            </a:pPr>
            <a:r>
              <a:rPr sz="800" spc="-1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else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: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>
              <a:lnSpc>
                <a:spcPts val="955"/>
              </a:lnSpc>
            </a:pP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graph[i][j]</a:t>
            </a:r>
            <a:r>
              <a:rPr sz="800" spc="-3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-3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False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  <a:spcBef>
                <a:spcPts val="935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#</a:t>
            </a:r>
            <a:r>
              <a:rPr sz="800" spc="-1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get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spc="-1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1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AA21FF"/>
                </a:solidFill>
                <a:latin typeface="Courier New" panose="02070309020205020404"/>
                <a:cs typeface="Courier New" panose="02070309020205020404"/>
              </a:rPr>
              <a:t>in</a:t>
            </a:r>
            <a:r>
              <a:rPr sz="800" spc="-15" dirty="0">
                <a:solidFill>
                  <a:srgbClr val="AA21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range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(n):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R="1765935" algn="r">
              <a:lnSpc>
                <a:spcPts val="950"/>
              </a:lnSpc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spc="-1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spc="-1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AA21FF"/>
                </a:solidFill>
                <a:latin typeface="Courier New" panose="02070309020205020404"/>
                <a:cs typeface="Courier New" panose="02070309020205020404"/>
              </a:rPr>
              <a:t>in</a:t>
            </a:r>
            <a:r>
              <a:rPr sz="800" spc="-15" dirty="0">
                <a:solidFill>
                  <a:srgbClr val="AA21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range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(n):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R="1704975" algn="r">
              <a:lnSpc>
                <a:spcPts val="945"/>
              </a:lnSpc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if</a:t>
            </a:r>
            <a:r>
              <a:rPr sz="800" spc="-1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graph[i][j]: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741045">
              <a:lnSpc>
                <a:spcPts val="955"/>
              </a:lnSpc>
            </a:pP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'''there</a:t>
            </a:r>
            <a:r>
              <a:rPr sz="800" spc="-25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exists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en</a:t>
            </a:r>
            <a:r>
              <a:rPr sz="800" spc="-25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edge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from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5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5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'''</a:t>
            </a:r>
            <a:endParaRPr sz="8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76555"/>
          </a:xfrm>
          <a:custGeom>
            <a:avLst/>
            <a:gdLst/>
            <a:ahLst/>
            <a:cxnLst/>
            <a:rect l="l" t="t" r="r" b="b"/>
            <a:pathLst>
              <a:path w="5760085" h="376555">
                <a:moveTo>
                  <a:pt x="5759996" y="0"/>
                </a:moveTo>
                <a:lnTo>
                  <a:pt x="0" y="0"/>
                </a:lnTo>
                <a:lnTo>
                  <a:pt x="0" y="376186"/>
                </a:lnTo>
                <a:lnTo>
                  <a:pt x="5759996" y="376186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631" y="76349"/>
            <a:ext cx="12414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40" dirty="0">
                <a:solidFill>
                  <a:srgbClr val="F9F9F9"/>
                </a:solidFill>
                <a:latin typeface="Trebuchet MS" panose="020B0703020202020204"/>
                <a:cs typeface="Trebuchet MS" panose="020B0703020202020204"/>
              </a:rPr>
              <a:t>Adjacency-</a:t>
            </a:r>
            <a:r>
              <a:rPr sz="1200" b="1" spc="-10" dirty="0">
                <a:solidFill>
                  <a:srgbClr val="F9F9F9"/>
                </a:solidFill>
                <a:latin typeface="Trebuchet MS" panose="020B0703020202020204"/>
                <a:cs typeface="Trebuchet MS" panose="020B0703020202020204"/>
              </a:rPr>
              <a:t>matrix</a:t>
            </a:r>
            <a:endParaRPr sz="1200">
              <a:latin typeface="Trebuchet MS" panose="020B0703020202020204"/>
              <a:cs typeface="Trebuchet MS" panose="020B0703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347294" y="1562028"/>
            <a:ext cx="50304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Note</a:t>
            </a:r>
            <a:r>
              <a:rPr sz="10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that</a:t>
            </a:r>
            <a:r>
              <a:rPr sz="10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Python,</a:t>
            </a:r>
            <a:r>
              <a:rPr sz="10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sz="10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cannot</a:t>
            </a:r>
            <a:r>
              <a:rPr sz="10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use</a:t>
            </a:r>
            <a:r>
              <a:rPr sz="10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</a:t>
            </a:r>
            <a:r>
              <a:rPr sz="1000" spc="9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000" spc="9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[[</a:t>
            </a:r>
            <a:r>
              <a:rPr sz="10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False</a:t>
            </a:r>
            <a:r>
              <a:rPr sz="10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]</a:t>
            </a:r>
            <a:r>
              <a:rPr sz="1000" spc="1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*</a:t>
            </a:r>
            <a:r>
              <a:rPr sz="1000" spc="9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n]</a:t>
            </a:r>
            <a:r>
              <a:rPr sz="1000" spc="9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*</a:t>
            </a:r>
            <a:r>
              <a:rPr sz="1000" spc="1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n</a:t>
            </a:r>
            <a:r>
              <a:rPr sz="1000" spc="-29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create</a:t>
            </a:r>
            <a:r>
              <a:rPr sz="10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matrix!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Adjacency-</a:t>
            </a:r>
            <a:r>
              <a:rPr spc="-10" dirty="0"/>
              <a:t>matrix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47294" y="1223715"/>
            <a:ext cx="4979670" cy="823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undirected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graphs,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should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set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both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graph[i][j]</a:t>
            </a:r>
            <a:r>
              <a:rPr sz="1000" spc="-24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graph[j][i]</a:t>
            </a:r>
            <a:r>
              <a:rPr sz="1000" spc="-24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TRUE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if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there</a:t>
            </a:r>
            <a:r>
              <a:rPr sz="10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exist</a:t>
            </a:r>
            <a:r>
              <a:rPr sz="10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an</a:t>
            </a:r>
            <a:r>
              <a:rPr sz="10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edge</a:t>
            </a:r>
            <a:r>
              <a:rPr sz="10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between</a:t>
            </a:r>
            <a:r>
              <a:rPr sz="10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1000" spc="-22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0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It</a:t>
            </a:r>
            <a:r>
              <a:rPr sz="10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means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an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edge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mbria"/>
                <a:cs typeface="Cambria"/>
              </a:rPr>
              <a:t>(𝑢, </a:t>
            </a:r>
            <a:r>
              <a:rPr sz="1000" dirty="0">
                <a:solidFill>
                  <a:srgbClr val="22373A"/>
                </a:solidFill>
                <a:latin typeface="Cambria"/>
                <a:cs typeface="Cambria"/>
              </a:rPr>
              <a:t>𝑣)</a:t>
            </a:r>
            <a:r>
              <a:rPr sz="1000" spc="110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an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undirected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graph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be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treated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65" dirty="0">
                <a:solidFill>
                  <a:srgbClr val="22373A"/>
                </a:solidFill>
                <a:latin typeface="Calibri"/>
                <a:cs typeface="Calibri"/>
              </a:rPr>
              <a:t>as</a:t>
            </a:r>
            <a:r>
              <a:rPr sz="10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two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edges</a:t>
            </a:r>
            <a:r>
              <a:rPr sz="10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mbria"/>
                <a:cs typeface="Cambria"/>
              </a:rPr>
              <a:t>𝑢</a:t>
            </a:r>
            <a:r>
              <a:rPr sz="1000" spc="15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000" spc="190" dirty="0">
                <a:solidFill>
                  <a:srgbClr val="22373A"/>
                </a:solidFill>
                <a:latin typeface="Cambria"/>
                <a:cs typeface="Cambria"/>
              </a:rPr>
              <a:t>→</a:t>
            </a:r>
            <a:r>
              <a:rPr sz="1000" spc="12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22373A"/>
                </a:solidFill>
                <a:latin typeface="Cambria"/>
                <a:cs typeface="Cambria"/>
              </a:rPr>
              <a:t>𝑣</a:t>
            </a:r>
            <a:r>
              <a:rPr sz="1000" spc="175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000" spc="3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000" dirty="0">
                <a:solidFill>
                  <a:srgbClr val="22373A"/>
                </a:solidFill>
                <a:latin typeface="Cambria"/>
                <a:cs typeface="Cambria"/>
              </a:rPr>
              <a:t>𝑣</a:t>
            </a:r>
            <a:r>
              <a:rPr sz="1000" spc="170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000" spc="190" dirty="0">
                <a:solidFill>
                  <a:srgbClr val="22373A"/>
                </a:solidFill>
                <a:latin typeface="Cambria"/>
                <a:cs typeface="Cambria"/>
              </a:rPr>
              <a:t>→</a:t>
            </a:r>
            <a:r>
              <a:rPr sz="1000" spc="114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22373A"/>
                </a:solidFill>
                <a:latin typeface="Cambria"/>
                <a:cs typeface="Cambria"/>
              </a:rPr>
              <a:t>𝑢</a:t>
            </a:r>
            <a:r>
              <a:rPr sz="1000" spc="114" dirty="0">
                <a:solidFill>
                  <a:srgbClr val="22373A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directed</a:t>
            </a:r>
            <a:r>
              <a:rPr sz="10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graph.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76555"/>
          </a:xfrm>
          <a:custGeom>
            <a:avLst/>
            <a:gdLst/>
            <a:ahLst/>
            <a:cxnLst/>
            <a:rect l="l" t="t" r="r" b="b"/>
            <a:pathLst>
              <a:path w="5760085" h="376555">
                <a:moveTo>
                  <a:pt x="5759996" y="0"/>
                </a:moveTo>
                <a:lnTo>
                  <a:pt x="0" y="0"/>
                </a:lnTo>
                <a:lnTo>
                  <a:pt x="0" y="376186"/>
                </a:lnTo>
                <a:lnTo>
                  <a:pt x="5759996" y="376186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631" y="76349"/>
            <a:ext cx="100901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40" dirty="0">
                <a:solidFill>
                  <a:srgbClr val="F9F9F9"/>
                </a:solidFill>
                <a:latin typeface="Trebuchet MS" panose="020B0703020202020204"/>
                <a:cs typeface="Trebuchet MS" panose="020B0703020202020204"/>
              </a:rPr>
              <a:t>Adjacency-</a:t>
            </a:r>
            <a:r>
              <a:rPr sz="1200" b="1" spc="-20" dirty="0">
                <a:solidFill>
                  <a:srgbClr val="F9F9F9"/>
                </a:solidFill>
                <a:latin typeface="Trebuchet MS" panose="020B0703020202020204"/>
                <a:cs typeface="Trebuchet MS" panose="020B0703020202020204"/>
              </a:rPr>
              <a:t>list</a:t>
            </a:r>
            <a:endParaRPr sz="1200">
              <a:latin typeface="Trebuchet MS" panose="020B0703020202020204"/>
              <a:cs typeface="Trebuchet MS" panose="020B07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2529" y="1377957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144001" y="72000"/>
                </a:moveTo>
                <a:lnTo>
                  <a:pt x="138343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3"/>
                </a:lnTo>
                <a:lnTo>
                  <a:pt x="72000" y="144001"/>
                </a:lnTo>
                <a:lnTo>
                  <a:pt x="100027" y="138343"/>
                </a:lnTo>
                <a:lnTo>
                  <a:pt x="122913" y="122913"/>
                </a:lnTo>
                <a:lnTo>
                  <a:pt x="138343" y="100027"/>
                </a:lnTo>
                <a:lnTo>
                  <a:pt x="144001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04120" y="1395789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1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2533" y="1377957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2" y="72000"/>
                </a:moveTo>
                <a:lnTo>
                  <a:pt x="138344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3"/>
                </a:lnTo>
                <a:lnTo>
                  <a:pt x="72000" y="144001"/>
                </a:lnTo>
                <a:lnTo>
                  <a:pt x="100027" y="138343"/>
                </a:lnTo>
                <a:lnTo>
                  <a:pt x="122913" y="122913"/>
                </a:lnTo>
                <a:lnTo>
                  <a:pt x="138344" y="100027"/>
                </a:lnTo>
                <a:lnTo>
                  <a:pt x="144002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64127" y="1396170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2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92537" y="1557959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2" y="72001"/>
                </a:moveTo>
                <a:lnTo>
                  <a:pt x="138344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1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4" y="100027"/>
                </a:lnTo>
                <a:lnTo>
                  <a:pt x="144002" y="72001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34129" y="1575786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3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2533" y="1737962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2" y="72000"/>
                </a:moveTo>
                <a:lnTo>
                  <a:pt x="138344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4" y="100027"/>
                </a:lnTo>
                <a:lnTo>
                  <a:pt x="144002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64127" y="1756177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4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2529" y="1737962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144001" y="72000"/>
                </a:moveTo>
                <a:lnTo>
                  <a:pt x="138343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3" y="100027"/>
                </a:lnTo>
                <a:lnTo>
                  <a:pt x="144001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04120" y="1755415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5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4530" y="1449958"/>
            <a:ext cx="569595" cy="360045"/>
          </a:xfrm>
          <a:custGeom>
            <a:avLst/>
            <a:gdLst/>
            <a:ahLst/>
            <a:cxnLst/>
            <a:rect l="l" t="t" r="r" b="b"/>
            <a:pathLst>
              <a:path w="569594" h="360044">
                <a:moveTo>
                  <a:pt x="73266" y="0"/>
                </a:moveTo>
                <a:lnTo>
                  <a:pt x="286738" y="0"/>
                </a:lnTo>
              </a:path>
              <a:path w="569594" h="360044">
                <a:moveTo>
                  <a:pt x="0" y="73266"/>
                </a:moveTo>
                <a:lnTo>
                  <a:pt x="0" y="286737"/>
                </a:lnTo>
              </a:path>
              <a:path w="569594" h="360044">
                <a:moveTo>
                  <a:pt x="420963" y="40638"/>
                </a:moveTo>
                <a:lnTo>
                  <a:pt x="569049" y="139363"/>
                </a:lnTo>
              </a:path>
              <a:path w="569594" h="360044">
                <a:moveTo>
                  <a:pt x="360004" y="73266"/>
                </a:moveTo>
                <a:lnTo>
                  <a:pt x="360004" y="286737"/>
                </a:lnTo>
              </a:path>
              <a:path w="569594" h="360044">
                <a:moveTo>
                  <a:pt x="308197" y="51806"/>
                </a:moveTo>
                <a:lnTo>
                  <a:pt x="51807" y="308197"/>
                </a:lnTo>
              </a:path>
              <a:path w="569594" h="360044">
                <a:moveTo>
                  <a:pt x="569049" y="220640"/>
                </a:moveTo>
                <a:lnTo>
                  <a:pt x="420963" y="319365"/>
                </a:lnTo>
              </a:path>
              <a:path w="569594" h="360044">
                <a:moveTo>
                  <a:pt x="286738" y="360004"/>
                </a:moveTo>
                <a:lnTo>
                  <a:pt x="73266" y="360004"/>
                </a:lnTo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59891" y="1526164"/>
            <a:ext cx="1574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70" dirty="0">
                <a:solidFill>
                  <a:srgbClr val="22373A"/>
                </a:solidFill>
                <a:latin typeface="Cambria"/>
                <a:cs typeface="Cambria"/>
              </a:rPr>
              <a:t>⇒</a:t>
            </a:r>
            <a:endParaRPr sz="1000">
              <a:latin typeface="Cambria"/>
              <a:cs typeface="Cambria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335173" y="1169400"/>
          <a:ext cx="1139823" cy="918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585"/>
                <a:gridCol w="235585"/>
                <a:gridCol w="222885"/>
                <a:gridCol w="222884"/>
                <a:gridCol w="222884"/>
              </a:tblGrid>
              <a:tr h="181610">
                <a:tc>
                  <a:txBody>
                    <a:bodyPr/>
                    <a:lstStyle/>
                    <a:p>
                      <a:pPr marR="4445" algn="ctr">
                        <a:lnSpc>
                          <a:spcPts val="1185"/>
                        </a:lnSpc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1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85"/>
                        </a:lnSpc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85"/>
                        </a:lnSpc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 hMerge="1">
                  <a:tcPr marL="0" marR="0" marT="0" marB="0"/>
                </a:tc>
              </a:tr>
              <a:tr h="186690"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2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3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T w="6350">
                      <a:solidFill>
                        <a:srgbClr val="22373A"/>
                      </a:solidFill>
                      <a:prstDash val="solid"/>
                    </a:lnT>
                    <a:solidFill>
                      <a:srgbClr val="F9F9F9"/>
                    </a:solidFill>
                  </a:tcPr>
                </a:tc>
                <a:tc hMerge="1">
                  <a:tcPr marL="0" marR="0" marT="0" marB="0"/>
                </a:tc>
              </a:tr>
              <a:tr h="181610">
                <a:tc>
                  <a:txBody>
                    <a:bodyPr/>
                    <a:lstStyle/>
                    <a:p>
                      <a:pPr marR="4445" algn="ctr">
                        <a:lnSpc>
                          <a:spcPts val="1185"/>
                        </a:lnSpc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4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85"/>
                        </a:lnSpc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85"/>
                        </a:lnSpc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solidFill>
                      <a:srgbClr val="F9F9F9"/>
                    </a:solidFill>
                  </a:tcPr>
                </a:tc>
              </a:tr>
              <a:tr h="181610">
                <a:tc>
                  <a:txBody>
                    <a:bodyPr/>
                    <a:lstStyle/>
                    <a:p>
                      <a:pPr marR="4445" algn="ctr">
                        <a:lnSpc>
                          <a:spcPts val="1185"/>
                        </a:lnSpc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5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85"/>
                        </a:lnSpc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85"/>
                        </a:lnSpc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 vMerge="1"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2765547" y="1377957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1" y="72000"/>
                </a:moveTo>
                <a:lnTo>
                  <a:pt x="138343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3"/>
                </a:lnTo>
                <a:lnTo>
                  <a:pt x="72000" y="144001"/>
                </a:lnTo>
                <a:lnTo>
                  <a:pt x="100027" y="138343"/>
                </a:lnTo>
                <a:lnTo>
                  <a:pt x="122913" y="122913"/>
                </a:lnTo>
                <a:lnTo>
                  <a:pt x="138343" y="100027"/>
                </a:lnTo>
                <a:lnTo>
                  <a:pt x="144001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807138" y="1395789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1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25551" y="1377957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144002" y="72000"/>
                </a:moveTo>
                <a:lnTo>
                  <a:pt x="138344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3"/>
                </a:lnTo>
                <a:lnTo>
                  <a:pt x="72000" y="144001"/>
                </a:lnTo>
                <a:lnTo>
                  <a:pt x="100027" y="138343"/>
                </a:lnTo>
                <a:lnTo>
                  <a:pt x="122913" y="122913"/>
                </a:lnTo>
                <a:lnTo>
                  <a:pt x="138344" y="100027"/>
                </a:lnTo>
                <a:lnTo>
                  <a:pt x="144002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167145" y="1396170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2</a:t>
            </a:r>
            <a:endParaRPr sz="500">
              <a:latin typeface="Cambria"/>
              <a:cs typeface="Cambri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483025" y="1375427"/>
            <a:ext cx="149063" cy="14906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527139" y="1395789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3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65547" y="1737962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4" h="144144">
                <a:moveTo>
                  <a:pt x="144001" y="72000"/>
                </a:moveTo>
                <a:lnTo>
                  <a:pt x="138343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3" y="100027"/>
                </a:lnTo>
                <a:lnTo>
                  <a:pt x="144001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807138" y="1756177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4</a:t>
            </a:r>
            <a:endParaRPr sz="500">
              <a:latin typeface="Cambria"/>
              <a:cs typeface="Cambr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125551" y="1737962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144002" y="72000"/>
                </a:moveTo>
                <a:lnTo>
                  <a:pt x="138344" y="43974"/>
                </a:lnTo>
                <a:lnTo>
                  <a:pt x="122913" y="21088"/>
                </a:lnTo>
                <a:lnTo>
                  <a:pt x="100027" y="5658"/>
                </a:lnTo>
                <a:lnTo>
                  <a:pt x="72000" y="0"/>
                </a:lnTo>
                <a:lnTo>
                  <a:pt x="43974" y="5658"/>
                </a:lnTo>
                <a:lnTo>
                  <a:pt x="21088" y="21088"/>
                </a:lnTo>
                <a:lnTo>
                  <a:pt x="5658" y="43974"/>
                </a:lnTo>
                <a:lnTo>
                  <a:pt x="0" y="72000"/>
                </a:lnTo>
                <a:lnTo>
                  <a:pt x="5658" y="100027"/>
                </a:lnTo>
                <a:lnTo>
                  <a:pt x="21088" y="122913"/>
                </a:lnTo>
                <a:lnTo>
                  <a:pt x="43974" y="138344"/>
                </a:lnTo>
                <a:lnTo>
                  <a:pt x="72000" y="144002"/>
                </a:lnTo>
                <a:lnTo>
                  <a:pt x="100027" y="138344"/>
                </a:lnTo>
                <a:lnTo>
                  <a:pt x="122913" y="122913"/>
                </a:lnTo>
                <a:lnTo>
                  <a:pt x="138344" y="100027"/>
                </a:lnTo>
                <a:lnTo>
                  <a:pt x="144002" y="72000"/>
                </a:lnTo>
                <a:close/>
              </a:path>
            </a:pathLst>
          </a:custGeom>
          <a:ln w="5060">
            <a:solidFill>
              <a:srgbClr val="2237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167145" y="1755415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5</a:t>
            </a:r>
            <a:endParaRPr sz="500">
              <a:latin typeface="Cambria"/>
              <a:cs typeface="Cambri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3025" y="1735431"/>
            <a:ext cx="149063" cy="149063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3527139" y="1755796"/>
            <a:ext cx="609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22373A"/>
                </a:solidFill>
                <a:latin typeface="Cambria"/>
                <a:cs typeface="Cambria"/>
              </a:rPr>
              <a:t>6</a:t>
            </a:r>
            <a:endParaRPr sz="500">
              <a:latin typeface="Cambria"/>
              <a:cs typeface="Cambri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815280" y="1427690"/>
            <a:ext cx="764540" cy="405130"/>
            <a:chOff x="2815280" y="1427690"/>
            <a:chExt cx="764540" cy="405130"/>
          </a:xfrm>
        </p:grpSpPr>
        <p:sp>
          <p:nvSpPr>
            <p:cNvPr id="30" name="object 30"/>
            <p:cNvSpPr/>
            <p:nvPr/>
          </p:nvSpPr>
          <p:spPr>
            <a:xfrm>
              <a:off x="2910814" y="1449958"/>
              <a:ext cx="208279" cy="0"/>
            </a:xfrm>
            <a:custGeom>
              <a:avLst/>
              <a:gdLst/>
              <a:ahLst/>
              <a:cxnLst/>
              <a:rect l="l" t="t" r="r" b="b"/>
              <a:pathLst>
                <a:path w="208280">
                  <a:moveTo>
                    <a:pt x="0" y="0"/>
                  </a:moveTo>
                  <a:lnTo>
                    <a:pt x="207651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103283" y="1429714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837548" y="1523225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651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817304" y="1715693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197552" y="1523225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651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177308" y="1715693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253475" y="1501765"/>
              <a:ext cx="252729" cy="252729"/>
            </a:xfrm>
            <a:custGeom>
              <a:avLst/>
              <a:gdLst/>
              <a:ahLst/>
              <a:cxnLst/>
              <a:rect l="l" t="t" r="r" b="b"/>
              <a:pathLst>
                <a:path w="252729" h="252730">
                  <a:moveTo>
                    <a:pt x="252274" y="0"/>
                  </a:moveTo>
                  <a:lnTo>
                    <a:pt x="0" y="252274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249896" y="1728990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10">
                  <a:moveTo>
                    <a:pt x="28628" y="28628"/>
                  </a:moveTo>
                  <a:lnTo>
                    <a:pt x="22156" y="26350"/>
                  </a:lnTo>
                  <a:lnTo>
                    <a:pt x="13755" y="25833"/>
                  </a:lnTo>
                  <a:lnTo>
                    <a:pt x="5857" y="26490"/>
                  </a:lnTo>
                  <a:lnTo>
                    <a:pt x="894" y="27734"/>
                  </a:lnTo>
                  <a:lnTo>
                    <a:pt x="2138" y="22771"/>
                  </a:lnTo>
                  <a:lnTo>
                    <a:pt x="2795" y="14873"/>
                  </a:lnTo>
                  <a:lnTo>
                    <a:pt x="2278" y="6472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557557" y="1523225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0"/>
                  </a:moveTo>
                  <a:lnTo>
                    <a:pt x="0" y="207651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537313" y="1715693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889355" y="1505881"/>
              <a:ext cx="252729" cy="252729"/>
            </a:xfrm>
            <a:custGeom>
              <a:avLst/>
              <a:gdLst/>
              <a:ahLst/>
              <a:cxnLst/>
              <a:rect l="l" t="t" r="r" b="b"/>
              <a:pathLst>
                <a:path w="252730" h="252730">
                  <a:moveTo>
                    <a:pt x="0" y="252274"/>
                  </a:moveTo>
                  <a:lnTo>
                    <a:pt x="252274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116579" y="1502302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09">
                  <a:moveTo>
                    <a:pt x="0" y="0"/>
                  </a:moveTo>
                  <a:lnTo>
                    <a:pt x="6472" y="2278"/>
                  </a:lnTo>
                  <a:lnTo>
                    <a:pt x="14873" y="2795"/>
                  </a:lnTo>
                  <a:lnTo>
                    <a:pt x="22771" y="2138"/>
                  </a:lnTo>
                  <a:lnTo>
                    <a:pt x="27734" y="894"/>
                  </a:lnTo>
                  <a:lnTo>
                    <a:pt x="26490" y="5857"/>
                  </a:lnTo>
                  <a:lnTo>
                    <a:pt x="25833" y="13755"/>
                  </a:lnTo>
                  <a:lnTo>
                    <a:pt x="26350" y="22156"/>
                  </a:lnTo>
                  <a:lnTo>
                    <a:pt x="28628" y="28628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916634" y="1809963"/>
              <a:ext cx="208279" cy="0"/>
            </a:xfrm>
            <a:custGeom>
              <a:avLst/>
              <a:gdLst/>
              <a:ahLst/>
              <a:cxnLst/>
              <a:rect l="l" t="t" r="r" b="b"/>
              <a:pathLst>
                <a:path w="208280">
                  <a:moveTo>
                    <a:pt x="207651" y="0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912839" y="1789719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18978" y="40487"/>
                  </a:moveTo>
                  <a:lnTo>
                    <a:pt x="16013" y="34300"/>
                  </a:lnTo>
                  <a:lnTo>
                    <a:pt x="10438" y="27993"/>
                  </a:lnTo>
                  <a:lnTo>
                    <a:pt x="4388" y="22873"/>
                  </a:lnTo>
                  <a:lnTo>
                    <a:pt x="0" y="20243"/>
                  </a:lnTo>
                  <a:lnTo>
                    <a:pt x="4388" y="17614"/>
                  </a:lnTo>
                  <a:lnTo>
                    <a:pt x="10438" y="12494"/>
                  </a:lnTo>
                  <a:lnTo>
                    <a:pt x="16013" y="6187"/>
                  </a:lnTo>
                  <a:lnTo>
                    <a:pt x="18978" y="0"/>
                  </a:lnTo>
                </a:path>
              </a:pathLst>
            </a:custGeom>
            <a:ln w="4048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3652913" y="1526164"/>
            <a:ext cx="1574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70" dirty="0">
                <a:solidFill>
                  <a:srgbClr val="22373A"/>
                </a:solidFill>
                <a:latin typeface="Cambria"/>
                <a:cs typeface="Cambria"/>
              </a:rPr>
              <a:t>⇒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3828195" y="1073248"/>
          <a:ext cx="694055" cy="1109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585"/>
                <a:gridCol w="235585"/>
                <a:gridCol w="222885"/>
              </a:tblGrid>
              <a:tr h="186690"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1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2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3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6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4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T w="6350">
                      <a:solidFill>
                        <a:srgbClr val="22373A"/>
                      </a:solidFill>
                      <a:prstDash val="solid"/>
                    </a:lnT>
                    <a:solidFill>
                      <a:srgbClr val="F9F9F9"/>
                    </a:solidFill>
                  </a:tcPr>
                </a:tc>
              </a:tr>
              <a:tr h="181610">
                <a:tc>
                  <a:txBody>
                    <a:bodyPr/>
                    <a:lstStyle/>
                    <a:p>
                      <a:pPr marR="4445" algn="ctr">
                        <a:lnSpc>
                          <a:spcPts val="1185"/>
                        </a:lnSpc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5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85"/>
                        </a:lnSpc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 vMerge="1"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T w="6350">
                      <a:solidFill>
                        <a:srgbClr val="22373A"/>
                      </a:solidFill>
                      <a:prstDash val="solid"/>
                    </a:lnT>
                    <a:solidFill>
                      <a:srgbClr val="F9F9F9"/>
                    </a:solidFill>
                  </a:tcPr>
                </a:tc>
              </a:tr>
              <a:tr h="181610">
                <a:tc>
                  <a:txBody>
                    <a:bodyPr/>
                    <a:lstStyle/>
                    <a:p>
                      <a:pPr marR="4445" algn="ctr">
                        <a:lnSpc>
                          <a:spcPts val="1185"/>
                        </a:lnSpc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Arial" panose="020B0604020202090204"/>
                          <a:cs typeface="Arial" panose="020B0604020202090204"/>
                        </a:rPr>
                        <a:t>6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R w="6350">
                      <a:solidFill>
                        <a:srgbClr val="22373A"/>
                      </a:solidFill>
                      <a:prstDash val="solid"/>
                    </a:lnR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22373A"/>
                      </a:solidFill>
                      <a:prstDash val="solid"/>
                    </a:lnL>
                    <a:lnT w="6350" cap="flat" cmpd="sng" algn="ctr">
                      <a:solidFill>
                        <a:srgbClr val="22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F9F9"/>
                    </a:solidFill>
                  </a:tcPr>
                </a:tc>
                <a:tc hMerge="1"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Adjacency-</a:t>
            </a:r>
            <a:r>
              <a:rPr spc="-20" dirty="0"/>
              <a:t>list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47294" y="1037264"/>
            <a:ext cx="5066030" cy="1226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theory,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each</a:t>
            </a:r>
            <a:r>
              <a:rPr sz="10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node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associated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with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linked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list</a:t>
            </a:r>
            <a:r>
              <a:rPr sz="10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that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stores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all</a:t>
            </a:r>
            <a:r>
              <a:rPr sz="10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out-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neighbors.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20000"/>
              </a:lnSpc>
              <a:spcBef>
                <a:spcPts val="545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practice,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do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not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need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use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linked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list.</a:t>
            </a:r>
            <a:r>
              <a:rPr sz="1000" spc="2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use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some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data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structure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65" dirty="0">
                <a:solidFill>
                  <a:srgbClr val="22373A"/>
                </a:solidFill>
                <a:latin typeface="Calibri"/>
                <a:cs typeface="Calibri"/>
              </a:rPr>
              <a:t>as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long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40" dirty="0">
                <a:solidFill>
                  <a:srgbClr val="22373A"/>
                </a:solidFill>
                <a:latin typeface="Calibri"/>
                <a:cs typeface="Calibri"/>
              </a:rPr>
              <a:t>as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sz="10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ensure</a:t>
            </a:r>
            <a:r>
              <a:rPr sz="10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that</a:t>
            </a:r>
            <a:r>
              <a:rPr sz="10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time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complexity</a:t>
            </a:r>
            <a:r>
              <a:rPr sz="10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adding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elements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this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data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structure</a:t>
            </a:r>
            <a:r>
              <a:rPr sz="10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mbria"/>
                <a:cs typeface="Cambria"/>
              </a:rPr>
              <a:t>𝑂(1)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r>
              <a:rPr sz="1000" spc="2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We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use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dynamic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array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or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linked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list.</a:t>
            </a:r>
            <a:r>
              <a:rPr sz="1000" spc="3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practice,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due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property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cache,</a:t>
            </a:r>
            <a:r>
              <a:rPr sz="10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dynamic</a:t>
            </a:r>
            <a:r>
              <a:rPr sz="10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array</a:t>
            </a:r>
            <a:r>
              <a:rPr sz="10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000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faster.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std::vector</a:t>
            </a:r>
            <a:r>
              <a:rPr sz="1000" spc="-254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Calibri"/>
                <a:cs typeface="Calibri"/>
              </a:rPr>
              <a:t>C++,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ArrayList</a:t>
            </a:r>
            <a:r>
              <a:rPr sz="1000" spc="-2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Java,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list</a:t>
            </a:r>
            <a:r>
              <a:rPr sz="1000" spc="-2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Python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are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all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dynamic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arrays.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Adjacency-</a:t>
            </a:r>
            <a:r>
              <a:rPr spc="-20" dirty="0"/>
              <a:t>list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47294" y="450816"/>
            <a:ext cx="4034154" cy="2340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Calibri"/>
                <a:cs typeface="Calibri"/>
              </a:rPr>
              <a:t>C++,</a:t>
            </a:r>
            <a:r>
              <a:rPr sz="10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sz="10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0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use</a:t>
            </a:r>
            <a:r>
              <a:rPr sz="10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new</a:t>
            </a:r>
            <a:r>
              <a:rPr sz="1000" spc="-27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create</a:t>
            </a:r>
            <a:r>
              <a:rPr sz="10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it.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955"/>
              </a:lnSpc>
              <a:spcBef>
                <a:spcPts val="890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initialize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std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vector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&lt;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std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spc="-1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size_t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&gt;</a:t>
            </a:r>
            <a:r>
              <a:rPr sz="800" spc="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*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</a:t>
            </a:r>
            <a:r>
              <a:rPr sz="800" spc="1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1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new</a:t>
            </a:r>
            <a:r>
              <a:rPr sz="800" spc="1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std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vector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&lt;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std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spc="-1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size_t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&gt;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[n];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  <a:spcBef>
                <a:spcPts val="935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set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 marR="1280160" indent="-243205">
              <a:lnSpc>
                <a:spcPts val="950"/>
              </a:lnSpc>
              <a:spcBef>
                <a:spcPts val="35"/>
              </a:spcBef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if</a:t>
            </a:r>
            <a:r>
              <a:rPr sz="80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/*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there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exists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en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edge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from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*/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)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graph[i].push_back(j);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25"/>
              </a:lnSpc>
            </a:pPr>
            <a:r>
              <a:rPr sz="80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  <a:spcBef>
                <a:spcPts val="935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get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(std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size_t</a:t>
            </a:r>
            <a:r>
              <a:rPr sz="800" spc="-2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0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;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!=</a:t>
            </a:r>
            <a:r>
              <a:rPr sz="80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n;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++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i)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>
              <a:lnSpc>
                <a:spcPts val="950"/>
              </a:lnSpc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spc="-3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(std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size_t</a:t>
            </a:r>
            <a:r>
              <a:rPr sz="800" spc="-3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spc="-3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</a:t>
            </a:r>
            <a:r>
              <a:rPr sz="800" spc="-3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graph[i])</a:t>
            </a:r>
            <a:r>
              <a:rPr sz="800" spc="-3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50"/>
              </a:lnSpc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/*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there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exists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en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edge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from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*/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>
              <a:lnSpc>
                <a:spcPts val="950"/>
              </a:lnSpc>
            </a:pPr>
            <a:r>
              <a:rPr sz="80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  <a:spcBef>
                <a:spcPts val="930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finalize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delete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[]</a:t>
            </a:r>
            <a:r>
              <a:rPr sz="800" spc="-4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graph;</a:t>
            </a:r>
            <a:endParaRPr sz="8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Adjacency-</a:t>
            </a:r>
            <a:r>
              <a:rPr spc="-20" dirty="0"/>
              <a:t>list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47294" y="602594"/>
            <a:ext cx="3242945" cy="2006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Calibri"/>
                <a:cs typeface="Calibri"/>
              </a:rPr>
              <a:t>C++,</a:t>
            </a:r>
            <a:r>
              <a:rPr sz="10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sz="10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000" spc="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also</a:t>
            </a:r>
            <a:r>
              <a:rPr sz="10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use</a:t>
            </a:r>
            <a:r>
              <a:rPr sz="10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std::vector</a:t>
            </a:r>
            <a:r>
              <a:rPr sz="1000" spc="-28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spc="65" dirty="0">
                <a:solidFill>
                  <a:srgbClr val="22373A"/>
                </a:solidFill>
                <a:latin typeface="Calibri"/>
                <a:cs typeface="Calibri"/>
              </a:rPr>
              <a:t>as</a:t>
            </a:r>
            <a:r>
              <a:rPr sz="10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outer</a:t>
            </a:r>
            <a:r>
              <a:rPr sz="10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layer.</a:t>
            </a:r>
            <a:endParaRPr sz="1000">
              <a:latin typeface="Calibri"/>
              <a:cs typeface="Calibri"/>
            </a:endParaRPr>
          </a:p>
          <a:p>
            <a:pPr marL="12700" marR="367665">
              <a:lnSpc>
                <a:spcPct val="100000"/>
              </a:lnSpc>
              <a:spcBef>
                <a:spcPts val="1090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initialize 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std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vector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&lt;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std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vector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&lt;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std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spc="-1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size_t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&gt;&gt;</a:t>
            </a:r>
            <a:r>
              <a:rPr sz="800" spc="18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graph(n);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  <a:spcBef>
                <a:spcPts val="925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set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 marR="488950" indent="-243205">
              <a:lnSpc>
                <a:spcPts val="950"/>
              </a:lnSpc>
              <a:spcBef>
                <a:spcPts val="35"/>
              </a:spcBef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if</a:t>
            </a:r>
            <a:r>
              <a:rPr sz="80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/*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there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exists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en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edge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from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*/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)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graph[i].push_back(j);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25"/>
              </a:lnSpc>
            </a:pPr>
            <a:r>
              <a:rPr sz="80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  <a:spcBef>
                <a:spcPts val="935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get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(std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size_t</a:t>
            </a:r>
            <a:r>
              <a:rPr sz="800" spc="-2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0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;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!=</a:t>
            </a:r>
            <a:r>
              <a:rPr sz="800" spc="-2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n;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++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i)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>
              <a:lnSpc>
                <a:spcPts val="950"/>
              </a:lnSpc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spc="-3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(std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::</a:t>
            </a:r>
            <a:r>
              <a:rPr sz="80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size_t</a:t>
            </a:r>
            <a:r>
              <a:rPr sz="800" spc="-3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spc="-3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:</a:t>
            </a:r>
            <a:r>
              <a:rPr sz="800" spc="-3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graph[i])</a:t>
            </a:r>
            <a:r>
              <a:rPr sz="800" spc="-3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50"/>
              </a:lnSpc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/*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there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exists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en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edge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from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*/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>
              <a:lnSpc>
                <a:spcPts val="950"/>
              </a:lnSpc>
            </a:pPr>
            <a:r>
              <a:rPr sz="80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8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Adjacency-</a:t>
            </a:r>
            <a:r>
              <a:rPr spc="-20" dirty="0"/>
              <a:t>list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47294" y="450816"/>
            <a:ext cx="3851910" cy="2462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Java,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use</a:t>
            </a:r>
            <a:r>
              <a:rPr sz="1000" spc="11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new</a:t>
            </a:r>
            <a:r>
              <a:rPr sz="1000" spc="-254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create</a:t>
            </a:r>
            <a:r>
              <a:rPr sz="1000" spc="1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it.</a:t>
            </a:r>
            <a:endParaRPr sz="1000" dirty="0">
              <a:latin typeface="Calibri"/>
              <a:cs typeface="Calibri"/>
            </a:endParaRPr>
          </a:p>
          <a:p>
            <a:pPr marR="3089275" algn="ctr">
              <a:lnSpc>
                <a:spcPts val="955"/>
              </a:lnSpc>
              <a:spcBef>
                <a:spcPts val="890"/>
              </a:spcBef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class</a:t>
            </a:r>
            <a:r>
              <a:rPr sz="800" spc="-3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Test</a:t>
            </a:r>
            <a:r>
              <a:rPr sz="800" spc="-2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R="2117725" algn="ctr">
              <a:lnSpc>
                <a:spcPts val="950"/>
              </a:lnSpc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public</a:t>
            </a:r>
            <a:r>
              <a:rPr sz="800" spc="-3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void</a:t>
            </a:r>
            <a:r>
              <a:rPr sz="800" spc="-3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test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()</a:t>
            </a:r>
            <a:r>
              <a:rPr sz="800" spc="-3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R="2056765" algn="ctr">
              <a:lnSpc>
                <a:spcPts val="945"/>
              </a:lnSpc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initialize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485775" algn="ctr">
              <a:lnSpc>
                <a:spcPts val="955"/>
              </a:lnSpc>
            </a:pP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ArrayList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&lt;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Integer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&gt;[]</a:t>
            </a:r>
            <a:r>
              <a:rPr sz="800" spc="-4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</a:t>
            </a:r>
            <a:r>
              <a:rPr sz="800" spc="-4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-4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new</a:t>
            </a:r>
            <a:r>
              <a:rPr sz="800" spc="-4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ArrayList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&lt;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Integer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&gt;[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n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]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;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55"/>
              </a:lnSpc>
              <a:spcBef>
                <a:spcPts val="935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set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741045" marR="612140" indent="-243205">
              <a:lnSpc>
                <a:spcPts val="950"/>
              </a:lnSpc>
              <a:spcBef>
                <a:spcPts val="35"/>
              </a:spcBef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if</a:t>
            </a:r>
            <a:r>
              <a:rPr sz="80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/*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there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exists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en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edge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from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*/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)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[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]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.</a:t>
            </a:r>
            <a:r>
              <a:rPr sz="800" spc="-10" dirty="0">
                <a:solidFill>
                  <a:srgbClr val="687721"/>
                </a:solidFill>
                <a:latin typeface="Courier New" panose="02070309020205020404"/>
                <a:cs typeface="Courier New" panose="02070309020205020404"/>
              </a:rPr>
              <a:t>add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(j);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25"/>
              </a:lnSpc>
            </a:pPr>
            <a:r>
              <a:rPr sz="80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55"/>
              </a:lnSpc>
              <a:spcBef>
                <a:spcPts val="935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get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55"/>
              </a:lnSpc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spc="-2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</a:t>
            </a:r>
            <a:r>
              <a:rPr sz="80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int</a:t>
            </a:r>
            <a:r>
              <a:rPr sz="800" spc="-15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1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-1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0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;</a:t>
            </a:r>
            <a:r>
              <a:rPr sz="800" spc="-1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1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&lt;</a:t>
            </a:r>
            <a:r>
              <a:rPr sz="800" spc="-1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n;</a:t>
            </a:r>
            <a:r>
              <a:rPr sz="800" spc="-1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++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i)</a:t>
            </a:r>
            <a:r>
              <a:rPr sz="800" spc="-1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741045">
              <a:lnSpc>
                <a:spcPts val="950"/>
              </a:lnSpc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spc="-2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</a:t>
            </a:r>
            <a:r>
              <a:rPr sz="80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int</a:t>
            </a:r>
            <a:r>
              <a:rPr sz="800" spc="-20" dirty="0">
                <a:solidFill>
                  <a:srgbClr val="AF003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spc="-2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: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[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]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)</a:t>
            </a:r>
            <a:r>
              <a:rPr sz="800" spc="-2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984250">
              <a:lnSpc>
                <a:spcPts val="950"/>
              </a:lnSpc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/*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there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exists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en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edge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from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800" spc="-2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spc="-1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*/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741045">
              <a:lnSpc>
                <a:spcPts val="950"/>
              </a:lnSpc>
            </a:pPr>
            <a:r>
              <a:rPr sz="80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50"/>
              </a:lnSpc>
            </a:pPr>
            <a:r>
              <a:rPr sz="80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255270">
              <a:lnSpc>
                <a:spcPts val="950"/>
              </a:lnSpc>
            </a:pPr>
            <a:r>
              <a:rPr sz="80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800" dirty="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800" dirty="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Adjacency-</a:t>
            </a:r>
            <a:r>
              <a:rPr spc="-20" dirty="0"/>
              <a:t>list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68300" y="801052"/>
            <a:ext cx="2880360" cy="1642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Python,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can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use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list</a:t>
            </a:r>
            <a:r>
              <a:rPr sz="1000" spc="-24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to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create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it.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955"/>
              </a:lnSpc>
              <a:spcBef>
                <a:spcPts val="1090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#</a:t>
            </a:r>
            <a:r>
              <a:rPr sz="800" spc="-1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initialize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</a:pP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800" spc="-15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[[]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spc="-1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_</a:t>
            </a:r>
            <a:r>
              <a:rPr sz="800" spc="-1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AA21FF"/>
                </a:solidFill>
                <a:latin typeface="Courier New" panose="02070309020205020404"/>
                <a:cs typeface="Courier New" panose="02070309020205020404"/>
              </a:rPr>
              <a:t>in</a:t>
            </a:r>
            <a:r>
              <a:rPr sz="800" spc="-20" dirty="0">
                <a:solidFill>
                  <a:srgbClr val="AA21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range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(n)]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  <a:spcBef>
                <a:spcPts val="930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#</a:t>
            </a:r>
            <a:r>
              <a:rPr sz="800" spc="-1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set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 marR="247650" indent="-243205">
              <a:lnSpc>
                <a:spcPts val="950"/>
              </a:lnSpc>
              <a:spcBef>
                <a:spcPts val="35"/>
              </a:spcBef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if</a:t>
            </a:r>
            <a:r>
              <a:rPr sz="800" spc="-2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'''there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exists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en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edge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from</a:t>
            </a:r>
            <a:r>
              <a:rPr sz="800" spc="-25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'''</a:t>
            </a:r>
            <a:r>
              <a:rPr sz="800" spc="-2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: 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graph[i]</a:t>
            </a:r>
            <a:r>
              <a:rPr sz="800" spc="-10" dirty="0">
                <a:solidFill>
                  <a:srgbClr val="666666"/>
                </a:solidFill>
                <a:latin typeface="Courier New" panose="02070309020205020404"/>
                <a:cs typeface="Courier New" panose="02070309020205020404"/>
              </a:rPr>
              <a:t>.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append(j)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5"/>
              </a:lnSpc>
              <a:spcBef>
                <a:spcPts val="905"/>
              </a:spcBef>
            </a:pPr>
            <a:r>
              <a:rPr sz="80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#</a:t>
            </a:r>
            <a:r>
              <a:rPr sz="800" spc="-10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5" dirty="0">
                <a:solidFill>
                  <a:srgbClr val="3D7A7A"/>
                </a:solidFill>
                <a:latin typeface="Courier New" panose="02070309020205020404"/>
                <a:cs typeface="Courier New" panose="02070309020205020404"/>
              </a:rPr>
              <a:t>get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950"/>
              </a:lnSpc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spc="-1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1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AA21FF"/>
                </a:solidFill>
                <a:latin typeface="Courier New" panose="02070309020205020404"/>
                <a:cs typeface="Courier New" panose="02070309020205020404"/>
              </a:rPr>
              <a:t>in</a:t>
            </a:r>
            <a:r>
              <a:rPr sz="800" spc="-15" dirty="0">
                <a:solidFill>
                  <a:srgbClr val="AA21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range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(n):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255270">
              <a:lnSpc>
                <a:spcPts val="945"/>
              </a:lnSpc>
            </a:pPr>
            <a:r>
              <a:rPr sz="80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for</a:t>
            </a:r>
            <a:r>
              <a:rPr sz="800" spc="-15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spc="-1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AA21FF"/>
                </a:solidFill>
                <a:latin typeface="Courier New" panose="02070309020205020404"/>
                <a:cs typeface="Courier New" panose="02070309020205020404"/>
              </a:rPr>
              <a:t>in</a:t>
            </a:r>
            <a:r>
              <a:rPr sz="800" spc="-15" dirty="0">
                <a:solidFill>
                  <a:srgbClr val="AA21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graph[i]:</a:t>
            </a:r>
            <a:endParaRPr sz="800">
              <a:latin typeface="Courier New" panose="02070309020205020404"/>
              <a:cs typeface="Courier New" panose="02070309020205020404"/>
            </a:endParaRPr>
          </a:p>
          <a:p>
            <a:pPr marL="498475">
              <a:lnSpc>
                <a:spcPts val="955"/>
              </a:lnSpc>
            </a:pP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'''there</a:t>
            </a:r>
            <a:r>
              <a:rPr sz="800" spc="-25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exists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en</a:t>
            </a:r>
            <a:r>
              <a:rPr sz="800" spc="-25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edge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from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800" spc="-25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800" spc="-20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800" spc="-25" dirty="0">
                <a:solidFill>
                  <a:srgbClr val="BA2121"/>
                </a:solidFill>
                <a:latin typeface="Courier New" panose="02070309020205020404"/>
                <a:cs typeface="Courier New" panose="02070309020205020404"/>
              </a:rPr>
              <a:t>'''</a:t>
            </a:r>
            <a:endParaRPr sz="8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Adjacency-</a:t>
            </a:r>
            <a:r>
              <a:rPr spc="-20" dirty="0"/>
              <a:t>list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47294" y="1440567"/>
            <a:ext cx="5066030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undirected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graphs,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we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should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insert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both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1000" spc="-23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graph[j]</a:t>
            </a:r>
            <a:r>
              <a:rPr sz="1000" spc="-23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1000" spc="-23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graph[i]</a:t>
            </a:r>
            <a:r>
              <a:rPr sz="1000" spc="-23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if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there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exist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an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edge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between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sz="1000" spc="-23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j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631" y="76349"/>
            <a:ext cx="1241425" cy="184666"/>
          </a:xfrm>
        </p:spPr>
        <p:txBody>
          <a:bodyPr/>
          <a:lstStyle/>
          <a:p>
            <a:r>
              <a:rPr lang="en-US" altLang="zh-CN" dirty="0"/>
              <a:t>DFS/BFS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7294" y="746321"/>
            <a:ext cx="5071211" cy="307777"/>
          </a:xfrm>
        </p:spPr>
        <p:txBody>
          <a:bodyPr/>
          <a:lstStyle/>
          <a:p>
            <a:r>
              <a:rPr lang="en-US" altLang="zh-CN" dirty="0"/>
              <a:t>Given a directed graph with n vertices and m edges. For each vertex u, please find out the vertex with the largest label that can be </a:t>
            </a:r>
            <a:r>
              <a:rPr lang="en-US" altLang="zh-CN"/>
              <a:t>reached from u. 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631" y="76349"/>
            <a:ext cx="1241425" cy="184666"/>
          </a:xfrm>
        </p:spPr>
        <p:txBody>
          <a:bodyPr/>
          <a:lstStyle/>
          <a:p>
            <a:r>
              <a:rPr lang="en-US" altLang="zh-CN" dirty="0"/>
              <a:t>Naïve Algorithm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7294" y="746321"/>
            <a:ext cx="5071211" cy="307777"/>
          </a:xfrm>
        </p:spPr>
        <p:txBody>
          <a:bodyPr/>
          <a:lstStyle/>
          <a:p>
            <a:r>
              <a:rPr lang="en-US" altLang="zh-CN" dirty="0"/>
              <a:t>Use BFS/DFS to traversal the graph and find the vertex with maximum label can be reached.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631" y="76349"/>
            <a:ext cx="4512869" cy="369332"/>
          </a:xfrm>
        </p:spPr>
        <p:txBody>
          <a:bodyPr/>
          <a:lstStyle/>
          <a:p>
            <a:r>
              <a:rPr lang="en-US" altLang="zh-CN" dirty="0"/>
              <a:t>DFS implementation in Java(Recursive, Adjacency List)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92100" y="445681"/>
            <a:ext cx="4876799" cy="1760095"/>
          </a:xfrm>
        </p:spPr>
        <p:txBody>
          <a:bodyPr/>
          <a:lstStyle/>
          <a:p>
            <a:pPr marR="3089275" algn="l">
              <a:lnSpc>
                <a:spcPts val="955"/>
              </a:lnSpc>
              <a:spcBef>
                <a:spcPts val="890"/>
              </a:spcBef>
            </a:pPr>
            <a:r>
              <a:rPr lang="en-US" altLang="zh-CN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class</a:t>
            </a:r>
            <a:r>
              <a:rPr lang="en-US" altLang="zh-CN" b="0" spc="-3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b="0" spc="-3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Main</a:t>
            </a:r>
            <a:r>
              <a:rPr lang="en-US" altLang="zh-CN" b="0" spc="-2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lang="en-US" altLang="zh-CN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3089275" algn="l">
              <a:lnSpc>
                <a:spcPts val="955"/>
              </a:lnSpc>
              <a:spcBef>
                <a:spcPts val="890"/>
              </a:spcBef>
            </a:pPr>
            <a:r>
              <a:rPr lang="en-US" altLang="zh-CN" b="0" spc="-50" dirty="0">
                <a:latin typeface="Courier New" panose="02070309020205020404"/>
                <a:cs typeface="Courier New" panose="02070309020205020404"/>
              </a:rPr>
              <a:t>...</a:t>
            </a:r>
            <a:endParaRPr lang="en-US" altLang="zh-CN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3089275" algn="l">
              <a:lnSpc>
                <a:spcPts val="955"/>
              </a:lnSpc>
              <a:spcBef>
                <a:spcPts val="890"/>
              </a:spcBef>
            </a:pPr>
            <a:r>
              <a:rPr lang="en-US" altLang="zh-CN" b="0" spc="-50" dirty="0">
                <a:latin typeface="Courier New" panose="02070309020205020404"/>
                <a:cs typeface="Courier New" panose="02070309020205020404"/>
              </a:rPr>
              <a:t>private boolean[] visited;</a:t>
            </a:r>
            <a:endParaRPr lang="en-US" altLang="zh-CN" b="0" dirty="0">
              <a:latin typeface="Courier New" panose="02070309020205020404"/>
              <a:cs typeface="Courier New" panose="02070309020205020404"/>
            </a:endParaRPr>
          </a:p>
          <a:p>
            <a:pPr marR="2117725" algn="l">
              <a:lnSpc>
                <a:spcPts val="950"/>
              </a:lnSpc>
            </a:pPr>
            <a:r>
              <a:rPr lang="en-US" altLang="zh-CN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lang="en-US" altLang="zh-CN" b="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DFS</a:t>
            </a:r>
            <a:r>
              <a:rPr lang="en-US" altLang="zh-CN" b="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(int v)</a:t>
            </a:r>
            <a:r>
              <a:rPr lang="en-US" altLang="zh-CN" b="0" spc="-3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 </a:t>
            </a:r>
            <a:endParaRPr lang="en-US" altLang="zh-CN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2117725" algn="l">
              <a:lnSpc>
                <a:spcPts val="950"/>
              </a:lnSpc>
            </a:pPr>
            <a:r>
              <a:rPr lang="en-US" altLang="zh-CN" b="0" spc="-50" dirty="0">
                <a:latin typeface="Courier New" panose="02070309020205020404"/>
                <a:cs typeface="Courier New" panose="02070309020205020404"/>
              </a:rPr>
              <a:t>     visited[v] = true;</a:t>
            </a:r>
            <a:endParaRPr lang="en-US" altLang="zh-CN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>
              <a:lnSpc>
                <a:spcPts val="950"/>
              </a:lnSpc>
            </a:pPr>
            <a:r>
              <a:rPr lang="en-US" altLang="zh-CN" b="0" spc="-50" dirty="0">
                <a:latin typeface="Courier New" panose="02070309020205020404"/>
                <a:cs typeface="Courier New" panose="02070309020205020404"/>
              </a:rPr>
              <a:t>     int ret = v;</a:t>
            </a:r>
            <a:endParaRPr lang="en-US" altLang="zh-CN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>
              <a:lnSpc>
                <a:spcPts val="950"/>
              </a:lnSpc>
            </a:pPr>
            <a:r>
              <a:rPr lang="en-US" altLang="zh-CN" b="0" dirty="0">
                <a:latin typeface="Courier New" panose="02070309020205020404"/>
                <a:cs typeface="Courier New" panose="02070309020205020404"/>
              </a:rPr>
              <a:t>     for(int </a:t>
            </a:r>
            <a:r>
              <a:rPr lang="en-US" altLang="zh-CN" b="0" dirty="0" err="1">
                <a:latin typeface="Courier New" panose="02070309020205020404"/>
                <a:cs typeface="Courier New" panose="02070309020205020404"/>
              </a:rPr>
              <a:t>i</a:t>
            </a:r>
            <a:r>
              <a:rPr lang="en-US" altLang="zh-CN" b="0" dirty="0">
                <a:latin typeface="Courier New" panose="02070309020205020404"/>
                <a:cs typeface="Courier New" panose="02070309020205020404"/>
              </a:rPr>
              <a:t> : graph[v])</a:t>
            </a:r>
            <a:endParaRPr lang="en-US" altLang="zh-CN" b="0" dirty="0">
              <a:latin typeface="Courier New" panose="02070309020205020404"/>
              <a:cs typeface="Courier New" panose="02070309020205020404"/>
            </a:endParaRPr>
          </a:p>
          <a:p>
            <a:pPr marR="2117725" algn="l">
              <a:lnSpc>
                <a:spcPts val="950"/>
              </a:lnSpc>
            </a:pPr>
            <a:r>
              <a:rPr lang="en-US" altLang="zh-CN" b="0" dirty="0">
                <a:latin typeface="Courier New" panose="02070309020205020404"/>
                <a:cs typeface="Courier New" panose="02070309020205020404"/>
              </a:rPr>
              <a:t>     if(!visited[</a:t>
            </a:r>
            <a:r>
              <a:rPr lang="en-US" altLang="zh-CN" b="0" dirty="0" err="1">
                <a:latin typeface="Courier New" panose="02070309020205020404"/>
                <a:cs typeface="Courier New" panose="02070309020205020404"/>
              </a:rPr>
              <a:t>i</a:t>
            </a:r>
            <a:r>
              <a:rPr lang="en-US" altLang="zh-CN" b="0" dirty="0">
                <a:latin typeface="Courier New" panose="02070309020205020404"/>
                <a:cs typeface="Courier New" panose="02070309020205020404"/>
              </a:rPr>
              <a:t>])</a:t>
            </a:r>
            <a:endParaRPr lang="en-US" altLang="zh-CN" b="0" dirty="0">
              <a:latin typeface="Courier New" panose="02070309020205020404"/>
              <a:cs typeface="Courier New" panose="02070309020205020404"/>
            </a:endParaRPr>
          </a:p>
          <a:p>
            <a:pPr marR="2117725" algn="l">
              <a:lnSpc>
                <a:spcPts val="950"/>
              </a:lnSpc>
            </a:pPr>
            <a:r>
              <a:rPr lang="en-US" altLang="zh-CN" b="0" dirty="0">
                <a:latin typeface="Courier New" panose="02070309020205020404"/>
                <a:cs typeface="Courier New" panose="02070309020205020404"/>
              </a:rPr>
              <a:t>      ret = max(</a:t>
            </a:r>
            <a:r>
              <a:rPr lang="en-US" altLang="zh-CN" b="0" dirty="0" err="1">
                <a:latin typeface="Courier New" panose="02070309020205020404"/>
                <a:cs typeface="Courier New" panose="02070309020205020404"/>
              </a:rPr>
              <a:t>ans,DFS</a:t>
            </a:r>
            <a:r>
              <a:rPr lang="en-US" altLang="zh-CN" b="0" dirty="0">
                <a:latin typeface="Courier New" panose="02070309020205020404"/>
                <a:cs typeface="Courier New" panose="02070309020205020404"/>
              </a:rPr>
              <a:t>(</a:t>
            </a:r>
            <a:r>
              <a:rPr lang="en-US" altLang="zh-CN" b="0" dirty="0" err="1">
                <a:latin typeface="Courier New" panose="02070309020205020404"/>
                <a:cs typeface="Courier New" panose="02070309020205020404"/>
              </a:rPr>
              <a:t>i</a:t>
            </a:r>
            <a:r>
              <a:rPr lang="en-US" altLang="zh-CN" b="0" dirty="0">
                <a:latin typeface="Courier New" panose="02070309020205020404"/>
                <a:cs typeface="Courier New" panose="02070309020205020404"/>
              </a:rPr>
              <a:t>));</a:t>
            </a:r>
            <a:endParaRPr lang="en-US" altLang="zh-CN" b="0" dirty="0">
              <a:latin typeface="Courier New" panose="02070309020205020404"/>
              <a:cs typeface="Courier New" panose="02070309020205020404"/>
            </a:endParaRPr>
          </a:p>
          <a:p>
            <a:pPr marR="2117725" algn="l">
              <a:lnSpc>
                <a:spcPts val="950"/>
              </a:lnSpc>
            </a:pPr>
            <a:r>
              <a:rPr lang="en-US" altLang="zh-CN" b="0" dirty="0">
                <a:latin typeface="Courier New" panose="02070309020205020404"/>
                <a:cs typeface="Courier New" panose="02070309020205020404"/>
              </a:rPr>
              <a:t>    return ret;</a:t>
            </a:r>
            <a:endParaRPr lang="en-US" altLang="zh-CN" b="0" dirty="0">
              <a:latin typeface="Courier New" panose="02070309020205020404"/>
              <a:cs typeface="Courier New" panose="02070309020205020404"/>
            </a:endParaRPr>
          </a:p>
          <a:p>
            <a:pPr marL="12700" algn="l">
              <a:lnSpc>
                <a:spcPts val="955"/>
              </a:lnSpc>
            </a:pPr>
            <a:r>
              <a:rPr lang="en-US" altLang="zh-CN" b="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lang="en-US" altLang="zh-CN" b="0" spc="-5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L="12700" algn="l">
              <a:lnSpc>
                <a:spcPts val="955"/>
              </a:lnSpc>
            </a:pPr>
            <a:endParaRPr lang="zh-CN" altLang="en-US" b="0" dirty="0"/>
          </a:p>
        </p:txBody>
      </p:sp>
      <p:sp>
        <p:nvSpPr>
          <p:cNvPr id="4" name="文本框 3"/>
          <p:cNvSpPr txBox="1"/>
          <p:nvPr/>
        </p:nvSpPr>
        <p:spPr>
          <a:xfrm>
            <a:off x="2501900" y="479425"/>
            <a:ext cx="3048000" cy="1380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public static void main(String </a:t>
            </a:r>
            <a:r>
              <a:rPr kumimoji="0" lang="en-US" altLang="zh-CN" sz="1000" b="0" i="0" u="none" strike="noStrike" kern="0" cap="none" spc="-5" normalizeH="0" baseline="0" noProof="0" dirty="0" err="1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args</a:t>
            </a: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[])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{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   ...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   for(int </a:t>
            </a:r>
            <a:r>
              <a:rPr kumimoji="0" lang="en-US" altLang="zh-CN" sz="1000" b="0" i="0" u="none" strike="noStrike" kern="0" cap="none" spc="-5" normalizeH="0" baseline="0" noProof="0" dirty="0" err="1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i</a:t>
            </a: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=1;i&lt;=</a:t>
            </a:r>
            <a:r>
              <a:rPr kumimoji="0" lang="en-US" altLang="zh-CN" sz="1000" b="0" i="0" u="none" strike="noStrike" kern="0" cap="none" spc="-5" normalizeH="0" baseline="0" noProof="0" dirty="0" err="1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n;i</a:t>
            </a: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++)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   {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      </a:t>
            </a:r>
            <a:r>
              <a:rPr kumimoji="0" lang="en-US" altLang="zh-CN" sz="1000" b="0" i="0" u="none" strike="noStrike" kern="0" cap="none" spc="-5" normalizeH="0" baseline="0" noProof="0" dirty="0" err="1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Arrays.fill</a:t>
            </a: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(visited, false);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      </a:t>
            </a:r>
            <a:r>
              <a:rPr kumimoji="0" lang="en-US" altLang="zh-CN" sz="1000" b="0" i="0" u="none" strike="noStrike" kern="0" cap="none" spc="-5" normalizeH="0" baseline="0" noProof="0" dirty="0" err="1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System.out.println</a:t>
            </a: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(DFS(</a:t>
            </a:r>
            <a:r>
              <a:rPr kumimoji="0" lang="en-US" altLang="zh-CN" sz="1000" b="0" i="0" u="none" strike="noStrike" kern="0" cap="none" spc="-5" normalizeH="0" baseline="0" noProof="0" dirty="0" err="1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i</a:t>
            </a: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));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   }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}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631" y="76349"/>
            <a:ext cx="2607869" cy="184666"/>
          </a:xfrm>
        </p:spPr>
        <p:txBody>
          <a:bodyPr/>
          <a:lstStyle/>
          <a:p>
            <a:r>
              <a:rPr lang="en-US" altLang="zh-CN" dirty="0"/>
              <a:t>DFS implementation(using</a:t>
            </a:r>
            <a:r>
              <a:rPr lang="zh-CN" altLang="en-US" dirty="0"/>
              <a:t> </a:t>
            </a:r>
            <a:r>
              <a:rPr lang="en-US" altLang="zh-CN" dirty="0"/>
              <a:t>stack)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7294" y="746321"/>
            <a:ext cx="4516806" cy="2400657"/>
          </a:xfrm>
        </p:spPr>
        <p:txBody>
          <a:bodyPr/>
          <a:lstStyle/>
          <a:p>
            <a:pPr marR="3089275" algn="l"/>
            <a:r>
              <a:rPr lang="en-US" altLang="zh-CN" sz="6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class</a:t>
            </a:r>
            <a:r>
              <a:rPr lang="en-US" altLang="zh-CN" sz="600" b="0" spc="-3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600" b="0" spc="-3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Main</a:t>
            </a:r>
            <a:r>
              <a:rPr lang="en-US" altLang="zh-CN" sz="600" b="0" spc="-2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lang="en-US" altLang="zh-CN" sz="600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308927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...</a:t>
            </a:r>
            <a:endParaRPr lang="en-US" altLang="zh-CN" sz="600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308927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private int[] color;</a:t>
            </a:r>
            <a:endParaRPr lang="en-US" altLang="zh-CN" sz="600" b="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lang="en-US" altLang="zh-CN" sz="600" b="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DFS</a:t>
            </a:r>
            <a:r>
              <a:rPr lang="en-US" altLang="zh-CN" sz="600" b="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(int u)</a:t>
            </a:r>
            <a:r>
              <a:rPr lang="en-US" altLang="zh-CN" sz="600" b="0" spc="-3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 </a:t>
            </a:r>
            <a:endParaRPr lang="en-US" altLang="zh-CN" sz="600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Stack&lt;Integer&gt; stack = new stack&lt;Integer&gt;();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</a:t>
            </a:r>
            <a:r>
              <a:rPr lang="en-US" altLang="zh-CN" sz="600" b="0" spc="-50" dirty="0" err="1">
                <a:latin typeface="Courier New" panose="02070309020205020404"/>
                <a:cs typeface="Courier New" panose="02070309020205020404"/>
              </a:rPr>
              <a:t>stack.push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(u);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int ret = 0;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while (!</a:t>
            </a:r>
            <a:r>
              <a:rPr lang="en-US" altLang="zh-CN" sz="600" b="0" spc="-50" dirty="0" err="1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stack.empty</a:t>
            </a:r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())</a:t>
            </a:r>
            <a:endParaRPr lang="en-US" altLang="zh-CN" sz="600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{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  int v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= </a:t>
            </a:r>
            <a:r>
              <a:rPr lang="en-US" altLang="zh-CN" sz="600" b="0" spc="-50" dirty="0" err="1">
                <a:latin typeface="Courier New" panose="02070309020205020404"/>
                <a:cs typeface="Courier New" panose="02070309020205020404"/>
              </a:rPr>
              <a:t>stack.peek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();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  ret = max(ret, v);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  boolean flag = false;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  for(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int i:graph[v])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  if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(color[</a:t>
            </a:r>
            <a:r>
              <a:rPr lang="en-US" altLang="zh-CN" sz="600" b="0" spc="-50" dirty="0" err="1">
                <a:latin typeface="Courier New" panose="02070309020205020404"/>
                <a:cs typeface="Courier New" panose="02070309020205020404"/>
              </a:rPr>
              <a:t>i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]==0)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  {</a:t>
            </a:r>
            <a:endParaRPr lang="en-US" altLang="zh-CN" sz="600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     </a:t>
            </a:r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  color[</a:t>
            </a:r>
            <a:r>
              <a:rPr lang="en-US" altLang="zh-CN" sz="600" b="0" spc="-50" dirty="0" err="1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] = 1;</a:t>
            </a:r>
            <a:endParaRPr lang="en-US" altLang="zh-CN" sz="600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          </a:t>
            </a:r>
            <a:r>
              <a:rPr lang="en-US" altLang="zh-CN" sz="600" b="0" spc="-50" dirty="0" err="1">
                <a:latin typeface="Courier New" panose="02070309020205020404"/>
                <a:cs typeface="Courier New" panose="02070309020205020404"/>
              </a:rPr>
              <a:t>stack.push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(</a:t>
            </a:r>
            <a:r>
              <a:rPr lang="en-US" altLang="zh-CN" sz="600" b="0" spc="-50" dirty="0" err="1">
                <a:latin typeface="Courier New" panose="02070309020205020404"/>
                <a:cs typeface="Courier New" panose="02070309020205020404"/>
              </a:rPr>
              <a:t>i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);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          flag =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true;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   }</a:t>
            </a:r>
            <a:endParaRPr lang="en-US" altLang="zh-CN" sz="600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  if(!flag)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  {</a:t>
            </a:r>
            <a:endParaRPr lang="en-US" altLang="zh-CN" sz="600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    </a:t>
            </a:r>
            <a:r>
              <a:rPr lang="en-US" altLang="zh-CN" sz="600" b="0" spc="-50" dirty="0" err="1">
                <a:latin typeface="Courier New" panose="02070309020205020404"/>
                <a:cs typeface="Courier New" panose="02070309020205020404"/>
              </a:rPr>
              <a:t>stack.pop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();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    color[</a:t>
            </a:r>
            <a:r>
              <a:rPr lang="en-US" altLang="zh-CN" sz="600" b="0" spc="-50" dirty="0" err="1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i</a:t>
            </a:r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] = 2;</a:t>
            </a:r>
            <a:endParaRPr lang="en-US" altLang="zh-CN" sz="600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  }     </a:t>
            </a:r>
            <a:endParaRPr lang="en-US" altLang="zh-CN" sz="600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L="12700" algn="l"/>
            <a:r>
              <a:rPr lang="en-US" altLang="zh-CN" sz="600" b="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lang="en-US" altLang="zh-CN" sz="600" b="0" spc="-5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endParaRPr lang="zh-CN" altLang="en-US" sz="600" dirty="0"/>
          </a:p>
        </p:txBody>
      </p:sp>
      <p:sp>
        <p:nvSpPr>
          <p:cNvPr id="5" name="文本框 4"/>
          <p:cNvSpPr txBox="1"/>
          <p:nvPr/>
        </p:nvSpPr>
        <p:spPr>
          <a:xfrm>
            <a:off x="2605697" y="631825"/>
            <a:ext cx="3352800" cy="1384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public static void main(String </a:t>
            </a:r>
            <a:r>
              <a:rPr kumimoji="0" lang="en-US" altLang="zh-CN" sz="1000" b="0" i="0" u="none" strike="noStrike" kern="0" cap="none" spc="-5" normalizeH="0" baseline="0" noProof="0" dirty="0" err="1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args</a:t>
            </a: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[])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{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   ...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   for(int </a:t>
            </a:r>
            <a:r>
              <a:rPr kumimoji="0" lang="en-US" altLang="zh-CN" sz="1000" b="0" i="0" u="none" strike="noStrike" kern="0" cap="none" spc="-5" normalizeH="0" baseline="0" noProof="0" dirty="0" err="1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i</a:t>
            </a: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=1;i&lt;=</a:t>
            </a:r>
            <a:r>
              <a:rPr kumimoji="0" lang="en-US" altLang="zh-CN" sz="1000" b="0" i="0" u="none" strike="noStrike" kern="0" cap="none" spc="-5" normalizeH="0" baseline="0" noProof="0" dirty="0" err="1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n;i</a:t>
            </a: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++)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   {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      </a:t>
            </a:r>
            <a:r>
              <a:rPr kumimoji="0" lang="en-US" altLang="zh-CN" sz="1000" b="0" i="0" u="none" strike="noStrike" kern="0" cap="none" spc="-5" normalizeH="0" baseline="0" noProof="0" dirty="0" err="1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Arrays.fill</a:t>
            </a: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(color, 0);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      </a:t>
            </a:r>
            <a:r>
              <a:rPr kumimoji="0" lang="en-US" altLang="zh-CN" sz="1000" b="0" i="0" u="none" strike="noStrike" kern="0" cap="none" spc="-5" normalizeH="0" baseline="0" noProof="0" dirty="0" err="1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System.out.println</a:t>
            </a: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(DFS(</a:t>
            </a:r>
            <a:r>
              <a:rPr kumimoji="0" lang="en-US" altLang="zh-CN" sz="1000" b="0" i="0" u="none" strike="noStrike" kern="0" cap="none" spc="-5" normalizeH="0" baseline="0" noProof="0" dirty="0" err="1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i</a:t>
            </a: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));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   }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}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}</a:t>
            </a:r>
            <a:endParaRPr lang="zh-CN" alt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631" y="76349"/>
            <a:ext cx="2684069" cy="184666"/>
          </a:xfrm>
        </p:spPr>
        <p:txBody>
          <a:bodyPr/>
          <a:lstStyle/>
          <a:p>
            <a:r>
              <a:rPr lang="en-US" altLang="zh-CN" dirty="0"/>
              <a:t>BFS implementation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7294" y="746321"/>
            <a:ext cx="5071211" cy="2062103"/>
          </a:xfrm>
        </p:spPr>
        <p:txBody>
          <a:bodyPr/>
          <a:lstStyle/>
          <a:p>
            <a:pPr marR="3089275" algn="l"/>
            <a:r>
              <a:rPr lang="en-US" altLang="zh-CN" sz="6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class</a:t>
            </a:r>
            <a:r>
              <a:rPr lang="en-US" altLang="zh-CN" sz="600" b="0" spc="-3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600" b="0" spc="-3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Main</a:t>
            </a:r>
            <a:r>
              <a:rPr lang="en-US" altLang="zh-CN" sz="600" b="0" spc="-2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lang="en-US" altLang="zh-CN" sz="600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308927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...</a:t>
            </a:r>
            <a:endParaRPr lang="en-US" altLang="zh-CN" sz="600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308927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private boolean[] visited;</a:t>
            </a:r>
            <a:endParaRPr lang="en-US" altLang="zh-CN" sz="600" b="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lang="en-US" altLang="zh-CN" sz="600" b="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BFS</a:t>
            </a:r>
            <a:r>
              <a:rPr lang="en-US" altLang="zh-CN" sz="600" b="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(int u)</a:t>
            </a:r>
            <a:r>
              <a:rPr lang="en-US" altLang="zh-CN" sz="600" b="0" spc="-3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lang="en-US" altLang="zh-CN" sz="600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Queue&lt;Integer&gt; queue = new LinkedList&lt;Integer&gt;();;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</a:t>
            </a:r>
            <a:r>
              <a:rPr lang="en-US" altLang="zh-CN" sz="600" b="0" spc="-50" dirty="0" err="1">
                <a:latin typeface="Courier New" panose="02070309020205020404"/>
                <a:cs typeface="Courier New" panose="02070309020205020404"/>
              </a:rPr>
              <a:t>queue.add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(u);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visited[u] = true;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int ret = 0;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while (!</a:t>
            </a:r>
            <a:r>
              <a:rPr lang="en-US" altLang="zh-CN" sz="600" b="0" spc="-50" dirty="0" err="1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queue.empty</a:t>
            </a:r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())</a:t>
            </a:r>
            <a:endParaRPr lang="en-US" altLang="zh-CN" sz="600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{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  int v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= </a:t>
            </a:r>
            <a:r>
              <a:rPr lang="en-US" altLang="zh-CN" sz="600" b="0" spc="-50" dirty="0" err="1">
                <a:latin typeface="Courier New" panose="02070309020205020404"/>
                <a:cs typeface="Courier New" panose="02070309020205020404"/>
              </a:rPr>
              <a:t>stack.poll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();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  ret = max(ret, v);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  boolean flag = false;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  for(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int i:graph[v])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  if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(!visited[</a:t>
            </a:r>
            <a:r>
              <a:rPr lang="en-US" altLang="zh-CN" sz="600" b="0" spc="-50" dirty="0" err="1">
                <a:latin typeface="Courier New" panose="02070309020205020404"/>
                <a:cs typeface="Courier New" panose="02070309020205020404"/>
              </a:rPr>
              <a:t>i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])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  {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     visited[</a:t>
            </a:r>
            <a:r>
              <a:rPr lang="en-US" altLang="zh-CN" sz="600" b="0" spc="-50" dirty="0" err="1">
                <a:latin typeface="Courier New" panose="02070309020205020404"/>
                <a:cs typeface="Courier New" panose="02070309020205020404"/>
              </a:rPr>
              <a:t>i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] = true;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        </a:t>
            </a:r>
            <a:r>
              <a:rPr lang="en-US" altLang="zh-CN" sz="600" b="0" spc="-50" dirty="0" err="1">
                <a:latin typeface="Courier New" panose="02070309020205020404"/>
                <a:cs typeface="Courier New" panose="02070309020205020404"/>
              </a:rPr>
              <a:t>queue.add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(</a:t>
            </a:r>
            <a:r>
              <a:rPr lang="en-US" altLang="zh-CN" sz="600" b="0" spc="-50" dirty="0" err="1">
                <a:latin typeface="Courier New" panose="02070309020205020404"/>
                <a:cs typeface="Courier New" panose="02070309020205020404"/>
              </a:rPr>
              <a:t>i</a:t>
            </a:r>
            <a:r>
              <a:rPr lang="en-US" altLang="zh-CN" sz="600" b="0" spc="-50" dirty="0">
                <a:latin typeface="Courier New" panose="02070309020205020404"/>
                <a:cs typeface="Courier New" panose="02070309020205020404"/>
              </a:rPr>
              <a:t>);</a:t>
            </a:r>
            <a:endParaRPr lang="en-US" altLang="zh-CN" sz="6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 </a:t>
            </a:r>
            <a:r>
              <a:rPr lang="en-US" altLang="zh-CN" sz="600" b="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lang="en-US" altLang="zh-CN" sz="600" b="0" spc="-5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600" b="0" spc="-5" dirty="0">
                <a:latin typeface="Courier New" panose="02070309020205020404"/>
                <a:cs typeface="Courier New" panose="02070309020205020404"/>
              </a:rPr>
              <a:t>   return ret;</a:t>
            </a:r>
            <a:endParaRPr lang="en-US" altLang="zh-CN" sz="600" b="0" spc="-5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zh-CN" altLang="en-US" sz="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600" b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6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800" dirty="0"/>
          </a:p>
        </p:txBody>
      </p:sp>
      <p:sp>
        <p:nvSpPr>
          <p:cNvPr id="6" name="文本框 5"/>
          <p:cNvSpPr txBox="1"/>
          <p:nvPr/>
        </p:nvSpPr>
        <p:spPr>
          <a:xfrm>
            <a:off x="2578100" y="631825"/>
            <a:ext cx="3352800" cy="1315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public static void main(String </a:t>
            </a:r>
            <a:r>
              <a:rPr kumimoji="0" lang="en-US" altLang="zh-CN" sz="1000" b="0" i="0" u="none" strike="noStrike" kern="0" cap="none" spc="-5" normalizeH="0" baseline="0" noProof="0" dirty="0" err="1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args</a:t>
            </a: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[])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{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   ...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   for(int </a:t>
            </a:r>
            <a:r>
              <a:rPr kumimoji="0" lang="en-US" altLang="zh-CN" sz="1000" b="0" i="0" u="none" strike="noStrike" kern="0" cap="none" spc="-5" normalizeH="0" baseline="0" noProof="0" dirty="0" err="1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i</a:t>
            </a: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=1;i&lt;=</a:t>
            </a:r>
            <a:r>
              <a:rPr kumimoji="0" lang="en-US" altLang="zh-CN" sz="1000" b="0" i="0" u="none" strike="noStrike" kern="0" cap="none" spc="-5" normalizeH="0" baseline="0" noProof="0" dirty="0" err="1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n;i</a:t>
            </a: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++)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   {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      </a:t>
            </a:r>
            <a:r>
              <a:rPr kumimoji="0" lang="en-US" altLang="zh-CN" sz="1000" b="0" i="0" u="none" strike="noStrike" kern="0" cap="none" spc="-5" normalizeH="0" baseline="0" noProof="0" dirty="0" err="1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Arrays.fill</a:t>
            </a: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(visited, false);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      </a:t>
            </a:r>
            <a:r>
              <a:rPr kumimoji="0" lang="en-US" altLang="zh-CN" sz="1000" b="0" i="0" u="none" strike="noStrike" kern="0" cap="none" spc="-5" normalizeH="0" baseline="0" noProof="0" dirty="0" err="1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System.out.println</a:t>
            </a: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(BFS(</a:t>
            </a:r>
            <a:r>
              <a:rPr kumimoji="0" lang="en-US" altLang="zh-CN" sz="1000" b="0" i="0" u="none" strike="noStrike" kern="0" cap="none" spc="-5" normalizeH="0" baseline="0" noProof="0" dirty="0" err="1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i</a:t>
            </a: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));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   }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}</a:t>
            </a:r>
            <a:endParaRPr kumimoji="0" lang="en-US" altLang="zh-CN" sz="1000" b="0" i="0" u="none" strike="noStrike" kern="0" cap="none" spc="-5" normalizeH="0" baseline="0" noProof="0" dirty="0">
              <a:ln>
                <a:noFill/>
              </a:ln>
              <a:solidFill>
                <a:srgbClr val="22373A"/>
              </a:solidFill>
              <a:effectLst/>
              <a:uLnTx/>
              <a:uFillTx/>
              <a:latin typeface="Courier New" panose="02070309020205020404"/>
              <a:ea typeface="SimSun" panose="02010600030101010101" pitchFamily="2" charset="-122"/>
              <a:cs typeface="Courier New" panose="02070309020205020404"/>
            </a:endParaRPr>
          </a:p>
          <a:p>
            <a:pPr marL="12700" marR="0" lvl="0" indent="0" algn="l" defTabSz="914400" eaLnBrk="1" fontAlgn="auto" latinLnBrk="0" hangingPunct="1">
              <a:lnSpc>
                <a:spcPts val="9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-5" normalizeH="0" baseline="0" noProof="0" dirty="0">
                <a:ln>
                  <a:noFill/>
                </a:ln>
                <a:solidFill>
                  <a:srgbClr val="22373A"/>
                </a:solidFill>
                <a:effectLst/>
                <a:uLnTx/>
                <a:uFillTx/>
                <a:latin typeface="Courier New" panose="02070309020205020404"/>
                <a:ea typeface="SimSun" panose="02010600030101010101" pitchFamily="2" charset="-122"/>
                <a:cs typeface="Courier New" panose="02070309020205020404"/>
              </a:rPr>
              <a:t>}</a:t>
            </a:r>
            <a:endParaRPr lang="zh-CN" alt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631" y="76349"/>
            <a:ext cx="2226869" cy="369332"/>
          </a:xfrm>
        </p:spPr>
        <p:txBody>
          <a:bodyPr/>
          <a:lstStyle/>
          <a:p>
            <a:r>
              <a:rPr lang="en-US" altLang="zh-CN" b="0" dirty="0"/>
              <a:t>Search on Inverse Graph </a:t>
            </a:r>
            <a:endParaRPr lang="zh-CN" altLang="en-US" b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7294" y="746321"/>
            <a:ext cx="5071211" cy="307777"/>
          </a:xfrm>
        </p:spPr>
        <p:txBody>
          <a:bodyPr/>
          <a:lstStyle/>
          <a:p>
            <a:r>
              <a:rPr lang="en-US" altLang="zh-CN" dirty="0"/>
              <a:t>We inverse every edge in the directed graph,  then we can just traversal the graph from vertices in a descending order.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631" y="76349"/>
            <a:ext cx="2074469" cy="369332"/>
          </a:xfrm>
        </p:spPr>
        <p:txBody>
          <a:bodyPr/>
          <a:lstStyle/>
          <a:p>
            <a:r>
              <a:rPr lang="en-US" altLang="zh-CN" b="0" dirty="0"/>
              <a:t>DFS  on inverse graph</a:t>
            </a:r>
            <a:endParaRPr lang="zh-CN" altLang="en-US" b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7295" y="746321"/>
            <a:ext cx="4593006" cy="1667123"/>
          </a:xfrm>
        </p:spPr>
        <p:txBody>
          <a:bodyPr/>
          <a:lstStyle/>
          <a:p>
            <a:pPr marR="3089275" algn="l">
              <a:lnSpc>
                <a:spcPts val="955"/>
              </a:lnSpc>
              <a:spcBef>
                <a:spcPts val="890"/>
              </a:spcBef>
            </a:pPr>
            <a:r>
              <a:rPr lang="en-US" altLang="zh-CN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class</a:t>
            </a:r>
            <a:r>
              <a:rPr lang="en-US" altLang="zh-CN" b="0" spc="-3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b="0" spc="-3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Main</a:t>
            </a:r>
            <a:r>
              <a:rPr lang="en-US" altLang="zh-CN" b="0" spc="-2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lang="en-US" altLang="zh-CN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3089275" algn="l">
              <a:lnSpc>
                <a:spcPts val="955"/>
              </a:lnSpc>
              <a:spcBef>
                <a:spcPts val="890"/>
              </a:spcBef>
            </a:pPr>
            <a:r>
              <a:rPr lang="en-US" altLang="zh-CN" b="0" spc="-50" dirty="0">
                <a:latin typeface="Courier New" panose="02070309020205020404"/>
                <a:cs typeface="Courier New" panose="02070309020205020404"/>
              </a:rPr>
              <a:t>...</a:t>
            </a:r>
            <a:endParaRPr lang="en-US" altLang="zh-CN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3089275" algn="l">
              <a:lnSpc>
                <a:spcPts val="955"/>
              </a:lnSpc>
              <a:spcBef>
                <a:spcPts val="890"/>
              </a:spcBef>
            </a:pPr>
            <a:r>
              <a:rPr lang="en-US" altLang="zh-CN" b="0" spc="-50" dirty="0">
                <a:latin typeface="Courier New" panose="02070309020205020404"/>
                <a:cs typeface="Courier New" panose="02070309020205020404"/>
              </a:rPr>
              <a:t>private int[] </a:t>
            </a:r>
            <a:r>
              <a:rPr lang="en-US" altLang="zh-CN" b="0" spc="-50" dirty="0" err="1">
                <a:latin typeface="Courier New" panose="02070309020205020404"/>
                <a:cs typeface="Courier New" panose="02070309020205020404"/>
              </a:rPr>
              <a:t>ans</a:t>
            </a:r>
            <a:r>
              <a:rPr lang="en-US" altLang="zh-CN" b="0" spc="-50" dirty="0">
                <a:latin typeface="Courier New" panose="02070309020205020404"/>
                <a:cs typeface="Courier New" panose="02070309020205020404"/>
              </a:rPr>
              <a:t>;</a:t>
            </a:r>
            <a:endParaRPr lang="en-US" altLang="zh-CN" b="0" dirty="0">
              <a:latin typeface="Courier New" panose="02070309020205020404"/>
              <a:cs typeface="Courier New" panose="02070309020205020404"/>
            </a:endParaRPr>
          </a:p>
          <a:p>
            <a:pPr marR="2117725" algn="l">
              <a:lnSpc>
                <a:spcPts val="950"/>
              </a:lnSpc>
            </a:pPr>
            <a:r>
              <a:rPr lang="en-US" altLang="zh-CN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void </a:t>
            </a:r>
            <a:r>
              <a:rPr lang="en-US" altLang="zh-CN" b="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DFS</a:t>
            </a:r>
            <a:r>
              <a:rPr lang="en-US" altLang="zh-CN" b="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(int v, int origin)</a:t>
            </a:r>
            <a:r>
              <a:rPr lang="en-US" altLang="zh-CN" b="0" spc="-3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 </a:t>
            </a:r>
            <a:r>
              <a:rPr lang="en-US" altLang="zh-CN" b="0" spc="-50" dirty="0">
                <a:latin typeface="Courier New" panose="02070309020205020404"/>
                <a:cs typeface="Courier New" panose="02070309020205020404"/>
              </a:rPr>
              <a:t>     </a:t>
            </a:r>
            <a:r>
              <a:rPr lang="en-US" altLang="zh-CN" b="0" spc="-50" dirty="0" err="1">
                <a:latin typeface="Courier New" panose="02070309020205020404"/>
                <a:cs typeface="Courier New" panose="02070309020205020404"/>
              </a:rPr>
              <a:t>ans</a:t>
            </a:r>
            <a:r>
              <a:rPr lang="en-US" altLang="zh-CN" b="0" spc="-50" dirty="0">
                <a:latin typeface="Courier New" panose="02070309020205020404"/>
                <a:cs typeface="Courier New" panose="02070309020205020404"/>
              </a:rPr>
              <a:t>[v]=origin;</a:t>
            </a:r>
            <a:endParaRPr lang="en-US" altLang="zh-CN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>
              <a:lnSpc>
                <a:spcPts val="950"/>
              </a:lnSpc>
            </a:pPr>
            <a:r>
              <a:rPr lang="en-US" altLang="zh-CN" b="0" spc="-50" dirty="0">
                <a:latin typeface="Courier New" panose="02070309020205020404"/>
                <a:cs typeface="Courier New" panose="02070309020205020404"/>
              </a:rPr>
              <a:t>     int ret = v;</a:t>
            </a:r>
            <a:endParaRPr lang="en-US" altLang="zh-CN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>
              <a:lnSpc>
                <a:spcPts val="950"/>
              </a:lnSpc>
            </a:pPr>
            <a:r>
              <a:rPr lang="en-US" altLang="zh-CN" b="0" dirty="0">
                <a:latin typeface="Courier New" panose="02070309020205020404"/>
                <a:cs typeface="Courier New" panose="02070309020205020404"/>
              </a:rPr>
              <a:t>     for(int </a:t>
            </a:r>
            <a:r>
              <a:rPr lang="en-US" altLang="zh-CN" b="0" dirty="0" err="1">
                <a:latin typeface="Courier New" panose="02070309020205020404"/>
                <a:cs typeface="Courier New" panose="02070309020205020404"/>
              </a:rPr>
              <a:t>i</a:t>
            </a:r>
            <a:r>
              <a:rPr lang="en-US" altLang="zh-CN" b="0" dirty="0">
                <a:latin typeface="Courier New" panose="02070309020205020404"/>
                <a:cs typeface="Courier New" panose="02070309020205020404"/>
              </a:rPr>
              <a:t> : graph[v])</a:t>
            </a:r>
            <a:endParaRPr lang="en-US" altLang="zh-CN" b="0" dirty="0">
              <a:latin typeface="Courier New" panose="02070309020205020404"/>
              <a:cs typeface="Courier New" panose="02070309020205020404"/>
            </a:endParaRPr>
          </a:p>
          <a:p>
            <a:pPr marR="2117725" algn="l">
              <a:lnSpc>
                <a:spcPts val="950"/>
              </a:lnSpc>
            </a:pPr>
            <a:r>
              <a:rPr lang="en-US" altLang="zh-CN" b="0" dirty="0">
                <a:latin typeface="Courier New" panose="02070309020205020404"/>
                <a:cs typeface="Courier New" panose="02070309020205020404"/>
              </a:rPr>
              <a:t>     if(</a:t>
            </a:r>
            <a:r>
              <a:rPr lang="en-US" altLang="zh-CN" b="0" dirty="0" err="1">
                <a:latin typeface="Courier New" panose="02070309020205020404"/>
                <a:cs typeface="Courier New" panose="02070309020205020404"/>
              </a:rPr>
              <a:t>ans</a:t>
            </a:r>
            <a:r>
              <a:rPr lang="en-US" altLang="zh-CN" b="0" dirty="0">
                <a:latin typeface="Courier New" panose="02070309020205020404"/>
                <a:cs typeface="Courier New" panose="02070309020205020404"/>
              </a:rPr>
              <a:t>[</a:t>
            </a:r>
            <a:r>
              <a:rPr lang="en-US" altLang="zh-CN" b="0" dirty="0" err="1">
                <a:latin typeface="Courier New" panose="02070309020205020404"/>
                <a:cs typeface="Courier New" panose="02070309020205020404"/>
              </a:rPr>
              <a:t>i</a:t>
            </a:r>
            <a:r>
              <a:rPr lang="en-US" altLang="zh-CN" b="0" dirty="0">
                <a:latin typeface="Courier New" panose="02070309020205020404"/>
                <a:cs typeface="Courier New" panose="02070309020205020404"/>
              </a:rPr>
              <a:t>]==0)DFS(</a:t>
            </a:r>
            <a:r>
              <a:rPr lang="en-US" altLang="zh-CN" b="0" dirty="0" err="1">
                <a:latin typeface="Courier New" panose="02070309020205020404"/>
                <a:cs typeface="Courier New" panose="02070309020205020404"/>
              </a:rPr>
              <a:t>i</a:t>
            </a:r>
            <a:r>
              <a:rPr lang="en-US" altLang="zh-CN" b="0" dirty="0">
                <a:latin typeface="Courier New" panose="02070309020205020404"/>
                <a:cs typeface="Courier New" panose="02070309020205020404"/>
              </a:rPr>
              <a:t>, origin);</a:t>
            </a:r>
            <a:endParaRPr lang="en-US" altLang="zh-CN" b="0" dirty="0">
              <a:latin typeface="Courier New" panose="02070309020205020404"/>
              <a:cs typeface="Courier New" panose="02070309020205020404"/>
            </a:endParaRPr>
          </a:p>
          <a:p>
            <a:pPr marL="12700" algn="l">
              <a:lnSpc>
                <a:spcPts val="955"/>
              </a:lnSpc>
            </a:pPr>
            <a:r>
              <a:rPr lang="en-US" altLang="zh-CN" b="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lang="en-US" altLang="zh-CN" b="0" spc="-5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L="12700" algn="l">
              <a:lnSpc>
                <a:spcPts val="955"/>
              </a:lnSpc>
            </a:pPr>
            <a:endParaRPr lang="en-US" altLang="zh-CN" b="0" spc="-5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349500" y="479425"/>
            <a:ext cx="3048000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 </a:t>
            </a:r>
            <a:r>
              <a:rPr lang="en-US" altLang="zh-C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zh-C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[])</a:t>
            </a:r>
            <a:endParaRPr lang="en-US" altLang="zh-C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...</a:t>
            </a:r>
            <a:endParaRPr lang="en-US" altLang="zh-C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Arrays.fill</a:t>
            </a:r>
            <a:r>
              <a:rPr lang="en-US" altLang="zh-C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ans</a:t>
            </a:r>
            <a:r>
              <a:rPr lang="en-US" altLang="zh-C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0);</a:t>
            </a:r>
            <a:endParaRPr lang="en-US" altLang="zh-C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for(int </a:t>
            </a:r>
            <a:r>
              <a:rPr lang="en-US" altLang="zh-C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zh-C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altLang="zh-C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&gt;=1;i--)</a:t>
            </a:r>
            <a:br>
              <a:rPr lang="en-US" altLang="zh-CN" sz="1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if(</a:t>
            </a:r>
            <a:r>
              <a:rPr lang="en-US" altLang="zh-C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ans</a:t>
            </a:r>
            <a:r>
              <a:rPr lang="en-US" altLang="zh-C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]==0)DFS(</a:t>
            </a:r>
            <a:r>
              <a:rPr lang="en-US" altLang="zh-C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i,i</a:t>
            </a:r>
            <a:r>
              <a:rPr lang="en-US" altLang="zh-C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endParaRPr lang="en-US" altLang="zh-C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endParaRPr lang="en-US" altLang="zh-C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631" y="76349"/>
            <a:ext cx="1922069" cy="369332"/>
          </a:xfrm>
        </p:spPr>
        <p:txBody>
          <a:bodyPr/>
          <a:lstStyle/>
          <a:p>
            <a:r>
              <a:rPr lang="en-US" altLang="zh-CN" dirty="0"/>
              <a:t>BFS on inverse graph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7294" y="746321"/>
            <a:ext cx="5071211" cy="2400657"/>
          </a:xfrm>
        </p:spPr>
        <p:txBody>
          <a:bodyPr/>
          <a:lstStyle/>
          <a:p>
            <a:pPr marR="3089275" algn="l"/>
            <a:r>
              <a:rPr lang="en-US" altLang="zh-CN" sz="8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class</a:t>
            </a:r>
            <a:r>
              <a:rPr lang="en-US" altLang="zh-CN" sz="800" b="0" spc="-3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800" b="0" spc="-3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Main</a:t>
            </a:r>
            <a:r>
              <a:rPr lang="en-US" altLang="zh-CN" sz="800" b="0" spc="-2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8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lang="en-US" altLang="zh-CN" sz="800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3089275" algn="l"/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...</a:t>
            </a:r>
            <a:endParaRPr lang="en-US" altLang="zh-CN" sz="800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3089275" algn="l"/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private int </a:t>
            </a:r>
            <a:r>
              <a:rPr lang="en-US" altLang="zh-CN" sz="800" b="0" spc="-50" dirty="0" err="1">
                <a:latin typeface="Courier New" panose="02070309020205020404"/>
                <a:cs typeface="Courier New" panose="02070309020205020404"/>
              </a:rPr>
              <a:t>ans</a:t>
            </a:r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[];</a:t>
            </a:r>
            <a:endParaRPr lang="en-US" altLang="zh-CN" sz="800" b="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800" b="0" dirty="0">
                <a:solidFill>
                  <a:srgbClr val="007F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lang="en-US" altLang="zh-CN" sz="800" b="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BFS</a:t>
            </a:r>
            <a:r>
              <a:rPr lang="en-US" altLang="zh-CN" sz="800" b="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(int u)</a:t>
            </a:r>
            <a:r>
              <a:rPr lang="en-US" altLang="zh-CN" sz="800" b="0" spc="-3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8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lang="en-US" altLang="zh-CN" sz="800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   Queue&lt;Integer&gt; queue = new LinkedList&lt;</a:t>
            </a:r>
            <a:r>
              <a:rPr lang="en-US" altLang="zh-CN" sz="800" b="0" spc="-50">
                <a:latin typeface="Courier New" panose="02070309020205020404"/>
                <a:cs typeface="Courier New" panose="02070309020205020404"/>
              </a:rPr>
              <a:t>Integer&gt;();</a:t>
            </a:r>
            <a:endParaRPr lang="en-US" altLang="zh-CN" sz="8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   </a:t>
            </a:r>
            <a:r>
              <a:rPr lang="en-US" altLang="zh-CN" sz="800" b="0" spc="-50" dirty="0" err="1">
                <a:latin typeface="Courier New" panose="02070309020205020404"/>
                <a:cs typeface="Courier New" panose="02070309020205020404"/>
              </a:rPr>
              <a:t>queue.add</a:t>
            </a:r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(u);</a:t>
            </a:r>
            <a:endParaRPr lang="en-US" altLang="zh-CN" sz="8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8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while (!</a:t>
            </a:r>
            <a:r>
              <a:rPr lang="en-US" altLang="zh-CN" sz="800" b="0" spc="-50" dirty="0" err="1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queue.empty</a:t>
            </a:r>
            <a:r>
              <a:rPr lang="en-US" altLang="zh-CN" sz="8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())</a:t>
            </a:r>
            <a:endParaRPr lang="en-US" altLang="zh-CN" sz="800" b="0" spc="-50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   {</a:t>
            </a:r>
            <a:endParaRPr lang="en-US" altLang="zh-CN" sz="8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8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  int v</a:t>
            </a:r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 = </a:t>
            </a:r>
            <a:r>
              <a:rPr lang="en-US" altLang="zh-CN" sz="800" b="0" spc="-50" dirty="0" err="1">
                <a:latin typeface="Courier New" panose="02070309020205020404"/>
                <a:cs typeface="Courier New" panose="02070309020205020404"/>
              </a:rPr>
              <a:t>stack.poll</a:t>
            </a:r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();</a:t>
            </a:r>
            <a:endParaRPr lang="en-US" altLang="zh-CN" sz="8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     </a:t>
            </a:r>
            <a:r>
              <a:rPr lang="en-US" altLang="zh-CN" sz="800" b="0" spc="-50" dirty="0" err="1">
                <a:latin typeface="Courier New" panose="02070309020205020404"/>
                <a:cs typeface="Courier New" panose="02070309020205020404"/>
              </a:rPr>
              <a:t>ans</a:t>
            </a:r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[v] = u;</a:t>
            </a:r>
            <a:endParaRPr lang="en-US" altLang="zh-CN" sz="8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8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  for(</a:t>
            </a:r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int i:graph[v])</a:t>
            </a:r>
            <a:endParaRPr lang="en-US" altLang="zh-CN" sz="8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8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  if</a:t>
            </a:r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(</a:t>
            </a:r>
            <a:r>
              <a:rPr lang="en-US" altLang="zh-CN" sz="800" b="0" spc="-50" dirty="0" err="1">
                <a:latin typeface="Courier New" panose="02070309020205020404"/>
                <a:cs typeface="Courier New" panose="02070309020205020404"/>
              </a:rPr>
              <a:t>ans</a:t>
            </a:r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[</a:t>
            </a:r>
            <a:r>
              <a:rPr lang="en-US" altLang="zh-CN" sz="800" b="0" spc="-50" dirty="0" err="1">
                <a:latin typeface="Courier New" panose="02070309020205020404"/>
                <a:cs typeface="Courier New" panose="02070309020205020404"/>
              </a:rPr>
              <a:t>i</a:t>
            </a:r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]==0)</a:t>
            </a:r>
            <a:endParaRPr lang="en-US" altLang="zh-CN" sz="8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     {</a:t>
            </a:r>
            <a:endParaRPr lang="en-US" altLang="zh-CN" sz="8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       </a:t>
            </a:r>
            <a:r>
              <a:rPr lang="en-US" altLang="zh-CN" sz="800" b="0" spc="-50" dirty="0" err="1">
                <a:latin typeface="Courier New" panose="02070309020205020404"/>
                <a:cs typeface="Courier New" panose="02070309020205020404"/>
              </a:rPr>
              <a:t>queue.add</a:t>
            </a:r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(</a:t>
            </a:r>
            <a:r>
              <a:rPr lang="en-US" altLang="zh-CN" sz="800" b="0" spc="-50" dirty="0" err="1">
                <a:latin typeface="Courier New" panose="02070309020205020404"/>
                <a:cs typeface="Courier New" panose="02070309020205020404"/>
              </a:rPr>
              <a:t>i</a:t>
            </a:r>
            <a:r>
              <a:rPr lang="en-US" altLang="zh-CN" sz="800" b="0" spc="-50" dirty="0">
                <a:latin typeface="Courier New" panose="02070309020205020404"/>
                <a:cs typeface="Courier New" panose="02070309020205020404"/>
              </a:rPr>
              <a:t>);</a:t>
            </a:r>
            <a:endParaRPr lang="en-US" altLang="zh-CN" sz="800" b="0" spc="-50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800" b="0" spc="-50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    </a:t>
            </a:r>
            <a:r>
              <a:rPr lang="en-US" altLang="zh-CN" sz="800" b="0" spc="-5" dirty="0">
                <a:solidFill>
                  <a:srgbClr val="22373A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lang="en-US" altLang="zh-CN" sz="800" b="0" spc="-5" dirty="0">
              <a:solidFill>
                <a:srgbClr val="22373A"/>
              </a:solidFill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en-US" altLang="zh-CN" sz="800" b="0" spc="-5" dirty="0">
                <a:latin typeface="Courier New" panose="02070309020205020404"/>
                <a:cs typeface="Courier New" panose="02070309020205020404"/>
              </a:rPr>
              <a:t>   return ret;</a:t>
            </a:r>
            <a:endParaRPr lang="en-US" altLang="zh-CN" sz="800" b="0" spc="-5" dirty="0">
              <a:latin typeface="Courier New" panose="02070309020205020404"/>
              <a:cs typeface="Courier New" panose="02070309020205020404"/>
            </a:endParaRPr>
          </a:p>
          <a:p>
            <a:pPr marR="2117725" algn="l"/>
            <a:r>
              <a:rPr lang="zh-CN" altLang="en-US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800" b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1000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263900" y="479425"/>
            <a:ext cx="249936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 </a:t>
            </a:r>
            <a:r>
              <a:rPr lang="en-US" altLang="zh-CN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zh-CN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[])</a:t>
            </a:r>
            <a:endParaRPr lang="en-US" altLang="zh-CN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...</a:t>
            </a:r>
            <a:endParaRPr lang="en-US" altLang="zh-CN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CN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Arrays.fill</a:t>
            </a:r>
            <a:r>
              <a:rPr lang="en-US" altLang="zh-CN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ans</a:t>
            </a:r>
            <a:r>
              <a:rPr lang="en-US" altLang="zh-CN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0);</a:t>
            </a:r>
            <a:endParaRPr lang="en-US" altLang="zh-CN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for(int </a:t>
            </a:r>
            <a:r>
              <a:rPr lang="en-US" altLang="zh-CN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zh-CN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altLang="zh-CN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&gt;=1;i--)</a:t>
            </a:r>
            <a:br>
              <a:rPr lang="en-US" altLang="zh-CN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if(</a:t>
            </a:r>
            <a:r>
              <a:rPr lang="en-US" altLang="zh-CN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ans</a:t>
            </a:r>
            <a:r>
              <a:rPr lang="en-US" altLang="zh-CN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800" dirty="0">
                <a:latin typeface="Courier New" panose="02070309020205020404" pitchFamily="49" charset="0"/>
                <a:cs typeface="Courier New" panose="02070309020205020404" pitchFamily="49" charset="0"/>
              </a:rPr>
              <a:t>]==0)BFS(</a:t>
            </a:r>
            <a:r>
              <a:rPr lang="en-US" altLang="zh-CN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endParaRPr lang="en-US" altLang="zh-CN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endParaRPr lang="en-US" altLang="zh-CN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7736</Words>
  <Application>WPS Writer</Application>
  <PresentationFormat>自定义</PresentationFormat>
  <Paragraphs>827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53" baseType="lpstr">
      <vt:lpstr>Arial</vt:lpstr>
      <vt:lpstr>SimSun</vt:lpstr>
      <vt:lpstr>Wingdings</vt:lpstr>
      <vt:lpstr>Trebuchet MS</vt:lpstr>
      <vt:lpstr>Calibri</vt:lpstr>
      <vt:lpstr>Helvetica Neue</vt:lpstr>
      <vt:lpstr>Cambria</vt:lpstr>
      <vt:lpstr>Times New Roman</vt:lpstr>
      <vt:lpstr>Thonburi</vt:lpstr>
      <vt:lpstr>Arial</vt:lpstr>
      <vt:lpstr>Courier New</vt:lpstr>
      <vt:lpstr>SimSun</vt:lpstr>
      <vt:lpstr>汉仪书宋二KW</vt:lpstr>
      <vt:lpstr>Courier New</vt:lpstr>
      <vt:lpstr>微软雅黑</vt:lpstr>
      <vt:lpstr>汉仪旗黑</vt:lpstr>
      <vt:lpstr>Arial Unicode MS</vt:lpstr>
      <vt:lpstr>BatangChe</vt:lpstr>
      <vt:lpstr>苹方-简</vt:lpstr>
      <vt:lpstr>STIXGeneral</vt:lpstr>
      <vt:lpstr>Office Theme</vt:lpstr>
      <vt:lpstr>PowerPoint 演示文稿</vt:lpstr>
      <vt:lpstr>PowerPoint 演示文稿</vt:lpstr>
      <vt:lpstr>Basic Definitions</vt:lpstr>
      <vt:lpstr>Basic Definitions</vt:lpstr>
      <vt:lpstr>Basic Definition</vt:lpstr>
      <vt:lpstr>PowerPoint 演示文稿</vt:lpstr>
      <vt:lpstr>PowerPoint 演示文稿</vt:lpstr>
      <vt:lpstr>PowerPoint 演示文稿</vt:lpstr>
      <vt:lpstr>Adjacency-matrix</vt:lpstr>
      <vt:lpstr>Adjacency-matrix</vt:lpstr>
      <vt:lpstr>Adjacency-matrix</vt:lpstr>
      <vt:lpstr>Adjacency-matrix</vt:lpstr>
      <vt:lpstr>Adjacency-matrix</vt:lpstr>
      <vt:lpstr>Adjacency-matrix</vt:lpstr>
      <vt:lpstr>Adjacency-matrix</vt:lpstr>
      <vt:lpstr>PowerPoint 演示文稿</vt:lpstr>
      <vt:lpstr>Adjacency-matrix</vt:lpstr>
      <vt:lpstr>PowerPoint 演示文稿</vt:lpstr>
      <vt:lpstr>Adjacency-list</vt:lpstr>
      <vt:lpstr>Adjacency-list</vt:lpstr>
      <vt:lpstr>Adjacency-list</vt:lpstr>
      <vt:lpstr>Adjacency-list</vt:lpstr>
      <vt:lpstr>Adjacency-list</vt:lpstr>
      <vt:lpstr>Adjacency-list</vt:lpstr>
      <vt:lpstr>DFS/BFS</vt:lpstr>
      <vt:lpstr>Naïve Algorithm</vt:lpstr>
      <vt:lpstr>DFS implementation in Java(Recursive, Adjacency List)</vt:lpstr>
      <vt:lpstr>DFS implementation(using stack)</vt:lpstr>
      <vt:lpstr>BFS implementation</vt:lpstr>
      <vt:lpstr>Search on Inverse Graph </vt:lpstr>
      <vt:lpstr>DFS  on inverse graph</vt:lpstr>
      <vt:lpstr>BFS on inverse graph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CSC3100 Data Structures Spring 2022 - Tutorial 12-2: Graph</dc:title>
  <dc:creator>HU Haichuan</dc:creator>
  <cp:lastModifiedBy>220041048</cp:lastModifiedBy>
  <cp:revision>3</cp:revision>
  <dcterms:created xsi:type="dcterms:W3CDTF">2022-11-30T05:31:22Z</dcterms:created>
  <dcterms:modified xsi:type="dcterms:W3CDTF">2022-11-30T05:31:22Z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1900-01-00T00:00:00Z</vt:filetime>
  </property>
  <property fmtid="{D5CDD505-2E9C-101B-9397-08002B2CF9AE}" pid="3" name="Creator">
    <vt:lpwstr>LaTeX with Beamer class</vt:lpwstr>
  </property>
  <property fmtid="{D5CDD505-2E9C-101B-9397-08002B2CF9AE}" pid="4" name="Producer">
    <vt:lpwstr>xdvipdfmx (20211117)</vt:lpwstr>
  </property>
  <property fmtid="{D5CDD505-2E9C-101B-9397-08002B2CF9AE}" pid="5" name="LastSaved">
    <vt:filetime>1900-01-00T00:00:00Z</vt:filetime>
  </property>
  <property fmtid="{D5CDD505-2E9C-101B-9397-08002B2CF9AE}" pid="6" name="KSOProductBuildVer">
    <vt:lpwstr>1033-3.9.3.6359</vt:lpwstr>
  </property>
</Properties>
</file>