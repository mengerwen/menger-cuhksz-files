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3"/>
    <p:sldId id="257" r:id="rId4"/>
    <p:sldId id="258" r:id="rId5"/>
    <p:sldId id="260" r:id="rId6"/>
    <p:sldId id="259" r:id="rId7"/>
    <p:sldId id="261" r:id="rId8"/>
    <p:sldId id="262" r:id="rId9"/>
    <p:sldId id="280" r:id="rId11"/>
    <p:sldId id="263" r:id="rId12"/>
    <p:sldId id="264" r:id="rId13"/>
    <p:sldId id="265" r:id="rId14"/>
    <p:sldId id="282" r:id="rId15"/>
    <p:sldId id="266" r:id="rId16"/>
    <p:sldId id="281" r:id="rId17"/>
    <p:sldId id="267" r:id="rId18"/>
    <p:sldId id="283" r:id="rId19"/>
    <p:sldId id="269" r:id="rId20"/>
    <p:sldId id="270" r:id="rId21"/>
    <p:sldId id="271" r:id="rId22"/>
    <p:sldId id="272" r:id="rId23"/>
    <p:sldId id="273" r:id="rId24"/>
    <p:sldId id="274" r:id="rId25"/>
    <p:sldId id="291" r:id="rId26"/>
    <p:sldId id="292" r:id="rId27"/>
    <p:sldId id="275" r:id="rId28"/>
    <p:sldId id="301" r:id="rId29"/>
    <p:sldId id="302" r:id="rId30"/>
    <p:sldId id="276" r:id="rId31"/>
    <p:sldId id="285" r:id="rId32"/>
    <p:sldId id="277" r:id="rId33"/>
    <p:sldId id="286" r:id="rId34"/>
    <p:sldId id="278" r:id="rId35"/>
    <p:sldId id="268" r:id="rId36"/>
    <p:sldId id="287" r:id="rId37"/>
    <p:sldId id="288" r:id="rId38"/>
    <p:sldId id="293" r:id="rId39"/>
    <p:sldId id="294" r:id="rId40"/>
    <p:sldId id="295" r:id="rId41"/>
    <p:sldId id="296" r:id="rId42"/>
    <p:sldId id="297" r:id="rId43"/>
    <p:sldId id="298" r:id="rId44"/>
    <p:sldId id="299" r:id="rId45"/>
    <p:sldId id="318" r:id="rId46"/>
    <p:sldId id="329" r:id="rId47"/>
    <p:sldId id="319" r:id="rId48"/>
    <p:sldId id="341" r:id="rId49"/>
    <p:sldId id="330" r:id="rId50"/>
    <p:sldId id="331" r:id="rId51"/>
    <p:sldId id="321" r:id="rId52"/>
    <p:sldId id="328" r:id="rId53"/>
    <p:sldId id="322" r:id="rId54"/>
    <p:sldId id="339" r:id="rId55"/>
    <p:sldId id="340" r:id="rId56"/>
    <p:sldId id="323" r:id="rId57"/>
    <p:sldId id="332" r:id="rId58"/>
    <p:sldId id="324" r:id="rId59"/>
    <p:sldId id="333" r:id="rId60"/>
    <p:sldId id="325" r:id="rId61"/>
    <p:sldId id="335" r:id="rId62"/>
    <p:sldId id="326" r:id="rId63"/>
    <p:sldId id="336" r:id="rId64"/>
    <p:sldId id="327" r:id="rId65"/>
    <p:sldId id="337" r:id="rId66"/>
    <p:sldId id="338" r:id="rId6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322"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0" Type="http://schemas.openxmlformats.org/officeDocument/2006/relationships/tableStyles" Target="tableStyles.xml"/><Relationship Id="rId7" Type="http://schemas.openxmlformats.org/officeDocument/2006/relationships/slide" Target="slides/slide5.xml"/><Relationship Id="rId69" Type="http://schemas.openxmlformats.org/officeDocument/2006/relationships/viewProps" Target="viewProps.xml"/><Relationship Id="rId68" Type="http://schemas.openxmlformats.org/officeDocument/2006/relationships/presProps" Target="presProps.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5FA24C-AF13-44A1-9ED2-D1D8F0BCFFC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D017F6-240E-4000-BE39-4A19DDE82B5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5D017F6-240E-4000-BE39-4A19DDE82B5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E59318B-7E73-44B1-ADC3-A1ECA4DDBD0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52727B-B237-4CB2-8466-36AEE9345970}"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E59318B-7E73-44B1-ADC3-A1ECA4DDBD0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52727B-B237-4CB2-8466-36AEE934597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9E59318B-7E73-44B1-ADC3-A1ECA4DDBD0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52727B-B237-4CB2-8466-36AEE934597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9E59318B-7E73-44B1-ADC3-A1ECA4DDBD0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52727B-B237-4CB2-8466-36AEE934597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9E59318B-7E73-44B1-ADC3-A1ECA4DDBD0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52727B-B237-4CB2-8466-36AEE9345970}"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9E59318B-7E73-44B1-ADC3-A1ECA4DDBD0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52727B-B237-4CB2-8466-36AEE934597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E59318B-7E73-44B1-ADC3-A1ECA4DDBD0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52727B-B237-4CB2-8466-36AEE9345970}"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E59318B-7E73-44B1-ADC3-A1ECA4DDBD0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52727B-B237-4CB2-8466-36AEE9345970}"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E59318B-7E73-44B1-ADC3-A1ECA4DDBD0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52727B-B237-4CB2-8466-36AEE9345970}"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E59318B-7E73-44B1-ADC3-A1ECA4DDBD0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52727B-B237-4CB2-8466-36AEE934597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E59318B-7E73-44B1-ADC3-A1ECA4DDBD0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52727B-B237-4CB2-8466-36AEE9345970}"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Text Placeholder 2"/>
          <p:cNvSpPr>
            <a:spLocks noGrp="1"/>
          </p:cNvSpPr>
          <p:nvPr>
            <p:ph type="body"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E59318B-7E73-44B1-ADC3-A1ECA4DDBD0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C52727B-B237-4CB2-8466-36AEE934597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59318B-7E73-44B1-ADC3-A1ECA4DDBD0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52727B-B237-4CB2-8466-36AEE934597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GIF"/></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tags" Target="../tags/tag2.xml"/><Relationship Id="rId1" Type="http://schemas.openxmlformats.org/officeDocument/2006/relationships/tags" Target="../tags/tag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9.png"/><Relationship Id="rId1" Type="http://schemas.openxmlformats.org/officeDocument/2006/relationships/image" Target="../media/image4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latin typeface="Calibri" panose="020F0502020204030204" pitchFamily="34" charset="0"/>
                <a:ea typeface="Calibri" panose="020F0502020204030204" pitchFamily="34" charset="0"/>
                <a:cs typeface="Calibri" panose="020F0502020204030204" pitchFamily="34" charset="0"/>
              </a:rPr>
              <a:t>CSC3100 Final Review</a:t>
            </a:r>
            <a:endParaRPr lang="zh-CN" altLang="en-US" dirty="0">
              <a:latin typeface="Calibri" panose="020F0502020204030204" pitchFamily="34" charset="0"/>
              <a:cs typeface="Calibri" panose="020F0502020204030204" pitchFamily="34" charset="0"/>
            </a:endParaRPr>
          </a:p>
        </p:txBody>
      </p:sp>
      <p:sp>
        <p:nvSpPr>
          <p:cNvPr id="3" name="副标题 2"/>
          <p:cNvSpPr>
            <a:spLocks noGrp="1"/>
          </p:cNvSpPr>
          <p:nvPr>
            <p:ph type="subTitle" idx="1"/>
          </p:nvPr>
        </p:nvSpPr>
        <p:spPr/>
        <p:txBody>
          <a:bodyPr/>
          <a:lstStyle/>
          <a:p>
            <a:r>
              <a:rPr lang="en-US" altLang="zh-CN" dirty="0">
                <a:latin typeface="Calibri" panose="020F0502020204030204" pitchFamily="34" charset="0"/>
                <a:cs typeface="Calibri" panose="020F0502020204030204" pitchFamily="34" charset="0"/>
              </a:rPr>
              <a:t>CUHK-Shenzhen Programming Contest Team</a:t>
            </a:r>
            <a:endParaRPr lang="en-US" altLang="zh-CN" dirty="0">
              <a:latin typeface="Calibri" panose="020F0502020204030204" pitchFamily="34" charset="0"/>
              <a:cs typeface="Calibri" panose="020F0502020204030204" pitchFamily="34" charset="0"/>
            </a:endParaRPr>
          </a:p>
          <a:p>
            <a:r>
              <a:rPr lang="en-US" altLang="zh-CN" dirty="0">
                <a:latin typeface="Calibri" panose="020F0502020204030204" pitchFamily="34" charset="0"/>
                <a:cs typeface="Calibri" panose="020F0502020204030204" pitchFamily="34" charset="0"/>
              </a:rPr>
              <a:t>Runyuan He &amp; Xinyan Zhou</a:t>
            </a:r>
            <a:endParaRPr lang="en-US" altLang="zh-CN" dirty="0">
              <a:latin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b="1" dirty="0">
                <a:latin typeface="BIZ UDPMincho Medium" panose="02020500000000000000" pitchFamily="18" charset="-128"/>
                <a:ea typeface="BIZ UDPMincho Medium" panose="02020500000000000000" pitchFamily="18" charset="-128"/>
                <a:cs typeface="+mn-cs"/>
              </a:rPr>
              <a:t>Review of core course topics</a:t>
            </a:r>
            <a:endParaRPr lang="zh-CN" altLang="en-US" sz="3600" b="1" dirty="0">
              <a:latin typeface="BIZ UDPMincho Medium" panose="02020500000000000000" pitchFamily="18" charset="-128"/>
              <a:ea typeface="BIZ UDPMincho Medium" panose="02020500000000000000" pitchFamily="18" charset="-128"/>
              <a:cs typeface="+mn-cs"/>
            </a:endParaRPr>
          </a:p>
        </p:txBody>
      </p:sp>
      <p:sp>
        <p:nvSpPr>
          <p:cNvPr id="3" name="内容占位符 2"/>
          <p:cNvSpPr>
            <a:spLocks noGrp="1"/>
          </p:cNvSpPr>
          <p:nvPr>
            <p:ph idx="1"/>
          </p:nvPr>
        </p:nvSpPr>
        <p:spPr/>
        <p:txBody>
          <a:bodyPr>
            <a:normAutofit/>
          </a:bodyPr>
          <a:lstStyle/>
          <a:p>
            <a:r>
              <a:rPr lang="en-US" altLang="zh-CN" dirty="0">
                <a:latin typeface="Calibri" panose="020F0502020204030204" pitchFamily="34" charset="0"/>
                <a:ea typeface="Calibri" panose="020F0502020204030204" pitchFamily="34" charset="0"/>
                <a:cs typeface="Calibri" panose="020F0502020204030204" pitchFamily="34" charset="0"/>
              </a:rPr>
              <a:t>(1) </a:t>
            </a:r>
            <a:r>
              <a:rPr lang="en-US" altLang="zh-CN" b="1" dirty="0">
                <a:latin typeface="Calibri" panose="020F0502020204030204" pitchFamily="34" charset="0"/>
                <a:ea typeface="Calibri" panose="020F0502020204030204" pitchFamily="34" charset="0"/>
                <a:cs typeface="Calibri" panose="020F0502020204030204" pitchFamily="34" charset="0"/>
              </a:rPr>
              <a:t>Hash table</a:t>
            </a:r>
            <a:r>
              <a:rPr lang="en-US" altLang="zh-CN" dirty="0">
                <a:latin typeface="Calibri" panose="020F0502020204030204" pitchFamily="34" charset="0"/>
                <a:ea typeface="Calibri" panose="020F0502020204030204" pitchFamily="34" charset="0"/>
                <a:cs typeface="Calibri" panose="020F0502020204030204" pitchFamily="34" charset="0"/>
              </a:rPr>
              <a:t>: chaining, linear probing, double hashing, definition of alpha, time complexity and its proof. </a:t>
            </a:r>
            <a:endParaRPr lang="en-US" altLang="zh-CN"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(2) </a:t>
            </a:r>
            <a:r>
              <a:rPr lang="en-US" altLang="zh-CN" b="1" dirty="0">
                <a:latin typeface="Calibri" panose="020F0502020204030204" pitchFamily="34" charset="0"/>
                <a:ea typeface="Calibri" panose="020F0502020204030204" pitchFamily="34" charset="0"/>
                <a:cs typeface="Calibri" panose="020F0502020204030204" pitchFamily="34" charset="0"/>
              </a:rPr>
              <a:t>Heap</a:t>
            </a:r>
            <a:r>
              <a:rPr lang="en-US" altLang="zh-CN" dirty="0">
                <a:latin typeface="Calibri" panose="020F0502020204030204" pitchFamily="34" charset="0"/>
                <a:ea typeface="Calibri" panose="020F0502020204030204" pitchFamily="34" charset="0"/>
                <a:cs typeface="Calibri" panose="020F0502020204030204" pitchFamily="34" charset="0"/>
              </a:rPr>
              <a:t>: insert, delete, building a heap in linear time</a:t>
            </a:r>
            <a:endParaRPr lang="en-US" altLang="zh-CN"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(3) </a:t>
            </a:r>
            <a:r>
              <a:rPr lang="en-US" altLang="zh-CN" b="1" dirty="0">
                <a:latin typeface="Calibri" panose="020F0502020204030204" pitchFamily="34" charset="0"/>
                <a:ea typeface="Calibri" panose="020F0502020204030204" pitchFamily="34" charset="0"/>
                <a:cs typeface="Calibri" panose="020F0502020204030204" pitchFamily="34" charset="0"/>
              </a:rPr>
              <a:t>Stack</a:t>
            </a:r>
            <a:r>
              <a:rPr lang="en-US" altLang="zh-CN" dirty="0">
                <a:latin typeface="Calibri" panose="020F0502020204030204" pitchFamily="34" charset="0"/>
                <a:ea typeface="Calibri" panose="020F0502020204030204" pitchFamily="34" charset="0"/>
                <a:cs typeface="Calibri" panose="020F0502020204030204" pitchFamily="34" charset="0"/>
              </a:rPr>
              <a:t>: how to do DFS in a stack, DFS tree, compare it and implementing BFS with a queue. (first in last out, first in first out)</a:t>
            </a:r>
            <a:endParaRPr lang="en-US" altLang="zh-CN"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(4) </a:t>
            </a:r>
            <a:r>
              <a:rPr lang="en-US" altLang="zh-CN" b="1" dirty="0">
                <a:latin typeface="Calibri" panose="020F0502020204030204" pitchFamily="34" charset="0"/>
                <a:ea typeface="Calibri" panose="020F0502020204030204" pitchFamily="34" charset="0"/>
                <a:cs typeface="Calibri" panose="020F0502020204030204" pitchFamily="34" charset="0"/>
              </a:rPr>
              <a:t>Tree</a:t>
            </a:r>
            <a:r>
              <a:rPr lang="en-US" altLang="zh-CN" dirty="0">
                <a:latin typeface="Calibri" panose="020F0502020204030204" pitchFamily="34" charset="0"/>
                <a:ea typeface="Calibri" panose="020F0502020204030204" pitchFamily="34" charset="0"/>
                <a:cs typeface="Calibri" panose="020F0502020204030204" pitchFamily="34" charset="0"/>
              </a:rPr>
              <a:t>: definition; AVL Tree: rotate</a:t>
            </a:r>
            <a:endParaRPr lang="en-US" altLang="zh-CN"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(5) </a:t>
            </a:r>
            <a:r>
              <a:rPr lang="en-US" altLang="zh-CN" b="1" dirty="0">
                <a:latin typeface="Calibri" panose="020F0502020204030204" pitchFamily="34" charset="0"/>
                <a:ea typeface="Calibri" panose="020F0502020204030204" pitchFamily="34" charset="0"/>
                <a:cs typeface="Calibri" panose="020F0502020204030204" pitchFamily="34" charset="0"/>
              </a:rPr>
              <a:t>Graph</a:t>
            </a:r>
            <a:r>
              <a:rPr lang="en-US" altLang="zh-CN" dirty="0">
                <a:latin typeface="Calibri" panose="020F0502020204030204" pitchFamily="34" charset="0"/>
                <a:ea typeface="Calibri" panose="020F0502020204030204" pitchFamily="34" charset="0"/>
                <a:cs typeface="Calibri" panose="020F0502020204030204" pitchFamily="34" charset="0"/>
              </a:rPr>
              <a:t>: comparison of linked list and linked table (how to use, complexity), Floyd(why it’s DP), shortest path, MST </a:t>
            </a:r>
            <a:endParaRPr lang="zh-CN" altLang="en-US" dirty="0">
              <a:latin typeface="Calibri" panose="020F0502020204030204" pitchFamily="34" charset="0"/>
              <a:ea typeface="BIZ UDPMincho Medium" panose="02020500000000000000" pitchFamily="18" charset="-128"/>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BIZ UDPMincho Medium" panose="02020500000000000000" pitchFamily="18" charset="-128"/>
                <a:ea typeface="BIZ UDPMincho Medium" panose="02020500000000000000" pitchFamily="18" charset="-128"/>
              </a:rPr>
              <a:t>Hash table</a:t>
            </a:r>
            <a:endParaRPr lang="zh-CN" altLang="en-US" dirty="0"/>
          </a:p>
        </p:txBody>
      </p:sp>
      <p:pic>
        <p:nvPicPr>
          <p:cNvPr id="7" name="图片 6"/>
          <p:cNvPicPr>
            <a:picLocks noChangeAspect="1"/>
          </p:cNvPicPr>
          <p:nvPr/>
        </p:nvPicPr>
        <p:blipFill>
          <a:blip r:embed="rId1"/>
          <a:stretch>
            <a:fillRect/>
          </a:stretch>
        </p:blipFill>
        <p:spPr>
          <a:xfrm>
            <a:off x="1034538" y="1780039"/>
            <a:ext cx="5061462" cy="3649518"/>
          </a:xfrm>
          <a:prstGeom prst="rect">
            <a:avLst/>
          </a:prstGeom>
        </p:spPr>
      </p:pic>
      <mc:AlternateContent xmlns:mc="http://schemas.openxmlformats.org/markup-compatibility/2006">
        <mc:Choice xmlns:a14="http://schemas.microsoft.com/office/drawing/2010/main" Requires="a14">
          <p:sp>
            <p:nvSpPr>
              <p:cNvPr id="8" name="文本框 7"/>
              <p:cNvSpPr txBox="1"/>
              <p:nvPr/>
            </p:nvSpPr>
            <p:spPr>
              <a:xfrm>
                <a:off x="6558115" y="505477"/>
                <a:ext cx="5243115" cy="5408597"/>
              </a:xfrm>
              <a:prstGeom prst="rect">
                <a:avLst/>
              </a:prstGeom>
              <a:noFill/>
            </p:spPr>
            <p:txBody>
              <a:bodyPr wrap="square" rtlCol="0">
                <a:spAutoFit/>
              </a:bodyPr>
              <a:lstStyle/>
              <a:p>
                <a:r>
                  <a:rPr lang="en-US" altLang="zh-CN" sz="2800" dirty="0">
                    <a:latin typeface="Calibri" panose="020F0502020204030204" pitchFamily="34" charset="0"/>
                    <a:ea typeface="Calibri" panose="020F0502020204030204" pitchFamily="34" charset="0"/>
                    <a:cs typeface="Calibri" panose="020F0502020204030204" pitchFamily="34" charset="0"/>
                  </a:rPr>
                  <a:t>In C++ : </a:t>
                </a:r>
                <a:r>
                  <a:rPr lang="en-US" altLang="zh-CN" sz="2800" dirty="0">
                    <a:latin typeface="Consolas" panose="020B0609020204030204" pitchFamily="49" charset="0"/>
                    <a:ea typeface="Calibri" panose="020F0502020204030204" pitchFamily="34" charset="0"/>
                    <a:cs typeface="Calibri" panose="020F0502020204030204" pitchFamily="34" charset="0"/>
                  </a:rPr>
                  <a:t>map</a:t>
                </a:r>
                <a:endParaRPr lang="en-US" altLang="zh-CN" sz="2800" dirty="0">
                  <a:latin typeface="Consolas" panose="020B0609020204030204" pitchFamily="49" charset="0"/>
                  <a:ea typeface="Calibri" panose="020F0502020204030204" pitchFamily="34" charset="0"/>
                  <a:cs typeface="Calibri" panose="020F0502020204030204" pitchFamily="34" charset="0"/>
                </a:endParaRPr>
              </a:p>
              <a:p>
                <a:r>
                  <a:rPr lang="en-US" altLang="zh-CN" sz="2800" dirty="0">
                    <a:latin typeface="Calibri" panose="020F0502020204030204" pitchFamily="34" charset="0"/>
                    <a:ea typeface="Calibri" panose="020F0502020204030204" pitchFamily="34" charset="0"/>
                    <a:cs typeface="Calibri" panose="020F0502020204030204" pitchFamily="34" charset="0"/>
                  </a:rPr>
                  <a:t>In Python : </a:t>
                </a:r>
                <a:r>
                  <a:rPr lang="en-US" altLang="zh-CN" sz="2800" dirty="0" err="1">
                    <a:latin typeface="Consolas" panose="020B0609020204030204" pitchFamily="49" charset="0"/>
                    <a:ea typeface="Calibri" panose="020F0502020204030204" pitchFamily="34" charset="0"/>
                    <a:cs typeface="Calibri" panose="020F0502020204030204" pitchFamily="34" charset="0"/>
                  </a:rPr>
                  <a:t>dict</a:t>
                </a:r>
                <a:r>
                  <a:rPr lang="en-US" altLang="zh-CN" sz="2800" dirty="0">
                    <a:latin typeface="Consolas" panose="020B0609020204030204" pitchFamily="49" charset="0"/>
                    <a:ea typeface="Calibri" panose="020F0502020204030204" pitchFamily="34" charset="0"/>
                    <a:cs typeface="Calibri" panose="020F0502020204030204" pitchFamily="34" charset="0"/>
                  </a:rPr>
                  <a:t>()</a:t>
                </a:r>
                <a:endParaRPr lang="en-US" altLang="zh-CN" sz="2800" dirty="0">
                  <a:latin typeface="Consolas" panose="020B0609020204030204" pitchFamily="49" charset="0"/>
                  <a:ea typeface="Calibri" panose="020F0502020204030204" pitchFamily="34" charset="0"/>
                  <a:cs typeface="Calibri" panose="020F0502020204030204" pitchFamily="34" charset="0"/>
                </a:endParaRPr>
              </a:p>
              <a:p>
                <a:endParaRPr lang="en-US" altLang="zh-CN" sz="2800" dirty="0">
                  <a:latin typeface="Calibri" panose="020F0502020204030204" pitchFamily="34" charset="0"/>
                  <a:ea typeface="Calibri" panose="020F0502020204030204" pitchFamily="34" charset="0"/>
                  <a:cs typeface="Calibri" panose="020F0502020204030204" pitchFamily="34" charset="0"/>
                </a:endParaRPr>
              </a:p>
              <a:p>
                <a:r>
                  <a:rPr lang="en-US" altLang="zh-CN" sz="2800" dirty="0">
                    <a:latin typeface="Calibri" panose="020F0502020204030204" pitchFamily="34" charset="0"/>
                    <a:ea typeface="Calibri" panose="020F0502020204030204" pitchFamily="34" charset="0"/>
                    <a:cs typeface="Calibri" panose="020F0502020204030204" pitchFamily="34" charset="0"/>
                  </a:rPr>
                  <a:t>The main problem is to solve collision.</a:t>
                </a:r>
                <a:endParaRPr lang="en-US" altLang="zh-CN" sz="2800" dirty="0">
                  <a:latin typeface="Calibri" panose="020F0502020204030204" pitchFamily="34" charset="0"/>
                  <a:ea typeface="Calibri" panose="020F0502020204030204" pitchFamily="34" charset="0"/>
                  <a:cs typeface="Calibri" panose="020F0502020204030204" pitchFamily="34" charset="0"/>
                </a:endParaRPr>
              </a:p>
              <a:p>
                <a:endParaRPr lang="en-US" altLang="zh-CN" sz="2800" dirty="0">
                  <a:latin typeface="Calibri" panose="020F0502020204030204" pitchFamily="34" charset="0"/>
                  <a:ea typeface="Calibri" panose="020F0502020204030204" pitchFamily="34" charset="0"/>
                  <a:cs typeface="Calibri" panose="020F0502020204030204" pitchFamily="34" charset="0"/>
                </a:endParaRPr>
              </a:p>
              <a:p>
                <a:r>
                  <a:rPr lang="en-US" altLang="zh-CN" sz="2800" b="1" dirty="0">
                    <a:solidFill>
                      <a:srgbClr val="FF0000"/>
                    </a:solidFill>
                    <a:latin typeface="Calibri" panose="020F0502020204030204" pitchFamily="34" charset="0"/>
                    <a:ea typeface="Calibri" panose="020F0502020204030204" pitchFamily="34" charset="0"/>
                    <a:cs typeface="Calibri" panose="020F0502020204030204" pitchFamily="34" charset="0"/>
                  </a:rPr>
                  <a:t>Collision</a:t>
                </a:r>
                <a:r>
                  <a:rPr lang="en-US" altLang="zh-CN" sz="2800" dirty="0">
                    <a:latin typeface="Calibri" panose="020F0502020204030204" pitchFamily="34" charset="0"/>
                    <a:ea typeface="Calibri" panose="020F0502020204030204" pitchFamily="34" charset="0"/>
                    <a:cs typeface="Calibri" panose="020F0502020204030204" pitchFamily="34" charset="0"/>
                  </a:rPr>
                  <a:t>: two keys hash to the same slot</a:t>
                </a:r>
                <a:endParaRPr lang="en-US" altLang="zh-CN" sz="2800" dirty="0">
                  <a:latin typeface="Calibri" panose="020F0502020204030204" pitchFamily="34" charset="0"/>
                  <a:ea typeface="Calibri" panose="020F0502020204030204" pitchFamily="34" charset="0"/>
                  <a:cs typeface="Calibri" panose="020F0502020204030204" pitchFamily="34" charset="0"/>
                </a:endParaRPr>
              </a:p>
              <a:p>
                <a:endParaRPr lang="en-US" altLang="zh-CN" sz="2800" b="0" i="1" dirty="0">
                  <a:latin typeface="Cambria Math" panose="02040503050406030204" charset="0"/>
                  <a:ea typeface="BIZ UDPMincho Medium" panose="02020500000000000000" pitchFamily="18" charset="-128"/>
                </a:endParaRPr>
              </a:p>
              <a:p>
                <a:r>
                  <a:rPr lang="en-US" altLang="en-US" sz="2800" b="1" dirty="0">
                    <a:solidFill>
                      <a:srgbClr val="FF0000"/>
                    </a:solidFill>
                    <a:latin typeface="Calibri" panose="020F0502020204030204" pitchFamily="34" charset="0"/>
                    <a:ea typeface="Calibri" panose="020F0502020204030204" pitchFamily="34" charset="0"/>
                    <a:cs typeface="Calibri" panose="020F0502020204030204" pitchFamily="34" charset="0"/>
                  </a:rPr>
                  <a:t>Load factor</a:t>
                </a:r>
                <a:r>
                  <a:rPr lang="en-US" altLang="en-US" sz="2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altLang="en-US" sz="2800" b="0" i="1" smtClean="0">
                        <a:latin typeface="Cambria Math" panose="02040503050406030204" charset="0"/>
                        <a:ea typeface="Calibri" panose="020F0502020204030204" pitchFamily="34" charset="0"/>
                        <a:cs typeface="Calibri" panose="020F0502020204030204" pitchFamily="34" charset="0"/>
                      </a:rPr>
                      <m:t>𝛼</m:t>
                    </m:r>
                    <m:r>
                      <a:rPr lang="en-US" altLang="en-US" sz="2800" b="0" i="1" smtClean="0">
                        <a:latin typeface="Cambria Math" panose="02040503050406030204" charset="0"/>
                        <a:ea typeface="Calibri" panose="020F0502020204030204" pitchFamily="34" charset="0"/>
                        <a:cs typeface="Calibri" panose="020F0502020204030204" pitchFamily="34" charset="0"/>
                      </a:rPr>
                      <m:t>=</m:t>
                    </m:r>
                    <m:f>
                      <m:fPr>
                        <m:ctrlPr>
                          <a:rPr lang="en-US" altLang="en-US" sz="2800" b="0" i="1" smtClean="0">
                            <a:latin typeface="Cambria Math" panose="02040503050406030204" charset="0"/>
                            <a:ea typeface="Calibri" panose="020F0502020204030204" pitchFamily="34" charset="0"/>
                            <a:cs typeface="Calibri" panose="020F0502020204030204" pitchFamily="34" charset="0"/>
                          </a:rPr>
                        </m:ctrlPr>
                      </m:fPr>
                      <m:num>
                        <m:r>
                          <a:rPr lang="en-US" altLang="en-US" sz="2800" b="0" i="1" smtClean="0">
                            <a:latin typeface="Cambria Math" panose="02040503050406030204" charset="0"/>
                            <a:ea typeface="Calibri" panose="020F0502020204030204" pitchFamily="34" charset="0"/>
                            <a:cs typeface="Calibri" panose="020F0502020204030204" pitchFamily="34" charset="0"/>
                          </a:rPr>
                          <m:t>𝑛</m:t>
                        </m:r>
                      </m:num>
                      <m:den>
                        <m:r>
                          <a:rPr lang="en-US" altLang="en-US" sz="2800" b="0" i="1" smtClean="0">
                            <a:latin typeface="Cambria Math" panose="02040503050406030204" charset="0"/>
                            <a:ea typeface="Calibri" panose="020F0502020204030204" pitchFamily="34" charset="0"/>
                            <a:cs typeface="Calibri" panose="020F0502020204030204" pitchFamily="34" charset="0"/>
                          </a:rPr>
                          <m:t>𝑚</m:t>
                        </m:r>
                      </m:den>
                    </m:f>
                  </m:oMath>
                </a14:m>
                <a:r>
                  <a:rPr lang="en-US" altLang="en-US" sz="2800" dirty="0">
                    <a:latin typeface="Cambria Math" panose="02040503050406030204" charset="0"/>
                    <a:ea typeface="BIZ UDPMincho Medium" panose="02020500000000000000" pitchFamily="18" charset="-128"/>
                  </a:rPr>
                  <a:t>, where </a:t>
                </a:r>
                <a14:m>
                  <m:oMath xmlns:m="http://schemas.openxmlformats.org/officeDocument/2006/math">
                    <m:r>
                      <a:rPr lang="en-US" altLang="en-US" sz="2800" b="0" i="1" smtClean="0">
                        <a:latin typeface="Cambria Math" panose="02040503050406030204" charset="0"/>
                        <a:ea typeface="BIZ UDPMincho Medium" panose="02020500000000000000" pitchFamily="18" charset="-128"/>
                      </a:rPr>
                      <m:t>𝑛</m:t>
                    </m:r>
                  </m:oMath>
                </a14:m>
                <a:r>
                  <a:rPr lang="en-US" altLang="en-US" sz="2800" dirty="0">
                    <a:latin typeface="Cambria Math" panose="02040503050406030204" charset="0"/>
                    <a:ea typeface="BIZ UDPMincho Medium" panose="02020500000000000000" pitchFamily="18" charset="-128"/>
                  </a:rPr>
                  <a:t> is number of elements in hash table, </a:t>
                </a:r>
                <a14:m>
                  <m:oMath xmlns:m="http://schemas.openxmlformats.org/officeDocument/2006/math">
                    <m:r>
                      <a:rPr lang="en-US" altLang="en-US" sz="2800" b="0" i="1" smtClean="0">
                        <a:latin typeface="Cambria Math" panose="02040503050406030204" charset="0"/>
                        <a:ea typeface="BIZ UDPMincho Medium" panose="02020500000000000000" pitchFamily="18" charset="-128"/>
                      </a:rPr>
                      <m:t>𝑚</m:t>
                    </m:r>
                  </m:oMath>
                </a14:m>
                <a:r>
                  <a:rPr lang="en-US" altLang="en-US" sz="2800" dirty="0">
                    <a:latin typeface="Cambria Math" panose="02040503050406030204" charset="0"/>
                    <a:ea typeface="BIZ UDPMincho Medium" panose="02020500000000000000" pitchFamily="18" charset="-128"/>
                  </a:rPr>
                  <a:t> is the size of hash table.</a:t>
                </a:r>
                <a:endParaRPr lang="en-US" altLang="en-US" sz="2800" dirty="0">
                  <a:latin typeface="Cambria Math" panose="02040503050406030204" charset="0"/>
                  <a:ea typeface="BIZ UDPMincho Medium" panose="02020500000000000000" pitchFamily="18" charset="-128"/>
                  <a:cs typeface="Calibri" panose="020F0502020204030204" pitchFamily="34"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6558115" y="505477"/>
                <a:ext cx="5243115" cy="5408597"/>
              </a:xfrm>
              <a:prstGeom prst="rect">
                <a:avLst/>
              </a:prstGeom>
              <a:blipFill rotWithShape="1">
                <a:blip r:embed="rId2"/>
                <a:stretch>
                  <a:fillRect l="-9" r="7" b="6"/>
                </a:stretch>
              </a:blipFill>
            </p:spPr>
            <p:txBody>
              <a:bodyPr/>
              <a:lstStyle/>
              <a:p>
                <a:r>
                  <a:rPr lang="en-US" alt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Calibri" panose="020F0502020204030204" pitchFamily="34" charset="0"/>
                <a:ea typeface="Calibri" panose="020F0502020204030204" pitchFamily="34" charset="0"/>
                <a:cs typeface="Calibri" panose="020F0502020204030204" pitchFamily="34" charset="0"/>
              </a:rPr>
              <a:t>Hash table</a:t>
            </a:r>
            <a:endParaRPr lang="zh-CN" altLang="en-US" dirty="0">
              <a:latin typeface="Calibri" panose="020F0502020204030204" pitchFamily="34" charset="0"/>
              <a:cs typeface="Calibri" panose="020F0502020204030204" pitchFamily="34" charset="0"/>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a:lnSpc>
                    <a:spcPct val="100000"/>
                  </a:lnSpc>
                </a:pPr>
                <a:r>
                  <a:rPr lang="en-US" altLang="zh-CN" b="1" dirty="0">
                    <a:latin typeface="Calibri" panose="020F0502020204030204" pitchFamily="34" charset="0"/>
                    <a:ea typeface="Calibri" panose="020F0502020204030204" pitchFamily="34" charset="0"/>
                    <a:cs typeface="Calibri" panose="020F0502020204030204" pitchFamily="34" charset="0"/>
                  </a:rPr>
                  <a:t>Chaining:</a:t>
                </a:r>
                <a:r>
                  <a:rPr lang="en-US" altLang="zh-CN" dirty="0">
                    <a:latin typeface="Calibri" panose="020F0502020204030204" pitchFamily="34" charset="0"/>
                    <a:ea typeface="Calibri" panose="020F0502020204030204" pitchFamily="34" charset="0"/>
                    <a:cs typeface="Calibri" panose="020F0502020204030204" pitchFamily="34" charset="0"/>
                  </a:rPr>
                  <a:t> we place all elements that hash to the same slot into the same linked list</a:t>
                </a:r>
                <a:endParaRPr lang="en-US" altLang="zh-CN"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US" altLang="zh-CN" b="1" dirty="0">
                    <a:latin typeface="Calibri" panose="020F0502020204030204" pitchFamily="34" charset="0"/>
                    <a:ea typeface="Calibri" panose="020F0502020204030204" pitchFamily="34" charset="0"/>
                    <a:cs typeface="Calibri" panose="020F0502020204030204" pitchFamily="34" charset="0"/>
                  </a:rPr>
                  <a:t>Time Complexity:</a:t>
                </a:r>
                <a:r>
                  <a:rPr lang="en-US" altLang="zh-CN" dirty="0">
                    <a:latin typeface="Calibri" panose="020F0502020204030204" pitchFamily="34" charset="0"/>
                    <a:ea typeface="Calibri" panose="020F0502020204030204" pitchFamily="34" charset="0"/>
                    <a:cs typeface="Calibri" panose="020F0502020204030204" pitchFamily="34" charset="0"/>
                  </a:rPr>
                  <a:t> search/insertion/deletion takes </a:t>
                </a:r>
                <a14:m>
                  <m:oMath xmlns:m="http://schemas.openxmlformats.org/officeDocument/2006/math">
                    <m:r>
                      <m:rPr>
                        <m:sty m:val="p"/>
                      </m:rPr>
                      <a:rPr lang="en-US" altLang="zh-CN" b="0" i="0" smtClean="0">
                        <a:latin typeface="Cambria Math" panose="02040503050406030204" charset="0"/>
                        <a:ea typeface="BIZ UDPMincho Medium" panose="02020500000000000000" pitchFamily="18" charset="-128"/>
                      </a:rPr>
                      <m:t>O</m:t>
                    </m:r>
                    <m:r>
                      <a:rPr lang="en-US" altLang="zh-CN" b="0" i="0" smtClean="0">
                        <a:latin typeface="Cambria Math" panose="02040503050406030204" charset="0"/>
                        <a:ea typeface="BIZ UDPMincho Medium" panose="02020500000000000000" pitchFamily="18" charset="-128"/>
                      </a:rPr>
                      <m:t>(</m:t>
                    </m:r>
                    <m:r>
                      <a:rPr lang="en-US" altLang="zh-CN" b="0" i="1" smtClean="0">
                        <a:latin typeface="Cambria Math" panose="02040503050406030204" charset="0"/>
                        <a:ea typeface="BIZ UDPMincho Medium" panose="02020500000000000000" pitchFamily="18" charset="-128"/>
                      </a:rPr>
                      <m:t>𝛼</m:t>
                    </m:r>
                    <m:r>
                      <a:rPr lang="en-US" altLang="zh-CN" b="0" i="1" smtClean="0">
                        <a:latin typeface="Cambria Math" panose="02040503050406030204" charset="0"/>
                        <a:ea typeface="BIZ UDPMincho Medium" panose="02020500000000000000" pitchFamily="18" charset="-128"/>
                      </a:rPr>
                      <m:t>+</m:t>
                    </m:r>
                    <m:r>
                      <a:rPr lang="en-US" altLang="zh-CN" b="0" i="1" smtClean="0">
                        <a:latin typeface="Cambria Math" panose="02040503050406030204" charset="0"/>
                        <a:ea typeface="BIZ UDPMincho Medium" panose="02020500000000000000" pitchFamily="18" charset="-128"/>
                      </a:rPr>
                      <m:t>1</m:t>
                    </m:r>
                    <m:r>
                      <a:rPr lang="en-US" altLang="zh-CN" b="0" i="1" smtClean="0">
                        <a:latin typeface="Cambria Math" panose="02040503050406030204" charset="0"/>
                        <a:ea typeface="BIZ UDPMincho Medium" panose="02020500000000000000" pitchFamily="18" charset="-128"/>
                      </a:rPr>
                      <m:t>)</m:t>
                    </m:r>
                  </m:oMath>
                </a14:m>
                <a:r>
                  <a:rPr lang="en-US" altLang="zh-CN" dirty="0">
                    <a:latin typeface="Calibri" panose="020F0502020204030204" pitchFamily="34" charset="0"/>
                    <a:ea typeface="Calibri" panose="020F0502020204030204" pitchFamily="34" charset="0"/>
                    <a:cs typeface="Calibri" panose="020F0502020204030204" pitchFamily="34" charset="0"/>
                  </a:rPr>
                  <a:t> time</a:t>
                </a:r>
                <a:endParaRPr lang="zh-CN" altLang="en-US" dirty="0">
                  <a:latin typeface="Calibri" panose="020F0502020204030204" pitchFamily="34" charset="0"/>
                  <a:ea typeface="BIZ UDPMincho Medium" panose="02020500000000000000" pitchFamily="18" charset="-128"/>
                  <a:cs typeface="Calibri" panose="020F0502020204030204" pitchFamily="3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en-US" altLang="en-US">
                    <a:noFill/>
                  </a:rPr>
                  <a:t> </a:t>
                </a:r>
              </a:p>
            </p:txBody>
          </p:sp>
        </mc:Fallback>
      </mc:AlternateContent>
      <p:pic>
        <p:nvPicPr>
          <p:cNvPr id="5" name="图片 4"/>
          <p:cNvPicPr>
            <a:picLocks noChangeAspect="1"/>
          </p:cNvPicPr>
          <p:nvPr/>
        </p:nvPicPr>
        <p:blipFill>
          <a:blip r:embed="rId2"/>
          <a:stretch>
            <a:fillRect/>
          </a:stretch>
        </p:blipFill>
        <p:spPr>
          <a:xfrm>
            <a:off x="4365522" y="3544773"/>
            <a:ext cx="7086292" cy="285961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Calibri" panose="020F0502020204030204" pitchFamily="34" charset="0"/>
                <a:ea typeface="Calibri" panose="020F0502020204030204" pitchFamily="34" charset="0"/>
                <a:cs typeface="Calibri" panose="020F0502020204030204" pitchFamily="34" charset="0"/>
              </a:rPr>
              <a:t>Hash table</a:t>
            </a:r>
            <a:endParaRPr lang="zh-CN" altLang="en-US" dirty="0">
              <a:latin typeface="Calibri" panose="020F0502020204030204" pitchFamily="34" charset="0"/>
              <a:cs typeface="Calibri" panose="020F0502020204030204" pitchFamily="34" charset="0"/>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69687" y="1751243"/>
                <a:ext cx="11069021" cy="4351338"/>
              </a:xfrm>
            </p:spPr>
            <p:txBody>
              <a:bodyPr>
                <a:normAutofit lnSpcReduction="10000"/>
              </a:bodyPr>
              <a:lstStyle/>
              <a:p>
                <a:r>
                  <a:rPr lang="en-US" altLang="zh-CN" b="1" dirty="0">
                    <a:latin typeface="Calibri" panose="020F0502020204030204" pitchFamily="34" charset="0"/>
                    <a:ea typeface="Calibri" panose="020F0502020204030204" pitchFamily="34" charset="0"/>
                    <a:cs typeface="Calibri" panose="020F0502020204030204" pitchFamily="34" charset="0"/>
                  </a:rPr>
                  <a:t>Open-addressing</a:t>
                </a:r>
                <a:r>
                  <a:rPr lang="en-US" altLang="zh-CN" b="1" dirty="0">
                    <a:latin typeface="Calibri" panose="020F0502020204030204" pitchFamily="34" charset="0"/>
                    <a:ea typeface="BIZ UDPMincho Medium" panose="02020500000000000000" pitchFamily="18" charset="-128"/>
                    <a:cs typeface="Calibri" panose="020F0502020204030204" pitchFamily="34" charset="0"/>
                  </a:rPr>
                  <a:t>:</a:t>
                </a:r>
                <a:r>
                  <a:rPr lang="zh-CN" altLang="en-US" b="1" dirty="0">
                    <a:latin typeface="Calibri" panose="020F0502020204030204" pitchFamily="34" charset="0"/>
                    <a:ea typeface="BIZ UDPMincho Medium" panose="02020500000000000000" pitchFamily="18" charset="-128"/>
                    <a:cs typeface="Calibri" panose="020F0502020204030204" pitchFamily="34" charset="0"/>
                  </a:rPr>
                  <a:t> </a:t>
                </a:r>
                <a:r>
                  <a:rPr lang="en-US" altLang="zh-CN" dirty="0">
                    <a:latin typeface="Calibri" panose="020F0502020204030204" pitchFamily="34" charset="0"/>
                    <a:ea typeface="Calibri" panose="020F0502020204030204" pitchFamily="34" charset="0"/>
                    <a:cs typeface="Calibri" panose="020F0502020204030204" pitchFamily="34" charset="0"/>
                  </a:rPr>
                  <a:t>All elements are stored in the hash table</a:t>
                </a:r>
                <a:endParaRPr lang="en-US" altLang="zh-CN" dirty="0">
                  <a:latin typeface="Calibri" panose="020F0502020204030204" pitchFamily="34" charset="0"/>
                  <a:ea typeface="Calibri" panose="020F0502020204030204" pitchFamily="34" charset="0"/>
                  <a:cs typeface="Calibri" panose="020F0502020204030204" pitchFamily="34" charset="0"/>
                </a:endParaRPr>
              </a:p>
              <a:p>
                <a:pPr lvl="1"/>
                <a:r>
                  <a:rPr lang="en-US" altLang="zh-CN" dirty="0">
                    <a:latin typeface="Calibri" panose="020F0502020204030204" pitchFamily="34" charset="0"/>
                    <a:ea typeface="Calibri" panose="020F0502020204030204" pitchFamily="34" charset="0"/>
                    <a:cs typeface="Calibri" panose="020F0502020204030204" pitchFamily="34" charset="0"/>
                  </a:rPr>
                  <a:t>Unlike chaining, no elements are stored </a:t>
                </a:r>
                <a:r>
                  <a:rPr lang="en-US" altLang="zh-CN" b="1" dirty="0">
                    <a:latin typeface="Calibri" panose="020F0502020204030204" pitchFamily="34" charset="0"/>
                    <a:ea typeface="Calibri" panose="020F0502020204030204" pitchFamily="34" charset="0"/>
                    <a:cs typeface="Calibri" panose="020F0502020204030204" pitchFamily="34" charset="0"/>
                  </a:rPr>
                  <a:t>outside</a:t>
                </a:r>
                <a:r>
                  <a:rPr lang="en-US" altLang="zh-CN" dirty="0">
                    <a:latin typeface="Calibri" panose="020F0502020204030204" pitchFamily="34" charset="0"/>
                    <a:ea typeface="Calibri" panose="020F0502020204030204" pitchFamily="34" charset="0"/>
                    <a:cs typeface="Calibri" panose="020F0502020204030204" pitchFamily="34" charset="0"/>
                  </a:rPr>
                  <a:t> the table</a:t>
                </a:r>
                <a:endParaRPr lang="en-US" altLang="zh-CN" dirty="0">
                  <a:latin typeface="Calibri" panose="020F0502020204030204" pitchFamily="34" charset="0"/>
                  <a:ea typeface="Calibri" panose="020F0502020204030204" pitchFamily="34" charset="0"/>
                  <a:cs typeface="Calibri" panose="020F0502020204030204" pitchFamily="34" charset="0"/>
                </a:endParaRPr>
              </a:p>
              <a:p>
                <a:pPr lvl="1"/>
                <a:r>
                  <a:rPr lang="en-US" altLang="zh-CN" dirty="0">
                    <a:latin typeface="Calibri" panose="020F0502020204030204" pitchFamily="34" charset="0"/>
                    <a:ea typeface="Calibri" panose="020F0502020204030204" pitchFamily="34" charset="0"/>
                    <a:cs typeface="Calibri" panose="020F0502020204030204" pitchFamily="34" charset="0"/>
                  </a:rPr>
                  <a:t>The hash table may “</a:t>
                </a:r>
                <a:r>
                  <a:rPr lang="en-US" altLang="zh-CN" b="1" dirty="0">
                    <a:latin typeface="Calibri" panose="020F0502020204030204" pitchFamily="34" charset="0"/>
                    <a:ea typeface="Calibri" panose="020F0502020204030204" pitchFamily="34" charset="0"/>
                    <a:cs typeface="Calibri" panose="020F0502020204030204" pitchFamily="34" charset="0"/>
                  </a:rPr>
                  <a:t>fill up</a:t>
                </a:r>
                <a:r>
                  <a:rPr lang="en-US" altLang="zh-CN" dirty="0">
                    <a:latin typeface="Calibri" panose="020F0502020204030204" pitchFamily="34" charset="0"/>
                    <a:ea typeface="Calibri" panose="020F0502020204030204" pitchFamily="34" charset="0"/>
                    <a:cs typeface="Calibri" panose="020F0502020204030204" pitchFamily="34" charset="0"/>
                  </a:rPr>
                  <a:t>” such no insertion can be made</a:t>
                </a:r>
                <a:endParaRPr lang="en-US" altLang="zh-CN" sz="2800" dirty="0">
                  <a:latin typeface="Calibri" panose="020F0502020204030204" pitchFamily="34" charset="0"/>
                  <a:ea typeface="Calibri" panose="020F0502020204030204" pitchFamily="34" charset="0"/>
                  <a:cs typeface="Calibri" panose="020F0502020204030204" pitchFamily="34" charset="0"/>
                </a:endParaRPr>
              </a:p>
              <a:p>
                <a:r>
                  <a:rPr lang="en-US" altLang="zh-CN" b="1" dirty="0">
                    <a:latin typeface="Calibri" panose="020F0502020204030204" pitchFamily="34" charset="0"/>
                    <a:ea typeface="Calibri" panose="020F0502020204030204" pitchFamily="34" charset="0"/>
                    <a:cs typeface="Calibri" panose="020F0502020204030204" pitchFamily="34" charset="0"/>
                  </a:rPr>
                  <a:t>Insertion: </a:t>
                </a:r>
                <a:r>
                  <a:rPr lang="en-US" altLang="zh-CN" dirty="0">
                    <a:latin typeface="Calibri" panose="020F0502020204030204" pitchFamily="34" charset="0"/>
                    <a:ea typeface="Calibri" panose="020F0502020204030204" pitchFamily="34" charset="0"/>
                    <a:cs typeface="Calibri" panose="020F0502020204030204" pitchFamily="34" charset="0"/>
                  </a:rPr>
                  <a:t>we examine, or probe, the hash table until an empty slot is found to put the key</a:t>
                </a:r>
                <a:endParaRPr lang="en-US" altLang="zh-CN" dirty="0">
                  <a:latin typeface="Calibri" panose="020F0502020204030204" pitchFamily="34" charset="0"/>
                  <a:ea typeface="Calibri" panose="020F0502020204030204" pitchFamily="34" charset="0"/>
                  <a:cs typeface="Calibri" panose="020F0502020204030204" pitchFamily="34" charset="0"/>
                </a:endParaRPr>
              </a:p>
              <a:p>
                <a:pPr lvl="1"/>
                <a:r>
                  <a:rPr lang="en-US" altLang="zh-CN" dirty="0">
                    <a:latin typeface="Calibri" panose="020F0502020204030204" pitchFamily="34" charset="0"/>
                    <a:ea typeface="Calibri" panose="020F0502020204030204" pitchFamily="34" charset="0"/>
                    <a:cs typeface="Calibri" panose="020F0502020204030204" pitchFamily="34" charset="0"/>
                  </a:rPr>
                  <a:t>Linear probing</a:t>
                </a:r>
                <a:endParaRPr lang="en-US" altLang="zh-CN" dirty="0">
                  <a:latin typeface="Calibri" panose="020F0502020204030204" pitchFamily="34" charset="0"/>
                  <a:ea typeface="Calibri" panose="020F0502020204030204" pitchFamily="34" charset="0"/>
                  <a:cs typeface="Calibri" panose="020F0502020204030204" pitchFamily="34" charset="0"/>
                </a:endParaRPr>
              </a:p>
              <a:p>
                <a:pPr lvl="1"/>
                <a:r>
                  <a:rPr lang="en-US" altLang="zh-CN" dirty="0">
                    <a:latin typeface="Calibri" panose="020F0502020204030204" pitchFamily="34" charset="0"/>
                    <a:ea typeface="Calibri" panose="020F0502020204030204" pitchFamily="34" charset="0"/>
                    <a:cs typeface="Calibri" panose="020F0502020204030204" pitchFamily="34" charset="0"/>
                  </a:rPr>
                  <a:t>Double Hashing</a:t>
                </a:r>
                <a:endParaRPr lang="en-US" altLang="zh-CN" sz="2800" dirty="0">
                  <a:latin typeface="Calibri" panose="020F0502020204030204" pitchFamily="34" charset="0"/>
                  <a:ea typeface="Calibri" panose="020F0502020204030204" pitchFamily="34" charset="0"/>
                  <a:cs typeface="Calibri" panose="020F0502020204030204" pitchFamily="34" charset="0"/>
                </a:endParaRPr>
              </a:p>
              <a:p>
                <a:pPr>
                  <a:lnSpc>
                    <a:spcPct val="110000"/>
                  </a:lnSpc>
                </a:pPr>
                <a:r>
                  <a:rPr lang="en-US" altLang="zh-CN" b="1" dirty="0">
                    <a:latin typeface="Calibri" panose="020F0502020204030204" pitchFamily="34" charset="0"/>
                    <a:ea typeface="Calibri" panose="020F0502020204030204" pitchFamily="34" charset="0"/>
                    <a:cs typeface="Calibri" panose="020F0502020204030204" pitchFamily="34" charset="0"/>
                  </a:rPr>
                  <a:t>Deletion:</a:t>
                </a:r>
                <a:r>
                  <a:rPr lang="en-US" altLang="zh-CN" dirty="0">
                    <a:latin typeface="Calibri" panose="020F0502020204030204" pitchFamily="34" charset="0"/>
                    <a:ea typeface="Calibri" panose="020F0502020204030204" pitchFamily="34" charset="0"/>
                    <a:cs typeface="Calibri" panose="020F0502020204030204" pitchFamily="34" charset="0"/>
                  </a:rPr>
                  <a:t> When deleting an element, we cannot simply set the slot into NULL because it can affect the process to find an element later.</a:t>
                </a:r>
                <a:endParaRPr lang="en-US" altLang="zh-CN" dirty="0">
                  <a:latin typeface="Calibri" panose="020F0502020204030204" pitchFamily="34" charset="0"/>
                  <a:ea typeface="Calibri" panose="020F0502020204030204" pitchFamily="34" charset="0"/>
                  <a:cs typeface="Calibri" panose="020F0502020204030204" pitchFamily="34" charset="0"/>
                </a:endParaRPr>
              </a:p>
              <a:p>
                <a:pPr>
                  <a:lnSpc>
                    <a:spcPct val="110000"/>
                  </a:lnSpc>
                </a:pPr>
                <a:r>
                  <a:rPr lang="en-US" altLang="zh-CN" b="1" dirty="0">
                    <a:latin typeface="Calibri" panose="020F0502020204030204" pitchFamily="34" charset="0"/>
                    <a:ea typeface="Calibri" panose="020F0502020204030204" pitchFamily="34" charset="0"/>
                    <a:cs typeface="Calibri" panose="020F0502020204030204" pitchFamily="34" charset="0"/>
                  </a:rPr>
                  <a:t>Time Complexity:</a:t>
                </a:r>
                <a:r>
                  <a:rPr lang="en-US" altLang="zh-CN"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altLang="zh-CN" b="0" i="1" smtClean="0">
                        <a:latin typeface="Cambria Math" panose="02040503050406030204" charset="0"/>
                        <a:ea typeface="BIZ UDPMincho Medium" panose="02020500000000000000" pitchFamily="18" charset="-128"/>
                      </a:rPr>
                      <m:t>𝑂</m:t>
                    </m:r>
                    <m:r>
                      <a:rPr lang="en-US" altLang="zh-CN" b="0" i="1" smtClean="0">
                        <a:latin typeface="Cambria Math" panose="02040503050406030204" charset="0"/>
                        <a:ea typeface="BIZ UDPMincho Medium" panose="02020500000000000000" pitchFamily="18" charset="-128"/>
                      </a:rPr>
                      <m:t>(</m:t>
                    </m:r>
                    <m:f>
                      <m:fPr>
                        <m:ctrlPr>
                          <a:rPr lang="en-US" altLang="zh-CN" b="0" i="1" smtClean="0">
                            <a:latin typeface="Cambria Math" panose="02040503050406030204" charset="0"/>
                            <a:ea typeface="BIZ UDPMincho Medium" panose="02020500000000000000" pitchFamily="18" charset="-128"/>
                          </a:rPr>
                        </m:ctrlPr>
                      </m:fPr>
                      <m:num>
                        <m:r>
                          <a:rPr lang="en-US" altLang="zh-CN" b="0" i="1" smtClean="0">
                            <a:latin typeface="Cambria Math" panose="02040503050406030204" charset="0"/>
                            <a:ea typeface="BIZ UDPMincho Medium" panose="02020500000000000000" pitchFamily="18" charset="-128"/>
                          </a:rPr>
                          <m:t>𝛼</m:t>
                        </m:r>
                      </m:num>
                      <m:den>
                        <m:r>
                          <a:rPr lang="en-US" altLang="zh-CN" b="0" i="1" smtClean="0">
                            <a:latin typeface="Cambria Math" panose="02040503050406030204" charset="0"/>
                            <a:ea typeface="BIZ UDPMincho Medium" panose="02020500000000000000" pitchFamily="18" charset="-128"/>
                          </a:rPr>
                          <m:t>1</m:t>
                        </m:r>
                        <m:r>
                          <a:rPr lang="en-US" altLang="zh-CN" b="0" i="1" smtClean="0">
                            <a:latin typeface="Cambria Math" panose="02040503050406030204" charset="0"/>
                            <a:ea typeface="BIZ UDPMincho Medium" panose="02020500000000000000" pitchFamily="18" charset="-128"/>
                          </a:rPr>
                          <m:t>−</m:t>
                        </m:r>
                        <m:r>
                          <a:rPr lang="en-US" altLang="zh-CN" b="0" i="1" smtClean="0">
                            <a:latin typeface="Cambria Math" panose="02040503050406030204" charset="0"/>
                            <a:ea typeface="BIZ UDPMincho Medium" panose="02020500000000000000" pitchFamily="18" charset="-128"/>
                          </a:rPr>
                          <m:t>𝛼</m:t>
                        </m:r>
                      </m:den>
                    </m:f>
                    <m:r>
                      <a:rPr lang="en-US" altLang="zh-CN" b="0" i="1" smtClean="0">
                        <a:latin typeface="Cambria Math" panose="02040503050406030204" charset="0"/>
                        <a:ea typeface="BIZ UDPMincho Medium" panose="02020500000000000000" pitchFamily="18" charset="-128"/>
                      </a:rPr>
                      <m:t>)</m:t>
                    </m:r>
                  </m:oMath>
                </a14:m>
                <a:endParaRPr lang="en-US" altLang="zh-CN" dirty="0">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669687" y="1751243"/>
                <a:ext cx="11069021" cy="4351338"/>
              </a:xfrm>
              <a:blipFill rotWithShape="1">
                <a:blip r:embed="rId1"/>
                <a:stretch>
                  <a:fillRect l="-4" t="-669" r="1" b="5"/>
                </a:stretch>
              </a:blipFill>
            </p:spPr>
            <p:txBody>
              <a:bodyPr/>
              <a:lstStyle/>
              <a:p>
                <a:r>
                  <a:rPr lang="en-US" alt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Calibri" panose="020F0502020204030204" pitchFamily="34" charset="0"/>
                <a:ea typeface="Calibri" panose="020F0502020204030204" pitchFamily="34" charset="0"/>
                <a:cs typeface="Calibri" panose="020F0502020204030204" pitchFamily="34" charset="0"/>
              </a:rPr>
              <a:t>Hash table</a:t>
            </a:r>
            <a:endParaRPr lang="zh-CN" altLang="en-US" dirty="0">
              <a:latin typeface="Calibri" panose="020F0502020204030204" pitchFamily="34" charset="0"/>
              <a:cs typeface="Calibri" panose="020F0502020204030204" pitchFamily="34" charset="0"/>
            </a:endParaRPr>
          </a:p>
        </p:txBody>
      </p:sp>
      <p:pic>
        <p:nvPicPr>
          <p:cNvPr id="1026" name="Picture 2" descr="哈希 |第 3 组（开放寻址） | 码农参考"/>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29920" y="1332169"/>
            <a:ext cx="5447822" cy="4472448"/>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686412" y="2951946"/>
            <a:ext cx="5956665" cy="954107"/>
          </a:xfrm>
          <a:prstGeom prst="rect">
            <a:avLst/>
          </a:prstGeom>
          <a:noFill/>
        </p:spPr>
        <p:txBody>
          <a:bodyPr wrap="square" rtlCol="0">
            <a:spAutoFit/>
          </a:bodyPr>
          <a:lstStyle/>
          <a:p>
            <a:r>
              <a:rPr lang="en-US" altLang="zh-CN" sz="2800" b="1" dirty="0">
                <a:latin typeface="Calibri" panose="020F0502020204030204" pitchFamily="34" charset="0"/>
                <a:ea typeface="Calibri" panose="020F0502020204030204" pitchFamily="34" charset="0"/>
                <a:cs typeface="Calibri" panose="020F0502020204030204" pitchFamily="34" charset="0"/>
              </a:rPr>
              <a:t>Open Addressing (linear probing)</a:t>
            </a:r>
            <a:endParaRPr lang="en-US" altLang="zh-CN" sz="2800" b="1" dirty="0">
              <a:latin typeface="Calibri" panose="020F0502020204030204" pitchFamily="34" charset="0"/>
              <a:ea typeface="Calibri" panose="020F0502020204030204" pitchFamily="34" charset="0"/>
              <a:cs typeface="Calibri" panose="020F0502020204030204" pitchFamily="34" charset="0"/>
            </a:endParaRPr>
          </a:p>
          <a:p>
            <a:r>
              <a:rPr lang="en-US" altLang="zh-CN" sz="2800" b="1" dirty="0">
                <a:latin typeface="Calibri" panose="020F0502020204030204" pitchFamily="34" charset="0"/>
                <a:ea typeface="Calibri" panose="020F0502020204030204" pitchFamily="34" charset="0"/>
                <a:cs typeface="Calibri" panose="020F0502020204030204" pitchFamily="34" charset="0"/>
              </a:rPr>
              <a:t>Insert 50, 700, 76, 85, 92, 73, 101</a:t>
            </a:r>
            <a:endParaRPr lang="zh-CN" altLang="en-US" sz="2800" b="1" dirty="0">
              <a:latin typeface="Calibri" panose="020F0502020204030204" pitchFamily="34" charset="0"/>
              <a:ea typeface="BIZ UDPMincho Medium" panose="02020500000000000000" pitchFamily="18" charset="-128"/>
              <a:cs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Calibri" panose="020F0502020204030204" pitchFamily="34" charset="0"/>
                <a:ea typeface="Calibri" panose="020F0502020204030204" pitchFamily="34" charset="0"/>
                <a:cs typeface="Calibri" panose="020F0502020204030204" pitchFamily="34" charset="0"/>
              </a:rPr>
              <a:t>Hash table</a:t>
            </a:r>
            <a:endParaRPr lang="zh-CN" altLang="en-US" dirty="0">
              <a:latin typeface="Calibri" panose="020F0502020204030204" pitchFamily="34" charset="0"/>
              <a:cs typeface="Calibri" panose="020F0502020204030204" pitchFamily="34" charset="0"/>
            </a:endParaRPr>
          </a:p>
        </p:txBody>
      </p:sp>
      <p:sp>
        <p:nvSpPr>
          <p:cNvPr id="7" name="内容占位符 6"/>
          <p:cNvSpPr>
            <a:spLocks noGrp="1"/>
          </p:cNvSpPr>
          <p:nvPr>
            <p:ph idx="1"/>
          </p:nvPr>
        </p:nvSpPr>
        <p:spPr>
          <a:xfrm>
            <a:off x="838200" y="1461832"/>
            <a:ext cx="10515600" cy="4351338"/>
          </a:xfrm>
        </p:spPr>
        <p:txBody>
          <a:bodyPr/>
          <a:lstStyle/>
          <a:p>
            <a:r>
              <a:rPr lang="en-US" altLang="zh-CN" dirty="0">
                <a:latin typeface="Calibri" panose="020F0502020204030204" pitchFamily="34" charset="0"/>
                <a:ea typeface="Calibri" panose="020F0502020204030204" pitchFamily="34" charset="0"/>
                <a:cs typeface="Calibri" panose="020F0502020204030204" pitchFamily="34" charset="0"/>
              </a:rPr>
              <a:t>Linear Probing</a:t>
            </a:r>
            <a:endParaRPr lang="zh-CN" altLang="en-US" dirty="0">
              <a:latin typeface="Calibri" panose="020F0502020204030204" pitchFamily="34" charset="0"/>
              <a:ea typeface="BIZ UDPMincho Medium" panose="02020500000000000000" pitchFamily="18" charset="-128"/>
              <a:cs typeface="Calibri" panose="020F0502020204030204" pitchFamily="34" charset="0"/>
            </a:endParaRPr>
          </a:p>
        </p:txBody>
      </p:sp>
      <p:pic>
        <p:nvPicPr>
          <p:cNvPr id="9" name="图片 8"/>
          <p:cNvPicPr>
            <a:picLocks noChangeAspect="1"/>
          </p:cNvPicPr>
          <p:nvPr/>
        </p:nvPicPr>
        <p:blipFill>
          <a:blip r:embed="rId1"/>
          <a:stretch>
            <a:fillRect/>
          </a:stretch>
        </p:blipFill>
        <p:spPr>
          <a:xfrm>
            <a:off x="1001018" y="2033006"/>
            <a:ext cx="6892249" cy="3294004"/>
          </a:xfrm>
          <a:prstGeom prst="rect">
            <a:avLst/>
          </a:prstGeom>
        </p:spPr>
      </p:pic>
      <p:sp>
        <p:nvSpPr>
          <p:cNvPr id="10" name="文本框 9"/>
          <p:cNvSpPr txBox="1"/>
          <p:nvPr/>
        </p:nvSpPr>
        <p:spPr>
          <a:xfrm>
            <a:off x="7893267" y="1411965"/>
            <a:ext cx="4028767" cy="4401205"/>
          </a:xfrm>
          <a:prstGeom prst="rect">
            <a:avLst/>
          </a:prstGeom>
          <a:noFill/>
        </p:spPr>
        <p:txBody>
          <a:bodyPr wrap="square" rtlCol="0">
            <a:spAutoFit/>
          </a:bodyPr>
          <a:lstStyle/>
          <a:p>
            <a:r>
              <a:rPr lang="en-US" altLang="zh-CN" sz="2800" dirty="0">
                <a:latin typeface="Calibri" panose="020F0502020204030204" pitchFamily="34" charset="0"/>
                <a:ea typeface="Calibri" panose="020F0502020204030204" pitchFamily="34" charset="0"/>
                <a:cs typeface="Calibri" panose="020F0502020204030204" pitchFamily="34" charset="0"/>
              </a:rPr>
              <a:t>In one word:</a:t>
            </a:r>
            <a:endParaRPr lang="en-US" altLang="zh-CN" sz="28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altLang="zh-CN" sz="2800" dirty="0">
                <a:latin typeface="Calibri" panose="020F0502020204030204" pitchFamily="34" charset="0"/>
                <a:ea typeface="Calibri" panose="020F0502020204030204" pitchFamily="34" charset="0"/>
                <a:cs typeface="Calibri" panose="020F0502020204030204" pitchFamily="34" charset="0"/>
              </a:rPr>
              <a:t>If the slot is full, then go to the next slot, until an empty slot is found.</a:t>
            </a:r>
            <a:endParaRPr lang="en-US" altLang="zh-CN" sz="2800" dirty="0">
              <a:latin typeface="Calibri" panose="020F0502020204030204" pitchFamily="34" charset="0"/>
              <a:ea typeface="Calibri" panose="020F0502020204030204" pitchFamily="34" charset="0"/>
              <a:cs typeface="Calibri" panose="020F0502020204030204" pitchFamily="34" charset="0"/>
            </a:endParaRPr>
          </a:p>
          <a:p>
            <a:endParaRPr lang="en-US" altLang="zh-CN" sz="2800" dirty="0">
              <a:latin typeface="Calibri" panose="020F0502020204030204" pitchFamily="34" charset="0"/>
              <a:ea typeface="Calibri" panose="020F0502020204030204" pitchFamily="34" charset="0"/>
              <a:cs typeface="Calibri" panose="020F0502020204030204" pitchFamily="34" charset="0"/>
            </a:endParaRPr>
          </a:p>
          <a:p>
            <a:r>
              <a:rPr lang="en-US" altLang="zh-CN" sz="2800" b="1" u="sng" dirty="0">
                <a:latin typeface="Calibri" panose="020F0502020204030204" pitchFamily="34" charset="0"/>
                <a:ea typeface="Calibri" panose="020F0502020204030204" pitchFamily="34" charset="0"/>
                <a:cs typeface="Calibri" panose="020F0502020204030204" pitchFamily="34" charset="0"/>
              </a:rPr>
              <a:t>Shortcoming</a:t>
            </a:r>
            <a:r>
              <a:rPr lang="en-US" altLang="zh-CN" sz="2800" dirty="0">
                <a:latin typeface="Calibri" panose="020F0502020204030204" pitchFamily="34" charset="0"/>
                <a:ea typeface="Calibri" panose="020F0502020204030204" pitchFamily="34" charset="0"/>
                <a:cs typeface="Calibri" panose="020F0502020204030204" pitchFamily="34" charset="0"/>
              </a:rPr>
              <a:t>: Long sequence of occupied slots, which degrades the query efficiency</a:t>
            </a:r>
            <a:endParaRPr lang="zh-CN" altLang="en-US" sz="2800" dirty="0">
              <a:latin typeface="Calibri" panose="020F0502020204030204" pitchFamily="34" charset="0"/>
              <a:ea typeface="BIZ UDPMincho Medium" panose="02020500000000000000" pitchFamily="18" charset="-128"/>
              <a:cs typeface="Calibri" panose="020F05020202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b="1" dirty="0">
                <a:latin typeface="Calibri" panose="020F0502020204030204" pitchFamily="34" charset="0"/>
                <a:ea typeface="Calibri" panose="020F0502020204030204" pitchFamily="34" charset="0"/>
                <a:cs typeface="Calibri" panose="020F0502020204030204" pitchFamily="34" charset="0"/>
              </a:rPr>
              <a:t>Proof of time complexity</a:t>
            </a:r>
            <a:endParaRPr lang="en-US" altLang="en-US" b="1" dirty="0">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a:lnSpc>
                    <a:spcPct val="150000"/>
                  </a:lnSpc>
                </a:pPr>
                <a:r>
                  <a:rPr lang="en-US" altLang="en-US" dirty="0">
                    <a:latin typeface="Calibri" panose="020F0502020204030204" pitchFamily="34" charset="0"/>
                    <a:ea typeface="Calibri" panose="020F0502020204030204" pitchFamily="34" charset="0"/>
                    <a:cs typeface="Calibri" panose="020F0502020204030204" pitchFamily="34" charset="0"/>
                  </a:rPr>
                  <a:t>Given load factor </a:t>
                </a:r>
                <a14:m>
                  <m:oMath xmlns:m="http://schemas.openxmlformats.org/officeDocument/2006/math">
                    <m:r>
                      <a:rPr lang="en-US" altLang="zh-CN" b="0" i="1" smtClean="0">
                        <a:latin typeface="Cambria Math" panose="02040503050406030204" charset="0"/>
                        <a:ea typeface="BIZ UDPMincho Medium" panose="02020500000000000000" pitchFamily="18" charset="-128"/>
                      </a:rPr>
                      <m:t>𝛼</m:t>
                    </m:r>
                  </m:oMath>
                </a14:m>
                <a:r>
                  <a:rPr lang="en-US" altLang="en-US" dirty="0">
                    <a:latin typeface="Calibri" panose="020F0502020204030204" pitchFamily="34" charset="0"/>
                    <a:ea typeface="Calibri" panose="020F0502020204030204" pitchFamily="34" charset="0"/>
                    <a:cs typeface="Calibri" panose="020F0502020204030204" pitchFamily="34" charset="0"/>
                  </a:rPr>
                  <a:t>, if we randomly choose a slot in the hash table, the probability of the slot is empty is </a:t>
                </a:r>
                <a14:m>
                  <m:oMath xmlns:m="http://schemas.openxmlformats.org/officeDocument/2006/math">
                    <m:r>
                      <a:rPr lang="en-US" altLang="en-US" i="1" dirty="0" smtClean="0">
                        <a:latin typeface="Cambria Math" panose="02040503050406030204" charset="0"/>
                        <a:ea typeface="Calibri" panose="020F0502020204030204" pitchFamily="34" charset="0"/>
                        <a:cs typeface="Calibri" panose="020F0502020204030204" pitchFamily="34" charset="0"/>
                      </a:rPr>
                      <m:t>1</m:t>
                    </m:r>
                    <m:r>
                      <a:rPr lang="en-US" altLang="en-US" i="1" dirty="0" smtClean="0">
                        <a:latin typeface="Cambria Math" panose="02040503050406030204" charset="0"/>
                        <a:ea typeface="Calibri" panose="020F0502020204030204" pitchFamily="34" charset="0"/>
                        <a:cs typeface="Calibri" panose="020F0502020204030204" pitchFamily="34" charset="0"/>
                      </a:rPr>
                      <m:t>−</m:t>
                    </m:r>
                    <m:r>
                      <a:rPr lang="en-US" altLang="zh-CN" b="0" i="1" smtClean="0">
                        <a:latin typeface="Cambria Math" panose="02040503050406030204" charset="0"/>
                        <a:ea typeface="BIZ UDPMincho Medium" panose="02020500000000000000" pitchFamily="18" charset="-128"/>
                      </a:rPr>
                      <m:t>𝛼</m:t>
                    </m:r>
                  </m:oMath>
                </a14:m>
                <a:r>
                  <a:rPr lang="en-US" altLang="en-US" dirty="0">
                    <a:latin typeface="Calibri" panose="020F0502020204030204" pitchFamily="34" charset="0"/>
                    <a:ea typeface="Calibri" panose="020F0502020204030204" pitchFamily="34" charset="0"/>
                    <a:cs typeface="Calibri" panose="020F0502020204030204" pitchFamily="34" charset="0"/>
                  </a:rPr>
                  <a:t>.</a:t>
                </a:r>
                <a:endParaRPr lang="en-US" altLang="en-US"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altLang="en-US" dirty="0">
                    <a:latin typeface="Calibri" panose="020F0502020204030204" pitchFamily="34" charset="0"/>
                    <a:ea typeface="Calibri" panose="020F0502020204030204" pitchFamily="34" charset="0"/>
                    <a:cs typeface="Calibri" panose="020F0502020204030204" pitchFamily="34" charset="0"/>
                  </a:rPr>
                  <a:t>We will not stop until we find an empty slot to insert. The process can be viewed as a geometric distribution. </a:t>
                </a:r>
                <a14:m>
                  <m:oMath xmlns:m="http://schemas.openxmlformats.org/officeDocument/2006/math">
                    <m:r>
                      <a:rPr lang="en-US" altLang="en-US" i="1" dirty="0" smtClean="0">
                        <a:latin typeface="Cambria Math" panose="02040503050406030204" charset="0"/>
                        <a:ea typeface="Calibri" panose="020F0502020204030204" pitchFamily="34" charset="0"/>
                        <a:cs typeface="Calibri" panose="020F0502020204030204" pitchFamily="34" charset="0"/>
                      </a:rPr>
                      <m:t>𝐸</m:t>
                    </m:r>
                    <m:r>
                      <a:rPr lang="en-US" altLang="en-US" i="1" dirty="0" smtClean="0">
                        <a:latin typeface="Cambria Math" panose="02040503050406030204" charset="0"/>
                        <a:ea typeface="Calibri" panose="020F0502020204030204" pitchFamily="34" charset="0"/>
                        <a:cs typeface="Calibri" panose="020F0502020204030204" pitchFamily="34" charset="0"/>
                      </a:rPr>
                      <m:t>(</m:t>
                    </m:r>
                    <m:r>
                      <a:rPr lang="en-US" altLang="en-US" i="1" dirty="0" smtClean="0">
                        <a:latin typeface="Cambria Math" panose="02040503050406030204" charset="0"/>
                        <a:ea typeface="Calibri" panose="020F0502020204030204" pitchFamily="34" charset="0"/>
                        <a:cs typeface="Calibri" panose="020F0502020204030204" pitchFamily="34" charset="0"/>
                      </a:rPr>
                      <m:t>𝑥</m:t>
                    </m:r>
                    <m:r>
                      <a:rPr lang="en-US" altLang="en-US" i="1" dirty="0" smtClean="0">
                        <a:latin typeface="Cambria Math" panose="02040503050406030204" charset="0"/>
                        <a:ea typeface="Calibri" panose="020F0502020204030204" pitchFamily="34" charset="0"/>
                        <a:cs typeface="Calibri" panose="020F0502020204030204" pitchFamily="34" charset="0"/>
                      </a:rPr>
                      <m:t>)=(</m:t>
                    </m:r>
                    <m:r>
                      <a:rPr lang="en-US" altLang="en-US" i="1" dirty="0" smtClean="0">
                        <a:latin typeface="Cambria Math" panose="02040503050406030204" charset="0"/>
                        <a:ea typeface="Calibri" panose="020F0502020204030204" pitchFamily="34" charset="0"/>
                        <a:cs typeface="Calibri" panose="020F0502020204030204" pitchFamily="34" charset="0"/>
                      </a:rPr>
                      <m:t>1</m:t>
                    </m:r>
                    <m:r>
                      <a:rPr lang="en-US" altLang="en-US" i="1" dirty="0" smtClean="0">
                        <a:latin typeface="Cambria Math" panose="02040503050406030204" charset="0"/>
                        <a:ea typeface="Calibri" panose="020F0502020204030204" pitchFamily="34" charset="0"/>
                        <a:cs typeface="Calibri" panose="020F0502020204030204" pitchFamily="34" charset="0"/>
                      </a:rPr>
                      <m:t>−</m:t>
                    </m:r>
                    <m:r>
                      <a:rPr lang="en-US" altLang="en-US" i="1" dirty="0" smtClean="0">
                        <a:latin typeface="Cambria Math" panose="02040503050406030204" charset="0"/>
                        <a:ea typeface="Calibri" panose="020F0502020204030204" pitchFamily="34" charset="0"/>
                        <a:cs typeface="Calibri" panose="020F0502020204030204" pitchFamily="34" charset="0"/>
                      </a:rPr>
                      <m:t>𝑝</m:t>
                    </m:r>
                    <m:r>
                      <a:rPr lang="en-US" altLang="en-US" i="1" dirty="0" smtClean="0">
                        <a:latin typeface="Cambria Math" panose="02040503050406030204" charset="0"/>
                        <a:ea typeface="Calibri" panose="020F0502020204030204" pitchFamily="34" charset="0"/>
                        <a:cs typeface="Calibri" panose="020F0502020204030204" pitchFamily="34" charset="0"/>
                      </a:rPr>
                      <m:t>)/</m:t>
                    </m:r>
                    <m:r>
                      <a:rPr lang="en-US" altLang="en-US" i="1" dirty="0" smtClean="0">
                        <a:latin typeface="Cambria Math" panose="02040503050406030204" charset="0"/>
                        <a:ea typeface="Calibri" panose="020F0502020204030204" pitchFamily="34" charset="0"/>
                        <a:cs typeface="Calibri" panose="020F0502020204030204" pitchFamily="34" charset="0"/>
                      </a:rPr>
                      <m:t>𝑝</m:t>
                    </m:r>
                  </m:oMath>
                </a14:m>
                <a:r>
                  <a:rPr lang="en-US" altLang="en-US" dirty="0">
                    <a:latin typeface="Calibri" panose="020F0502020204030204" pitchFamily="34" charset="0"/>
                    <a:ea typeface="Calibri" panose="020F0502020204030204" pitchFamily="34" charset="0"/>
                    <a:cs typeface="Calibri" panose="020F0502020204030204" pitchFamily="34" charset="0"/>
                  </a:rPr>
                  <a:t>, where </a:t>
                </a:r>
                <a14:m>
                  <m:oMath xmlns:m="http://schemas.openxmlformats.org/officeDocument/2006/math">
                    <m:r>
                      <a:rPr lang="en-US" altLang="en-US" i="1" dirty="0" smtClean="0">
                        <a:latin typeface="Cambria Math" panose="02040503050406030204" charset="0"/>
                        <a:ea typeface="Calibri" panose="020F0502020204030204" pitchFamily="34" charset="0"/>
                        <a:cs typeface="Calibri" panose="020F0502020204030204" pitchFamily="34" charset="0"/>
                      </a:rPr>
                      <m:t>𝑝</m:t>
                    </m:r>
                    <m:r>
                      <a:rPr lang="en-US" altLang="en-US" i="1" dirty="0" smtClean="0">
                        <a:latin typeface="Cambria Math" panose="02040503050406030204" charset="0"/>
                        <a:ea typeface="Calibri" panose="020F0502020204030204" pitchFamily="34" charset="0"/>
                        <a:cs typeface="Calibri" panose="020F0502020204030204" pitchFamily="34" charset="0"/>
                      </a:rPr>
                      <m:t> = </m:t>
                    </m:r>
                    <m:r>
                      <a:rPr lang="en-US" altLang="en-US" i="1" dirty="0" smtClean="0">
                        <a:latin typeface="Cambria Math" panose="02040503050406030204" charset="0"/>
                        <a:ea typeface="Calibri" panose="020F0502020204030204" pitchFamily="34" charset="0"/>
                        <a:cs typeface="Calibri" panose="020F0502020204030204" pitchFamily="34" charset="0"/>
                      </a:rPr>
                      <m:t>1</m:t>
                    </m:r>
                    <m:r>
                      <a:rPr lang="en-US" altLang="en-US" i="1" dirty="0" smtClean="0">
                        <a:latin typeface="Cambria Math" panose="02040503050406030204" charset="0"/>
                        <a:ea typeface="Calibri" panose="020F0502020204030204" pitchFamily="34" charset="0"/>
                        <a:cs typeface="Calibri" panose="020F0502020204030204" pitchFamily="34" charset="0"/>
                      </a:rPr>
                      <m:t>− </m:t>
                    </m:r>
                    <m:r>
                      <a:rPr lang="en-US" altLang="zh-CN" b="0" i="1" smtClean="0">
                        <a:latin typeface="Cambria Math" panose="02040503050406030204" charset="0"/>
                        <a:ea typeface="BIZ UDPMincho Medium" panose="02020500000000000000" pitchFamily="18" charset="-128"/>
                      </a:rPr>
                      <m:t>𝛼</m:t>
                    </m:r>
                  </m:oMath>
                </a14:m>
                <a:r>
                  <a:rPr lang="en-US" altLang="en-US" dirty="0">
                    <a:latin typeface="Calibri" panose="020F0502020204030204" pitchFamily="34" charset="0"/>
                    <a:ea typeface="Calibri" panose="020F0502020204030204" pitchFamily="34" charset="0"/>
                    <a:cs typeface="Calibri" panose="020F0502020204030204" pitchFamily="34" charset="0"/>
                  </a:rPr>
                  <a:t>.</a:t>
                </a:r>
                <a:endParaRPr lang="en-US" altLang="en-US"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altLang="en-US" dirty="0">
                    <a:latin typeface="Calibri" panose="020F0502020204030204" pitchFamily="34" charset="0"/>
                    <a:ea typeface="Calibri" panose="020F0502020204030204" pitchFamily="34" charset="0"/>
                    <a:cs typeface="Calibri" panose="020F0502020204030204" pitchFamily="34" charset="0"/>
                  </a:rPr>
                  <a:t>Substitute in </a:t>
                </a:r>
                <a14:m>
                  <m:oMath xmlns:m="http://schemas.openxmlformats.org/officeDocument/2006/math">
                    <m:r>
                      <a:rPr lang="en-US" altLang="en-US" i="1" dirty="0" smtClean="0">
                        <a:latin typeface="Cambria Math" panose="02040503050406030204" charset="0"/>
                        <a:ea typeface="Calibri" panose="020F0502020204030204" pitchFamily="34" charset="0"/>
                        <a:cs typeface="Calibri" panose="020F0502020204030204" pitchFamily="34" charset="0"/>
                      </a:rPr>
                      <m:t>𝑝</m:t>
                    </m:r>
                  </m:oMath>
                </a14:m>
                <a:r>
                  <a:rPr lang="en-US" altLang="en-US" dirty="0">
                    <a:latin typeface="Calibri" panose="020F0502020204030204" pitchFamily="34" charset="0"/>
                    <a:ea typeface="Calibri" panose="020F0502020204030204" pitchFamily="34" charset="0"/>
                    <a:cs typeface="Calibri" panose="020F0502020204030204" pitchFamily="34" charset="0"/>
                  </a:rPr>
                  <a:t> will give us</a:t>
                </a:r>
                <a14:m>
                  <m:oMath xmlns:m="http://schemas.openxmlformats.org/officeDocument/2006/math">
                    <m:r>
                      <a:rPr lang="en-US" altLang="zh-CN" b="0" i="1" smtClean="0">
                        <a:latin typeface="Cambria Math" panose="02040503050406030204" charset="0"/>
                        <a:ea typeface="BIZ UDPMincho Medium" panose="02020500000000000000" pitchFamily="18" charset="-128"/>
                      </a:rPr>
                      <m:t> </m:t>
                    </m:r>
                    <m:r>
                      <a:rPr lang="en-US" altLang="zh-CN" b="0" i="1" smtClean="0">
                        <a:latin typeface="Cambria Math" panose="02040503050406030204" charset="0"/>
                        <a:ea typeface="BIZ UDPMincho Medium" panose="02020500000000000000" pitchFamily="18" charset="-128"/>
                      </a:rPr>
                      <m:t>𝑂</m:t>
                    </m:r>
                    <m:r>
                      <a:rPr lang="en-US" altLang="zh-CN" b="0" i="1" smtClean="0">
                        <a:latin typeface="Cambria Math" panose="02040503050406030204" charset="0"/>
                        <a:ea typeface="BIZ UDPMincho Medium" panose="02020500000000000000" pitchFamily="18" charset="-128"/>
                      </a:rPr>
                      <m:t>(</m:t>
                    </m:r>
                    <m:f>
                      <m:fPr>
                        <m:ctrlPr>
                          <a:rPr lang="en-US" altLang="zh-CN" b="0" i="1" smtClean="0">
                            <a:latin typeface="Cambria Math" panose="02040503050406030204" charset="0"/>
                            <a:ea typeface="BIZ UDPMincho Medium" panose="02020500000000000000" pitchFamily="18" charset="-128"/>
                          </a:rPr>
                        </m:ctrlPr>
                      </m:fPr>
                      <m:num>
                        <m:r>
                          <a:rPr lang="en-US" altLang="zh-CN" b="0" i="1" smtClean="0">
                            <a:latin typeface="Cambria Math" panose="02040503050406030204" charset="0"/>
                            <a:ea typeface="BIZ UDPMincho Medium" panose="02020500000000000000" pitchFamily="18" charset="-128"/>
                          </a:rPr>
                          <m:t>𝛼</m:t>
                        </m:r>
                      </m:num>
                      <m:den>
                        <m:r>
                          <a:rPr lang="en-US" altLang="zh-CN" b="0" i="1" smtClean="0">
                            <a:latin typeface="Cambria Math" panose="02040503050406030204" charset="0"/>
                            <a:ea typeface="BIZ UDPMincho Medium" panose="02020500000000000000" pitchFamily="18" charset="-128"/>
                          </a:rPr>
                          <m:t>1</m:t>
                        </m:r>
                        <m:r>
                          <a:rPr lang="en-US" altLang="zh-CN" b="0" i="1" smtClean="0">
                            <a:latin typeface="Cambria Math" panose="02040503050406030204" charset="0"/>
                            <a:ea typeface="BIZ UDPMincho Medium" panose="02020500000000000000" pitchFamily="18" charset="-128"/>
                          </a:rPr>
                          <m:t>−</m:t>
                        </m:r>
                        <m:r>
                          <a:rPr lang="en-US" altLang="zh-CN" b="0" i="1" smtClean="0">
                            <a:latin typeface="Cambria Math" panose="02040503050406030204" charset="0"/>
                            <a:ea typeface="BIZ UDPMincho Medium" panose="02020500000000000000" pitchFamily="18" charset="-128"/>
                          </a:rPr>
                          <m:t>𝛼</m:t>
                        </m:r>
                      </m:den>
                    </m:f>
                    <m:r>
                      <a:rPr lang="en-US" altLang="zh-CN" b="0" i="1" smtClean="0">
                        <a:latin typeface="Cambria Math" panose="02040503050406030204" charset="0"/>
                        <a:ea typeface="BIZ UDPMincho Medium" panose="02020500000000000000" pitchFamily="18" charset="-128"/>
                      </a:rPr>
                      <m:t>)</m:t>
                    </m:r>
                  </m:oMath>
                </a14:m>
                <a:r>
                  <a:rPr lang="en-US" altLang="en-US" dirty="0">
                    <a:latin typeface="Calibri" panose="020F0502020204030204" pitchFamily="34" charset="0"/>
                    <a:ea typeface="Calibri" panose="020F0502020204030204" pitchFamily="34" charset="0"/>
                    <a:cs typeface="Calibri" panose="020F0502020204030204" pitchFamily="34" charset="0"/>
                  </a:rPr>
                  <a:t>.</a:t>
                </a:r>
                <a:endParaRPr lang="en-US" altLang="en-US" dirty="0">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1496"/>
                </a:stretch>
              </a:blipFill>
            </p:spPr>
            <p:txBody>
              <a:bodyPr/>
              <a:lstStyle/>
              <a:p>
                <a:r>
                  <a:rPr lang="en-US"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Calibri" panose="020F0502020204030204" pitchFamily="34" charset="0"/>
                <a:ea typeface="Calibri" panose="020F0502020204030204" pitchFamily="34" charset="0"/>
                <a:cs typeface="Calibri" panose="020F0502020204030204" pitchFamily="34" charset="0"/>
              </a:rPr>
              <a:t>Hash table</a:t>
            </a:r>
            <a:endParaRPr lang="zh-CN" altLang="en-US" dirty="0">
              <a:latin typeface="Calibri" panose="020F0502020204030204" pitchFamily="34" charset="0"/>
              <a:cs typeface="Calibri" panose="020F0502020204030204" pitchFamily="34" charset="0"/>
            </a:endParaRPr>
          </a:p>
        </p:txBody>
      </p:sp>
      <p:pic>
        <p:nvPicPr>
          <p:cNvPr id="7" name="图片 6"/>
          <p:cNvPicPr>
            <a:picLocks noChangeAspect="1"/>
          </p:cNvPicPr>
          <p:nvPr/>
        </p:nvPicPr>
        <p:blipFill>
          <a:blip r:embed="rId1"/>
          <a:stretch>
            <a:fillRect/>
          </a:stretch>
        </p:blipFill>
        <p:spPr>
          <a:xfrm>
            <a:off x="866775" y="1825625"/>
            <a:ext cx="10458450" cy="41529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BIZ UDPMincho Medium" panose="02020500000000000000" pitchFamily="18" charset="-128"/>
                <a:ea typeface="BIZ UDPMincho Medium" panose="02020500000000000000" pitchFamily="18" charset="-128"/>
              </a:rPr>
              <a:t>Hash table</a:t>
            </a:r>
            <a:endParaRPr lang="zh-CN" altLang="en-US" dirty="0"/>
          </a:p>
        </p:txBody>
      </p:sp>
      <p:pic>
        <p:nvPicPr>
          <p:cNvPr id="7" name="图片 6"/>
          <p:cNvPicPr>
            <a:picLocks noChangeAspect="1"/>
          </p:cNvPicPr>
          <p:nvPr/>
        </p:nvPicPr>
        <p:blipFill>
          <a:blip r:embed="rId1"/>
          <a:stretch>
            <a:fillRect/>
          </a:stretch>
        </p:blipFill>
        <p:spPr>
          <a:xfrm>
            <a:off x="838200" y="1406496"/>
            <a:ext cx="9282244" cy="452150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Calibri" panose="020F0502020204030204" pitchFamily="34" charset="0"/>
                <a:ea typeface="Calibri" panose="020F0502020204030204" pitchFamily="34" charset="0"/>
                <a:cs typeface="Calibri" panose="020F0502020204030204" pitchFamily="34" charset="0"/>
              </a:rPr>
              <a:t>Heap</a:t>
            </a:r>
            <a:endParaRPr lang="zh-CN" altLang="en-US" dirty="0">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838200" y="1850792"/>
            <a:ext cx="6166607" cy="4351338"/>
          </a:xfrm>
        </p:spPr>
        <p:txBody>
          <a:bodyPr>
            <a:normAutofit/>
          </a:bodyPr>
          <a:lstStyle/>
          <a:p>
            <a:pPr>
              <a:lnSpc>
                <a:spcPct val="100000"/>
              </a:lnSpc>
            </a:pPr>
            <a:r>
              <a:rPr lang="en-US" altLang="zh-CN" b="1" dirty="0">
                <a:latin typeface="Calibri" panose="020F0502020204030204" pitchFamily="34" charset="0"/>
                <a:ea typeface="Calibri" panose="020F0502020204030204" pitchFamily="34" charset="0"/>
                <a:cs typeface="Calibri" panose="020F0502020204030204" pitchFamily="34" charset="0"/>
              </a:rPr>
              <a:t>Heap property</a:t>
            </a:r>
            <a:endParaRPr lang="en-US" altLang="zh-CN" b="1"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US" altLang="zh-CN" sz="2400" dirty="0">
                <a:latin typeface="Calibri" panose="020F0502020204030204" pitchFamily="34" charset="0"/>
                <a:ea typeface="Calibri" panose="020F0502020204030204" pitchFamily="34" charset="0"/>
                <a:cs typeface="Calibri" panose="020F0502020204030204" pitchFamily="34" charset="0"/>
              </a:rPr>
              <a:t>The key stored in each node is either greater than or equal to (≥) or less than or equal to (≤) the keys in the node's </a:t>
            </a:r>
            <a:r>
              <a:rPr lang="en-US" altLang="zh-CN" sz="2400" b="1" dirty="0">
                <a:latin typeface="Calibri" panose="020F0502020204030204" pitchFamily="34" charset="0"/>
                <a:ea typeface="Calibri" panose="020F0502020204030204" pitchFamily="34" charset="0"/>
                <a:cs typeface="Calibri" panose="020F0502020204030204" pitchFamily="34" charset="0"/>
              </a:rPr>
              <a:t>children</a:t>
            </a:r>
            <a:endParaRPr lang="en-US" altLang="zh-CN" sz="2400" b="1"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endParaRPr lang="en-US" altLang="zh-CN" b="1"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US" altLang="zh-CN" b="1" dirty="0">
                <a:latin typeface="Calibri" panose="020F0502020204030204" pitchFamily="34" charset="0"/>
                <a:ea typeface="Calibri" panose="020F0502020204030204" pitchFamily="34" charset="0"/>
                <a:cs typeface="Calibri" panose="020F0502020204030204" pitchFamily="34" charset="0"/>
              </a:rPr>
              <a:t>Shape property</a:t>
            </a:r>
            <a:endParaRPr lang="en-US" altLang="zh-CN" b="1"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US" altLang="zh-CN" sz="2200" dirty="0">
                <a:latin typeface="Calibri" panose="020F0502020204030204" pitchFamily="34" charset="0"/>
                <a:ea typeface="Calibri" panose="020F0502020204030204" pitchFamily="34" charset="0"/>
                <a:cs typeface="Calibri" panose="020F0502020204030204" pitchFamily="34" charset="0"/>
              </a:rPr>
              <a:t>The binary tree is completely filled, except at the bottom level, which is filled from left to right</a:t>
            </a:r>
            <a:endParaRPr lang="zh-CN" altLang="en-US" sz="2200" dirty="0">
              <a:latin typeface="Calibri" panose="020F0502020204030204" pitchFamily="34" charset="0"/>
              <a:ea typeface="BIZ UDPMincho Medium" panose="02020500000000000000" pitchFamily="18" charset="-128"/>
              <a:cs typeface="Calibri" panose="020F0502020204030204" pitchFamily="34" charset="0"/>
            </a:endParaRPr>
          </a:p>
        </p:txBody>
      </p:sp>
      <p:pic>
        <p:nvPicPr>
          <p:cNvPr id="6" name="图片 5"/>
          <p:cNvPicPr>
            <a:picLocks noChangeAspect="1"/>
          </p:cNvPicPr>
          <p:nvPr/>
        </p:nvPicPr>
        <p:blipFill>
          <a:blip r:embed="rId1"/>
          <a:stretch>
            <a:fillRect/>
          </a:stretch>
        </p:blipFill>
        <p:spPr>
          <a:xfrm>
            <a:off x="7292743" y="2110850"/>
            <a:ext cx="4061057" cy="331376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latin typeface="Calibri" panose="020F0502020204030204" pitchFamily="34" charset="0"/>
                <a:ea typeface="Calibri" panose="020F0502020204030204" pitchFamily="34" charset="0"/>
                <a:cs typeface="Calibri" panose="020F0502020204030204" pitchFamily="34" charset="0"/>
              </a:rPr>
              <a:t>Pseudo code (build heap)</a:t>
            </a:r>
            <a:endParaRPr lang="en-US" altLang="en-US"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229438" y="1398136"/>
            <a:ext cx="6641122" cy="5267358"/>
          </a:xfrm>
          <a:solidFill>
            <a:schemeClr val="tx2">
              <a:lumMod val="50000"/>
            </a:schemeClr>
          </a:solidFill>
        </p:spPr>
        <p:txBody>
          <a:bodyPr>
            <a:normAutofit fontScale="97500"/>
          </a:bodyPr>
          <a:lstStyle/>
          <a:p>
            <a:pPr marL="0" indent="0">
              <a:lnSpc>
                <a:spcPct val="100000"/>
              </a:lnSpc>
              <a:buNone/>
            </a:pPr>
            <a:r>
              <a:rPr lang="en-US" altLang="zh-CN" sz="2000" dirty="0" err="1">
                <a:solidFill>
                  <a:srgbClr val="50FA7B"/>
                </a:solidFill>
                <a:latin typeface="Consolas" panose="020B0609020204030204" pitchFamily="49" charset="0"/>
              </a:rPr>
              <a:t>H</a:t>
            </a:r>
            <a:r>
              <a:rPr lang="en-US" altLang="zh-CN" sz="2000" b="0" dirty="0" err="1">
                <a:solidFill>
                  <a:srgbClr val="50FA7B"/>
                </a:solidFill>
                <a:effectLst/>
                <a:latin typeface="Consolas" panose="020B0609020204030204" pitchFamily="49" charset="0"/>
              </a:rPr>
              <a:t>eapify</a:t>
            </a:r>
            <a:r>
              <a:rPr lang="en-US" altLang="zh-CN" sz="2000" b="0" dirty="0">
                <a:solidFill>
                  <a:srgbClr val="F8F8F2"/>
                </a:solidFill>
                <a:effectLst/>
                <a:latin typeface="Consolas" panose="020B0609020204030204" pitchFamily="49" charset="0"/>
              </a:rPr>
              <a:t>(</a:t>
            </a:r>
            <a:r>
              <a:rPr lang="en-US" altLang="zh-CN" sz="2000" b="0" i="1" dirty="0" err="1">
                <a:solidFill>
                  <a:srgbClr val="FFB86C"/>
                </a:solidFill>
                <a:effectLst/>
                <a:latin typeface="Consolas" panose="020B0609020204030204" pitchFamily="49" charset="0"/>
              </a:rPr>
              <a:t>arr</a:t>
            </a:r>
            <a:r>
              <a:rPr lang="en-US" altLang="zh-CN" sz="2000" b="0" dirty="0">
                <a:solidFill>
                  <a:srgbClr val="F8F8F2"/>
                </a:solidFill>
                <a:effectLst/>
                <a:latin typeface="Consolas" panose="020B0609020204030204" pitchFamily="49" charset="0"/>
              </a:rPr>
              <a:t>, </a:t>
            </a:r>
            <a:r>
              <a:rPr lang="en-US" altLang="zh-CN" sz="2000" b="0" i="1" dirty="0">
                <a:solidFill>
                  <a:srgbClr val="FFB86C"/>
                </a:solidFill>
                <a:effectLst/>
                <a:latin typeface="Consolas" panose="020B0609020204030204" pitchFamily="49" charset="0"/>
              </a:rPr>
              <a:t>n</a:t>
            </a:r>
            <a:r>
              <a:rPr lang="en-US" altLang="zh-CN" sz="2000" b="0" dirty="0">
                <a:solidFill>
                  <a:srgbClr val="F8F8F2"/>
                </a:solidFill>
                <a:effectLst/>
                <a:latin typeface="Consolas" panose="020B0609020204030204" pitchFamily="49" charset="0"/>
              </a:rPr>
              <a:t>, </a:t>
            </a:r>
            <a:r>
              <a:rPr lang="en-US" altLang="zh-CN" sz="2000" b="0" i="1" dirty="0" err="1">
                <a:solidFill>
                  <a:srgbClr val="FFB86C"/>
                </a:solidFill>
                <a:effectLst/>
                <a:latin typeface="Consolas" panose="020B0609020204030204" pitchFamily="49" charset="0"/>
              </a:rPr>
              <a:t>i</a:t>
            </a:r>
            <a:r>
              <a:rPr lang="en-US" altLang="zh-CN" sz="2000" b="0" dirty="0">
                <a:solidFill>
                  <a:srgbClr val="F8F8F2"/>
                </a:solidFill>
                <a:effectLst/>
                <a:latin typeface="Consolas" panose="020B0609020204030204" pitchFamily="49" charset="0"/>
              </a:rPr>
              <a:t>)</a:t>
            </a:r>
            <a:endParaRPr lang="en-US" altLang="zh-CN" sz="2000" b="0" dirty="0">
              <a:solidFill>
                <a:srgbClr val="F8F8F2"/>
              </a:solidFill>
              <a:effectLst/>
              <a:latin typeface="Consolas" panose="020B0609020204030204" pitchFamily="49" charset="0"/>
            </a:endParaRPr>
          </a:p>
          <a:p>
            <a:pPr marL="0" indent="0">
              <a:lnSpc>
                <a:spcPct val="100000"/>
              </a:lnSpc>
              <a:buNone/>
            </a:pPr>
            <a:r>
              <a:rPr lang="en-US" altLang="zh-CN" sz="2000" b="0" dirty="0">
                <a:solidFill>
                  <a:srgbClr val="F8F8F2"/>
                </a:solidFill>
                <a:effectLst/>
                <a:latin typeface="Consolas" panose="020B0609020204030204" pitchFamily="49" charset="0"/>
              </a:rPr>
              <a:t>    largest </a:t>
            </a:r>
            <a:r>
              <a:rPr lang="en-US" altLang="zh-CN" sz="2000" b="0" dirty="0">
                <a:solidFill>
                  <a:srgbClr val="FF79C6"/>
                </a:solidFill>
                <a:effectLst/>
                <a:latin typeface="Consolas" panose="020B0609020204030204" pitchFamily="49" charset="0"/>
              </a:rPr>
              <a:t>=</a:t>
            </a:r>
            <a:r>
              <a:rPr lang="en-US" altLang="zh-CN" sz="2000" b="0" dirty="0">
                <a:solidFill>
                  <a:srgbClr val="F8F8F2"/>
                </a:solidFill>
                <a:effectLst/>
                <a:latin typeface="Consolas" panose="020B0609020204030204" pitchFamily="49" charset="0"/>
              </a:rPr>
              <a:t> </a:t>
            </a:r>
            <a:r>
              <a:rPr lang="en-US" altLang="zh-CN" sz="2000" b="0" dirty="0" err="1">
                <a:solidFill>
                  <a:srgbClr val="F8F8F2"/>
                </a:solidFill>
                <a:effectLst/>
                <a:latin typeface="Consolas" panose="020B0609020204030204" pitchFamily="49" charset="0"/>
              </a:rPr>
              <a:t>i</a:t>
            </a:r>
            <a:endParaRPr lang="en-US" altLang="zh-CN" sz="2000" b="0" dirty="0">
              <a:solidFill>
                <a:srgbClr val="F8F8F2"/>
              </a:solidFill>
              <a:effectLst/>
              <a:latin typeface="Consolas" panose="020B0609020204030204" pitchFamily="49" charset="0"/>
            </a:endParaRPr>
          </a:p>
          <a:p>
            <a:pPr marL="0" indent="0">
              <a:lnSpc>
                <a:spcPct val="100000"/>
              </a:lnSpc>
              <a:buNone/>
            </a:pPr>
            <a:r>
              <a:rPr lang="en-US" altLang="zh-CN" sz="2000" b="0" dirty="0">
                <a:solidFill>
                  <a:srgbClr val="F8F8F2"/>
                </a:solidFill>
                <a:effectLst/>
                <a:latin typeface="Consolas" panose="020B0609020204030204" pitchFamily="49" charset="0"/>
              </a:rPr>
              <a:t>    left </a:t>
            </a:r>
            <a:r>
              <a:rPr lang="en-US" altLang="zh-CN" sz="2000" b="0" dirty="0">
                <a:solidFill>
                  <a:srgbClr val="FF79C6"/>
                </a:solidFill>
                <a:effectLst/>
                <a:latin typeface="Consolas" panose="020B0609020204030204" pitchFamily="49" charset="0"/>
              </a:rPr>
              <a:t>=</a:t>
            </a:r>
            <a:r>
              <a:rPr lang="en-US" altLang="zh-CN" sz="2000" b="0" dirty="0">
                <a:solidFill>
                  <a:srgbClr val="F8F8F2"/>
                </a:solidFill>
                <a:effectLst/>
                <a:latin typeface="Consolas" panose="020B0609020204030204" pitchFamily="49" charset="0"/>
              </a:rPr>
              <a:t> </a:t>
            </a:r>
            <a:r>
              <a:rPr lang="en-US" altLang="zh-CN" sz="2000" b="0" dirty="0">
                <a:solidFill>
                  <a:srgbClr val="BD93F9"/>
                </a:solidFill>
                <a:effectLst/>
                <a:latin typeface="Consolas" panose="020B0609020204030204" pitchFamily="49" charset="0"/>
              </a:rPr>
              <a:t>2 </a:t>
            </a:r>
            <a:r>
              <a:rPr lang="en-US" altLang="zh-CN" sz="2000" b="0" dirty="0">
                <a:solidFill>
                  <a:srgbClr val="FF79C6"/>
                </a:solidFill>
                <a:effectLst/>
                <a:latin typeface="Consolas" panose="020B0609020204030204" pitchFamily="49" charset="0"/>
              </a:rPr>
              <a:t>* </a:t>
            </a:r>
            <a:r>
              <a:rPr lang="en-US" altLang="zh-CN" sz="2000" dirty="0">
                <a:solidFill>
                  <a:srgbClr val="F8F8F2"/>
                </a:solidFill>
                <a:latin typeface="Consolas" panose="020B0609020204030204" pitchFamily="49" charset="0"/>
              </a:rPr>
              <a:t>i</a:t>
            </a:r>
            <a:r>
              <a:rPr lang="en-US" altLang="zh-CN" sz="2000" b="0" dirty="0">
                <a:solidFill>
                  <a:srgbClr val="F8F8F2"/>
                </a:solidFill>
                <a:effectLst/>
                <a:latin typeface="Consolas" panose="020B0609020204030204" pitchFamily="49" charset="0"/>
              </a:rPr>
              <a:t> </a:t>
            </a:r>
            <a:r>
              <a:rPr lang="en-US" altLang="zh-CN" sz="2000" b="0" dirty="0">
                <a:solidFill>
                  <a:srgbClr val="FF79C6"/>
                </a:solidFill>
                <a:effectLst/>
                <a:latin typeface="Consolas" panose="020B0609020204030204" pitchFamily="49" charset="0"/>
              </a:rPr>
              <a:t>+ </a:t>
            </a:r>
            <a:r>
              <a:rPr lang="en-US" altLang="zh-CN" sz="2000" b="0" dirty="0">
                <a:solidFill>
                  <a:srgbClr val="BD93F9"/>
                </a:solidFill>
                <a:effectLst/>
                <a:latin typeface="Consolas" panose="020B0609020204030204" pitchFamily="49" charset="0"/>
              </a:rPr>
              <a:t>1</a:t>
            </a:r>
            <a:r>
              <a:rPr lang="en-US" altLang="zh-CN" sz="2000" b="0" dirty="0">
                <a:solidFill>
                  <a:srgbClr val="F8F8F2"/>
                </a:solidFill>
                <a:effectLst/>
                <a:latin typeface="Consolas" panose="020B0609020204030204" pitchFamily="49" charset="0"/>
              </a:rPr>
              <a:t> </a:t>
            </a:r>
            <a:endParaRPr lang="en-US" altLang="zh-CN" sz="2000" b="0" dirty="0">
              <a:solidFill>
                <a:srgbClr val="F8F8F2"/>
              </a:solidFill>
              <a:effectLst/>
              <a:latin typeface="Consolas" panose="020B0609020204030204" pitchFamily="49" charset="0"/>
            </a:endParaRPr>
          </a:p>
          <a:p>
            <a:pPr marL="0" indent="0">
              <a:lnSpc>
                <a:spcPct val="100000"/>
              </a:lnSpc>
              <a:buNone/>
            </a:pPr>
            <a:r>
              <a:rPr lang="en-US" altLang="zh-CN" sz="2000" b="0" dirty="0">
                <a:solidFill>
                  <a:srgbClr val="F8F8F2"/>
                </a:solidFill>
                <a:effectLst/>
                <a:latin typeface="Consolas" panose="020B0609020204030204" pitchFamily="49" charset="0"/>
              </a:rPr>
              <a:t>    right </a:t>
            </a:r>
            <a:r>
              <a:rPr lang="en-US" altLang="zh-CN" sz="2000" b="0" dirty="0">
                <a:solidFill>
                  <a:srgbClr val="FF79C6"/>
                </a:solidFill>
                <a:effectLst/>
                <a:latin typeface="Consolas" panose="020B0609020204030204" pitchFamily="49" charset="0"/>
              </a:rPr>
              <a:t>=</a:t>
            </a:r>
            <a:r>
              <a:rPr lang="en-US" altLang="zh-CN" sz="2000" b="0" dirty="0">
                <a:solidFill>
                  <a:srgbClr val="F8F8F2"/>
                </a:solidFill>
                <a:effectLst/>
                <a:latin typeface="Consolas" panose="020B0609020204030204" pitchFamily="49" charset="0"/>
              </a:rPr>
              <a:t> </a:t>
            </a:r>
            <a:r>
              <a:rPr lang="en-US" altLang="zh-CN" sz="2000" b="0" dirty="0">
                <a:solidFill>
                  <a:srgbClr val="BD93F9"/>
                </a:solidFill>
                <a:effectLst/>
                <a:latin typeface="Consolas" panose="020B0609020204030204" pitchFamily="49" charset="0"/>
              </a:rPr>
              <a:t>2 </a:t>
            </a:r>
            <a:r>
              <a:rPr lang="en-US" altLang="zh-CN" sz="2000" b="0" dirty="0">
                <a:solidFill>
                  <a:srgbClr val="FF79C6"/>
                </a:solidFill>
                <a:effectLst/>
                <a:latin typeface="Consolas" panose="020B0609020204030204" pitchFamily="49" charset="0"/>
              </a:rPr>
              <a:t>* </a:t>
            </a:r>
            <a:r>
              <a:rPr lang="en-US" altLang="zh-CN" sz="2000" dirty="0">
                <a:solidFill>
                  <a:srgbClr val="F8F8F2"/>
                </a:solidFill>
                <a:latin typeface="Consolas" panose="020B0609020204030204" pitchFamily="49" charset="0"/>
              </a:rPr>
              <a:t>i</a:t>
            </a:r>
            <a:r>
              <a:rPr lang="en-US" altLang="zh-CN" sz="2000" b="0" dirty="0">
                <a:solidFill>
                  <a:srgbClr val="F8F8F2"/>
                </a:solidFill>
                <a:effectLst/>
                <a:latin typeface="Consolas" panose="020B0609020204030204" pitchFamily="49" charset="0"/>
              </a:rPr>
              <a:t> </a:t>
            </a:r>
            <a:r>
              <a:rPr lang="en-US" altLang="zh-CN" sz="2000" b="0" dirty="0">
                <a:solidFill>
                  <a:srgbClr val="FF79C6"/>
                </a:solidFill>
                <a:effectLst/>
                <a:latin typeface="Consolas" panose="020B0609020204030204" pitchFamily="49" charset="0"/>
              </a:rPr>
              <a:t>+ </a:t>
            </a:r>
            <a:r>
              <a:rPr lang="en-US" altLang="zh-CN" sz="2000" b="0" dirty="0">
                <a:solidFill>
                  <a:srgbClr val="BD93F9"/>
                </a:solidFill>
                <a:effectLst/>
                <a:latin typeface="Consolas" panose="020B0609020204030204" pitchFamily="49" charset="0"/>
              </a:rPr>
              <a:t>2</a:t>
            </a:r>
            <a:endParaRPr lang="en-US" altLang="zh-CN" sz="2000" b="0" dirty="0">
              <a:solidFill>
                <a:srgbClr val="F8F8F2"/>
              </a:solidFill>
              <a:effectLst/>
              <a:latin typeface="Consolas" panose="020B0609020204030204" pitchFamily="49" charset="0"/>
            </a:endParaRPr>
          </a:p>
          <a:p>
            <a:pPr marL="0" indent="0">
              <a:lnSpc>
                <a:spcPct val="100000"/>
              </a:lnSpc>
              <a:buNone/>
            </a:pPr>
            <a:r>
              <a:rPr lang="en-US" altLang="zh-CN" sz="2000" b="0" dirty="0">
                <a:solidFill>
                  <a:srgbClr val="F8F8F2"/>
                </a:solidFill>
                <a:effectLst/>
                <a:latin typeface="Consolas" panose="020B0609020204030204" pitchFamily="49" charset="0"/>
              </a:rPr>
              <a:t>    </a:t>
            </a:r>
            <a:r>
              <a:rPr lang="en-US" altLang="zh-CN" sz="2000" b="0" dirty="0">
                <a:solidFill>
                  <a:srgbClr val="FF79C6"/>
                </a:solidFill>
                <a:effectLst/>
                <a:latin typeface="Consolas" panose="020B0609020204030204" pitchFamily="49" charset="0"/>
              </a:rPr>
              <a:t>if</a:t>
            </a:r>
            <a:r>
              <a:rPr lang="en-US" altLang="zh-CN" sz="2000" b="0" dirty="0">
                <a:solidFill>
                  <a:srgbClr val="F8F8F2"/>
                </a:solidFill>
                <a:effectLst/>
                <a:latin typeface="Consolas" panose="020B0609020204030204" pitchFamily="49" charset="0"/>
              </a:rPr>
              <a:t> left </a:t>
            </a:r>
            <a:r>
              <a:rPr lang="en-US" altLang="zh-CN" sz="2000" b="0" dirty="0">
                <a:solidFill>
                  <a:srgbClr val="FF79C6"/>
                </a:solidFill>
                <a:effectLst/>
                <a:latin typeface="Consolas" panose="020B0609020204030204" pitchFamily="49" charset="0"/>
              </a:rPr>
              <a:t>&lt; </a:t>
            </a:r>
            <a:r>
              <a:rPr lang="en-US" altLang="zh-CN" sz="2000" b="0" dirty="0">
                <a:solidFill>
                  <a:srgbClr val="F8F8F2"/>
                </a:solidFill>
                <a:effectLst/>
                <a:latin typeface="Consolas" panose="020B0609020204030204" pitchFamily="49" charset="0"/>
              </a:rPr>
              <a:t>n </a:t>
            </a:r>
            <a:r>
              <a:rPr lang="en-US" altLang="zh-CN" sz="2000" dirty="0">
                <a:solidFill>
                  <a:srgbClr val="FF79C6"/>
                </a:solidFill>
                <a:latin typeface="Consolas" panose="020B0609020204030204" pitchFamily="49" charset="0"/>
              </a:rPr>
              <a:t>and</a:t>
            </a:r>
            <a:r>
              <a:rPr lang="en-US" altLang="zh-CN" sz="2000" b="0" dirty="0">
                <a:solidFill>
                  <a:srgbClr val="FF79C6"/>
                </a:solidFill>
                <a:effectLst/>
                <a:latin typeface="Consolas" panose="020B0609020204030204" pitchFamily="49" charset="0"/>
              </a:rPr>
              <a:t> </a:t>
            </a:r>
            <a:r>
              <a:rPr lang="en-US" altLang="zh-CN" sz="2000" b="0" dirty="0" err="1">
                <a:solidFill>
                  <a:srgbClr val="F8F8F2"/>
                </a:solidFill>
                <a:effectLst/>
                <a:latin typeface="Consolas" panose="020B0609020204030204" pitchFamily="49" charset="0"/>
              </a:rPr>
              <a:t>arr</a:t>
            </a:r>
            <a:r>
              <a:rPr lang="en-US" altLang="zh-CN" sz="2000" b="0" dirty="0">
                <a:solidFill>
                  <a:srgbClr val="F8F8F2"/>
                </a:solidFill>
                <a:effectLst/>
                <a:latin typeface="Consolas" panose="020B0609020204030204" pitchFamily="49" charset="0"/>
              </a:rPr>
              <a:t>[left] </a:t>
            </a:r>
            <a:r>
              <a:rPr lang="en-US" altLang="zh-CN" sz="2000" b="0" dirty="0">
                <a:solidFill>
                  <a:srgbClr val="FF79C6"/>
                </a:solidFill>
                <a:effectLst/>
                <a:latin typeface="Consolas" panose="020B0609020204030204" pitchFamily="49" charset="0"/>
              </a:rPr>
              <a:t>&gt; </a:t>
            </a:r>
            <a:r>
              <a:rPr lang="en-US" altLang="zh-CN" sz="2000" b="0" dirty="0" err="1">
                <a:solidFill>
                  <a:srgbClr val="F8F8F2"/>
                </a:solidFill>
                <a:effectLst/>
                <a:latin typeface="Consolas" panose="020B0609020204030204" pitchFamily="49" charset="0"/>
              </a:rPr>
              <a:t>arr</a:t>
            </a:r>
            <a:r>
              <a:rPr lang="en-US" altLang="zh-CN" sz="2000" b="0" dirty="0">
                <a:solidFill>
                  <a:srgbClr val="F8F8F2"/>
                </a:solidFill>
                <a:effectLst/>
                <a:latin typeface="Consolas" panose="020B0609020204030204" pitchFamily="49" charset="0"/>
              </a:rPr>
              <a:t>[largest]</a:t>
            </a:r>
            <a:endParaRPr lang="en-US" altLang="zh-CN" sz="2000" b="0" dirty="0">
              <a:solidFill>
                <a:srgbClr val="F8F8F2"/>
              </a:solidFill>
              <a:effectLst/>
              <a:latin typeface="Consolas" panose="020B0609020204030204" pitchFamily="49" charset="0"/>
            </a:endParaRPr>
          </a:p>
          <a:p>
            <a:pPr marL="0" indent="0">
              <a:lnSpc>
                <a:spcPct val="100000"/>
              </a:lnSpc>
              <a:buNone/>
            </a:pPr>
            <a:r>
              <a:rPr lang="en-US" altLang="zh-CN" sz="2000" b="0" dirty="0">
                <a:solidFill>
                  <a:srgbClr val="F8F8F2"/>
                </a:solidFill>
                <a:effectLst/>
                <a:latin typeface="Consolas" panose="020B0609020204030204" pitchFamily="49" charset="0"/>
              </a:rPr>
              <a:t>        largest </a:t>
            </a:r>
            <a:r>
              <a:rPr lang="en-US" altLang="zh-CN" sz="2000" b="0" dirty="0">
                <a:solidFill>
                  <a:srgbClr val="FF79C6"/>
                </a:solidFill>
                <a:effectLst/>
                <a:latin typeface="Consolas" panose="020B0609020204030204" pitchFamily="49" charset="0"/>
              </a:rPr>
              <a:t>=</a:t>
            </a:r>
            <a:r>
              <a:rPr lang="en-US" altLang="zh-CN" sz="2000" b="0" dirty="0">
                <a:solidFill>
                  <a:srgbClr val="F8F8F2"/>
                </a:solidFill>
                <a:effectLst/>
                <a:latin typeface="Consolas" panose="020B0609020204030204" pitchFamily="49" charset="0"/>
              </a:rPr>
              <a:t> left</a:t>
            </a:r>
            <a:endParaRPr lang="en-US" altLang="zh-CN" sz="2000" b="0" dirty="0">
              <a:solidFill>
                <a:srgbClr val="F8F8F2"/>
              </a:solidFill>
              <a:effectLst/>
              <a:latin typeface="Consolas" panose="020B0609020204030204" pitchFamily="49" charset="0"/>
            </a:endParaRPr>
          </a:p>
          <a:p>
            <a:pPr marL="0" indent="0">
              <a:lnSpc>
                <a:spcPct val="100000"/>
              </a:lnSpc>
              <a:buNone/>
            </a:pPr>
            <a:r>
              <a:rPr lang="en-US" altLang="zh-CN" sz="2000" b="0" dirty="0">
                <a:solidFill>
                  <a:srgbClr val="F8F8F2"/>
                </a:solidFill>
                <a:effectLst/>
                <a:latin typeface="Consolas" panose="020B0609020204030204" pitchFamily="49" charset="0"/>
              </a:rPr>
              <a:t>    </a:t>
            </a:r>
            <a:r>
              <a:rPr lang="en-US" altLang="zh-CN" sz="2000" b="0" dirty="0">
                <a:solidFill>
                  <a:srgbClr val="FF79C6"/>
                </a:solidFill>
                <a:effectLst/>
                <a:latin typeface="Consolas" panose="020B0609020204030204" pitchFamily="49" charset="0"/>
              </a:rPr>
              <a:t>if</a:t>
            </a:r>
            <a:r>
              <a:rPr lang="en-US" altLang="zh-CN" sz="2000" b="0" dirty="0">
                <a:solidFill>
                  <a:srgbClr val="F8F8F2"/>
                </a:solidFill>
                <a:effectLst/>
                <a:latin typeface="Consolas" panose="020B0609020204030204" pitchFamily="49" charset="0"/>
              </a:rPr>
              <a:t> right </a:t>
            </a:r>
            <a:r>
              <a:rPr lang="en-US" altLang="zh-CN" sz="2000" b="0" dirty="0">
                <a:solidFill>
                  <a:srgbClr val="FF79C6"/>
                </a:solidFill>
                <a:effectLst/>
                <a:latin typeface="Consolas" panose="020B0609020204030204" pitchFamily="49" charset="0"/>
              </a:rPr>
              <a:t>&lt;</a:t>
            </a:r>
            <a:r>
              <a:rPr lang="en-US" altLang="zh-CN" sz="2000" b="0" dirty="0">
                <a:solidFill>
                  <a:srgbClr val="F8F8F2"/>
                </a:solidFill>
                <a:effectLst/>
                <a:latin typeface="Consolas" panose="020B0609020204030204" pitchFamily="49" charset="0"/>
              </a:rPr>
              <a:t> n </a:t>
            </a:r>
            <a:r>
              <a:rPr lang="en-US" altLang="zh-CN" sz="2000" dirty="0">
                <a:solidFill>
                  <a:srgbClr val="FF79C6"/>
                </a:solidFill>
                <a:latin typeface="Consolas" panose="020B0609020204030204" pitchFamily="49" charset="0"/>
              </a:rPr>
              <a:t>and</a:t>
            </a:r>
            <a:r>
              <a:rPr lang="en-US" altLang="zh-CN" sz="2000" b="0" dirty="0">
                <a:solidFill>
                  <a:srgbClr val="F8F8F2"/>
                </a:solidFill>
                <a:effectLst/>
                <a:latin typeface="Consolas" panose="020B0609020204030204" pitchFamily="49" charset="0"/>
              </a:rPr>
              <a:t> </a:t>
            </a:r>
            <a:r>
              <a:rPr lang="en-US" altLang="zh-CN" sz="2000" b="0" dirty="0" err="1">
                <a:solidFill>
                  <a:srgbClr val="F8F8F2"/>
                </a:solidFill>
                <a:effectLst/>
                <a:latin typeface="Consolas" panose="020B0609020204030204" pitchFamily="49" charset="0"/>
              </a:rPr>
              <a:t>arr</a:t>
            </a:r>
            <a:r>
              <a:rPr lang="en-US" altLang="zh-CN" sz="2000" b="0" dirty="0">
                <a:solidFill>
                  <a:srgbClr val="F8F8F2"/>
                </a:solidFill>
                <a:effectLst/>
                <a:latin typeface="Consolas" panose="020B0609020204030204" pitchFamily="49" charset="0"/>
              </a:rPr>
              <a:t>[right] </a:t>
            </a:r>
            <a:r>
              <a:rPr lang="en-US" altLang="zh-CN" sz="2000" b="0" dirty="0">
                <a:solidFill>
                  <a:srgbClr val="FF79C6"/>
                </a:solidFill>
                <a:effectLst/>
                <a:latin typeface="Consolas" panose="020B0609020204030204" pitchFamily="49" charset="0"/>
              </a:rPr>
              <a:t>&gt;</a:t>
            </a:r>
            <a:r>
              <a:rPr lang="en-US" altLang="zh-CN" sz="2000" b="0" dirty="0">
                <a:solidFill>
                  <a:srgbClr val="F8F8F2"/>
                </a:solidFill>
                <a:effectLst/>
                <a:latin typeface="Consolas" panose="020B0609020204030204" pitchFamily="49" charset="0"/>
              </a:rPr>
              <a:t> </a:t>
            </a:r>
            <a:r>
              <a:rPr lang="en-US" altLang="zh-CN" sz="2000" b="0" dirty="0" err="1">
                <a:solidFill>
                  <a:srgbClr val="F8F8F2"/>
                </a:solidFill>
                <a:effectLst/>
                <a:latin typeface="Consolas" panose="020B0609020204030204" pitchFamily="49" charset="0"/>
              </a:rPr>
              <a:t>arr</a:t>
            </a:r>
            <a:r>
              <a:rPr lang="en-US" altLang="zh-CN" sz="2000" b="0" dirty="0">
                <a:solidFill>
                  <a:srgbClr val="F8F8F2"/>
                </a:solidFill>
                <a:effectLst/>
                <a:latin typeface="Consolas" panose="020B0609020204030204" pitchFamily="49" charset="0"/>
              </a:rPr>
              <a:t>[largest]</a:t>
            </a:r>
            <a:endParaRPr lang="en-US" altLang="zh-CN" sz="2000" b="0" dirty="0">
              <a:solidFill>
                <a:srgbClr val="F8F8F2"/>
              </a:solidFill>
              <a:effectLst/>
              <a:latin typeface="Consolas" panose="020B0609020204030204" pitchFamily="49" charset="0"/>
            </a:endParaRPr>
          </a:p>
          <a:p>
            <a:pPr marL="0" indent="0">
              <a:lnSpc>
                <a:spcPct val="100000"/>
              </a:lnSpc>
              <a:buNone/>
            </a:pPr>
            <a:r>
              <a:rPr lang="en-US" altLang="zh-CN" sz="2000" b="0" dirty="0">
                <a:solidFill>
                  <a:srgbClr val="F8F8F2"/>
                </a:solidFill>
                <a:effectLst/>
                <a:latin typeface="Consolas" panose="020B0609020204030204" pitchFamily="49" charset="0"/>
              </a:rPr>
              <a:t>        largest </a:t>
            </a:r>
            <a:r>
              <a:rPr lang="en-US" altLang="zh-CN" sz="2000" b="0" dirty="0">
                <a:solidFill>
                  <a:srgbClr val="FF79C6"/>
                </a:solidFill>
                <a:effectLst/>
                <a:latin typeface="Consolas" panose="020B0609020204030204" pitchFamily="49" charset="0"/>
              </a:rPr>
              <a:t>=</a:t>
            </a:r>
            <a:r>
              <a:rPr lang="en-US" altLang="zh-CN" sz="2000" b="0" dirty="0">
                <a:solidFill>
                  <a:srgbClr val="F8F8F2"/>
                </a:solidFill>
                <a:effectLst/>
                <a:latin typeface="Consolas" panose="020B0609020204030204" pitchFamily="49" charset="0"/>
              </a:rPr>
              <a:t> right</a:t>
            </a:r>
            <a:endParaRPr lang="en-US" altLang="zh-CN" sz="2000" b="0" dirty="0">
              <a:solidFill>
                <a:srgbClr val="F8F8F2"/>
              </a:solidFill>
              <a:effectLst/>
              <a:latin typeface="Consolas" panose="020B0609020204030204" pitchFamily="49" charset="0"/>
            </a:endParaRPr>
          </a:p>
          <a:p>
            <a:pPr marL="0" indent="0">
              <a:lnSpc>
                <a:spcPct val="100000"/>
              </a:lnSpc>
              <a:buNone/>
            </a:pPr>
            <a:r>
              <a:rPr lang="en-US" altLang="zh-CN" sz="2000" b="0" dirty="0">
                <a:solidFill>
                  <a:srgbClr val="F8F8F2"/>
                </a:solidFill>
                <a:effectLst/>
                <a:latin typeface="Consolas" panose="020B0609020204030204" pitchFamily="49" charset="0"/>
              </a:rPr>
              <a:t>    </a:t>
            </a:r>
            <a:r>
              <a:rPr lang="en-US" altLang="zh-CN" sz="2000" b="0" dirty="0">
                <a:solidFill>
                  <a:srgbClr val="FF79C6"/>
                </a:solidFill>
                <a:effectLst/>
                <a:latin typeface="Consolas" panose="020B0609020204030204" pitchFamily="49" charset="0"/>
              </a:rPr>
              <a:t>if</a:t>
            </a:r>
            <a:r>
              <a:rPr lang="en-US" altLang="zh-CN" sz="2000" b="0" dirty="0">
                <a:solidFill>
                  <a:srgbClr val="F8F8F2"/>
                </a:solidFill>
                <a:effectLst/>
                <a:latin typeface="Consolas" panose="020B0609020204030204" pitchFamily="49" charset="0"/>
              </a:rPr>
              <a:t> largest </a:t>
            </a:r>
            <a:r>
              <a:rPr lang="en-US" altLang="zh-CN" sz="2000" b="0" dirty="0">
                <a:solidFill>
                  <a:srgbClr val="FF79C6"/>
                </a:solidFill>
                <a:effectLst/>
                <a:latin typeface="Consolas" panose="020B0609020204030204" pitchFamily="49" charset="0"/>
              </a:rPr>
              <a:t>!=</a:t>
            </a:r>
            <a:r>
              <a:rPr lang="en-US" altLang="zh-CN" sz="2000" b="0" dirty="0">
                <a:solidFill>
                  <a:srgbClr val="F8F8F2"/>
                </a:solidFill>
                <a:effectLst/>
                <a:latin typeface="Consolas" panose="020B0609020204030204" pitchFamily="49" charset="0"/>
              </a:rPr>
              <a:t> </a:t>
            </a:r>
            <a:r>
              <a:rPr lang="en-US" altLang="zh-CN" sz="2000" dirty="0" err="1">
                <a:solidFill>
                  <a:srgbClr val="F8F8F2"/>
                </a:solidFill>
                <a:latin typeface="Consolas" panose="020B0609020204030204" pitchFamily="49" charset="0"/>
              </a:rPr>
              <a:t>i</a:t>
            </a:r>
            <a:endParaRPr lang="en-US" altLang="zh-CN" sz="2000" b="0" dirty="0">
              <a:solidFill>
                <a:srgbClr val="F8F8F2"/>
              </a:solidFill>
              <a:effectLst/>
              <a:latin typeface="Consolas" panose="020B0609020204030204" pitchFamily="49" charset="0"/>
            </a:endParaRPr>
          </a:p>
          <a:p>
            <a:pPr marL="0" indent="0">
              <a:lnSpc>
                <a:spcPct val="100000"/>
              </a:lnSpc>
              <a:buNone/>
            </a:pPr>
            <a:r>
              <a:rPr lang="en-US" altLang="zh-CN" sz="2000" b="0" dirty="0">
                <a:solidFill>
                  <a:srgbClr val="F8F8F2"/>
                </a:solidFill>
                <a:effectLst/>
                <a:latin typeface="Consolas" panose="020B0609020204030204" pitchFamily="49" charset="0"/>
              </a:rPr>
              <a:t>        </a:t>
            </a:r>
            <a:r>
              <a:rPr lang="en-US" altLang="zh-CN" sz="2000" b="0" dirty="0">
                <a:solidFill>
                  <a:srgbClr val="50FA7B"/>
                </a:solidFill>
                <a:effectLst/>
                <a:latin typeface="Consolas" panose="020B0609020204030204" pitchFamily="49" charset="0"/>
              </a:rPr>
              <a:t>swap</a:t>
            </a:r>
            <a:r>
              <a:rPr lang="en-US" altLang="zh-CN" sz="2000" b="0" dirty="0">
                <a:solidFill>
                  <a:srgbClr val="F8F8F2"/>
                </a:solidFill>
                <a:effectLst/>
                <a:latin typeface="Consolas" panose="020B0609020204030204" pitchFamily="49" charset="0"/>
              </a:rPr>
              <a:t>(</a:t>
            </a:r>
            <a:r>
              <a:rPr lang="en-US" altLang="zh-CN" sz="2000" b="0" dirty="0" err="1">
                <a:solidFill>
                  <a:srgbClr val="F8F8F2"/>
                </a:solidFill>
                <a:effectLst/>
                <a:latin typeface="Consolas" panose="020B0609020204030204" pitchFamily="49" charset="0"/>
              </a:rPr>
              <a:t>arr</a:t>
            </a:r>
            <a:r>
              <a:rPr lang="en-US" altLang="zh-CN" sz="2000" b="0" dirty="0">
                <a:solidFill>
                  <a:srgbClr val="F8F8F2"/>
                </a:solidFill>
                <a:effectLst/>
                <a:latin typeface="Consolas" panose="020B0609020204030204" pitchFamily="49" charset="0"/>
              </a:rPr>
              <a:t>[</a:t>
            </a:r>
            <a:r>
              <a:rPr lang="en-US" altLang="zh-CN" sz="2000" b="0" dirty="0" err="1">
                <a:solidFill>
                  <a:srgbClr val="F8F8F2"/>
                </a:solidFill>
                <a:effectLst/>
                <a:latin typeface="Consolas" panose="020B0609020204030204" pitchFamily="49" charset="0"/>
              </a:rPr>
              <a:t>i</a:t>
            </a:r>
            <a:r>
              <a:rPr lang="en-US" altLang="zh-CN" sz="2000" b="0" dirty="0">
                <a:solidFill>
                  <a:srgbClr val="F8F8F2"/>
                </a:solidFill>
                <a:effectLst/>
                <a:latin typeface="Consolas" panose="020B0609020204030204" pitchFamily="49" charset="0"/>
              </a:rPr>
              <a:t>], </a:t>
            </a:r>
            <a:r>
              <a:rPr lang="en-US" altLang="zh-CN" sz="2000" b="0" dirty="0" err="1">
                <a:solidFill>
                  <a:srgbClr val="F8F8F2"/>
                </a:solidFill>
                <a:effectLst/>
                <a:latin typeface="Consolas" panose="020B0609020204030204" pitchFamily="49" charset="0"/>
              </a:rPr>
              <a:t>arr</a:t>
            </a:r>
            <a:r>
              <a:rPr lang="en-US" altLang="zh-CN" sz="2000" b="0" dirty="0">
                <a:solidFill>
                  <a:srgbClr val="F8F8F2"/>
                </a:solidFill>
                <a:effectLst/>
                <a:latin typeface="Consolas" panose="020B0609020204030204" pitchFamily="49" charset="0"/>
              </a:rPr>
              <a:t>[largest])</a:t>
            </a:r>
            <a:endParaRPr lang="en-US" altLang="zh-CN" sz="2000" b="0" dirty="0">
              <a:solidFill>
                <a:srgbClr val="F8F8F2"/>
              </a:solidFill>
              <a:effectLst/>
              <a:latin typeface="Consolas" panose="020B0609020204030204" pitchFamily="49" charset="0"/>
            </a:endParaRPr>
          </a:p>
          <a:p>
            <a:pPr marL="0" indent="0">
              <a:lnSpc>
                <a:spcPct val="100000"/>
              </a:lnSpc>
              <a:buNone/>
            </a:pPr>
            <a:r>
              <a:rPr lang="en-US" altLang="zh-CN" sz="2000" b="0" dirty="0">
                <a:solidFill>
                  <a:srgbClr val="F8F8F2"/>
                </a:solidFill>
                <a:effectLst/>
                <a:latin typeface="Consolas" panose="020B0609020204030204" pitchFamily="49" charset="0"/>
              </a:rPr>
              <a:t>        </a:t>
            </a:r>
            <a:r>
              <a:rPr lang="en-US" altLang="zh-CN" sz="2000" b="0" dirty="0" err="1">
                <a:solidFill>
                  <a:srgbClr val="50FA7B"/>
                </a:solidFill>
                <a:effectLst/>
                <a:latin typeface="Consolas" panose="020B0609020204030204" pitchFamily="49" charset="0"/>
              </a:rPr>
              <a:t>heapify</a:t>
            </a:r>
            <a:r>
              <a:rPr lang="en-US" altLang="zh-CN" sz="2000" b="0" dirty="0">
                <a:solidFill>
                  <a:srgbClr val="F8F8F2"/>
                </a:solidFill>
                <a:effectLst/>
                <a:latin typeface="Consolas" panose="020B0609020204030204" pitchFamily="49" charset="0"/>
              </a:rPr>
              <a:t>(</a:t>
            </a:r>
            <a:r>
              <a:rPr lang="en-US" altLang="zh-CN" sz="2000" b="0" dirty="0" err="1">
                <a:solidFill>
                  <a:srgbClr val="F8F8F2"/>
                </a:solidFill>
                <a:effectLst/>
                <a:latin typeface="Consolas" panose="020B0609020204030204" pitchFamily="49" charset="0"/>
              </a:rPr>
              <a:t>arr</a:t>
            </a:r>
            <a:r>
              <a:rPr lang="en-US" altLang="zh-CN" sz="2000" b="0" dirty="0">
                <a:solidFill>
                  <a:srgbClr val="F8F8F2"/>
                </a:solidFill>
                <a:effectLst/>
                <a:latin typeface="Consolas" panose="020B0609020204030204" pitchFamily="49" charset="0"/>
              </a:rPr>
              <a:t>, n, largest)</a:t>
            </a:r>
            <a:endParaRPr lang="en-US" altLang="zh-CN" sz="2000" b="0" dirty="0">
              <a:solidFill>
                <a:srgbClr val="F8F8F2"/>
              </a:solidFill>
              <a:effectLst/>
              <a:latin typeface="Consolas" panose="020B0609020204030204" pitchFamily="49" charset="0"/>
            </a:endParaRPr>
          </a:p>
          <a:p>
            <a:pPr marL="0" indent="0">
              <a:lnSpc>
                <a:spcPct val="100000"/>
              </a:lnSpc>
              <a:buNone/>
            </a:pPr>
            <a:endParaRPr lang="en-US" altLang="en-US" sz="2000" dirty="0"/>
          </a:p>
        </p:txBody>
      </p:sp>
      <p:sp>
        <p:nvSpPr>
          <p:cNvPr id="4" name="Text Box 3"/>
          <p:cNvSpPr txBox="1"/>
          <p:nvPr/>
        </p:nvSpPr>
        <p:spPr>
          <a:xfrm>
            <a:off x="6918998" y="1398136"/>
            <a:ext cx="5156608" cy="5267358"/>
          </a:xfrm>
          <a:prstGeom prst="rect">
            <a:avLst/>
          </a:prstGeom>
          <a:solidFill>
            <a:schemeClr val="tx2">
              <a:lumMod val="50000"/>
            </a:schemeClr>
          </a:solidFill>
        </p:spPr>
        <p:txBody>
          <a:bodyPr wrap="square" rtlCol="0">
            <a:noAutofit/>
          </a:bodyPr>
          <a:lstStyle/>
          <a:p>
            <a:r>
              <a:rPr lang="en-US" altLang="zh-CN" sz="2000" dirty="0" err="1">
                <a:solidFill>
                  <a:srgbClr val="50FA7B"/>
                </a:solidFill>
                <a:latin typeface="Consolas" panose="020B0609020204030204" pitchFamily="49" charset="0"/>
              </a:rPr>
              <a:t>B</a:t>
            </a:r>
            <a:r>
              <a:rPr lang="en-US" altLang="zh-CN" sz="2000" b="0" dirty="0" err="1">
                <a:solidFill>
                  <a:srgbClr val="50FA7B"/>
                </a:solidFill>
                <a:effectLst/>
                <a:latin typeface="Consolas" panose="020B0609020204030204" pitchFamily="49" charset="0"/>
              </a:rPr>
              <a:t>uildHeap</a:t>
            </a:r>
            <a:r>
              <a:rPr lang="en-US" altLang="zh-CN" sz="2000" b="0" dirty="0">
                <a:solidFill>
                  <a:srgbClr val="F8F8F2"/>
                </a:solidFill>
                <a:effectLst/>
                <a:latin typeface="Consolas" panose="020B0609020204030204" pitchFamily="49" charset="0"/>
              </a:rPr>
              <a:t>(</a:t>
            </a:r>
            <a:r>
              <a:rPr lang="en-US" altLang="zh-CN" sz="2000" b="0" dirty="0" err="1">
                <a:solidFill>
                  <a:srgbClr val="F8F8F2"/>
                </a:solidFill>
                <a:effectLst/>
                <a:latin typeface="Consolas" panose="020B0609020204030204" pitchFamily="49" charset="0"/>
              </a:rPr>
              <a:t>arr</a:t>
            </a:r>
            <a:r>
              <a:rPr lang="en-US" altLang="zh-CN" sz="2000" b="0" dirty="0">
                <a:solidFill>
                  <a:srgbClr val="F8F8F2"/>
                </a:solidFill>
                <a:effectLst/>
                <a:latin typeface="Consolas" panose="020B0609020204030204" pitchFamily="49" charset="0"/>
              </a:rPr>
              <a:t>)</a:t>
            </a:r>
            <a:endParaRPr lang="en-US" altLang="zh-CN" sz="2000" b="0" dirty="0">
              <a:solidFill>
                <a:srgbClr val="F8F8F2"/>
              </a:solidFill>
              <a:effectLst/>
              <a:latin typeface="Consolas" panose="020B0609020204030204" pitchFamily="49" charset="0"/>
            </a:endParaRPr>
          </a:p>
          <a:p>
            <a:r>
              <a:rPr lang="en-US" altLang="zh-CN" sz="2000" b="0" dirty="0">
                <a:solidFill>
                  <a:srgbClr val="F8F8F2"/>
                </a:solidFill>
                <a:effectLst/>
                <a:latin typeface="Consolas" panose="020B0609020204030204" pitchFamily="49" charset="0"/>
              </a:rPr>
              <a:t>    n </a:t>
            </a:r>
            <a:r>
              <a:rPr lang="en-US" altLang="zh-CN" sz="2000" b="0" dirty="0">
                <a:solidFill>
                  <a:srgbClr val="FF79C6"/>
                </a:solidFill>
                <a:effectLst/>
                <a:latin typeface="Consolas" panose="020B0609020204030204" pitchFamily="49" charset="0"/>
              </a:rPr>
              <a:t>=</a:t>
            </a:r>
            <a:r>
              <a:rPr lang="en-US" altLang="zh-CN" sz="2000" b="0" dirty="0">
                <a:solidFill>
                  <a:srgbClr val="F8F8F2"/>
                </a:solidFill>
                <a:effectLst/>
                <a:latin typeface="Consolas" panose="020B0609020204030204" pitchFamily="49" charset="0"/>
              </a:rPr>
              <a:t> </a:t>
            </a:r>
            <a:r>
              <a:rPr lang="en-US" altLang="zh-CN" sz="2000" b="0" dirty="0" err="1">
                <a:solidFill>
                  <a:srgbClr val="F8F8F2"/>
                </a:solidFill>
                <a:effectLst/>
                <a:latin typeface="Consolas" panose="020B0609020204030204" pitchFamily="49" charset="0"/>
              </a:rPr>
              <a:t>arr.</a:t>
            </a:r>
            <a:r>
              <a:rPr lang="en-US" altLang="zh-CN" sz="2000" b="0" dirty="0" err="1">
                <a:solidFill>
                  <a:srgbClr val="50FA7B"/>
                </a:solidFill>
                <a:effectLst/>
                <a:latin typeface="Consolas" panose="020B0609020204030204" pitchFamily="49" charset="0"/>
              </a:rPr>
              <a:t>size</a:t>
            </a:r>
            <a:r>
              <a:rPr lang="en-US" altLang="zh-CN" sz="2000" b="0" dirty="0">
                <a:solidFill>
                  <a:srgbClr val="F8F8F2"/>
                </a:solidFill>
                <a:effectLst/>
                <a:latin typeface="Consolas" panose="020B0609020204030204" pitchFamily="49" charset="0"/>
              </a:rPr>
              <a:t>();</a:t>
            </a:r>
            <a:endParaRPr lang="en-US" altLang="zh-CN" sz="2000" b="0" dirty="0">
              <a:solidFill>
                <a:srgbClr val="F8F8F2"/>
              </a:solidFill>
              <a:effectLst/>
              <a:latin typeface="Consolas" panose="020B0609020204030204" pitchFamily="49" charset="0"/>
            </a:endParaRPr>
          </a:p>
          <a:p>
            <a:r>
              <a:rPr lang="en-US" altLang="zh-CN" sz="2000" b="0" dirty="0">
                <a:solidFill>
                  <a:srgbClr val="F8F8F2"/>
                </a:solidFill>
                <a:effectLst/>
                <a:latin typeface="Consolas" panose="020B0609020204030204" pitchFamily="49" charset="0"/>
              </a:rPr>
              <a:t>    </a:t>
            </a:r>
            <a:r>
              <a:rPr lang="en-US" altLang="zh-CN" sz="2000" b="0" dirty="0">
                <a:solidFill>
                  <a:srgbClr val="FF79C6"/>
                </a:solidFill>
                <a:effectLst/>
                <a:latin typeface="Consolas" panose="020B0609020204030204" pitchFamily="49" charset="0"/>
              </a:rPr>
              <a:t>for</a:t>
            </a:r>
            <a:r>
              <a:rPr lang="en-US" altLang="zh-CN" sz="2000" b="0" dirty="0">
                <a:solidFill>
                  <a:srgbClr val="F8F8F2"/>
                </a:solidFill>
                <a:effectLst/>
                <a:latin typeface="Consolas" panose="020B0609020204030204" pitchFamily="49" charset="0"/>
              </a:rPr>
              <a:t> </a:t>
            </a:r>
            <a:r>
              <a:rPr lang="en-US" altLang="zh-CN" sz="2000" b="0" dirty="0" err="1">
                <a:solidFill>
                  <a:srgbClr val="F8F8F2"/>
                </a:solidFill>
                <a:effectLst/>
                <a:latin typeface="Consolas" panose="020B0609020204030204" pitchFamily="49" charset="0"/>
              </a:rPr>
              <a:t>i</a:t>
            </a:r>
            <a:r>
              <a:rPr lang="en-US" altLang="zh-CN" sz="2000" b="0" dirty="0">
                <a:solidFill>
                  <a:srgbClr val="F8F8F2"/>
                </a:solidFill>
                <a:effectLst/>
                <a:latin typeface="Consolas" panose="020B0609020204030204" pitchFamily="49" charset="0"/>
              </a:rPr>
              <a:t> </a:t>
            </a:r>
            <a:r>
              <a:rPr lang="en-US" altLang="zh-CN" sz="2000" b="0" dirty="0">
                <a:solidFill>
                  <a:srgbClr val="FF79C6"/>
                </a:solidFill>
                <a:effectLst/>
                <a:latin typeface="Consolas" panose="020B0609020204030204" pitchFamily="49" charset="0"/>
              </a:rPr>
              <a:t>=</a:t>
            </a:r>
            <a:r>
              <a:rPr lang="en-US" altLang="zh-CN" sz="2000" b="0" dirty="0">
                <a:solidFill>
                  <a:srgbClr val="F8F8F2"/>
                </a:solidFill>
                <a:effectLst/>
                <a:latin typeface="Consolas" panose="020B0609020204030204" pitchFamily="49" charset="0"/>
              </a:rPr>
              <a:t> n </a:t>
            </a:r>
            <a:r>
              <a:rPr lang="en-US" altLang="zh-CN" sz="2000" b="0" dirty="0">
                <a:solidFill>
                  <a:srgbClr val="FF79C6"/>
                </a:solidFill>
                <a:effectLst/>
                <a:latin typeface="Consolas" panose="020B0609020204030204" pitchFamily="49" charset="0"/>
              </a:rPr>
              <a:t>/ </a:t>
            </a:r>
            <a:r>
              <a:rPr lang="en-US" altLang="zh-CN" sz="2000" b="0" dirty="0">
                <a:solidFill>
                  <a:srgbClr val="BD93F9"/>
                </a:solidFill>
                <a:effectLst/>
                <a:latin typeface="Consolas" panose="020B0609020204030204" pitchFamily="49" charset="0"/>
              </a:rPr>
              <a:t>2 </a:t>
            </a:r>
            <a:r>
              <a:rPr lang="en-US" altLang="zh-CN" sz="2000" b="0" dirty="0">
                <a:solidFill>
                  <a:srgbClr val="FF79C6"/>
                </a:solidFill>
                <a:effectLst/>
                <a:latin typeface="Consolas" panose="020B0609020204030204" pitchFamily="49" charset="0"/>
              </a:rPr>
              <a:t>- </a:t>
            </a:r>
            <a:r>
              <a:rPr lang="en-US" altLang="zh-CN" sz="2000" b="0" dirty="0">
                <a:solidFill>
                  <a:srgbClr val="BD93F9"/>
                </a:solidFill>
                <a:effectLst/>
                <a:latin typeface="Consolas" panose="020B0609020204030204" pitchFamily="49" charset="0"/>
              </a:rPr>
              <a:t>1</a:t>
            </a:r>
            <a:r>
              <a:rPr lang="en-US" altLang="zh-CN" sz="2000" b="0" dirty="0">
                <a:solidFill>
                  <a:srgbClr val="F8F8F2"/>
                </a:solidFill>
                <a:effectLst/>
                <a:latin typeface="Consolas" panose="020B0609020204030204" pitchFamily="49" charset="0"/>
              </a:rPr>
              <a:t> </a:t>
            </a:r>
            <a:r>
              <a:rPr lang="en-US" altLang="zh-CN" sz="2000" dirty="0" err="1">
                <a:solidFill>
                  <a:srgbClr val="FF79C6"/>
                </a:solidFill>
                <a:latin typeface="Consolas" panose="020B0609020204030204" pitchFamily="49" charset="0"/>
              </a:rPr>
              <a:t>downto</a:t>
            </a:r>
            <a:r>
              <a:rPr lang="en-US" altLang="zh-CN" sz="2000" b="0" dirty="0">
                <a:solidFill>
                  <a:srgbClr val="F8F8F2"/>
                </a:solidFill>
                <a:effectLst/>
                <a:latin typeface="Consolas" panose="020B0609020204030204" pitchFamily="49" charset="0"/>
              </a:rPr>
              <a:t> 0</a:t>
            </a:r>
            <a:endParaRPr lang="en-US" altLang="zh-CN" sz="2000" b="0" dirty="0">
              <a:solidFill>
                <a:srgbClr val="F8F8F2"/>
              </a:solidFill>
              <a:effectLst/>
              <a:latin typeface="Consolas" panose="020B0609020204030204" pitchFamily="49" charset="0"/>
            </a:endParaRPr>
          </a:p>
          <a:p>
            <a:r>
              <a:rPr lang="en-US" altLang="zh-CN" sz="2000" b="0" dirty="0">
                <a:solidFill>
                  <a:srgbClr val="F8F8F2"/>
                </a:solidFill>
                <a:effectLst/>
                <a:latin typeface="Consolas" panose="020B0609020204030204" pitchFamily="49" charset="0"/>
              </a:rPr>
              <a:t>        </a:t>
            </a:r>
            <a:r>
              <a:rPr lang="en-US" altLang="zh-CN" sz="2000" dirty="0" err="1">
                <a:solidFill>
                  <a:srgbClr val="50FA7B"/>
                </a:solidFill>
                <a:latin typeface="Consolas" panose="020B0609020204030204" pitchFamily="49" charset="0"/>
              </a:rPr>
              <a:t>H</a:t>
            </a:r>
            <a:r>
              <a:rPr lang="en-US" altLang="zh-CN" sz="2000" b="0" dirty="0" err="1">
                <a:solidFill>
                  <a:srgbClr val="50FA7B"/>
                </a:solidFill>
                <a:effectLst/>
                <a:latin typeface="Consolas" panose="020B0609020204030204" pitchFamily="49" charset="0"/>
              </a:rPr>
              <a:t>eapify</a:t>
            </a:r>
            <a:r>
              <a:rPr lang="en-US" altLang="zh-CN" sz="2000" b="0" dirty="0">
                <a:solidFill>
                  <a:srgbClr val="F8F8F2"/>
                </a:solidFill>
                <a:effectLst/>
                <a:latin typeface="Consolas" panose="020B0609020204030204" pitchFamily="49" charset="0"/>
              </a:rPr>
              <a:t>(</a:t>
            </a:r>
            <a:r>
              <a:rPr lang="en-US" altLang="zh-CN" sz="2000" b="0" dirty="0" err="1">
                <a:solidFill>
                  <a:srgbClr val="F8F8F2"/>
                </a:solidFill>
                <a:effectLst/>
                <a:latin typeface="Consolas" panose="020B0609020204030204" pitchFamily="49" charset="0"/>
              </a:rPr>
              <a:t>arr</a:t>
            </a:r>
            <a:r>
              <a:rPr lang="en-US" altLang="zh-CN" sz="2000" b="0" dirty="0">
                <a:solidFill>
                  <a:srgbClr val="F8F8F2"/>
                </a:solidFill>
                <a:effectLst/>
                <a:latin typeface="Consolas" panose="020B0609020204030204" pitchFamily="49" charset="0"/>
              </a:rPr>
              <a:t>, n, </a:t>
            </a:r>
            <a:r>
              <a:rPr lang="en-US" altLang="zh-CN" sz="2000" b="0" dirty="0" err="1">
                <a:solidFill>
                  <a:srgbClr val="F8F8F2"/>
                </a:solidFill>
                <a:effectLst/>
                <a:latin typeface="Consolas" panose="020B0609020204030204" pitchFamily="49" charset="0"/>
              </a:rPr>
              <a:t>i</a:t>
            </a:r>
            <a:r>
              <a:rPr lang="en-US" altLang="zh-CN" sz="2000" b="0" dirty="0">
                <a:solidFill>
                  <a:srgbClr val="F8F8F2"/>
                </a:solidFill>
                <a:effectLst/>
                <a:latin typeface="Consolas" panose="020B0609020204030204" pitchFamily="49" charset="0"/>
              </a:rPr>
              <a:t>)</a:t>
            </a:r>
            <a:endParaRPr lang="en-US" altLang="zh-CN" sz="2000" b="0" dirty="0">
              <a:solidFill>
                <a:srgbClr val="F8F8F2"/>
              </a:solidFill>
              <a:effectLst/>
              <a:latin typeface="Consolas" panose="020B0609020204030204" pitchFamily="49" charset="0"/>
            </a:endParaRPr>
          </a:p>
          <a:p>
            <a:br>
              <a:rPr lang="en-US" altLang="zh-CN" sz="2000" b="0" dirty="0">
                <a:solidFill>
                  <a:srgbClr val="F8F8F2"/>
                </a:solidFill>
                <a:effectLst/>
                <a:latin typeface="Consolas" panose="020B0609020204030204" pitchFamily="49" charset="0"/>
              </a:rPr>
            </a:br>
            <a:br>
              <a:rPr lang="en-US" altLang="zh-CN" sz="2000" b="0" dirty="0">
                <a:solidFill>
                  <a:srgbClr val="F8F8F2"/>
                </a:solidFill>
                <a:effectLst/>
                <a:latin typeface="Consolas" panose="020B0609020204030204" pitchFamily="49" charset="0"/>
              </a:rPr>
            </a:br>
            <a:endParaRPr lang="en-US" altLang="zh-CN" sz="2000" b="0" dirty="0">
              <a:solidFill>
                <a:srgbClr val="F8F8F2"/>
              </a:solidFill>
              <a:effectLst/>
              <a:latin typeface="Consolas" panose="020B0609020204030204" pitchFamily="49"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BIZ UDPMincho Medium" panose="02020500000000000000" pitchFamily="18" charset="-128"/>
                <a:ea typeface="BIZ UDPMincho Medium" panose="02020500000000000000" pitchFamily="18" charset="-128"/>
              </a:rPr>
              <a:t>Heap</a:t>
            </a:r>
            <a:endParaRPr lang="zh-CN" altLang="en-US" dirty="0"/>
          </a:p>
        </p:txBody>
      </p:sp>
      <p:sp>
        <p:nvSpPr>
          <p:cNvPr id="3" name="内容占位符 2"/>
          <p:cNvSpPr>
            <a:spLocks noGrp="1"/>
          </p:cNvSpPr>
          <p:nvPr>
            <p:ph idx="1"/>
          </p:nvPr>
        </p:nvSpPr>
        <p:spPr>
          <a:xfrm>
            <a:off x="838200" y="1850792"/>
            <a:ext cx="6166607" cy="4351338"/>
          </a:xfrm>
        </p:spPr>
        <p:txBody>
          <a:bodyPr>
            <a:normAutofit/>
          </a:bodyPr>
          <a:lstStyle/>
          <a:p>
            <a:pPr>
              <a:lnSpc>
                <a:spcPct val="100000"/>
              </a:lnSpc>
            </a:pPr>
            <a:r>
              <a:rPr lang="en-US" altLang="zh-CN" sz="2400" dirty="0">
                <a:latin typeface="Calibri" panose="020F0502020204030204" pitchFamily="34" charset="0"/>
                <a:ea typeface="Calibri" panose="020F0502020204030204" pitchFamily="34" charset="0"/>
                <a:cs typeface="Calibri" panose="020F0502020204030204" pitchFamily="34" charset="0"/>
              </a:rPr>
              <a:t>To </a:t>
            </a:r>
            <a:r>
              <a:rPr lang="en-US" altLang="zh-CN" sz="2400" b="1" dirty="0">
                <a:latin typeface="Calibri" panose="020F0502020204030204" pitchFamily="34" charset="0"/>
                <a:ea typeface="Calibri" panose="020F0502020204030204" pitchFamily="34" charset="0"/>
                <a:cs typeface="Calibri" panose="020F0502020204030204" pitchFamily="34" charset="0"/>
              </a:rPr>
              <a:t>insert</a:t>
            </a:r>
            <a:r>
              <a:rPr lang="en-US" altLang="zh-CN" sz="2400" dirty="0">
                <a:latin typeface="Calibri" panose="020F0502020204030204" pitchFamily="34" charset="0"/>
                <a:ea typeface="Calibri" panose="020F0502020204030204" pitchFamily="34" charset="0"/>
                <a:cs typeface="Calibri" panose="020F0502020204030204" pitchFamily="34" charset="0"/>
              </a:rPr>
              <a:t> an element X, </a:t>
            </a:r>
            <a:endParaRPr lang="en-US" altLang="zh-CN" sz="2400"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US" altLang="zh-CN" sz="2400" dirty="0">
                <a:latin typeface="Calibri" panose="020F0502020204030204" pitchFamily="34" charset="0"/>
                <a:ea typeface="Calibri" panose="020F0502020204030204" pitchFamily="34" charset="0"/>
                <a:cs typeface="Calibri" panose="020F0502020204030204" pitchFamily="34" charset="0"/>
              </a:rPr>
              <a:t>1. Create a hole in the next available location</a:t>
            </a:r>
            <a:endParaRPr lang="en-US" altLang="zh-CN" sz="2400"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US" altLang="zh-CN" sz="2400" dirty="0">
                <a:latin typeface="Calibri" panose="020F0502020204030204" pitchFamily="34" charset="0"/>
                <a:ea typeface="Calibri" panose="020F0502020204030204" pitchFamily="34" charset="0"/>
                <a:cs typeface="Calibri" panose="020F0502020204030204" pitchFamily="34" charset="0"/>
              </a:rPr>
              <a:t>2. If X can be placed in the hole without violating heap order, insertion is done</a:t>
            </a:r>
            <a:endParaRPr lang="en-US" altLang="zh-CN" sz="2400"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US" altLang="zh-CN" sz="2400" dirty="0">
                <a:latin typeface="Calibri" panose="020F0502020204030204" pitchFamily="34" charset="0"/>
                <a:ea typeface="Calibri" panose="020F0502020204030204" pitchFamily="34" charset="0"/>
                <a:cs typeface="Calibri" panose="020F0502020204030204" pitchFamily="34" charset="0"/>
              </a:rPr>
              <a:t>3. Otherwise slide the element that is in the hole’s parent node into the hole, </a:t>
            </a:r>
            <a:endParaRPr lang="en-US" altLang="zh-CN" sz="2400"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US" altLang="zh-CN" sz="2400" dirty="0">
                <a:latin typeface="Calibri" panose="020F0502020204030204" pitchFamily="34" charset="0"/>
                <a:ea typeface="Calibri" panose="020F0502020204030204" pitchFamily="34" charset="0"/>
                <a:cs typeface="Calibri" panose="020F0502020204030204" pitchFamily="34" charset="0"/>
              </a:rPr>
              <a:t>4. Continue this process until X can be placed in the hole (a percolating up </a:t>
            </a:r>
            <a:endParaRPr lang="en-US" altLang="zh-CN" sz="2400"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US" altLang="zh-CN" sz="2400" dirty="0">
                <a:latin typeface="Calibri" panose="020F0502020204030204" pitchFamily="34" charset="0"/>
                <a:ea typeface="Calibri" panose="020F0502020204030204" pitchFamily="34" charset="0"/>
                <a:cs typeface="Calibri" panose="020F0502020204030204" pitchFamily="34" charset="0"/>
              </a:rPr>
              <a:t>process)</a:t>
            </a:r>
            <a:endParaRPr lang="zh-CN" altLang="en-US" sz="2400" dirty="0">
              <a:latin typeface="Calibri" panose="020F0502020204030204" pitchFamily="34" charset="0"/>
              <a:ea typeface="BIZ UDPMincho Medium" panose="02020500000000000000" pitchFamily="18" charset="-128"/>
              <a:cs typeface="Calibri" panose="020F0502020204030204" pitchFamily="34" charset="0"/>
            </a:endParaRPr>
          </a:p>
        </p:txBody>
      </p:sp>
      <p:pic>
        <p:nvPicPr>
          <p:cNvPr id="2050" name="Picture 2" descr="【数据结构】堆排序、插入、删除_堆排序插入-CSDN博客"/>
          <p:cNvPicPr>
            <a:picLocks noChangeAspect="1" noChangeArrowheads="1"/>
          </p:cNvPicPr>
          <p:nvPr/>
        </p:nvPicPr>
        <p:blipFill rotWithShape="1">
          <a:blip r:embed="rId1"/>
          <a:srcRect l="17981" r="19856"/>
          <a:stretch>
            <a:fillRect/>
          </a:stretch>
        </p:blipFill>
        <p:spPr bwMode="auto">
          <a:xfrm>
            <a:off x="7198821" y="1481704"/>
            <a:ext cx="4986335" cy="45283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21475"/>
            <a:ext cx="9881235" cy="5310159"/>
          </a:xfrm>
          <a:solidFill>
            <a:schemeClr val="tx2">
              <a:lumMod val="50000"/>
            </a:schemeClr>
          </a:solidFill>
        </p:spPr>
        <p:txBody>
          <a:bodyPr>
            <a:normAutofit fontScale="97500"/>
          </a:bodyPr>
          <a:lstStyle/>
          <a:p>
            <a:pPr marL="0" indent="0">
              <a:lnSpc>
                <a:spcPct val="100000"/>
              </a:lnSpc>
              <a:buNone/>
            </a:pPr>
            <a:r>
              <a:rPr lang="en-US" altLang="zh-CN" sz="2000" dirty="0" err="1">
                <a:solidFill>
                  <a:srgbClr val="50FA7B"/>
                </a:solidFill>
                <a:latin typeface="Consolas" panose="020B0609020204030204" pitchFamily="49" charset="0"/>
              </a:rPr>
              <a:t>H</a:t>
            </a:r>
            <a:r>
              <a:rPr lang="en-US" altLang="zh-CN" sz="2000" b="0" dirty="0" err="1">
                <a:solidFill>
                  <a:srgbClr val="50FA7B"/>
                </a:solidFill>
                <a:effectLst/>
                <a:latin typeface="Consolas" panose="020B0609020204030204" pitchFamily="49" charset="0"/>
              </a:rPr>
              <a:t>eapifyUp</a:t>
            </a:r>
            <a:r>
              <a:rPr lang="en-US" altLang="zh-CN" sz="2000" b="0" dirty="0">
                <a:solidFill>
                  <a:srgbClr val="F8F8F2"/>
                </a:solidFill>
                <a:effectLst/>
                <a:latin typeface="Consolas" panose="020B0609020204030204" pitchFamily="49" charset="0"/>
              </a:rPr>
              <a:t>(</a:t>
            </a:r>
            <a:r>
              <a:rPr lang="en-US" altLang="zh-CN" sz="2000" b="0" i="1" dirty="0" err="1">
                <a:solidFill>
                  <a:srgbClr val="FFB86C"/>
                </a:solidFill>
                <a:effectLst/>
                <a:latin typeface="Consolas" panose="020B0609020204030204" pitchFamily="49" charset="0"/>
              </a:rPr>
              <a:t>arr</a:t>
            </a:r>
            <a:r>
              <a:rPr lang="en-US" altLang="zh-CN" sz="2000" b="0" dirty="0">
                <a:solidFill>
                  <a:srgbClr val="F8F8F2"/>
                </a:solidFill>
                <a:effectLst/>
                <a:latin typeface="Consolas" panose="020B0609020204030204" pitchFamily="49" charset="0"/>
              </a:rPr>
              <a:t>, </a:t>
            </a:r>
            <a:r>
              <a:rPr lang="en-US" altLang="zh-CN" sz="2000" b="0" i="1" dirty="0">
                <a:solidFill>
                  <a:srgbClr val="FFB86C"/>
                </a:solidFill>
                <a:effectLst/>
                <a:latin typeface="Consolas" panose="020B0609020204030204" pitchFamily="49" charset="0"/>
              </a:rPr>
              <a:t>index</a:t>
            </a:r>
            <a:r>
              <a:rPr lang="en-US" altLang="zh-CN" sz="2000" b="0" dirty="0">
                <a:solidFill>
                  <a:srgbClr val="F8F8F2"/>
                </a:solidFill>
                <a:effectLst/>
                <a:latin typeface="Consolas" panose="020B0609020204030204" pitchFamily="49" charset="0"/>
              </a:rPr>
              <a:t>) </a:t>
            </a:r>
            <a:endParaRPr lang="en-US" altLang="zh-CN" sz="2000" b="0" dirty="0">
              <a:solidFill>
                <a:srgbClr val="F8F8F2"/>
              </a:solidFill>
              <a:effectLst/>
              <a:latin typeface="Consolas" panose="020B0609020204030204" pitchFamily="49" charset="0"/>
            </a:endParaRPr>
          </a:p>
          <a:p>
            <a:pPr marL="0" indent="0">
              <a:lnSpc>
                <a:spcPct val="100000"/>
              </a:lnSpc>
              <a:buNone/>
            </a:pPr>
            <a:r>
              <a:rPr lang="en-US" altLang="zh-CN" sz="2000" b="0" dirty="0">
                <a:solidFill>
                  <a:srgbClr val="F8F8F2"/>
                </a:solidFill>
                <a:effectLst/>
                <a:latin typeface="Consolas" panose="020B0609020204030204" pitchFamily="49" charset="0"/>
              </a:rPr>
              <a:t>    parent </a:t>
            </a:r>
            <a:r>
              <a:rPr lang="en-US" altLang="zh-CN" sz="2000" b="0" dirty="0">
                <a:solidFill>
                  <a:srgbClr val="FF79C6"/>
                </a:solidFill>
                <a:effectLst/>
                <a:latin typeface="Consolas" panose="020B0609020204030204" pitchFamily="49" charset="0"/>
              </a:rPr>
              <a:t>=</a:t>
            </a:r>
            <a:r>
              <a:rPr lang="en-US" altLang="zh-CN" sz="2000" b="0" dirty="0">
                <a:solidFill>
                  <a:srgbClr val="F8F8F2"/>
                </a:solidFill>
                <a:effectLst/>
                <a:latin typeface="Consolas" panose="020B0609020204030204" pitchFamily="49" charset="0"/>
              </a:rPr>
              <a:t> (index </a:t>
            </a:r>
            <a:r>
              <a:rPr lang="en-US" altLang="zh-CN" sz="2000" b="0" dirty="0">
                <a:solidFill>
                  <a:srgbClr val="FF79C6"/>
                </a:solidFill>
                <a:effectLst/>
                <a:latin typeface="Consolas" panose="020B0609020204030204" pitchFamily="49" charset="0"/>
              </a:rPr>
              <a:t>-</a:t>
            </a:r>
            <a:r>
              <a:rPr lang="en-US" altLang="zh-CN" sz="2000" b="0" dirty="0">
                <a:solidFill>
                  <a:srgbClr val="F8F8F2"/>
                </a:solidFill>
                <a:effectLst/>
                <a:latin typeface="Consolas" panose="020B0609020204030204" pitchFamily="49" charset="0"/>
              </a:rPr>
              <a:t> </a:t>
            </a:r>
            <a:r>
              <a:rPr lang="en-US" altLang="zh-CN" sz="2000" b="0" dirty="0">
                <a:solidFill>
                  <a:srgbClr val="BD93F9"/>
                </a:solidFill>
                <a:effectLst/>
                <a:latin typeface="Consolas" panose="020B0609020204030204" pitchFamily="49" charset="0"/>
              </a:rPr>
              <a:t>1</a:t>
            </a:r>
            <a:r>
              <a:rPr lang="en-US" altLang="zh-CN" sz="2000" b="0" dirty="0">
                <a:solidFill>
                  <a:srgbClr val="F8F8F2"/>
                </a:solidFill>
                <a:effectLst/>
                <a:latin typeface="Consolas" panose="020B0609020204030204" pitchFamily="49" charset="0"/>
              </a:rPr>
              <a:t>) </a:t>
            </a:r>
            <a:r>
              <a:rPr lang="en-US" altLang="zh-CN" sz="2000" b="0" dirty="0">
                <a:solidFill>
                  <a:srgbClr val="FF79C6"/>
                </a:solidFill>
                <a:effectLst/>
                <a:latin typeface="Consolas" panose="020B0609020204030204" pitchFamily="49" charset="0"/>
              </a:rPr>
              <a:t>/</a:t>
            </a:r>
            <a:r>
              <a:rPr lang="en-US" altLang="zh-CN" sz="2000" b="0" dirty="0">
                <a:solidFill>
                  <a:srgbClr val="F8F8F2"/>
                </a:solidFill>
                <a:effectLst/>
                <a:latin typeface="Consolas" panose="020B0609020204030204" pitchFamily="49" charset="0"/>
              </a:rPr>
              <a:t> </a:t>
            </a:r>
            <a:r>
              <a:rPr lang="en-US" altLang="zh-CN" sz="2000" b="0" dirty="0">
                <a:solidFill>
                  <a:srgbClr val="BD93F9"/>
                </a:solidFill>
                <a:effectLst/>
                <a:latin typeface="Consolas" panose="020B0609020204030204" pitchFamily="49" charset="0"/>
              </a:rPr>
              <a:t>2</a:t>
            </a:r>
            <a:r>
              <a:rPr lang="en-US" altLang="zh-CN" sz="2000" b="0" dirty="0">
                <a:solidFill>
                  <a:srgbClr val="F8F8F2"/>
                </a:solidFill>
                <a:effectLst/>
                <a:latin typeface="Consolas" panose="020B0609020204030204" pitchFamily="49" charset="0"/>
              </a:rPr>
              <a:t>; </a:t>
            </a:r>
            <a:endParaRPr lang="en-US" altLang="zh-CN" sz="2000" b="0" dirty="0">
              <a:solidFill>
                <a:srgbClr val="F8F8F2"/>
              </a:solidFill>
              <a:effectLst/>
              <a:latin typeface="Consolas" panose="020B0609020204030204" pitchFamily="49" charset="0"/>
            </a:endParaRPr>
          </a:p>
          <a:p>
            <a:pPr marL="0" indent="0">
              <a:lnSpc>
                <a:spcPct val="100000"/>
              </a:lnSpc>
              <a:buNone/>
            </a:pPr>
            <a:r>
              <a:rPr lang="en-US" altLang="zh-CN" sz="2000" b="0" dirty="0">
                <a:solidFill>
                  <a:srgbClr val="F8F8F2"/>
                </a:solidFill>
                <a:effectLst/>
                <a:latin typeface="Consolas" panose="020B0609020204030204" pitchFamily="49" charset="0"/>
              </a:rPr>
              <a:t>    </a:t>
            </a:r>
            <a:r>
              <a:rPr lang="en-US" altLang="zh-CN" sz="2000" b="0" dirty="0">
                <a:solidFill>
                  <a:srgbClr val="FF79C6"/>
                </a:solidFill>
                <a:effectLst/>
                <a:latin typeface="Consolas" panose="020B0609020204030204" pitchFamily="49" charset="0"/>
              </a:rPr>
              <a:t>while</a:t>
            </a:r>
            <a:r>
              <a:rPr lang="en-US" altLang="zh-CN" sz="2000" b="0" dirty="0">
                <a:solidFill>
                  <a:srgbClr val="F8F8F2"/>
                </a:solidFill>
                <a:effectLst/>
                <a:latin typeface="Consolas" panose="020B0609020204030204" pitchFamily="49" charset="0"/>
              </a:rPr>
              <a:t> index </a:t>
            </a:r>
            <a:r>
              <a:rPr lang="en-US" altLang="zh-CN" sz="2000" b="0" dirty="0">
                <a:solidFill>
                  <a:srgbClr val="FF79C6"/>
                </a:solidFill>
                <a:effectLst/>
                <a:latin typeface="Consolas" panose="020B0609020204030204" pitchFamily="49" charset="0"/>
              </a:rPr>
              <a:t>&gt;</a:t>
            </a:r>
            <a:r>
              <a:rPr lang="en-US" altLang="zh-CN" sz="2000" b="0" dirty="0">
                <a:solidFill>
                  <a:srgbClr val="F8F8F2"/>
                </a:solidFill>
                <a:effectLst/>
                <a:latin typeface="Consolas" panose="020B0609020204030204" pitchFamily="49" charset="0"/>
              </a:rPr>
              <a:t> </a:t>
            </a:r>
            <a:r>
              <a:rPr lang="en-US" altLang="zh-CN" sz="2000" b="0" dirty="0">
                <a:solidFill>
                  <a:srgbClr val="BD93F9"/>
                </a:solidFill>
                <a:effectLst/>
                <a:latin typeface="Consolas" panose="020B0609020204030204" pitchFamily="49" charset="0"/>
              </a:rPr>
              <a:t>0</a:t>
            </a:r>
            <a:r>
              <a:rPr lang="en-US" altLang="zh-CN" sz="2000" b="0" dirty="0">
                <a:solidFill>
                  <a:srgbClr val="F8F8F2"/>
                </a:solidFill>
                <a:effectLst/>
                <a:latin typeface="Consolas" panose="020B0609020204030204" pitchFamily="49" charset="0"/>
              </a:rPr>
              <a:t> </a:t>
            </a:r>
            <a:r>
              <a:rPr lang="en-US" altLang="zh-CN" sz="2000" dirty="0">
                <a:solidFill>
                  <a:srgbClr val="FF79C6"/>
                </a:solidFill>
                <a:latin typeface="Consolas" panose="020B0609020204030204" pitchFamily="49" charset="0"/>
              </a:rPr>
              <a:t>and</a:t>
            </a:r>
            <a:r>
              <a:rPr lang="en-US" altLang="zh-CN" sz="2000" b="0" dirty="0">
                <a:solidFill>
                  <a:srgbClr val="F8F8F2"/>
                </a:solidFill>
                <a:effectLst/>
                <a:latin typeface="Consolas" panose="020B0609020204030204" pitchFamily="49" charset="0"/>
              </a:rPr>
              <a:t> </a:t>
            </a:r>
            <a:r>
              <a:rPr lang="en-US" altLang="zh-CN" sz="2000" b="0" dirty="0" err="1">
                <a:solidFill>
                  <a:srgbClr val="F8F8F2"/>
                </a:solidFill>
                <a:effectLst/>
                <a:latin typeface="Consolas" panose="020B0609020204030204" pitchFamily="49" charset="0"/>
              </a:rPr>
              <a:t>arr</a:t>
            </a:r>
            <a:r>
              <a:rPr lang="en-US" altLang="zh-CN" sz="2000" b="0" dirty="0">
                <a:solidFill>
                  <a:srgbClr val="F8F8F2"/>
                </a:solidFill>
                <a:effectLst/>
                <a:latin typeface="Consolas" panose="020B0609020204030204" pitchFamily="49" charset="0"/>
              </a:rPr>
              <a:t>[index] </a:t>
            </a:r>
            <a:r>
              <a:rPr lang="en-US" altLang="zh-CN" sz="2000" b="0" dirty="0">
                <a:solidFill>
                  <a:srgbClr val="FF79C6"/>
                </a:solidFill>
                <a:effectLst/>
                <a:latin typeface="Consolas" panose="020B0609020204030204" pitchFamily="49" charset="0"/>
              </a:rPr>
              <a:t>&gt;</a:t>
            </a:r>
            <a:r>
              <a:rPr lang="en-US" altLang="zh-CN" sz="2000" b="0" dirty="0">
                <a:solidFill>
                  <a:srgbClr val="F8F8F2"/>
                </a:solidFill>
                <a:effectLst/>
                <a:latin typeface="Consolas" panose="020B0609020204030204" pitchFamily="49" charset="0"/>
              </a:rPr>
              <a:t> </a:t>
            </a:r>
            <a:r>
              <a:rPr lang="en-US" altLang="zh-CN" sz="2000" b="0" dirty="0" err="1">
                <a:solidFill>
                  <a:srgbClr val="F8F8F2"/>
                </a:solidFill>
                <a:effectLst/>
                <a:latin typeface="Consolas" panose="020B0609020204030204" pitchFamily="49" charset="0"/>
              </a:rPr>
              <a:t>arr</a:t>
            </a:r>
            <a:r>
              <a:rPr lang="en-US" altLang="zh-CN" sz="2000" b="0" dirty="0">
                <a:solidFill>
                  <a:srgbClr val="F8F8F2"/>
                </a:solidFill>
                <a:effectLst/>
                <a:latin typeface="Consolas" panose="020B0609020204030204" pitchFamily="49" charset="0"/>
              </a:rPr>
              <a:t>[parent]</a:t>
            </a:r>
            <a:endParaRPr lang="en-US" altLang="zh-CN" sz="2000" b="0" dirty="0">
              <a:solidFill>
                <a:srgbClr val="F8F8F2"/>
              </a:solidFill>
              <a:effectLst/>
              <a:latin typeface="Consolas" panose="020B0609020204030204" pitchFamily="49" charset="0"/>
            </a:endParaRPr>
          </a:p>
          <a:p>
            <a:pPr marL="0" indent="0">
              <a:lnSpc>
                <a:spcPct val="100000"/>
              </a:lnSpc>
              <a:buNone/>
            </a:pPr>
            <a:r>
              <a:rPr lang="en-US" altLang="zh-CN" sz="2000" b="0" dirty="0">
                <a:solidFill>
                  <a:srgbClr val="F8F8F2"/>
                </a:solidFill>
                <a:effectLst/>
                <a:latin typeface="Consolas" panose="020B0609020204030204" pitchFamily="49" charset="0"/>
              </a:rPr>
              <a:t>        </a:t>
            </a:r>
            <a:r>
              <a:rPr lang="en-US" altLang="zh-CN" sz="2000" b="0" dirty="0">
                <a:solidFill>
                  <a:srgbClr val="50FA7B"/>
                </a:solidFill>
                <a:effectLst/>
                <a:latin typeface="Consolas" panose="020B0609020204030204" pitchFamily="49" charset="0"/>
              </a:rPr>
              <a:t>swap</a:t>
            </a:r>
            <a:r>
              <a:rPr lang="en-US" altLang="zh-CN" sz="2000" b="0" dirty="0">
                <a:solidFill>
                  <a:srgbClr val="F8F8F2"/>
                </a:solidFill>
                <a:effectLst/>
                <a:latin typeface="Consolas" panose="020B0609020204030204" pitchFamily="49" charset="0"/>
              </a:rPr>
              <a:t>(</a:t>
            </a:r>
            <a:r>
              <a:rPr lang="en-US" altLang="zh-CN" sz="2000" b="0" dirty="0" err="1">
                <a:solidFill>
                  <a:srgbClr val="F8F8F2"/>
                </a:solidFill>
                <a:effectLst/>
                <a:latin typeface="Consolas" panose="020B0609020204030204" pitchFamily="49" charset="0"/>
              </a:rPr>
              <a:t>arr</a:t>
            </a:r>
            <a:r>
              <a:rPr lang="en-US" altLang="zh-CN" sz="2000" b="0" dirty="0">
                <a:solidFill>
                  <a:srgbClr val="F8F8F2"/>
                </a:solidFill>
                <a:effectLst/>
                <a:latin typeface="Consolas" panose="020B0609020204030204" pitchFamily="49" charset="0"/>
              </a:rPr>
              <a:t>[index], </a:t>
            </a:r>
            <a:r>
              <a:rPr lang="en-US" altLang="zh-CN" sz="2000" b="0" dirty="0" err="1">
                <a:solidFill>
                  <a:srgbClr val="F8F8F2"/>
                </a:solidFill>
                <a:effectLst/>
                <a:latin typeface="Consolas" panose="020B0609020204030204" pitchFamily="49" charset="0"/>
              </a:rPr>
              <a:t>arr</a:t>
            </a:r>
            <a:r>
              <a:rPr lang="en-US" altLang="zh-CN" sz="2000" b="0" dirty="0">
                <a:solidFill>
                  <a:srgbClr val="F8F8F2"/>
                </a:solidFill>
                <a:effectLst/>
                <a:latin typeface="Consolas" panose="020B0609020204030204" pitchFamily="49" charset="0"/>
              </a:rPr>
              <a:t>[parent]);</a:t>
            </a:r>
            <a:endParaRPr lang="en-US" altLang="zh-CN" sz="2000" b="0" dirty="0">
              <a:solidFill>
                <a:srgbClr val="F8F8F2"/>
              </a:solidFill>
              <a:effectLst/>
              <a:latin typeface="Consolas" panose="020B0609020204030204" pitchFamily="49" charset="0"/>
            </a:endParaRPr>
          </a:p>
          <a:p>
            <a:pPr marL="0" indent="0">
              <a:lnSpc>
                <a:spcPct val="100000"/>
              </a:lnSpc>
              <a:buNone/>
            </a:pPr>
            <a:r>
              <a:rPr lang="en-US" altLang="zh-CN" sz="2000" b="0" dirty="0">
                <a:solidFill>
                  <a:srgbClr val="F8F8F2"/>
                </a:solidFill>
                <a:effectLst/>
                <a:latin typeface="Consolas" panose="020B0609020204030204" pitchFamily="49" charset="0"/>
              </a:rPr>
              <a:t>        index </a:t>
            </a:r>
            <a:r>
              <a:rPr lang="en-US" altLang="zh-CN" sz="2000" b="0" dirty="0">
                <a:solidFill>
                  <a:srgbClr val="FF79C6"/>
                </a:solidFill>
                <a:effectLst/>
                <a:latin typeface="Consolas" panose="020B0609020204030204" pitchFamily="49" charset="0"/>
              </a:rPr>
              <a:t>=</a:t>
            </a:r>
            <a:r>
              <a:rPr lang="en-US" altLang="zh-CN" sz="2000" b="0" dirty="0">
                <a:solidFill>
                  <a:srgbClr val="F8F8F2"/>
                </a:solidFill>
                <a:effectLst/>
                <a:latin typeface="Consolas" panose="020B0609020204030204" pitchFamily="49" charset="0"/>
              </a:rPr>
              <a:t> parent;  </a:t>
            </a:r>
            <a:endParaRPr lang="en-US" altLang="zh-CN" sz="2000" b="0" dirty="0">
              <a:solidFill>
                <a:srgbClr val="F8F8F2"/>
              </a:solidFill>
              <a:effectLst/>
              <a:latin typeface="Consolas" panose="020B0609020204030204" pitchFamily="49" charset="0"/>
            </a:endParaRPr>
          </a:p>
          <a:p>
            <a:pPr marL="0" indent="0">
              <a:lnSpc>
                <a:spcPct val="100000"/>
              </a:lnSpc>
              <a:buNone/>
            </a:pPr>
            <a:r>
              <a:rPr lang="en-US" altLang="zh-CN" sz="2000" b="0" dirty="0">
                <a:solidFill>
                  <a:srgbClr val="F8F8F2"/>
                </a:solidFill>
                <a:effectLst/>
                <a:latin typeface="Consolas" panose="020B0609020204030204" pitchFamily="49" charset="0"/>
              </a:rPr>
              <a:t>        parent </a:t>
            </a:r>
            <a:r>
              <a:rPr lang="en-US" altLang="zh-CN" sz="2000" b="0" dirty="0">
                <a:solidFill>
                  <a:srgbClr val="FF79C6"/>
                </a:solidFill>
                <a:effectLst/>
                <a:latin typeface="Consolas" panose="020B0609020204030204" pitchFamily="49" charset="0"/>
              </a:rPr>
              <a:t>=</a:t>
            </a:r>
            <a:r>
              <a:rPr lang="en-US" altLang="zh-CN" sz="2000" b="0" dirty="0">
                <a:solidFill>
                  <a:srgbClr val="F8F8F2"/>
                </a:solidFill>
                <a:effectLst/>
                <a:latin typeface="Consolas" panose="020B0609020204030204" pitchFamily="49" charset="0"/>
              </a:rPr>
              <a:t> (index </a:t>
            </a:r>
            <a:r>
              <a:rPr lang="en-US" altLang="zh-CN" sz="2000" b="0" dirty="0">
                <a:solidFill>
                  <a:srgbClr val="FF79C6"/>
                </a:solidFill>
                <a:effectLst/>
                <a:latin typeface="Consolas" panose="020B0609020204030204" pitchFamily="49" charset="0"/>
              </a:rPr>
              <a:t>-</a:t>
            </a:r>
            <a:r>
              <a:rPr lang="en-US" altLang="zh-CN" sz="2000" b="0" dirty="0">
                <a:solidFill>
                  <a:srgbClr val="F8F8F2"/>
                </a:solidFill>
                <a:effectLst/>
                <a:latin typeface="Consolas" panose="020B0609020204030204" pitchFamily="49" charset="0"/>
              </a:rPr>
              <a:t> </a:t>
            </a:r>
            <a:r>
              <a:rPr lang="en-US" altLang="zh-CN" sz="2000" b="0" dirty="0">
                <a:solidFill>
                  <a:srgbClr val="BD93F9"/>
                </a:solidFill>
                <a:effectLst/>
                <a:latin typeface="Consolas" panose="020B0609020204030204" pitchFamily="49" charset="0"/>
              </a:rPr>
              <a:t>1</a:t>
            </a:r>
            <a:r>
              <a:rPr lang="en-US" altLang="zh-CN" sz="2000" b="0" dirty="0">
                <a:solidFill>
                  <a:srgbClr val="F8F8F2"/>
                </a:solidFill>
                <a:effectLst/>
                <a:latin typeface="Consolas" panose="020B0609020204030204" pitchFamily="49" charset="0"/>
              </a:rPr>
              <a:t>) </a:t>
            </a:r>
            <a:r>
              <a:rPr lang="en-US" altLang="zh-CN" sz="2000" b="0" dirty="0">
                <a:solidFill>
                  <a:srgbClr val="FF79C6"/>
                </a:solidFill>
                <a:effectLst/>
                <a:latin typeface="Consolas" panose="020B0609020204030204" pitchFamily="49" charset="0"/>
              </a:rPr>
              <a:t>/</a:t>
            </a:r>
            <a:r>
              <a:rPr lang="en-US" altLang="zh-CN" sz="2000" b="0" dirty="0">
                <a:solidFill>
                  <a:srgbClr val="F8F8F2"/>
                </a:solidFill>
                <a:effectLst/>
                <a:latin typeface="Consolas" panose="020B0609020204030204" pitchFamily="49" charset="0"/>
              </a:rPr>
              <a:t> </a:t>
            </a:r>
            <a:r>
              <a:rPr lang="en-US" altLang="zh-CN" sz="2000" b="0" dirty="0">
                <a:solidFill>
                  <a:srgbClr val="BD93F9"/>
                </a:solidFill>
                <a:effectLst/>
                <a:latin typeface="Consolas" panose="020B0609020204030204" pitchFamily="49" charset="0"/>
              </a:rPr>
              <a:t>2</a:t>
            </a:r>
            <a:r>
              <a:rPr lang="en-US" altLang="zh-CN" sz="2000" b="0" dirty="0">
                <a:solidFill>
                  <a:srgbClr val="F8F8F2"/>
                </a:solidFill>
                <a:effectLst/>
                <a:latin typeface="Consolas" panose="020B0609020204030204" pitchFamily="49" charset="0"/>
              </a:rPr>
              <a:t>;</a:t>
            </a:r>
            <a:endParaRPr lang="en-US" altLang="zh-CN" sz="2000" b="0" dirty="0">
              <a:solidFill>
                <a:srgbClr val="F8F8F2"/>
              </a:solidFill>
              <a:effectLst/>
              <a:latin typeface="Consolas" panose="020B0609020204030204" pitchFamily="49" charset="0"/>
            </a:endParaRPr>
          </a:p>
          <a:p>
            <a:pPr marL="0" indent="0">
              <a:lnSpc>
                <a:spcPct val="100000"/>
              </a:lnSpc>
              <a:buNone/>
            </a:pPr>
            <a:r>
              <a:rPr lang="en-US" altLang="zh-CN" sz="2000" dirty="0">
                <a:solidFill>
                  <a:srgbClr val="50FA7B"/>
                </a:solidFill>
                <a:latin typeface="Consolas" panose="020B0609020204030204" pitchFamily="49" charset="0"/>
              </a:rPr>
              <a:t>I</a:t>
            </a:r>
            <a:r>
              <a:rPr lang="en-US" altLang="zh-CN" sz="2000" b="0" dirty="0">
                <a:solidFill>
                  <a:srgbClr val="50FA7B"/>
                </a:solidFill>
                <a:effectLst/>
                <a:latin typeface="Consolas" panose="020B0609020204030204" pitchFamily="49" charset="0"/>
              </a:rPr>
              <a:t>nsert</a:t>
            </a:r>
            <a:r>
              <a:rPr lang="en-US" altLang="zh-CN" sz="2000" b="0" dirty="0">
                <a:solidFill>
                  <a:srgbClr val="F8F8F2"/>
                </a:solidFill>
                <a:effectLst/>
                <a:latin typeface="Consolas" panose="020B0609020204030204" pitchFamily="49" charset="0"/>
              </a:rPr>
              <a:t>(</a:t>
            </a:r>
            <a:r>
              <a:rPr lang="en-US" altLang="zh-CN" sz="2000" b="0" i="1" dirty="0" err="1">
                <a:solidFill>
                  <a:srgbClr val="FFB86C"/>
                </a:solidFill>
                <a:effectLst/>
                <a:latin typeface="Consolas" panose="020B0609020204030204" pitchFamily="49" charset="0"/>
              </a:rPr>
              <a:t>val</a:t>
            </a:r>
            <a:r>
              <a:rPr lang="en-US" altLang="zh-CN" sz="2000" b="0" dirty="0">
                <a:solidFill>
                  <a:srgbClr val="F8F8F2"/>
                </a:solidFill>
                <a:effectLst/>
                <a:latin typeface="Consolas" panose="020B0609020204030204" pitchFamily="49" charset="0"/>
              </a:rPr>
              <a:t>)</a:t>
            </a:r>
            <a:endParaRPr lang="en-US" altLang="zh-CN" sz="2000" b="0" dirty="0">
              <a:solidFill>
                <a:srgbClr val="F8F8F2"/>
              </a:solidFill>
              <a:effectLst/>
              <a:latin typeface="Consolas" panose="020B0609020204030204" pitchFamily="49" charset="0"/>
            </a:endParaRPr>
          </a:p>
          <a:p>
            <a:pPr marL="0" indent="0">
              <a:lnSpc>
                <a:spcPct val="100000"/>
              </a:lnSpc>
              <a:buNone/>
            </a:pPr>
            <a:r>
              <a:rPr lang="en-US" altLang="zh-CN" sz="2000" b="0" dirty="0">
                <a:solidFill>
                  <a:srgbClr val="F8F8F2"/>
                </a:solidFill>
                <a:effectLst/>
                <a:latin typeface="Consolas" panose="020B0609020204030204" pitchFamily="49" charset="0"/>
              </a:rPr>
              <a:t>    </a:t>
            </a:r>
            <a:r>
              <a:rPr lang="en-US" altLang="zh-CN" sz="2000" b="0" dirty="0">
                <a:solidFill>
                  <a:srgbClr val="FF79C6"/>
                </a:solidFill>
                <a:effectLst/>
                <a:latin typeface="Consolas" panose="020B0609020204030204" pitchFamily="49" charset="0"/>
              </a:rPr>
              <a:t>if</a:t>
            </a:r>
            <a:r>
              <a:rPr lang="en-US" altLang="zh-CN" sz="2000" b="0" dirty="0">
                <a:solidFill>
                  <a:srgbClr val="F8F8F2"/>
                </a:solidFill>
                <a:effectLst/>
                <a:latin typeface="Consolas" panose="020B0609020204030204" pitchFamily="49" charset="0"/>
              </a:rPr>
              <a:t> </a:t>
            </a:r>
            <a:r>
              <a:rPr lang="en-US" altLang="zh-CN" sz="2000" b="0" dirty="0" err="1">
                <a:solidFill>
                  <a:srgbClr val="F8F8F2"/>
                </a:solidFill>
                <a:effectLst/>
                <a:latin typeface="Consolas" panose="020B0609020204030204" pitchFamily="49" charset="0"/>
              </a:rPr>
              <a:t>heapSize</a:t>
            </a:r>
            <a:r>
              <a:rPr lang="en-US" altLang="zh-CN" sz="2000" b="0" dirty="0">
                <a:solidFill>
                  <a:srgbClr val="F8F8F2"/>
                </a:solidFill>
                <a:effectLst/>
                <a:latin typeface="Consolas" panose="020B0609020204030204" pitchFamily="49" charset="0"/>
              </a:rPr>
              <a:t> </a:t>
            </a:r>
            <a:r>
              <a:rPr lang="en-US" altLang="zh-CN" sz="2000" b="0" dirty="0">
                <a:solidFill>
                  <a:srgbClr val="FF79C6"/>
                </a:solidFill>
                <a:effectLst/>
                <a:latin typeface="Consolas" panose="020B0609020204030204" pitchFamily="49" charset="0"/>
              </a:rPr>
              <a:t>==</a:t>
            </a:r>
            <a:r>
              <a:rPr lang="en-US" altLang="zh-CN" sz="2000" b="0" dirty="0">
                <a:solidFill>
                  <a:srgbClr val="F8F8F2"/>
                </a:solidFill>
                <a:effectLst/>
                <a:latin typeface="Consolas" panose="020B0609020204030204" pitchFamily="49" charset="0"/>
              </a:rPr>
              <a:t> MAX_SIZE</a:t>
            </a:r>
            <a:endParaRPr lang="en-US" altLang="zh-CN" sz="2000" b="0" dirty="0">
              <a:solidFill>
                <a:srgbClr val="F8F8F2"/>
              </a:solidFill>
              <a:effectLst/>
              <a:latin typeface="Consolas" panose="020B0609020204030204" pitchFamily="49" charset="0"/>
            </a:endParaRPr>
          </a:p>
          <a:p>
            <a:pPr marL="0" indent="0">
              <a:lnSpc>
                <a:spcPct val="100000"/>
              </a:lnSpc>
              <a:buNone/>
            </a:pPr>
            <a:r>
              <a:rPr lang="en-US" altLang="zh-CN" sz="2000" b="0" dirty="0">
                <a:solidFill>
                  <a:srgbClr val="F8F8F2"/>
                </a:solidFill>
                <a:effectLst/>
                <a:latin typeface="Consolas" panose="020B0609020204030204" pitchFamily="49" charset="0"/>
              </a:rPr>
              <a:t>        </a:t>
            </a:r>
            <a:r>
              <a:rPr lang="en-US" altLang="zh-CN" sz="2000" b="0" dirty="0">
                <a:solidFill>
                  <a:srgbClr val="FF79C6"/>
                </a:solidFill>
                <a:effectLst/>
                <a:latin typeface="Consolas" panose="020B0609020204030204" pitchFamily="49" charset="0"/>
              </a:rPr>
              <a:t>return</a:t>
            </a:r>
            <a:endParaRPr lang="en-US" altLang="zh-CN" sz="2000" b="0" dirty="0">
              <a:solidFill>
                <a:srgbClr val="F8F8F2"/>
              </a:solidFill>
              <a:effectLst/>
              <a:latin typeface="Consolas" panose="020B0609020204030204" pitchFamily="49" charset="0"/>
            </a:endParaRPr>
          </a:p>
          <a:p>
            <a:pPr marL="0" indent="0">
              <a:lnSpc>
                <a:spcPct val="100000"/>
              </a:lnSpc>
              <a:buNone/>
            </a:pPr>
            <a:r>
              <a:rPr lang="en-US" altLang="zh-CN" sz="2000" b="0" dirty="0">
                <a:solidFill>
                  <a:srgbClr val="F8F8F2"/>
                </a:solidFill>
                <a:effectLst/>
                <a:latin typeface="Consolas" panose="020B0609020204030204" pitchFamily="49" charset="0"/>
              </a:rPr>
              <a:t>    heap[n] </a:t>
            </a:r>
            <a:r>
              <a:rPr lang="en-US" altLang="zh-CN" sz="2000" b="0" dirty="0">
                <a:solidFill>
                  <a:srgbClr val="FF79C6"/>
                </a:solidFill>
                <a:effectLst/>
                <a:latin typeface="Consolas" panose="020B0609020204030204" pitchFamily="49" charset="0"/>
              </a:rPr>
              <a:t>=</a:t>
            </a:r>
            <a:r>
              <a:rPr lang="en-US" altLang="zh-CN" sz="2000" b="0" dirty="0">
                <a:solidFill>
                  <a:srgbClr val="F8F8F2"/>
                </a:solidFill>
                <a:effectLst/>
                <a:latin typeface="Consolas" panose="020B0609020204030204" pitchFamily="49" charset="0"/>
              </a:rPr>
              <a:t> </a:t>
            </a:r>
            <a:r>
              <a:rPr lang="en-US" altLang="zh-CN" sz="2000" b="0" dirty="0" err="1">
                <a:solidFill>
                  <a:srgbClr val="F8F8F2"/>
                </a:solidFill>
                <a:effectLst/>
                <a:latin typeface="Consolas" panose="020B0609020204030204" pitchFamily="49" charset="0"/>
              </a:rPr>
              <a:t>val</a:t>
            </a:r>
            <a:r>
              <a:rPr lang="en-US" altLang="zh-CN" sz="2000" b="0" dirty="0">
                <a:solidFill>
                  <a:srgbClr val="6272A4"/>
                </a:solidFill>
                <a:effectLst/>
                <a:latin typeface="Consolas" panose="020B0609020204030204" pitchFamily="49" charset="0"/>
              </a:rPr>
              <a:t> // insert new element to the end</a:t>
            </a:r>
            <a:endParaRPr lang="en-US" altLang="zh-CN" sz="2000" b="0" dirty="0">
              <a:solidFill>
                <a:srgbClr val="F8F8F2"/>
              </a:solidFill>
              <a:effectLst/>
              <a:latin typeface="Consolas" panose="020B0609020204030204" pitchFamily="49" charset="0"/>
            </a:endParaRPr>
          </a:p>
          <a:p>
            <a:pPr marL="0" indent="0">
              <a:lnSpc>
                <a:spcPct val="100000"/>
              </a:lnSpc>
              <a:buNone/>
            </a:pPr>
            <a:r>
              <a:rPr lang="en-US" altLang="zh-CN" sz="2000" b="0" dirty="0">
                <a:solidFill>
                  <a:srgbClr val="F8F8F2"/>
                </a:solidFill>
                <a:effectLst/>
                <a:latin typeface="Consolas" panose="020B0609020204030204" pitchFamily="49" charset="0"/>
              </a:rPr>
              <a:t>    n</a:t>
            </a:r>
            <a:r>
              <a:rPr lang="en-US" altLang="zh-CN" sz="2000" b="0" dirty="0">
                <a:solidFill>
                  <a:srgbClr val="FF79C6"/>
                </a:solidFill>
                <a:effectLst/>
                <a:latin typeface="Consolas" panose="020B0609020204030204" pitchFamily="49" charset="0"/>
              </a:rPr>
              <a:t>++</a:t>
            </a:r>
            <a:endParaRPr lang="en-US" altLang="zh-CN" sz="2000" b="0" dirty="0">
              <a:solidFill>
                <a:srgbClr val="F8F8F2"/>
              </a:solidFill>
              <a:effectLst/>
              <a:latin typeface="Consolas" panose="020B0609020204030204" pitchFamily="49" charset="0"/>
            </a:endParaRPr>
          </a:p>
          <a:p>
            <a:pPr marL="0" indent="0">
              <a:lnSpc>
                <a:spcPct val="100000"/>
              </a:lnSpc>
              <a:buNone/>
            </a:pPr>
            <a:r>
              <a:rPr lang="en-US" altLang="zh-CN" sz="2000" b="0" dirty="0">
                <a:solidFill>
                  <a:srgbClr val="F8F8F2"/>
                </a:solidFill>
                <a:effectLst/>
                <a:latin typeface="Consolas" panose="020B0609020204030204" pitchFamily="49" charset="0"/>
              </a:rPr>
              <a:t>    </a:t>
            </a:r>
            <a:r>
              <a:rPr lang="en-US" altLang="zh-CN" sz="2000" dirty="0" err="1">
                <a:solidFill>
                  <a:srgbClr val="50FA7B"/>
                </a:solidFill>
                <a:latin typeface="Consolas" panose="020B0609020204030204" pitchFamily="49" charset="0"/>
              </a:rPr>
              <a:t>H</a:t>
            </a:r>
            <a:r>
              <a:rPr lang="en-US" altLang="zh-CN" sz="2000" b="0" dirty="0" err="1">
                <a:solidFill>
                  <a:srgbClr val="50FA7B"/>
                </a:solidFill>
                <a:effectLst/>
                <a:latin typeface="Consolas" panose="020B0609020204030204" pitchFamily="49" charset="0"/>
              </a:rPr>
              <a:t>eapifyUp</a:t>
            </a:r>
            <a:r>
              <a:rPr lang="en-US" altLang="zh-CN" sz="2000" b="0" dirty="0">
                <a:solidFill>
                  <a:srgbClr val="F8F8F2"/>
                </a:solidFill>
                <a:effectLst/>
                <a:latin typeface="Consolas" panose="020B0609020204030204" pitchFamily="49" charset="0"/>
              </a:rPr>
              <a:t>(</a:t>
            </a:r>
            <a:r>
              <a:rPr lang="en-US" altLang="zh-CN" sz="2000" b="0" dirty="0" err="1">
                <a:solidFill>
                  <a:srgbClr val="F8F8F2"/>
                </a:solidFill>
                <a:effectLst/>
                <a:latin typeface="Consolas" panose="020B0609020204030204" pitchFamily="49" charset="0"/>
              </a:rPr>
              <a:t>heapSize</a:t>
            </a:r>
            <a:r>
              <a:rPr lang="en-US" altLang="zh-CN" sz="2000" b="0" dirty="0">
                <a:solidFill>
                  <a:srgbClr val="F8F8F2"/>
                </a:solidFill>
                <a:effectLst/>
                <a:latin typeface="Consolas" panose="020B0609020204030204" pitchFamily="49" charset="0"/>
              </a:rPr>
              <a:t> </a:t>
            </a:r>
            <a:r>
              <a:rPr lang="en-US" altLang="zh-CN" sz="2000" b="0" dirty="0">
                <a:solidFill>
                  <a:srgbClr val="FF79C6"/>
                </a:solidFill>
                <a:effectLst/>
                <a:latin typeface="Consolas" panose="020B0609020204030204" pitchFamily="49" charset="0"/>
              </a:rPr>
              <a:t>–</a:t>
            </a:r>
            <a:r>
              <a:rPr lang="en-US" altLang="zh-CN" sz="2000" b="0" dirty="0">
                <a:solidFill>
                  <a:srgbClr val="F8F8F2"/>
                </a:solidFill>
                <a:effectLst/>
                <a:latin typeface="Consolas" panose="020B0609020204030204" pitchFamily="49" charset="0"/>
              </a:rPr>
              <a:t> </a:t>
            </a:r>
            <a:r>
              <a:rPr lang="en-US" altLang="zh-CN" sz="2000" b="0" dirty="0">
                <a:solidFill>
                  <a:srgbClr val="BD93F9"/>
                </a:solidFill>
                <a:effectLst/>
                <a:latin typeface="Consolas" panose="020B0609020204030204" pitchFamily="49" charset="0"/>
              </a:rPr>
              <a:t>1</a:t>
            </a:r>
            <a:r>
              <a:rPr lang="en-US" altLang="zh-CN" sz="2000" dirty="0">
                <a:solidFill>
                  <a:srgbClr val="F8F8F2"/>
                </a:solidFill>
                <a:latin typeface="Consolas" panose="020B0609020204030204" pitchFamily="49" charset="0"/>
              </a:rPr>
              <a:t>)</a:t>
            </a:r>
            <a:r>
              <a:rPr lang="en-US" altLang="zh-CN" sz="2000" b="0" dirty="0">
                <a:solidFill>
                  <a:srgbClr val="6272A4"/>
                </a:solidFill>
                <a:effectLst/>
                <a:latin typeface="Consolas" panose="020B0609020204030204" pitchFamily="49" charset="0"/>
              </a:rPr>
              <a:t> // adjust the heap until stable</a:t>
            </a:r>
            <a:endParaRPr lang="en-US" altLang="zh-CN" sz="2000" b="0" dirty="0">
              <a:solidFill>
                <a:srgbClr val="F8F8F2"/>
              </a:solidFill>
              <a:effectLst/>
              <a:latin typeface="Consolas" panose="020B0609020204030204" pitchFamily="49" charset="0"/>
            </a:endParaRPr>
          </a:p>
          <a:p>
            <a:pPr marL="0" indent="0">
              <a:lnSpc>
                <a:spcPct val="100000"/>
              </a:lnSpc>
              <a:buNone/>
            </a:pPr>
            <a:endParaRPr lang="en-US" altLang="zh-CN" sz="2000" b="0" dirty="0">
              <a:solidFill>
                <a:srgbClr val="F8F8F2"/>
              </a:solidFill>
              <a:effectLst/>
              <a:latin typeface="Consolas" panose="020B0609020204030204" pitchFamily="49" charset="0"/>
            </a:endParaRPr>
          </a:p>
        </p:txBody>
      </p:sp>
      <p:sp>
        <p:nvSpPr>
          <p:cNvPr id="4" name="Title 1"/>
          <p:cNvSpPr txBox="1"/>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b="1" dirty="0">
                <a:latin typeface="Calibri" panose="020F0502020204030204" pitchFamily="34" charset="0"/>
                <a:ea typeface="Calibri" panose="020F0502020204030204" pitchFamily="34" charset="0"/>
                <a:cs typeface="Calibri" panose="020F0502020204030204" pitchFamily="34" charset="0"/>
              </a:rPr>
              <a:t>Pseudo code (build heap)</a:t>
            </a:r>
            <a:endParaRPr lang="en-US" altLang="en-US" b="1"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Calibri" panose="020F0502020204030204" pitchFamily="34" charset="0"/>
                <a:ea typeface="Calibri" panose="020F0502020204030204" pitchFamily="34" charset="0"/>
                <a:cs typeface="Calibri" panose="020F0502020204030204" pitchFamily="34" charset="0"/>
              </a:rPr>
              <a:t>Heap</a:t>
            </a:r>
            <a:endParaRPr lang="zh-CN" altLang="en-US" dirty="0">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838200" y="1850792"/>
            <a:ext cx="6166607" cy="4351338"/>
          </a:xfrm>
        </p:spPr>
        <p:txBody>
          <a:bodyPr>
            <a:normAutofit/>
          </a:bodyPr>
          <a:lstStyle/>
          <a:p>
            <a:pPr>
              <a:lnSpc>
                <a:spcPct val="100000"/>
              </a:lnSpc>
            </a:pPr>
            <a:r>
              <a:rPr lang="en-US" altLang="zh-CN" sz="2400" dirty="0">
                <a:latin typeface="Calibri" panose="020F0502020204030204" pitchFamily="34" charset="0"/>
                <a:ea typeface="Calibri" panose="020F0502020204030204" pitchFamily="34" charset="0"/>
                <a:cs typeface="Calibri" panose="020F0502020204030204" pitchFamily="34" charset="0"/>
              </a:rPr>
              <a:t>To </a:t>
            </a:r>
            <a:r>
              <a:rPr lang="en-US" altLang="zh-CN" sz="2400" b="1" dirty="0">
                <a:latin typeface="Calibri" panose="020F0502020204030204" pitchFamily="34" charset="0"/>
                <a:ea typeface="Calibri" panose="020F0502020204030204" pitchFamily="34" charset="0"/>
                <a:cs typeface="Calibri" panose="020F0502020204030204" pitchFamily="34" charset="0"/>
              </a:rPr>
              <a:t>Delete</a:t>
            </a:r>
            <a:r>
              <a:rPr lang="en-US" altLang="zh-CN" sz="2400" dirty="0">
                <a:latin typeface="Calibri" panose="020F0502020204030204" pitchFamily="34" charset="0"/>
                <a:ea typeface="Calibri" panose="020F0502020204030204" pitchFamily="34" charset="0"/>
                <a:cs typeface="Calibri" panose="020F0502020204030204" pitchFamily="34" charset="0"/>
              </a:rPr>
              <a:t> an element X, </a:t>
            </a:r>
            <a:endParaRPr lang="en-US" altLang="zh-CN" sz="2400"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US" altLang="zh-CN" sz="2400" dirty="0">
                <a:latin typeface="Calibri" panose="020F0502020204030204" pitchFamily="34" charset="0"/>
                <a:ea typeface="Calibri" panose="020F0502020204030204" pitchFamily="34" charset="0"/>
                <a:cs typeface="Calibri" panose="020F0502020204030204" pitchFamily="34" charset="0"/>
              </a:rPr>
              <a:t>1. The element at the root (position 1) is to be removed, and a hole is created</a:t>
            </a:r>
            <a:endParaRPr lang="en-US" altLang="zh-CN" sz="2400"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US" altLang="zh-CN" sz="2400" dirty="0">
                <a:latin typeface="Calibri" panose="020F0502020204030204" pitchFamily="34" charset="0"/>
                <a:ea typeface="Calibri" panose="020F0502020204030204" pitchFamily="34" charset="0"/>
                <a:cs typeface="Calibri" panose="020F0502020204030204" pitchFamily="34" charset="0"/>
              </a:rPr>
              <a:t>2. Fill the root with the last node X</a:t>
            </a:r>
            <a:endParaRPr lang="en-US" altLang="zh-CN" sz="2400"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US" altLang="zh-CN" sz="2400" dirty="0">
                <a:latin typeface="Calibri" panose="020F0502020204030204" pitchFamily="34" charset="0"/>
                <a:ea typeface="Calibri" panose="020F0502020204030204" pitchFamily="34" charset="0"/>
                <a:cs typeface="Calibri" panose="020F0502020204030204" pitchFamily="34" charset="0"/>
              </a:rPr>
              <a:t>3. Percolate X down (switch X with the smaller child) until the heap order property is satisfied</a:t>
            </a:r>
            <a:endParaRPr lang="zh-CN" altLang="en-US" sz="2400" dirty="0">
              <a:latin typeface="Calibri" panose="020F0502020204030204" pitchFamily="34" charset="0"/>
              <a:ea typeface="BIZ UDPMincho Medium" panose="02020500000000000000" pitchFamily="18" charset="-128"/>
              <a:cs typeface="Calibri" panose="020F0502020204030204" pitchFamily="34" charset="0"/>
            </a:endParaRPr>
          </a:p>
        </p:txBody>
      </p:sp>
      <p:pic>
        <p:nvPicPr>
          <p:cNvPr id="7170" name="Picture 2" descr="在这里插入图片描述"/>
          <p:cNvPicPr>
            <a:picLocks noChangeAspect="1" noChangeArrowheads="1"/>
          </p:cNvPicPr>
          <p:nvPr/>
        </p:nvPicPr>
        <p:blipFill rotWithShape="1">
          <a:blip r:embed="rId1"/>
          <a:srcRect l="18650" r="22394"/>
          <a:stretch>
            <a:fillRect/>
          </a:stretch>
        </p:blipFill>
        <p:spPr bwMode="auto">
          <a:xfrm>
            <a:off x="7334226" y="1463040"/>
            <a:ext cx="4262894" cy="40482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87500"/>
            <a:ext cx="10515600" cy="5026660"/>
          </a:xfrm>
          <a:solidFill>
            <a:schemeClr val="tx2">
              <a:lumMod val="50000"/>
            </a:schemeClr>
          </a:solidFill>
        </p:spPr>
        <p:txBody>
          <a:bodyPr>
            <a:normAutofit/>
          </a:bodyPr>
          <a:lstStyle/>
          <a:p>
            <a:pPr marL="0" indent="0">
              <a:lnSpc>
                <a:spcPct val="100000"/>
              </a:lnSpc>
              <a:buNone/>
            </a:pPr>
            <a:r>
              <a:rPr lang="en-US" altLang="zh-CN" sz="2400" dirty="0" err="1">
                <a:solidFill>
                  <a:srgbClr val="50FA7B"/>
                </a:solidFill>
                <a:latin typeface="Consolas" panose="020B0609020204030204" pitchFamily="49" charset="0"/>
              </a:rPr>
              <a:t>D</a:t>
            </a:r>
            <a:r>
              <a:rPr lang="en-US" altLang="zh-CN" sz="2400" b="0" dirty="0" err="1">
                <a:solidFill>
                  <a:srgbClr val="50FA7B"/>
                </a:solidFill>
                <a:effectLst/>
                <a:latin typeface="Consolas" panose="020B0609020204030204" pitchFamily="49" charset="0"/>
              </a:rPr>
              <a:t>eleteHeapTop</a:t>
            </a:r>
            <a:r>
              <a:rPr lang="en-US" altLang="zh-CN" sz="2400" b="0" dirty="0">
                <a:solidFill>
                  <a:srgbClr val="F8F8F2"/>
                </a:solidFill>
                <a:effectLst/>
                <a:latin typeface="Consolas" panose="020B0609020204030204" pitchFamily="49" charset="0"/>
              </a:rPr>
              <a:t>(</a:t>
            </a:r>
            <a:r>
              <a:rPr lang="en-US" altLang="zh-CN" sz="2400" b="0" i="1" dirty="0" err="1">
                <a:solidFill>
                  <a:srgbClr val="FFB86C"/>
                </a:solidFill>
                <a:effectLst/>
                <a:latin typeface="Consolas" panose="020B0609020204030204" pitchFamily="49" charset="0"/>
              </a:rPr>
              <a:t>arr</a:t>
            </a:r>
            <a:r>
              <a:rPr lang="en-US" altLang="zh-CN" sz="2400" b="0" dirty="0">
                <a:solidFill>
                  <a:srgbClr val="F8F8F2"/>
                </a:solidFill>
                <a:effectLst/>
                <a:latin typeface="Consolas" panose="020B0609020204030204" pitchFamily="49" charset="0"/>
              </a:rPr>
              <a:t>, </a:t>
            </a:r>
            <a:r>
              <a:rPr lang="en-US" altLang="zh-CN" sz="2400" b="0" i="1" dirty="0">
                <a:solidFill>
                  <a:srgbClr val="FFB86C"/>
                </a:solidFill>
                <a:effectLst/>
                <a:latin typeface="Consolas" panose="020B0609020204030204" pitchFamily="49" charset="0"/>
              </a:rPr>
              <a:t>n</a:t>
            </a:r>
            <a:r>
              <a:rPr lang="en-US" altLang="zh-CN" sz="2400" b="0" dirty="0">
                <a:solidFill>
                  <a:srgbClr val="F8F8F2"/>
                </a:solidFill>
                <a:effectLst/>
                <a:latin typeface="Consolas" panose="020B0609020204030204" pitchFamily="49" charset="0"/>
              </a:rPr>
              <a:t>)</a:t>
            </a:r>
            <a:endParaRPr lang="en-US" altLang="zh-CN" sz="2400" b="0" dirty="0">
              <a:solidFill>
                <a:srgbClr val="F8F8F2"/>
              </a:solidFill>
              <a:effectLst/>
              <a:latin typeface="Consolas" panose="020B0609020204030204" pitchFamily="49" charset="0"/>
            </a:endParaRPr>
          </a:p>
          <a:p>
            <a:pPr marL="0" indent="0">
              <a:lnSpc>
                <a:spcPct val="100000"/>
              </a:lnSpc>
              <a:buNone/>
            </a:pPr>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if</a:t>
            </a:r>
            <a:r>
              <a:rPr lang="en-US" altLang="zh-CN" sz="2400" b="0" dirty="0">
                <a:solidFill>
                  <a:srgbClr val="F8F8F2"/>
                </a:solidFill>
                <a:effectLst/>
                <a:latin typeface="Consolas" panose="020B0609020204030204" pitchFamily="49" charset="0"/>
              </a:rPr>
              <a:t> (n </a:t>
            </a:r>
            <a:r>
              <a:rPr lang="en-US" altLang="zh-CN" sz="2400" b="0" dirty="0">
                <a:solidFill>
                  <a:srgbClr val="FF79C6"/>
                </a:solidFill>
                <a:effectLst/>
                <a:latin typeface="Consolas" panose="020B0609020204030204" pitchFamily="49" charset="0"/>
              </a:rPr>
              <a:t>&lt;=</a:t>
            </a:r>
            <a:r>
              <a:rPr lang="en-US" altLang="zh-CN" sz="2400" b="0" dirty="0">
                <a:solidFill>
                  <a:srgbClr val="F8F8F2"/>
                </a:solidFill>
                <a:effectLst/>
                <a:latin typeface="Consolas" panose="020B0609020204030204" pitchFamily="49" charset="0"/>
              </a:rPr>
              <a:t> </a:t>
            </a:r>
            <a:r>
              <a:rPr lang="en-US" altLang="zh-CN" sz="2400" b="0" dirty="0">
                <a:solidFill>
                  <a:srgbClr val="BD93F9"/>
                </a:solidFill>
                <a:effectLst/>
                <a:latin typeface="Consolas" panose="020B0609020204030204" pitchFamily="49" charset="0"/>
              </a:rPr>
              <a:t>0</a:t>
            </a:r>
            <a:r>
              <a:rPr lang="en-US" altLang="zh-CN" sz="2400" b="0" dirty="0">
                <a:solidFill>
                  <a:srgbClr val="F8F8F2"/>
                </a:solidFill>
                <a:effectLst/>
                <a:latin typeface="Consolas" panose="020B0609020204030204" pitchFamily="49" charset="0"/>
              </a:rPr>
              <a:t>)</a:t>
            </a:r>
            <a:endParaRPr lang="en-US" altLang="zh-CN" sz="2400" b="0" dirty="0">
              <a:solidFill>
                <a:srgbClr val="F8F8F2"/>
              </a:solidFill>
              <a:effectLst/>
              <a:latin typeface="Consolas" panose="020B0609020204030204" pitchFamily="49" charset="0"/>
            </a:endParaRPr>
          </a:p>
          <a:p>
            <a:pPr marL="0" indent="0">
              <a:lnSpc>
                <a:spcPct val="100000"/>
              </a:lnSpc>
              <a:buNone/>
            </a:pPr>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return</a:t>
            </a:r>
            <a:endParaRPr lang="en-US" altLang="zh-CN" sz="2400" b="0" dirty="0">
              <a:solidFill>
                <a:srgbClr val="F8F8F2"/>
              </a:solidFill>
              <a:effectLst/>
              <a:latin typeface="Consolas" panose="020B0609020204030204" pitchFamily="49" charset="0"/>
            </a:endParaRPr>
          </a:p>
          <a:p>
            <a:pPr marL="0" indent="0">
              <a:lnSpc>
                <a:spcPct val="100000"/>
              </a:lnSpc>
              <a:buNone/>
            </a:pPr>
            <a:r>
              <a:rPr lang="en-US" altLang="zh-CN" sz="2400" b="0" dirty="0">
                <a:solidFill>
                  <a:srgbClr val="F8F8F2"/>
                </a:solidFill>
                <a:effectLst/>
                <a:latin typeface="Consolas" panose="020B0609020204030204" pitchFamily="49" charset="0"/>
              </a:rPr>
              <a:t>    </a:t>
            </a:r>
            <a:r>
              <a:rPr lang="en-US" altLang="zh-CN" sz="2400" b="0" dirty="0">
                <a:solidFill>
                  <a:srgbClr val="50FA7B"/>
                </a:solidFill>
                <a:effectLst/>
                <a:latin typeface="Consolas" panose="020B0609020204030204" pitchFamily="49" charset="0"/>
              </a:rPr>
              <a:t>swap</a:t>
            </a:r>
            <a:r>
              <a:rPr lang="en-US" altLang="zh-CN" sz="2400" b="0" dirty="0">
                <a:solidFill>
                  <a:srgbClr val="F8F8F2"/>
                </a:solidFill>
                <a:effectLst/>
                <a:latin typeface="Consolas" panose="020B0609020204030204" pitchFamily="49" charset="0"/>
              </a:rPr>
              <a:t>(</a:t>
            </a:r>
            <a:r>
              <a:rPr lang="en-US" altLang="zh-CN" sz="2400" b="0" dirty="0" err="1">
                <a:solidFill>
                  <a:srgbClr val="F8F8F2"/>
                </a:solidFill>
                <a:effectLst/>
                <a:latin typeface="Consolas" panose="020B0609020204030204" pitchFamily="49" charset="0"/>
              </a:rPr>
              <a:t>arr</a:t>
            </a:r>
            <a:r>
              <a:rPr lang="en-US" altLang="zh-CN" sz="2400" b="0" dirty="0">
                <a:solidFill>
                  <a:srgbClr val="F8F8F2"/>
                </a:solidFill>
                <a:effectLst/>
                <a:latin typeface="Consolas" panose="020B0609020204030204" pitchFamily="49" charset="0"/>
              </a:rPr>
              <a:t>[</a:t>
            </a:r>
            <a:r>
              <a:rPr lang="en-US" altLang="zh-CN" sz="2400" b="0" dirty="0">
                <a:solidFill>
                  <a:srgbClr val="BD93F9"/>
                </a:solidFill>
                <a:effectLst/>
                <a:latin typeface="Consolas" panose="020B0609020204030204" pitchFamily="49" charset="0"/>
              </a:rPr>
              <a:t>0</a:t>
            </a:r>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arr</a:t>
            </a:r>
            <a:r>
              <a:rPr lang="en-US" altLang="zh-CN" sz="2400" b="0" dirty="0">
                <a:solidFill>
                  <a:srgbClr val="F8F8F2"/>
                </a:solidFill>
                <a:effectLst/>
                <a:latin typeface="Consolas" panose="020B0609020204030204" pitchFamily="49" charset="0"/>
              </a:rPr>
              <a:t>[n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a:t>
            </a:r>
            <a:r>
              <a:rPr lang="en-US" altLang="zh-CN" sz="2400" b="0" dirty="0">
                <a:solidFill>
                  <a:srgbClr val="BD93F9"/>
                </a:solidFill>
                <a:effectLst/>
                <a:latin typeface="Consolas" panose="020B0609020204030204" pitchFamily="49" charset="0"/>
              </a:rPr>
              <a:t>1</a:t>
            </a:r>
            <a:r>
              <a:rPr lang="en-US" altLang="zh-CN" sz="2400" b="0" dirty="0">
                <a:solidFill>
                  <a:srgbClr val="F8F8F2"/>
                </a:solidFill>
                <a:effectLst/>
                <a:latin typeface="Consolas" panose="020B0609020204030204" pitchFamily="49" charset="0"/>
              </a:rPr>
              <a:t>])</a:t>
            </a:r>
            <a:endParaRPr lang="en-US" altLang="zh-CN" sz="2400" b="0" dirty="0">
              <a:solidFill>
                <a:srgbClr val="F8F8F2"/>
              </a:solidFill>
              <a:effectLst/>
              <a:latin typeface="Consolas" panose="020B0609020204030204" pitchFamily="49" charset="0"/>
            </a:endParaRPr>
          </a:p>
          <a:p>
            <a:pPr marL="0" indent="0">
              <a:lnSpc>
                <a:spcPct val="100000"/>
              </a:lnSpc>
              <a:buNone/>
            </a:pPr>
            <a:r>
              <a:rPr lang="en-US" altLang="zh-CN" sz="2400" b="0" dirty="0">
                <a:solidFill>
                  <a:srgbClr val="F8F8F2"/>
                </a:solidFill>
                <a:effectLst/>
                <a:latin typeface="Consolas" panose="020B0609020204030204" pitchFamily="49" charset="0"/>
              </a:rPr>
              <a:t>    n</a:t>
            </a:r>
            <a:r>
              <a:rPr lang="en-US" altLang="zh-CN" sz="2400" b="0" dirty="0">
                <a:solidFill>
                  <a:srgbClr val="FF79C6"/>
                </a:solidFill>
                <a:effectLst/>
                <a:latin typeface="Consolas" panose="020B0609020204030204" pitchFamily="49" charset="0"/>
              </a:rPr>
              <a:t>--</a:t>
            </a:r>
            <a:endParaRPr lang="en-US" altLang="zh-CN" sz="2400" b="0" dirty="0">
              <a:solidFill>
                <a:srgbClr val="F8F8F2"/>
              </a:solidFill>
              <a:effectLst/>
              <a:latin typeface="Consolas" panose="020B0609020204030204" pitchFamily="49" charset="0"/>
            </a:endParaRPr>
          </a:p>
          <a:p>
            <a:pPr marL="0" indent="0">
              <a:lnSpc>
                <a:spcPct val="100000"/>
              </a:lnSpc>
              <a:buNone/>
            </a:pPr>
            <a:r>
              <a:rPr lang="en-US" altLang="zh-CN" sz="2400" b="0" dirty="0">
                <a:solidFill>
                  <a:srgbClr val="F8F8F2"/>
                </a:solidFill>
                <a:effectLst/>
                <a:latin typeface="Consolas" panose="020B0609020204030204" pitchFamily="49" charset="0"/>
              </a:rPr>
              <a:t>    </a:t>
            </a:r>
            <a:r>
              <a:rPr lang="en-US" altLang="zh-CN" sz="2400" dirty="0" err="1">
                <a:solidFill>
                  <a:srgbClr val="50FA7B"/>
                </a:solidFill>
                <a:latin typeface="Consolas" panose="020B0609020204030204" pitchFamily="49" charset="0"/>
              </a:rPr>
              <a:t>H</a:t>
            </a:r>
            <a:r>
              <a:rPr lang="en-US" altLang="zh-CN" sz="2400" b="0" dirty="0" err="1">
                <a:solidFill>
                  <a:srgbClr val="50FA7B"/>
                </a:solidFill>
                <a:effectLst/>
                <a:latin typeface="Consolas" panose="020B0609020204030204" pitchFamily="49" charset="0"/>
              </a:rPr>
              <a:t>eapify</a:t>
            </a:r>
            <a:r>
              <a:rPr lang="en-US" altLang="zh-CN" sz="2400" b="0" dirty="0">
                <a:solidFill>
                  <a:srgbClr val="F8F8F2"/>
                </a:solidFill>
                <a:effectLst/>
                <a:latin typeface="Consolas" panose="020B0609020204030204" pitchFamily="49" charset="0"/>
              </a:rPr>
              <a:t>(</a:t>
            </a:r>
            <a:r>
              <a:rPr lang="en-US" altLang="zh-CN" sz="2400" b="0" dirty="0" err="1">
                <a:solidFill>
                  <a:srgbClr val="F8F8F2"/>
                </a:solidFill>
                <a:effectLst/>
                <a:latin typeface="Consolas" panose="020B0609020204030204" pitchFamily="49" charset="0"/>
              </a:rPr>
              <a:t>arr</a:t>
            </a:r>
            <a:r>
              <a:rPr lang="en-US" altLang="zh-CN" sz="2400" b="0" dirty="0">
                <a:solidFill>
                  <a:srgbClr val="F8F8F2"/>
                </a:solidFill>
                <a:effectLst/>
                <a:latin typeface="Consolas" panose="020B0609020204030204" pitchFamily="49" charset="0"/>
              </a:rPr>
              <a:t>, n, </a:t>
            </a:r>
            <a:r>
              <a:rPr lang="en-US" altLang="zh-CN" sz="2400" b="0" dirty="0">
                <a:solidFill>
                  <a:srgbClr val="BD93F9"/>
                </a:solidFill>
                <a:effectLst/>
                <a:latin typeface="Consolas" panose="020B0609020204030204" pitchFamily="49" charset="0"/>
              </a:rPr>
              <a:t>0</a:t>
            </a:r>
            <a:r>
              <a:rPr lang="en-US" altLang="zh-CN" sz="2400" b="0" dirty="0">
                <a:solidFill>
                  <a:srgbClr val="F8F8F2"/>
                </a:solidFill>
                <a:effectLst/>
                <a:latin typeface="Consolas" panose="020B0609020204030204" pitchFamily="49" charset="0"/>
              </a:rPr>
              <a:t>)</a:t>
            </a:r>
            <a:br>
              <a:rPr lang="en-US" altLang="zh-CN" sz="2400" b="0" dirty="0">
                <a:solidFill>
                  <a:srgbClr val="F8F8F2"/>
                </a:solidFill>
                <a:effectLst/>
                <a:latin typeface="Consolas" panose="020B0609020204030204" pitchFamily="49" charset="0"/>
              </a:rPr>
            </a:br>
            <a:endParaRPr lang="en-US" altLang="zh-CN" sz="2400" b="0" dirty="0">
              <a:solidFill>
                <a:srgbClr val="F8F8F2"/>
              </a:solidFill>
              <a:effectLst/>
              <a:latin typeface="Consolas" panose="020B0609020204030204" pitchFamily="49" charset="0"/>
            </a:endParaRPr>
          </a:p>
        </p:txBody>
      </p:sp>
      <p:sp>
        <p:nvSpPr>
          <p:cNvPr id="7" name="Title 1"/>
          <p:cNvSpPr txBox="1">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b="1" dirty="0">
                <a:latin typeface="Calibri" panose="020F0502020204030204" pitchFamily="34" charset="0"/>
                <a:ea typeface="Calibri" panose="020F0502020204030204" pitchFamily="34" charset="0"/>
                <a:cs typeface="Calibri" panose="020F0502020204030204" pitchFamily="34" charset="0"/>
              </a:rPr>
              <a:t>Pseudo code (build heap)</a:t>
            </a:r>
            <a:endParaRPr lang="en-US" altLang="en-US" b="1"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Calibri" panose="020F0502020204030204" pitchFamily="34" charset="0"/>
                <a:ea typeface="Calibri" panose="020F0502020204030204" pitchFamily="34" charset="0"/>
                <a:cs typeface="Calibri" panose="020F0502020204030204" pitchFamily="34" charset="0"/>
              </a:rPr>
              <a:t>Heap</a:t>
            </a:r>
            <a:endParaRPr lang="zh-CN" altLang="en-US" dirty="0">
              <a:latin typeface="Calibri" panose="020F0502020204030204" pitchFamily="34" charset="0"/>
              <a:cs typeface="Calibri" panose="020F0502020204030204" pitchFamily="34" charset="0"/>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8200" y="1850792"/>
                <a:ext cx="9120447" cy="4351338"/>
              </a:xfrm>
            </p:spPr>
            <p:txBody>
              <a:bodyPr>
                <a:normAutofit/>
              </a:bodyPr>
              <a:lstStyle/>
              <a:p>
                <a:pPr>
                  <a:lnSpc>
                    <a:spcPct val="100000"/>
                  </a:lnSpc>
                </a:pPr>
                <a:r>
                  <a:rPr lang="en-US" altLang="zh-CN" dirty="0">
                    <a:latin typeface="Calibri" panose="020F0502020204030204" pitchFamily="34" charset="0"/>
                    <a:ea typeface="Calibri" panose="020F0502020204030204" pitchFamily="34" charset="0"/>
                    <a:cs typeface="Calibri" panose="020F0502020204030204" pitchFamily="34" charset="0"/>
                  </a:rPr>
                  <a:t>Complexity:</a:t>
                </a:r>
                <a:r>
                  <a:rPr lang="zh-CN" altLang="en-US"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altLang="zh-CN" b="0" i="1" smtClean="0">
                        <a:latin typeface="Cambria Math" panose="02040503050406030204" charset="0"/>
                        <a:ea typeface="Calibri" panose="020F0502020204030204" pitchFamily="34" charset="0"/>
                        <a:cs typeface="Calibri" panose="020F0502020204030204" pitchFamily="34" charset="0"/>
                      </a:rPr>
                      <m:t>𝑂</m:t>
                    </m:r>
                    <m:d>
                      <m:dPr>
                        <m:ctrlPr>
                          <a:rPr lang="en-US" altLang="zh-CN" b="0" i="1" smtClean="0">
                            <a:latin typeface="Cambria Math" panose="02040503050406030204" charset="0"/>
                            <a:ea typeface="Calibri" panose="020F0502020204030204" pitchFamily="34" charset="0"/>
                            <a:cs typeface="Calibri" panose="020F0502020204030204" pitchFamily="34" charset="0"/>
                          </a:rPr>
                        </m:ctrlPr>
                      </m:dPr>
                      <m:e>
                        <m:func>
                          <m:funcPr>
                            <m:ctrlPr>
                              <a:rPr lang="en-US" altLang="zh-CN" b="0" i="1" smtClean="0">
                                <a:latin typeface="Cambria Math" panose="02040503050406030204" charset="0"/>
                                <a:ea typeface="Calibri" panose="020F0502020204030204" pitchFamily="34" charset="0"/>
                                <a:cs typeface="Calibri" panose="020F0502020204030204" pitchFamily="34" charset="0"/>
                              </a:rPr>
                            </m:ctrlPr>
                          </m:funcPr>
                          <m:fName>
                            <m:r>
                              <m:rPr>
                                <m:sty m:val="p"/>
                              </m:rPr>
                              <a:rPr lang="en-US" altLang="zh-CN" b="0" i="0" smtClean="0">
                                <a:latin typeface="Cambria Math" panose="02040503050406030204" charset="0"/>
                                <a:ea typeface="Calibri" panose="020F0502020204030204" pitchFamily="34" charset="0"/>
                                <a:cs typeface="Calibri" panose="020F0502020204030204" pitchFamily="34" charset="0"/>
                              </a:rPr>
                              <m:t>log</m:t>
                            </m:r>
                          </m:fName>
                          <m:e>
                            <m:r>
                              <a:rPr lang="en-US" altLang="zh-CN" b="0" i="1" smtClean="0">
                                <a:latin typeface="Cambria Math" panose="02040503050406030204" charset="0"/>
                                <a:ea typeface="Calibri" panose="020F0502020204030204" pitchFamily="34" charset="0"/>
                                <a:cs typeface="Calibri" panose="020F0502020204030204" pitchFamily="34" charset="0"/>
                              </a:rPr>
                              <m:t>𝑛</m:t>
                            </m:r>
                          </m:e>
                        </m:func>
                      </m:e>
                    </m:d>
                  </m:oMath>
                </a14:m>
                <a:r>
                  <a:rPr lang="en-US" altLang="zh-CN" dirty="0">
                    <a:latin typeface="Calibri" panose="020F0502020204030204" pitchFamily="34" charset="0"/>
                    <a:ea typeface="Calibri" panose="020F0502020204030204" pitchFamily="34" charset="0"/>
                    <a:cs typeface="Calibri" panose="020F0502020204030204" pitchFamily="34" charset="0"/>
                  </a:rPr>
                  <a:t> for both insertion and deletion</a:t>
                </a:r>
                <a:endParaRPr lang="en-US" altLang="zh-CN"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endParaRPr lang="zh-CN" altLang="en-US" dirty="0">
                  <a:latin typeface="Calibri" panose="020F0502020204030204" pitchFamily="34" charset="0"/>
                  <a:ea typeface="BIZ UDPMincho Medium" panose="02020500000000000000" pitchFamily="18" charset="-128"/>
                  <a:cs typeface="Calibri" panose="020F0502020204030204" pitchFamily="3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838200" y="1850792"/>
                <a:ext cx="9120447" cy="4351338"/>
              </a:xfrm>
              <a:blipFill rotWithShape="1">
                <a:blip r:embed="rId1"/>
                <a:stretch>
                  <a:fillRect t="-9" r="6" b="2"/>
                </a:stretch>
              </a:blipFill>
            </p:spPr>
            <p:txBody>
              <a:bodyPr/>
              <a:lstStyle/>
              <a:p>
                <a:r>
                  <a:rPr lang="en-US" altLang="en-US">
                    <a:noFill/>
                  </a:rPr>
                  <a:t> </a:t>
                </a:r>
              </a:p>
            </p:txBody>
          </p:sp>
        </mc:Fallback>
      </mc:AlternateContent>
      <p:pic>
        <p:nvPicPr>
          <p:cNvPr id="7" name="图片 6"/>
          <p:cNvPicPr>
            <a:picLocks noChangeAspect="1"/>
          </p:cNvPicPr>
          <p:nvPr/>
        </p:nvPicPr>
        <p:blipFill>
          <a:blip r:embed="rId2"/>
          <a:stretch>
            <a:fillRect/>
          </a:stretch>
        </p:blipFill>
        <p:spPr>
          <a:xfrm>
            <a:off x="1021080" y="2543248"/>
            <a:ext cx="5769951" cy="418140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Calibri" panose="020F0502020204030204" pitchFamily="34" charset="0"/>
                <a:ea typeface="Calibri" panose="020F0502020204030204" pitchFamily="34" charset="0"/>
                <a:cs typeface="Calibri" panose="020F0502020204030204" pitchFamily="34" charset="0"/>
              </a:rPr>
              <a:t>Stack</a:t>
            </a:r>
            <a:endParaRPr lang="zh-CN" altLang="en-US" dirty="0">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838200" y="1851025"/>
            <a:ext cx="4623435" cy="4351655"/>
          </a:xfrm>
        </p:spPr>
        <p:txBody>
          <a:bodyPr>
            <a:normAutofit/>
          </a:bodyPr>
          <a:lstStyle/>
          <a:p>
            <a:pPr>
              <a:lnSpc>
                <a:spcPct val="100000"/>
              </a:lnSpc>
            </a:pPr>
            <a:r>
              <a:rPr lang="en-US" altLang="zh-CN" sz="2400" dirty="0">
                <a:effectLst/>
                <a:latin typeface="Calibri" panose="020F0502020204030204" pitchFamily="34" charset="0"/>
                <a:ea typeface="Calibri" panose="020F0502020204030204" pitchFamily="34" charset="0"/>
                <a:cs typeface="Calibri" panose="020F0502020204030204" pitchFamily="34" charset="0"/>
              </a:rPr>
              <a:t>How to do </a:t>
            </a:r>
            <a:r>
              <a:rPr lang="en-US" altLang="zh-CN" sz="2400" b="1" dirty="0">
                <a:effectLst/>
                <a:latin typeface="Calibri" panose="020F0502020204030204" pitchFamily="34" charset="0"/>
                <a:ea typeface="Calibri" panose="020F0502020204030204" pitchFamily="34" charset="0"/>
                <a:cs typeface="Calibri" panose="020F0502020204030204" pitchFamily="34" charset="0"/>
              </a:rPr>
              <a:t>DFS</a:t>
            </a:r>
            <a:r>
              <a:rPr lang="en-US" altLang="zh-CN" sz="2400" dirty="0">
                <a:effectLst/>
                <a:latin typeface="Calibri" panose="020F0502020204030204" pitchFamily="34" charset="0"/>
                <a:ea typeface="Calibri" panose="020F0502020204030204" pitchFamily="34" charset="0"/>
                <a:cs typeface="Calibri" panose="020F0502020204030204" pitchFamily="34" charset="0"/>
              </a:rPr>
              <a:t> in a stack?</a:t>
            </a:r>
            <a:endParaRPr lang="en-US" altLang="zh-CN" sz="2400" dirty="0">
              <a:effectLst/>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US" altLang="zh-CN" sz="2400" dirty="0">
                <a:latin typeface="Calibri" panose="020F0502020204030204" pitchFamily="34" charset="0"/>
                <a:ea typeface="Calibri" panose="020F0502020204030204" pitchFamily="34" charset="0"/>
                <a:cs typeface="Calibri" panose="020F0502020204030204" pitchFamily="34" charset="0"/>
              </a:rPr>
              <a:t>1. Pop the top element </a:t>
            </a:r>
            <a:r>
              <a:rPr lang="en-US" altLang="zh-CN" sz="2400" b="1" dirty="0">
                <a:latin typeface="Calibri" panose="020F0502020204030204" pitchFamily="34" charset="0"/>
                <a:ea typeface="Calibri" panose="020F0502020204030204" pitchFamily="34" charset="0"/>
                <a:cs typeface="Calibri" panose="020F0502020204030204" pitchFamily="34" charset="0"/>
              </a:rPr>
              <a:t>x</a:t>
            </a:r>
            <a:r>
              <a:rPr lang="en-US" altLang="zh-CN" sz="2400" dirty="0">
                <a:latin typeface="Calibri" panose="020F0502020204030204" pitchFamily="34" charset="0"/>
                <a:ea typeface="Calibri" panose="020F0502020204030204" pitchFamily="34" charset="0"/>
                <a:cs typeface="Calibri" panose="020F0502020204030204" pitchFamily="34" charset="0"/>
              </a:rPr>
              <a:t> from the stack.</a:t>
            </a:r>
            <a:endParaRPr lang="en-US" altLang="zh-CN" sz="2400"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US" altLang="zh-CN" sz="2400" dirty="0">
                <a:latin typeface="Calibri" panose="020F0502020204030204" pitchFamily="34" charset="0"/>
                <a:ea typeface="Calibri" panose="020F0502020204030204" pitchFamily="34" charset="0"/>
                <a:cs typeface="Calibri" panose="020F0502020204030204" pitchFamily="34" charset="0"/>
              </a:rPr>
              <a:t>2. Use </a:t>
            </a:r>
            <a:r>
              <a:rPr lang="en-US" altLang="zh-CN" sz="2400" b="1" dirty="0">
                <a:latin typeface="Calibri" panose="020F0502020204030204" pitchFamily="34" charset="0"/>
                <a:ea typeface="Calibri" panose="020F0502020204030204" pitchFamily="34" charset="0"/>
                <a:cs typeface="Calibri" panose="020F0502020204030204" pitchFamily="34" charset="0"/>
              </a:rPr>
              <a:t>x </a:t>
            </a:r>
            <a:r>
              <a:rPr lang="en-US" altLang="zh-CN" sz="2400" dirty="0">
                <a:latin typeface="Calibri" panose="020F0502020204030204" pitchFamily="34" charset="0"/>
                <a:ea typeface="Calibri" panose="020F0502020204030204" pitchFamily="34" charset="0"/>
                <a:cs typeface="Calibri" panose="020F0502020204030204" pitchFamily="34" charset="0"/>
              </a:rPr>
              <a:t>to</a:t>
            </a:r>
            <a:r>
              <a:rPr lang="en-US" altLang="zh-CN" sz="2400" b="1" dirty="0">
                <a:latin typeface="Calibri" panose="020F0502020204030204" pitchFamily="34" charset="0"/>
                <a:ea typeface="Calibri" panose="020F0502020204030204" pitchFamily="34" charset="0"/>
                <a:cs typeface="Calibri" panose="020F0502020204030204" pitchFamily="34" charset="0"/>
              </a:rPr>
              <a:t> </a:t>
            </a:r>
            <a:r>
              <a:rPr lang="en-US" altLang="zh-CN" sz="2400" dirty="0">
                <a:latin typeface="Calibri" panose="020F0502020204030204" pitchFamily="34" charset="0"/>
                <a:ea typeface="Calibri" panose="020F0502020204030204" pitchFamily="34" charset="0"/>
                <a:cs typeface="Calibri" panose="020F0502020204030204" pitchFamily="34" charset="0"/>
              </a:rPr>
              <a:t>explore new states</a:t>
            </a:r>
            <a:endParaRPr lang="en-US" altLang="zh-CN" sz="2400"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US" altLang="zh-CN" sz="2400" dirty="0">
                <a:latin typeface="Calibri" panose="020F0502020204030204" pitchFamily="34" charset="0"/>
                <a:ea typeface="Calibri" panose="020F0502020204030204" pitchFamily="34" charset="0"/>
                <a:cs typeface="Calibri" panose="020F0502020204030204" pitchFamily="34" charset="0"/>
              </a:rPr>
              <a:t>3. Push new states into the stack.</a:t>
            </a:r>
            <a:endParaRPr lang="en-US" altLang="zh-CN" sz="2400" dirty="0">
              <a:latin typeface="Calibri" panose="020F0502020204030204" pitchFamily="34" charset="0"/>
              <a:ea typeface="Calibri" panose="020F0502020204030204" pitchFamily="34" charset="0"/>
              <a:cs typeface="Calibri" panose="020F0502020204030204" pitchFamily="34" charset="0"/>
            </a:endParaRPr>
          </a:p>
        </p:txBody>
      </p:sp>
      <p:sp>
        <p:nvSpPr>
          <p:cNvPr id="4" name="Text Box 3"/>
          <p:cNvSpPr txBox="1"/>
          <p:nvPr/>
        </p:nvSpPr>
        <p:spPr>
          <a:xfrm>
            <a:off x="5966460" y="1492885"/>
            <a:ext cx="5632450" cy="4060017"/>
          </a:xfrm>
          <a:prstGeom prst="rect">
            <a:avLst/>
          </a:prstGeom>
          <a:solidFill>
            <a:schemeClr val="tx2">
              <a:lumMod val="50000"/>
            </a:schemeClr>
          </a:solidFill>
        </p:spPr>
        <p:txBody>
          <a:bodyPr wrap="square" rtlCol="0">
            <a:noAutofit/>
          </a:bodyPr>
          <a:lstStyle/>
          <a:p>
            <a:r>
              <a:rPr lang="en-US" altLang="zh-CN" b="0" dirty="0">
                <a:solidFill>
                  <a:srgbClr val="FF79C6"/>
                </a:solidFill>
                <a:effectLst/>
                <a:latin typeface="Consolas" panose="020B0609020204030204" pitchFamily="49" charset="0"/>
              </a:rPr>
              <a:t>void</a:t>
            </a:r>
            <a:r>
              <a:rPr lang="en-US" altLang="zh-CN" b="0" dirty="0">
                <a:solidFill>
                  <a:srgbClr val="F8F8F2"/>
                </a:solidFill>
                <a:effectLst/>
                <a:latin typeface="Consolas" panose="020B0609020204030204" pitchFamily="49" charset="0"/>
              </a:rPr>
              <a:t> </a:t>
            </a:r>
            <a:r>
              <a:rPr lang="en-US" altLang="zh-CN" b="0" dirty="0" err="1">
                <a:solidFill>
                  <a:srgbClr val="50FA7B"/>
                </a:solidFill>
                <a:effectLst/>
                <a:latin typeface="Consolas" panose="020B0609020204030204" pitchFamily="49" charset="0"/>
              </a:rPr>
              <a:t>dfs</a:t>
            </a:r>
            <a:r>
              <a:rPr lang="en-US" altLang="zh-CN" b="0" dirty="0">
                <a:solidFill>
                  <a:srgbClr val="F8F8F2"/>
                </a:solidFill>
                <a:effectLst/>
                <a:latin typeface="Consolas" panose="020B0609020204030204" pitchFamily="49" charset="0"/>
              </a:rPr>
              <a:t>(</a:t>
            </a:r>
            <a:r>
              <a:rPr lang="en-US" altLang="zh-CN" b="0" dirty="0">
                <a:solidFill>
                  <a:srgbClr val="FF79C6"/>
                </a:solidFill>
                <a:effectLst/>
                <a:latin typeface="Consolas" panose="020B0609020204030204" pitchFamily="49" charset="0"/>
              </a:rPr>
              <a:t>int</a:t>
            </a:r>
            <a:r>
              <a:rPr lang="en-US" altLang="zh-CN" b="0" dirty="0">
                <a:solidFill>
                  <a:srgbClr val="F8F8F2"/>
                </a:solidFill>
                <a:effectLst/>
                <a:latin typeface="Consolas" panose="020B0609020204030204" pitchFamily="49" charset="0"/>
              </a:rPr>
              <a:t> </a:t>
            </a:r>
            <a:r>
              <a:rPr lang="en-US" altLang="zh-CN" b="0" i="1" dirty="0">
                <a:solidFill>
                  <a:srgbClr val="FFB86C"/>
                </a:solidFill>
                <a:effectLst/>
                <a:latin typeface="Consolas" panose="020B0609020204030204" pitchFamily="49" charset="0"/>
              </a:rPr>
              <a:t>start</a:t>
            </a:r>
            <a:r>
              <a:rPr lang="en-US" altLang="zh-CN" b="0" dirty="0">
                <a:solidFill>
                  <a:srgbClr val="F8F8F2"/>
                </a:solidFill>
                <a:effectLst/>
                <a:latin typeface="Consolas" panose="020B0609020204030204" pitchFamily="49" charset="0"/>
              </a:rPr>
              <a:t>) {</a:t>
            </a:r>
            <a:endParaRPr lang="en-US" altLang="zh-CN" b="0" dirty="0">
              <a:solidFill>
                <a:srgbClr val="F8F8F2"/>
              </a:solidFill>
              <a:effectLst/>
              <a:latin typeface="Consolas" panose="020B0609020204030204" pitchFamily="49" charset="0"/>
            </a:endParaRPr>
          </a:p>
          <a:p>
            <a:r>
              <a:rPr lang="en-US" altLang="zh-CN" b="0" dirty="0">
                <a:solidFill>
                  <a:srgbClr val="F8F8F2"/>
                </a:solidFill>
                <a:effectLst/>
                <a:latin typeface="Consolas" panose="020B0609020204030204" pitchFamily="49" charset="0"/>
              </a:rPr>
              <a:t>    </a:t>
            </a:r>
            <a:r>
              <a:rPr lang="en-US" altLang="zh-CN" b="0" dirty="0" err="1">
                <a:solidFill>
                  <a:srgbClr val="F8F8F2"/>
                </a:solidFill>
                <a:effectLst/>
                <a:latin typeface="Consolas" panose="020B0609020204030204" pitchFamily="49" charset="0"/>
              </a:rPr>
              <a:t>stack.</a:t>
            </a:r>
            <a:r>
              <a:rPr lang="en-US" altLang="zh-CN" b="0" dirty="0" err="1">
                <a:solidFill>
                  <a:srgbClr val="50FA7B"/>
                </a:solidFill>
                <a:effectLst/>
                <a:latin typeface="Consolas" panose="020B0609020204030204" pitchFamily="49" charset="0"/>
              </a:rPr>
              <a:t>push</a:t>
            </a:r>
            <a:r>
              <a:rPr lang="en-US" altLang="zh-CN" b="0" dirty="0">
                <a:solidFill>
                  <a:srgbClr val="F8F8F2"/>
                </a:solidFill>
                <a:effectLst/>
                <a:latin typeface="Consolas" panose="020B0609020204030204" pitchFamily="49" charset="0"/>
              </a:rPr>
              <a:t>(start);</a:t>
            </a:r>
            <a:endParaRPr lang="en-US" altLang="zh-CN" b="0" dirty="0">
              <a:solidFill>
                <a:srgbClr val="F8F8F2"/>
              </a:solidFill>
              <a:effectLst/>
              <a:latin typeface="Consolas" panose="020B0609020204030204" pitchFamily="49" charset="0"/>
            </a:endParaRPr>
          </a:p>
          <a:p>
            <a:r>
              <a:rPr lang="en-US" altLang="zh-CN" b="0" dirty="0">
                <a:solidFill>
                  <a:srgbClr val="F8F8F2"/>
                </a:solidFill>
                <a:effectLst/>
                <a:latin typeface="Consolas" panose="020B0609020204030204" pitchFamily="49" charset="0"/>
              </a:rPr>
              <a:t>    vis[start] </a:t>
            </a:r>
            <a:r>
              <a:rPr lang="en-US" altLang="zh-CN" b="0" dirty="0">
                <a:solidFill>
                  <a:srgbClr val="FF79C6"/>
                </a:solidFill>
                <a:effectLst/>
                <a:latin typeface="Consolas" panose="020B0609020204030204" pitchFamily="49" charset="0"/>
              </a:rPr>
              <a:t>=</a:t>
            </a:r>
            <a:r>
              <a:rPr lang="en-US" altLang="zh-CN" b="0" dirty="0">
                <a:solidFill>
                  <a:srgbClr val="F8F8F2"/>
                </a:solidFill>
                <a:effectLst/>
                <a:latin typeface="Consolas" panose="020B0609020204030204" pitchFamily="49" charset="0"/>
              </a:rPr>
              <a:t> </a:t>
            </a:r>
            <a:r>
              <a:rPr lang="en-US" altLang="zh-CN" b="0" dirty="0">
                <a:solidFill>
                  <a:srgbClr val="BD93F9"/>
                </a:solidFill>
                <a:effectLst/>
                <a:latin typeface="Consolas" panose="020B0609020204030204" pitchFamily="49" charset="0"/>
              </a:rPr>
              <a:t>true</a:t>
            </a:r>
            <a:r>
              <a:rPr lang="en-US" altLang="zh-CN" b="0" dirty="0">
                <a:solidFill>
                  <a:srgbClr val="F8F8F2"/>
                </a:solidFill>
                <a:effectLst/>
                <a:latin typeface="Consolas" panose="020B0609020204030204" pitchFamily="49" charset="0"/>
              </a:rPr>
              <a:t>;</a:t>
            </a:r>
            <a:endParaRPr lang="en-US" altLang="zh-CN" b="0" dirty="0">
              <a:solidFill>
                <a:srgbClr val="F8F8F2"/>
              </a:solidFill>
              <a:effectLst/>
              <a:latin typeface="Consolas" panose="020B0609020204030204" pitchFamily="49" charset="0"/>
            </a:endParaRPr>
          </a:p>
          <a:p>
            <a:r>
              <a:rPr lang="en-US" altLang="zh-CN" b="0" dirty="0">
                <a:solidFill>
                  <a:srgbClr val="F8F8F2"/>
                </a:solidFill>
                <a:effectLst/>
                <a:latin typeface="Consolas" panose="020B0609020204030204" pitchFamily="49" charset="0"/>
              </a:rPr>
              <a:t>    </a:t>
            </a:r>
            <a:r>
              <a:rPr lang="en-US" altLang="zh-CN" b="0" dirty="0">
                <a:solidFill>
                  <a:srgbClr val="FF79C6"/>
                </a:solidFill>
                <a:effectLst/>
                <a:latin typeface="Consolas" panose="020B0609020204030204" pitchFamily="49" charset="0"/>
              </a:rPr>
              <a:t>while</a:t>
            </a:r>
            <a:r>
              <a:rPr lang="en-US" altLang="zh-CN" b="0" dirty="0">
                <a:solidFill>
                  <a:srgbClr val="F8F8F2"/>
                </a:solidFill>
                <a:effectLst/>
                <a:latin typeface="Consolas" panose="020B0609020204030204" pitchFamily="49" charset="0"/>
              </a:rPr>
              <a:t>(</a:t>
            </a:r>
            <a:r>
              <a:rPr lang="en-US" altLang="zh-CN" b="0" dirty="0">
                <a:solidFill>
                  <a:srgbClr val="FF79C6"/>
                </a:solidFill>
                <a:effectLst/>
                <a:latin typeface="Consolas" panose="020B0609020204030204" pitchFamily="49" charset="0"/>
              </a:rPr>
              <a:t>!</a:t>
            </a:r>
            <a:r>
              <a:rPr lang="en-US" altLang="zh-CN" b="0" dirty="0" err="1">
                <a:solidFill>
                  <a:srgbClr val="F8F8F2"/>
                </a:solidFill>
                <a:effectLst/>
                <a:latin typeface="Consolas" panose="020B0609020204030204" pitchFamily="49" charset="0"/>
              </a:rPr>
              <a:t>stack.</a:t>
            </a:r>
            <a:r>
              <a:rPr lang="en-US" altLang="zh-CN" b="0" dirty="0" err="1">
                <a:solidFill>
                  <a:srgbClr val="50FA7B"/>
                </a:solidFill>
                <a:effectLst/>
                <a:latin typeface="Consolas" panose="020B0609020204030204" pitchFamily="49" charset="0"/>
              </a:rPr>
              <a:t>empty</a:t>
            </a:r>
            <a:r>
              <a:rPr lang="en-US" altLang="zh-CN" b="0" dirty="0">
                <a:solidFill>
                  <a:srgbClr val="F8F8F2"/>
                </a:solidFill>
                <a:effectLst/>
                <a:latin typeface="Consolas" panose="020B0609020204030204" pitchFamily="49" charset="0"/>
              </a:rPr>
              <a:t>()) {</a:t>
            </a:r>
            <a:endParaRPr lang="en-US" altLang="zh-CN" b="0" dirty="0">
              <a:solidFill>
                <a:srgbClr val="F8F8F2"/>
              </a:solidFill>
              <a:effectLst/>
              <a:latin typeface="Consolas" panose="020B0609020204030204" pitchFamily="49" charset="0"/>
            </a:endParaRPr>
          </a:p>
          <a:p>
            <a:r>
              <a:rPr lang="en-US" altLang="zh-CN" b="0" dirty="0">
                <a:solidFill>
                  <a:srgbClr val="F8F8F2"/>
                </a:solidFill>
                <a:effectLst/>
                <a:latin typeface="Consolas" panose="020B0609020204030204" pitchFamily="49" charset="0"/>
              </a:rPr>
              <a:t>        </a:t>
            </a:r>
            <a:r>
              <a:rPr lang="en-US" altLang="zh-CN" b="0" dirty="0">
                <a:solidFill>
                  <a:srgbClr val="FF79C6"/>
                </a:solidFill>
                <a:effectLst/>
                <a:latin typeface="Consolas" panose="020B0609020204030204" pitchFamily="49" charset="0"/>
              </a:rPr>
              <a:t>int</a:t>
            </a:r>
            <a:r>
              <a:rPr lang="en-US" altLang="zh-CN" b="0" dirty="0">
                <a:solidFill>
                  <a:srgbClr val="F8F8F2"/>
                </a:solidFill>
                <a:effectLst/>
                <a:latin typeface="Consolas" panose="020B0609020204030204" pitchFamily="49" charset="0"/>
              </a:rPr>
              <a:t> x </a:t>
            </a:r>
            <a:r>
              <a:rPr lang="en-US" altLang="zh-CN" b="0" dirty="0">
                <a:solidFill>
                  <a:srgbClr val="FF79C6"/>
                </a:solidFill>
                <a:effectLst/>
                <a:latin typeface="Consolas" panose="020B0609020204030204" pitchFamily="49" charset="0"/>
              </a:rPr>
              <a:t>=</a:t>
            </a:r>
            <a:r>
              <a:rPr lang="en-US" altLang="zh-CN" b="0" dirty="0">
                <a:solidFill>
                  <a:srgbClr val="F8F8F2"/>
                </a:solidFill>
                <a:effectLst/>
                <a:latin typeface="Consolas" panose="020B0609020204030204" pitchFamily="49" charset="0"/>
              </a:rPr>
              <a:t> </a:t>
            </a:r>
            <a:r>
              <a:rPr lang="en-US" altLang="zh-CN" b="0" dirty="0" err="1">
                <a:solidFill>
                  <a:srgbClr val="F8F8F2"/>
                </a:solidFill>
                <a:effectLst/>
                <a:latin typeface="Consolas" panose="020B0609020204030204" pitchFamily="49" charset="0"/>
              </a:rPr>
              <a:t>stack.</a:t>
            </a:r>
            <a:r>
              <a:rPr lang="en-US" altLang="zh-CN" b="0" dirty="0" err="1">
                <a:solidFill>
                  <a:srgbClr val="50FA7B"/>
                </a:solidFill>
                <a:effectLst/>
                <a:latin typeface="Consolas" panose="020B0609020204030204" pitchFamily="49" charset="0"/>
              </a:rPr>
              <a:t>top</a:t>
            </a:r>
            <a:r>
              <a:rPr lang="en-US" altLang="zh-CN" b="0" dirty="0">
                <a:solidFill>
                  <a:srgbClr val="F8F8F2"/>
                </a:solidFill>
                <a:effectLst/>
                <a:latin typeface="Consolas" panose="020B0609020204030204" pitchFamily="49" charset="0"/>
              </a:rPr>
              <a:t>();</a:t>
            </a:r>
            <a:endParaRPr lang="en-US" altLang="zh-CN" b="0" dirty="0">
              <a:solidFill>
                <a:srgbClr val="F8F8F2"/>
              </a:solidFill>
              <a:effectLst/>
              <a:latin typeface="Consolas" panose="020B0609020204030204" pitchFamily="49" charset="0"/>
            </a:endParaRPr>
          </a:p>
          <a:p>
            <a:r>
              <a:rPr lang="en-US" altLang="zh-CN" b="0" dirty="0">
                <a:solidFill>
                  <a:srgbClr val="F8F8F2"/>
                </a:solidFill>
                <a:effectLst/>
                <a:latin typeface="Consolas" panose="020B0609020204030204" pitchFamily="49" charset="0"/>
              </a:rPr>
              <a:t>        </a:t>
            </a:r>
            <a:r>
              <a:rPr lang="en-US" altLang="zh-CN" b="0" dirty="0" err="1">
                <a:solidFill>
                  <a:srgbClr val="F8F8F2"/>
                </a:solidFill>
                <a:effectLst/>
                <a:latin typeface="Consolas" panose="020B0609020204030204" pitchFamily="49" charset="0"/>
              </a:rPr>
              <a:t>stack.</a:t>
            </a:r>
            <a:r>
              <a:rPr lang="en-US" altLang="zh-CN" b="0" dirty="0" err="1">
                <a:solidFill>
                  <a:srgbClr val="50FA7B"/>
                </a:solidFill>
                <a:effectLst/>
                <a:latin typeface="Consolas" panose="020B0609020204030204" pitchFamily="49" charset="0"/>
              </a:rPr>
              <a:t>pop</a:t>
            </a:r>
            <a:r>
              <a:rPr lang="en-US" altLang="zh-CN" b="0" dirty="0">
                <a:solidFill>
                  <a:srgbClr val="F8F8F2"/>
                </a:solidFill>
                <a:effectLst/>
                <a:latin typeface="Consolas" panose="020B0609020204030204" pitchFamily="49" charset="0"/>
              </a:rPr>
              <a:t>();</a:t>
            </a:r>
            <a:endParaRPr lang="en-US" altLang="zh-CN" b="0" dirty="0">
              <a:solidFill>
                <a:srgbClr val="F8F8F2"/>
              </a:solidFill>
              <a:effectLst/>
              <a:latin typeface="Consolas" panose="020B0609020204030204" pitchFamily="49" charset="0"/>
            </a:endParaRPr>
          </a:p>
          <a:p>
            <a:r>
              <a:rPr lang="en-US" altLang="zh-CN" b="0" dirty="0">
                <a:solidFill>
                  <a:srgbClr val="F8F8F2"/>
                </a:solidFill>
                <a:effectLst/>
                <a:latin typeface="Consolas" panose="020B0609020204030204" pitchFamily="49" charset="0"/>
              </a:rPr>
              <a:t>        </a:t>
            </a:r>
            <a:r>
              <a:rPr lang="en-US" altLang="zh-CN" b="0" dirty="0">
                <a:solidFill>
                  <a:srgbClr val="FF79C6"/>
                </a:solidFill>
                <a:effectLst/>
                <a:latin typeface="Consolas" panose="020B0609020204030204" pitchFamily="49" charset="0"/>
              </a:rPr>
              <a:t>for</a:t>
            </a:r>
            <a:r>
              <a:rPr lang="en-US" altLang="zh-CN" b="0" dirty="0">
                <a:solidFill>
                  <a:srgbClr val="F8F8F2"/>
                </a:solidFill>
                <a:effectLst/>
                <a:latin typeface="Consolas" panose="020B0609020204030204" pitchFamily="49" charset="0"/>
              </a:rPr>
              <a:t>(v : </a:t>
            </a:r>
            <a:r>
              <a:rPr lang="en-US" altLang="zh-CN" b="0" dirty="0" err="1">
                <a:solidFill>
                  <a:srgbClr val="F8F8F2"/>
                </a:solidFill>
                <a:effectLst/>
                <a:latin typeface="Consolas" panose="020B0609020204030204" pitchFamily="49" charset="0"/>
              </a:rPr>
              <a:t>adjlist</a:t>
            </a:r>
            <a:r>
              <a:rPr lang="en-US" altLang="zh-CN" b="0" dirty="0">
                <a:solidFill>
                  <a:srgbClr val="F8F8F2"/>
                </a:solidFill>
                <a:effectLst/>
                <a:latin typeface="Consolas" panose="020B0609020204030204" pitchFamily="49" charset="0"/>
              </a:rPr>
              <a:t>[x]) {</a:t>
            </a:r>
            <a:endParaRPr lang="en-US" altLang="zh-CN" b="0" dirty="0">
              <a:solidFill>
                <a:srgbClr val="F8F8F2"/>
              </a:solidFill>
              <a:effectLst/>
              <a:latin typeface="Consolas" panose="020B0609020204030204" pitchFamily="49" charset="0"/>
            </a:endParaRPr>
          </a:p>
          <a:p>
            <a:r>
              <a:rPr lang="en-US" altLang="zh-CN" b="0" dirty="0">
                <a:solidFill>
                  <a:srgbClr val="F8F8F2"/>
                </a:solidFill>
                <a:effectLst/>
                <a:latin typeface="Consolas" panose="020B0609020204030204" pitchFamily="49" charset="0"/>
              </a:rPr>
              <a:t>            </a:t>
            </a:r>
            <a:r>
              <a:rPr lang="en-US" altLang="zh-CN" b="0" dirty="0">
                <a:solidFill>
                  <a:srgbClr val="FF79C6"/>
                </a:solidFill>
                <a:effectLst/>
                <a:latin typeface="Consolas" panose="020B0609020204030204" pitchFamily="49" charset="0"/>
              </a:rPr>
              <a:t>if</a:t>
            </a:r>
            <a:r>
              <a:rPr lang="en-US" altLang="zh-CN" b="0" dirty="0">
                <a:solidFill>
                  <a:srgbClr val="F8F8F2"/>
                </a:solidFill>
                <a:effectLst/>
                <a:latin typeface="Consolas" panose="020B0609020204030204" pitchFamily="49" charset="0"/>
              </a:rPr>
              <a:t> (</a:t>
            </a:r>
            <a:r>
              <a:rPr lang="en-US" altLang="zh-CN" b="0" dirty="0">
                <a:solidFill>
                  <a:srgbClr val="FF79C6"/>
                </a:solidFill>
                <a:effectLst/>
                <a:latin typeface="Consolas" panose="020B0609020204030204" pitchFamily="49" charset="0"/>
              </a:rPr>
              <a:t>!</a:t>
            </a:r>
            <a:r>
              <a:rPr lang="en-US" altLang="zh-CN" b="0" dirty="0">
                <a:solidFill>
                  <a:srgbClr val="F8F8F2"/>
                </a:solidFill>
                <a:effectLst/>
                <a:latin typeface="Consolas" panose="020B0609020204030204" pitchFamily="49" charset="0"/>
              </a:rPr>
              <a:t>vis[v]){</a:t>
            </a:r>
            <a:endParaRPr lang="en-US" altLang="zh-CN" b="0" dirty="0">
              <a:solidFill>
                <a:srgbClr val="F8F8F2"/>
              </a:solidFill>
              <a:effectLst/>
              <a:latin typeface="Consolas" panose="020B0609020204030204" pitchFamily="49" charset="0"/>
            </a:endParaRPr>
          </a:p>
          <a:p>
            <a:r>
              <a:rPr lang="en-US" altLang="zh-CN" b="0" dirty="0">
                <a:solidFill>
                  <a:srgbClr val="F8F8F2"/>
                </a:solidFill>
                <a:effectLst/>
                <a:latin typeface="Consolas" panose="020B0609020204030204" pitchFamily="49" charset="0"/>
              </a:rPr>
              <a:t>                </a:t>
            </a:r>
            <a:r>
              <a:rPr lang="en-US" altLang="zh-CN" b="0" dirty="0" err="1">
                <a:solidFill>
                  <a:srgbClr val="F8F8F2"/>
                </a:solidFill>
                <a:effectLst/>
                <a:latin typeface="Consolas" panose="020B0609020204030204" pitchFamily="49" charset="0"/>
              </a:rPr>
              <a:t>stack.</a:t>
            </a:r>
            <a:r>
              <a:rPr lang="en-US" altLang="zh-CN" b="0" dirty="0" err="1">
                <a:solidFill>
                  <a:srgbClr val="50FA7B"/>
                </a:solidFill>
                <a:effectLst/>
                <a:latin typeface="Consolas" panose="020B0609020204030204" pitchFamily="49" charset="0"/>
              </a:rPr>
              <a:t>push</a:t>
            </a:r>
            <a:r>
              <a:rPr lang="en-US" altLang="zh-CN" b="0" dirty="0">
                <a:solidFill>
                  <a:srgbClr val="F8F8F2"/>
                </a:solidFill>
                <a:effectLst/>
                <a:latin typeface="Consolas" panose="020B0609020204030204" pitchFamily="49" charset="0"/>
              </a:rPr>
              <a:t>(v);</a:t>
            </a:r>
            <a:endParaRPr lang="en-US" altLang="zh-CN" b="0" dirty="0">
              <a:solidFill>
                <a:srgbClr val="F8F8F2"/>
              </a:solidFill>
              <a:effectLst/>
              <a:latin typeface="Consolas" panose="020B0609020204030204" pitchFamily="49" charset="0"/>
            </a:endParaRPr>
          </a:p>
          <a:p>
            <a:r>
              <a:rPr lang="en-US" altLang="zh-CN" dirty="0">
                <a:solidFill>
                  <a:srgbClr val="F8F8F2"/>
                </a:solidFill>
                <a:latin typeface="Consolas" panose="020B0609020204030204" pitchFamily="49" charset="0"/>
              </a:rPr>
              <a:t>                </a:t>
            </a:r>
            <a:r>
              <a:rPr lang="en-US" altLang="zh-CN" b="0" dirty="0">
                <a:solidFill>
                  <a:srgbClr val="F8F8F2"/>
                </a:solidFill>
                <a:effectLst/>
                <a:latin typeface="Consolas" panose="020B0609020204030204" pitchFamily="49" charset="0"/>
              </a:rPr>
              <a:t>vis[v] </a:t>
            </a:r>
            <a:r>
              <a:rPr lang="en-US" altLang="zh-CN" b="0" dirty="0">
                <a:solidFill>
                  <a:srgbClr val="FF79C6"/>
                </a:solidFill>
                <a:effectLst/>
                <a:latin typeface="Consolas" panose="020B0609020204030204" pitchFamily="49" charset="0"/>
              </a:rPr>
              <a:t>=</a:t>
            </a:r>
            <a:r>
              <a:rPr lang="en-US" altLang="zh-CN" b="0" dirty="0">
                <a:solidFill>
                  <a:srgbClr val="F8F8F2"/>
                </a:solidFill>
                <a:effectLst/>
                <a:latin typeface="Consolas" panose="020B0609020204030204" pitchFamily="49" charset="0"/>
              </a:rPr>
              <a:t> </a:t>
            </a:r>
            <a:r>
              <a:rPr lang="en-US" altLang="zh-CN" b="0" dirty="0">
                <a:solidFill>
                  <a:srgbClr val="BD93F9"/>
                </a:solidFill>
                <a:effectLst/>
                <a:latin typeface="Consolas" panose="020B0609020204030204" pitchFamily="49" charset="0"/>
              </a:rPr>
              <a:t>true</a:t>
            </a:r>
            <a:r>
              <a:rPr lang="en-US" altLang="zh-CN" b="0" dirty="0">
                <a:solidFill>
                  <a:srgbClr val="F8F8F2"/>
                </a:solidFill>
                <a:effectLst/>
                <a:latin typeface="Consolas" panose="020B0609020204030204" pitchFamily="49" charset="0"/>
              </a:rPr>
              <a:t>;</a:t>
            </a:r>
            <a:endParaRPr lang="en-US" altLang="zh-CN" b="0" dirty="0">
              <a:solidFill>
                <a:srgbClr val="F8F8F2"/>
              </a:solidFill>
              <a:effectLst/>
              <a:latin typeface="Consolas" panose="020B0609020204030204" pitchFamily="49" charset="0"/>
            </a:endParaRPr>
          </a:p>
          <a:p>
            <a:r>
              <a:rPr lang="en-US" altLang="zh-CN" dirty="0">
                <a:solidFill>
                  <a:srgbClr val="F8F8F2"/>
                </a:solidFill>
                <a:latin typeface="Consolas" panose="020B0609020204030204" pitchFamily="49" charset="0"/>
              </a:rPr>
              <a:t>            }</a:t>
            </a:r>
            <a:endParaRPr lang="en-US" altLang="zh-CN" b="0" dirty="0">
              <a:solidFill>
                <a:srgbClr val="F8F8F2"/>
              </a:solidFill>
              <a:effectLst/>
              <a:latin typeface="Consolas" panose="020B0609020204030204" pitchFamily="49" charset="0"/>
            </a:endParaRPr>
          </a:p>
          <a:p>
            <a:r>
              <a:rPr lang="en-US" altLang="zh-CN" b="0" dirty="0">
                <a:solidFill>
                  <a:srgbClr val="F8F8F2"/>
                </a:solidFill>
                <a:effectLst/>
                <a:latin typeface="Consolas" panose="020B0609020204030204" pitchFamily="49" charset="0"/>
              </a:rPr>
              <a:t>        }</a:t>
            </a:r>
            <a:endParaRPr lang="en-US" altLang="zh-CN" b="0" dirty="0">
              <a:solidFill>
                <a:srgbClr val="F8F8F2"/>
              </a:solidFill>
              <a:effectLst/>
              <a:latin typeface="Consolas" panose="020B0609020204030204" pitchFamily="49" charset="0"/>
            </a:endParaRPr>
          </a:p>
          <a:p>
            <a:r>
              <a:rPr lang="en-US" altLang="zh-CN" b="0" dirty="0">
                <a:solidFill>
                  <a:srgbClr val="F8F8F2"/>
                </a:solidFill>
                <a:effectLst/>
                <a:latin typeface="Consolas" panose="020B0609020204030204" pitchFamily="49" charset="0"/>
              </a:rPr>
              <a:t>    }</a:t>
            </a:r>
            <a:endParaRPr lang="en-US" altLang="zh-CN" b="0" dirty="0">
              <a:solidFill>
                <a:srgbClr val="F8F8F2"/>
              </a:solidFill>
              <a:effectLst/>
              <a:latin typeface="Consolas" panose="020B0609020204030204" pitchFamily="49" charset="0"/>
            </a:endParaRPr>
          </a:p>
          <a:p>
            <a:r>
              <a:rPr lang="en-US" altLang="zh-CN" b="0" dirty="0">
                <a:solidFill>
                  <a:srgbClr val="F8F8F2"/>
                </a:solidFill>
                <a:effectLst/>
                <a:latin typeface="Consolas" panose="020B0609020204030204" pitchFamily="49" charset="0"/>
              </a:rPr>
              <a:t>} </a:t>
            </a:r>
            <a:endParaRPr lang="en-US" altLang="zh-CN" b="0" dirty="0">
              <a:solidFill>
                <a:srgbClr val="F8F8F2"/>
              </a:solidFill>
              <a:effectLst/>
              <a:latin typeface="Consolas" panose="020B0609020204030204" pitchFamily="49"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Calibri" panose="020F0502020204030204" pitchFamily="34" charset="0"/>
                <a:ea typeface="Calibri" panose="020F0502020204030204" pitchFamily="34" charset="0"/>
                <a:cs typeface="Calibri" panose="020F0502020204030204" pitchFamily="34" charset="0"/>
              </a:rPr>
              <a:t>Stack</a:t>
            </a:r>
            <a:endParaRPr lang="zh-CN" altLang="en-US" dirty="0">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707604" y="1537828"/>
            <a:ext cx="10033932" cy="4351338"/>
          </a:xfrm>
        </p:spPr>
        <p:txBody>
          <a:bodyPr>
            <a:normAutofit/>
          </a:bodyPr>
          <a:lstStyle/>
          <a:p>
            <a:pPr>
              <a:lnSpc>
                <a:spcPct val="100000"/>
              </a:lnSpc>
            </a:pPr>
            <a:r>
              <a:rPr lang="en-US" altLang="zh-CN" sz="3200" b="1" dirty="0">
                <a:effectLst/>
                <a:latin typeface="Calibri" panose="020F0502020204030204" pitchFamily="34" charset="0"/>
                <a:ea typeface="Calibri" panose="020F0502020204030204" pitchFamily="34" charset="0"/>
                <a:cs typeface="Calibri" panose="020F0502020204030204" pitchFamily="34" charset="0"/>
              </a:rPr>
              <a:t>DFS Tree</a:t>
            </a:r>
            <a:endParaRPr lang="en-US" altLang="zh-CN" sz="3200" b="1"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8194" name="Picture 2" descr="在这里插入图片描述"/>
          <p:cNvPicPr>
            <a:picLocks noChangeAspect="1" noChangeArrowheads="1"/>
          </p:cNvPicPr>
          <p:nvPr/>
        </p:nvPicPr>
        <p:blipFill>
          <a:blip r:embed="rId1"/>
          <a:srcRect/>
          <a:stretch>
            <a:fillRect/>
          </a:stretch>
        </p:blipFill>
        <p:spPr bwMode="auto">
          <a:xfrm>
            <a:off x="3648998" y="1537828"/>
            <a:ext cx="4550674" cy="47643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Calibri" panose="020F0502020204030204" pitchFamily="34" charset="0"/>
                <a:ea typeface="Calibri" panose="020F0502020204030204" pitchFamily="34" charset="0"/>
                <a:cs typeface="Calibri" panose="020F0502020204030204" pitchFamily="34" charset="0"/>
              </a:rPr>
              <a:t>Tree &amp; AVL Tree</a:t>
            </a:r>
            <a:endParaRPr lang="zh-CN" altLang="en-US" dirty="0">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707604" y="1537828"/>
            <a:ext cx="10033932" cy="4351338"/>
          </a:xfrm>
        </p:spPr>
        <p:txBody>
          <a:bodyPr>
            <a:normAutofit/>
          </a:bodyPr>
          <a:lstStyle/>
          <a:p>
            <a:pPr>
              <a:lnSpc>
                <a:spcPct val="100000"/>
              </a:lnSpc>
            </a:pPr>
            <a:r>
              <a:rPr lang="en-US" altLang="zh-CN" sz="2400" b="1" dirty="0">
                <a:latin typeface="Calibri" panose="020F0502020204030204" pitchFamily="34" charset="0"/>
                <a:ea typeface="Calibri" panose="020F0502020204030204" pitchFamily="34" charset="0"/>
                <a:cs typeface="Calibri" panose="020F0502020204030204" pitchFamily="34" charset="0"/>
              </a:rPr>
              <a:t>Tree</a:t>
            </a:r>
            <a:r>
              <a:rPr lang="en-US" altLang="zh-CN" sz="2400" dirty="0">
                <a:latin typeface="Calibri" panose="020F0502020204030204" pitchFamily="34" charset="0"/>
                <a:ea typeface="Calibri" panose="020F0502020204030204" pitchFamily="34" charset="0"/>
                <a:cs typeface="Calibri" panose="020F0502020204030204" pitchFamily="34" charset="0"/>
              </a:rPr>
              <a:t> : A connected graph with n nodes and n – 1 edges.</a:t>
            </a:r>
            <a:endParaRPr lang="en-US" altLang="zh-CN" sz="2400"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US" altLang="zh-CN" sz="2400" b="1" dirty="0">
                <a:effectLst/>
                <a:latin typeface="Calibri" panose="020F0502020204030204" pitchFamily="34" charset="0"/>
                <a:ea typeface="Calibri" panose="020F0502020204030204" pitchFamily="34" charset="0"/>
                <a:cs typeface="Calibri" panose="020F0502020204030204" pitchFamily="34" charset="0"/>
              </a:rPr>
              <a:t>A</a:t>
            </a:r>
            <a:r>
              <a:rPr lang="en-US" altLang="zh-CN" sz="2400" b="1" dirty="0">
                <a:latin typeface="Calibri" panose="020F0502020204030204" pitchFamily="34" charset="0"/>
                <a:ea typeface="Calibri" panose="020F0502020204030204" pitchFamily="34" charset="0"/>
                <a:cs typeface="Calibri" panose="020F0502020204030204" pitchFamily="34" charset="0"/>
              </a:rPr>
              <a:t>VL Tree </a:t>
            </a:r>
            <a:r>
              <a:rPr lang="en-US" altLang="zh-CN" sz="2400" dirty="0">
                <a:latin typeface="Calibri" panose="020F0502020204030204" pitchFamily="34" charset="0"/>
                <a:ea typeface="Calibri" panose="020F0502020204030204" pitchFamily="34" charset="0"/>
                <a:cs typeface="Calibri" panose="020F0502020204030204" pitchFamily="34" charset="0"/>
              </a:rPr>
              <a:t>: An AVL tree is a self-balancing BST</a:t>
            </a:r>
            <a:endParaRPr lang="en-US" altLang="zh-CN" sz="2400"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US" altLang="zh-CN" sz="2400" b="1" dirty="0">
                <a:latin typeface="Calibri" panose="020F0502020204030204" pitchFamily="34" charset="0"/>
                <a:ea typeface="Calibri" panose="020F0502020204030204" pitchFamily="34" charset="0"/>
                <a:cs typeface="Calibri" panose="020F0502020204030204" pitchFamily="34" charset="0"/>
              </a:rPr>
              <a:t>Balancing</a:t>
            </a:r>
            <a:r>
              <a:rPr lang="en-US" altLang="zh-CN" sz="2400" dirty="0">
                <a:latin typeface="Calibri" panose="020F0502020204030204" pitchFamily="34" charset="0"/>
                <a:ea typeface="Calibri" panose="020F0502020204030204" pitchFamily="34" charset="0"/>
                <a:cs typeface="Calibri" panose="020F0502020204030204" pitchFamily="34" charset="0"/>
              </a:rPr>
              <a:t>: For every node in the tree, the height of the left subtree differs from the height of the right subtree by at most 1</a:t>
            </a:r>
            <a:endParaRPr lang="en-US" altLang="zh-CN" sz="2400"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endParaRPr lang="en-US" altLang="zh-CN" sz="240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11266" name="Picture 2" descr="平衡树详解和运用 - AC-Evil - 博客园"/>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0" y="3647332"/>
            <a:ext cx="4591967" cy="27441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Calibri" panose="020F0502020204030204" pitchFamily="34" charset="0"/>
                <a:ea typeface="Calibri" panose="020F0502020204030204" pitchFamily="34" charset="0"/>
                <a:cs typeface="Calibri" panose="020F0502020204030204" pitchFamily="34" charset="0"/>
              </a:rPr>
              <a:t>Tree &amp; AVL Tree</a:t>
            </a:r>
            <a:endParaRPr lang="zh-CN" altLang="en-US" dirty="0">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707604" y="1537828"/>
            <a:ext cx="10033932" cy="4351338"/>
          </a:xfrm>
        </p:spPr>
        <p:txBody>
          <a:bodyPr>
            <a:normAutofit/>
          </a:bodyPr>
          <a:lstStyle/>
          <a:p>
            <a:pPr>
              <a:lnSpc>
                <a:spcPct val="100000"/>
              </a:lnSpc>
            </a:pPr>
            <a:r>
              <a:rPr lang="en-US" altLang="zh-CN" sz="2400" dirty="0">
                <a:effectLst/>
                <a:latin typeface="Calibri" panose="020F0502020204030204" pitchFamily="34" charset="0"/>
                <a:ea typeface="Calibri" panose="020F0502020204030204" pitchFamily="34" charset="0"/>
                <a:cs typeface="Calibri" panose="020F0502020204030204" pitchFamily="34" charset="0"/>
              </a:rPr>
              <a:t>Rotate</a:t>
            </a:r>
            <a:endParaRPr lang="en-US" altLang="zh-CN" sz="240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12290" name="Picture 2" descr="左旋"/>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85847" y="1690688"/>
            <a:ext cx="4836654" cy="2299080"/>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右旋"/>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8584" y="4245466"/>
            <a:ext cx="5211179" cy="22474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BIZ UDPMincho Medium" panose="02020500000000000000" pitchFamily="18" charset="-128"/>
                <a:ea typeface="BIZ UDPMincho Medium" panose="02020500000000000000" pitchFamily="18" charset="-128"/>
              </a:rPr>
              <a:t>Tree &amp; AVL Tree</a:t>
            </a:r>
            <a:endParaRPr lang="zh-CN" altLang="en-US" dirty="0"/>
          </a:p>
        </p:txBody>
      </p:sp>
      <p:sp>
        <p:nvSpPr>
          <p:cNvPr id="3" name="内容占位符 2"/>
          <p:cNvSpPr>
            <a:spLocks noGrp="1"/>
          </p:cNvSpPr>
          <p:nvPr>
            <p:ph idx="1"/>
          </p:nvPr>
        </p:nvSpPr>
        <p:spPr>
          <a:xfrm>
            <a:off x="707604" y="1537828"/>
            <a:ext cx="10033932" cy="4351338"/>
          </a:xfrm>
        </p:spPr>
        <p:txBody>
          <a:bodyPr>
            <a:normAutofit/>
          </a:bodyPr>
          <a:lstStyle/>
          <a:p>
            <a:pPr>
              <a:lnSpc>
                <a:spcPct val="100000"/>
              </a:lnSpc>
            </a:pPr>
            <a:r>
              <a:rPr lang="en-US" altLang="zh-CN" sz="2400" dirty="0">
                <a:effectLst/>
                <a:latin typeface="Calibri" panose="020F0502020204030204" pitchFamily="34" charset="0"/>
                <a:ea typeface="Calibri" panose="020F0502020204030204" pitchFamily="34" charset="0"/>
                <a:cs typeface="Calibri" panose="020F0502020204030204" pitchFamily="34" charset="0"/>
              </a:rPr>
              <a:t>Rotate</a:t>
            </a:r>
            <a:endParaRPr lang="en-US" altLang="zh-CN" sz="240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133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98088" y="1422185"/>
            <a:ext cx="6195823" cy="543581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latin typeface="Calibri" panose="020F0502020204030204" pitchFamily="34" charset="0"/>
                <a:ea typeface="Calibri" panose="020F0502020204030204" pitchFamily="34" charset="0"/>
                <a:cs typeface="Calibri" panose="020F0502020204030204" pitchFamily="34" charset="0"/>
              </a:rPr>
              <a:t>Pseudo code (Rotation)</a:t>
            </a:r>
            <a:endParaRPr lang="en-US" altLang="en-US" b="1" dirty="0">
              <a:latin typeface="Calibri" panose="020F0502020204030204" pitchFamily="34" charset="0"/>
              <a:ea typeface="Calibri" panose="020F0502020204030204" pitchFamily="34" charset="0"/>
              <a:cs typeface="Calibri" panose="020F0502020204030204" pitchFamily="34" charset="0"/>
            </a:endParaRPr>
          </a:p>
        </p:txBody>
      </p:sp>
      <p:sp>
        <p:nvSpPr>
          <p:cNvPr id="4" name="Text Box 3"/>
          <p:cNvSpPr txBox="1"/>
          <p:nvPr/>
        </p:nvSpPr>
        <p:spPr>
          <a:xfrm>
            <a:off x="6126478" y="1477644"/>
            <a:ext cx="5990707" cy="5380356"/>
          </a:xfrm>
          <a:prstGeom prst="rect">
            <a:avLst/>
          </a:prstGeom>
          <a:solidFill>
            <a:schemeClr val="tx2">
              <a:lumMod val="50000"/>
            </a:schemeClr>
          </a:solidFill>
        </p:spPr>
        <p:txBody>
          <a:bodyPr wrap="square" rtlCol="0">
            <a:noAutofit/>
          </a:bodyPr>
          <a:lstStyle/>
          <a:p>
            <a:r>
              <a:rPr lang="en-US" altLang="zh-CN" sz="2400" b="0" dirty="0">
                <a:solidFill>
                  <a:srgbClr val="F8F8F2"/>
                </a:solidFill>
                <a:effectLst/>
                <a:latin typeface="Consolas" panose="020B0609020204030204" pitchFamily="49" charset="0"/>
              </a:rPr>
              <a:t>Right</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Rotate(x):</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y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x.left</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x.left</a:t>
            </a:r>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y.right</a:t>
            </a:r>
            <a:r>
              <a:rPr lang="en-US" altLang="zh-CN" sz="2400" b="0" dirty="0">
                <a:solidFill>
                  <a:srgbClr val="F8F8F2"/>
                </a:solidFill>
                <a:effectLst/>
                <a:latin typeface="Consolas" panose="020B0609020204030204" pitchFamily="49" charset="0"/>
              </a:rPr>
              <a:t> </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if</a:t>
            </a:r>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y.right</a:t>
            </a:r>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a:t>
            </a:r>
            <a:r>
              <a:rPr lang="en-US" altLang="zh-CN" sz="2400" b="0" dirty="0">
                <a:solidFill>
                  <a:srgbClr val="BD93F9"/>
                </a:solidFill>
                <a:effectLst/>
                <a:latin typeface="Consolas" panose="020B0609020204030204" pitchFamily="49" charset="0"/>
              </a:rPr>
              <a:t>NULL</a:t>
            </a:r>
            <a:r>
              <a:rPr lang="en-US" altLang="zh-CN" sz="2400" b="0" dirty="0">
                <a:solidFill>
                  <a:srgbClr val="F8F8F2"/>
                </a:solidFill>
                <a:effectLst/>
                <a:latin typeface="Consolas" panose="020B0609020204030204" pitchFamily="49" charset="0"/>
              </a:rPr>
              <a:t>:</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y.right.parent</a:t>
            </a:r>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x</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y.parent</a:t>
            </a:r>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x.parent</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if</a:t>
            </a:r>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x.parent</a:t>
            </a:r>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a:t>
            </a:r>
            <a:r>
              <a:rPr lang="en-US" altLang="zh-CN" sz="2400" b="0" dirty="0">
                <a:solidFill>
                  <a:srgbClr val="BD93F9"/>
                </a:solidFill>
                <a:effectLst/>
                <a:latin typeface="Consolas" panose="020B0609020204030204" pitchFamily="49" charset="0"/>
              </a:rPr>
              <a:t>NULL</a:t>
            </a:r>
            <a:r>
              <a:rPr lang="en-US" altLang="zh-CN" sz="2400" b="0" dirty="0">
                <a:solidFill>
                  <a:srgbClr val="F8F8F2"/>
                </a:solidFill>
                <a:effectLst/>
                <a:latin typeface="Consolas" panose="020B0609020204030204" pitchFamily="49" charset="0"/>
              </a:rPr>
              <a:t>:</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root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y</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else</a:t>
            </a:r>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if</a:t>
            </a:r>
            <a:r>
              <a:rPr lang="en-US" altLang="zh-CN" sz="2400" b="0" dirty="0">
                <a:solidFill>
                  <a:srgbClr val="F8F8F2"/>
                </a:solidFill>
                <a:effectLst/>
                <a:latin typeface="Consolas" panose="020B0609020204030204" pitchFamily="49" charset="0"/>
              </a:rPr>
              <a:t> x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x.parent.right</a:t>
            </a:r>
            <a:r>
              <a:rPr lang="en-US" altLang="zh-CN" sz="2400" b="0" dirty="0">
                <a:solidFill>
                  <a:srgbClr val="F8F8F2"/>
                </a:solidFill>
                <a:effectLst/>
                <a:latin typeface="Consolas" panose="020B0609020204030204" pitchFamily="49" charset="0"/>
              </a:rPr>
              <a:t>:</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x.parent.right</a:t>
            </a:r>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y</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else</a:t>
            </a:r>
            <a:r>
              <a:rPr lang="en-US" altLang="zh-CN" sz="2400" b="0" dirty="0">
                <a:solidFill>
                  <a:srgbClr val="F8F8F2"/>
                </a:solidFill>
                <a:effectLst/>
                <a:latin typeface="Consolas" panose="020B0609020204030204" pitchFamily="49" charset="0"/>
              </a:rPr>
              <a:t>:</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x.parent.left</a:t>
            </a:r>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y</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y.right</a:t>
            </a:r>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x</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x.parent</a:t>
            </a:r>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y</a:t>
            </a:r>
            <a:endParaRPr lang="en-US" altLang="zh-CN" sz="2400" b="0" dirty="0">
              <a:solidFill>
                <a:srgbClr val="F8F8F2"/>
              </a:solidFill>
              <a:effectLst/>
              <a:latin typeface="Consolas" panose="020B0609020204030204" pitchFamily="49" charset="0"/>
            </a:endParaRPr>
          </a:p>
          <a:p>
            <a:br>
              <a:rPr lang="en-US" altLang="zh-CN" sz="2400" b="0" dirty="0">
                <a:solidFill>
                  <a:srgbClr val="F8F8F2"/>
                </a:solidFill>
                <a:effectLst/>
                <a:latin typeface="Consolas" panose="020B0609020204030204" pitchFamily="49" charset="0"/>
              </a:rPr>
            </a:br>
            <a:endParaRPr lang="en-US" altLang="zh-CN" sz="2400" b="0" dirty="0">
              <a:solidFill>
                <a:srgbClr val="F8F8F2"/>
              </a:solidFill>
              <a:effectLst/>
              <a:latin typeface="Consolas" panose="020B0609020204030204" pitchFamily="49" charset="0"/>
            </a:endParaRPr>
          </a:p>
        </p:txBody>
      </p:sp>
      <p:sp>
        <p:nvSpPr>
          <p:cNvPr id="7" name="Text Box 3"/>
          <p:cNvSpPr txBox="1"/>
          <p:nvPr/>
        </p:nvSpPr>
        <p:spPr>
          <a:xfrm>
            <a:off x="74813" y="1477644"/>
            <a:ext cx="5990707" cy="5380356"/>
          </a:xfrm>
          <a:prstGeom prst="rect">
            <a:avLst/>
          </a:prstGeom>
          <a:solidFill>
            <a:schemeClr val="tx2">
              <a:lumMod val="50000"/>
            </a:schemeClr>
          </a:solidFill>
        </p:spPr>
        <p:txBody>
          <a:bodyPr wrap="square" rtlCol="0">
            <a:noAutofit/>
          </a:bodyPr>
          <a:lstStyle/>
          <a:p>
            <a:r>
              <a:rPr lang="en-US" altLang="zh-CN" sz="2400" b="0" dirty="0">
                <a:solidFill>
                  <a:srgbClr val="F8F8F2"/>
                </a:solidFill>
                <a:effectLst/>
                <a:latin typeface="Consolas" panose="020B0609020204030204" pitchFamily="49" charset="0"/>
              </a:rPr>
              <a:t>Left</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Rotate(x):</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y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x.right</a:t>
            </a:r>
            <a:r>
              <a:rPr lang="en-US" altLang="zh-CN" sz="2400" b="0" dirty="0">
                <a:solidFill>
                  <a:srgbClr val="F8F8F2"/>
                </a:solidFill>
                <a:effectLst/>
                <a:latin typeface="Consolas" panose="020B0609020204030204" pitchFamily="49" charset="0"/>
              </a:rPr>
              <a:t> </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x.right</a:t>
            </a:r>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y.left</a:t>
            </a:r>
            <a:r>
              <a:rPr lang="en-US" altLang="zh-CN" sz="2400" b="0" dirty="0">
                <a:solidFill>
                  <a:srgbClr val="F8F8F2"/>
                </a:solidFill>
                <a:effectLst/>
                <a:latin typeface="Consolas" panose="020B0609020204030204" pitchFamily="49" charset="0"/>
              </a:rPr>
              <a:t> </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if</a:t>
            </a:r>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y.left</a:t>
            </a:r>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a:t>
            </a:r>
            <a:r>
              <a:rPr lang="en-US" altLang="zh-CN" sz="2400" b="0" dirty="0">
                <a:solidFill>
                  <a:srgbClr val="BD93F9"/>
                </a:solidFill>
                <a:effectLst/>
                <a:latin typeface="Consolas" panose="020B0609020204030204" pitchFamily="49" charset="0"/>
              </a:rPr>
              <a:t>NULL</a:t>
            </a:r>
            <a:r>
              <a:rPr lang="en-US" altLang="zh-CN" sz="2400" b="0" dirty="0">
                <a:solidFill>
                  <a:srgbClr val="F8F8F2"/>
                </a:solidFill>
                <a:effectLst/>
                <a:latin typeface="Consolas" panose="020B0609020204030204" pitchFamily="49" charset="0"/>
              </a:rPr>
              <a:t>:</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y.left.parent</a:t>
            </a:r>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x</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y.parent</a:t>
            </a:r>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x.parent</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if</a:t>
            </a:r>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x.parent</a:t>
            </a:r>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a:t>
            </a:r>
            <a:r>
              <a:rPr lang="en-US" altLang="zh-CN" sz="2400" b="0" dirty="0">
                <a:solidFill>
                  <a:srgbClr val="BD93F9"/>
                </a:solidFill>
                <a:effectLst/>
                <a:latin typeface="Consolas" panose="020B0609020204030204" pitchFamily="49" charset="0"/>
              </a:rPr>
              <a:t>NULL</a:t>
            </a:r>
            <a:r>
              <a:rPr lang="en-US" altLang="zh-CN" sz="2400" b="0" dirty="0">
                <a:solidFill>
                  <a:srgbClr val="F8F8F2"/>
                </a:solidFill>
                <a:effectLst/>
                <a:latin typeface="Consolas" panose="020B0609020204030204" pitchFamily="49" charset="0"/>
              </a:rPr>
              <a:t>:</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root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y</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else</a:t>
            </a:r>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if</a:t>
            </a:r>
            <a:r>
              <a:rPr lang="en-US" altLang="zh-CN" sz="2400" b="0" dirty="0">
                <a:solidFill>
                  <a:srgbClr val="F8F8F2"/>
                </a:solidFill>
                <a:effectLst/>
                <a:latin typeface="Consolas" panose="020B0609020204030204" pitchFamily="49" charset="0"/>
              </a:rPr>
              <a:t> x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x.parent.left</a:t>
            </a:r>
            <a:r>
              <a:rPr lang="en-US" altLang="zh-CN" sz="2400" b="0" dirty="0">
                <a:solidFill>
                  <a:srgbClr val="F8F8F2"/>
                </a:solidFill>
                <a:effectLst/>
                <a:latin typeface="Consolas" panose="020B0609020204030204" pitchFamily="49" charset="0"/>
              </a:rPr>
              <a:t>:</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x.parent.left</a:t>
            </a:r>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y</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else</a:t>
            </a:r>
            <a:r>
              <a:rPr lang="en-US" altLang="zh-CN" sz="2400" b="0" dirty="0">
                <a:solidFill>
                  <a:srgbClr val="F8F8F2"/>
                </a:solidFill>
                <a:effectLst/>
                <a:latin typeface="Consolas" panose="020B0609020204030204" pitchFamily="49" charset="0"/>
              </a:rPr>
              <a:t>:</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x.parent.right</a:t>
            </a:r>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y</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y.left</a:t>
            </a:r>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x</a:t>
            </a:r>
            <a:endParaRPr lang="en-US" altLang="zh-CN" sz="2400" b="0" dirty="0">
              <a:solidFill>
                <a:srgbClr val="F8F8F2"/>
              </a:solidFill>
              <a:effectLst/>
              <a:latin typeface="Consolas" panose="020B0609020204030204" pitchFamily="49" charset="0"/>
            </a:endParaRPr>
          </a:p>
          <a:p>
            <a:r>
              <a:rPr lang="en-US" altLang="zh-CN" sz="2400" b="0" dirty="0">
                <a:solidFill>
                  <a:srgbClr val="F8F8F2"/>
                </a:solidFill>
                <a:effectLst/>
                <a:latin typeface="Consolas" panose="020B0609020204030204" pitchFamily="49" charset="0"/>
              </a:rPr>
              <a:t>    </a:t>
            </a:r>
            <a:r>
              <a:rPr lang="en-US" altLang="zh-CN" sz="2400" b="0" dirty="0" err="1">
                <a:solidFill>
                  <a:srgbClr val="F8F8F2"/>
                </a:solidFill>
                <a:effectLst/>
                <a:latin typeface="Consolas" panose="020B0609020204030204" pitchFamily="49" charset="0"/>
              </a:rPr>
              <a:t>x.parent</a:t>
            </a:r>
            <a:r>
              <a:rPr lang="en-US" altLang="zh-CN" sz="2400" b="0" dirty="0">
                <a:solidFill>
                  <a:srgbClr val="F8F8F2"/>
                </a:solidFill>
                <a:effectLst/>
                <a:latin typeface="Consolas" panose="020B0609020204030204" pitchFamily="49" charset="0"/>
              </a:rPr>
              <a:t> </a:t>
            </a:r>
            <a:r>
              <a:rPr lang="en-US" altLang="zh-CN" sz="2400" b="0" dirty="0">
                <a:solidFill>
                  <a:srgbClr val="FF79C6"/>
                </a:solidFill>
                <a:effectLst/>
                <a:latin typeface="Consolas" panose="020B0609020204030204" pitchFamily="49" charset="0"/>
              </a:rPr>
              <a:t>=</a:t>
            </a:r>
            <a:r>
              <a:rPr lang="en-US" altLang="zh-CN" sz="2400" b="0" dirty="0">
                <a:solidFill>
                  <a:srgbClr val="F8F8F2"/>
                </a:solidFill>
                <a:effectLst/>
                <a:latin typeface="Consolas" panose="020B0609020204030204" pitchFamily="49" charset="0"/>
              </a:rPr>
              <a:t> y</a:t>
            </a:r>
            <a:endParaRPr lang="en-US" altLang="zh-CN" sz="2400" b="0" dirty="0">
              <a:solidFill>
                <a:srgbClr val="F8F8F2"/>
              </a:solidFill>
              <a:effectLst/>
              <a:latin typeface="Consolas" panose="020B0609020204030204" pitchFamily="49" charset="0"/>
            </a:endParaRPr>
          </a:p>
          <a:p>
            <a:br>
              <a:rPr lang="en-US" altLang="zh-CN" sz="2400" b="0" dirty="0">
                <a:solidFill>
                  <a:srgbClr val="F8F8F2"/>
                </a:solidFill>
                <a:effectLst/>
                <a:latin typeface="Consolas" panose="020B0609020204030204" pitchFamily="49" charset="0"/>
              </a:rPr>
            </a:br>
            <a:endParaRPr lang="en-US" altLang="zh-CN" sz="2400" b="0" dirty="0">
              <a:solidFill>
                <a:srgbClr val="F8F8F2"/>
              </a:solidFill>
              <a:effectLst/>
              <a:latin typeface="Consolas" panose="020B0609020204030204" pitchFamily="49"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sym typeface="+mn-ea"/>
              </a:rPr>
              <a:t>Pseudo code (</a:t>
            </a:r>
            <a:r>
              <a:rPr lang="en-US" altLang="en-US" b="1" dirty="0">
                <a:sym typeface="+mn-ea"/>
              </a:rPr>
              <a:t>double</a:t>
            </a:r>
            <a:r>
              <a:rPr lang="en-US" altLang="en-US" b="1" dirty="0">
                <a:sym typeface="+mn-ea"/>
              </a:rPr>
              <a:t> rotation)</a:t>
            </a:r>
            <a:endParaRPr lang="en-US" b="1" dirty="0"/>
          </a:p>
        </p:txBody>
      </p:sp>
      <p:sp>
        <p:nvSpPr>
          <p:cNvPr id="3" name="Content Placeholder 2"/>
          <p:cNvSpPr>
            <a:spLocks noGrp="1"/>
          </p:cNvSpPr>
          <p:nvPr>
            <p:ph idx="1"/>
          </p:nvPr>
        </p:nvSpPr>
        <p:spPr>
          <a:solidFill>
            <a:schemeClr val="tx2">
              <a:lumMod val="50000"/>
            </a:schemeClr>
          </a:solidFill>
        </p:spPr>
        <p:txBody>
          <a:bodyPr>
            <a:normAutofit/>
          </a:bodyPr>
          <a:lstStyle/>
          <a:p>
            <a:pPr marL="0" indent="0">
              <a:lnSpc>
                <a:spcPct val="110000"/>
              </a:lnSpc>
              <a:buNone/>
            </a:pPr>
            <a:r>
              <a:rPr lang="en-US" altLang="zh-CN" b="0" dirty="0">
                <a:solidFill>
                  <a:srgbClr val="F8F8F2"/>
                </a:solidFill>
                <a:effectLst/>
                <a:latin typeface="Consolas" panose="020B0609020204030204" pitchFamily="49" charset="0"/>
              </a:rPr>
              <a:t>Left</a:t>
            </a:r>
            <a:r>
              <a:rPr lang="en-US" altLang="zh-CN" b="0" dirty="0">
                <a:solidFill>
                  <a:srgbClr val="FF79C6"/>
                </a:solidFill>
                <a:effectLst/>
                <a:latin typeface="Consolas" panose="020B0609020204030204" pitchFamily="49" charset="0"/>
              </a:rPr>
              <a:t>-</a:t>
            </a:r>
            <a:r>
              <a:rPr lang="en-US" altLang="zh-CN" b="0" dirty="0">
                <a:solidFill>
                  <a:srgbClr val="F8F8F2"/>
                </a:solidFill>
                <a:effectLst/>
                <a:latin typeface="Consolas" panose="020B0609020204030204" pitchFamily="49" charset="0"/>
              </a:rPr>
              <a:t>Right</a:t>
            </a:r>
            <a:r>
              <a:rPr lang="en-US" altLang="zh-CN" b="0" dirty="0">
                <a:solidFill>
                  <a:srgbClr val="FF79C6"/>
                </a:solidFill>
                <a:effectLst/>
                <a:latin typeface="Consolas" panose="020B0609020204030204" pitchFamily="49" charset="0"/>
              </a:rPr>
              <a:t>-</a:t>
            </a:r>
            <a:r>
              <a:rPr lang="en-US" altLang="zh-CN" b="0" dirty="0">
                <a:solidFill>
                  <a:srgbClr val="F8F8F2"/>
                </a:solidFill>
                <a:effectLst/>
                <a:latin typeface="Consolas" panose="020B0609020204030204" pitchFamily="49" charset="0"/>
              </a:rPr>
              <a:t>Rotate(x):</a:t>
            </a:r>
            <a:endParaRPr lang="en-US" altLang="zh-CN" b="0" dirty="0">
              <a:solidFill>
                <a:srgbClr val="F8F8F2"/>
              </a:solidFill>
              <a:effectLst/>
              <a:latin typeface="Consolas" panose="020B0609020204030204" pitchFamily="49" charset="0"/>
            </a:endParaRPr>
          </a:p>
          <a:p>
            <a:pPr marL="0" indent="0">
              <a:lnSpc>
                <a:spcPct val="110000"/>
              </a:lnSpc>
              <a:buNone/>
            </a:pPr>
            <a:r>
              <a:rPr lang="en-US" altLang="zh-CN" b="0" dirty="0">
                <a:solidFill>
                  <a:srgbClr val="F8F8F2"/>
                </a:solidFill>
                <a:effectLst/>
                <a:latin typeface="Consolas" panose="020B0609020204030204" pitchFamily="49" charset="0"/>
              </a:rPr>
              <a:t>    Left</a:t>
            </a:r>
            <a:r>
              <a:rPr lang="en-US" altLang="zh-CN" b="0" dirty="0">
                <a:solidFill>
                  <a:srgbClr val="FF79C6"/>
                </a:solidFill>
                <a:effectLst/>
                <a:latin typeface="Consolas" panose="020B0609020204030204" pitchFamily="49" charset="0"/>
              </a:rPr>
              <a:t>-</a:t>
            </a:r>
            <a:r>
              <a:rPr lang="en-US" altLang="zh-CN" b="0" dirty="0">
                <a:solidFill>
                  <a:srgbClr val="F8F8F2"/>
                </a:solidFill>
                <a:effectLst/>
                <a:latin typeface="Consolas" panose="020B0609020204030204" pitchFamily="49" charset="0"/>
              </a:rPr>
              <a:t>Rotate(</a:t>
            </a:r>
            <a:r>
              <a:rPr lang="en-US" altLang="zh-CN" b="0" dirty="0" err="1">
                <a:solidFill>
                  <a:srgbClr val="F8F8F2"/>
                </a:solidFill>
                <a:effectLst/>
                <a:latin typeface="Consolas" panose="020B0609020204030204" pitchFamily="49" charset="0"/>
              </a:rPr>
              <a:t>x.left</a:t>
            </a:r>
            <a:r>
              <a:rPr lang="en-US" altLang="zh-CN" b="0" dirty="0">
                <a:solidFill>
                  <a:srgbClr val="F8F8F2"/>
                </a:solidFill>
                <a:effectLst/>
                <a:latin typeface="Consolas" panose="020B0609020204030204" pitchFamily="49" charset="0"/>
              </a:rPr>
              <a:t>)  </a:t>
            </a:r>
            <a:endParaRPr lang="en-US" altLang="zh-CN" b="0" dirty="0">
              <a:solidFill>
                <a:srgbClr val="F8F8F2"/>
              </a:solidFill>
              <a:effectLst/>
              <a:latin typeface="Consolas" panose="020B0609020204030204" pitchFamily="49" charset="0"/>
            </a:endParaRPr>
          </a:p>
          <a:p>
            <a:pPr marL="0" indent="0">
              <a:lnSpc>
                <a:spcPct val="110000"/>
              </a:lnSpc>
              <a:buNone/>
            </a:pPr>
            <a:r>
              <a:rPr lang="en-US" altLang="zh-CN" b="0" dirty="0">
                <a:solidFill>
                  <a:srgbClr val="F8F8F2"/>
                </a:solidFill>
                <a:effectLst/>
                <a:latin typeface="Consolas" panose="020B0609020204030204" pitchFamily="49" charset="0"/>
              </a:rPr>
              <a:t>    Right</a:t>
            </a:r>
            <a:r>
              <a:rPr lang="en-US" altLang="zh-CN" b="0" dirty="0">
                <a:solidFill>
                  <a:srgbClr val="FF79C6"/>
                </a:solidFill>
                <a:effectLst/>
                <a:latin typeface="Consolas" panose="020B0609020204030204" pitchFamily="49" charset="0"/>
              </a:rPr>
              <a:t>-</a:t>
            </a:r>
            <a:r>
              <a:rPr lang="en-US" altLang="zh-CN" b="0" dirty="0">
                <a:solidFill>
                  <a:srgbClr val="F8F8F2"/>
                </a:solidFill>
                <a:effectLst/>
                <a:latin typeface="Consolas" panose="020B0609020204030204" pitchFamily="49" charset="0"/>
              </a:rPr>
              <a:t>Rotate(x)      </a:t>
            </a:r>
            <a:endParaRPr lang="en-US" altLang="zh-CN" b="0" dirty="0">
              <a:solidFill>
                <a:srgbClr val="F8F8F2"/>
              </a:solidFill>
              <a:effectLst/>
              <a:latin typeface="Consolas" panose="020B0609020204030204" pitchFamily="49" charset="0"/>
            </a:endParaRPr>
          </a:p>
          <a:p>
            <a:pPr marL="0" indent="0">
              <a:lnSpc>
                <a:spcPct val="110000"/>
              </a:lnSpc>
              <a:buNone/>
            </a:pPr>
            <a:br>
              <a:rPr lang="en-US" altLang="zh-CN" b="0" dirty="0">
                <a:solidFill>
                  <a:srgbClr val="F8F8F2"/>
                </a:solidFill>
                <a:effectLst/>
                <a:latin typeface="Consolas" panose="020B0609020204030204" pitchFamily="49" charset="0"/>
              </a:rPr>
            </a:br>
            <a:r>
              <a:rPr lang="en-US" altLang="zh-CN" b="0" dirty="0">
                <a:solidFill>
                  <a:srgbClr val="F8F8F2"/>
                </a:solidFill>
                <a:effectLst/>
                <a:latin typeface="Consolas" panose="020B0609020204030204" pitchFamily="49" charset="0"/>
              </a:rPr>
              <a:t>Right</a:t>
            </a:r>
            <a:r>
              <a:rPr lang="en-US" altLang="zh-CN" b="0" dirty="0">
                <a:solidFill>
                  <a:srgbClr val="FF79C6"/>
                </a:solidFill>
                <a:effectLst/>
                <a:latin typeface="Consolas" panose="020B0609020204030204" pitchFamily="49" charset="0"/>
              </a:rPr>
              <a:t>-</a:t>
            </a:r>
            <a:r>
              <a:rPr lang="en-US" altLang="zh-CN" b="0" dirty="0">
                <a:solidFill>
                  <a:srgbClr val="F8F8F2"/>
                </a:solidFill>
                <a:effectLst/>
                <a:latin typeface="Consolas" panose="020B0609020204030204" pitchFamily="49" charset="0"/>
              </a:rPr>
              <a:t>Left</a:t>
            </a:r>
            <a:r>
              <a:rPr lang="en-US" altLang="zh-CN" b="0" dirty="0">
                <a:solidFill>
                  <a:srgbClr val="FF79C6"/>
                </a:solidFill>
                <a:effectLst/>
                <a:latin typeface="Consolas" panose="020B0609020204030204" pitchFamily="49" charset="0"/>
              </a:rPr>
              <a:t>-</a:t>
            </a:r>
            <a:r>
              <a:rPr lang="en-US" altLang="zh-CN" b="0" dirty="0">
                <a:solidFill>
                  <a:srgbClr val="F8F8F2"/>
                </a:solidFill>
                <a:effectLst/>
                <a:latin typeface="Consolas" panose="020B0609020204030204" pitchFamily="49" charset="0"/>
              </a:rPr>
              <a:t>Rotate(x):</a:t>
            </a:r>
            <a:endParaRPr lang="en-US" altLang="zh-CN" b="0" dirty="0">
              <a:solidFill>
                <a:srgbClr val="F8F8F2"/>
              </a:solidFill>
              <a:effectLst/>
              <a:latin typeface="Consolas" panose="020B0609020204030204" pitchFamily="49" charset="0"/>
            </a:endParaRPr>
          </a:p>
          <a:p>
            <a:pPr marL="0" indent="0">
              <a:lnSpc>
                <a:spcPct val="110000"/>
              </a:lnSpc>
              <a:buNone/>
            </a:pPr>
            <a:r>
              <a:rPr lang="en-US" altLang="zh-CN" b="0" dirty="0">
                <a:solidFill>
                  <a:srgbClr val="F8F8F2"/>
                </a:solidFill>
                <a:effectLst/>
                <a:latin typeface="Consolas" panose="020B0609020204030204" pitchFamily="49" charset="0"/>
              </a:rPr>
              <a:t>    Right</a:t>
            </a:r>
            <a:r>
              <a:rPr lang="en-US" altLang="zh-CN" b="0" dirty="0">
                <a:solidFill>
                  <a:srgbClr val="FF79C6"/>
                </a:solidFill>
                <a:effectLst/>
                <a:latin typeface="Consolas" panose="020B0609020204030204" pitchFamily="49" charset="0"/>
              </a:rPr>
              <a:t>-</a:t>
            </a:r>
            <a:r>
              <a:rPr lang="en-US" altLang="zh-CN" b="0" dirty="0">
                <a:solidFill>
                  <a:srgbClr val="F8F8F2"/>
                </a:solidFill>
                <a:effectLst/>
                <a:latin typeface="Consolas" panose="020B0609020204030204" pitchFamily="49" charset="0"/>
              </a:rPr>
              <a:t>Rotate(</a:t>
            </a:r>
            <a:r>
              <a:rPr lang="en-US" altLang="zh-CN" b="0" dirty="0" err="1">
                <a:solidFill>
                  <a:srgbClr val="F8F8F2"/>
                </a:solidFill>
                <a:effectLst/>
                <a:latin typeface="Consolas" panose="020B0609020204030204" pitchFamily="49" charset="0"/>
              </a:rPr>
              <a:t>x.right</a:t>
            </a:r>
            <a:r>
              <a:rPr lang="en-US" altLang="zh-CN" b="0" dirty="0">
                <a:solidFill>
                  <a:srgbClr val="F8F8F2"/>
                </a:solidFill>
                <a:effectLst/>
                <a:latin typeface="Consolas" panose="020B0609020204030204" pitchFamily="49" charset="0"/>
              </a:rPr>
              <a:t>)</a:t>
            </a:r>
            <a:endParaRPr lang="en-US" altLang="zh-CN" b="0" dirty="0">
              <a:solidFill>
                <a:srgbClr val="F8F8F2"/>
              </a:solidFill>
              <a:effectLst/>
              <a:latin typeface="Consolas" panose="020B0609020204030204" pitchFamily="49" charset="0"/>
            </a:endParaRPr>
          </a:p>
          <a:p>
            <a:pPr marL="0" indent="0">
              <a:lnSpc>
                <a:spcPct val="110000"/>
              </a:lnSpc>
              <a:buNone/>
            </a:pPr>
            <a:r>
              <a:rPr lang="en-US" altLang="zh-CN" b="0" dirty="0">
                <a:solidFill>
                  <a:srgbClr val="F8F8F2"/>
                </a:solidFill>
                <a:effectLst/>
                <a:latin typeface="Consolas" panose="020B0609020204030204" pitchFamily="49" charset="0"/>
              </a:rPr>
              <a:t>    Left</a:t>
            </a:r>
            <a:r>
              <a:rPr lang="en-US" altLang="zh-CN" b="0" dirty="0">
                <a:solidFill>
                  <a:srgbClr val="FF79C6"/>
                </a:solidFill>
                <a:effectLst/>
                <a:latin typeface="Consolas" panose="020B0609020204030204" pitchFamily="49" charset="0"/>
              </a:rPr>
              <a:t>-</a:t>
            </a:r>
            <a:r>
              <a:rPr lang="en-US" altLang="zh-CN" b="0" dirty="0">
                <a:solidFill>
                  <a:srgbClr val="F8F8F2"/>
                </a:solidFill>
                <a:effectLst/>
                <a:latin typeface="Consolas" panose="020B0609020204030204" pitchFamily="49" charset="0"/>
              </a:rPr>
              <a:t>Rotate(x)</a:t>
            </a:r>
            <a:endParaRPr lang="en-US" altLang="zh-CN" b="0" dirty="0">
              <a:solidFill>
                <a:srgbClr val="F8F8F2"/>
              </a:solidFill>
              <a:effectLst/>
              <a:latin typeface="Consolas" panose="020B0609020204030204" pitchFamily="49"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BIZ UDPMincho Medium" panose="02020500000000000000" pitchFamily="18" charset="-128"/>
                <a:ea typeface="BIZ UDPMincho Medium" panose="02020500000000000000" pitchFamily="18" charset="-128"/>
              </a:rPr>
              <a:t>Tree &amp; AVL Tree</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707390" y="1537970"/>
                <a:ext cx="6951980" cy="5320030"/>
              </a:xfrm>
            </p:spPr>
            <p:txBody>
              <a:bodyPr>
                <a:noAutofit/>
              </a:bodyPr>
              <a:lstStyle/>
              <a:p>
                <a:pPr>
                  <a:lnSpc>
                    <a:spcPct val="100000"/>
                  </a:lnSpc>
                </a:pPr>
                <a:r>
                  <a:rPr lang="en-US" altLang="zh-CN" sz="2400" b="1" dirty="0">
                    <a:effectLst/>
                    <a:latin typeface="Calibri" panose="020F0502020204030204" pitchFamily="34" charset="0"/>
                    <a:ea typeface="Calibri" panose="020F0502020204030204" pitchFamily="34" charset="0"/>
                    <a:cs typeface="Calibri" panose="020F0502020204030204" pitchFamily="34" charset="0"/>
                  </a:rPr>
                  <a:t>Sample question 1	</a:t>
                </a:r>
                <a:r>
                  <a:rPr lang="en-US" altLang="zh-CN" sz="2400" dirty="0">
                    <a:effectLst/>
                    <a:latin typeface="Calibri" panose="020F0502020204030204" pitchFamily="34" charset="0"/>
                    <a:ea typeface="Calibri" panose="020F0502020204030204" pitchFamily="34" charset="0"/>
                    <a:cs typeface="Calibri" panose="020F0502020204030204" pitchFamily="34" charset="0"/>
                  </a:rPr>
                  <a:t>Given the algorithm of </a:t>
                </a:r>
                <a:r>
                  <a:rPr lang="en-US" altLang="zh-CN" sz="2400" dirty="0">
                    <a:latin typeface="Calibri" panose="020F0502020204030204" pitchFamily="34" charset="0"/>
                    <a:ea typeface="Calibri" panose="020F0502020204030204" pitchFamily="34" charset="0"/>
                    <a:cs typeface="Calibri" panose="020F0502020204030204" pitchFamily="34" charset="0"/>
                  </a:rPr>
                  <a:t>heavy-light </a:t>
                </a:r>
                <a:r>
                  <a:rPr lang="en-US" altLang="zh-CN" sz="2400" dirty="0">
                    <a:effectLst/>
                    <a:latin typeface="Calibri" panose="020F0502020204030204" pitchFamily="34" charset="0"/>
                    <a:ea typeface="Calibri" panose="020F0502020204030204" pitchFamily="34" charset="0"/>
                    <a:cs typeface="Calibri" panose="020F0502020204030204" pitchFamily="34" charset="0"/>
                  </a:rPr>
                  <a:t>decomposition</a:t>
                </a:r>
                <a:r>
                  <a:rPr lang="en-US" altLang="zh-CN" sz="2400" dirty="0">
                    <a:latin typeface="Calibri" panose="020F0502020204030204" pitchFamily="34" charset="0"/>
                    <a:ea typeface="Calibri" panose="020F0502020204030204" pitchFamily="34" charset="0"/>
                    <a:cs typeface="Calibri" panose="020F0502020204030204" pitchFamily="34" charset="0"/>
                  </a:rPr>
                  <a:t>:</a:t>
                </a:r>
                <a:endParaRPr lang="en-US" altLang="zh-CN" sz="2400" dirty="0">
                  <a:latin typeface="Calibri" panose="020F0502020204030204" pitchFamily="34" charset="0"/>
                  <a:ea typeface="Calibri" panose="020F0502020204030204" pitchFamily="34" charset="0"/>
                  <a:cs typeface="Calibri" panose="020F0502020204030204" pitchFamily="34" charset="0"/>
                </a:endParaRPr>
              </a:p>
              <a:p>
                <a:pPr lvl="1">
                  <a:lnSpc>
                    <a:spcPct val="100000"/>
                  </a:lnSpc>
                </a:pPr>
                <a:r>
                  <a:rPr lang="en-US" altLang="zh-CN" sz="1800" dirty="0">
                    <a:latin typeface="Calibri" panose="020F0502020204030204" pitchFamily="34" charset="0"/>
                    <a:ea typeface="Calibri" panose="020F0502020204030204" pitchFamily="34" charset="0"/>
                    <a:cs typeface="Calibri" panose="020F0502020204030204" pitchFamily="34" charset="0"/>
                  </a:rPr>
                  <a:t>Define the </a:t>
                </a:r>
                <a:r>
                  <a:rPr lang="en-US" altLang="zh-CN" sz="1800" u="sng" dirty="0">
                    <a:latin typeface="Calibri" panose="020F0502020204030204" pitchFamily="34" charset="0"/>
                    <a:ea typeface="Calibri" panose="020F0502020204030204" pitchFamily="34" charset="0"/>
                    <a:cs typeface="Calibri" panose="020F0502020204030204" pitchFamily="34" charset="0"/>
                  </a:rPr>
                  <a:t>heavy child</a:t>
                </a:r>
                <a:r>
                  <a:rPr lang="en-US" altLang="zh-CN" sz="1800" dirty="0">
                    <a:latin typeface="Calibri" panose="020F0502020204030204" pitchFamily="34" charset="0"/>
                    <a:ea typeface="Calibri" panose="020F0502020204030204" pitchFamily="34" charset="0"/>
                    <a:cs typeface="Calibri" panose="020F0502020204030204" pitchFamily="34" charset="0"/>
                  </a:rPr>
                  <a:t> of each vertex as the child with the largest subtree size.</a:t>
                </a:r>
                <a:endParaRPr lang="en-US" altLang="zh-CN" sz="1800" dirty="0">
                  <a:latin typeface="Calibri" panose="020F0502020204030204" pitchFamily="34" charset="0"/>
                  <a:ea typeface="Calibri" panose="020F0502020204030204" pitchFamily="34" charset="0"/>
                  <a:cs typeface="Calibri" panose="020F0502020204030204" pitchFamily="34" charset="0"/>
                </a:endParaRPr>
              </a:p>
              <a:p>
                <a:pPr lvl="1">
                  <a:lnSpc>
                    <a:spcPct val="100000"/>
                  </a:lnSpc>
                </a:pPr>
                <a:r>
                  <a:rPr lang="en-US" altLang="zh-CN" sz="1800" dirty="0">
                    <a:latin typeface="Calibri" panose="020F0502020204030204" pitchFamily="34" charset="0"/>
                    <a:ea typeface="Calibri" panose="020F0502020204030204" pitchFamily="34" charset="0"/>
                    <a:cs typeface="Calibri" panose="020F0502020204030204" pitchFamily="34" charset="0"/>
                  </a:rPr>
                  <a:t>The tree is split into top-to-bottom chains with each vertex pointing to its heavy child.</a:t>
                </a:r>
                <a:endParaRPr lang="en-US" altLang="zh-CN" sz="2400" dirty="0">
                  <a:effectLst/>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US" altLang="zh-CN" sz="2400" dirty="0">
                    <a:latin typeface="Calibri" panose="020F0502020204030204" pitchFamily="34" charset="0"/>
                    <a:ea typeface="Calibri" panose="020F0502020204030204" pitchFamily="34" charset="0"/>
                    <a:cs typeface="Calibri" panose="020F0502020204030204" pitchFamily="34" charset="0"/>
                  </a:rPr>
                  <a:t>P</a:t>
                </a:r>
                <a:r>
                  <a:rPr lang="en-US" altLang="zh-CN" sz="2400" dirty="0">
                    <a:effectLst/>
                    <a:latin typeface="Calibri" panose="020F0502020204030204" pitchFamily="34" charset="0"/>
                    <a:ea typeface="Calibri" panose="020F0502020204030204" pitchFamily="34" charset="0"/>
                    <a:cs typeface="Calibri" panose="020F0502020204030204" pitchFamily="34" charset="0"/>
                  </a:rPr>
                  <a:t>rove any path on the tree will have at most </a:t>
                </a:r>
                <a14:m>
                  <m:oMath xmlns:m="http://schemas.openxmlformats.org/officeDocument/2006/math">
                    <m:r>
                      <m:rPr>
                        <m:sty m:val="p"/>
                      </m:rPr>
                      <a:rPr lang="en-US" altLang="zh-CN" sz="2400" b="0" i="0" dirty="0" smtClean="0">
                        <a:effectLst/>
                        <a:latin typeface="Cambria Math" panose="02040503050406030204" charset="0"/>
                        <a:ea typeface="BIZ UDPMincho Medium" panose="02020500000000000000" pitchFamily="18" charset="-128"/>
                      </a:rPr>
                      <m:t>O</m:t>
                    </m:r>
                    <m:r>
                      <a:rPr lang="en-US" altLang="zh-CN" sz="2400" b="0" i="0" dirty="0" smtClean="0">
                        <a:effectLst/>
                        <a:latin typeface="Cambria Math" panose="02040503050406030204" charset="0"/>
                        <a:ea typeface="BIZ UDPMincho Medium" panose="02020500000000000000" pitchFamily="18" charset="-128"/>
                      </a:rPr>
                      <m:t>(</m:t>
                    </m:r>
                    <m:r>
                      <m:rPr>
                        <m:sty m:val="p"/>
                      </m:rPr>
                      <a:rPr lang="en-US" altLang="zh-CN" sz="2400" b="0" i="0" dirty="0" smtClean="0">
                        <a:effectLst/>
                        <a:latin typeface="Cambria Math" panose="02040503050406030204" charset="0"/>
                        <a:ea typeface="BIZ UDPMincho Medium" panose="02020500000000000000" pitchFamily="18" charset="-128"/>
                      </a:rPr>
                      <m:t>log</m:t>
                    </m:r>
                    <m:d>
                      <m:dPr>
                        <m:ctrlPr>
                          <a:rPr lang="en-US" altLang="zh-CN" sz="2400" b="0" i="1" dirty="0" smtClean="0">
                            <a:effectLst/>
                            <a:latin typeface="Cambria Math" panose="02040503050406030204" charset="0"/>
                            <a:ea typeface="BIZ UDPMincho Medium" panose="02020500000000000000" pitchFamily="18" charset="-128"/>
                          </a:rPr>
                        </m:ctrlPr>
                      </m:dPr>
                      <m:e>
                        <m:r>
                          <m:rPr>
                            <m:sty m:val="p"/>
                          </m:rPr>
                          <a:rPr lang="en-US" altLang="zh-CN" sz="2400" b="0" i="0" dirty="0" smtClean="0">
                            <a:effectLst/>
                            <a:latin typeface="Cambria Math" panose="02040503050406030204" charset="0"/>
                            <a:ea typeface="BIZ UDPMincho Medium" panose="02020500000000000000" pitchFamily="18" charset="-128"/>
                          </a:rPr>
                          <m:t>n</m:t>
                        </m:r>
                      </m:e>
                    </m:d>
                    <m:r>
                      <a:rPr lang="en-US" altLang="zh-CN" sz="2400" b="0" i="0" dirty="0" smtClean="0">
                        <a:effectLst/>
                        <a:latin typeface="Cambria Math" panose="02040503050406030204" charset="0"/>
                        <a:ea typeface="BIZ UDPMincho Medium" panose="02020500000000000000" pitchFamily="18" charset="-128"/>
                      </a:rPr>
                      <m:t>)</m:t>
                    </m:r>
                  </m:oMath>
                </a14:m>
                <a:r>
                  <a:rPr lang="en-US" altLang="zh-CN" sz="2400" dirty="0">
                    <a:effectLst/>
                    <a:latin typeface="Calibri" panose="020F0502020204030204" pitchFamily="34" charset="0"/>
                    <a:ea typeface="Calibri" panose="020F0502020204030204" pitchFamily="34" charset="0"/>
                    <a:cs typeface="Calibri" panose="020F0502020204030204" pitchFamily="34" charset="0"/>
                  </a:rPr>
                  <a:t> heavy chains.</a:t>
                </a:r>
                <a:endParaRPr lang="en-US" altLang="zh-CN" sz="2400" dirty="0">
                  <a:effectLst/>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US" altLang="zh-CN" sz="2400" dirty="0">
                    <a:latin typeface="Calibri" panose="020F0502020204030204" pitchFamily="34" charset="0"/>
                    <a:ea typeface="Calibri" panose="020F0502020204030204" pitchFamily="34" charset="0"/>
                    <a:cs typeface="Calibri" panose="020F0502020204030204" pitchFamily="34" charset="0"/>
                  </a:rPr>
                  <a:t>G</a:t>
                </a:r>
                <a:r>
                  <a:rPr lang="en-US" altLang="zh-CN" sz="2400" dirty="0">
                    <a:effectLst/>
                    <a:latin typeface="Calibri" panose="020F0502020204030204" pitchFamily="34" charset="0"/>
                    <a:ea typeface="Calibri" panose="020F0502020204030204" pitchFamily="34" charset="0"/>
                    <a:cs typeface="Calibri" panose="020F0502020204030204" pitchFamily="34" charset="0"/>
                  </a:rPr>
                  <a:t>iven the following arrays, design an algorithm to locate all heavy chains between any 2 vertices in </a:t>
                </a:r>
                <a14:m>
                  <m:oMath xmlns:m="http://schemas.openxmlformats.org/officeDocument/2006/math">
                    <m:r>
                      <m:rPr>
                        <m:sty m:val="p"/>
                      </m:rPr>
                      <a:rPr lang="en-US" altLang="zh-CN" sz="2400" b="0" i="0" dirty="0" smtClean="0">
                        <a:effectLst/>
                        <a:latin typeface="Cambria Math" panose="02040503050406030204" charset="0"/>
                        <a:ea typeface="BIZ UDPMincho Medium" panose="02020500000000000000" pitchFamily="18" charset="-128"/>
                      </a:rPr>
                      <m:t>O</m:t>
                    </m:r>
                    <m:r>
                      <a:rPr lang="en-US" altLang="zh-CN" sz="2400" b="0" i="0" dirty="0" smtClean="0">
                        <a:effectLst/>
                        <a:latin typeface="Cambria Math" panose="02040503050406030204" charset="0"/>
                        <a:ea typeface="BIZ UDPMincho Medium" panose="02020500000000000000" pitchFamily="18" charset="-128"/>
                      </a:rPr>
                      <m:t>(</m:t>
                    </m:r>
                    <m:r>
                      <m:rPr>
                        <m:sty m:val="p"/>
                      </m:rPr>
                      <a:rPr lang="en-US" altLang="zh-CN" sz="2400" b="0" i="0" dirty="0" smtClean="0">
                        <a:effectLst/>
                        <a:latin typeface="Cambria Math" panose="02040503050406030204" charset="0"/>
                        <a:ea typeface="BIZ UDPMincho Medium" panose="02020500000000000000" pitchFamily="18" charset="-128"/>
                      </a:rPr>
                      <m:t>log</m:t>
                    </m:r>
                    <m:d>
                      <m:dPr>
                        <m:ctrlPr>
                          <a:rPr lang="en-US" altLang="zh-CN" sz="2400" b="0" i="1" dirty="0" smtClean="0">
                            <a:effectLst/>
                            <a:latin typeface="Cambria Math" panose="02040503050406030204" charset="0"/>
                            <a:ea typeface="BIZ UDPMincho Medium" panose="02020500000000000000" pitchFamily="18" charset="-128"/>
                          </a:rPr>
                        </m:ctrlPr>
                      </m:dPr>
                      <m:e>
                        <m:r>
                          <m:rPr>
                            <m:sty m:val="p"/>
                          </m:rPr>
                          <a:rPr lang="en-US" altLang="zh-CN" sz="2400" b="0" i="0" dirty="0" smtClean="0">
                            <a:effectLst/>
                            <a:latin typeface="Cambria Math" panose="02040503050406030204" charset="0"/>
                            <a:ea typeface="BIZ UDPMincho Medium" panose="02020500000000000000" pitchFamily="18" charset="-128"/>
                          </a:rPr>
                          <m:t>n</m:t>
                        </m:r>
                      </m:e>
                    </m:d>
                    <m:r>
                      <a:rPr lang="en-US" altLang="zh-CN" sz="2400" b="0" i="0" dirty="0" smtClean="0">
                        <a:effectLst/>
                        <a:latin typeface="Cambria Math" panose="02040503050406030204" charset="0"/>
                        <a:ea typeface="BIZ UDPMincho Medium" panose="02020500000000000000" pitchFamily="18" charset="-128"/>
                      </a:rPr>
                      <m:t>)</m:t>
                    </m:r>
                  </m:oMath>
                </a14:m>
                <a:r>
                  <a:rPr lang="en-US" altLang="zh-CN" sz="2400" dirty="0">
                    <a:effectLst/>
                    <a:latin typeface="Calibri" panose="020F0502020204030204" pitchFamily="34" charset="0"/>
                    <a:ea typeface="Calibri" panose="020F0502020204030204" pitchFamily="34" charset="0"/>
                    <a:cs typeface="Calibri" panose="020F0502020204030204" pitchFamily="34" charset="0"/>
                  </a:rPr>
                  <a:t> time.</a:t>
                </a:r>
                <a:endParaRPr lang="en-US" altLang="zh-CN" sz="2400" dirty="0">
                  <a:effectLst/>
                  <a:latin typeface="Calibri" panose="020F0502020204030204" pitchFamily="34" charset="0"/>
                  <a:ea typeface="Calibri" panose="020F0502020204030204" pitchFamily="34" charset="0"/>
                  <a:cs typeface="Calibri" panose="020F0502020204030204" pitchFamily="34" charset="0"/>
                </a:endParaRPr>
              </a:p>
              <a:p>
                <a:pPr lvl="1">
                  <a:lnSpc>
                    <a:spcPct val="100000"/>
                  </a:lnSpc>
                </a:pPr>
                <a:r>
                  <a:rPr lang="en-US" altLang="zh-CN" sz="1800" dirty="0">
                    <a:effectLst/>
                    <a:latin typeface="Consolas" panose="020B0609020204030204" pitchFamily="49" charset="0"/>
                    <a:ea typeface="Calibri" panose="020F0502020204030204" pitchFamily="34" charset="0"/>
                    <a:cs typeface="Consolas" panose="020B0609020204030204" pitchFamily="49" charset="0"/>
                  </a:rPr>
                  <a:t>top[u]: </a:t>
                </a:r>
                <a:r>
                  <a:rPr lang="en-US" altLang="zh-CN" sz="1800" dirty="0">
                    <a:effectLst/>
                    <a:latin typeface="Calibri" panose="020F0502020204030204" pitchFamily="34" charset="0"/>
                    <a:ea typeface="Calibri" panose="020F0502020204030204" pitchFamily="34" charset="0"/>
                    <a:cs typeface="Calibri" panose="020F0502020204030204" pitchFamily="34" charset="0"/>
                  </a:rPr>
                  <a:t>the top vertex of the chain of </a:t>
                </a:r>
                <a:r>
                  <a:rPr lang="en-US" altLang="zh-CN" sz="1800" dirty="0">
                    <a:latin typeface="Calibri" panose="020F0502020204030204" pitchFamily="34" charset="0"/>
                    <a:ea typeface="Calibri" panose="020F0502020204030204" pitchFamily="34" charset="0"/>
                    <a:cs typeface="Calibri" panose="020F0502020204030204" pitchFamily="34" charset="0"/>
                  </a:rPr>
                  <a:t>vertex </a:t>
                </a:r>
                <a:r>
                  <a:rPr lang="en-US" altLang="zh-CN" sz="1800" dirty="0">
                    <a:effectLst/>
                    <a:latin typeface="Calibri" panose="020F0502020204030204" pitchFamily="34" charset="0"/>
                    <a:ea typeface="Calibri" panose="020F0502020204030204" pitchFamily="34" charset="0"/>
                    <a:cs typeface="Calibri" panose="020F0502020204030204" pitchFamily="34" charset="0"/>
                  </a:rPr>
                  <a:t>u</a:t>
                </a:r>
                <a:endParaRPr lang="en-US" altLang="zh-CN" sz="1800" dirty="0">
                  <a:effectLst/>
                  <a:latin typeface="Calibri" panose="020F0502020204030204" pitchFamily="34" charset="0"/>
                  <a:ea typeface="Calibri" panose="020F0502020204030204" pitchFamily="34" charset="0"/>
                  <a:cs typeface="Calibri" panose="020F0502020204030204" pitchFamily="34" charset="0"/>
                </a:endParaRPr>
              </a:p>
              <a:p>
                <a:pPr lvl="1">
                  <a:lnSpc>
                    <a:spcPct val="100000"/>
                  </a:lnSpc>
                </a:pPr>
                <a:r>
                  <a:rPr lang="en-US" altLang="zh-CN" sz="1800" dirty="0">
                    <a:effectLst/>
                    <a:latin typeface="Consolas" panose="020B0609020204030204" pitchFamily="49" charset="0"/>
                    <a:ea typeface="Calibri" panose="020F0502020204030204" pitchFamily="34" charset="0"/>
                    <a:cs typeface="Consolas" panose="020B0609020204030204" pitchFamily="49" charset="0"/>
                  </a:rPr>
                  <a:t>par[u]: </a:t>
                </a:r>
                <a:r>
                  <a:rPr lang="en-US" altLang="zh-CN" sz="1800" dirty="0">
                    <a:effectLst/>
                    <a:latin typeface="Calibri" panose="020F0502020204030204" pitchFamily="34" charset="0"/>
                    <a:ea typeface="Calibri" panose="020F0502020204030204" pitchFamily="34" charset="0"/>
                    <a:cs typeface="Calibri" panose="020F0502020204030204" pitchFamily="34" charset="0"/>
                  </a:rPr>
                  <a:t>u’s parent on the tree</a:t>
                </a:r>
                <a:endParaRPr lang="en-US" altLang="zh-CN" sz="1800" dirty="0">
                  <a:effectLst/>
                  <a:latin typeface="Calibri" panose="020F0502020204030204" pitchFamily="34" charset="0"/>
                  <a:ea typeface="Calibri" panose="020F0502020204030204" pitchFamily="34" charset="0"/>
                  <a:cs typeface="Calibri" panose="020F0502020204030204" pitchFamily="34" charset="0"/>
                </a:endParaRPr>
              </a:p>
              <a:p>
                <a:pPr lvl="1">
                  <a:lnSpc>
                    <a:spcPct val="100000"/>
                  </a:lnSpc>
                </a:pPr>
                <a:r>
                  <a:rPr lang="en-US" altLang="zh-CN" sz="1800" dirty="0">
                    <a:latin typeface="Consolas" panose="020B0609020204030204" pitchFamily="49" charset="0"/>
                    <a:ea typeface="Calibri" panose="020F0502020204030204" pitchFamily="34" charset="0"/>
                    <a:cs typeface="Consolas" panose="020B0609020204030204" pitchFamily="49" charset="0"/>
                  </a:rPr>
                  <a:t>d</a:t>
                </a:r>
                <a:r>
                  <a:rPr lang="en-US" altLang="zh-CN" sz="1800" dirty="0">
                    <a:effectLst/>
                    <a:latin typeface="Consolas" panose="020B0609020204030204" pitchFamily="49" charset="0"/>
                    <a:ea typeface="Calibri" panose="020F0502020204030204" pitchFamily="34" charset="0"/>
                    <a:cs typeface="Consolas" panose="020B0609020204030204" pitchFamily="49" charset="0"/>
                  </a:rPr>
                  <a:t>ep[u]: </a:t>
                </a:r>
                <a:r>
                  <a:rPr lang="en-US" altLang="zh-CN" sz="1800" dirty="0">
                    <a:effectLst/>
                    <a:latin typeface="Calibri" panose="020F0502020204030204" pitchFamily="34" charset="0"/>
                    <a:ea typeface="Calibri" panose="020F0502020204030204" pitchFamily="34" charset="0"/>
                    <a:cs typeface="Calibri" panose="020F0502020204030204" pitchFamily="34" charset="0"/>
                  </a:rPr>
                  <a:t>u’s depth on th</a:t>
                </a:r>
                <a:r>
                  <a:rPr lang="en-US" altLang="zh-CN" sz="1800" dirty="0">
                    <a:latin typeface="Calibri" panose="020F0502020204030204" pitchFamily="34" charset="0"/>
                    <a:ea typeface="Calibri" panose="020F0502020204030204" pitchFamily="34" charset="0"/>
                    <a:cs typeface="Calibri" panose="020F0502020204030204" pitchFamily="34" charset="0"/>
                  </a:rPr>
                  <a:t>e tree</a:t>
                </a:r>
                <a:endParaRPr lang="en-US" altLang="zh-CN" sz="1800" dirty="0">
                  <a:effectLst/>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707390" y="1537970"/>
                <a:ext cx="6951980" cy="5320030"/>
              </a:xfrm>
              <a:blipFill rotWithShape="1">
                <a:blip r:embed="rId1"/>
                <a:stretch>
                  <a:fillRect/>
                </a:stretch>
              </a:blipFill>
            </p:spPr>
            <p:txBody>
              <a:bodyPr/>
              <a:lstStyle/>
              <a:p>
                <a:r>
                  <a:rPr lang="en-US" altLang="en-US">
                    <a:noFill/>
                  </a:rPr>
                  <a:t> </a:t>
                </a:r>
              </a:p>
            </p:txBody>
          </p:sp>
        </mc:Fallback>
      </mc:AlternateContent>
      <p:pic>
        <p:nvPicPr>
          <p:cNvPr id="4" name="Picture 3" descr="hld321"/>
          <p:cNvPicPr>
            <a:picLocks noChangeAspect="1"/>
          </p:cNvPicPr>
          <p:nvPr/>
        </p:nvPicPr>
        <p:blipFill>
          <a:blip r:embed="rId2"/>
          <a:stretch>
            <a:fillRect/>
          </a:stretch>
        </p:blipFill>
        <p:spPr>
          <a:xfrm>
            <a:off x="7659370" y="1691005"/>
            <a:ext cx="4363720" cy="437642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zh-CN" b="1" dirty="0">
                <a:latin typeface="BIZ UDPMincho Medium" panose="02020500000000000000" pitchFamily="18" charset="-128"/>
                <a:ea typeface="BIZ UDPMincho Medium" panose="02020500000000000000" pitchFamily="18" charset="-128"/>
                <a:sym typeface="+mn-ea"/>
              </a:rPr>
              <a:t>Tree &amp; AVL Tree</a:t>
            </a:r>
            <a:endParaRPr lang="en-US"/>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a:xfrm>
                <a:off x="838200" y="1885315"/>
                <a:ext cx="10515600" cy="4351338"/>
              </a:xfrm>
            </p:spPr>
            <p:txBody>
              <a:bodyPr>
                <a:normAutofit fontScale="90000" lnSpcReduction="10000"/>
              </a:bodyPr>
              <a:lstStyle/>
              <a:p>
                <a:pPr lvl="0">
                  <a:lnSpc>
                    <a:spcPct val="110000"/>
                  </a:lnSpc>
                </a:pPr>
                <a:r>
                  <a:rPr lang="en-US" altLang="en-US"/>
                  <a:t>Any path from one vertex to the root will have at most </a:t>
                </a:r>
                <a14:m>
                  <m:oMath xmlns:m="http://schemas.openxmlformats.org/officeDocument/2006/math">
                    <m:func>
                      <m:funcPr>
                        <m:ctrlPr>
                          <a:rPr lang="en-US" altLang="en-US" i="1">
                            <a:latin typeface="Cambria Math" panose="02040503050406030204" charset="0"/>
                            <a:cs typeface="Cambria Math" panose="02040503050406030204" charset="0"/>
                          </a:rPr>
                        </m:ctrlPr>
                      </m:funcPr>
                      <m:fName>
                        <m:r>
                          <m:rPr>
                            <m:sty m:val="p"/>
                          </m:rPr>
                          <a:rPr lang="en-US" altLang="en-US">
                            <a:latin typeface="Cambria Math" panose="02040503050406030204" charset="0"/>
                            <a:cs typeface="Cambria Math" panose="02040503050406030204" charset="0"/>
                          </a:rPr>
                          <m:t>log</m:t>
                        </m:r>
                      </m:fName>
                      <m:e>
                        <m:r>
                          <a:rPr lang="en-US" altLang="en-US" i="1">
                            <a:latin typeface="Cambria Math" panose="02040503050406030204" charset="0"/>
                            <a:cs typeface="Cambria Math" panose="02040503050406030204" charset="0"/>
                          </a:rPr>
                          <m:t>𝑛</m:t>
                        </m:r>
                      </m:e>
                    </m:func>
                  </m:oMath>
                </a14:m>
                <a:r>
                  <a:rPr lang="en-US" altLang="en-US"/>
                  <a:t> heavy chains.</a:t>
                </a:r>
                <a:endParaRPr lang="en-US" altLang="en-US"/>
              </a:p>
              <a:p>
                <a:pPr lvl="1">
                  <a:lnSpc>
                    <a:spcPct val="110000"/>
                  </a:lnSpc>
                </a:pPr>
                <a:r>
                  <a:rPr lang="en-US" altLang="en-US"/>
                  <a:t>Define </a:t>
                </a:r>
                <a:r>
                  <a:rPr lang="en-US" altLang="en-US">
                    <a:latin typeface="Consolas" panose="020B0609020204030204" pitchFamily="49" charset="0"/>
                    <a:cs typeface="Consolas" panose="020B0609020204030204" pitchFamily="49" charset="0"/>
                  </a:rPr>
                  <a:t>size[u]</a:t>
                </a:r>
                <a:r>
                  <a:rPr lang="en-US" altLang="en-US"/>
                  <a:t> as the size of subtree rooted at </a:t>
                </a:r>
                <a14:m>
                  <m:oMath xmlns:m="http://schemas.openxmlformats.org/officeDocument/2006/math">
                    <m:r>
                      <a:rPr lang="en-US" altLang="en-US" i="1">
                        <a:latin typeface="Cambria Math" panose="02040503050406030204" charset="0"/>
                        <a:cs typeface="Cambria Math" panose="02040503050406030204" charset="0"/>
                      </a:rPr>
                      <m:t>𝑢</m:t>
                    </m:r>
                  </m:oMath>
                </a14:m>
                <a:endParaRPr lang="en-US" altLang="en-US"/>
              </a:p>
              <a:p>
                <a:pPr lvl="1">
                  <a:lnSpc>
                    <a:spcPct val="110000"/>
                  </a:lnSpc>
                </a:pPr>
                <a:r>
                  <a:rPr lang="en-US" altLang="en-US" sz="2400"/>
                  <a:t>Consider any vertex </a:t>
                </a:r>
                <a14:m>
                  <m:oMath xmlns:m="http://schemas.openxmlformats.org/officeDocument/2006/math">
                    <m:r>
                      <a:rPr lang="en-US" altLang="en-US" sz="2400" i="1">
                        <a:latin typeface="Cambria Math" panose="02040503050406030204" charset="0"/>
                        <a:cs typeface="Cambria Math" panose="02040503050406030204" charset="0"/>
                      </a:rPr>
                      <m:t>𝑢</m:t>
                    </m:r>
                  </m:oMath>
                </a14:m>
                <a:r>
                  <a:rPr lang="en-US" altLang="en-US"/>
                  <a:t> on the path that is the head of some heavy chains.</a:t>
                </a:r>
                <a:endParaRPr lang="en-US" altLang="en-US"/>
              </a:p>
              <a:p>
                <a:pPr lvl="1">
                  <a:lnSpc>
                    <a:spcPct val="110000"/>
                  </a:lnSpc>
                </a:pPr>
                <a:r>
                  <a:rPr lang="en-US" altLang="en-US"/>
                  <a:t>The heavy child of </a:t>
                </a:r>
                <a:r>
                  <a:rPr lang="en-US" altLang="en-US">
                    <a:latin typeface="Consolas" panose="020B0609020204030204" pitchFamily="49" charset="0"/>
                    <a:cs typeface="Consolas" panose="020B0609020204030204" pitchFamily="49" charset="0"/>
                  </a:rPr>
                  <a:t>par[u] = </a:t>
                </a:r>
                <a:r>
                  <a:rPr lang="en-US" altLang="en-US">
                    <a:latin typeface="Consolas" panose="020B0609020204030204" pitchFamily="49" charset="0"/>
                    <a:cs typeface="Consolas" panose="020B0609020204030204" pitchFamily="49" charset="0"/>
                  </a:rPr>
                  <a:t>v ≠ u, size[v] </a:t>
                </a:r>
                <a:r>
                  <a:rPr lang="en-US" altLang="zh-CN">
                    <a:latin typeface="Consolas" panose="020B0609020204030204" pitchFamily="49" charset="0"/>
                    <a:cs typeface="Consolas" panose="020B0609020204030204" pitchFamily="49" charset="0"/>
                    <a:sym typeface="+mn-ea"/>
                  </a:rPr>
                  <a:t>≥</a:t>
                </a:r>
                <a:r>
                  <a:rPr lang="en-US" altLang="en-US">
                    <a:latin typeface="Consolas" panose="020B0609020204030204" pitchFamily="49" charset="0"/>
                    <a:cs typeface="Consolas" panose="020B0609020204030204" pitchFamily="49" charset="0"/>
                    <a:sym typeface="+mn-ea"/>
                  </a:rPr>
                  <a:t> </a:t>
                </a:r>
                <a:r>
                  <a:rPr lang="en-US" altLang="en-US">
                    <a:latin typeface="Consolas" panose="020B0609020204030204" pitchFamily="49" charset="0"/>
                    <a:cs typeface="Consolas" panose="020B0609020204030204" pitchFamily="49" charset="0"/>
                  </a:rPr>
                  <a:t>size[u]</a:t>
                </a:r>
                <a:endParaRPr lang="en-US" altLang="en-US"/>
              </a:p>
              <a:p>
                <a:pPr lvl="1">
                  <a:lnSpc>
                    <a:spcPct val="110000"/>
                  </a:lnSpc>
                </a:pPr>
                <a:r>
                  <a:rPr lang="en-US" altLang="en-US">
                    <a:latin typeface="Consolas" panose="020B0609020204030204" pitchFamily="49" charset="0"/>
                    <a:cs typeface="Consolas" panose="020B0609020204030204" pitchFamily="49" charset="0"/>
                  </a:rPr>
                  <a:t>size[par[u]] </a:t>
                </a:r>
                <a:r>
                  <a:rPr lang="en-US" altLang="zh-CN">
                    <a:latin typeface="Consolas" panose="020B0609020204030204" pitchFamily="49" charset="0"/>
                    <a:cs typeface="Consolas" panose="020B0609020204030204" pitchFamily="49" charset="0"/>
                  </a:rPr>
                  <a:t>≥</a:t>
                </a:r>
                <a:r>
                  <a:rPr lang="en-US" altLang="en-US">
                    <a:latin typeface="Consolas" panose="020B0609020204030204" pitchFamily="49" charset="0"/>
                    <a:cs typeface="Consolas" panose="020B0609020204030204" pitchFamily="49" charset="0"/>
                  </a:rPr>
                  <a:t> size[u] + size[v] </a:t>
                </a:r>
                <a:r>
                  <a:rPr lang="en-US" altLang="zh-CN">
                    <a:latin typeface="Consolas" panose="020B0609020204030204" pitchFamily="49" charset="0"/>
                    <a:cs typeface="Consolas" panose="020B0609020204030204" pitchFamily="49" charset="0"/>
                    <a:sym typeface="+mn-ea"/>
                  </a:rPr>
                  <a:t>≥</a:t>
                </a:r>
                <a:r>
                  <a:rPr lang="en-US" altLang="en-US">
                    <a:latin typeface="Consolas" panose="020B0609020204030204" pitchFamily="49" charset="0"/>
                    <a:cs typeface="Consolas" panose="020B0609020204030204" pitchFamily="49" charset="0"/>
                  </a:rPr>
                  <a:t> 2size[u]</a:t>
                </a:r>
                <a:endParaRPr lang="en-US" altLang="en-US">
                  <a:latin typeface="Consolas" panose="020B0609020204030204" pitchFamily="49" charset="0"/>
                  <a:cs typeface="Consolas" panose="020B0609020204030204" pitchFamily="49" charset="0"/>
                </a:endParaRPr>
              </a:p>
              <a:p>
                <a:pPr lvl="1">
                  <a:lnSpc>
                    <a:spcPct val="110000"/>
                  </a:lnSpc>
                </a:pPr>
                <a:r>
                  <a:rPr lang="en-US" altLang="en-US"/>
                  <a:t>List all </a:t>
                </a:r>
                <a14:m>
                  <m:oMath xmlns:m="http://schemas.openxmlformats.org/officeDocument/2006/math">
                    <m:sSub>
                      <m:sSubPr>
                        <m:ctrlPr>
                          <a:rPr lang="en-US" altLang="en-US" i="1">
                            <a:latin typeface="Cambria Math" panose="02040503050406030204" charset="0"/>
                            <a:cs typeface="Cambria Math" panose="02040503050406030204" charset="0"/>
                          </a:rPr>
                        </m:ctrlPr>
                      </m:sSubPr>
                      <m:e>
                        <m:r>
                          <a:rPr lang="en-US" altLang="en-US" i="1">
                            <a:latin typeface="Cambria Math" panose="02040503050406030204" charset="0"/>
                            <a:cs typeface="Cambria Math" panose="02040503050406030204" charset="0"/>
                          </a:rPr>
                          <m:t>𝑢</m:t>
                        </m:r>
                      </m:e>
                      <m:sub>
                        <m:r>
                          <a:rPr lang="en-US" altLang="en-US" i="1">
                            <a:latin typeface="Cambria Math" panose="02040503050406030204" charset="0"/>
                            <a:cs typeface="Cambria Math" panose="02040503050406030204" charset="0"/>
                          </a:rPr>
                          <m:t>𝑖</m:t>
                        </m:r>
                      </m:sub>
                    </m:sSub>
                  </m:oMath>
                </a14:m>
                <a:r>
                  <a:rPr lang="en-US" altLang="en-US"/>
                  <a:t> from bottom to top:</a:t>
                </a:r>
                <a:endParaRPr lang="en-US" altLang="en-US"/>
              </a:p>
              <a:p>
                <a:pPr lvl="2">
                  <a:lnSpc>
                    <a:spcPct val="110000"/>
                  </a:lnSpc>
                </a:pPr>
                <a14:m>
                  <m:oMath xmlns:m="http://schemas.openxmlformats.org/officeDocument/2006/math">
                    <m:sSub>
                      <m:sSubPr>
                        <m:ctrlPr>
                          <a:rPr lang="en-US" altLang="en-US" i="1">
                            <a:latin typeface="Cambria Math" panose="02040503050406030204" charset="0"/>
                            <a:cs typeface="Cambria Math" panose="02040503050406030204" charset="0"/>
                          </a:rPr>
                        </m:ctrlPr>
                      </m:sSubPr>
                      <m:e>
                        <m:r>
                          <a:rPr lang="en-US" altLang="en-US" i="1">
                            <a:latin typeface="Cambria Math" panose="02040503050406030204" charset="0"/>
                            <a:cs typeface="Cambria Math" panose="02040503050406030204" charset="0"/>
                          </a:rPr>
                          <m:t>𝑢</m:t>
                        </m:r>
                      </m:e>
                      <m:sub>
                        <m:r>
                          <a:rPr lang="en-US" altLang="en-US" i="1">
                            <a:latin typeface="Cambria Math" panose="02040503050406030204" charset="0"/>
                            <a:cs typeface="Cambria Math" panose="02040503050406030204" charset="0"/>
                          </a:rPr>
                          <m:t>1</m:t>
                        </m:r>
                      </m:sub>
                    </m:sSub>
                    <m:r>
                      <a:rPr lang="en-US" altLang="en-US" i="1">
                        <a:latin typeface="Cambria Math" panose="02040503050406030204" charset="0"/>
                        <a:cs typeface="Cambria Math" panose="02040503050406030204" charset="0"/>
                      </a:rPr>
                      <m:t>, </m:t>
                    </m:r>
                    <m:sSub>
                      <m:sSubPr>
                        <m:ctrlPr>
                          <a:rPr lang="en-US" altLang="en-US" i="1">
                            <a:latin typeface="Cambria Math" panose="02040503050406030204" charset="0"/>
                            <a:cs typeface="Cambria Math" panose="02040503050406030204" charset="0"/>
                          </a:rPr>
                        </m:ctrlPr>
                      </m:sSubPr>
                      <m:e>
                        <m:r>
                          <a:rPr lang="en-US" altLang="en-US" i="1">
                            <a:latin typeface="Cambria Math" panose="02040503050406030204" charset="0"/>
                            <a:cs typeface="Cambria Math" panose="02040503050406030204" charset="0"/>
                          </a:rPr>
                          <m:t>𝑢</m:t>
                        </m:r>
                      </m:e>
                      <m:sub>
                        <m:r>
                          <a:rPr lang="en-US" altLang="en-US" i="1">
                            <a:latin typeface="Cambria Math" panose="02040503050406030204" charset="0"/>
                            <a:cs typeface="Cambria Math" panose="02040503050406030204" charset="0"/>
                          </a:rPr>
                          <m:t>2</m:t>
                        </m:r>
                      </m:sub>
                    </m:sSub>
                    <m:r>
                      <a:rPr lang="en-US" altLang="en-US" i="1">
                        <a:latin typeface="Cambria Math" panose="02040503050406030204" charset="0"/>
                        <a:cs typeface="Cambria Math" panose="02040503050406030204" charset="0"/>
                      </a:rPr>
                      <m:t>, ⋯, </m:t>
                    </m:r>
                    <m:sSub>
                      <m:sSubPr>
                        <m:ctrlPr>
                          <a:rPr lang="en-US" altLang="en-US" i="1">
                            <a:latin typeface="Cambria Math" panose="02040503050406030204" charset="0"/>
                            <a:cs typeface="Cambria Math" panose="02040503050406030204" charset="0"/>
                          </a:rPr>
                        </m:ctrlPr>
                      </m:sSubPr>
                      <m:e>
                        <m:r>
                          <a:rPr lang="en-US" altLang="en-US" i="1">
                            <a:latin typeface="Cambria Math" panose="02040503050406030204" charset="0"/>
                            <a:cs typeface="Cambria Math" panose="02040503050406030204" charset="0"/>
                          </a:rPr>
                          <m:t>𝑢</m:t>
                        </m:r>
                      </m:e>
                      <m:sub>
                        <m:r>
                          <a:rPr lang="en-US" altLang="en-US" i="1">
                            <a:latin typeface="Cambria Math" panose="02040503050406030204" charset="0"/>
                            <a:cs typeface="Cambria Math" panose="02040503050406030204" charset="0"/>
                          </a:rPr>
                          <m:t>𝑘</m:t>
                        </m:r>
                      </m:sub>
                    </m:sSub>
                  </m:oMath>
                </a14:m>
                <a:r>
                  <a:rPr lang="en-US" altLang="en-US"/>
                  <a:t>, </a:t>
                </a:r>
                <a14:m>
                  <m:oMath xmlns:m="http://schemas.openxmlformats.org/officeDocument/2006/math">
                    <m:r>
                      <a:rPr lang="en-US" altLang="en-US" i="1">
                        <a:latin typeface="Cambria Math" panose="02040503050406030204" charset="0"/>
                        <a:cs typeface="Cambria Math" panose="02040503050406030204" charset="0"/>
                      </a:rPr>
                      <m:t>𝑘</m:t>
                    </m:r>
                  </m:oMath>
                </a14:m>
                <a:r>
                  <a:rPr lang="en-US" altLang="en-US"/>
                  <a:t> </a:t>
                </a:r>
                <a:r>
                  <a:rPr lang="en-US" altLang="en-US">
                    <a:sym typeface="+mn-ea"/>
                  </a:rPr>
                  <a:t>is the number of heavy chains, </a:t>
                </a:r>
                <a14:m>
                  <m:oMath xmlns:m="http://schemas.openxmlformats.org/officeDocument/2006/math">
                    <m:sSub>
                      <m:sSubPr>
                        <m:ctrlPr>
                          <a:rPr lang="en-US" altLang="en-US" i="1">
                            <a:latin typeface="Cambria Math" panose="02040503050406030204" charset="0"/>
                            <a:cs typeface="Cambria Math" panose="02040503050406030204" charset="0"/>
                          </a:rPr>
                        </m:ctrlPr>
                      </m:sSubPr>
                      <m:e>
                        <m:r>
                          <a:rPr lang="en-US" altLang="en-US" i="1">
                            <a:latin typeface="Cambria Math" panose="02040503050406030204" charset="0"/>
                            <a:cs typeface="Cambria Math" panose="02040503050406030204" charset="0"/>
                          </a:rPr>
                          <m:t>𝑢</m:t>
                        </m:r>
                      </m:e>
                      <m:sub>
                        <m:r>
                          <a:rPr lang="en-US" altLang="en-US" i="1">
                            <a:latin typeface="Cambria Math" panose="02040503050406030204" charset="0"/>
                            <a:cs typeface="Cambria Math" panose="02040503050406030204" charset="0"/>
                          </a:rPr>
                          <m:t>𝑘</m:t>
                        </m:r>
                      </m:sub>
                    </m:sSub>
                    <m:r>
                      <a:rPr lang="en-US" altLang="en-US" i="1">
                        <a:latin typeface="Cambria Math" panose="02040503050406030204" charset="0"/>
                        <a:cs typeface="Cambria Math" panose="02040503050406030204" charset="0"/>
                      </a:rPr>
                      <m:t> = </m:t>
                    </m:r>
                    <m:r>
                      <a:rPr lang="en-US" altLang="en-US" i="1">
                        <a:latin typeface="Cambria Math" panose="02040503050406030204" charset="0"/>
                        <a:cs typeface="Cambria Math" panose="02040503050406030204" charset="0"/>
                      </a:rPr>
                      <m:t>1</m:t>
                    </m:r>
                  </m:oMath>
                </a14:m>
                <a:r>
                  <a:rPr lang="en-US" altLang="en-US"/>
                  <a:t> (the root node)</a:t>
                </a:r>
                <a:endParaRPr lang="en-US" altLang="en-US"/>
              </a:p>
              <a:p>
                <a:pPr lvl="1">
                  <a:lnSpc>
                    <a:spcPct val="110000"/>
                  </a:lnSpc>
                </a:pPr>
                <a:r>
                  <a:rPr lang="en-US" altLang="en-US">
                    <a:latin typeface="Consolas" panose="020B0609020204030204" pitchFamily="49" charset="0"/>
                    <a:cs typeface="Consolas" panose="020B0609020204030204" pitchFamily="49" charset="0"/>
                  </a:rPr>
                  <a:t>size[</a:t>
                </a:r>
                <a14:m>
                  <m:oMath xmlns:m="http://schemas.openxmlformats.org/officeDocument/2006/math">
                    <m:sSub>
                      <m:sSubPr>
                        <m:ctrlPr>
                          <a:rPr lang="en-US" altLang="en-US" i="1">
                            <a:latin typeface="Cambria Math" panose="02040503050406030204" charset="0"/>
                            <a:cs typeface="Cambria Math" panose="02040503050406030204" charset="0"/>
                          </a:rPr>
                        </m:ctrlPr>
                      </m:sSubPr>
                      <m:e>
                        <m:r>
                          <a:rPr lang="en-US" altLang="en-US" i="1">
                            <a:latin typeface="Cambria Math" panose="02040503050406030204" charset="0"/>
                            <a:cs typeface="Cambria Math" panose="02040503050406030204" charset="0"/>
                          </a:rPr>
                          <m:t>𝑢</m:t>
                        </m:r>
                      </m:e>
                      <m:sub>
                        <m:r>
                          <a:rPr lang="en-US" altLang="en-US" i="1">
                            <a:latin typeface="Cambria Math" panose="02040503050406030204" charset="0"/>
                            <a:cs typeface="Cambria Math" panose="02040503050406030204" charset="0"/>
                          </a:rPr>
                          <m:t>𝑖</m:t>
                        </m:r>
                      </m:sub>
                    </m:sSub>
                  </m:oMath>
                </a14:m>
                <a:r>
                  <a:rPr lang="en-US" altLang="en-US">
                    <a:latin typeface="Consolas" panose="020B0609020204030204" pitchFamily="49" charset="0"/>
                    <a:cs typeface="Consolas" panose="020B0609020204030204" pitchFamily="49" charset="0"/>
                  </a:rPr>
                  <a:t>] </a:t>
                </a:r>
                <a:r>
                  <a:rPr lang="en-US" altLang="en-US">
                    <a:latin typeface="Consolas" panose="020B0609020204030204" pitchFamily="49" charset="0"/>
                    <a:cs typeface="Consolas" panose="020B0609020204030204" pitchFamily="49" charset="0"/>
                  </a:rPr>
                  <a:t>≤</a:t>
                </a:r>
                <a:r>
                  <a:rPr lang="en-US" altLang="en-US">
                    <a:latin typeface="Consolas" panose="020B0609020204030204" pitchFamily="49" charset="0"/>
                    <a:cs typeface="Consolas" panose="020B0609020204030204" pitchFamily="49" charset="0"/>
                  </a:rPr>
                  <a:t> </a:t>
                </a:r>
                <a14:m>
                  <m:oMath xmlns:m="http://schemas.openxmlformats.org/officeDocument/2006/math">
                    <m:f>
                      <m:fPr>
                        <m:ctrlPr>
                          <a:rPr lang="en-US" altLang="en-US" i="1">
                            <a:latin typeface="Cambria Math" panose="02040503050406030204" charset="0"/>
                            <a:cs typeface="Cambria Math" panose="02040503050406030204" charset="0"/>
                          </a:rPr>
                        </m:ctrlPr>
                      </m:fPr>
                      <m:num>
                        <m:r>
                          <a:rPr lang="en-US" altLang="en-US" i="1">
                            <a:latin typeface="Cambria Math" panose="02040503050406030204" charset="0"/>
                            <a:ea typeface="MS Mincho" charset="0"/>
                            <a:cs typeface="Cambria Math" panose="02040503050406030204" charset="0"/>
                          </a:rPr>
                          <m:t>1</m:t>
                        </m:r>
                      </m:num>
                      <m:den>
                        <m:r>
                          <a:rPr lang="en-US" altLang="en-US" i="1">
                            <a:latin typeface="Cambria Math" panose="02040503050406030204" charset="0"/>
                            <a:ea typeface="MS Mincho" charset="0"/>
                            <a:cs typeface="Cambria Math" panose="02040503050406030204" charset="0"/>
                          </a:rPr>
                          <m:t>2</m:t>
                        </m:r>
                      </m:den>
                    </m:f>
                  </m:oMath>
                </a14:m>
                <a:r>
                  <a:rPr lang="en-US" altLang="en-US">
                    <a:latin typeface="Consolas" panose="020B0609020204030204" pitchFamily="49" charset="0"/>
                    <a:cs typeface="Consolas" panose="020B0609020204030204" pitchFamily="49" charset="0"/>
                  </a:rPr>
                  <a:t> </a:t>
                </a:r>
                <a:r>
                  <a:rPr lang="en-US" altLang="en-US">
                    <a:latin typeface="Consolas" panose="020B0609020204030204" pitchFamily="49" charset="0"/>
                    <a:cs typeface="Consolas" panose="020B0609020204030204" pitchFamily="49" charset="0"/>
                  </a:rPr>
                  <a:t>size[par[</a:t>
                </a:r>
                <a14:m>
                  <m:oMath xmlns:m="http://schemas.openxmlformats.org/officeDocument/2006/math">
                    <m:sSub>
                      <m:sSubPr>
                        <m:ctrlPr>
                          <a:rPr lang="en-US" altLang="en-US" i="1">
                            <a:latin typeface="Cambria Math" panose="02040503050406030204" charset="0"/>
                            <a:cs typeface="Cambria Math" panose="02040503050406030204" charset="0"/>
                          </a:rPr>
                        </m:ctrlPr>
                      </m:sSubPr>
                      <m:e>
                        <m:r>
                          <a:rPr lang="en-US" altLang="en-US" i="1">
                            <a:latin typeface="Cambria Math" panose="02040503050406030204" charset="0"/>
                            <a:cs typeface="Cambria Math" panose="02040503050406030204" charset="0"/>
                          </a:rPr>
                          <m:t>𝑢</m:t>
                        </m:r>
                      </m:e>
                      <m:sub>
                        <m:r>
                          <a:rPr lang="en-US" altLang="en-US" i="1">
                            <a:latin typeface="Cambria Math" panose="02040503050406030204" charset="0"/>
                            <a:cs typeface="Cambria Math" panose="02040503050406030204" charset="0"/>
                          </a:rPr>
                          <m:t>𝑖</m:t>
                        </m:r>
                      </m:sub>
                    </m:sSub>
                  </m:oMath>
                </a14:m>
                <a:r>
                  <a:rPr lang="en-US" altLang="en-US">
                    <a:latin typeface="Consolas" panose="020B0609020204030204" pitchFamily="49" charset="0"/>
                    <a:cs typeface="Consolas" panose="020B0609020204030204" pitchFamily="49" charset="0"/>
                  </a:rPr>
                  <a:t>]] </a:t>
                </a:r>
                <a:r>
                  <a:rPr lang="en-US" altLang="en-US">
                    <a:latin typeface="Consolas" panose="020B0609020204030204" pitchFamily="49" charset="0"/>
                    <a:cs typeface="Consolas" panose="020B0609020204030204" pitchFamily="49" charset="0"/>
                    <a:sym typeface="+mn-ea"/>
                  </a:rPr>
                  <a:t>≤ </a:t>
                </a:r>
                <a:r>
                  <a:rPr lang="en-US" altLang="en-US">
                    <a:latin typeface="Consolas" panose="020B0609020204030204" pitchFamily="49" charset="0"/>
                    <a:cs typeface="Consolas" panose="020B0609020204030204" pitchFamily="49" charset="0"/>
                  </a:rPr>
                  <a:t>size[</a:t>
                </a:r>
                <a14:m>
                  <m:oMath xmlns:m="http://schemas.openxmlformats.org/officeDocument/2006/math">
                    <m:sSub>
                      <m:sSubPr>
                        <m:ctrlPr>
                          <a:rPr lang="en-US" altLang="en-US" i="1">
                            <a:latin typeface="Cambria Math" panose="02040503050406030204" charset="0"/>
                            <a:cs typeface="Cambria Math" panose="02040503050406030204" charset="0"/>
                          </a:rPr>
                        </m:ctrlPr>
                      </m:sSubPr>
                      <m:e>
                        <m:r>
                          <a:rPr lang="en-US" altLang="en-US" i="1">
                            <a:latin typeface="Cambria Math" panose="02040503050406030204" charset="0"/>
                            <a:cs typeface="Cambria Math" panose="02040503050406030204" charset="0"/>
                          </a:rPr>
                          <m:t>𝑢</m:t>
                        </m:r>
                      </m:e>
                      <m:sub>
                        <m:r>
                          <a:rPr lang="en-US" altLang="en-US" i="1">
                            <a:latin typeface="Cambria Math" panose="02040503050406030204" charset="0"/>
                            <a:cs typeface="Cambria Math" panose="02040503050406030204" charset="0"/>
                          </a:rPr>
                          <m:t>𝑖</m:t>
                        </m:r>
                        <m:r>
                          <a:rPr lang="en-US" altLang="en-US" i="1">
                            <a:latin typeface="Cambria Math" panose="02040503050406030204" charset="0"/>
                            <a:ea typeface="MS Mincho" charset="0"/>
                            <a:cs typeface="Cambria Math" panose="02040503050406030204" charset="0"/>
                          </a:rPr>
                          <m:t>+</m:t>
                        </m:r>
                        <m:r>
                          <a:rPr lang="en-US" altLang="en-US" i="1">
                            <a:latin typeface="Cambria Math" panose="02040503050406030204" charset="0"/>
                            <a:ea typeface="MS Mincho" charset="0"/>
                            <a:cs typeface="Cambria Math" panose="02040503050406030204" charset="0"/>
                          </a:rPr>
                          <m:t>1</m:t>
                        </m:r>
                      </m:sub>
                    </m:sSub>
                  </m:oMath>
                </a14:m>
                <a:r>
                  <a:rPr lang="en-US" altLang="en-US">
                    <a:latin typeface="Consolas" panose="020B0609020204030204" pitchFamily="49" charset="0"/>
                    <a:cs typeface="Consolas" panose="020B0609020204030204" pitchFamily="49" charset="0"/>
                  </a:rPr>
                  <a:t>]</a:t>
                </a:r>
                <a:endParaRPr lang="en-US" altLang="en-US">
                  <a:latin typeface="Consolas" panose="020B0609020204030204" pitchFamily="49" charset="0"/>
                  <a:cs typeface="Consolas" panose="020B0609020204030204" pitchFamily="49" charset="0"/>
                </a:endParaRPr>
              </a:p>
              <a:p>
                <a:pPr lvl="1">
                  <a:lnSpc>
                    <a:spcPct val="110000"/>
                  </a:lnSpc>
                </a:pPr>
                <a:r>
                  <a:rPr lang="en-US" altLang="en-US">
                    <a:latin typeface="Consolas" panose="020B0609020204030204" pitchFamily="49" charset="0"/>
                    <a:cs typeface="Consolas" panose="020B0609020204030204" pitchFamily="49" charset="0"/>
                  </a:rPr>
                  <a:t>size[</a:t>
                </a:r>
                <a14:m>
                  <m:oMath xmlns:m="http://schemas.openxmlformats.org/officeDocument/2006/math">
                    <m:sSub>
                      <m:sSubPr>
                        <m:ctrlPr>
                          <a:rPr lang="en-US" altLang="en-US" i="1">
                            <a:latin typeface="Cambria Math" panose="02040503050406030204" charset="0"/>
                            <a:cs typeface="Cambria Math" panose="02040503050406030204" charset="0"/>
                          </a:rPr>
                        </m:ctrlPr>
                      </m:sSubPr>
                      <m:e>
                        <m:r>
                          <a:rPr lang="en-US" altLang="en-US" i="1">
                            <a:latin typeface="Cambria Math" panose="02040503050406030204" charset="0"/>
                            <a:cs typeface="Cambria Math" panose="02040503050406030204" charset="0"/>
                          </a:rPr>
                          <m:t>𝑢</m:t>
                        </m:r>
                      </m:e>
                      <m:sub>
                        <m:r>
                          <a:rPr lang="en-US" altLang="en-US" i="1">
                            <a:latin typeface="Cambria Math" panose="02040503050406030204" charset="0"/>
                            <a:ea typeface="MS Mincho" charset="0"/>
                            <a:cs typeface="Cambria Math" panose="02040503050406030204" charset="0"/>
                          </a:rPr>
                          <m:t>1</m:t>
                        </m:r>
                      </m:sub>
                    </m:sSub>
                  </m:oMath>
                </a14:m>
                <a:r>
                  <a:rPr lang="en-US" altLang="en-US">
                    <a:latin typeface="Consolas" panose="020B0609020204030204" pitchFamily="49" charset="0"/>
                    <a:cs typeface="Consolas" panose="020B0609020204030204" pitchFamily="49" charset="0"/>
                  </a:rPr>
                  <a:t>] </a:t>
                </a:r>
                <a:r>
                  <a:rPr lang="en-US" altLang="zh-CN">
                    <a:latin typeface="Consolas" panose="020B0609020204030204" pitchFamily="49" charset="0"/>
                    <a:cs typeface="Consolas" panose="020B0609020204030204" pitchFamily="49" charset="0"/>
                    <a:sym typeface="+mn-ea"/>
                  </a:rPr>
                  <a:t>≥</a:t>
                </a:r>
                <a:r>
                  <a:rPr lang="en-US" altLang="en-US">
                    <a:latin typeface="Consolas" panose="020B0609020204030204" pitchFamily="49" charset="0"/>
                    <a:cs typeface="Consolas" panose="020B0609020204030204" pitchFamily="49" charset="0"/>
                    <a:sym typeface="+mn-ea"/>
                  </a:rPr>
                  <a:t> </a:t>
                </a:r>
                <a14:m>
                  <m:oMath xmlns:m="http://schemas.openxmlformats.org/officeDocument/2006/math">
                    <m:sSup>
                      <m:sSupPr>
                        <m:ctrlPr>
                          <a:rPr lang="en-US" altLang="en-US" i="1">
                            <a:latin typeface="Cambria Math" panose="02040503050406030204" charset="0"/>
                            <a:cs typeface="Cambria Math" panose="02040503050406030204" charset="0"/>
                          </a:rPr>
                        </m:ctrlPr>
                      </m:sSupPr>
                      <m:e>
                        <m:r>
                          <a:rPr lang="en-US" altLang="en-US" i="1">
                            <a:latin typeface="Cambria Math" panose="02040503050406030204" charset="0"/>
                            <a:ea typeface="MS Mincho" charset="0"/>
                            <a:cs typeface="Cambria Math" panose="02040503050406030204" charset="0"/>
                          </a:rPr>
                          <m:t>2</m:t>
                        </m:r>
                      </m:e>
                      <m:sup>
                        <m:r>
                          <a:rPr lang="en-US" altLang="en-US" i="1">
                            <a:latin typeface="Cambria Math" panose="02040503050406030204" charset="0"/>
                            <a:cs typeface="Cambria Math" panose="02040503050406030204" charset="0"/>
                          </a:rPr>
                          <m:t>𝑘</m:t>
                        </m:r>
                        <m:r>
                          <a:rPr lang="en-US" altLang="en-US" i="1">
                            <a:latin typeface="Cambria Math" panose="02040503050406030204" charset="0"/>
                            <a:cs typeface="Cambria Math" panose="02040503050406030204" charset="0"/>
                          </a:rPr>
                          <m:t>−</m:t>
                        </m:r>
                        <m:r>
                          <a:rPr lang="en-US" altLang="en-US" i="1">
                            <a:latin typeface="Cambria Math" panose="02040503050406030204" charset="0"/>
                            <a:cs typeface="Cambria Math" panose="02040503050406030204" charset="0"/>
                          </a:rPr>
                          <m:t>1</m:t>
                        </m:r>
                      </m:sup>
                    </m:sSup>
                    <m:r>
                      <a:rPr lang="en-US" altLang="en-US" i="1">
                        <a:latin typeface="Cambria Math" panose="02040503050406030204" charset="0"/>
                        <a:ea typeface="MS Mincho" charset="0"/>
                        <a:cs typeface="Cambria Math" panose="02040503050406030204" charset="0"/>
                      </a:rPr>
                      <m:t> </m:t>
                    </m:r>
                    <m:box>
                      <m:boxPr>
                        <m:noBreak m:val="on"/>
                        <m:ctrlPr>
                          <a:rPr lang="en-US" altLang="en-US" i="1">
                            <a:latin typeface="Cambria Math" panose="02040503050406030204" charset="0"/>
                            <a:cs typeface="Cambria Math" panose="02040503050406030204" charset="0"/>
                          </a:rPr>
                        </m:ctrlPr>
                      </m:boxPr>
                      <m:e>
                        <m:groupChr>
                          <m:groupChrPr>
                            <m:chr m:val="⇒"/>
                            <m:vertJc m:val="bot"/>
                            <m:ctrlPr>
                              <a:rPr lang="en-US" altLang="en-US" i="1">
                                <a:latin typeface="Cambria Math" panose="02040503050406030204" charset="0"/>
                                <a:cs typeface="Cambria Math" panose="02040503050406030204" charset="0"/>
                              </a:rPr>
                            </m:ctrlPr>
                          </m:groupChrPr>
                          <m:e/>
                        </m:groupChr>
                      </m:e>
                    </m:box>
                    <m:r>
                      <a:rPr lang="en-US" altLang="en-US" i="1">
                        <a:latin typeface="Cambria Math" panose="02040503050406030204" charset="0"/>
                        <a:ea typeface="MS Mincho" charset="0"/>
                        <a:cs typeface="Cambria Math" panose="02040503050406030204" charset="0"/>
                      </a:rPr>
                      <m:t> </m:t>
                    </m:r>
                    <m:r>
                      <a:rPr lang="en-US" altLang="en-US" i="1">
                        <a:latin typeface="Cambria Math" panose="02040503050406030204" charset="0"/>
                        <a:cs typeface="Cambria Math" panose="02040503050406030204" charset="0"/>
                      </a:rPr>
                      <m:t>𝑘</m:t>
                    </m:r>
                    <m:r>
                      <a:rPr lang="en-US" altLang="en-US" i="1">
                        <a:latin typeface="Cambria Math" panose="02040503050406030204" charset="0"/>
                        <a:ea typeface="MS Mincho" charset="0"/>
                        <a:cs typeface="Cambria Math" panose="02040503050406030204" charset="0"/>
                      </a:rPr>
                      <m:t> ~ </m:t>
                    </m:r>
                    <m:r>
                      <a:rPr lang="en-US" altLang="en-US" i="1">
                        <a:latin typeface="Cambria Math" panose="02040503050406030204" charset="0"/>
                        <a:cs typeface="Cambria Math" panose="02040503050406030204" charset="0"/>
                      </a:rPr>
                      <m:t>𝑂</m:t>
                    </m:r>
                    <m:r>
                      <a:rPr lang="en-US" altLang="en-US" i="1">
                        <a:latin typeface="Cambria Math" panose="02040503050406030204" charset="0"/>
                        <a:ea typeface="MS Mincho" charset="0"/>
                        <a:cs typeface="Cambria Math" panose="02040503050406030204" charset="0"/>
                      </a:rPr>
                      <m:t>(</m:t>
                    </m:r>
                    <m:func>
                      <m:funcPr>
                        <m:ctrlPr>
                          <a:rPr lang="en-US" altLang="en-US" i="1">
                            <a:latin typeface="Cambria Math" panose="02040503050406030204" charset="0"/>
                            <a:cs typeface="Cambria Math" panose="02040503050406030204" charset="0"/>
                          </a:rPr>
                        </m:ctrlPr>
                      </m:funcPr>
                      <m:fName>
                        <m:r>
                          <m:rPr>
                            <m:sty m:val="p"/>
                          </m:rPr>
                          <a:rPr lang="en-US" altLang="en-US">
                            <a:latin typeface="Cambria Math" panose="02040503050406030204" charset="0"/>
                            <a:cs typeface="Cambria Math" panose="02040503050406030204" charset="0"/>
                          </a:rPr>
                          <m:t>log</m:t>
                        </m:r>
                      </m:fName>
                      <m:e>
                        <m:r>
                          <a:rPr lang="en-US" altLang="en-US" i="1">
                            <a:latin typeface="Cambria Math" panose="02040503050406030204" charset="0"/>
                            <a:cs typeface="Cambria Math" panose="02040503050406030204" charset="0"/>
                          </a:rPr>
                          <m:t>𝑛</m:t>
                        </m:r>
                      </m:e>
                    </m:func>
                    <m:r>
                      <a:rPr lang="en-US" altLang="en-US" i="1">
                        <a:latin typeface="Cambria Math" panose="02040503050406030204" charset="0"/>
                        <a:ea typeface="MS Mincho" charset="0"/>
                        <a:cs typeface="Cambria Math" panose="02040503050406030204" charset="0"/>
                      </a:rPr>
                      <m:t>)</m:t>
                    </m:r>
                  </m:oMath>
                </a14:m>
                <a:r>
                  <a:rPr lang="en-US" altLang="en-US">
                    <a:latin typeface="Consolas" panose="020B0609020204030204" pitchFamily="49" charset="0"/>
                    <a:cs typeface="Consolas" panose="020B0609020204030204" pitchFamily="49" charset="0"/>
                  </a:rPr>
                  <a:t> </a:t>
                </a:r>
                <a:endParaRPr lang="en-US" altLang="en-US">
                  <a:latin typeface="Consolas" panose="020B0609020204030204" pitchFamily="49" charset="0"/>
                  <a:cs typeface="Consolas" panose="020B0609020204030204" pitchFamily="49" charset="0"/>
                </a:endParaRPr>
              </a:p>
            </p:txBody>
          </p:sp>
        </mc:Choice>
        <mc:Fallback>
          <p:sp>
            <p:nvSpPr>
              <p:cNvPr id="5" name="Content Placeholder 4"/>
              <p:cNvSpPr>
                <a:spLocks noRot="1" noChangeAspect="1" noMove="1" noResize="1" noEditPoints="1" noAdjustHandles="1" noChangeArrowheads="1" noChangeShapeType="1" noTextEdit="1"/>
              </p:cNvSpPr>
              <p:nvPr>
                <p:ph idx="1"/>
              </p:nvPr>
            </p:nvSpPr>
            <p:spPr>
              <a:xfrm>
                <a:off x="838200" y="1885315"/>
                <a:ext cx="10515600" cy="4351338"/>
              </a:xfrm>
              <a:blipFill rotWithShape="1">
                <a:blip r:embed="rId1"/>
                <a:stretch>
                  <a:fillRect b="7"/>
                </a:stretch>
              </a:blipFill>
            </p:spPr>
            <p:txBody>
              <a:bodyPr/>
              <a:lstStyle/>
              <a:p>
                <a:r>
                  <a:rPr lang="en-US" alt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zh-CN" b="1" dirty="0">
                <a:latin typeface="BIZ UDPMincho Medium" panose="02020500000000000000" pitchFamily="18" charset="-128"/>
                <a:ea typeface="BIZ UDPMincho Medium" panose="02020500000000000000" pitchFamily="18" charset="-128"/>
                <a:sym typeface="+mn-ea"/>
              </a:rPr>
              <a:t>Tree &amp; AVL Tree</a:t>
            </a:r>
            <a:endParaRPr lang="en-US"/>
          </a:p>
        </p:txBody>
      </p:sp>
      <p:sp>
        <p:nvSpPr>
          <p:cNvPr id="5" name="Content Placeholder 4"/>
          <p:cNvSpPr>
            <a:spLocks noGrp="1"/>
          </p:cNvSpPr>
          <p:nvPr>
            <p:ph idx="1"/>
          </p:nvPr>
        </p:nvSpPr>
        <p:spPr>
          <a:solidFill>
            <a:schemeClr val="tx2">
              <a:lumMod val="50000"/>
            </a:schemeClr>
          </a:solidFill>
        </p:spPr>
        <p:txBody>
          <a:bodyPr>
            <a:normAutofit fontScale="77500" lnSpcReduction="20000"/>
          </a:bodyPr>
          <a:lstStyle/>
          <a:p>
            <a:pPr marL="0" indent="0">
              <a:lnSpc>
                <a:spcPct val="100000"/>
              </a:lnSpc>
              <a:buNone/>
            </a:pPr>
            <a:r>
              <a:rPr lang="en-US" altLang="zh-CN" b="0" dirty="0">
                <a:solidFill>
                  <a:srgbClr val="FF79C6"/>
                </a:solidFill>
                <a:effectLst/>
                <a:latin typeface="Consolas" panose="020B0609020204030204" pitchFamily="49" charset="0"/>
              </a:rPr>
              <a:t>int</a:t>
            </a:r>
            <a:r>
              <a:rPr lang="en-US" altLang="zh-CN" b="0" dirty="0">
                <a:solidFill>
                  <a:srgbClr val="F8F8F2"/>
                </a:solidFill>
                <a:effectLst/>
                <a:latin typeface="Consolas" panose="020B0609020204030204" pitchFamily="49" charset="0"/>
              </a:rPr>
              <a:t> locate(</a:t>
            </a:r>
            <a:r>
              <a:rPr lang="en-US" altLang="zh-CN" b="0" dirty="0">
                <a:solidFill>
                  <a:srgbClr val="FF79C6"/>
                </a:solidFill>
                <a:effectLst/>
                <a:latin typeface="Consolas" panose="020B0609020204030204" pitchFamily="49" charset="0"/>
              </a:rPr>
              <a:t>int</a:t>
            </a:r>
            <a:r>
              <a:rPr lang="en-US" altLang="zh-CN" b="0" dirty="0">
                <a:solidFill>
                  <a:srgbClr val="F8F8F2"/>
                </a:solidFill>
                <a:effectLst/>
                <a:latin typeface="Consolas" panose="020B0609020204030204" pitchFamily="49" charset="0"/>
              </a:rPr>
              <a:t> u, </a:t>
            </a:r>
            <a:r>
              <a:rPr lang="en-US" altLang="zh-CN" b="0" dirty="0">
                <a:solidFill>
                  <a:srgbClr val="FF79C6"/>
                </a:solidFill>
                <a:effectLst/>
                <a:latin typeface="Consolas" panose="020B0609020204030204" pitchFamily="49" charset="0"/>
              </a:rPr>
              <a:t>int</a:t>
            </a:r>
            <a:r>
              <a:rPr lang="en-US" altLang="zh-CN" b="0" dirty="0">
                <a:solidFill>
                  <a:srgbClr val="F8F8F2"/>
                </a:solidFill>
                <a:effectLst/>
                <a:latin typeface="Consolas" panose="020B0609020204030204" pitchFamily="49" charset="0"/>
              </a:rPr>
              <a:t> v) {</a:t>
            </a:r>
            <a:endParaRPr lang="en-US" altLang="zh-CN" b="0" dirty="0">
              <a:solidFill>
                <a:srgbClr val="F8F8F2"/>
              </a:solidFill>
              <a:effectLst/>
              <a:latin typeface="Consolas" panose="020B0609020204030204" pitchFamily="49" charset="0"/>
            </a:endParaRPr>
          </a:p>
          <a:p>
            <a:pPr marL="0" indent="0">
              <a:lnSpc>
                <a:spcPct val="100000"/>
              </a:lnSpc>
              <a:buNone/>
            </a:pPr>
            <a:r>
              <a:rPr lang="en-US" altLang="zh-CN" b="0" dirty="0">
                <a:solidFill>
                  <a:srgbClr val="F8F8F2"/>
                </a:solidFill>
                <a:effectLst/>
                <a:latin typeface="Consolas" panose="020B0609020204030204" pitchFamily="49" charset="0"/>
              </a:rPr>
              <a:t>  </a:t>
            </a:r>
            <a:r>
              <a:rPr lang="en-US" altLang="zh-CN" b="0" dirty="0">
                <a:solidFill>
                  <a:srgbClr val="FF79C6"/>
                </a:solidFill>
                <a:effectLst/>
                <a:latin typeface="Consolas" panose="020B0609020204030204" pitchFamily="49" charset="0"/>
              </a:rPr>
              <a:t>while</a:t>
            </a:r>
            <a:r>
              <a:rPr lang="en-US" altLang="zh-CN" b="0" dirty="0">
                <a:solidFill>
                  <a:srgbClr val="F8F8F2"/>
                </a:solidFill>
                <a:effectLst/>
                <a:latin typeface="Consolas" panose="020B0609020204030204" pitchFamily="49" charset="0"/>
              </a:rPr>
              <a:t> (top[u] </a:t>
            </a:r>
            <a:r>
              <a:rPr lang="en-US" altLang="zh-CN" b="0" dirty="0">
                <a:solidFill>
                  <a:srgbClr val="FF79C6"/>
                </a:solidFill>
                <a:effectLst/>
                <a:latin typeface="Consolas" panose="020B0609020204030204" pitchFamily="49" charset="0"/>
              </a:rPr>
              <a:t>!=</a:t>
            </a:r>
            <a:r>
              <a:rPr lang="en-US" altLang="zh-CN" b="0" dirty="0">
                <a:solidFill>
                  <a:srgbClr val="F8F8F2"/>
                </a:solidFill>
                <a:effectLst/>
                <a:latin typeface="Consolas" panose="020B0609020204030204" pitchFamily="49" charset="0"/>
              </a:rPr>
              <a:t> top[v]) {</a:t>
            </a:r>
            <a:endParaRPr lang="en-US" altLang="zh-CN" b="0" dirty="0">
              <a:solidFill>
                <a:srgbClr val="F8F8F2"/>
              </a:solidFill>
              <a:effectLst/>
              <a:latin typeface="Consolas" panose="020B0609020204030204" pitchFamily="49" charset="0"/>
            </a:endParaRPr>
          </a:p>
          <a:p>
            <a:pPr marL="0" indent="0">
              <a:lnSpc>
                <a:spcPct val="100000"/>
              </a:lnSpc>
              <a:buNone/>
            </a:pPr>
            <a:r>
              <a:rPr lang="en-US" altLang="zh-CN" b="0" dirty="0">
                <a:solidFill>
                  <a:srgbClr val="F8F8F2"/>
                </a:solidFill>
                <a:effectLst/>
                <a:latin typeface="Consolas" panose="020B0609020204030204" pitchFamily="49" charset="0"/>
              </a:rPr>
              <a:t>    </a:t>
            </a:r>
            <a:r>
              <a:rPr lang="en-US" altLang="zh-CN" b="0" dirty="0">
                <a:solidFill>
                  <a:srgbClr val="FF79C6"/>
                </a:solidFill>
                <a:effectLst/>
                <a:latin typeface="Consolas" panose="020B0609020204030204" pitchFamily="49" charset="0"/>
              </a:rPr>
              <a:t>if</a:t>
            </a:r>
            <a:r>
              <a:rPr lang="en-US" altLang="zh-CN" b="0" dirty="0">
                <a:solidFill>
                  <a:srgbClr val="F8F8F2"/>
                </a:solidFill>
                <a:effectLst/>
                <a:latin typeface="Consolas" panose="020B0609020204030204" pitchFamily="49" charset="0"/>
              </a:rPr>
              <a:t> (dep[top[u]] </a:t>
            </a:r>
            <a:r>
              <a:rPr lang="en-US" altLang="zh-CN" b="0" dirty="0">
                <a:solidFill>
                  <a:srgbClr val="FF79C6"/>
                </a:solidFill>
                <a:effectLst/>
                <a:latin typeface="Consolas" panose="020B0609020204030204" pitchFamily="49" charset="0"/>
              </a:rPr>
              <a:t>&gt;</a:t>
            </a:r>
            <a:r>
              <a:rPr lang="en-US" altLang="zh-CN" b="0" dirty="0">
                <a:solidFill>
                  <a:srgbClr val="F8F8F2"/>
                </a:solidFill>
                <a:effectLst/>
                <a:latin typeface="Consolas" panose="020B0609020204030204" pitchFamily="49" charset="0"/>
              </a:rPr>
              <a:t> dep[top[v]])</a:t>
            </a:r>
            <a:endParaRPr lang="en-US" altLang="zh-CN" b="0" dirty="0">
              <a:solidFill>
                <a:srgbClr val="F8F8F2"/>
              </a:solidFill>
              <a:effectLst/>
              <a:latin typeface="Consolas" panose="020B0609020204030204" pitchFamily="49" charset="0"/>
            </a:endParaRPr>
          </a:p>
          <a:p>
            <a:pPr marL="0" indent="0">
              <a:lnSpc>
                <a:spcPct val="100000"/>
              </a:lnSpc>
              <a:buNone/>
            </a:pPr>
            <a:r>
              <a:rPr lang="en-US" altLang="zh-CN" b="0" dirty="0">
                <a:solidFill>
                  <a:srgbClr val="F8F8F2"/>
                </a:solidFill>
                <a:effectLst/>
                <a:latin typeface="Consolas" panose="020B0609020204030204" pitchFamily="49" charset="0"/>
              </a:rPr>
              <a:t>      u </a:t>
            </a:r>
            <a:r>
              <a:rPr lang="en-US" altLang="zh-CN" b="0" dirty="0">
                <a:solidFill>
                  <a:srgbClr val="FF79C6"/>
                </a:solidFill>
                <a:effectLst/>
                <a:latin typeface="Consolas" panose="020B0609020204030204" pitchFamily="49" charset="0"/>
              </a:rPr>
              <a:t>=</a:t>
            </a:r>
            <a:r>
              <a:rPr lang="en-US" altLang="zh-CN" b="0" dirty="0">
                <a:solidFill>
                  <a:srgbClr val="F8F8F2"/>
                </a:solidFill>
                <a:effectLst/>
                <a:latin typeface="Consolas" panose="020B0609020204030204" pitchFamily="49" charset="0"/>
              </a:rPr>
              <a:t> fa[top[u]];</a:t>
            </a:r>
            <a:endParaRPr lang="en-US" altLang="zh-CN" b="0" dirty="0">
              <a:solidFill>
                <a:srgbClr val="F8F8F2"/>
              </a:solidFill>
              <a:effectLst/>
              <a:latin typeface="Consolas" panose="020B0609020204030204" pitchFamily="49" charset="0"/>
            </a:endParaRPr>
          </a:p>
          <a:p>
            <a:pPr marL="0" indent="0">
              <a:lnSpc>
                <a:spcPct val="100000"/>
              </a:lnSpc>
              <a:buNone/>
            </a:pPr>
            <a:r>
              <a:rPr lang="en-US" altLang="zh-CN" b="0" dirty="0">
                <a:solidFill>
                  <a:srgbClr val="F8F8F2"/>
                </a:solidFill>
                <a:effectLst/>
                <a:latin typeface="Consolas" panose="020B0609020204030204" pitchFamily="49" charset="0"/>
              </a:rPr>
              <a:t>    </a:t>
            </a:r>
            <a:r>
              <a:rPr lang="en-US" altLang="zh-CN" b="0" dirty="0">
                <a:solidFill>
                  <a:srgbClr val="FF79C6"/>
                </a:solidFill>
                <a:effectLst/>
                <a:latin typeface="Consolas" panose="020B0609020204030204" pitchFamily="49" charset="0"/>
              </a:rPr>
              <a:t>else</a:t>
            </a:r>
            <a:endParaRPr lang="en-US" altLang="zh-CN" b="0" dirty="0">
              <a:solidFill>
                <a:srgbClr val="F8F8F2"/>
              </a:solidFill>
              <a:effectLst/>
              <a:latin typeface="Consolas" panose="020B0609020204030204" pitchFamily="49" charset="0"/>
            </a:endParaRPr>
          </a:p>
          <a:p>
            <a:pPr marL="0" indent="0">
              <a:lnSpc>
                <a:spcPct val="100000"/>
              </a:lnSpc>
              <a:buNone/>
            </a:pPr>
            <a:r>
              <a:rPr lang="en-US" altLang="zh-CN" b="0" dirty="0">
                <a:solidFill>
                  <a:srgbClr val="F8F8F2"/>
                </a:solidFill>
                <a:effectLst/>
                <a:latin typeface="Consolas" panose="020B0609020204030204" pitchFamily="49" charset="0"/>
              </a:rPr>
              <a:t>      v </a:t>
            </a:r>
            <a:r>
              <a:rPr lang="en-US" altLang="zh-CN" b="0" dirty="0">
                <a:solidFill>
                  <a:srgbClr val="FF79C6"/>
                </a:solidFill>
                <a:effectLst/>
                <a:latin typeface="Consolas" panose="020B0609020204030204" pitchFamily="49" charset="0"/>
              </a:rPr>
              <a:t>=</a:t>
            </a:r>
            <a:r>
              <a:rPr lang="en-US" altLang="zh-CN" b="0" dirty="0">
                <a:solidFill>
                  <a:srgbClr val="F8F8F2"/>
                </a:solidFill>
                <a:effectLst/>
                <a:latin typeface="Consolas" panose="020B0609020204030204" pitchFamily="49" charset="0"/>
              </a:rPr>
              <a:t> fa[top[v]];</a:t>
            </a:r>
            <a:endParaRPr lang="en-US" altLang="zh-CN" b="0" dirty="0">
              <a:solidFill>
                <a:srgbClr val="F8F8F2"/>
              </a:solidFill>
              <a:effectLst/>
              <a:latin typeface="Consolas" panose="020B0609020204030204" pitchFamily="49" charset="0"/>
            </a:endParaRPr>
          </a:p>
          <a:p>
            <a:pPr marL="0" indent="0">
              <a:lnSpc>
                <a:spcPct val="100000"/>
              </a:lnSpc>
              <a:buNone/>
            </a:pPr>
            <a:r>
              <a:rPr lang="en-US" altLang="zh-CN" b="0" dirty="0">
                <a:solidFill>
                  <a:srgbClr val="F8F8F2"/>
                </a:solidFill>
                <a:effectLst/>
                <a:latin typeface="Consolas" panose="020B0609020204030204" pitchFamily="49" charset="0"/>
              </a:rPr>
              <a:t>  }</a:t>
            </a:r>
            <a:endParaRPr lang="en-US" altLang="zh-CN" b="0" dirty="0">
              <a:solidFill>
                <a:srgbClr val="F8F8F2"/>
              </a:solidFill>
              <a:effectLst/>
              <a:latin typeface="Consolas" panose="020B0609020204030204" pitchFamily="49" charset="0"/>
            </a:endParaRPr>
          </a:p>
          <a:p>
            <a:pPr marL="0" indent="0">
              <a:lnSpc>
                <a:spcPct val="100000"/>
              </a:lnSpc>
              <a:buNone/>
            </a:pPr>
            <a:r>
              <a:rPr lang="en-US" altLang="zh-CN" b="0" dirty="0">
                <a:solidFill>
                  <a:srgbClr val="F8F8F2"/>
                </a:solidFill>
                <a:effectLst/>
                <a:latin typeface="Consolas" panose="020B0609020204030204" pitchFamily="49" charset="0"/>
              </a:rPr>
              <a:t>  </a:t>
            </a:r>
            <a:r>
              <a:rPr lang="en-US" altLang="zh-CN" b="0" dirty="0">
                <a:solidFill>
                  <a:srgbClr val="FF79C6"/>
                </a:solidFill>
                <a:effectLst/>
                <a:latin typeface="Consolas" panose="020B0609020204030204" pitchFamily="49" charset="0"/>
              </a:rPr>
              <a:t>return</a:t>
            </a:r>
            <a:r>
              <a:rPr lang="en-US" altLang="zh-CN" b="0" dirty="0">
                <a:solidFill>
                  <a:srgbClr val="F8F8F2"/>
                </a:solidFill>
                <a:effectLst/>
                <a:latin typeface="Consolas" panose="020B0609020204030204" pitchFamily="49" charset="0"/>
              </a:rPr>
              <a:t> dep[u] </a:t>
            </a:r>
            <a:r>
              <a:rPr lang="en-US" altLang="zh-CN" b="0" dirty="0">
                <a:solidFill>
                  <a:srgbClr val="FF79C6"/>
                </a:solidFill>
                <a:effectLst/>
                <a:latin typeface="Consolas" panose="020B0609020204030204" pitchFamily="49" charset="0"/>
              </a:rPr>
              <a:t>&gt;</a:t>
            </a:r>
            <a:r>
              <a:rPr lang="en-US" altLang="zh-CN" b="0" dirty="0">
                <a:solidFill>
                  <a:srgbClr val="F8F8F2"/>
                </a:solidFill>
                <a:effectLst/>
                <a:latin typeface="Consolas" panose="020B0609020204030204" pitchFamily="49" charset="0"/>
              </a:rPr>
              <a:t> dep[v] </a:t>
            </a:r>
            <a:r>
              <a:rPr lang="en-US" altLang="zh-CN" b="0" dirty="0">
                <a:solidFill>
                  <a:srgbClr val="FF79C6"/>
                </a:solidFill>
                <a:effectLst/>
                <a:latin typeface="Consolas" panose="020B0609020204030204" pitchFamily="49" charset="0"/>
              </a:rPr>
              <a:t>?</a:t>
            </a:r>
            <a:r>
              <a:rPr lang="en-US" altLang="zh-CN" b="0" dirty="0">
                <a:solidFill>
                  <a:srgbClr val="F8F8F2"/>
                </a:solidFill>
                <a:effectLst/>
                <a:latin typeface="Consolas" panose="020B0609020204030204" pitchFamily="49" charset="0"/>
              </a:rPr>
              <a:t> v </a:t>
            </a:r>
            <a:r>
              <a:rPr lang="en-US" altLang="zh-CN" b="0" dirty="0">
                <a:solidFill>
                  <a:srgbClr val="FF79C6"/>
                </a:solidFill>
                <a:effectLst/>
                <a:latin typeface="Consolas" panose="020B0609020204030204" pitchFamily="49" charset="0"/>
              </a:rPr>
              <a:t>:</a:t>
            </a:r>
            <a:r>
              <a:rPr lang="en-US" altLang="zh-CN" b="0" dirty="0">
                <a:solidFill>
                  <a:srgbClr val="F8F8F2"/>
                </a:solidFill>
                <a:effectLst/>
                <a:latin typeface="Consolas" panose="020B0609020204030204" pitchFamily="49" charset="0"/>
              </a:rPr>
              <a:t> u;</a:t>
            </a:r>
            <a:endParaRPr lang="en-US" altLang="zh-CN" b="0" dirty="0">
              <a:solidFill>
                <a:srgbClr val="F8F8F2"/>
              </a:solidFill>
              <a:effectLst/>
              <a:latin typeface="Consolas" panose="020B0609020204030204" pitchFamily="49" charset="0"/>
            </a:endParaRPr>
          </a:p>
          <a:p>
            <a:pPr marL="0" indent="0">
              <a:lnSpc>
                <a:spcPct val="100000"/>
              </a:lnSpc>
              <a:buNone/>
            </a:pPr>
            <a:r>
              <a:rPr lang="en-US" altLang="zh-CN" b="0" dirty="0">
                <a:solidFill>
                  <a:srgbClr val="F8F8F2"/>
                </a:solidFill>
                <a:effectLst/>
                <a:latin typeface="Consolas" panose="020B0609020204030204" pitchFamily="49" charset="0"/>
              </a:rPr>
              <a:t>}</a:t>
            </a:r>
            <a:endParaRPr lang="en-US" altLang="zh-CN" b="0" dirty="0">
              <a:solidFill>
                <a:srgbClr val="F8F8F2"/>
              </a:solidFill>
              <a:effectLst/>
              <a:latin typeface="Consolas" panose="020B0609020204030204" pitchFamily="49" charset="0"/>
            </a:endParaRPr>
          </a:p>
          <a:p>
            <a:pPr marL="0" indent="0">
              <a:lnSpc>
                <a:spcPct val="100000"/>
              </a:lnSpc>
              <a:buNone/>
            </a:pPr>
            <a:br>
              <a:rPr lang="en-US" altLang="zh-CN" b="0" dirty="0">
                <a:solidFill>
                  <a:srgbClr val="F8F8F2"/>
                </a:solidFill>
                <a:effectLst/>
                <a:latin typeface="Consolas" panose="020B0609020204030204" pitchFamily="49" charset="0"/>
              </a:rPr>
            </a:br>
            <a:endParaRPr lang="en-US" altLang="zh-CN" b="0" dirty="0">
              <a:solidFill>
                <a:srgbClr val="F8F8F2"/>
              </a:solidFill>
              <a:effectLst/>
              <a:latin typeface="Consolas" panose="020B0609020204030204" pitchFamily="49"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BIZ UDPMincho Medium" panose="02020500000000000000" pitchFamily="18" charset="-128"/>
                <a:ea typeface="BIZ UDPMincho Medium" panose="02020500000000000000" pitchFamily="18" charset="-128"/>
              </a:rPr>
              <a:t>Tree &amp; AVL Tree</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707390" y="1537970"/>
                <a:ext cx="10033635" cy="4843145"/>
              </a:xfrm>
            </p:spPr>
            <p:txBody>
              <a:bodyPr>
                <a:normAutofit/>
              </a:bodyPr>
              <a:lstStyle/>
              <a:p>
                <a:pPr>
                  <a:lnSpc>
                    <a:spcPct val="150000"/>
                  </a:lnSpc>
                </a:pPr>
                <a:r>
                  <a:rPr lang="en-US" altLang="zh-CN" sz="2400" b="1" dirty="0">
                    <a:effectLst/>
                    <a:latin typeface="Calibri" panose="020F0502020204030204" pitchFamily="34" charset="0"/>
                    <a:ea typeface="Calibri" panose="020F0502020204030204" pitchFamily="34" charset="0"/>
                    <a:cs typeface="Calibri" panose="020F0502020204030204" pitchFamily="34" charset="0"/>
                  </a:rPr>
                  <a:t>Sample question 2</a:t>
                </a:r>
                <a:endParaRPr lang="en-US" altLang="zh-CN" sz="2400" b="1" dirty="0">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altLang="zh-CN" sz="2400" dirty="0">
                    <a:effectLst/>
                    <a:latin typeface="Calibri" panose="020F0502020204030204" pitchFamily="34" charset="0"/>
                    <a:ea typeface="Calibri" panose="020F0502020204030204" pitchFamily="34" charset="0"/>
                    <a:cs typeface="Calibri" panose="020F0502020204030204" pitchFamily="34" charset="0"/>
                  </a:rPr>
                  <a:t>Given a tree with </a:t>
                </a:r>
                <a14:m>
                  <m:oMath xmlns:m="http://schemas.openxmlformats.org/officeDocument/2006/math">
                    <m:r>
                      <a:rPr lang="en-US" altLang="zh-CN" sz="2400" b="0" i="1" smtClean="0">
                        <a:effectLst/>
                        <a:latin typeface="Cambria Math" panose="02040503050406030204" charset="0"/>
                        <a:ea typeface="Calibri" panose="020F0502020204030204" pitchFamily="34" charset="0"/>
                        <a:cs typeface="Calibri" panose="020F0502020204030204" pitchFamily="34" charset="0"/>
                      </a:rPr>
                      <m:t>𝑛</m:t>
                    </m:r>
                  </m:oMath>
                </a14:m>
                <a:r>
                  <a:rPr lang="en-US" altLang="zh-CN" sz="2400" dirty="0">
                    <a:effectLst/>
                    <a:latin typeface="Calibri" panose="020F0502020204030204" pitchFamily="34" charset="0"/>
                    <a:ea typeface="Calibri" panose="020F0502020204030204" pitchFamily="34" charset="0"/>
                    <a:cs typeface="Calibri" panose="020F0502020204030204" pitchFamily="34" charset="0"/>
                  </a:rPr>
                  <a:t> vertices. </a:t>
                </a:r>
                <a:r>
                  <a:rPr lang="en-US" altLang="en-US" sz="2400" dirty="0">
                    <a:effectLst/>
                    <a:latin typeface="Calibri" panose="020F0502020204030204" pitchFamily="34" charset="0"/>
                    <a:ea typeface="Calibri" panose="020F0502020204030204" pitchFamily="34" charset="0"/>
                    <a:cs typeface="Calibri" panose="020F0502020204030204" pitchFamily="34" charset="0"/>
                  </a:rPr>
                  <a:t>Each vertice has weight vi. </a:t>
                </a:r>
                <a:r>
                  <a:rPr lang="en-US" altLang="zh-CN" sz="2400" dirty="0">
                    <a:effectLst/>
                    <a:latin typeface="Calibri" panose="020F0502020204030204" pitchFamily="34" charset="0"/>
                    <a:ea typeface="Calibri" panose="020F0502020204030204" pitchFamily="34" charset="0"/>
                    <a:cs typeface="Calibri" panose="020F0502020204030204" pitchFamily="34" charset="0"/>
                  </a:rPr>
                  <a:t>Find a subset </a:t>
                </a:r>
                <a:r>
                  <a:rPr lang="en-US" altLang="zh-CN" sz="2400" dirty="0">
                    <a:latin typeface="Calibri" panose="020F0502020204030204" pitchFamily="34" charset="0"/>
                    <a:ea typeface="Calibri" panose="020F0502020204030204" pitchFamily="34" charset="0"/>
                    <a:cs typeface="Calibri" panose="020F0502020204030204" pitchFamily="34" charset="0"/>
                  </a:rPr>
                  <a:t>with the </a:t>
                </a:r>
                <a:r>
                  <a:rPr lang="en-US" altLang="en-US" sz="2400" dirty="0">
                    <a:latin typeface="Calibri" panose="020F0502020204030204" pitchFamily="34" charset="0"/>
                    <a:ea typeface="Calibri" panose="020F0502020204030204" pitchFamily="34" charset="0"/>
                    <a:cs typeface="Calibri" panose="020F0502020204030204" pitchFamily="34" charset="0"/>
                  </a:rPr>
                  <a:t>maximal total weight</a:t>
                </a:r>
                <a:r>
                  <a:rPr lang="en-US" altLang="zh-CN" sz="2400" dirty="0">
                    <a:latin typeface="Calibri" panose="020F0502020204030204" pitchFamily="34" charset="0"/>
                    <a:ea typeface="Calibri" panose="020F0502020204030204" pitchFamily="34" charset="0"/>
                    <a:cs typeface="Calibri" panose="020F0502020204030204" pitchFamily="34" charset="0"/>
                  </a:rPr>
                  <a:t> of vertices on the tree, such that there’s no edge on the tree between each two vertices in the subset.</a:t>
                </a:r>
                <a:endParaRPr lang="en-US" altLang="zh-CN" sz="24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altLang="en-US" sz="2400" dirty="0">
                    <a:latin typeface="Calibri" panose="020F0502020204030204" pitchFamily="34" charset="0"/>
                    <a:ea typeface="Calibri" panose="020F0502020204030204" pitchFamily="34" charset="0"/>
                    <a:cs typeface="Calibri" panose="020F0502020204030204" pitchFamily="34" charset="0"/>
                  </a:rPr>
                  <a:t>Expected </a:t>
                </a:r>
                <a:r>
                  <a:rPr lang="en-US" altLang="zh-CN" sz="2400" dirty="0">
                    <a:latin typeface="Calibri" panose="020F0502020204030204" pitchFamily="34" charset="0"/>
                    <a:ea typeface="Calibri" panose="020F0502020204030204" pitchFamily="34" charset="0"/>
                    <a:cs typeface="Calibri" panose="020F0502020204030204" pitchFamily="34" charset="0"/>
                  </a:rPr>
                  <a:t>Time &amp; space complexity: </a:t>
                </a:r>
                <a14:m>
                  <m:oMath xmlns:m="http://schemas.openxmlformats.org/officeDocument/2006/math">
                    <m:r>
                      <a:rPr lang="en-US" altLang="zh-CN" sz="2400" b="0" i="1" smtClean="0">
                        <a:latin typeface="Cambria Math" panose="02040503050406030204" charset="0"/>
                        <a:ea typeface="Calibri" panose="020F0502020204030204" pitchFamily="34" charset="0"/>
                        <a:cs typeface="Calibri" panose="020F0502020204030204" pitchFamily="34" charset="0"/>
                      </a:rPr>
                      <m:t>𝑂</m:t>
                    </m:r>
                    <m:r>
                      <a:rPr lang="en-US" altLang="zh-CN" sz="2400" b="0" i="1" smtClean="0">
                        <a:latin typeface="Cambria Math" panose="02040503050406030204" charset="0"/>
                        <a:ea typeface="Calibri" panose="020F0502020204030204" pitchFamily="34" charset="0"/>
                        <a:cs typeface="Calibri" panose="020F0502020204030204" pitchFamily="34" charset="0"/>
                      </a:rPr>
                      <m:t>(</m:t>
                    </m:r>
                    <m:r>
                      <a:rPr lang="en-US" altLang="zh-CN" sz="2400" b="0" i="1" smtClean="0">
                        <a:latin typeface="Cambria Math" panose="02040503050406030204" charset="0"/>
                        <a:ea typeface="Calibri" panose="020F0502020204030204" pitchFamily="34" charset="0"/>
                        <a:cs typeface="Calibri" panose="020F0502020204030204" pitchFamily="34" charset="0"/>
                      </a:rPr>
                      <m:t>𝑛</m:t>
                    </m:r>
                    <m:r>
                      <a:rPr lang="en-US" altLang="zh-CN" sz="2400" b="0" i="1" smtClean="0">
                        <a:latin typeface="Cambria Math" panose="02040503050406030204" charset="0"/>
                        <a:ea typeface="Calibri" panose="020F0502020204030204" pitchFamily="34" charset="0"/>
                        <a:cs typeface="Calibri" panose="020F0502020204030204" pitchFamily="34" charset="0"/>
                      </a:rPr>
                      <m:t>)</m:t>
                    </m:r>
                  </m:oMath>
                </a14:m>
                <a:endParaRPr lang="en-US" altLang="zh-CN" sz="2400" dirty="0">
                  <a:effectLst/>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707390" y="1537970"/>
                <a:ext cx="10033635" cy="4843145"/>
              </a:xfrm>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67335"/>
            <a:ext cx="11229975" cy="6425565"/>
          </a:xfrm>
        </p:spPr>
        <p:txBody>
          <a:bodyPr/>
          <a:lstStyle/>
          <a:p>
            <a:pPr marL="0" indent="0">
              <a:buNone/>
            </a:pPr>
            <a:r>
              <a:rPr lang="en-US" altLang="en-US"/>
              <a:t>int dp[100001][2]</a:t>
            </a:r>
            <a:r>
              <a:rPr lang="en-US" altLang="en-US"/>
              <a:t>;</a:t>
            </a:r>
            <a:endParaRPr lang="en-US" altLang="en-US"/>
          </a:p>
          <a:p>
            <a:pPr marL="0" indent="0">
              <a:buNone/>
            </a:pPr>
            <a:r>
              <a:rPr lang="en-US" altLang="en-US"/>
              <a:t>// dp[i][j] denotes choose vertex i if j=1 and not choose vertex i if j=0</a:t>
            </a:r>
            <a:endParaRPr lang="en-US" altLang="en-US"/>
          </a:p>
          <a:p>
            <a:pPr marL="0" indent="0">
              <a:buNone/>
            </a:pPr>
            <a:r>
              <a:rPr lang="en-US" altLang="en-US"/>
              <a:t>void dfs(int x){</a:t>
            </a:r>
            <a:endParaRPr lang="en-US" altLang="en-US"/>
          </a:p>
          <a:p>
            <a:pPr marL="0" indent="0">
              <a:buNone/>
            </a:pPr>
            <a:r>
              <a:rPr lang="en-US" altLang="en-US"/>
              <a:t>	for(int v : adj[x]){</a:t>
            </a:r>
            <a:endParaRPr lang="en-US" altLang="en-US"/>
          </a:p>
          <a:p>
            <a:pPr marL="0" indent="0">
              <a:buNone/>
            </a:pPr>
            <a:r>
              <a:rPr lang="en-US" altLang="en-US"/>
              <a:t>		dfs(v);</a:t>
            </a:r>
            <a:endParaRPr lang="en-US" altLang="en-US"/>
          </a:p>
          <a:p>
            <a:pPr marL="0" indent="0">
              <a:buNone/>
            </a:pPr>
            <a:r>
              <a:rPr lang="en-US" altLang="en-US"/>
              <a:t>		dp[x][1] += dp[v][0];</a:t>
            </a:r>
            <a:endParaRPr lang="en-US" altLang="en-US"/>
          </a:p>
          <a:p>
            <a:pPr marL="0" indent="0">
              <a:buNone/>
            </a:pPr>
            <a:r>
              <a:rPr lang="en-US" altLang="en-US"/>
              <a:t>		dp[x][0] += max(dp[v][0], dp[v][1]);</a:t>
            </a:r>
            <a:endParaRPr lang="en-US" altLang="en-US"/>
          </a:p>
          <a:p>
            <a:pPr marL="0" indent="0">
              <a:buNone/>
            </a:pPr>
            <a:r>
              <a:rPr lang="en-US" altLang="en-US"/>
              <a:t>	}</a:t>
            </a:r>
            <a:endParaRPr lang="en-US" altLang="en-US"/>
          </a:p>
          <a:p>
            <a:pPr marL="0" indent="0">
              <a:buNone/>
            </a:pPr>
            <a:r>
              <a:rPr lang="en-US" altLang="en-US"/>
              <a:t>	dp[x][1] += weight[x];</a:t>
            </a:r>
            <a:endParaRPr lang="en-US" altLang="en-US"/>
          </a:p>
          <a:p>
            <a:pPr marL="0" indent="0">
              <a:buNone/>
            </a:pPr>
            <a:r>
              <a:rPr lang="en-US" altLang="en-US"/>
              <a:t>}</a:t>
            </a:r>
            <a:endParaRPr lang="en-US" altLang="en-US"/>
          </a:p>
          <a:p>
            <a:pPr marL="0" indent="0">
              <a:buNone/>
            </a:pPr>
            <a:r>
              <a:rPr lang="en-US" altLang="en-US"/>
              <a:t>dfs(root) // final answer is max(dp[root][0], dp[root][1]);</a:t>
            </a:r>
            <a:endParaRPr lang="en-US"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Calibri" panose="020F0502020204030204" pitchFamily="34" charset="0"/>
                <a:ea typeface="Calibri" panose="020F0502020204030204" pitchFamily="34" charset="0"/>
                <a:cs typeface="Calibri" panose="020F0502020204030204" pitchFamily="34" charset="0"/>
              </a:rPr>
              <a:t>Graph</a:t>
            </a:r>
            <a:endParaRPr lang="zh-CN" altLang="en-US" dirty="0">
              <a:latin typeface="Calibri" panose="020F0502020204030204" pitchFamily="34" charset="0"/>
              <a:cs typeface="Calibri" panose="020F0502020204030204" pitchFamily="34" charset="0"/>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707604" y="1537828"/>
                <a:ext cx="5216458" cy="4351338"/>
              </a:xfrm>
            </p:spPr>
            <p:txBody>
              <a:bodyPr>
                <a:normAutofit/>
              </a:bodyPr>
              <a:lstStyle/>
              <a:p>
                <a:pPr>
                  <a:lnSpc>
                    <a:spcPct val="100000"/>
                  </a:lnSpc>
                </a:pPr>
                <a:r>
                  <a:rPr lang="en-US" altLang="zh-CN" sz="2400" dirty="0">
                    <a:effectLst/>
                    <a:latin typeface="Calibri" panose="020F0502020204030204" pitchFamily="34" charset="0"/>
                    <a:ea typeface="Calibri" panose="020F0502020204030204" pitchFamily="34" charset="0"/>
                    <a:cs typeface="Calibri" panose="020F0502020204030204" pitchFamily="34" charset="0"/>
                  </a:rPr>
                  <a:t>Linked list and linked table</a:t>
                </a:r>
                <a:endParaRPr lang="en-US" altLang="zh-CN" sz="2400" dirty="0">
                  <a:effectLst/>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US" altLang="zh-CN" sz="2400" b="1" dirty="0">
                    <a:effectLst/>
                    <a:latin typeface="Calibri" panose="020F0502020204030204" pitchFamily="34" charset="0"/>
                    <a:ea typeface="Calibri" panose="020F0502020204030204" pitchFamily="34" charset="0"/>
                    <a:cs typeface="Calibri" panose="020F0502020204030204" pitchFamily="34" charset="0"/>
                  </a:rPr>
                  <a:t>Adjacency list</a:t>
                </a:r>
                <a:r>
                  <a:rPr lang="en-US" altLang="zh-CN" sz="2400" dirty="0">
                    <a:effectLst/>
                    <a:latin typeface="Calibri" panose="020F0502020204030204" pitchFamily="34" charset="0"/>
                    <a:ea typeface="Calibri" panose="020F0502020204030204" pitchFamily="34" charset="0"/>
                    <a:cs typeface="Calibri" panose="020F0502020204030204" pitchFamily="34" charset="0"/>
                  </a:rPr>
                  <a:t>: Each node is associated with a linked list that stores all neighbors. We map an ID for each node. </a:t>
                </a:r>
                <a:endParaRPr lang="en-US" altLang="zh-CN" sz="2400" dirty="0">
                  <a:effectLst/>
                  <a:latin typeface="Calibri" panose="020F0502020204030204" pitchFamily="34" charset="0"/>
                  <a:ea typeface="Calibri" panose="020F0502020204030204" pitchFamily="34" charset="0"/>
                  <a:cs typeface="Calibri" panose="020F0502020204030204" pitchFamily="34" charset="0"/>
                </a:endParaRPr>
              </a:p>
              <a:p>
                <a:pPr lvl="1">
                  <a:lnSpc>
                    <a:spcPct val="100000"/>
                  </a:lnSpc>
                </a:pPr>
                <a:r>
                  <a:rPr lang="en-US" altLang="zh-CN" sz="1800" dirty="0">
                    <a:latin typeface="Calibri" panose="020F0502020204030204" pitchFamily="34" charset="0"/>
                    <a:ea typeface="Calibri" panose="020F0502020204030204" pitchFamily="34" charset="0"/>
                    <a:cs typeface="Calibri" panose="020F0502020204030204" pitchFamily="34" charset="0"/>
                  </a:rPr>
                  <a:t>Space</a:t>
                </a:r>
                <a:r>
                  <a:rPr lang="en-US" altLang="zh-CN" sz="1800" b="0" dirty="0">
                    <a:effectLst/>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r>
                      <a:rPr lang="en-US" altLang="zh-CN" sz="1800" b="0" i="1" smtClean="0">
                        <a:effectLst/>
                        <a:latin typeface="Cambria Math" panose="02040503050406030204" charset="0"/>
                        <a:ea typeface="BIZ UDPMincho Medium" panose="02020500000000000000" pitchFamily="18" charset="-128"/>
                      </a:rPr>
                      <m:t>𝑂</m:t>
                    </m:r>
                    <m:r>
                      <a:rPr lang="en-US" altLang="zh-CN" sz="1800" b="0" i="1" smtClean="0">
                        <a:effectLst/>
                        <a:latin typeface="Cambria Math" panose="02040503050406030204" charset="0"/>
                        <a:ea typeface="BIZ UDPMincho Medium" panose="02020500000000000000" pitchFamily="18" charset="-128"/>
                      </a:rPr>
                      <m:t>(</m:t>
                    </m:r>
                    <m:r>
                      <a:rPr lang="en-US" altLang="zh-CN" sz="1800" b="0" i="1" smtClean="0">
                        <a:effectLst/>
                        <a:latin typeface="Cambria Math" panose="02040503050406030204" charset="0"/>
                        <a:ea typeface="BIZ UDPMincho Medium" panose="02020500000000000000" pitchFamily="18" charset="-128"/>
                      </a:rPr>
                      <m:t>𝑛</m:t>
                    </m:r>
                    <m:r>
                      <a:rPr lang="en-US" altLang="zh-CN" sz="1800" b="0" i="1" smtClean="0">
                        <a:effectLst/>
                        <a:latin typeface="Cambria Math" panose="02040503050406030204" charset="0"/>
                        <a:ea typeface="BIZ UDPMincho Medium" panose="02020500000000000000" pitchFamily="18" charset="-128"/>
                      </a:rPr>
                      <m:t>+</m:t>
                    </m:r>
                    <m:r>
                      <a:rPr lang="en-US" altLang="zh-CN" sz="1800" b="0" i="1" smtClean="0">
                        <a:effectLst/>
                        <a:latin typeface="Cambria Math" panose="02040503050406030204" charset="0"/>
                        <a:ea typeface="BIZ UDPMincho Medium" panose="02020500000000000000" pitchFamily="18" charset="-128"/>
                      </a:rPr>
                      <m:t>𝑚</m:t>
                    </m:r>
                    <m:r>
                      <a:rPr lang="en-US" altLang="zh-CN" sz="1800" b="0" i="1" smtClean="0">
                        <a:effectLst/>
                        <a:latin typeface="Cambria Math" panose="02040503050406030204" charset="0"/>
                        <a:ea typeface="BIZ UDPMincho Medium" panose="02020500000000000000" pitchFamily="18" charset="-128"/>
                      </a:rPr>
                      <m:t>)</m:t>
                    </m:r>
                  </m:oMath>
                </a14:m>
                <a:endParaRPr lang="en-US" altLang="zh-CN" sz="1800" dirty="0">
                  <a:latin typeface="Calibri" panose="020F0502020204030204" pitchFamily="34" charset="0"/>
                  <a:ea typeface="Calibri" panose="020F0502020204030204" pitchFamily="34" charset="0"/>
                  <a:cs typeface="Calibri" panose="020F0502020204030204" pitchFamily="34" charset="0"/>
                </a:endParaRPr>
              </a:p>
              <a:p>
                <a:pPr marL="457200" lvl="1" indent="0">
                  <a:lnSpc>
                    <a:spcPct val="100000"/>
                  </a:lnSpc>
                  <a:buNone/>
                </a:pPr>
                <a:endParaRPr lang="en-US" altLang="zh-CN" sz="1800"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US" altLang="zh-CN" sz="2400" b="1" dirty="0">
                    <a:latin typeface="Calibri" panose="020F0502020204030204" pitchFamily="34" charset="0"/>
                    <a:ea typeface="Calibri" panose="020F0502020204030204" pitchFamily="34" charset="0"/>
                    <a:cs typeface="Calibri" panose="020F0502020204030204" pitchFamily="34" charset="0"/>
                  </a:rPr>
                  <a:t>Adjacency matrix</a:t>
                </a:r>
                <a:r>
                  <a:rPr lang="en-US" altLang="zh-CN" sz="2400" dirty="0">
                    <a:latin typeface="Calibri" panose="020F0502020204030204" pitchFamily="34" charset="0"/>
                    <a:ea typeface="Calibri" panose="020F0502020204030204" pitchFamily="34" charset="0"/>
                    <a:cs typeface="Calibri" panose="020F0502020204030204" pitchFamily="34" charset="0"/>
                  </a:rPr>
                  <a:t>: A </a:t>
                </a:r>
                <a14:m>
                  <m:oMath xmlns:m="http://schemas.openxmlformats.org/officeDocument/2006/math">
                    <m:r>
                      <a:rPr lang="en-US" altLang="zh-CN" sz="2400" b="0" i="1" smtClean="0">
                        <a:latin typeface="Cambria Math" panose="02040503050406030204" charset="0"/>
                        <a:ea typeface="BIZ UDPMincho Medium" panose="02020500000000000000" pitchFamily="18" charset="-128"/>
                      </a:rPr>
                      <m:t>𝑛</m:t>
                    </m:r>
                    <m:r>
                      <a:rPr lang="en-US" altLang="zh-CN" sz="2400" b="0" i="1" smtClean="0">
                        <a:latin typeface="Cambria Math" panose="02040503050406030204" charset="0"/>
                        <a:ea typeface="BIZ UDPMincho Medium" panose="02020500000000000000" pitchFamily="18" charset="-128"/>
                      </a:rPr>
                      <m:t>×</m:t>
                    </m:r>
                    <m:r>
                      <a:rPr lang="en-US" altLang="zh-CN" sz="2400" b="0" i="1" smtClean="0">
                        <a:latin typeface="Cambria Math" panose="02040503050406030204" charset="0"/>
                        <a:ea typeface="BIZ UDPMincho Medium" panose="02020500000000000000" pitchFamily="18" charset="-128"/>
                      </a:rPr>
                      <m:t>𝑛</m:t>
                    </m:r>
                  </m:oMath>
                </a14:m>
                <a:r>
                  <a:rPr lang="en-US" altLang="zh-CN" sz="2400" dirty="0">
                    <a:latin typeface="Calibri" panose="020F0502020204030204" pitchFamily="34" charset="0"/>
                    <a:ea typeface="Calibri" panose="020F0502020204030204" pitchFamily="34" charset="0"/>
                    <a:cs typeface="Calibri" panose="020F0502020204030204" pitchFamily="34" charset="0"/>
                  </a:rPr>
                  <a:t> two-dimensional matrix 0 where A[u][v] = 1 if u and v are connected.</a:t>
                </a:r>
                <a:endParaRPr lang="en-US" altLang="zh-CN" sz="2400" dirty="0">
                  <a:latin typeface="Calibri" panose="020F0502020204030204" pitchFamily="34" charset="0"/>
                  <a:ea typeface="Calibri" panose="020F0502020204030204" pitchFamily="34" charset="0"/>
                  <a:cs typeface="Calibri" panose="020F0502020204030204" pitchFamily="34" charset="0"/>
                </a:endParaRPr>
              </a:p>
              <a:p>
                <a:pPr lvl="1">
                  <a:lnSpc>
                    <a:spcPct val="100000"/>
                  </a:lnSpc>
                </a:pPr>
                <a:r>
                  <a:rPr lang="en-US" altLang="zh-CN" sz="1800" dirty="0">
                    <a:latin typeface="Calibri" panose="020F0502020204030204" pitchFamily="34" charset="0"/>
                    <a:ea typeface="Calibri" panose="020F0502020204030204" pitchFamily="34" charset="0"/>
                    <a:cs typeface="Calibri" panose="020F0502020204030204" pitchFamily="34" charset="0"/>
                  </a:rPr>
                  <a:t>Space : </a:t>
                </a:r>
                <a14:m>
                  <m:oMath xmlns:m="http://schemas.openxmlformats.org/officeDocument/2006/math">
                    <m:r>
                      <a:rPr lang="en-US" altLang="zh-CN" sz="1800" i="1">
                        <a:latin typeface="Cambria Math" panose="02040503050406030204" charset="0"/>
                        <a:ea typeface="BIZ UDPMincho Medium" panose="02020500000000000000" pitchFamily="18" charset="-128"/>
                      </a:rPr>
                      <m:t>𝑂</m:t>
                    </m:r>
                    <m:r>
                      <a:rPr lang="en-US" altLang="zh-CN" sz="1800" i="1">
                        <a:latin typeface="Cambria Math" panose="02040503050406030204" charset="0"/>
                        <a:ea typeface="BIZ UDPMincho Medium" panose="02020500000000000000" pitchFamily="18" charset="-128"/>
                      </a:rPr>
                      <m:t>(</m:t>
                    </m:r>
                    <m:sSup>
                      <m:sSupPr>
                        <m:ctrlPr>
                          <a:rPr lang="en-US" altLang="zh-CN" sz="1800" b="0" i="1" smtClean="0">
                            <a:latin typeface="Cambria Math" panose="02040503050406030204" charset="0"/>
                            <a:ea typeface="BIZ UDPMincho Medium" panose="02020500000000000000" pitchFamily="18" charset="-128"/>
                          </a:rPr>
                        </m:ctrlPr>
                      </m:sSupPr>
                      <m:e>
                        <m:r>
                          <a:rPr lang="en-US" altLang="zh-CN" sz="1800" b="0" i="1" smtClean="0">
                            <a:latin typeface="Cambria Math" panose="02040503050406030204" charset="0"/>
                            <a:ea typeface="BIZ UDPMincho Medium" panose="02020500000000000000" pitchFamily="18" charset="-128"/>
                          </a:rPr>
                          <m:t>𝑛</m:t>
                        </m:r>
                      </m:e>
                      <m:sup>
                        <m:r>
                          <a:rPr lang="en-US" altLang="zh-CN" sz="1800" b="0" i="1" smtClean="0">
                            <a:latin typeface="Cambria Math" panose="02040503050406030204" charset="0"/>
                            <a:ea typeface="BIZ UDPMincho Medium" panose="02020500000000000000" pitchFamily="18" charset="-128"/>
                          </a:rPr>
                          <m:t>2</m:t>
                        </m:r>
                      </m:sup>
                    </m:sSup>
                    <m:r>
                      <a:rPr lang="en-US" altLang="zh-CN" sz="1800" i="1">
                        <a:latin typeface="Cambria Math" panose="02040503050406030204" charset="0"/>
                        <a:ea typeface="BIZ UDPMincho Medium" panose="02020500000000000000" pitchFamily="18" charset="-128"/>
                      </a:rPr>
                      <m:t>)</m:t>
                    </m:r>
                  </m:oMath>
                </a14:m>
                <a:endParaRPr lang="en-US" altLang="zh-CN" sz="1800" dirty="0">
                  <a:latin typeface="Calibri" panose="020F0502020204030204" pitchFamily="34" charset="0"/>
                  <a:ea typeface="Calibri" panose="020F0502020204030204" pitchFamily="34" charset="0"/>
                  <a:cs typeface="Calibri" panose="020F0502020204030204" pitchFamily="34" charset="0"/>
                </a:endParaRPr>
              </a:p>
              <a:p>
                <a:pPr lvl="1">
                  <a:lnSpc>
                    <a:spcPct val="100000"/>
                  </a:lnSpc>
                </a:pPr>
                <a:endParaRPr lang="en-US" altLang="zh-CN" sz="1800" dirty="0">
                  <a:latin typeface="Calibri" panose="020F0502020204030204" pitchFamily="34" charset="0"/>
                  <a:ea typeface="Calibri" panose="020F0502020204030204" pitchFamily="34" charset="0"/>
                  <a:cs typeface="Calibri" panose="020F0502020204030204" pitchFamily="34" charset="0"/>
                </a:endParaRPr>
              </a:p>
              <a:p>
                <a:pPr lvl="1">
                  <a:lnSpc>
                    <a:spcPct val="100000"/>
                  </a:lnSpc>
                </a:pPr>
                <a:endParaRPr lang="en-US" altLang="zh-CN" sz="1800" dirty="0">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707604" y="1537828"/>
                <a:ext cx="5216458" cy="4351338"/>
              </a:xfrm>
              <a:blipFill rotWithShape="1">
                <a:blip r:embed="rId1"/>
                <a:stretch>
                  <a:fillRect l="-4" t="-11" r="3" b="-13174"/>
                </a:stretch>
              </a:blipFill>
            </p:spPr>
            <p:txBody>
              <a:bodyPr/>
              <a:lstStyle/>
              <a:p>
                <a:r>
                  <a:rPr lang="en-US" altLang="en-US">
                    <a:noFill/>
                  </a:rPr>
                  <a:t> </a:t>
                </a:r>
              </a:p>
            </p:txBody>
          </p:sp>
        </mc:Fallback>
      </mc:AlternateContent>
      <p:pic>
        <p:nvPicPr>
          <p:cNvPr id="5" name="图片 4"/>
          <p:cNvPicPr>
            <a:picLocks noChangeAspect="1"/>
          </p:cNvPicPr>
          <p:nvPr/>
        </p:nvPicPr>
        <p:blipFill>
          <a:blip r:embed="rId2"/>
          <a:stretch>
            <a:fillRect/>
          </a:stretch>
        </p:blipFill>
        <p:spPr>
          <a:xfrm>
            <a:off x="5947620" y="1537828"/>
            <a:ext cx="5957099" cy="2190110"/>
          </a:xfrm>
          <a:prstGeom prst="rect">
            <a:avLst/>
          </a:prstGeom>
        </p:spPr>
      </p:pic>
      <p:pic>
        <p:nvPicPr>
          <p:cNvPr id="8" name="图片 7"/>
          <p:cNvPicPr>
            <a:picLocks noChangeAspect="1"/>
          </p:cNvPicPr>
          <p:nvPr/>
        </p:nvPicPr>
        <p:blipFill>
          <a:blip r:embed="rId3"/>
          <a:stretch>
            <a:fillRect/>
          </a:stretch>
        </p:blipFill>
        <p:spPr>
          <a:xfrm>
            <a:off x="5988078" y="4160141"/>
            <a:ext cx="5916641" cy="2018031"/>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Content Placeholder 3"/>
              <p:cNvGraphicFramePr>
                <a:graphicFrameLocks noGrp="1"/>
              </p:cNvGraphicFramePr>
              <p:nvPr>
                <p:ph idx="1"/>
                <p:custDataLst>
                  <p:tags r:id="rId1"/>
                </p:custDataLst>
              </p:nvPr>
            </p:nvGraphicFramePr>
            <p:xfrm>
              <a:off x="282575" y="108585"/>
              <a:ext cx="11657330" cy="6405880"/>
            </p:xfrm>
            <a:graphic>
              <a:graphicData uri="http://schemas.openxmlformats.org/drawingml/2006/table">
                <a:tbl>
                  <a:tblPr firstRow="1" bandRow="1">
                    <a:tableStyleId>{5C22544A-7EE6-4342-B048-85BDC9FD1C3A}</a:tableStyleId>
                  </a:tblPr>
                  <a:tblGrid>
                    <a:gridCol w="3587750"/>
                    <a:gridCol w="4288790"/>
                    <a:gridCol w="3780790"/>
                  </a:tblGrid>
                  <a:tr h="1208405">
                    <a:tc>
                      <a:txBody>
                        <a:bodyPr/>
                        <a:lstStyle/>
                        <a:p>
                          <a:pPr>
                            <a:buNone/>
                          </a:pPr>
                          <a:r>
                            <a:rPr lang="en-US" altLang="en-US" sz="2400"/>
                            <a:t>Comparison1</a:t>
                          </a:r>
                          <a:endParaRPr lang="en-US" altLang="en-US" sz="2400"/>
                        </a:p>
                      </a:txBody>
                      <a:tcPr/>
                    </a:tc>
                    <a:tc>
                      <a:txBody>
                        <a:bodyPr/>
                        <a:lstStyle/>
                        <a:p>
                          <a:pPr>
                            <a:buNone/>
                          </a:pPr>
                          <a:r>
                            <a:rPr lang="en-US" altLang="en-US" sz="2400"/>
                            <a:t>Adjacency list</a:t>
                          </a:r>
                          <a:endParaRPr lang="en-US" altLang="en-US" sz="2400"/>
                        </a:p>
                      </a:txBody>
                      <a:tcPr/>
                    </a:tc>
                    <a:tc>
                      <a:txBody>
                        <a:bodyPr/>
                        <a:lstStyle/>
                        <a:p>
                          <a:pPr>
                            <a:buNone/>
                          </a:pPr>
                          <a:r>
                            <a:rPr lang="en-US" altLang="en-US"/>
                            <a:t>Adjacency table</a:t>
                          </a:r>
                          <a:endParaRPr lang="en-US" altLang="en-US"/>
                        </a:p>
                      </a:txBody>
                      <a:tcPr/>
                    </a:tc>
                  </a:tr>
                  <a:tr h="1614170">
                    <a:tc>
                      <a:txBody>
                        <a:bodyPr/>
                        <a:lstStyle/>
                        <a:p>
                          <a:pPr>
                            <a:buNone/>
                          </a:pPr>
                          <a:r>
                            <a:rPr lang="en-US" altLang="en-US" sz="2800"/>
                            <a:t>check whether an edge exists</a:t>
                          </a:r>
                          <a:endParaRPr lang="en-US" altLang="en-US" sz="2800"/>
                        </a:p>
                      </a:txBody>
                      <a:tcPr/>
                    </a:tc>
                    <a:tc>
                      <a:txBody>
                        <a:bodyPr/>
                        <a:lstStyle/>
                        <a:p>
                          <a:pPr>
                            <a:buNone/>
                          </a:pPr>
                          <a14:m>
                            <m:oMathPara xmlns:m="http://schemas.openxmlformats.org/officeDocument/2006/math">
                              <m:oMathParaPr>
                                <m:jc m:val="centerGroup"/>
                              </m:oMathParaPr>
                              <m:oMath xmlns:m="http://schemas.openxmlformats.org/officeDocument/2006/math">
                                <m:r>
                                  <a:rPr lang="en-US" altLang="en-US" sz="2800" i="1" dirty="0" smtClean="0">
                                    <a:latin typeface="Cambria Math" panose="02040503050406030204" charset="0"/>
                                  </a:rPr>
                                  <m:t>𝑂</m:t>
                                </m:r>
                                <m:r>
                                  <a:rPr lang="en-US" altLang="en-US" sz="2800" i="1" dirty="0" smtClean="0">
                                    <a:latin typeface="Cambria Math" panose="02040503050406030204" charset="0"/>
                                  </a:rPr>
                                  <m:t> (</m:t>
                                </m:r>
                                <m:r>
                                  <m:rPr>
                                    <m:sty m:val="p"/>
                                  </m:rPr>
                                  <a:rPr lang="en-US" altLang="en-US" sz="2800" i="1" dirty="0" smtClean="0">
                                    <a:latin typeface="Cambria Math" panose="02040503050406030204" charset="0"/>
                                  </a:rPr>
                                  <m:t>deg</m:t>
                                </m:r>
                                <m:r>
                                  <a:rPr lang="en-US" altLang="en-US" sz="2800" i="1" dirty="0" smtClean="0">
                                    <a:latin typeface="Cambria Math" panose="02040503050406030204" charset="0"/>
                                  </a:rPr>
                                  <m:t>⁡(</m:t>
                                </m:r>
                                <m:r>
                                  <a:rPr lang="en-US" altLang="en-US" sz="2800" i="1" dirty="0" smtClean="0">
                                    <a:latin typeface="Cambria Math" panose="02040503050406030204" charset="0"/>
                                  </a:rPr>
                                  <m:t>𝑣</m:t>
                                </m:r>
                                <m:r>
                                  <a:rPr lang="en-US" altLang="en-US" sz="2800" i="1" dirty="0" smtClean="0">
                                    <a:latin typeface="Cambria Math" panose="02040503050406030204" charset="0"/>
                                  </a:rPr>
                                  <m:t>))</m:t>
                                </m:r>
                              </m:oMath>
                            </m:oMathPara>
                          </a14:m>
                          <a:endParaRPr lang="en-US" altLang="en-US" sz="2800" dirty="0"/>
                        </a:p>
                      </a:txBody>
                      <a:tcPr/>
                    </a:tc>
                    <a:tc>
                      <a:txBody>
                        <a:bodyPr/>
                        <a:lstStyle/>
                        <a:p>
                          <a:pPr>
                            <a:buNone/>
                          </a:pPr>
                          <a14:m>
                            <m:oMathPara xmlns:m="http://schemas.openxmlformats.org/officeDocument/2006/math">
                              <m:oMathParaPr>
                                <m:jc m:val="centerGroup"/>
                              </m:oMathParaPr>
                              <m:oMath xmlns:m="http://schemas.openxmlformats.org/officeDocument/2006/math">
                                <m:r>
                                  <a:rPr lang="en-US" altLang="en-US" sz="2800" i="1" dirty="0" smtClean="0">
                                    <a:latin typeface="Cambria Math" panose="02040503050406030204" charset="0"/>
                                  </a:rPr>
                                  <m:t>𝑂</m:t>
                                </m:r>
                                <m:r>
                                  <a:rPr lang="en-US" altLang="en-US" sz="2800" i="1" dirty="0" smtClean="0">
                                    <a:latin typeface="Cambria Math" panose="02040503050406030204" charset="0"/>
                                  </a:rPr>
                                  <m:t> (</m:t>
                                </m:r>
                                <m:r>
                                  <a:rPr lang="en-US" altLang="en-US" sz="2800" i="1" dirty="0" smtClean="0">
                                    <a:latin typeface="Cambria Math" panose="02040503050406030204" charset="0"/>
                                  </a:rPr>
                                  <m:t>1</m:t>
                                </m:r>
                                <m:r>
                                  <a:rPr lang="en-US" altLang="en-US" sz="2800" i="1" dirty="0" smtClean="0">
                                    <a:latin typeface="Cambria Math" panose="02040503050406030204" charset="0"/>
                                  </a:rPr>
                                  <m:t>) </m:t>
                                </m:r>
                              </m:oMath>
                            </m:oMathPara>
                          </a14:m>
                          <a:endParaRPr lang="en-US" altLang="en-US" sz="2800" dirty="0"/>
                        </a:p>
                      </a:txBody>
                      <a:tcPr/>
                    </a:tc>
                  </a:tr>
                  <a:tr h="1132840">
                    <a:tc>
                      <a:txBody>
                        <a:bodyPr/>
                        <a:lstStyle/>
                        <a:p>
                          <a:pPr>
                            <a:buNone/>
                          </a:pPr>
                          <a:r>
                            <a:rPr lang="en-US" altLang="en-US" sz="2800"/>
                            <a:t>traverse adjacency edge</a:t>
                          </a:r>
                          <a:endParaRPr lang="en-US" altLang="en-US" sz="2800"/>
                        </a:p>
                      </a:txBody>
                      <a:tcPr/>
                    </a:tc>
                    <a:tc>
                      <a:txBody>
                        <a:bodyPr/>
                        <a:lstStyle/>
                        <a:p>
                          <a:pPr>
                            <a:buNone/>
                          </a:pPr>
                          <a14:m>
                            <m:oMathPara xmlns:m="http://schemas.openxmlformats.org/officeDocument/2006/math">
                              <m:oMathParaPr>
                                <m:jc m:val="centerGroup"/>
                              </m:oMathParaPr>
                              <m:oMath xmlns:m="http://schemas.openxmlformats.org/officeDocument/2006/math">
                                <m:r>
                                  <a:rPr lang="en-US" altLang="en-US" sz="2800" i="1" dirty="0" smtClean="0">
                                    <a:latin typeface="Cambria Math" panose="02040503050406030204" charset="0"/>
                                  </a:rPr>
                                  <m:t>𝑂</m:t>
                                </m:r>
                                <m:r>
                                  <a:rPr lang="en-US" altLang="en-US" sz="2800" i="1" dirty="0" smtClean="0">
                                    <a:latin typeface="Cambria Math" panose="02040503050406030204" charset="0"/>
                                  </a:rPr>
                                  <m:t> (</m:t>
                                </m:r>
                                <m:r>
                                  <m:rPr>
                                    <m:sty m:val="p"/>
                                  </m:rPr>
                                  <a:rPr lang="en-US" altLang="en-US" sz="2800" i="1" dirty="0" smtClean="0">
                                    <a:latin typeface="Cambria Math" panose="02040503050406030204" charset="0"/>
                                  </a:rPr>
                                  <m:t>deg</m:t>
                                </m:r>
                                <m:r>
                                  <a:rPr lang="en-US" altLang="en-US" sz="2800" i="1" dirty="0" smtClean="0">
                                    <a:latin typeface="Cambria Math" panose="02040503050406030204" charset="0"/>
                                  </a:rPr>
                                  <m:t>⁡(</m:t>
                                </m:r>
                                <m:r>
                                  <a:rPr lang="en-US" altLang="en-US" sz="2800" i="1" dirty="0" smtClean="0">
                                    <a:latin typeface="Cambria Math" panose="02040503050406030204" charset="0"/>
                                  </a:rPr>
                                  <m:t>𝑣</m:t>
                                </m:r>
                                <m:r>
                                  <a:rPr lang="en-US" altLang="en-US" sz="2800" i="1" dirty="0" smtClean="0">
                                    <a:latin typeface="Cambria Math" panose="02040503050406030204" charset="0"/>
                                  </a:rPr>
                                  <m:t>))</m:t>
                                </m:r>
                              </m:oMath>
                            </m:oMathPara>
                          </a14:m>
                          <a:endParaRPr lang="en-US" altLang="en-US" sz="2800" dirty="0"/>
                        </a:p>
                      </a:txBody>
                      <a:tcPr/>
                    </a:tc>
                    <a:tc>
                      <a:txBody>
                        <a:bodyPr/>
                        <a:lstStyle/>
                        <a:p>
                          <a:pPr>
                            <a:buNone/>
                          </a:pPr>
                          <a14:m>
                            <m:oMathPara xmlns:m="http://schemas.openxmlformats.org/officeDocument/2006/math">
                              <m:oMathParaPr>
                                <m:jc m:val="centerGroup"/>
                              </m:oMathParaPr>
                              <m:oMath xmlns:m="http://schemas.openxmlformats.org/officeDocument/2006/math">
                                <m:r>
                                  <a:rPr lang="en-US" altLang="en-US" sz="2800" i="1" dirty="0" smtClean="0">
                                    <a:latin typeface="Cambria Math" panose="02040503050406030204" charset="0"/>
                                  </a:rPr>
                                  <m:t>𝑂</m:t>
                                </m:r>
                                <m:r>
                                  <a:rPr lang="en-US" altLang="en-US" sz="2800" i="1" dirty="0" smtClean="0">
                                    <a:latin typeface="Cambria Math" panose="02040503050406030204" charset="0"/>
                                  </a:rPr>
                                  <m:t> (</m:t>
                                </m:r>
                                <m:r>
                                  <a:rPr lang="en-US" altLang="en-US" sz="2800" i="1" dirty="0" smtClean="0">
                                    <a:latin typeface="Cambria Math" panose="02040503050406030204" charset="0"/>
                                  </a:rPr>
                                  <m:t>𝑛</m:t>
                                </m:r>
                                <m:r>
                                  <a:rPr lang="en-US" altLang="en-US" sz="2800" i="1" dirty="0" smtClean="0">
                                    <a:latin typeface="Cambria Math" panose="02040503050406030204" charset="0"/>
                                  </a:rPr>
                                  <m:t>)</m:t>
                                </m:r>
                              </m:oMath>
                            </m:oMathPara>
                          </a14:m>
                          <a:endParaRPr lang="en-US" altLang="en-US" sz="2800" dirty="0"/>
                        </a:p>
                      </a:txBody>
                      <a:tcPr/>
                    </a:tc>
                  </a:tr>
                  <a:tr h="1225550">
                    <a:tc>
                      <a:txBody>
                        <a:bodyPr/>
                        <a:lstStyle/>
                        <a:p>
                          <a:pPr>
                            <a:buNone/>
                          </a:pPr>
                          <a:r>
                            <a:rPr lang="en-US" altLang="en-US" sz="2800"/>
                            <a:t>insert an edge</a:t>
                          </a:r>
                          <a:endParaRPr lang="en-US" altLang="en-US" sz="2800"/>
                        </a:p>
                      </a:txBody>
                      <a:tcPr/>
                    </a:tc>
                    <a:tc>
                      <a:txBody>
                        <a:bodyPr/>
                        <a:lstStyle/>
                        <a:p>
                          <a:pPr>
                            <a:buNone/>
                          </a:pPr>
                          <a14:m>
                            <m:oMathPara xmlns:m="http://schemas.openxmlformats.org/officeDocument/2006/math">
                              <m:oMathParaPr>
                                <m:jc m:val="centerGroup"/>
                              </m:oMathParaPr>
                              <m:oMath xmlns:m="http://schemas.openxmlformats.org/officeDocument/2006/math">
                                <m:r>
                                  <a:rPr lang="en-US" altLang="en-US" sz="2800" i="1" dirty="0" smtClean="0">
                                    <a:latin typeface="Cambria Math" panose="02040503050406030204" charset="0"/>
                                  </a:rPr>
                                  <m:t>𝑂</m:t>
                                </m:r>
                                <m:r>
                                  <a:rPr lang="en-US" altLang="en-US" sz="2800" i="1" dirty="0" smtClean="0">
                                    <a:latin typeface="Cambria Math" panose="02040503050406030204" charset="0"/>
                                  </a:rPr>
                                  <m:t> (</m:t>
                                </m:r>
                                <m:r>
                                  <a:rPr lang="en-US" altLang="en-US" sz="2800" i="1" dirty="0" smtClean="0">
                                    <a:latin typeface="Cambria Math" panose="02040503050406030204" charset="0"/>
                                  </a:rPr>
                                  <m:t>1</m:t>
                                </m:r>
                                <m:r>
                                  <a:rPr lang="en-US" altLang="en-US" sz="2800" i="1" dirty="0" smtClean="0">
                                    <a:latin typeface="Cambria Math" panose="02040503050406030204" charset="0"/>
                                  </a:rPr>
                                  <m:t>)</m:t>
                                </m:r>
                              </m:oMath>
                            </m:oMathPara>
                          </a14:m>
                          <a:endParaRPr lang="en-US" altLang="en-US" sz="2800" dirty="0"/>
                        </a:p>
                      </a:txBody>
                      <a:tcPr/>
                    </a:tc>
                    <a:tc>
                      <a:txBody>
                        <a:bodyPr/>
                        <a:lstStyle/>
                        <a:p>
                          <a:pPr>
                            <a:buNone/>
                          </a:pPr>
                          <a14:m>
                            <m:oMathPara xmlns:m="http://schemas.openxmlformats.org/officeDocument/2006/math">
                              <m:oMathParaPr>
                                <m:jc m:val="centerGroup"/>
                              </m:oMathParaPr>
                              <m:oMath xmlns:m="http://schemas.openxmlformats.org/officeDocument/2006/math">
                                <m:r>
                                  <a:rPr lang="en-US" altLang="en-US" sz="2800" i="1" dirty="0" smtClean="0">
                                    <a:latin typeface="Cambria Math" panose="02040503050406030204" charset="0"/>
                                  </a:rPr>
                                  <m:t>𝑂</m:t>
                                </m:r>
                                <m:r>
                                  <a:rPr lang="en-US" altLang="en-US" sz="2800" i="1" dirty="0" smtClean="0">
                                    <a:latin typeface="Cambria Math" panose="02040503050406030204" charset="0"/>
                                  </a:rPr>
                                  <m:t> (</m:t>
                                </m:r>
                                <m:r>
                                  <a:rPr lang="en-US" altLang="en-US" sz="2800" i="1" dirty="0" smtClean="0">
                                    <a:latin typeface="Cambria Math" panose="02040503050406030204" charset="0"/>
                                  </a:rPr>
                                  <m:t>1</m:t>
                                </m:r>
                                <m:r>
                                  <a:rPr lang="en-US" altLang="en-US" sz="2800" i="1" dirty="0" smtClean="0">
                                    <a:latin typeface="Cambria Math" panose="02040503050406030204" charset="0"/>
                                  </a:rPr>
                                  <m:t>)</m:t>
                                </m:r>
                              </m:oMath>
                            </m:oMathPara>
                          </a14:m>
                          <a:endParaRPr lang="en-US" altLang="en-US" sz="2800" dirty="0"/>
                        </a:p>
                      </a:txBody>
                      <a:tcPr/>
                    </a:tc>
                  </a:tr>
                  <a:tr h="1224915">
                    <a:tc>
                      <a:txBody>
                        <a:bodyPr/>
                        <a:lstStyle/>
                        <a:p>
                          <a:pPr>
                            <a:buNone/>
                          </a:pPr>
                          <a:r>
                            <a:rPr lang="en-US" altLang="en-US" sz="2800"/>
                            <a:t>delete an edge</a:t>
                          </a:r>
                          <a:endParaRPr lang="en-US" altLang="en-US" sz="2800"/>
                        </a:p>
                      </a:txBody>
                      <a:tcPr/>
                    </a:tc>
                    <a:tc>
                      <a:txBody>
                        <a:bodyPr/>
                        <a:lstStyle/>
                        <a:p>
                          <a:pPr>
                            <a:buNone/>
                          </a:pPr>
                          <a14:m>
                            <m:oMathPara xmlns:m="http://schemas.openxmlformats.org/officeDocument/2006/math">
                              <m:oMathParaPr>
                                <m:jc m:val="centerGroup"/>
                              </m:oMathParaPr>
                              <m:oMath xmlns:m="http://schemas.openxmlformats.org/officeDocument/2006/math">
                                <m:r>
                                  <a:rPr lang="en-US" altLang="en-US" sz="2800" i="1" dirty="0" smtClean="0">
                                    <a:latin typeface="Cambria Math" panose="02040503050406030204" charset="0"/>
                                  </a:rPr>
                                  <m:t>𝑂</m:t>
                                </m:r>
                                <m:r>
                                  <a:rPr lang="en-US" altLang="en-US" sz="2800" i="1" dirty="0" smtClean="0">
                                    <a:latin typeface="Cambria Math" panose="02040503050406030204" charset="0"/>
                                  </a:rPr>
                                  <m:t> (</m:t>
                                </m:r>
                                <m:r>
                                  <m:rPr>
                                    <m:sty m:val="p"/>
                                  </m:rPr>
                                  <a:rPr lang="en-US" altLang="en-US" sz="2800" i="1" dirty="0" smtClean="0">
                                    <a:latin typeface="Cambria Math" panose="02040503050406030204" charset="0"/>
                                  </a:rPr>
                                  <m:t>deg</m:t>
                                </m:r>
                                <m:r>
                                  <a:rPr lang="en-US" altLang="en-US" sz="2800" i="1" dirty="0" smtClean="0">
                                    <a:latin typeface="Cambria Math" panose="02040503050406030204" charset="0"/>
                                  </a:rPr>
                                  <m:t>⁡(</m:t>
                                </m:r>
                                <m:r>
                                  <a:rPr lang="en-US" altLang="en-US" sz="2800" i="1" dirty="0" smtClean="0">
                                    <a:latin typeface="Cambria Math" panose="02040503050406030204" charset="0"/>
                                  </a:rPr>
                                  <m:t>𝑣</m:t>
                                </m:r>
                                <m:r>
                                  <a:rPr lang="en-US" altLang="en-US" sz="2800" i="1" dirty="0" smtClean="0">
                                    <a:latin typeface="Cambria Math" panose="02040503050406030204" charset="0"/>
                                  </a:rPr>
                                  <m:t>))</m:t>
                                </m:r>
                              </m:oMath>
                            </m:oMathPara>
                          </a14:m>
                          <a:endParaRPr lang="en-US" altLang="en-US" sz="2800" dirty="0"/>
                        </a:p>
                      </a:txBody>
                      <a:tcPr/>
                    </a:tc>
                    <a:tc>
                      <a:txBody>
                        <a:bodyPr/>
                        <a:lstStyle/>
                        <a:p>
                          <a:pPr>
                            <a:buNone/>
                          </a:pPr>
                          <a14:m>
                            <m:oMathPara xmlns:m="http://schemas.openxmlformats.org/officeDocument/2006/math">
                              <m:oMathParaPr>
                                <m:jc m:val="centerGroup"/>
                              </m:oMathParaPr>
                              <m:oMath xmlns:m="http://schemas.openxmlformats.org/officeDocument/2006/math">
                                <m:r>
                                  <a:rPr lang="en-US" altLang="en-US" sz="2800" i="1" dirty="0" smtClean="0">
                                    <a:latin typeface="Cambria Math" panose="02040503050406030204" charset="0"/>
                                  </a:rPr>
                                  <m:t>𝑂</m:t>
                                </m:r>
                                <m:r>
                                  <a:rPr lang="en-US" altLang="en-US" sz="2800" i="1" dirty="0" smtClean="0">
                                    <a:latin typeface="Cambria Math" panose="02040503050406030204" charset="0"/>
                                  </a:rPr>
                                  <m:t> (</m:t>
                                </m:r>
                                <m:r>
                                  <a:rPr lang="en-US" altLang="en-US" sz="2800" i="1" dirty="0" smtClean="0">
                                    <a:latin typeface="Cambria Math" panose="02040503050406030204" charset="0"/>
                                  </a:rPr>
                                  <m:t>1</m:t>
                                </m:r>
                                <m:r>
                                  <a:rPr lang="en-US" altLang="en-US" sz="2800" i="1" dirty="0" smtClean="0">
                                    <a:latin typeface="Cambria Math" panose="02040503050406030204" charset="0"/>
                                  </a:rPr>
                                  <m:t>)</m:t>
                                </m:r>
                              </m:oMath>
                            </m:oMathPara>
                          </a14:m>
                          <a:endParaRPr lang="en-US" altLang="en-US" sz="2800" dirty="0"/>
                        </a:p>
                      </a:txBody>
                      <a:tcPr/>
                    </a:tc>
                  </a:tr>
                </a:tbl>
              </a:graphicData>
            </a:graphic>
          </p:graphicFrame>
        </mc:Choice>
        <mc:Fallback xmlns="">
          <p:graphicFrame>
            <p:nvGraphicFramePr>
              <p:cNvPr id="4" name="Content Placeholder 3"/>
              <p:cNvGraphicFramePr>
                <a:graphicFrameLocks noGrp="1"/>
              </p:cNvGraphicFramePr>
              <p:nvPr>
                <p:ph idx="1"/>
                <p:custDataLst>
                  <p:tags r:id="rId2"/>
                </p:custDataLst>
              </p:nvPr>
            </p:nvGraphicFramePr>
            <p:xfrm>
              <a:off x="282575" y="108585"/>
              <a:ext cx="11657330" cy="6405880"/>
            </p:xfrm>
            <a:graphic>
              <a:graphicData uri="http://schemas.openxmlformats.org/drawingml/2006/table">
                <a:tbl>
                  <a:tblPr firstRow="1" bandRow="1">
                    <a:tableStyleId>{5C22544A-7EE6-4342-B048-85BDC9FD1C3A}</a:tableStyleId>
                  </a:tblPr>
                  <a:tblGrid>
                    <a:gridCol w="3587750"/>
                    <a:gridCol w="4288790"/>
                    <a:gridCol w="3780790"/>
                  </a:tblGrid>
                  <a:tr h="1208405">
                    <a:tc>
                      <a:txBody>
                        <a:bodyPr/>
                        <a:lstStyle/>
                        <a:p>
                          <a:pPr>
                            <a:buNone/>
                          </a:pPr>
                          <a:r>
                            <a:rPr lang="en-US" altLang="en-US" sz="2400"/>
                            <a:t>Comparison1</a:t>
                          </a:r>
                          <a:endParaRPr lang="en-US" altLang="en-US" sz="2400"/>
                        </a:p>
                      </a:txBody>
                      <a:tcPr/>
                    </a:tc>
                    <a:tc>
                      <a:txBody>
                        <a:bodyPr/>
                        <a:lstStyle/>
                        <a:p>
                          <a:pPr>
                            <a:buNone/>
                          </a:pPr>
                          <a:r>
                            <a:rPr lang="en-US" altLang="en-US" sz="2400"/>
                            <a:t>Adjacency list</a:t>
                          </a:r>
                          <a:endParaRPr lang="en-US" altLang="en-US" sz="2400"/>
                        </a:p>
                      </a:txBody>
                      <a:tcPr/>
                    </a:tc>
                    <a:tc>
                      <a:txBody>
                        <a:bodyPr/>
                        <a:lstStyle/>
                        <a:p>
                          <a:pPr>
                            <a:buNone/>
                          </a:pPr>
                          <a:r>
                            <a:rPr lang="en-US" altLang="en-US"/>
                            <a:t>Adjacency table</a:t>
                          </a:r>
                          <a:endParaRPr lang="en-US" altLang="en-US"/>
                        </a:p>
                      </a:txBody>
                      <a:tcPr/>
                    </a:tc>
                  </a:tr>
                  <a:tr h="1614170">
                    <a:tc>
                      <a:txBody>
                        <a:bodyPr/>
                        <a:lstStyle/>
                        <a:p>
                          <a:pPr>
                            <a:buNone/>
                          </a:pPr>
                          <a:r>
                            <a:rPr lang="en-US" altLang="en-US" sz="2800"/>
                            <a:t>check whether an edge exists</a:t>
                          </a:r>
                          <a:endParaRPr lang="en-US" altLang="en-US" sz="2800"/>
                        </a:p>
                      </a:txBody>
                      <a:tcPr/>
                    </a:tc>
                    <a:tc>
                      <a:txBody>
                        <a:bodyPr/>
                        <a:lstStyle/>
                        <a:p>
                          <a:endParaRPr lang="en-US"/>
                        </a:p>
                      </a:txBody>
                      <a:tcPr>
                        <a:blipFill>
                          <a:blip r:embed="rId3"/>
                        </a:blipFill>
                      </a:tcPr>
                    </a:tc>
                    <a:tc>
                      <a:txBody>
                        <a:bodyPr/>
                        <a:lstStyle/>
                        <a:p>
                          <a:endParaRPr lang="en-US"/>
                        </a:p>
                      </a:txBody>
                      <a:tcPr>
                        <a:blipFill>
                          <a:blip r:embed="rId3"/>
                        </a:blipFill>
                      </a:tcPr>
                    </a:tc>
                  </a:tr>
                  <a:tr h="1132840">
                    <a:tc>
                      <a:txBody>
                        <a:bodyPr/>
                        <a:lstStyle/>
                        <a:p>
                          <a:pPr>
                            <a:buNone/>
                          </a:pPr>
                          <a:r>
                            <a:rPr lang="en-US" altLang="en-US" sz="2800"/>
                            <a:t>traverse adjacency edge</a:t>
                          </a:r>
                          <a:endParaRPr lang="en-US" altLang="en-US" sz="2800"/>
                        </a:p>
                      </a:txBody>
                      <a:tcPr/>
                    </a:tc>
                    <a:tc>
                      <a:txBody>
                        <a:bodyPr/>
                        <a:lstStyle/>
                        <a:p>
                          <a:endParaRPr lang="en-US"/>
                        </a:p>
                      </a:txBody>
                      <a:tcPr>
                        <a:blipFill>
                          <a:blip r:embed="rId3"/>
                        </a:blipFill>
                      </a:tcPr>
                    </a:tc>
                    <a:tc>
                      <a:txBody>
                        <a:bodyPr/>
                        <a:lstStyle/>
                        <a:p>
                          <a:endParaRPr lang="en-US"/>
                        </a:p>
                      </a:txBody>
                      <a:tcPr>
                        <a:blipFill>
                          <a:blip r:embed="rId3"/>
                        </a:blipFill>
                      </a:tcPr>
                    </a:tc>
                  </a:tr>
                  <a:tr h="1225550">
                    <a:tc>
                      <a:txBody>
                        <a:bodyPr/>
                        <a:lstStyle/>
                        <a:p>
                          <a:pPr>
                            <a:buNone/>
                          </a:pPr>
                          <a:r>
                            <a:rPr lang="en-US" altLang="en-US" sz="2800"/>
                            <a:t>insert an edge</a:t>
                          </a:r>
                          <a:endParaRPr lang="en-US" altLang="en-US" sz="2800"/>
                        </a:p>
                      </a:txBody>
                      <a:tcPr/>
                    </a:tc>
                    <a:tc>
                      <a:txBody>
                        <a:bodyPr/>
                        <a:lstStyle/>
                        <a:p>
                          <a:endParaRPr lang="en-US"/>
                        </a:p>
                      </a:txBody>
                      <a:tcPr>
                        <a:blipFill>
                          <a:blip r:embed="rId3"/>
                        </a:blipFill>
                      </a:tcPr>
                    </a:tc>
                    <a:tc>
                      <a:txBody>
                        <a:bodyPr/>
                        <a:lstStyle/>
                        <a:p>
                          <a:endParaRPr lang="en-US"/>
                        </a:p>
                      </a:txBody>
                      <a:tcPr>
                        <a:blipFill>
                          <a:blip r:embed="rId3"/>
                        </a:blipFill>
                      </a:tcPr>
                    </a:tc>
                  </a:tr>
                  <a:tr h="1224915">
                    <a:tc>
                      <a:txBody>
                        <a:bodyPr/>
                        <a:lstStyle/>
                        <a:p>
                          <a:pPr>
                            <a:buNone/>
                          </a:pPr>
                          <a:r>
                            <a:rPr lang="en-US" altLang="en-US" sz="2800"/>
                            <a:t>delete an edge</a:t>
                          </a:r>
                          <a:endParaRPr lang="en-US" altLang="en-US" sz="2800"/>
                        </a:p>
                      </a:txBody>
                      <a:tcPr/>
                    </a:tc>
                    <a:tc>
                      <a:txBody>
                        <a:bodyPr/>
                        <a:lstStyle/>
                        <a:p>
                          <a:endParaRPr lang="en-US"/>
                        </a:p>
                      </a:txBody>
                      <a:tcPr>
                        <a:blipFill>
                          <a:blip r:embed="rId3"/>
                        </a:blipFill>
                      </a:tcPr>
                    </a:tc>
                    <a:tc>
                      <a:txBody>
                        <a:bodyPr/>
                        <a:lstStyle/>
                        <a:p>
                          <a:endParaRPr lang="en-US"/>
                        </a:p>
                      </a:txBody>
                      <a:tcPr>
                        <a:blipFill>
                          <a:blip r:embed="rId3"/>
                        </a:blipFill>
                      </a:tcPr>
                    </a:tc>
                  </a:tr>
                </a:tbl>
              </a:graphicData>
            </a:graphic>
          </p:graphicFrame>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b="1" dirty="0">
                <a:latin typeface="Calibri" panose="020F0502020204030204" pitchFamily="34" charset="0"/>
                <a:ea typeface="Calibri" panose="020F0502020204030204" pitchFamily="34" charset="0"/>
                <a:cs typeface="Calibri" panose="020F0502020204030204" pitchFamily="34" charset="0"/>
              </a:rPr>
              <a:t>Shortest Path on </a:t>
            </a:r>
            <a:r>
              <a:rPr lang="en-US" altLang="zh-CN" b="1" dirty="0">
                <a:latin typeface="Calibri" panose="020F0502020204030204" pitchFamily="34" charset="0"/>
                <a:ea typeface="Calibri" panose="020F0502020204030204" pitchFamily="34" charset="0"/>
                <a:cs typeface="Calibri" panose="020F0502020204030204" pitchFamily="34" charset="0"/>
              </a:rPr>
              <a:t>Graph</a:t>
            </a:r>
            <a:endParaRPr lang="zh-CN" altLang="en-US" dirty="0">
              <a:latin typeface="Calibri" panose="020F0502020204030204" pitchFamily="34" charset="0"/>
              <a:cs typeface="Calibri" panose="020F0502020204030204" pitchFamily="34" charset="0"/>
            </a:endParaRPr>
          </a:p>
        </p:txBody>
      </p:sp>
      <p:sp>
        <p:nvSpPr>
          <p:cNvPr id="7" name="Text Box 6"/>
          <p:cNvSpPr txBox="1"/>
          <p:nvPr/>
        </p:nvSpPr>
        <p:spPr>
          <a:xfrm>
            <a:off x="595630" y="1522095"/>
            <a:ext cx="10894060" cy="4826000"/>
          </a:xfrm>
          <a:prstGeom prst="rect">
            <a:avLst/>
          </a:prstGeom>
          <a:noFill/>
        </p:spPr>
        <p:txBody>
          <a:bodyPr wrap="square" rtlCol="0">
            <a:noAutofit/>
          </a:bodyPr>
          <a:lstStyle/>
          <a:p>
            <a:pPr marL="514350" indent="-514350">
              <a:buAutoNum type="arabicPeriod"/>
            </a:pPr>
            <a:r>
              <a:rPr lang="en-US" altLang="en-US" sz="2800" b="1" dirty="0"/>
              <a:t>Dijkstra </a:t>
            </a:r>
            <a:r>
              <a:rPr lang="en-US" altLang="en-US" sz="2800" dirty="0"/>
              <a:t>(based on greedy)</a:t>
            </a:r>
            <a:endParaRPr lang="en-US" altLang="en-US" sz="2800" dirty="0"/>
          </a:p>
          <a:p>
            <a:pPr marL="457200" indent="-457200">
              <a:lnSpc>
                <a:spcPct val="150000"/>
              </a:lnSpc>
              <a:buFont typeface="Arial" panose="020B0604020202020204" pitchFamily="34" charset="0"/>
              <a:buChar char="•"/>
            </a:pPr>
            <a:r>
              <a:rPr lang="en-US" altLang="en-US" sz="2800" dirty="0"/>
              <a:t>Single-source, non-negative edge weights</a:t>
            </a:r>
            <a:endParaRPr lang="en-US" altLang="en-US" sz="2800" dirty="0"/>
          </a:p>
          <a:p>
            <a:pPr marL="457200" indent="-457200">
              <a:lnSpc>
                <a:spcPct val="150000"/>
              </a:lnSpc>
              <a:buFont typeface="Arial" panose="020B0604020202020204" pitchFamily="34" charset="0"/>
              <a:buChar char="•"/>
            </a:pPr>
            <a:r>
              <a:rPr lang="en-US" altLang="en-US" sz="2800" dirty="0"/>
              <a:t>Iteratively selecting the node with the smallest known distance</a:t>
            </a:r>
            <a:endParaRPr lang="en-US" altLang="en-US" sz="2800" dirty="0"/>
          </a:p>
          <a:p>
            <a:pPr marL="457200" indent="-457200">
              <a:lnSpc>
                <a:spcPct val="150000"/>
              </a:lnSpc>
              <a:buFont typeface="Arial" panose="020B0604020202020204" pitchFamily="34" charset="0"/>
              <a:buChar char="•"/>
            </a:pPr>
            <a:r>
              <a:rPr lang="en-US" altLang="en-US" sz="2800" dirty="0"/>
              <a:t>Updating the shortest path estimates for its neighbors</a:t>
            </a:r>
            <a:endParaRPr lang="en-US" altLang="en-US" sz="2800" dirty="0"/>
          </a:p>
          <a:p>
            <a:pPr marL="457200" indent="-457200">
              <a:lnSpc>
                <a:spcPct val="150000"/>
              </a:lnSpc>
              <a:buFont typeface="Arial" panose="020B0604020202020204" pitchFamily="34" charset="0"/>
              <a:buChar char="•"/>
            </a:pPr>
            <a:r>
              <a:rPr lang="en-US" altLang="en-US" sz="2800" dirty="0"/>
              <a:t>Repeating this process until all nodes have been visited</a:t>
            </a:r>
            <a:endParaRPr lang="en-US" altLang="en-US" sz="2800" dirty="0"/>
          </a:p>
          <a:p>
            <a:pPr marL="457200" indent="-457200">
              <a:lnSpc>
                <a:spcPct val="150000"/>
              </a:lnSpc>
              <a:buFont typeface="Arial" panose="020B0604020202020204" pitchFamily="34" charset="0"/>
              <a:buChar char="•"/>
            </a:pPr>
            <a:r>
              <a:rPr lang="en-US" altLang="en-US" sz="2800" dirty="0"/>
              <a:t>The algorithm ensures that once a node's shortest path is determined, it will not change. </a:t>
            </a:r>
            <a:r>
              <a:rPr lang="en-US" altLang="en-US" sz="2800" b="1" dirty="0"/>
              <a:t>(Edge weights must be non-negative)</a:t>
            </a:r>
            <a:endParaRPr lang="en-US" altLang="en-US" sz="2800" b="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4150" y="139065"/>
            <a:ext cx="9022080" cy="6652260"/>
          </a:xfrm>
          <a:solidFill>
            <a:schemeClr val="tx2">
              <a:lumMod val="50000"/>
            </a:schemeClr>
          </a:solidFill>
        </p:spPr>
        <p:txBody>
          <a:bodyPr>
            <a:noAutofit/>
          </a:bodyPr>
          <a:lstStyle/>
          <a:p>
            <a:pPr marL="0" indent="0">
              <a:lnSpc>
                <a:spcPct val="120000"/>
              </a:lnSpc>
              <a:buNone/>
            </a:pPr>
            <a:r>
              <a:rPr lang="en-US" altLang="zh-CN" sz="1500" b="0" dirty="0">
                <a:solidFill>
                  <a:srgbClr val="FF79C6"/>
                </a:solidFill>
                <a:effectLst/>
                <a:latin typeface="Consolas" panose="020B0609020204030204" pitchFamily="49" charset="0"/>
              </a:rPr>
              <a:t>void</a:t>
            </a:r>
            <a:r>
              <a:rPr lang="en-US" altLang="zh-CN" sz="1500" b="0" dirty="0">
                <a:solidFill>
                  <a:srgbClr val="F8F8F2"/>
                </a:solidFill>
                <a:effectLst/>
                <a:latin typeface="Consolas" panose="020B0609020204030204" pitchFamily="49" charset="0"/>
              </a:rPr>
              <a:t> </a:t>
            </a:r>
            <a:r>
              <a:rPr lang="en-US" altLang="zh-CN" sz="1500" b="0" dirty="0" err="1">
                <a:solidFill>
                  <a:srgbClr val="50FA7B"/>
                </a:solidFill>
                <a:effectLst/>
                <a:latin typeface="Consolas" panose="020B0609020204030204" pitchFamily="49" charset="0"/>
              </a:rPr>
              <a:t>dijkstra</a:t>
            </a:r>
            <a:r>
              <a:rPr lang="en-US" altLang="zh-CN" sz="1500" b="0" dirty="0">
                <a:solidFill>
                  <a:srgbClr val="F8F8F2"/>
                </a:solidFill>
                <a:effectLst/>
                <a:latin typeface="Consolas" panose="020B0609020204030204" pitchFamily="49" charset="0"/>
              </a:rPr>
              <a:t>(</a:t>
            </a:r>
            <a:r>
              <a:rPr lang="en-US" altLang="zh-CN" sz="1500" b="0" dirty="0">
                <a:solidFill>
                  <a:srgbClr val="FF79C6"/>
                </a:solidFill>
                <a:effectLst/>
                <a:latin typeface="Consolas" panose="020B0609020204030204" pitchFamily="49" charset="0"/>
              </a:rPr>
              <a:t>int</a:t>
            </a:r>
            <a:r>
              <a:rPr lang="en-US" altLang="zh-CN" sz="1500" b="0" dirty="0">
                <a:solidFill>
                  <a:srgbClr val="F8F8F2"/>
                </a:solidFill>
                <a:effectLst/>
                <a:latin typeface="Consolas" panose="020B0609020204030204" pitchFamily="49" charset="0"/>
              </a:rPr>
              <a:t> </a:t>
            </a:r>
            <a:r>
              <a:rPr lang="en-US" altLang="zh-CN" sz="1500" b="0" i="1" dirty="0">
                <a:solidFill>
                  <a:srgbClr val="FFB86C"/>
                </a:solidFill>
                <a:effectLst/>
                <a:latin typeface="Consolas" panose="020B0609020204030204" pitchFamily="49" charset="0"/>
              </a:rPr>
              <a:t>source</a:t>
            </a:r>
            <a:r>
              <a:rPr lang="en-US" altLang="zh-CN" sz="1500" b="0" dirty="0">
                <a:solidFill>
                  <a:srgbClr val="F8F8F2"/>
                </a:solidFill>
                <a:effectLst/>
                <a:latin typeface="Consolas" panose="020B0609020204030204" pitchFamily="49" charset="0"/>
              </a:rPr>
              <a:t>){</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b="0" dirty="0">
                <a:solidFill>
                  <a:srgbClr val="F8F8F2"/>
                </a:solidFill>
                <a:effectLst/>
                <a:latin typeface="Consolas" panose="020B0609020204030204" pitchFamily="49" charset="0"/>
              </a:rPr>
              <a:t>    </a:t>
            </a:r>
            <a:r>
              <a:rPr lang="en-US" altLang="zh-CN" sz="1500" b="0" dirty="0">
                <a:solidFill>
                  <a:srgbClr val="FF79C6"/>
                </a:solidFill>
                <a:effectLst/>
                <a:latin typeface="Consolas" panose="020B0609020204030204" pitchFamily="49" charset="0"/>
              </a:rPr>
              <a:t>for</a:t>
            </a:r>
            <a:r>
              <a:rPr lang="en-US" altLang="zh-CN" sz="1500" b="0" dirty="0">
                <a:solidFill>
                  <a:srgbClr val="F8F8F2"/>
                </a:solidFill>
                <a:effectLst/>
                <a:latin typeface="Consolas" panose="020B0609020204030204" pitchFamily="49" charset="0"/>
              </a:rPr>
              <a:t>(</a:t>
            </a:r>
            <a:r>
              <a:rPr lang="en-US" altLang="zh-CN" sz="1500" b="0" dirty="0">
                <a:solidFill>
                  <a:srgbClr val="FF79C6"/>
                </a:solidFill>
                <a:effectLst/>
                <a:latin typeface="Consolas" panose="020B0609020204030204" pitchFamily="49" charset="0"/>
              </a:rPr>
              <a:t>int</a:t>
            </a:r>
            <a:r>
              <a:rPr lang="en-US" altLang="zh-CN" sz="1500" b="0" dirty="0">
                <a:solidFill>
                  <a:srgbClr val="F8F8F2"/>
                </a:solidFill>
                <a:effectLst/>
                <a:latin typeface="Consolas" panose="020B0609020204030204" pitchFamily="49" charset="0"/>
              </a:rPr>
              <a:t> </a:t>
            </a:r>
            <a:r>
              <a:rPr lang="en-US" altLang="zh-CN" sz="1500" b="0" dirty="0" err="1">
                <a:solidFill>
                  <a:srgbClr val="F8F8F2"/>
                </a:solidFill>
                <a:effectLst/>
                <a:latin typeface="Consolas" panose="020B0609020204030204" pitchFamily="49" charset="0"/>
              </a:rPr>
              <a:t>i</a:t>
            </a:r>
            <a:r>
              <a:rPr lang="en-US" altLang="zh-CN" sz="1500" b="0" dirty="0">
                <a:solidFill>
                  <a:srgbClr val="F8F8F2"/>
                </a:solidFill>
                <a:effectLst/>
                <a:latin typeface="Consolas" panose="020B0609020204030204" pitchFamily="49" charset="0"/>
              </a:rPr>
              <a:t> </a:t>
            </a:r>
            <a:r>
              <a:rPr lang="en-US" altLang="zh-CN" sz="1500" b="0" dirty="0">
                <a:solidFill>
                  <a:srgbClr val="FF79C6"/>
                </a:solidFill>
                <a:effectLst/>
                <a:latin typeface="Consolas" panose="020B0609020204030204" pitchFamily="49" charset="0"/>
              </a:rPr>
              <a:t>=</a:t>
            </a:r>
            <a:r>
              <a:rPr lang="en-US" altLang="zh-CN" sz="1500" b="0" dirty="0">
                <a:solidFill>
                  <a:srgbClr val="F8F8F2"/>
                </a:solidFill>
                <a:effectLst/>
                <a:latin typeface="Consolas" panose="020B0609020204030204" pitchFamily="49" charset="0"/>
              </a:rPr>
              <a:t> </a:t>
            </a:r>
            <a:r>
              <a:rPr lang="en-US" altLang="zh-CN" sz="1500" b="0" dirty="0">
                <a:solidFill>
                  <a:srgbClr val="BD93F9"/>
                </a:solidFill>
                <a:effectLst/>
                <a:latin typeface="Consolas" panose="020B0609020204030204" pitchFamily="49" charset="0"/>
              </a:rPr>
              <a:t>1</a:t>
            </a:r>
            <a:r>
              <a:rPr lang="en-US" altLang="zh-CN" sz="1500" b="0" dirty="0">
                <a:solidFill>
                  <a:srgbClr val="F8F8F2"/>
                </a:solidFill>
                <a:effectLst/>
                <a:latin typeface="Consolas" panose="020B0609020204030204" pitchFamily="49" charset="0"/>
              </a:rPr>
              <a:t>;i </a:t>
            </a:r>
            <a:r>
              <a:rPr lang="en-US" altLang="zh-CN" sz="1500" b="0" dirty="0">
                <a:solidFill>
                  <a:srgbClr val="FF79C6"/>
                </a:solidFill>
                <a:effectLst/>
                <a:latin typeface="Consolas" panose="020B0609020204030204" pitchFamily="49" charset="0"/>
              </a:rPr>
              <a:t>&lt;=</a:t>
            </a:r>
            <a:r>
              <a:rPr lang="en-US" altLang="zh-CN" sz="1500" b="0" dirty="0">
                <a:solidFill>
                  <a:srgbClr val="F8F8F2"/>
                </a:solidFill>
                <a:effectLst/>
                <a:latin typeface="Consolas" panose="020B0609020204030204" pitchFamily="49" charset="0"/>
              </a:rPr>
              <a:t> </a:t>
            </a:r>
            <a:r>
              <a:rPr lang="en-US" altLang="zh-CN" sz="1500" b="0" dirty="0" err="1">
                <a:solidFill>
                  <a:srgbClr val="F8F8F2"/>
                </a:solidFill>
                <a:effectLst/>
                <a:latin typeface="Consolas" panose="020B0609020204030204" pitchFamily="49" charset="0"/>
              </a:rPr>
              <a:t>n;i</a:t>
            </a:r>
            <a:r>
              <a:rPr lang="en-US" altLang="zh-CN" sz="1500" b="0" dirty="0">
                <a:solidFill>
                  <a:srgbClr val="FF79C6"/>
                </a:solidFill>
                <a:effectLst/>
                <a:latin typeface="Consolas" panose="020B0609020204030204" pitchFamily="49" charset="0"/>
              </a:rPr>
              <a:t>++</a:t>
            </a:r>
            <a:r>
              <a:rPr lang="en-US" altLang="zh-CN" sz="1500" b="0" dirty="0">
                <a:solidFill>
                  <a:srgbClr val="F8F8F2"/>
                </a:solidFill>
                <a:effectLst/>
                <a:latin typeface="Consolas" panose="020B0609020204030204" pitchFamily="49" charset="0"/>
              </a:rPr>
              <a:t>) </a:t>
            </a:r>
            <a:r>
              <a:rPr lang="en-US" altLang="zh-CN" sz="1500" b="0" dirty="0" err="1">
                <a:solidFill>
                  <a:srgbClr val="F8F8F2"/>
                </a:solidFill>
                <a:effectLst/>
                <a:latin typeface="Consolas" panose="020B0609020204030204" pitchFamily="49" charset="0"/>
              </a:rPr>
              <a:t>dist</a:t>
            </a:r>
            <a:r>
              <a:rPr lang="en-US" altLang="zh-CN" sz="1500" b="0" dirty="0">
                <a:solidFill>
                  <a:srgbClr val="F8F8F2"/>
                </a:solidFill>
                <a:effectLst/>
                <a:latin typeface="Consolas" panose="020B0609020204030204" pitchFamily="49" charset="0"/>
              </a:rPr>
              <a:t>[</a:t>
            </a:r>
            <a:r>
              <a:rPr lang="en-US" altLang="zh-CN" sz="1500" b="0" dirty="0" err="1">
                <a:solidFill>
                  <a:srgbClr val="F8F8F2"/>
                </a:solidFill>
                <a:effectLst/>
                <a:latin typeface="Consolas" panose="020B0609020204030204" pitchFamily="49" charset="0"/>
              </a:rPr>
              <a:t>i</a:t>
            </a:r>
            <a:r>
              <a:rPr lang="en-US" altLang="zh-CN" sz="1500" b="0" dirty="0">
                <a:solidFill>
                  <a:srgbClr val="F8F8F2"/>
                </a:solidFill>
                <a:effectLst/>
                <a:latin typeface="Consolas" panose="020B0609020204030204" pitchFamily="49" charset="0"/>
              </a:rPr>
              <a:t>] </a:t>
            </a:r>
            <a:r>
              <a:rPr lang="en-US" altLang="zh-CN" sz="1500" b="0" dirty="0">
                <a:solidFill>
                  <a:srgbClr val="FF79C6"/>
                </a:solidFill>
                <a:effectLst/>
                <a:latin typeface="Consolas" panose="020B0609020204030204" pitchFamily="49" charset="0"/>
              </a:rPr>
              <a:t>=</a:t>
            </a:r>
            <a:r>
              <a:rPr lang="en-US" altLang="zh-CN" sz="1500" b="0" dirty="0">
                <a:solidFill>
                  <a:srgbClr val="F8F8F2"/>
                </a:solidFill>
                <a:effectLst/>
                <a:latin typeface="Consolas" panose="020B0609020204030204" pitchFamily="49" charset="0"/>
              </a:rPr>
              <a:t> inf;</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b="0" dirty="0">
                <a:solidFill>
                  <a:srgbClr val="F8F8F2"/>
                </a:solidFill>
                <a:effectLst/>
                <a:latin typeface="Consolas" panose="020B0609020204030204" pitchFamily="49" charset="0"/>
              </a:rPr>
              <a:t>    </a:t>
            </a:r>
            <a:r>
              <a:rPr lang="en-US" altLang="zh-CN" sz="1500" b="0" dirty="0" err="1">
                <a:solidFill>
                  <a:srgbClr val="F8F8F2"/>
                </a:solidFill>
                <a:effectLst/>
                <a:latin typeface="Consolas" panose="020B0609020204030204" pitchFamily="49" charset="0"/>
              </a:rPr>
              <a:t>dist</a:t>
            </a:r>
            <a:r>
              <a:rPr lang="en-US" altLang="zh-CN" sz="1500" b="0" dirty="0">
                <a:solidFill>
                  <a:srgbClr val="F8F8F2"/>
                </a:solidFill>
                <a:effectLst/>
                <a:latin typeface="Consolas" panose="020B0609020204030204" pitchFamily="49" charset="0"/>
              </a:rPr>
              <a:t>[source] </a:t>
            </a:r>
            <a:r>
              <a:rPr lang="en-US" altLang="zh-CN" sz="1500" b="0" dirty="0">
                <a:solidFill>
                  <a:srgbClr val="FF79C6"/>
                </a:solidFill>
                <a:effectLst/>
                <a:latin typeface="Consolas" panose="020B0609020204030204" pitchFamily="49" charset="0"/>
              </a:rPr>
              <a:t>=</a:t>
            </a:r>
            <a:r>
              <a:rPr lang="en-US" altLang="zh-CN" sz="1500" b="0" dirty="0">
                <a:solidFill>
                  <a:srgbClr val="F8F8F2"/>
                </a:solidFill>
                <a:effectLst/>
                <a:latin typeface="Consolas" panose="020B0609020204030204" pitchFamily="49" charset="0"/>
              </a:rPr>
              <a:t> </a:t>
            </a:r>
            <a:r>
              <a:rPr lang="en-US" altLang="zh-CN" sz="1500" b="0" dirty="0">
                <a:solidFill>
                  <a:srgbClr val="BD93F9"/>
                </a:solidFill>
                <a:effectLst/>
                <a:latin typeface="Consolas" panose="020B0609020204030204" pitchFamily="49" charset="0"/>
              </a:rPr>
              <a:t>0</a:t>
            </a:r>
            <a:r>
              <a:rPr lang="en-US" altLang="zh-CN" sz="1500" b="0" dirty="0">
                <a:solidFill>
                  <a:srgbClr val="F8F8F2"/>
                </a:solidFill>
                <a:effectLst/>
                <a:latin typeface="Consolas" panose="020B0609020204030204" pitchFamily="49" charset="0"/>
              </a:rPr>
              <a:t>;</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b="0" dirty="0">
                <a:solidFill>
                  <a:srgbClr val="F8F8F2"/>
                </a:solidFill>
                <a:effectLst/>
                <a:latin typeface="Consolas" panose="020B0609020204030204" pitchFamily="49" charset="0"/>
              </a:rPr>
              <a:t>    </a:t>
            </a:r>
            <a:r>
              <a:rPr lang="en-US" altLang="zh-CN" sz="1500" b="0" dirty="0" err="1">
                <a:solidFill>
                  <a:srgbClr val="F8F8F2"/>
                </a:solidFill>
                <a:effectLst/>
                <a:latin typeface="Consolas" panose="020B0609020204030204" pitchFamily="49" charset="0"/>
              </a:rPr>
              <a:t>priority_queue</a:t>
            </a:r>
            <a:r>
              <a:rPr lang="en-US" altLang="zh-CN" sz="1500" b="0" dirty="0">
                <a:solidFill>
                  <a:srgbClr val="FF79C6"/>
                </a:solidFill>
                <a:effectLst/>
                <a:latin typeface="Consolas" panose="020B0609020204030204" pitchFamily="49" charset="0"/>
              </a:rPr>
              <a:t>&lt;</a:t>
            </a:r>
            <a:r>
              <a:rPr lang="en-US" altLang="zh-CN" sz="1500" b="0" dirty="0">
                <a:solidFill>
                  <a:srgbClr val="F8F8F2"/>
                </a:solidFill>
                <a:effectLst/>
                <a:latin typeface="Consolas" panose="020B0609020204030204" pitchFamily="49" charset="0"/>
              </a:rPr>
              <a:t>pair</a:t>
            </a:r>
            <a:r>
              <a:rPr lang="en-US" altLang="zh-CN" sz="1500" b="0" dirty="0">
                <a:solidFill>
                  <a:srgbClr val="FF79C6"/>
                </a:solidFill>
                <a:effectLst/>
                <a:latin typeface="Consolas" panose="020B0609020204030204" pitchFamily="49" charset="0"/>
              </a:rPr>
              <a:t>&lt;</a:t>
            </a:r>
            <a:r>
              <a:rPr lang="en-US" altLang="zh-CN" sz="1500" b="0" dirty="0" err="1">
                <a:solidFill>
                  <a:srgbClr val="FF79C6"/>
                </a:solidFill>
                <a:effectLst/>
                <a:latin typeface="Consolas" panose="020B0609020204030204" pitchFamily="49" charset="0"/>
              </a:rPr>
              <a:t>int</a:t>
            </a:r>
            <a:r>
              <a:rPr lang="en-US" altLang="zh-CN" sz="1500" b="0" dirty="0" err="1">
                <a:solidFill>
                  <a:srgbClr val="F8F8F2"/>
                </a:solidFill>
                <a:effectLst/>
                <a:latin typeface="Consolas" panose="020B0609020204030204" pitchFamily="49" charset="0"/>
              </a:rPr>
              <a:t>,</a:t>
            </a:r>
            <a:r>
              <a:rPr lang="en-US" altLang="zh-CN" sz="1500" b="0" dirty="0" err="1">
                <a:solidFill>
                  <a:srgbClr val="FF79C6"/>
                </a:solidFill>
                <a:effectLst/>
                <a:latin typeface="Consolas" panose="020B0609020204030204" pitchFamily="49" charset="0"/>
              </a:rPr>
              <a:t>int</a:t>
            </a:r>
            <a:r>
              <a:rPr lang="en-US" altLang="zh-CN" sz="1500" b="0" dirty="0">
                <a:solidFill>
                  <a:srgbClr val="FF79C6"/>
                </a:solidFill>
                <a:effectLst/>
                <a:latin typeface="Consolas" panose="020B0609020204030204" pitchFamily="49" charset="0"/>
              </a:rPr>
              <a:t>&gt;</a:t>
            </a:r>
            <a:r>
              <a:rPr lang="en-US" altLang="zh-CN" sz="1500" b="0" dirty="0">
                <a:solidFill>
                  <a:srgbClr val="F8F8F2"/>
                </a:solidFill>
                <a:effectLst/>
                <a:latin typeface="Consolas" panose="020B0609020204030204" pitchFamily="49" charset="0"/>
              </a:rPr>
              <a:t>,vector</a:t>
            </a:r>
            <a:r>
              <a:rPr lang="en-US" altLang="zh-CN" sz="1500" b="0" dirty="0">
                <a:solidFill>
                  <a:srgbClr val="FF79C6"/>
                </a:solidFill>
                <a:effectLst/>
                <a:latin typeface="Consolas" panose="020B0609020204030204" pitchFamily="49" charset="0"/>
              </a:rPr>
              <a:t>&lt;</a:t>
            </a:r>
            <a:r>
              <a:rPr lang="en-US" altLang="zh-CN" sz="1500" b="0" dirty="0">
                <a:solidFill>
                  <a:srgbClr val="F8F8F2"/>
                </a:solidFill>
                <a:effectLst/>
                <a:latin typeface="Consolas" panose="020B0609020204030204" pitchFamily="49" charset="0"/>
              </a:rPr>
              <a:t>pair</a:t>
            </a:r>
            <a:r>
              <a:rPr lang="en-US" altLang="zh-CN" sz="1500" b="0" dirty="0">
                <a:solidFill>
                  <a:srgbClr val="FF79C6"/>
                </a:solidFill>
                <a:effectLst/>
                <a:latin typeface="Consolas" panose="020B0609020204030204" pitchFamily="49" charset="0"/>
              </a:rPr>
              <a:t>&lt;</a:t>
            </a:r>
            <a:r>
              <a:rPr lang="en-US" altLang="zh-CN" sz="1500" b="0" dirty="0" err="1">
                <a:solidFill>
                  <a:srgbClr val="FF79C6"/>
                </a:solidFill>
                <a:effectLst/>
                <a:latin typeface="Consolas" panose="020B0609020204030204" pitchFamily="49" charset="0"/>
              </a:rPr>
              <a:t>int</a:t>
            </a:r>
            <a:r>
              <a:rPr lang="en-US" altLang="zh-CN" sz="1500" b="0" dirty="0" err="1">
                <a:solidFill>
                  <a:srgbClr val="F8F8F2"/>
                </a:solidFill>
                <a:effectLst/>
                <a:latin typeface="Consolas" panose="020B0609020204030204" pitchFamily="49" charset="0"/>
              </a:rPr>
              <a:t>,</a:t>
            </a:r>
            <a:r>
              <a:rPr lang="en-US" altLang="zh-CN" sz="1500" b="0" dirty="0" err="1">
                <a:solidFill>
                  <a:srgbClr val="FF79C6"/>
                </a:solidFill>
                <a:effectLst/>
                <a:latin typeface="Consolas" panose="020B0609020204030204" pitchFamily="49" charset="0"/>
              </a:rPr>
              <a:t>int</a:t>
            </a:r>
            <a:r>
              <a:rPr lang="en-US" altLang="zh-CN" sz="1500" b="0" dirty="0">
                <a:solidFill>
                  <a:srgbClr val="FF79C6"/>
                </a:solidFill>
                <a:effectLst/>
                <a:latin typeface="Consolas" panose="020B0609020204030204" pitchFamily="49" charset="0"/>
              </a:rPr>
              <a:t>&gt;&gt;</a:t>
            </a:r>
            <a:r>
              <a:rPr lang="en-US" altLang="zh-CN" sz="1500" b="0" dirty="0">
                <a:solidFill>
                  <a:srgbClr val="F8F8F2"/>
                </a:solidFill>
                <a:effectLst/>
                <a:latin typeface="Consolas" panose="020B0609020204030204" pitchFamily="49" charset="0"/>
              </a:rPr>
              <a:t>,greater</a:t>
            </a:r>
            <a:r>
              <a:rPr lang="en-US" altLang="zh-CN" sz="1500" b="0" dirty="0">
                <a:solidFill>
                  <a:srgbClr val="FF79C6"/>
                </a:solidFill>
                <a:effectLst/>
                <a:latin typeface="Consolas" panose="020B0609020204030204" pitchFamily="49" charset="0"/>
              </a:rPr>
              <a:t>&lt;</a:t>
            </a:r>
            <a:r>
              <a:rPr lang="en-US" altLang="zh-CN" sz="1500" b="0" dirty="0">
                <a:solidFill>
                  <a:srgbClr val="F8F8F2"/>
                </a:solidFill>
                <a:effectLst/>
                <a:latin typeface="Consolas" panose="020B0609020204030204" pitchFamily="49" charset="0"/>
              </a:rPr>
              <a:t>pair</a:t>
            </a:r>
            <a:r>
              <a:rPr lang="en-US" altLang="zh-CN" sz="1500" b="0" dirty="0">
                <a:solidFill>
                  <a:srgbClr val="FF79C6"/>
                </a:solidFill>
                <a:effectLst/>
                <a:latin typeface="Consolas" panose="020B0609020204030204" pitchFamily="49" charset="0"/>
              </a:rPr>
              <a:t>&lt;</a:t>
            </a:r>
            <a:r>
              <a:rPr lang="en-US" altLang="zh-CN" sz="1500" b="0" dirty="0" err="1">
                <a:solidFill>
                  <a:srgbClr val="FF79C6"/>
                </a:solidFill>
                <a:effectLst/>
                <a:latin typeface="Consolas" panose="020B0609020204030204" pitchFamily="49" charset="0"/>
              </a:rPr>
              <a:t>int</a:t>
            </a:r>
            <a:r>
              <a:rPr lang="en-US" altLang="zh-CN" sz="1500" b="0" dirty="0" err="1">
                <a:solidFill>
                  <a:srgbClr val="F8F8F2"/>
                </a:solidFill>
                <a:effectLst/>
                <a:latin typeface="Consolas" panose="020B0609020204030204" pitchFamily="49" charset="0"/>
              </a:rPr>
              <a:t>,</a:t>
            </a:r>
            <a:r>
              <a:rPr lang="en-US" altLang="zh-CN" sz="1500" b="0" dirty="0" err="1">
                <a:solidFill>
                  <a:srgbClr val="FF79C6"/>
                </a:solidFill>
                <a:effectLst/>
                <a:latin typeface="Consolas" panose="020B0609020204030204" pitchFamily="49" charset="0"/>
              </a:rPr>
              <a:t>int</a:t>
            </a:r>
            <a:r>
              <a:rPr lang="en-US" altLang="zh-CN" sz="1500" b="0" dirty="0">
                <a:solidFill>
                  <a:srgbClr val="FF79C6"/>
                </a:solidFill>
                <a:effectLst/>
                <a:latin typeface="Consolas" panose="020B0609020204030204" pitchFamily="49" charset="0"/>
              </a:rPr>
              <a:t>&gt;&gt;&gt;</a:t>
            </a:r>
            <a:r>
              <a:rPr lang="en-US" altLang="zh-CN" sz="1500" b="0" dirty="0">
                <a:solidFill>
                  <a:srgbClr val="F8F8F2"/>
                </a:solidFill>
                <a:effectLst/>
                <a:latin typeface="Consolas" panose="020B0609020204030204" pitchFamily="49" charset="0"/>
              </a:rPr>
              <a:t> </a:t>
            </a:r>
            <a:r>
              <a:rPr lang="en-US" altLang="zh-CN" sz="1500" b="0" dirty="0" err="1">
                <a:solidFill>
                  <a:srgbClr val="F8F8F2"/>
                </a:solidFill>
                <a:effectLst/>
                <a:latin typeface="Consolas" panose="020B0609020204030204" pitchFamily="49" charset="0"/>
              </a:rPr>
              <a:t>pq</a:t>
            </a:r>
            <a:r>
              <a:rPr lang="en-US" altLang="zh-CN" sz="1500" b="0" dirty="0">
                <a:solidFill>
                  <a:srgbClr val="F8F8F2"/>
                </a:solidFill>
                <a:effectLst/>
                <a:latin typeface="Consolas" panose="020B0609020204030204" pitchFamily="49" charset="0"/>
              </a:rPr>
              <a:t>;</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b="0" dirty="0">
                <a:solidFill>
                  <a:srgbClr val="F8F8F2"/>
                </a:solidFill>
                <a:effectLst/>
                <a:latin typeface="Consolas" panose="020B0609020204030204" pitchFamily="49" charset="0"/>
              </a:rPr>
              <a:t>    </a:t>
            </a:r>
            <a:r>
              <a:rPr lang="en-US" altLang="zh-CN" sz="1500" b="0" dirty="0" err="1">
                <a:solidFill>
                  <a:srgbClr val="F8F8F2"/>
                </a:solidFill>
                <a:effectLst/>
                <a:latin typeface="Consolas" panose="020B0609020204030204" pitchFamily="49" charset="0"/>
              </a:rPr>
              <a:t>pq.</a:t>
            </a:r>
            <a:r>
              <a:rPr lang="en-US" altLang="zh-CN" sz="1500" b="0" dirty="0" err="1">
                <a:solidFill>
                  <a:srgbClr val="50FA7B"/>
                </a:solidFill>
                <a:effectLst/>
                <a:latin typeface="Consolas" panose="020B0609020204030204" pitchFamily="49" charset="0"/>
              </a:rPr>
              <a:t>push</a:t>
            </a:r>
            <a:r>
              <a:rPr lang="en-US" altLang="zh-CN" sz="1500" b="0" dirty="0">
                <a:solidFill>
                  <a:srgbClr val="F8F8F2"/>
                </a:solidFill>
                <a:effectLst/>
                <a:latin typeface="Consolas" panose="020B0609020204030204" pitchFamily="49" charset="0"/>
              </a:rPr>
              <a:t>({</a:t>
            </a:r>
            <a:r>
              <a:rPr lang="en-US" altLang="zh-CN" sz="1500" b="0" dirty="0">
                <a:solidFill>
                  <a:srgbClr val="BD93F9"/>
                </a:solidFill>
                <a:effectLst/>
                <a:latin typeface="Consolas" panose="020B0609020204030204" pitchFamily="49" charset="0"/>
              </a:rPr>
              <a:t>0</a:t>
            </a:r>
            <a:r>
              <a:rPr lang="en-US" altLang="zh-CN" sz="1500" b="0" dirty="0">
                <a:solidFill>
                  <a:srgbClr val="F8F8F2"/>
                </a:solidFill>
                <a:effectLst/>
                <a:latin typeface="Consolas" panose="020B0609020204030204" pitchFamily="49" charset="0"/>
              </a:rPr>
              <a:t>,source});</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b="0" dirty="0">
                <a:solidFill>
                  <a:srgbClr val="F8F8F2"/>
                </a:solidFill>
                <a:effectLst/>
                <a:latin typeface="Consolas" panose="020B0609020204030204" pitchFamily="49" charset="0"/>
              </a:rPr>
              <a:t>    </a:t>
            </a:r>
            <a:r>
              <a:rPr lang="en-US" altLang="zh-CN" sz="1500" b="0" dirty="0">
                <a:solidFill>
                  <a:srgbClr val="FF79C6"/>
                </a:solidFill>
                <a:effectLst/>
                <a:latin typeface="Consolas" panose="020B0609020204030204" pitchFamily="49" charset="0"/>
              </a:rPr>
              <a:t>while</a:t>
            </a:r>
            <a:r>
              <a:rPr lang="en-US" altLang="zh-CN" sz="1500" b="0" dirty="0">
                <a:solidFill>
                  <a:srgbClr val="F8F8F2"/>
                </a:solidFill>
                <a:effectLst/>
                <a:latin typeface="Consolas" panose="020B0609020204030204" pitchFamily="49" charset="0"/>
              </a:rPr>
              <a:t>(</a:t>
            </a:r>
            <a:r>
              <a:rPr lang="en-US" altLang="zh-CN" sz="1500" b="0" dirty="0">
                <a:solidFill>
                  <a:srgbClr val="FF79C6"/>
                </a:solidFill>
                <a:effectLst/>
                <a:latin typeface="Consolas" panose="020B0609020204030204" pitchFamily="49" charset="0"/>
              </a:rPr>
              <a:t>!</a:t>
            </a:r>
            <a:r>
              <a:rPr lang="en-US" altLang="zh-CN" sz="1500" b="0" dirty="0" err="1">
                <a:solidFill>
                  <a:srgbClr val="F8F8F2"/>
                </a:solidFill>
                <a:effectLst/>
                <a:latin typeface="Consolas" panose="020B0609020204030204" pitchFamily="49" charset="0"/>
              </a:rPr>
              <a:t>pq.</a:t>
            </a:r>
            <a:r>
              <a:rPr lang="en-US" altLang="zh-CN" sz="1500" b="0" dirty="0" err="1">
                <a:solidFill>
                  <a:srgbClr val="50FA7B"/>
                </a:solidFill>
                <a:effectLst/>
                <a:latin typeface="Consolas" panose="020B0609020204030204" pitchFamily="49" charset="0"/>
              </a:rPr>
              <a:t>empty</a:t>
            </a:r>
            <a:r>
              <a:rPr lang="en-US" altLang="zh-CN" sz="1500" b="0" dirty="0">
                <a:solidFill>
                  <a:srgbClr val="F8F8F2"/>
                </a:solidFill>
                <a:effectLst/>
                <a:latin typeface="Consolas" panose="020B0609020204030204" pitchFamily="49" charset="0"/>
              </a:rPr>
              <a:t>()){</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b="0" dirty="0">
                <a:solidFill>
                  <a:srgbClr val="F8F8F2"/>
                </a:solidFill>
                <a:effectLst/>
                <a:latin typeface="Consolas" panose="020B0609020204030204" pitchFamily="49" charset="0"/>
              </a:rPr>
              <a:t>        </a:t>
            </a:r>
            <a:r>
              <a:rPr lang="en-US" altLang="zh-CN" sz="1500" b="0" dirty="0">
                <a:solidFill>
                  <a:srgbClr val="FF79C6"/>
                </a:solidFill>
                <a:effectLst/>
                <a:latin typeface="Consolas" panose="020B0609020204030204" pitchFamily="49" charset="0"/>
              </a:rPr>
              <a:t>int</a:t>
            </a:r>
            <a:r>
              <a:rPr lang="en-US" altLang="zh-CN" sz="1500" b="0" dirty="0">
                <a:solidFill>
                  <a:srgbClr val="F8F8F2"/>
                </a:solidFill>
                <a:effectLst/>
                <a:latin typeface="Consolas" panose="020B0609020204030204" pitchFamily="49" charset="0"/>
              </a:rPr>
              <a:t> temp </a:t>
            </a:r>
            <a:r>
              <a:rPr lang="en-US" altLang="zh-CN" sz="1500" b="0" dirty="0">
                <a:solidFill>
                  <a:srgbClr val="FF79C6"/>
                </a:solidFill>
                <a:effectLst/>
                <a:latin typeface="Consolas" panose="020B0609020204030204" pitchFamily="49" charset="0"/>
              </a:rPr>
              <a:t>=</a:t>
            </a:r>
            <a:r>
              <a:rPr lang="en-US" altLang="zh-CN" sz="1500" b="0" dirty="0">
                <a:solidFill>
                  <a:srgbClr val="F8F8F2"/>
                </a:solidFill>
                <a:effectLst/>
                <a:latin typeface="Consolas" panose="020B0609020204030204" pitchFamily="49" charset="0"/>
              </a:rPr>
              <a:t> </a:t>
            </a:r>
            <a:r>
              <a:rPr lang="en-US" altLang="zh-CN" sz="1500" b="0" dirty="0" err="1">
                <a:solidFill>
                  <a:srgbClr val="F8F8F2"/>
                </a:solidFill>
                <a:effectLst/>
                <a:latin typeface="Consolas" panose="020B0609020204030204" pitchFamily="49" charset="0"/>
              </a:rPr>
              <a:t>pq.</a:t>
            </a:r>
            <a:r>
              <a:rPr lang="en-US" altLang="zh-CN" sz="1500" b="0" dirty="0" err="1">
                <a:solidFill>
                  <a:srgbClr val="50FA7B"/>
                </a:solidFill>
                <a:effectLst/>
                <a:latin typeface="Consolas" panose="020B0609020204030204" pitchFamily="49" charset="0"/>
              </a:rPr>
              <a:t>top</a:t>
            </a:r>
            <a:r>
              <a:rPr lang="en-US" altLang="zh-CN" sz="1500" b="0" dirty="0">
                <a:solidFill>
                  <a:srgbClr val="F8F8F2"/>
                </a:solidFill>
                <a:effectLst/>
                <a:latin typeface="Consolas" panose="020B0609020204030204" pitchFamily="49" charset="0"/>
              </a:rPr>
              <a:t>().second;</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b="0" dirty="0">
                <a:solidFill>
                  <a:srgbClr val="F8F8F2"/>
                </a:solidFill>
                <a:effectLst/>
                <a:latin typeface="Consolas" panose="020B0609020204030204" pitchFamily="49" charset="0"/>
              </a:rPr>
              <a:t>        </a:t>
            </a:r>
            <a:r>
              <a:rPr lang="en-US" altLang="zh-CN" sz="1500" b="0" dirty="0" err="1">
                <a:solidFill>
                  <a:srgbClr val="F8F8F2"/>
                </a:solidFill>
                <a:effectLst/>
                <a:latin typeface="Consolas" panose="020B0609020204030204" pitchFamily="49" charset="0"/>
              </a:rPr>
              <a:t>pq.</a:t>
            </a:r>
            <a:r>
              <a:rPr lang="en-US" altLang="zh-CN" sz="1500" b="0" dirty="0" err="1">
                <a:solidFill>
                  <a:srgbClr val="50FA7B"/>
                </a:solidFill>
                <a:effectLst/>
                <a:latin typeface="Consolas" panose="020B0609020204030204" pitchFamily="49" charset="0"/>
              </a:rPr>
              <a:t>pop</a:t>
            </a:r>
            <a:r>
              <a:rPr lang="en-US" altLang="zh-CN" sz="1500" b="0" dirty="0">
                <a:solidFill>
                  <a:srgbClr val="F8F8F2"/>
                </a:solidFill>
                <a:effectLst/>
                <a:latin typeface="Consolas" panose="020B0609020204030204" pitchFamily="49" charset="0"/>
              </a:rPr>
              <a:t>();</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b="0" dirty="0">
                <a:solidFill>
                  <a:srgbClr val="F8F8F2"/>
                </a:solidFill>
                <a:effectLst/>
                <a:latin typeface="Consolas" panose="020B0609020204030204" pitchFamily="49" charset="0"/>
              </a:rPr>
              <a:t>        </a:t>
            </a:r>
            <a:r>
              <a:rPr lang="en-US" altLang="zh-CN" sz="1500" b="0" dirty="0">
                <a:solidFill>
                  <a:srgbClr val="FF79C6"/>
                </a:solidFill>
                <a:effectLst/>
                <a:latin typeface="Consolas" panose="020B0609020204030204" pitchFamily="49" charset="0"/>
              </a:rPr>
              <a:t>if</a:t>
            </a:r>
            <a:r>
              <a:rPr lang="en-US" altLang="zh-CN" sz="1500" b="0" dirty="0">
                <a:solidFill>
                  <a:srgbClr val="F8F8F2"/>
                </a:solidFill>
                <a:effectLst/>
                <a:latin typeface="Consolas" panose="020B0609020204030204" pitchFamily="49" charset="0"/>
              </a:rPr>
              <a:t>(vis[temp]) </a:t>
            </a:r>
            <a:r>
              <a:rPr lang="en-US" altLang="zh-CN" sz="1500" b="0" dirty="0">
                <a:solidFill>
                  <a:srgbClr val="FF79C6"/>
                </a:solidFill>
                <a:effectLst/>
                <a:latin typeface="Consolas" panose="020B0609020204030204" pitchFamily="49" charset="0"/>
              </a:rPr>
              <a:t>continue</a:t>
            </a:r>
            <a:r>
              <a:rPr lang="en-US" altLang="zh-CN" sz="1500" b="0" dirty="0">
                <a:solidFill>
                  <a:srgbClr val="F8F8F2"/>
                </a:solidFill>
                <a:effectLst/>
                <a:latin typeface="Consolas" panose="020B0609020204030204" pitchFamily="49" charset="0"/>
              </a:rPr>
              <a:t>;</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b="0" dirty="0">
                <a:solidFill>
                  <a:srgbClr val="F8F8F2"/>
                </a:solidFill>
                <a:effectLst/>
                <a:latin typeface="Consolas" panose="020B0609020204030204" pitchFamily="49" charset="0"/>
              </a:rPr>
              <a:t>        vis[temp] </a:t>
            </a:r>
            <a:r>
              <a:rPr lang="en-US" altLang="zh-CN" sz="1500" b="0" dirty="0">
                <a:solidFill>
                  <a:srgbClr val="FF79C6"/>
                </a:solidFill>
                <a:effectLst/>
                <a:latin typeface="Consolas" panose="020B0609020204030204" pitchFamily="49" charset="0"/>
              </a:rPr>
              <a:t>=</a:t>
            </a:r>
            <a:r>
              <a:rPr lang="en-US" altLang="zh-CN" sz="1500" b="0" dirty="0">
                <a:solidFill>
                  <a:srgbClr val="F8F8F2"/>
                </a:solidFill>
                <a:effectLst/>
                <a:latin typeface="Consolas" panose="020B0609020204030204" pitchFamily="49" charset="0"/>
              </a:rPr>
              <a:t> </a:t>
            </a:r>
            <a:r>
              <a:rPr lang="en-US" altLang="zh-CN" sz="1500" b="0" dirty="0">
                <a:solidFill>
                  <a:srgbClr val="BD93F9"/>
                </a:solidFill>
                <a:effectLst/>
                <a:latin typeface="Consolas" panose="020B0609020204030204" pitchFamily="49" charset="0"/>
              </a:rPr>
              <a:t>true</a:t>
            </a:r>
            <a:r>
              <a:rPr lang="en-US" altLang="zh-CN" sz="1500" b="0" dirty="0">
                <a:solidFill>
                  <a:srgbClr val="F8F8F2"/>
                </a:solidFill>
                <a:effectLst/>
                <a:latin typeface="Consolas" panose="020B0609020204030204" pitchFamily="49" charset="0"/>
              </a:rPr>
              <a:t>;</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b="0" dirty="0">
                <a:solidFill>
                  <a:srgbClr val="F8F8F2"/>
                </a:solidFill>
                <a:effectLst/>
                <a:latin typeface="Consolas" panose="020B0609020204030204" pitchFamily="49" charset="0"/>
              </a:rPr>
              <a:t>        </a:t>
            </a:r>
            <a:r>
              <a:rPr lang="en-US" altLang="zh-CN" sz="1500" b="0" dirty="0">
                <a:solidFill>
                  <a:srgbClr val="FF79C6"/>
                </a:solidFill>
                <a:effectLst/>
                <a:latin typeface="Consolas" panose="020B0609020204030204" pitchFamily="49" charset="0"/>
              </a:rPr>
              <a:t>for</a:t>
            </a:r>
            <a:r>
              <a:rPr lang="en-US" altLang="zh-CN" sz="1500" b="0" dirty="0">
                <a:solidFill>
                  <a:srgbClr val="F8F8F2"/>
                </a:solidFill>
                <a:effectLst/>
                <a:latin typeface="Consolas" panose="020B0609020204030204" pitchFamily="49" charset="0"/>
              </a:rPr>
              <a:t>(</a:t>
            </a:r>
            <a:r>
              <a:rPr lang="en-US" altLang="zh-CN" sz="1500" b="0" dirty="0">
                <a:solidFill>
                  <a:srgbClr val="FF79C6"/>
                </a:solidFill>
                <a:effectLst/>
                <a:latin typeface="Consolas" panose="020B0609020204030204" pitchFamily="49" charset="0"/>
              </a:rPr>
              <a:t>int</a:t>
            </a:r>
            <a:r>
              <a:rPr lang="en-US" altLang="zh-CN" sz="1500" b="0" dirty="0">
                <a:solidFill>
                  <a:srgbClr val="F8F8F2"/>
                </a:solidFill>
                <a:effectLst/>
                <a:latin typeface="Consolas" panose="020B0609020204030204" pitchFamily="49" charset="0"/>
              </a:rPr>
              <a:t> v:adj[temp]) </a:t>
            </a:r>
            <a:r>
              <a:rPr lang="en-US" altLang="zh-CN" sz="1500" b="0" dirty="0">
                <a:solidFill>
                  <a:srgbClr val="FF79C6"/>
                </a:solidFill>
                <a:effectLst/>
                <a:latin typeface="Consolas" panose="020B0609020204030204" pitchFamily="49" charset="0"/>
              </a:rPr>
              <a:t>if</a:t>
            </a:r>
            <a:r>
              <a:rPr lang="en-US" altLang="zh-CN" sz="1500" b="0" dirty="0">
                <a:solidFill>
                  <a:srgbClr val="F8F8F2"/>
                </a:solidFill>
                <a:effectLst/>
                <a:latin typeface="Consolas" panose="020B0609020204030204" pitchFamily="49" charset="0"/>
              </a:rPr>
              <a:t>(</a:t>
            </a:r>
            <a:r>
              <a:rPr lang="en-US" altLang="zh-CN" sz="1500" b="0" dirty="0" err="1">
                <a:solidFill>
                  <a:srgbClr val="F8F8F2"/>
                </a:solidFill>
                <a:effectLst/>
                <a:latin typeface="Consolas" panose="020B0609020204030204" pitchFamily="49" charset="0"/>
              </a:rPr>
              <a:t>dist</a:t>
            </a:r>
            <a:r>
              <a:rPr lang="en-US" altLang="zh-CN" sz="1500" b="0" dirty="0">
                <a:solidFill>
                  <a:srgbClr val="F8F8F2"/>
                </a:solidFill>
                <a:effectLst/>
                <a:latin typeface="Consolas" panose="020B0609020204030204" pitchFamily="49" charset="0"/>
              </a:rPr>
              <a:t>[v] </a:t>
            </a:r>
            <a:r>
              <a:rPr lang="en-US" altLang="zh-CN" sz="1500" b="0" dirty="0">
                <a:solidFill>
                  <a:srgbClr val="FF79C6"/>
                </a:solidFill>
                <a:effectLst/>
                <a:latin typeface="Consolas" panose="020B0609020204030204" pitchFamily="49" charset="0"/>
              </a:rPr>
              <a:t>&gt;</a:t>
            </a:r>
            <a:r>
              <a:rPr lang="en-US" altLang="zh-CN" sz="1500" b="0" dirty="0">
                <a:solidFill>
                  <a:srgbClr val="F8F8F2"/>
                </a:solidFill>
                <a:effectLst/>
                <a:latin typeface="Consolas" panose="020B0609020204030204" pitchFamily="49" charset="0"/>
              </a:rPr>
              <a:t> </a:t>
            </a:r>
            <a:r>
              <a:rPr lang="en-US" altLang="zh-CN" sz="1500" b="0" dirty="0" err="1">
                <a:solidFill>
                  <a:srgbClr val="F8F8F2"/>
                </a:solidFill>
                <a:effectLst/>
                <a:latin typeface="Consolas" panose="020B0609020204030204" pitchFamily="49" charset="0"/>
              </a:rPr>
              <a:t>dist</a:t>
            </a:r>
            <a:r>
              <a:rPr lang="en-US" altLang="zh-CN" sz="1500" b="0" dirty="0">
                <a:solidFill>
                  <a:srgbClr val="F8F8F2"/>
                </a:solidFill>
                <a:effectLst/>
                <a:latin typeface="Consolas" panose="020B0609020204030204" pitchFamily="49" charset="0"/>
              </a:rPr>
              <a:t>[temp] </a:t>
            </a:r>
            <a:r>
              <a:rPr lang="en-US" altLang="zh-CN" sz="1500" b="0" dirty="0">
                <a:solidFill>
                  <a:srgbClr val="FF79C6"/>
                </a:solidFill>
                <a:effectLst/>
                <a:latin typeface="Consolas" panose="020B0609020204030204" pitchFamily="49" charset="0"/>
              </a:rPr>
              <a:t>+</a:t>
            </a:r>
            <a:r>
              <a:rPr lang="en-US" altLang="zh-CN" sz="1500" b="0" dirty="0">
                <a:solidFill>
                  <a:srgbClr val="F8F8F2"/>
                </a:solidFill>
                <a:effectLst/>
                <a:latin typeface="Consolas" panose="020B0609020204030204" pitchFamily="49" charset="0"/>
              </a:rPr>
              <a:t> </a:t>
            </a:r>
            <a:r>
              <a:rPr lang="en-US" altLang="zh-CN" sz="1500" b="0" dirty="0" err="1">
                <a:solidFill>
                  <a:srgbClr val="F8F8F2"/>
                </a:solidFill>
                <a:effectLst/>
                <a:latin typeface="Consolas" panose="020B0609020204030204" pitchFamily="49" charset="0"/>
              </a:rPr>
              <a:t>edgeweight</a:t>
            </a:r>
            <a:r>
              <a:rPr lang="en-US" altLang="zh-CN" sz="1500" b="0" dirty="0">
                <a:solidFill>
                  <a:srgbClr val="F8F8F2"/>
                </a:solidFill>
                <a:effectLst/>
                <a:latin typeface="Consolas" panose="020B0609020204030204" pitchFamily="49" charset="0"/>
              </a:rPr>
              <a:t>[temp][v]){</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b="0" dirty="0">
                <a:solidFill>
                  <a:srgbClr val="F8F8F2"/>
                </a:solidFill>
                <a:effectLst/>
                <a:latin typeface="Consolas" panose="020B0609020204030204" pitchFamily="49" charset="0"/>
              </a:rPr>
              <a:t>            </a:t>
            </a:r>
            <a:r>
              <a:rPr lang="en-US" altLang="zh-CN" sz="1500" b="0" dirty="0" err="1">
                <a:solidFill>
                  <a:srgbClr val="F8F8F2"/>
                </a:solidFill>
                <a:effectLst/>
                <a:latin typeface="Consolas" panose="020B0609020204030204" pitchFamily="49" charset="0"/>
              </a:rPr>
              <a:t>dist</a:t>
            </a:r>
            <a:r>
              <a:rPr lang="en-US" altLang="zh-CN" sz="1500" b="0" dirty="0">
                <a:solidFill>
                  <a:srgbClr val="F8F8F2"/>
                </a:solidFill>
                <a:effectLst/>
                <a:latin typeface="Consolas" panose="020B0609020204030204" pitchFamily="49" charset="0"/>
              </a:rPr>
              <a:t>[v] </a:t>
            </a:r>
            <a:r>
              <a:rPr lang="en-US" altLang="zh-CN" sz="1500" b="0" dirty="0">
                <a:solidFill>
                  <a:srgbClr val="FF79C6"/>
                </a:solidFill>
                <a:effectLst/>
                <a:latin typeface="Consolas" panose="020B0609020204030204" pitchFamily="49" charset="0"/>
              </a:rPr>
              <a:t>=</a:t>
            </a:r>
            <a:r>
              <a:rPr lang="en-US" altLang="zh-CN" sz="1500" b="0" dirty="0">
                <a:solidFill>
                  <a:srgbClr val="F8F8F2"/>
                </a:solidFill>
                <a:effectLst/>
                <a:latin typeface="Consolas" panose="020B0609020204030204" pitchFamily="49" charset="0"/>
              </a:rPr>
              <a:t> </a:t>
            </a:r>
            <a:r>
              <a:rPr lang="en-US" altLang="zh-CN" sz="1500" b="0" dirty="0" err="1">
                <a:solidFill>
                  <a:srgbClr val="F8F8F2"/>
                </a:solidFill>
                <a:effectLst/>
                <a:latin typeface="Consolas" panose="020B0609020204030204" pitchFamily="49" charset="0"/>
              </a:rPr>
              <a:t>dist</a:t>
            </a:r>
            <a:r>
              <a:rPr lang="en-US" altLang="zh-CN" sz="1500" b="0" dirty="0">
                <a:solidFill>
                  <a:srgbClr val="F8F8F2"/>
                </a:solidFill>
                <a:effectLst/>
                <a:latin typeface="Consolas" panose="020B0609020204030204" pitchFamily="49" charset="0"/>
              </a:rPr>
              <a:t>[temp] </a:t>
            </a:r>
            <a:r>
              <a:rPr lang="en-US" altLang="zh-CN" sz="1500" b="0" dirty="0">
                <a:solidFill>
                  <a:srgbClr val="FF79C6"/>
                </a:solidFill>
                <a:effectLst/>
                <a:latin typeface="Consolas" panose="020B0609020204030204" pitchFamily="49" charset="0"/>
              </a:rPr>
              <a:t>+</a:t>
            </a:r>
            <a:r>
              <a:rPr lang="en-US" altLang="zh-CN" sz="1500" b="0" dirty="0">
                <a:solidFill>
                  <a:srgbClr val="F8F8F2"/>
                </a:solidFill>
                <a:effectLst/>
                <a:latin typeface="Consolas" panose="020B0609020204030204" pitchFamily="49" charset="0"/>
              </a:rPr>
              <a:t> </a:t>
            </a:r>
            <a:r>
              <a:rPr lang="en-US" altLang="zh-CN" sz="1500" b="0" dirty="0" err="1">
                <a:solidFill>
                  <a:srgbClr val="F8F8F2"/>
                </a:solidFill>
                <a:effectLst/>
                <a:latin typeface="Consolas" panose="020B0609020204030204" pitchFamily="49" charset="0"/>
              </a:rPr>
              <a:t>edgeweight</a:t>
            </a:r>
            <a:r>
              <a:rPr lang="en-US" altLang="zh-CN" sz="1500" b="0" dirty="0">
                <a:solidFill>
                  <a:srgbClr val="F8F8F2"/>
                </a:solidFill>
                <a:effectLst/>
                <a:latin typeface="Consolas" panose="020B0609020204030204" pitchFamily="49" charset="0"/>
              </a:rPr>
              <a:t>[temp][v];</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b="0" dirty="0">
                <a:solidFill>
                  <a:srgbClr val="F8F8F2"/>
                </a:solidFill>
                <a:effectLst/>
                <a:latin typeface="Consolas" panose="020B0609020204030204" pitchFamily="49" charset="0"/>
              </a:rPr>
              <a:t>            </a:t>
            </a:r>
            <a:r>
              <a:rPr lang="en-US" altLang="zh-CN" sz="1500" b="0" dirty="0" err="1">
                <a:solidFill>
                  <a:srgbClr val="F8F8F2"/>
                </a:solidFill>
                <a:effectLst/>
                <a:latin typeface="Consolas" panose="020B0609020204030204" pitchFamily="49" charset="0"/>
              </a:rPr>
              <a:t>pq.</a:t>
            </a:r>
            <a:r>
              <a:rPr lang="en-US" altLang="zh-CN" sz="1500" b="0" dirty="0" err="1">
                <a:solidFill>
                  <a:srgbClr val="50FA7B"/>
                </a:solidFill>
                <a:effectLst/>
                <a:latin typeface="Consolas" panose="020B0609020204030204" pitchFamily="49" charset="0"/>
              </a:rPr>
              <a:t>push</a:t>
            </a:r>
            <a:r>
              <a:rPr lang="en-US" altLang="zh-CN" sz="1500" b="0" dirty="0">
                <a:solidFill>
                  <a:srgbClr val="F8F8F2"/>
                </a:solidFill>
                <a:effectLst/>
                <a:latin typeface="Consolas" panose="020B0609020204030204" pitchFamily="49" charset="0"/>
              </a:rPr>
              <a:t>({</a:t>
            </a:r>
            <a:r>
              <a:rPr lang="en-US" altLang="zh-CN" sz="1500" b="0" dirty="0" err="1">
                <a:solidFill>
                  <a:srgbClr val="F8F8F2"/>
                </a:solidFill>
                <a:effectLst/>
                <a:latin typeface="Consolas" panose="020B0609020204030204" pitchFamily="49" charset="0"/>
              </a:rPr>
              <a:t>dist</a:t>
            </a:r>
            <a:r>
              <a:rPr lang="en-US" altLang="zh-CN" sz="1500" b="0" dirty="0">
                <a:solidFill>
                  <a:srgbClr val="F8F8F2"/>
                </a:solidFill>
                <a:effectLst/>
                <a:latin typeface="Consolas" panose="020B0609020204030204" pitchFamily="49" charset="0"/>
              </a:rPr>
              <a:t>[v], v});</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b="0" dirty="0">
                <a:solidFill>
                  <a:srgbClr val="F8F8F2"/>
                </a:solidFill>
                <a:effectLst/>
                <a:latin typeface="Consolas" panose="020B0609020204030204" pitchFamily="49" charset="0"/>
              </a:rPr>
              <a:t>        }</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b="0" dirty="0">
                <a:solidFill>
                  <a:srgbClr val="F8F8F2"/>
                </a:solidFill>
                <a:effectLst/>
                <a:latin typeface="Consolas" panose="020B0609020204030204" pitchFamily="49" charset="0"/>
              </a:rPr>
              <a:t>    }</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b="0" dirty="0">
                <a:solidFill>
                  <a:srgbClr val="F8F8F2"/>
                </a:solidFill>
                <a:effectLst/>
                <a:latin typeface="Consolas" panose="020B0609020204030204" pitchFamily="49" charset="0"/>
              </a:rPr>
              <a:t>}</a:t>
            </a:r>
            <a:endParaRPr lang="en-US" altLang="zh-CN" sz="1500" b="0" dirty="0">
              <a:solidFill>
                <a:srgbClr val="F8F8F2"/>
              </a:solidFill>
              <a:effectLst/>
              <a:latin typeface="Consolas" panose="020B0609020204030204" pitchFamily="49" charset="0"/>
            </a:endParaRPr>
          </a:p>
        </p:txBody>
      </p:sp>
      <mc:AlternateContent xmlns:mc="http://schemas.openxmlformats.org/markup-compatibility/2006">
        <mc:Choice xmlns:a14="http://schemas.microsoft.com/office/drawing/2010/main" Requires="a14">
          <p:sp>
            <p:nvSpPr>
              <p:cNvPr id="5" name="Text Box 4"/>
              <p:cNvSpPr txBox="1"/>
              <p:nvPr/>
            </p:nvSpPr>
            <p:spPr>
              <a:xfrm>
                <a:off x="9417538" y="0"/>
                <a:ext cx="2699012" cy="2726575"/>
              </a:xfrm>
              <a:prstGeom prst="rect">
                <a:avLst/>
              </a:prstGeom>
              <a:noFill/>
            </p:spPr>
            <p:txBody>
              <a:bodyPr wrap="square" rtlCol="0">
                <a:noAutofit/>
              </a:bodyPr>
              <a:lstStyle/>
              <a:p>
                <a:pPr>
                  <a:lnSpc>
                    <a:spcPct val="150000"/>
                  </a:lnSpc>
                </a:pPr>
                <a:r>
                  <a:rPr lang="en-US" altLang="en-US" sz="2400" dirty="0"/>
                  <a:t>Implement by heap</a:t>
                </a:r>
                <a:endParaRPr lang="en-US" altLang="en-US" sz="2400" dirty="0"/>
              </a:p>
              <a:p>
                <a:pPr>
                  <a:lnSpc>
                    <a:spcPct val="150000"/>
                  </a:lnSpc>
                </a:pPr>
                <a:r>
                  <a:rPr lang="en-US" altLang="en-US" sz="2400" dirty="0"/>
                  <a:t>(priority queue)</a:t>
                </a:r>
                <a:endParaRPr lang="en-US" altLang="en-US" sz="2400" dirty="0"/>
              </a:p>
              <a:p>
                <a:pPr>
                  <a:lnSpc>
                    <a:spcPct val="150000"/>
                  </a:lnSpc>
                </a:pPr>
                <a:r>
                  <a:rPr lang="en-US" altLang="en-US" sz="2400" dirty="0"/>
                  <a:t>Time complexity: </a:t>
                </a:r>
                <a14:m>
                  <m:oMath xmlns:m="http://schemas.openxmlformats.org/officeDocument/2006/math">
                    <m:r>
                      <m:rPr>
                        <m:sty m:val="p"/>
                      </m:rPr>
                      <a:rPr lang="en-US" altLang="en-US" sz="2400" b="0" i="0" dirty="0" smtClean="0">
                        <a:latin typeface="Cambria Math" panose="02040503050406030204" charset="0"/>
                      </a:rPr>
                      <m:t>O</m:t>
                    </m:r>
                    <m:r>
                      <a:rPr lang="en-US" altLang="en-US" sz="2400" b="0" i="0" dirty="0" smtClean="0">
                        <a:latin typeface="Cambria Math" panose="02040503050406030204" charset="0"/>
                      </a:rPr>
                      <m:t>(</m:t>
                    </m:r>
                    <m:r>
                      <a:rPr lang="en-US" altLang="en-US" sz="2400" i="1" dirty="0" smtClean="0">
                        <a:latin typeface="Cambria Math" panose="02040503050406030204" charset="0"/>
                      </a:rPr>
                      <m:t>𝑚</m:t>
                    </m:r>
                    <m:func>
                      <m:funcPr>
                        <m:ctrlPr>
                          <a:rPr lang="en-US" altLang="en-US" sz="2400" i="1" dirty="0" smtClean="0">
                            <a:latin typeface="Cambria Math" panose="02040503050406030204" charset="0"/>
                          </a:rPr>
                        </m:ctrlPr>
                      </m:funcPr>
                      <m:fName>
                        <m:r>
                          <m:rPr>
                            <m:sty m:val="p"/>
                          </m:rPr>
                          <a:rPr lang="en-US" altLang="en-US" sz="2400" i="0" dirty="0" smtClean="0">
                            <a:latin typeface="Cambria Math" panose="02040503050406030204" charset="0"/>
                          </a:rPr>
                          <m:t>log</m:t>
                        </m:r>
                      </m:fName>
                      <m:e>
                        <m:d>
                          <m:dPr>
                            <m:ctrlPr>
                              <a:rPr lang="en-US" altLang="en-US" sz="2400" i="1" dirty="0" smtClean="0">
                                <a:latin typeface="Cambria Math" panose="02040503050406030204" charset="0"/>
                              </a:rPr>
                            </m:ctrlPr>
                          </m:dPr>
                          <m:e>
                            <m:r>
                              <a:rPr lang="en-US" altLang="en-US" sz="2400" i="1" dirty="0" smtClean="0">
                                <a:latin typeface="Cambria Math" panose="02040503050406030204" charset="0"/>
                              </a:rPr>
                              <m:t>𝑛</m:t>
                            </m:r>
                          </m:e>
                        </m:d>
                      </m:e>
                    </m:func>
                    <m:r>
                      <a:rPr lang="en-US" altLang="en-US" sz="2400" b="0" i="1" dirty="0" smtClean="0">
                        <a:latin typeface="Cambria Math" panose="02040503050406030204" charset="0"/>
                      </a:rPr>
                      <m:t>)</m:t>
                    </m:r>
                  </m:oMath>
                </a14:m>
                <a:endParaRPr lang="en-US" altLang="en-US" sz="2400" dirty="0"/>
              </a:p>
            </p:txBody>
          </p:sp>
        </mc:Choice>
        <mc:Fallback>
          <p:sp>
            <p:nvSpPr>
              <p:cNvPr id="5" name="Text Box 4"/>
              <p:cNvSpPr txBox="1">
                <a:spLocks noRot="1" noChangeAspect="1" noMove="1" noResize="1" noEditPoints="1" noAdjustHandles="1" noChangeArrowheads="1" noChangeShapeType="1" noTextEdit="1"/>
              </p:cNvSpPr>
              <p:nvPr/>
            </p:nvSpPr>
            <p:spPr>
              <a:xfrm>
                <a:off x="9417538" y="0"/>
                <a:ext cx="2699012" cy="2726575"/>
              </a:xfrm>
              <a:prstGeom prst="rect">
                <a:avLst/>
              </a:prstGeom>
              <a:blipFill rotWithShape="1">
                <a:blip r:embed="rId1"/>
                <a:stretch>
                  <a:fillRect l="-18" r="4" b="-2287"/>
                </a:stretch>
              </a:blipFill>
            </p:spPr>
            <p:txBody>
              <a:bodyPr/>
              <a:lstStyle/>
              <a:p>
                <a:r>
                  <a:rPr lang="en-US" altLang="en-US">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1945" y="277495"/>
            <a:ext cx="11031855" cy="6494145"/>
          </a:xfrm>
        </p:spPr>
        <p:txBody>
          <a:bodyPr/>
          <a:lstStyle/>
          <a:p>
            <a:pPr marL="0" indent="0">
              <a:lnSpc>
                <a:spcPct val="150000"/>
              </a:lnSpc>
              <a:buNone/>
            </a:pPr>
            <a:r>
              <a:rPr lang="en-US" altLang="en-US" b="1" dirty="0"/>
              <a:t>2. Floyd </a:t>
            </a:r>
            <a:r>
              <a:rPr lang="en-US" altLang="en-US" dirty="0"/>
              <a:t>(based on dynamic programming)</a:t>
            </a:r>
            <a:endParaRPr lang="en-US" altLang="en-US" dirty="0"/>
          </a:p>
          <a:p>
            <a:pPr>
              <a:lnSpc>
                <a:spcPct val="150000"/>
              </a:lnSpc>
            </a:pPr>
            <a:r>
              <a:rPr lang="en-US" altLang="en-US" dirty="0"/>
              <a:t>All sources, arbitrary edge weights</a:t>
            </a:r>
            <a:endParaRPr lang="en-US" altLang="en-US" dirty="0"/>
          </a:p>
          <a:p>
            <a:pPr>
              <a:lnSpc>
                <a:spcPct val="150000"/>
              </a:lnSpc>
            </a:pPr>
            <a:r>
              <a:rPr lang="en-US" altLang="en-US" dirty="0"/>
              <a:t>Considering each node as an intermediate point.</a:t>
            </a:r>
            <a:endParaRPr lang="en-US" altLang="en-US" dirty="0"/>
          </a:p>
          <a:p>
            <a:pPr>
              <a:lnSpc>
                <a:spcPct val="150000"/>
              </a:lnSpc>
            </a:pPr>
            <a:r>
              <a:rPr lang="en-US" altLang="en-US" dirty="0"/>
              <a:t>Starting with direct distances between nodes</a:t>
            </a:r>
            <a:endParaRPr lang="en-US" altLang="en-US" dirty="0"/>
          </a:p>
          <a:p>
            <a:pPr>
              <a:lnSpc>
                <a:spcPct val="150000"/>
              </a:lnSpc>
            </a:pPr>
            <a:r>
              <a:rPr lang="en-US" altLang="en-US" dirty="0"/>
              <a:t>Iteratively updates the distance matrix by checking if a path through an intermediate node offers a shorter path.</a:t>
            </a:r>
            <a:endParaRPr lang="en-US" altLang="en-US" dirty="0"/>
          </a:p>
          <a:p>
            <a:pPr>
              <a:lnSpc>
                <a:spcPct val="150000"/>
              </a:lnSpc>
            </a:pPr>
            <a:r>
              <a:rPr lang="en-US" altLang="en-US" dirty="0"/>
              <a:t>This process continues until all possible pairs have been considered.</a:t>
            </a:r>
            <a:endParaRPr lang="en-US"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35" y="247015"/>
                <a:ext cx="12191365" cy="6376670"/>
              </a:xfrm>
            </p:spPr>
            <p:txBody>
              <a:bodyPr>
                <a:normAutofit lnSpcReduction="10000"/>
              </a:bodyPr>
              <a:lstStyle/>
              <a:p>
                <a:pPr marL="0" indent="0">
                  <a:buNone/>
                </a:pPr>
                <a:r>
                  <a:rPr lang="en-US" altLang="en-US" dirty="0">
                    <a:latin typeface="Calibri" panose="020F0502020204030204" pitchFamily="34" charset="0"/>
                    <a:ea typeface="Calibri" panose="020F0502020204030204" pitchFamily="34" charset="0"/>
                    <a:cs typeface="Calibri" panose="020F0502020204030204" pitchFamily="34" charset="0"/>
                  </a:rPr>
                  <a:t>Initial version of floyd: </a:t>
                </a:r>
                <a:r>
                  <a:rPr lang="en-US" altLang="en-US" dirty="0">
                    <a:latin typeface="Consolas" panose="020B0609020204030204" pitchFamily="49" charset="0"/>
                    <a:ea typeface="Calibri" panose="020F0502020204030204" pitchFamily="34" charset="0"/>
                    <a:cs typeface="Calibri" panose="020F0502020204030204" pitchFamily="34" charset="0"/>
                  </a:rPr>
                  <a:t>dist[k][i][j]</a:t>
                </a:r>
                <a:endParaRPr lang="en-US" altLang="en-US" dirty="0">
                  <a:latin typeface="Consolas" panose="020B0609020204030204" pitchFamily="49" charset="0"/>
                  <a:ea typeface="Calibri" panose="020F0502020204030204" pitchFamily="34" charset="0"/>
                  <a:cs typeface="Calibri" panose="020F0502020204030204" pitchFamily="34" charset="0"/>
                </a:endParaRPr>
              </a:p>
              <a:p>
                <a:pPr marL="0" indent="0">
                  <a:lnSpc>
                    <a:spcPct val="150000"/>
                  </a:lnSpc>
                  <a:buNone/>
                </a:pPr>
                <a:r>
                  <a:rPr lang="en-US" altLang="en-US" dirty="0" err="1">
                    <a:latin typeface="Consolas" panose="020B0609020204030204" pitchFamily="49" charset="0"/>
                    <a:ea typeface="Calibri" panose="020F0502020204030204" pitchFamily="34" charset="0"/>
                    <a:cs typeface="Calibri" panose="020F0502020204030204" pitchFamily="34" charset="0"/>
                    <a:sym typeface="+mn-ea"/>
                  </a:rPr>
                  <a:t>dist</a:t>
                </a:r>
                <a:r>
                  <a:rPr lang="en-US" altLang="en-US" dirty="0">
                    <a:latin typeface="Consolas" panose="020B0609020204030204" pitchFamily="49" charset="0"/>
                    <a:ea typeface="Calibri" panose="020F0502020204030204" pitchFamily="34" charset="0"/>
                    <a:cs typeface="Calibri" panose="020F0502020204030204" pitchFamily="34" charset="0"/>
                    <a:sym typeface="+mn-ea"/>
                  </a:rPr>
                  <a:t>[k][</a:t>
                </a:r>
                <a:r>
                  <a:rPr lang="en-US" altLang="en-US" dirty="0" err="1">
                    <a:latin typeface="Consolas" panose="020B0609020204030204" pitchFamily="49" charset="0"/>
                    <a:ea typeface="Calibri" panose="020F0502020204030204" pitchFamily="34" charset="0"/>
                    <a:cs typeface="Calibri" panose="020F0502020204030204" pitchFamily="34" charset="0"/>
                    <a:sym typeface="+mn-ea"/>
                  </a:rPr>
                  <a:t>i</a:t>
                </a:r>
                <a:r>
                  <a:rPr lang="en-US" altLang="en-US" dirty="0">
                    <a:latin typeface="Consolas" panose="020B0609020204030204" pitchFamily="49" charset="0"/>
                    <a:ea typeface="Calibri" panose="020F0502020204030204" pitchFamily="34" charset="0"/>
                    <a:cs typeface="Calibri" panose="020F0502020204030204" pitchFamily="34" charset="0"/>
                    <a:sym typeface="+mn-ea"/>
                  </a:rPr>
                  <a:t>][j]</a:t>
                </a:r>
                <a:r>
                  <a:rPr lang="en-US" altLang="en-US" dirty="0">
                    <a:latin typeface="Consolas" panose="020B0609020204030204" pitchFamily="49" charset="0"/>
                    <a:ea typeface="Calibri" panose="020F0502020204030204" pitchFamily="34" charset="0"/>
                    <a:cs typeface="Calibri" panose="020F0502020204030204" pitchFamily="34" charset="0"/>
                    <a:sym typeface="+mn-ea"/>
                  </a:rPr>
                  <a:t> </a:t>
                </a:r>
                <a:r>
                  <a:rPr lang="en-US" altLang="en-US" dirty="0">
                    <a:latin typeface="Calibri" panose="020F0502020204030204" pitchFamily="34" charset="0"/>
                    <a:ea typeface="Calibri" panose="020F0502020204030204" pitchFamily="34" charset="0"/>
                    <a:cs typeface="Calibri" panose="020F0502020204030204" pitchFamily="34" charset="0"/>
                    <a:sym typeface="+mn-ea"/>
                  </a:rPr>
                  <a:t>means consider only the induced subgraph of the first </a:t>
                </a:r>
                <a14:m>
                  <m:oMath xmlns:m="http://schemas.openxmlformats.org/officeDocument/2006/math">
                    <m:r>
                      <a:rPr lang="en-US" altLang="en-US" i="1" dirty="0" smtClean="0">
                        <a:latin typeface="Cambria Math" panose="02040503050406030204" charset="0"/>
                        <a:ea typeface="Calibri" panose="020F0502020204030204" pitchFamily="34" charset="0"/>
                        <a:cs typeface="Calibri" panose="020F0502020204030204" pitchFamily="34" charset="0"/>
                        <a:sym typeface="+mn-ea"/>
                      </a:rPr>
                      <m:t>𝑘</m:t>
                    </m:r>
                  </m:oMath>
                </a14:m>
                <a:r>
                  <a:rPr lang="en-US" altLang="en-US" dirty="0">
                    <a:latin typeface="Calibri" panose="020F0502020204030204" pitchFamily="34" charset="0"/>
                    <a:ea typeface="Calibri" panose="020F0502020204030204" pitchFamily="34" charset="0"/>
                    <a:cs typeface="Calibri" panose="020F0502020204030204" pitchFamily="34" charset="0"/>
                    <a:sym typeface="+mn-ea"/>
                  </a:rPr>
                  <a:t> vertices as intermediate part of the path between </a:t>
                </a:r>
                <a14:m>
                  <m:oMath xmlns:m="http://schemas.openxmlformats.org/officeDocument/2006/math">
                    <m:r>
                      <a:rPr lang="en-US" altLang="en-US" i="1" dirty="0" smtClean="0">
                        <a:latin typeface="Cambria Math" panose="02040503050406030204" charset="0"/>
                        <a:ea typeface="Calibri" panose="020F0502020204030204" pitchFamily="34" charset="0"/>
                        <a:cs typeface="Calibri" panose="020F0502020204030204" pitchFamily="34" charset="0"/>
                        <a:sym typeface="+mn-ea"/>
                      </a:rPr>
                      <m:t>𝑖</m:t>
                    </m:r>
                  </m:oMath>
                </a14:m>
                <a:r>
                  <a:rPr lang="en-US" altLang="en-US" dirty="0">
                    <a:latin typeface="Calibri" panose="020F0502020204030204" pitchFamily="34" charset="0"/>
                    <a:ea typeface="Calibri" panose="020F0502020204030204" pitchFamily="34" charset="0"/>
                    <a:cs typeface="Calibri" panose="020F0502020204030204" pitchFamily="34" charset="0"/>
                    <a:sym typeface="+mn-ea"/>
                  </a:rPr>
                  <a:t> and </a:t>
                </a:r>
                <a14:m>
                  <m:oMath xmlns:m="http://schemas.openxmlformats.org/officeDocument/2006/math">
                    <m:r>
                      <a:rPr lang="en-US" altLang="en-US" i="1" dirty="0" smtClean="0">
                        <a:latin typeface="Cambria Math" panose="02040503050406030204" charset="0"/>
                        <a:ea typeface="Calibri" panose="020F0502020204030204" pitchFamily="34" charset="0"/>
                        <a:cs typeface="Calibri" panose="020F0502020204030204" pitchFamily="34" charset="0"/>
                        <a:sym typeface="+mn-ea"/>
                      </a:rPr>
                      <m:t>𝑗</m:t>
                    </m:r>
                  </m:oMath>
                </a14:m>
                <a:r>
                  <a:rPr lang="en-US" altLang="en-US" dirty="0">
                    <a:latin typeface="Calibri" panose="020F0502020204030204" pitchFamily="34" charset="0"/>
                    <a:ea typeface="Calibri" panose="020F0502020204030204" pitchFamily="34" charset="0"/>
                    <a:cs typeface="Calibri" panose="020F0502020204030204" pitchFamily="34" charset="0"/>
                    <a:sym typeface="+mn-ea"/>
                  </a:rPr>
                  <a:t>.</a:t>
                </a:r>
                <a:endParaRPr lang="en-US" altLang="en-US" dirty="0">
                  <a:latin typeface="Calibri" panose="020F0502020204030204" pitchFamily="34" charset="0"/>
                  <a:ea typeface="Calibri" panose="020F0502020204030204" pitchFamily="34" charset="0"/>
                  <a:cs typeface="Calibri" panose="020F0502020204030204" pitchFamily="34" charset="0"/>
                  <a:sym typeface="+mn-ea"/>
                </a:endParaRPr>
              </a:p>
              <a:p>
                <a:pPr>
                  <a:lnSpc>
                    <a:spcPct val="100000"/>
                  </a:lnSpc>
                </a:pPr>
                <a:r>
                  <a:rPr lang="en-US" altLang="zh-CN" b="0" dirty="0">
                    <a:effectLst/>
                    <a:latin typeface="Consolas" panose="020B0609020204030204" pitchFamily="49" charset="0"/>
                  </a:rPr>
                  <a:t>for(</a:t>
                </a:r>
                <a:r>
                  <a:rPr lang="en-US" altLang="zh-CN" b="0" i="1" dirty="0">
                    <a:effectLst/>
                    <a:latin typeface="Consolas" panose="020B0609020204030204" pitchFamily="49" charset="0"/>
                  </a:rPr>
                  <a:t>int</a:t>
                </a:r>
                <a:r>
                  <a:rPr lang="en-US" altLang="zh-CN" b="0" dirty="0">
                    <a:effectLst/>
                    <a:latin typeface="Consolas" panose="020B0609020204030204" pitchFamily="49" charset="0"/>
                  </a:rPr>
                  <a:t> k=1;k&lt;=</a:t>
                </a:r>
                <a:r>
                  <a:rPr lang="en-US" altLang="zh-CN" b="0" dirty="0" err="1">
                    <a:effectLst/>
                    <a:latin typeface="Consolas" panose="020B0609020204030204" pitchFamily="49" charset="0"/>
                  </a:rPr>
                  <a:t>n;k</a:t>
                </a:r>
                <a:r>
                  <a:rPr lang="en-US" altLang="zh-CN" b="0" dirty="0">
                    <a:effectLst/>
                    <a:latin typeface="Consolas" panose="020B0609020204030204" pitchFamily="49" charset="0"/>
                  </a:rPr>
                  <a:t>++)</a:t>
                </a:r>
                <a:endParaRPr lang="en-US" altLang="zh-CN" b="0" dirty="0">
                  <a:effectLst/>
                  <a:latin typeface="Consolas" panose="020B0609020204030204" pitchFamily="49" charset="0"/>
                </a:endParaRPr>
              </a:p>
              <a:p>
                <a:pPr>
                  <a:lnSpc>
                    <a:spcPct val="100000"/>
                  </a:lnSpc>
                </a:pPr>
                <a:r>
                  <a:rPr lang="en-US" altLang="zh-CN" b="0" dirty="0">
                    <a:effectLst/>
                    <a:latin typeface="Consolas" panose="020B0609020204030204" pitchFamily="49" charset="0"/>
                  </a:rPr>
                  <a:t>    for(</a:t>
                </a:r>
                <a:r>
                  <a:rPr lang="en-US" altLang="zh-CN" b="0" i="1" dirty="0">
                    <a:effectLst/>
                    <a:latin typeface="Consolas" panose="020B0609020204030204" pitchFamily="49" charset="0"/>
                  </a:rPr>
                  <a:t>int</a:t>
                </a:r>
                <a:r>
                  <a:rPr lang="en-US" altLang="zh-CN" b="0" dirty="0">
                    <a:effectLst/>
                    <a:latin typeface="Consolas" panose="020B0609020204030204" pitchFamily="49" charset="0"/>
                  </a:rPr>
                  <a:t> </a:t>
                </a:r>
                <a:r>
                  <a:rPr lang="en-US" altLang="zh-CN" b="0" dirty="0" err="1">
                    <a:effectLst/>
                    <a:latin typeface="Consolas" panose="020B0609020204030204" pitchFamily="49" charset="0"/>
                  </a:rPr>
                  <a:t>i</a:t>
                </a:r>
                <a:r>
                  <a:rPr lang="en-US" altLang="zh-CN" b="0" dirty="0">
                    <a:effectLst/>
                    <a:latin typeface="Consolas" panose="020B0609020204030204" pitchFamily="49" charset="0"/>
                  </a:rPr>
                  <a:t>=1;i&lt;=</a:t>
                </a:r>
                <a:r>
                  <a:rPr lang="en-US" altLang="zh-CN" b="0" dirty="0" err="1">
                    <a:effectLst/>
                    <a:latin typeface="Consolas" panose="020B0609020204030204" pitchFamily="49" charset="0"/>
                  </a:rPr>
                  <a:t>n;i</a:t>
                </a:r>
                <a:r>
                  <a:rPr lang="en-US" altLang="zh-CN" b="0" dirty="0">
                    <a:effectLst/>
                    <a:latin typeface="Consolas" panose="020B0609020204030204" pitchFamily="49" charset="0"/>
                  </a:rPr>
                  <a:t>++) for(</a:t>
                </a:r>
                <a:r>
                  <a:rPr lang="en-US" altLang="zh-CN" b="0" i="1" dirty="0">
                    <a:effectLst/>
                    <a:latin typeface="Consolas" panose="020B0609020204030204" pitchFamily="49" charset="0"/>
                  </a:rPr>
                  <a:t>int</a:t>
                </a:r>
                <a:r>
                  <a:rPr lang="en-US" altLang="zh-CN" b="0" dirty="0">
                    <a:effectLst/>
                    <a:latin typeface="Consolas" panose="020B0609020204030204" pitchFamily="49" charset="0"/>
                  </a:rPr>
                  <a:t> j=1;j&lt;=</a:t>
                </a:r>
                <a:r>
                  <a:rPr lang="en-US" altLang="zh-CN" b="0" dirty="0" err="1">
                    <a:effectLst/>
                    <a:latin typeface="Consolas" panose="020B0609020204030204" pitchFamily="49" charset="0"/>
                  </a:rPr>
                  <a:t>n;j</a:t>
                </a:r>
                <a:r>
                  <a:rPr lang="en-US" altLang="zh-CN" b="0" dirty="0">
                    <a:effectLst/>
                    <a:latin typeface="Consolas" panose="020B0609020204030204" pitchFamily="49" charset="0"/>
                  </a:rPr>
                  <a:t>++)</a:t>
                </a:r>
                <a:endParaRPr lang="en-US" altLang="zh-CN" b="0" dirty="0">
                  <a:effectLst/>
                  <a:latin typeface="Consolas" panose="020B0609020204030204" pitchFamily="49" charset="0"/>
                </a:endParaRPr>
              </a:p>
              <a:p>
                <a:pPr>
                  <a:lnSpc>
                    <a:spcPct val="100000"/>
                  </a:lnSpc>
                </a:pPr>
                <a:r>
                  <a:rPr lang="en-US" altLang="zh-CN" b="0" dirty="0">
                    <a:effectLst/>
                    <a:latin typeface="Consolas" panose="020B0609020204030204" pitchFamily="49" charset="0"/>
                  </a:rPr>
                  <a:t>        </a:t>
                </a:r>
                <a:r>
                  <a:rPr lang="en-US" altLang="zh-CN" b="0" dirty="0" err="1">
                    <a:effectLst/>
                    <a:latin typeface="Consolas" panose="020B0609020204030204" pitchFamily="49" charset="0"/>
                  </a:rPr>
                  <a:t>dist</a:t>
                </a:r>
                <a:r>
                  <a:rPr lang="en-US" altLang="zh-CN" b="0" dirty="0">
                    <a:effectLst/>
                    <a:latin typeface="Consolas" panose="020B0609020204030204" pitchFamily="49" charset="0"/>
                  </a:rPr>
                  <a:t>[k][</a:t>
                </a:r>
                <a:r>
                  <a:rPr lang="en-US" altLang="zh-CN" b="0" dirty="0" err="1">
                    <a:effectLst/>
                    <a:latin typeface="Consolas" panose="020B0609020204030204" pitchFamily="49" charset="0"/>
                  </a:rPr>
                  <a:t>i</a:t>
                </a:r>
                <a:r>
                  <a:rPr lang="en-US" altLang="zh-CN" b="0" dirty="0">
                    <a:effectLst/>
                    <a:latin typeface="Consolas" panose="020B0609020204030204" pitchFamily="49" charset="0"/>
                  </a:rPr>
                  <a:t>][j]=min(</a:t>
                </a:r>
                <a:r>
                  <a:rPr lang="en-US" altLang="zh-CN" b="0" dirty="0" err="1">
                    <a:effectLst/>
                    <a:latin typeface="Consolas" panose="020B0609020204030204" pitchFamily="49" charset="0"/>
                  </a:rPr>
                  <a:t>dist</a:t>
                </a:r>
                <a:r>
                  <a:rPr lang="en-US" altLang="zh-CN" b="0" dirty="0">
                    <a:effectLst/>
                    <a:latin typeface="Consolas" panose="020B0609020204030204" pitchFamily="49" charset="0"/>
                  </a:rPr>
                  <a:t>[k-1][</a:t>
                </a:r>
                <a:r>
                  <a:rPr lang="en-US" altLang="zh-CN" b="0" dirty="0" err="1">
                    <a:effectLst/>
                    <a:latin typeface="Consolas" panose="020B0609020204030204" pitchFamily="49" charset="0"/>
                  </a:rPr>
                  <a:t>i</a:t>
                </a:r>
                <a:r>
                  <a:rPr lang="en-US" altLang="zh-CN" b="0" dirty="0">
                    <a:effectLst/>
                    <a:latin typeface="Consolas" panose="020B0609020204030204" pitchFamily="49" charset="0"/>
                  </a:rPr>
                  <a:t>][j],</a:t>
                </a:r>
                <a:endParaRPr lang="en-US" altLang="zh-CN" b="0" dirty="0">
                  <a:effectLst/>
                  <a:latin typeface="Consolas" panose="020B0609020204030204" pitchFamily="49" charset="0"/>
                </a:endParaRPr>
              </a:p>
              <a:p>
                <a:pPr>
                  <a:lnSpc>
                    <a:spcPct val="100000"/>
                  </a:lnSpc>
                </a:pPr>
                <a:r>
                  <a:rPr lang="en-US" altLang="zh-CN" b="0" dirty="0">
                    <a:effectLst/>
                    <a:latin typeface="Consolas" panose="020B0609020204030204" pitchFamily="49" charset="0"/>
                  </a:rPr>
                  <a:t>                          </a:t>
                </a:r>
                <a:r>
                  <a:rPr lang="en-US" altLang="zh-CN" b="0" dirty="0" err="1">
                    <a:effectLst/>
                    <a:latin typeface="Consolas" panose="020B0609020204030204" pitchFamily="49" charset="0"/>
                  </a:rPr>
                  <a:t>dist</a:t>
                </a:r>
                <a:r>
                  <a:rPr lang="en-US" altLang="zh-CN" b="0" dirty="0">
                    <a:effectLst/>
                    <a:latin typeface="Consolas" panose="020B0609020204030204" pitchFamily="49" charset="0"/>
                  </a:rPr>
                  <a:t>[k-1][</a:t>
                </a:r>
                <a:r>
                  <a:rPr lang="en-US" altLang="zh-CN" b="0" dirty="0" err="1">
                    <a:effectLst/>
                    <a:latin typeface="Consolas" panose="020B0609020204030204" pitchFamily="49" charset="0"/>
                  </a:rPr>
                  <a:t>i</a:t>
                </a:r>
                <a:r>
                  <a:rPr lang="en-US" altLang="zh-CN" b="0" dirty="0">
                    <a:effectLst/>
                    <a:latin typeface="Consolas" panose="020B0609020204030204" pitchFamily="49" charset="0"/>
                  </a:rPr>
                  <a:t>][k]+</a:t>
                </a:r>
                <a:r>
                  <a:rPr lang="en-US" altLang="zh-CN" b="0" dirty="0" err="1">
                    <a:effectLst/>
                    <a:latin typeface="Consolas" panose="020B0609020204030204" pitchFamily="49" charset="0"/>
                  </a:rPr>
                  <a:t>dist</a:t>
                </a:r>
                <a:r>
                  <a:rPr lang="en-US" altLang="zh-CN" b="0" dirty="0">
                    <a:effectLst/>
                    <a:latin typeface="Consolas" panose="020B0609020204030204" pitchFamily="49" charset="0"/>
                  </a:rPr>
                  <a:t>[k-1][k][j]);</a:t>
                </a:r>
                <a:endParaRPr lang="en-US" altLang="zh-CN" dirty="0">
                  <a:latin typeface="Consolas" panose="020B0609020204030204" pitchFamily="49" charset="0"/>
                </a:endParaRPr>
              </a:p>
              <a:p>
                <a:pPr marL="0" indent="0">
                  <a:lnSpc>
                    <a:spcPct val="100000"/>
                  </a:lnSpc>
                  <a:buNone/>
                </a:pPr>
                <a:r>
                  <a:rPr lang="en-US" altLang="zh-CN" b="0" dirty="0">
                    <a:effectLst/>
                    <a:latin typeface="Calibri" panose="020F0502020204030204" pitchFamily="34" charset="0"/>
                    <a:ea typeface="Calibri" panose="020F0502020204030204" pitchFamily="34" charset="0"/>
                    <a:cs typeface="Calibri" panose="020F0502020204030204" pitchFamily="34" charset="0"/>
                  </a:rPr>
                  <a:t>The k can be ignored in the array</a:t>
                </a:r>
                <a:endParaRPr lang="en-US" altLang="zh-CN" b="0" dirty="0">
                  <a:effectLst/>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US" altLang="zh-CN" b="0" dirty="0">
                    <a:effectLst/>
                    <a:latin typeface="Consolas" panose="020B0609020204030204" pitchFamily="49" charset="0"/>
                  </a:rPr>
                  <a:t>for(</a:t>
                </a:r>
                <a:r>
                  <a:rPr lang="en-US" altLang="zh-CN" b="0" i="1" dirty="0">
                    <a:effectLst/>
                    <a:latin typeface="Consolas" panose="020B0609020204030204" pitchFamily="49" charset="0"/>
                  </a:rPr>
                  <a:t>int</a:t>
                </a:r>
                <a:r>
                  <a:rPr lang="en-US" altLang="zh-CN" b="0" dirty="0">
                    <a:effectLst/>
                    <a:latin typeface="Consolas" panose="020B0609020204030204" pitchFamily="49" charset="0"/>
                  </a:rPr>
                  <a:t> k=1;k&lt;=</a:t>
                </a:r>
                <a:r>
                  <a:rPr lang="en-US" altLang="zh-CN" b="0" dirty="0" err="1">
                    <a:effectLst/>
                    <a:latin typeface="Consolas" panose="020B0609020204030204" pitchFamily="49" charset="0"/>
                  </a:rPr>
                  <a:t>n;k</a:t>
                </a:r>
                <a:r>
                  <a:rPr lang="en-US" altLang="zh-CN" b="0" dirty="0">
                    <a:effectLst/>
                    <a:latin typeface="Consolas" panose="020B0609020204030204" pitchFamily="49" charset="0"/>
                  </a:rPr>
                  <a:t>++)</a:t>
                </a:r>
                <a:endParaRPr lang="en-US" altLang="zh-CN" b="0" dirty="0">
                  <a:effectLst/>
                  <a:latin typeface="Consolas" panose="020B0609020204030204" pitchFamily="49" charset="0"/>
                </a:endParaRPr>
              </a:p>
              <a:p>
                <a:pPr>
                  <a:lnSpc>
                    <a:spcPct val="100000"/>
                  </a:lnSpc>
                </a:pPr>
                <a:r>
                  <a:rPr lang="en-US" altLang="zh-CN" b="0" dirty="0">
                    <a:effectLst/>
                    <a:latin typeface="Consolas" panose="020B0609020204030204" pitchFamily="49" charset="0"/>
                  </a:rPr>
                  <a:t>    for(</a:t>
                </a:r>
                <a:r>
                  <a:rPr lang="en-US" altLang="zh-CN" b="0" i="1" dirty="0">
                    <a:effectLst/>
                    <a:latin typeface="Consolas" panose="020B0609020204030204" pitchFamily="49" charset="0"/>
                  </a:rPr>
                  <a:t>int</a:t>
                </a:r>
                <a:r>
                  <a:rPr lang="en-US" altLang="zh-CN" b="0" dirty="0">
                    <a:effectLst/>
                    <a:latin typeface="Consolas" panose="020B0609020204030204" pitchFamily="49" charset="0"/>
                  </a:rPr>
                  <a:t> </a:t>
                </a:r>
                <a:r>
                  <a:rPr lang="en-US" altLang="zh-CN" b="0" dirty="0" err="1">
                    <a:effectLst/>
                    <a:latin typeface="Consolas" panose="020B0609020204030204" pitchFamily="49" charset="0"/>
                  </a:rPr>
                  <a:t>i</a:t>
                </a:r>
                <a:r>
                  <a:rPr lang="en-US" altLang="zh-CN" b="0" dirty="0">
                    <a:effectLst/>
                    <a:latin typeface="Consolas" panose="020B0609020204030204" pitchFamily="49" charset="0"/>
                  </a:rPr>
                  <a:t>=1;i&lt;=</a:t>
                </a:r>
                <a:r>
                  <a:rPr lang="en-US" altLang="zh-CN" b="0" dirty="0" err="1">
                    <a:effectLst/>
                    <a:latin typeface="Consolas" panose="020B0609020204030204" pitchFamily="49" charset="0"/>
                  </a:rPr>
                  <a:t>n;i</a:t>
                </a:r>
                <a:r>
                  <a:rPr lang="en-US" altLang="zh-CN" b="0" dirty="0">
                    <a:effectLst/>
                    <a:latin typeface="Consolas" panose="020B0609020204030204" pitchFamily="49" charset="0"/>
                  </a:rPr>
                  <a:t>++) for(</a:t>
                </a:r>
                <a:r>
                  <a:rPr lang="en-US" altLang="zh-CN" b="0" i="1" dirty="0">
                    <a:effectLst/>
                    <a:latin typeface="Consolas" panose="020B0609020204030204" pitchFamily="49" charset="0"/>
                  </a:rPr>
                  <a:t>int</a:t>
                </a:r>
                <a:r>
                  <a:rPr lang="en-US" altLang="zh-CN" b="0" dirty="0">
                    <a:effectLst/>
                    <a:latin typeface="Consolas" panose="020B0609020204030204" pitchFamily="49" charset="0"/>
                  </a:rPr>
                  <a:t> j=1;j&lt;=</a:t>
                </a:r>
                <a:r>
                  <a:rPr lang="en-US" altLang="zh-CN" b="0" dirty="0" err="1">
                    <a:effectLst/>
                    <a:latin typeface="Consolas" panose="020B0609020204030204" pitchFamily="49" charset="0"/>
                  </a:rPr>
                  <a:t>n;j</a:t>
                </a:r>
                <a:r>
                  <a:rPr lang="en-US" altLang="zh-CN" b="0" dirty="0">
                    <a:effectLst/>
                    <a:latin typeface="Consolas" panose="020B0609020204030204" pitchFamily="49" charset="0"/>
                  </a:rPr>
                  <a:t>++)</a:t>
                </a:r>
                <a:endParaRPr lang="en-US" altLang="zh-CN" b="0" dirty="0">
                  <a:effectLst/>
                  <a:latin typeface="Consolas" panose="020B0609020204030204" pitchFamily="49" charset="0"/>
                </a:endParaRPr>
              </a:p>
              <a:p>
                <a:pPr>
                  <a:lnSpc>
                    <a:spcPct val="100000"/>
                  </a:lnSpc>
                </a:pPr>
                <a:r>
                  <a:rPr lang="en-US" altLang="zh-CN" b="0" dirty="0">
                    <a:effectLst/>
                    <a:latin typeface="Consolas" panose="020B0609020204030204" pitchFamily="49" charset="0"/>
                  </a:rPr>
                  <a:t>        </a:t>
                </a:r>
                <a:r>
                  <a:rPr lang="en-US" altLang="zh-CN" b="0" dirty="0" err="1">
                    <a:effectLst/>
                    <a:latin typeface="Consolas" panose="020B0609020204030204" pitchFamily="49" charset="0"/>
                  </a:rPr>
                  <a:t>dist</a:t>
                </a:r>
                <a:r>
                  <a:rPr lang="en-US" altLang="zh-CN" b="0" dirty="0">
                    <a:effectLst/>
                    <a:latin typeface="Consolas" panose="020B0609020204030204" pitchFamily="49" charset="0"/>
                  </a:rPr>
                  <a:t>[</a:t>
                </a:r>
                <a:r>
                  <a:rPr lang="en-US" altLang="zh-CN" b="0" dirty="0" err="1">
                    <a:effectLst/>
                    <a:latin typeface="Consolas" panose="020B0609020204030204" pitchFamily="49" charset="0"/>
                  </a:rPr>
                  <a:t>i</a:t>
                </a:r>
                <a:r>
                  <a:rPr lang="en-US" altLang="zh-CN" b="0" dirty="0">
                    <a:effectLst/>
                    <a:latin typeface="Consolas" panose="020B0609020204030204" pitchFamily="49" charset="0"/>
                  </a:rPr>
                  <a:t>][j]=min(</a:t>
                </a:r>
                <a:r>
                  <a:rPr lang="en-US" altLang="zh-CN" b="0" dirty="0" err="1">
                    <a:effectLst/>
                    <a:latin typeface="Consolas" panose="020B0609020204030204" pitchFamily="49" charset="0"/>
                  </a:rPr>
                  <a:t>dist</a:t>
                </a:r>
                <a:r>
                  <a:rPr lang="en-US" altLang="zh-CN" b="0" dirty="0">
                    <a:effectLst/>
                    <a:latin typeface="Consolas" panose="020B0609020204030204" pitchFamily="49" charset="0"/>
                  </a:rPr>
                  <a:t>[</a:t>
                </a:r>
                <a:r>
                  <a:rPr lang="en-US" altLang="zh-CN" b="0" dirty="0" err="1">
                    <a:effectLst/>
                    <a:latin typeface="Consolas" panose="020B0609020204030204" pitchFamily="49" charset="0"/>
                  </a:rPr>
                  <a:t>i</a:t>
                </a:r>
                <a:r>
                  <a:rPr lang="en-US" altLang="zh-CN" b="0" dirty="0">
                    <a:effectLst/>
                    <a:latin typeface="Consolas" panose="020B0609020204030204" pitchFamily="49" charset="0"/>
                  </a:rPr>
                  <a:t>][j],</a:t>
                </a:r>
                <a:endParaRPr lang="en-US" altLang="zh-CN" b="0" dirty="0">
                  <a:effectLst/>
                  <a:latin typeface="Consolas" panose="020B0609020204030204" pitchFamily="49" charset="0"/>
                </a:endParaRPr>
              </a:p>
              <a:p>
                <a:pPr>
                  <a:lnSpc>
                    <a:spcPct val="100000"/>
                  </a:lnSpc>
                </a:pPr>
                <a:r>
                  <a:rPr lang="en-US" altLang="zh-CN" b="0" dirty="0">
                    <a:effectLst/>
                    <a:latin typeface="Consolas" panose="020B0609020204030204" pitchFamily="49" charset="0"/>
                  </a:rPr>
                  <a:t>                       </a:t>
                </a:r>
                <a:r>
                  <a:rPr lang="en-US" altLang="zh-CN" b="0" dirty="0" err="1">
                    <a:effectLst/>
                    <a:latin typeface="Consolas" panose="020B0609020204030204" pitchFamily="49" charset="0"/>
                  </a:rPr>
                  <a:t>dist</a:t>
                </a:r>
                <a:r>
                  <a:rPr lang="en-US" altLang="zh-CN" b="0" dirty="0">
                    <a:effectLst/>
                    <a:latin typeface="Consolas" panose="020B0609020204030204" pitchFamily="49" charset="0"/>
                  </a:rPr>
                  <a:t>[</a:t>
                </a:r>
                <a:r>
                  <a:rPr lang="en-US" altLang="zh-CN" b="0" dirty="0" err="1">
                    <a:effectLst/>
                    <a:latin typeface="Consolas" panose="020B0609020204030204" pitchFamily="49" charset="0"/>
                  </a:rPr>
                  <a:t>i</a:t>
                </a:r>
                <a:r>
                  <a:rPr lang="en-US" altLang="zh-CN" b="0" dirty="0">
                    <a:effectLst/>
                    <a:latin typeface="Consolas" panose="020B0609020204030204" pitchFamily="49" charset="0"/>
                  </a:rPr>
                  <a:t>][k]+</a:t>
                </a:r>
                <a:r>
                  <a:rPr lang="en-US" altLang="zh-CN" b="0" dirty="0" err="1">
                    <a:effectLst/>
                    <a:latin typeface="Consolas" panose="020B0609020204030204" pitchFamily="49" charset="0"/>
                  </a:rPr>
                  <a:t>dist</a:t>
                </a:r>
                <a:r>
                  <a:rPr lang="en-US" altLang="zh-CN" b="0" dirty="0">
                    <a:effectLst/>
                    <a:latin typeface="Consolas" panose="020B0609020204030204" pitchFamily="49" charset="0"/>
                  </a:rPr>
                  <a:t>[k][j]);</a:t>
                </a:r>
                <a:endParaRPr lang="en-US" altLang="zh-CN" dirty="0">
                  <a:latin typeface="Consolas" panose="020B0609020204030204" pitchFamily="49" charset="0"/>
                </a:endParaRPr>
              </a:p>
              <a:p>
                <a:pPr marL="0" indent="0">
                  <a:lnSpc>
                    <a:spcPct val="100000"/>
                  </a:lnSpc>
                  <a:buNone/>
                </a:pPr>
                <a:endParaRPr lang="en-US" altLang="zh-CN" b="0" dirty="0">
                  <a:effectLst/>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35" y="247015"/>
                <a:ext cx="12191365" cy="6376670"/>
              </a:xfrm>
              <a:blipFill rotWithShape="1">
                <a:blip r:embed="rId1"/>
                <a:stretch>
                  <a:fillRect t="-448" b="-6841"/>
                </a:stretch>
              </a:blipFill>
            </p:spPr>
            <p:txBody>
              <a:bodyPr/>
              <a:lstStyle/>
              <a:p>
                <a:r>
                  <a:rPr lang="en-US" alt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Homework 4 problem 1 solution</a:t>
            </a:r>
            <a:endParaRPr lang="en-US" alt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31470" y="1419225"/>
                <a:ext cx="11588750" cy="5363210"/>
              </a:xfrm>
            </p:spPr>
            <p:txBody>
              <a:bodyPr/>
              <a:lstStyle/>
              <a:p>
                <a:pPr marL="0" indent="0">
                  <a:lnSpc>
                    <a:spcPct val="150000"/>
                  </a:lnSpc>
                  <a:buNone/>
                </a:pPr>
                <a:r>
                  <a:rPr lang="en-US" altLang="en-US" dirty="0"/>
                  <a:t>1. Use Floyd or Dijkstra to pre-calculate the distance between any two vertices. Then consider brute force over all possible ways to traverse. </a:t>
                </a:r>
                <a:endParaRPr lang="en-US" altLang="en-US" dirty="0"/>
              </a:p>
              <a:p>
                <a:pPr marL="0" indent="0">
                  <a:lnSpc>
                    <a:spcPct val="150000"/>
                  </a:lnSpc>
                  <a:buNone/>
                </a:pPr>
                <a:r>
                  <a:rPr lang="en-US" altLang="en-US" dirty="0"/>
                  <a:t>There are </a:t>
                </a:r>
                <a14:m>
                  <m:oMath xmlns:m="http://schemas.openxmlformats.org/officeDocument/2006/math">
                    <m:r>
                      <a:rPr lang="en-US" altLang="en-US" i="1" dirty="0" smtClean="0">
                        <a:latin typeface="Cambria Math" panose="02040503050406030204" charset="0"/>
                      </a:rPr>
                      <m:t>𝑘</m:t>
                    </m:r>
                  </m:oMath>
                </a14:m>
                <a:r>
                  <a:rPr lang="en-US" altLang="en-US" dirty="0"/>
                  <a:t> edges that you must traverse. generate all </a:t>
                </a:r>
                <a14:m>
                  <m:oMath xmlns:m="http://schemas.openxmlformats.org/officeDocument/2006/math">
                    <m:r>
                      <a:rPr lang="en-US" altLang="en-US" i="1" dirty="0" smtClean="0">
                        <a:latin typeface="Cambria Math" panose="02040503050406030204" charset="0"/>
                      </a:rPr>
                      <m:t>𝑘</m:t>
                    </m:r>
                    <m:r>
                      <a:rPr lang="en-US" altLang="en-US" i="1" dirty="0" smtClean="0">
                        <a:latin typeface="Cambria Math" panose="02040503050406030204" charset="0"/>
                      </a:rPr>
                      <m:t>!</m:t>
                    </m:r>
                  </m:oMath>
                </a14:m>
                <a:r>
                  <a:rPr lang="en-US" altLang="en-US" dirty="0"/>
                  <a:t> permutation and enumerate which side to enter every edge, totally </a:t>
                </a:r>
                <a14:m>
                  <m:oMath xmlns:m="http://schemas.openxmlformats.org/officeDocument/2006/math">
                    <m:sSup>
                      <m:sSupPr>
                        <m:ctrlPr>
                          <a:rPr lang="en-US" altLang="en-US" b="0" i="1" dirty="0" smtClean="0">
                            <a:latin typeface="Cambria Math" panose="02040503050406030204" charset="0"/>
                          </a:rPr>
                        </m:ctrlPr>
                      </m:sSupPr>
                      <m:e>
                        <m:r>
                          <a:rPr lang="en-US" altLang="en-US" i="1" dirty="0" smtClean="0">
                            <a:latin typeface="Cambria Math" panose="02040503050406030204" charset="0"/>
                          </a:rPr>
                          <m:t>2</m:t>
                        </m:r>
                      </m:e>
                      <m:sup>
                        <m:r>
                          <a:rPr lang="en-US" altLang="en-US" b="0" i="1" dirty="0" smtClean="0">
                            <a:latin typeface="Cambria Math" panose="02040503050406030204" charset="0"/>
                          </a:rPr>
                          <m:t>𝑘</m:t>
                        </m:r>
                      </m:sup>
                    </m:sSup>
                  </m:oMath>
                </a14:m>
                <a:r>
                  <a:rPr lang="en-US" altLang="en-US" dirty="0"/>
                  <a:t> ways. </a:t>
                </a:r>
                <a:endParaRPr lang="en-US" altLang="en-US" dirty="0"/>
              </a:p>
              <a:p>
                <a:pPr marL="0" indent="0">
                  <a:lnSpc>
                    <a:spcPct val="150000"/>
                  </a:lnSpc>
                  <a:buNone/>
                </a:pPr>
                <a:r>
                  <a:rPr lang="en-US" altLang="en-US" dirty="0"/>
                  <a:t>Time complexity:</a:t>
                </a:r>
                <a:endParaRPr lang="en-US" altLang="en-US" dirty="0"/>
              </a:p>
              <a:p>
                <a:pPr marL="0" indent="0">
                  <a:lnSpc>
                    <a:spcPct val="150000"/>
                  </a:lnSpc>
                  <a:buNone/>
                </a:pPr>
                <a14:m>
                  <m:oMath xmlns:m="http://schemas.openxmlformats.org/officeDocument/2006/math">
                    <m:r>
                      <a:rPr lang="en-US" altLang="en-US" i="1" dirty="0" smtClean="0">
                        <a:latin typeface="Cambria Math" panose="02040503050406030204" charset="0"/>
                      </a:rPr>
                      <m:t>𝑂</m:t>
                    </m:r>
                    <m:r>
                      <a:rPr lang="en-US" altLang="en-US" i="1" dirty="0" smtClean="0">
                        <a:latin typeface="Cambria Math" panose="02040503050406030204" charset="0"/>
                      </a:rPr>
                      <m:t> (</m:t>
                    </m:r>
                    <m:sSup>
                      <m:sSupPr>
                        <m:ctrlPr>
                          <a:rPr lang="en-US" altLang="en-US" b="0" i="1" dirty="0" smtClean="0">
                            <a:latin typeface="Cambria Math" panose="02040503050406030204" charset="0"/>
                          </a:rPr>
                        </m:ctrlPr>
                      </m:sSupPr>
                      <m:e>
                        <m:r>
                          <a:rPr lang="en-US" altLang="en-US" i="1" dirty="0" smtClean="0">
                            <a:latin typeface="Cambria Math" panose="02040503050406030204" charset="0"/>
                          </a:rPr>
                          <m:t>𝑛</m:t>
                        </m:r>
                      </m:e>
                      <m:sup>
                        <m:r>
                          <a:rPr lang="en-US" altLang="en-US" b="0" i="1" dirty="0" smtClean="0">
                            <a:latin typeface="Cambria Math" panose="02040503050406030204" charset="0"/>
                          </a:rPr>
                          <m:t>3</m:t>
                        </m:r>
                      </m:sup>
                    </m:sSup>
                    <m:r>
                      <a:rPr lang="en-US" altLang="en-US" i="1" dirty="0" smtClean="0">
                        <a:latin typeface="Cambria Math" panose="02040503050406030204" charset="0"/>
                      </a:rPr>
                      <m:t>+</m:t>
                    </m:r>
                    <m:r>
                      <a:rPr lang="en-US" altLang="en-US" i="1" dirty="0" smtClean="0">
                        <a:latin typeface="Cambria Math" panose="02040503050406030204" charset="0"/>
                      </a:rPr>
                      <m:t>𝑞</m:t>
                    </m:r>
                    <m:r>
                      <a:rPr lang="en-US" altLang="en-US" b="0" i="1" dirty="0" smtClean="0">
                        <a:latin typeface="Cambria Math" panose="02040503050406030204" charset="0"/>
                      </a:rPr>
                      <m:t>×</m:t>
                    </m:r>
                    <m:r>
                      <a:rPr lang="en-US" altLang="en-US" i="1" dirty="0" smtClean="0">
                        <a:latin typeface="Cambria Math" panose="02040503050406030204" charset="0"/>
                      </a:rPr>
                      <m:t>𝑘</m:t>
                    </m:r>
                    <m:r>
                      <a:rPr lang="en-US" altLang="en-US" i="1" dirty="0" smtClean="0">
                        <a:latin typeface="Cambria Math" panose="02040503050406030204" charset="0"/>
                      </a:rPr>
                      <m:t>!×</m:t>
                    </m:r>
                    <m:sSup>
                      <m:sSupPr>
                        <m:ctrlPr>
                          <a:rPr lang="en-US" altLang="en-US" b="0" i="1" dirty="0" smtClean="0">
                            <a:latin typeface="Cambria Math" panose="02040503050406030204" charset="0"/>
                          </a:rPr>
                        </m:ctrlPr>
                      </m:sSupPr>
                      <m:e>
                        <m:r>
                          <a:rPr lang="en-US" altLang="en-US" i="1" dirty="0" smtClean="0">
                            <a:latin typeface="Cambria Math" panose="02040503050406030204" charset="0"/>
                          </a:rPr>
                          <m:t>2</m:t>
                        </m:r>
                      </m:e>
                      <m:sup>
                        <m:r>
                          <a:rPr lang="en-US" altLang="en-US" b="0" i="1" dirty="0" smtClean="0">
                            <a:latin typeface="Cambria Math" panose="02040503050406030204" charset="0"/>
                          </a:rPr>
                          <m:t>𝑘</m:t>
                        </m:r>
                      </m:sup>
                    </m:sSup>
                    <m:r>
                      <a:rPr lang="en-US" altLang="en-US" i="1" dirty="0" smtClean="0">
                        <a:latin typeface="Cambria Math" panose="02040503050406030204" charset="0"/>
                      </a:rPr>
                      <m:t>)</m:t>
                    </m:r>
                  </m:oMath>
                </a14:m>
                <a:r>
                  <a:rPr lang="en-US" altLang="en-US" dirty="0"/>
                  <a:t> if you use Floyd.</a:t>
                </a:r>
                <a:endParaRPr lang="en-US" altLang="en-US" dirty="0"/>
              </a:p>
              <a:p>
                <a:pPr marL="0" indent="0">
                  <a:lnSpc>
                    <a:spcPct val="150000"/>
                  </a:lnSpc>
                  <a:buNone/>
                </a:pPr>
                <a14:m>
                  <m:oMath xmlns:m="http://schemas.openxmlformats.org/officeDocument/2006/math">
                    <m:r>
                      <a:rPr lang="en-US" altLang="en-US" i="1" dirty="0" smtClean="0">
                        <a:latin typeface="Cambria Math" panose="02040503050406030204" charset="0"/>
                        <a:sym typeface="+mn-ea"/>
                      </a:rPr>
                      <m:t>𝑂</m:t>
                    </m:r>
                    <m:r>
                      <a:rPr lang="en-US" altLang="en-US" i="1" dirty="0" smtClean="0">
                        <a:latin typeface="Cambria Math" panose="02040503050406030204" charset="0"/>
                        <a:sym typeface="+mn-ea"/>
                      </a:rPr>
                      <m:t> (</m:t>
                    </m:r>
                    <m:r>
                      <a:rPr lang="en-US" altLang="en-US" i="1" dirty="0">
                        <a:latin typeface="Cambria Math" panose="02040503050406030204" charset="0"/>
                        <a:sym typeface="+mn-ea"/>
                      </a:rPr>
                      <m:t>𝑚</m:t>
                    </m:r>
                    <m:r>
                      <a:rPr lang="en-US" altLang="en-US" b="0" i="1" dirty="0" smtClean="0">
                        <a:latin typeface="Cambria Math" panose="02040503050406030204" charset="0"/>
                        <a:sym typeface="+mn-ea"/>
                      </a:rPr>
                      <m:t>×</m:t>
                    </m:r>
                    <m:r>
                      <a:rPr lang="en-US" altLang="en-US" i="1" dirty="0">
                        <a:latin typeface="Cambria Math" panose="02040503050406030204" charset="0"/>
                        <a:sym typeface="+mn-ea"/>
                      </a:rPr>
                      <m:t>𝑛</m:t>
                    </m:r>
                    <m:r>
                      <a:rPr lang="en-US" altLang="en-US" b="0" i="1" dirty="0" smtClean="0">
                        <a:latin typeface="Cambria Math" panose="02040503050406030204" charset="0"/>
                        <a:sym typeface="+mn-ea"/>
                      </a:rPr>
                      <m:t>×</m:t>
                    </m:r>
                    <m:r>
                      <m:rPr>
                        <m:sty m:val="p"/>
                      </m:rPr>
                      <a:rPr lang="en-US" altLang="en-US" i="1" dirty="0">
                        <a:latin typeface="Cambria Math" panose="02040503050406030204" charset="0"/>
                        <a:sym typeface="+mn-ea"/>
                      </a:rPr>
                      <m:t>log</m:t>
                    </m:r>
                    <m:r>
                      <a:rPr lang="en-US" altLang="en-US" i="1" dirty="0">
                        <a:latin typeface="Cambria Math" panose="02040503050406030204" charset="0"/>
                        <a:sym typeface="+mn-ea"/>
                      </a:rPr>
                      <m:t>⁡(</m:t>
                    </m:r>
                    <m:r>
                      <a:rPr lang="en-US" altLang="en-US" i="1" dirty="0">
                        <a:latin typeface="Cambria Math" panose="02040503050406030204" charset="0"/>
                        <a:sym typeface="+mn-ea"/>
                      </a:rPr>
                      <m:t>𝑛</m:t>
                    </m:r>
                    <m:r>
                      <a:rPr lang="en-US" altLang="en-US" i="1" dirty="0">
                        <a:latin typeface="Cambria Math" panose="02040503050406030204" charset="0"/>
                        <a:sym typeface="+mn-ea"/>
                      </a:rPr>
                      <m:t>)+</m:t>
                    </m:r>
                    <m:r>
                      <a:rPr lang="en-US" altLang="en-US" i="1" dirty="0">
                        <a:latin typeface="Cambria Math" panose="02040503050406030204" charset="0"/>
                        <a:sym typeface="+mn-ea"/>
                      </a:rPr>
                      <m:t>𝑞</m:t>
                    </m:r>
                    <m:r>
                      <a:rPr lang="en-US" altLang="en-US" b="0" i="1" dirty="0" smtClean="0">
                        <a:latin typeface="Cambria Math" panose="02040503050406030204" charset="0"/>
                        <a:sym typeface="+mn-ea"/>
                      </a:rPr>
                      <m:t>×</m:t>
                    </m:r>
                    <m:r>
                      <a:rPr lang="en-US" altLang="en-US" i="1" dirty="0">
                        <a:latin typeface="Cambria Math" panose="02040503050406030204" charset="0"/>
                        <a:sym typeface="+mn-ea"/>
                      </a:rPr>
                      <m:t>𝑘</m:t>
                    </m:r>
                    <m:r>
                      <a:rPr lang="en-US" altLang="en-US" i="1" dirty="0">
                        <a:latin typeface="Cambria Math" panose="02040503050406030204" charset="0"/>
                        <a:sym typeface="+mn-ea"/>
                      </a:rPr>
                      <m:t>!×</m:t>
                    </m:r>
                    <m:sSup>
                      <m:sSupPr>
                        <m:ctrlPr>
                          <a:rPr lang="en-US" altLang="en-US" b="0" i="1" dirty="0" smtClean="0">
                            <a:latin typeface="Cambria Math" panose="02040503050406030204" charset="0"/>
                            <a:sym typeface="+mn-ea"/>
                          </a:rPr>
                        </m:ctrlPr>
                      </m:sSupPr>
                      <m:e>
                        <m:r>
                          <a:rPr lang="en-US" altLang="en-US" i="1" dirty="0">
                            <a:latin typeface="Cambria Math" panose="02040503050406030204" charset="0"/>
                            <a:sym typeface="+mn-ea"/>
                          </a:rPr>
                          <m:t>2</m:t>
                        </m:r>
                      </m:e>
                      <m:sup>
                        <m:r>
                          <a:rPr lang="en-US" altLang="en-US" b="0" i="1" dirty="0" smtClean="0">
                            <a:latin typeface="Cambria Math" panose="02040503050406030204" charset="0"/>
                            <a:sym typeface="+mn-ea"/>
                          </a:rPr>
                          <m:t>𝑘</m:t>
                        </m:r>
                      </m:sup>
                    </m:sSup>
                    <m:r>
                      <a:rPr lang="en-US" altLang="en-US" i="1" dirty="0">
                        <a:latin typeface="Cambria Math" panose="02040503050406030204" charset="0"/>
                        <a:sym typeface="+mn-ea"/>
                      </a:rPr>
                      <m:t>) </m:t>
                    </m:r>
                  </m:oMath>
                </a14:m>
                <a:r>
                  <a:rPr lang="en-US" altLang="en-US" dirty="0">
                    <a:sym typeface="+mn-ea"/>
                  </a:rPr>
                  <a:t>if you use </a:t>
                </a:r>
                <a:r>
                  <a:rPr lang="en-US" altLang="en-US" dirty="0">
                    <a:sym typeface="+mn-ea"/>
                  </a:rPr>
                  <a:t>Dijkstra</a:t>
                </a:r>
                <a:r>
                  <a:rPr lang="en-US" altLang="en-US" dirty="0">
                    <a:sym typeface="+mn-ea"/>
                  </a:rPr>
                  <a:t>.</a:t>
                </a:r>
                <a:endParaRPr lang="en-US" altLang="en-US" dirty="0"/>
              </a:p>
              <a:p>
                <a:pPr marL="0" indent="0">
                  <a:buNone/>
                </a:pPr>
                <a:endParaRPr lang="en-US" altLang="en-US" dirty="0"/>
              </a:p>
              <a:p>
                <a:pPr marL="0" indent="0">
                  <a:buNone/>
                </a:pPr>
                <a:endParaRPr lang="en-US" alt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331470" y="1419225"/>
                <a:ext cx="11588750" cy="5363210"/>
              </a:xfrm>
              <a:blipFill rotWithShape="1">
                <a:blip r:embed="rId1"/>
                <a:stretch>
                  <a:fillRect b="-15096"/>
                </a:stretch>
              </a:blipFill>
            </p:spPr>
            <p:txBody>
              <a:bodyPr/>
              <a:lstStyle/>
              <a:p>
                <a:r>
                  <a:rPr lang="en-US" altLang="en-US">
                    <a:noFill/>
                  </a:rPr>
                  <a:t> </a:t>
                </a:r>
              </a:p>
            </p:txBody>
          </p:sp>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Homework 4 problem 2 solution</a:t>
            </a:r>
            <a:endParaRPr lang="en-US" alt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03200" y="1597660"/>
                <a:ext cx="11776075" cy="5016500"/>
              </a:xfrm>
            </p:spPr>
            <p:txBody>
              <a:bodyPr>
                <a:noAutofit/>
              </a:bodyPr>
              <a:lstStyle/>
              <a:p>
                <a:pPr marL="0" indent="0">
                  <a:lnSpc>
                    <a:spcPct val="150000"/>
                  </a:lnSpc>
                  <a:buNone/>
                </a:pPr>
                <a:r>
                  <a:rPr lang="en-US" altLang="en-US" sz="2700" dirty="0"/>
                  <a:t>1. Cosider Maximum Spanning Tree: (Easiest solution)</a:t>
                </a:r>
                <a:endParaRPr lang="en-US" altLang="en-US" sz="2700" dirty="0"/>
              </a:p>
              <a:p>
                <a:pPr marL="0" indent="0">
                  <a:lnSpc>
                    <a:spcPct val="150000"/>
                  </a:lnSpc>
                  <a:buNone/>
                </a:pPr>
                <a:r>
                  <a:rPr lang="en-US" altLang="en-US" sz="2700" dirty="0"/>
                  <a:t>Sort the edges in descending order, and add edges gradually until source and destination are in one connected component. </a:t>
                </a:r>
                <a:endParaRPr lang="en-US" altLang="en-US" sz="2700" dirty="0"/>
              </a:p>
              <a:p>
                <a:pPr marL="0" indent="0">
                  <a:lnSpc>
                    <a:spcPct val="150000"/>
                  </a:lnSpc>
                  <a:buNone/>
                </a:pPr>
                <a:r>
                  <a:rPr lang="en-US" altLang="en-US" sz="2700" dirty="0"/>
                  <a:t>Use a disjoint union set to determine whether two vertices have the same father vertex, whose complexity is </a:t>
                </a:r>
                <a14:m>
                  <m:oMath xmlns:m="http://schemas.openxmlformats.org/officeDocument/2006/math">
                    <m:r>
                      <m:rPr>
                        <m:sty m:val="p"/>
                      </m:rPr>
                      <a:rPr lang="en-US" altLang="en-US" sz="2700" i="1" dirty="0" smtClean="0">
                        <a:latin typeface="Cambria Math" panose="02040503050406030204" charset="0"/>
                      </a:rPr>
                      <m:t>log</m:t>
                    </m:r>
                    <m:r>
                      <a:rPr lang="en-US" altLang="en-US" sz="2700" i="1" dirty="0" smtClean="0">
                        <a:latin typeface="Cambria Math" panose="02040503050406030204" charset="0"/>
                      </a:rPr>
                      <m:t>⁡(</m:t>
                    </m:r>
                    <m:r>
                      <a:rPr lang="en-US" altLang="en-US" sz="2700" i="1" dirty="0" smtClean="0">
                        <a:latin typeface="Cambria Math" panose="02040503050406030204" charset="0"/>
                      </a:rPr>
                      <m:t>𝑛</m:t>
                    </m:r>
                    <m:r>
                      <a:rPr lang="en-US" altLang="en-US" sz="2700" i="1" dirty="0" smtClean="0">
                        <a:latin typeface="Cambria Math" panose="02040503050406030204" charset="0"/>
                      </a:rPr>
                      <m:t>)</m:t>
                    </m:r>
                  </m:oMath>
                </a14:m>
                <a:endParaRPr lang="en-US" altLang="en-US" sz="2700" dirty="0"/>
              </a:p>
              <a:p>
                <a:pPr marL="0" indent="0">
                  <a:lnSpc>
                    <a:spcPct val="150000"/>
                  </a:lnSpc>
                  <a:buNone/>
                </a:pPr>
                <a:r>
                  <a:rPr lang="en-US" altLang="en-US" sz="2700" dirty="0"/>
                  <a:t>Time complexity:</a:t>
                </a:r>
                <a:endParaRPr lang="en-US" altLang="en-US" sz="2700" dirty="0"/>
              </a:p>
              <a:p>
                <a:pPr marL="0" indent="0">
                  <a:lnSpc>
                    <a:spcPct val="150000"/>
                  </a:lnSpc>
                  <a:buNone/>
                </a:pPr>
                <a14:m>
                  <m:oMathPara xmlns:m="http://schemas.openxmlformats.org/officeDocument/2006/math">
                    <m:oMathParaPr>
                      <m:jc m:val="centerGroup"/>
                    </m:oMathParaPr>
                    <m:oMath xmlns:m="http://schemas.openxmlformats.org/officeDocument/2006/math">
                      <m:r>
                        <a:rPr lang="en-US" altLang="en-US" sz="2700" i="1" dirty="0" smtClean="0">
                          <a:latin typeface="Cambria Math" panose="02040503050406030204" charset="0"/>
                        </a:rPr>
                        <m:t>𝑂</m:t>
                      </m:r>
                      <m:r>
                        <a:rPr lang="en-US" altLang="en-US" sz="2700" i="1" dirty="0" smtClean="0">
                          <a:latin typeface="Cambria Math" panose="02040503050406030204" charset="0"/>
                        </a:rPr>
                        <m:t> (</m:t>
                      </m:r>
                      <m:r>
                        <a:rPr lang="en-US" altLang="en-US" sz="2700" i="1" dirty="0" smtClean="0">
                          <a:latin typeface="Cambria Math" panose="02040503050406030204" charset="0"/>
                        </a:rPr>
                        <m:t>𝑞</m:t>
                      </m:r>
                      <m:r>
                        <a:rPr lang="en-US" altLang="en-US" sz="2700" b="0" i="1" dirty="0" smtClean="0">
                          <a:latin typeface="Cambria Math" panose="02040503050406030204" charset="0"/>
                        </a:rPr>
                        <m:t>×</m:t>
                      </m:r>
                      <m:r>
                        <a:rPr lang="en-US" altLang="en-US" sz="2700" i="1" dirty="0" smtClean="0">
                          <a:latin typeface="Cambria Math" panose="02040503050406030204" charset="0"/>
                        </a:rPr>
                        <m:t>𝑚</m:t>
                      </m:r>
                      <m:r>
                        <a:rPr lang="en-US" altLang="en-US" sz="2700" b="0" i="1" dirty="0" smtClean="0">
                          <a:latin typeface="Cambria Math" panose="02040503050406030204" charset="0"/>
                        </a:rPr>
                        <m:t>×</m:t>
                      </m:r>
                      <m:r>
                        <a:rPr lang="en-US" altLang="en-US" sz="2700" i="1" dirty="0" smtClean="0">
                          <a:latin typeface="Cambria Math" panose="02040503050406030204" charset="0"/>
                        </a:rPr>
                        <m:t>(</m:t>
                      </m:r>
                      <m:r>
                        <m:rPr>
                          <m:sty m:val="p"/>
                        </m:rPr>
                        <a:rPr lang="en-US" altLang="en-US" sz="2700" i="1" dirty="0" smtClean="0">
                          <a:latin typeface="Cambria Math" panose="02040503050406030204" charset="0"/>
                        </a:rPr>
                        <m:t>log</m:t>
                      </m:r>
                      <m:r>
                        <a:rPr lang="en-US" altLang="en-US" sz="2700" i="1" dirty="0" smtClean="0">
                          <a:latin typeface="Cambria Math" panose="02040503050406030204" charset="0"/>
                        </a:rPr>
                        <m:t>⁡(</m:t>
                      </m:r>
                      <m:r>
                        <a:rPr lang="en-US" altLang="en-US" sz="2700" i="1" dirty="0" smtClean="0">
                          <a:latin typeface="Cambria Math" panose="02040503050406030204" charset="0"/>
                        </a:rPr>
                        <m:t>𝑚</m:t>
                      </m:r>
                      <m:r>
                        <a:rPr lang="en-US" altLang="en-US" sz="2700" i="1" dirty="0" smtClean="0">
                          <a:latin typeface="Cambria Math" panose="02040503050406030204" charset="0"/>
                        </a:rPr>
                        <m:t>)+</m:t>
                      </m:r>
                      <m:r>
                        <m:rPr>
                          <m:sty m:val="p"/>
                        </m:rPr>
                        <a:rPr lang="en-US" altLang="en-US" sz="2700" i="1" dirty="0" smtClean="0">
                          <a:latin typeface="Cambria Math" panose="02040503050406030204" charset="0"/>
                        </a:rPr>
                        <m:t>log</m:t>
                      </m:r>
                      <m:r>
                        <a:rPr lang="en-US" altLang="en-US" sz="2700" i="1" dirty="0" smtClean="0">
                          <a:latin typeface="Cambria Math" panose="02040503050406030204" charset="0"/>
                        </a:rPr>
                        <m:t>⁡(</m:t>
                      </m:r>
                      <m:r>
                        <a:rPr lang="en-US" altLang="en-US" sz="2700" i="1" dirty="0" smtClean="0">
                          <a:latin typeface="Cambria Math" panose="02040503050406030204" charset="0"/>
                        </a:rPr>
                        <m:t>𝑛</m:t>
                      </m:r>
                      <m:r>
                        <a:rPr lang="en-US" altLang="en-US" sz="2700" i="1" dirty="0" smtClean="0">
                          <a:latin typeface="Cambria Math" panose="02040503050406030204" charset="0"/>
                        </a:rPr>
                        <m:t>)))</m:t>
                      </m:r>
                    </m:oMath>
                  </m:oMathPara>
                </a14:m>
                <a:endParaRPr lang="en-US" altLang="en-US" sz="27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203200" y="1597660"/>
                <a:ext cx="11776075" cy="5016500"/>
              </a:xfrm>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sym typeface="+mn-ea"/>
              </a:rPr>
              <a:t>Homework 4 problem 2 solution</a:t>
            </a: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03200" y="1341120"/>
                <a:ext cx="11805285" cy="5421630"/>
              </a:xfrm>
            </p:spPr>
            <p:txBody>
              <a:bodyPr>
                <a:normAutofit lnSpcReduction="10000"/>
              </a:bodyPr>
              <a:lstStyle/>
              <a:p>
                <a:pPr marL="0" indent="0">
                  <a:lnSpc>
                    <a:spcPct val="150000"/>
                  </a:lnSpc>
                  <a:buNone/>
                </a:pPr>
                <a:r>
                  <a:rPr lang="en-US" altLang="en-US" dirty="0"/>
                  <a:t>2. Consider binary search. (Xinyan Zhou’s idea)</a:t>
                </a:r>
                <a:endParaRPr lang="en-US" altLang="en-US" dirty="0"/>
              </a:p>
              <a:p>
                <a:pPr marL="0" indent="0">
                  <a:lnSpc>
                    <a:spcPct val="150000"/>
                  </a:lnSpc>
                  <a:buNone/>
                </a:pPr>
                <a:r>
                  <a:rPr lang="en-US" altLang="en-US" dirty="0"/>
                  <a:t>We guess the answer is </a:t>
                </a:r>
                <a14:m>
                  <m:oMath xmlns:m="http://schemas.openxmlformats.org/officeDocument/2006/math">
                    <m:r>
                      <a:rPr lang="en-US" altLang="en-US" i="1" dirty="0" smtClean="0">
                        <a:latin typeface="Cambria Math" panose="02040503050406030204" charset="0"/>
                      </a:rPr>
                      <m:t>𝑝</m:t>
                    </m:r>
                  </m:oMath>
                </a14:m>
                <a:r>
                  <a:rPr lang="en-US" altLang="en-US" dirty="0"/>
                  <a:t>, binary search </a:t>
                </a:r>
                <a14:m>
                  <m:oMath xmlns:m="http://schemas.openxmlformats.org/officeDocument/2006/math">
                    <m:r>
                      <a:rPr lang="en-US" altLang="en-US" i="1" dirty="0" smtClean="0">
                        <a:latin typeface="Cambria Math" panose="02040503050406030204" charset="0"/>
                      </a:rPr>
                      <m:t>𝑝</m:t>
                    </m:r>
                  </m:oMath>
                </a14:m>
                <a:r>
                  <a:rPr lang="en-US" altLang="en-US" dirty="0"/>
                  <a:t>. Then we check whether </a:t>
                </a:r>
                <a14:m>
                  <m:oMath xmlns:m="http://schemas.openxmlformats.org/officeDocument/2006/math">
                    <m:r>
                      <a:rPr lang="en-US" altLang="en-US" i="1" dirty="0" smtClean="0">
                        <a:latin typeface="Cambria Math" panose="02040503050406030204" charset="0"/>
                      </a:rPr>
                      <m:t>𝑝</m:t>
                    </m:r>
                  </m:oMath>
                </a14:m>
                <a:r>
                  <a:rPr lang="en-US" altLang="en-US" dirty="0"/>
                  <a:t> is a valid solution. If we can start from </a:t>
                </a:r>
                <a14:m>
                  <m:oMath xmlns:m="http://schemas.openxmlformats.org/officeDocument/2006/math">
                    <m:r>
                      <a:rPr lang="en-US" altLang="en-US" i="1" dirty="0" smtClean="0">
                        <a:latin typeface="Cambria Math" panose="02040503050406030204" charset="0"/>
                      </a:rPr>
                      <m:t>𝑠</m:t>
                    </m:r>
                  </m:oMath>
                </a14:m>
                <a:r>
                  <a:rPr lang="en-US" altLang="en-US" dirty="0"/>
                  <a:t> and end at </a:t>
                </a:r>
                <a14:m>
                  <m:oMath xmlns:m="http://schemas.openxmlformats.org/officeDocument/2006/math">
                    <m:r>
                      <a:rPr lang="en-US" altLang="en-US" i="1" dirty="0" smtClean="0">
                        <a:latin typeface="Cambria Math" panose="02040503050406030204" charset="0"/>
                      </a:rPr>
                      <m:t>𝑡</m:t>
                    </m:r>
                  </m:oMath>
                </a14:m>
                <a:r>
                  <a:rPr lang="en-US" altLang="en-US" dirty="0"/>
                  <a:t> if we only use edges whose weights are greater than or equal to </a:t>
                </a:r>
                <a14:m>
                  <m:oMath xmlns:m="http://schemas.openxmlformats.org/officeDocument/2006/math">
                    <m:r>
                      <a:rPr lang="en-US" altLang="en-US" i="1" dirty="0" smtClean="0">
                        <a:latin typeface="Cambria Math" panose="02040503050406030204" charset="0"/>
                      </a:rPr>
                      <m:t>𝑝</m:t>
                    </m:r>
                  </m:oMath>
                </a14:m>
                <a:r>
                  <a:rPr lang="en-US" altLang="en-US" dirty="0"/>
                  <a:t>, then it’s a valid solution. Final answer is the maximal valid solution because it must correspond to an edge weight</a:t>
                </a:r>
                <a:endParaRPr lang="en-US" altLang="en-US" dirty="0"/>
              </a:p>
              <a:p>
                <a:pPr marL="0" indent="0">
                  <a:lnSpc>
                    <a:spcPct val="150000"/>
                  </a:lnSpc>
                  <a:buNone/>
                </a:pPr>
                <a:r>
                  <a:rPr lang="en-US" altLang="en-US" dirty="0"/>
                  <a:t>Time complexity: </a:t>
                </a:r>
                <a14:m>
                  <m:oMath xmlns:m="http://schemas.openxmlformats.org/officeDocument/2006/math">
                    <m:r>
                      <a:rPr lang="en-US" altLang="en-US" i="1" dirty="0" smtClean="0">
                        <a:latin typeface="Cambria Math" panose="02040503050406030204" charset="0"/>
                      </a:rPr>
                      <m:t>𝑂</m:t>
                    </m:r>
                    <m:r>
                      <a:rPr lang="en-US" altLang="en-US" i="1" dirty="0" smtClean="0">
                        <a:latin typeface="Cambria Math" panose="02040503050406030204" charset="0"/>
                      </a:rPr>
                      <m:t>(</m:t>
                    </m:r>
                    <m:r>
                      <a:rPr lang="en-US" altLang="en-US" i="1" dirty="0" smtClean="0">
                        <a:latin typeface="Cambria Math" panose="02040503050406030204" charset="0"/>
                      </a:rPr>
                      <m:t>𝑞</m:t>
                    </m:r>
                    <m:r>
                      <a:rPr lang="en-US" altLang="en-US" b="0" i="1" dirty="0" smtClean="0">
                        <a:latin typeface="Cambria Math" panose="02040503050406030204" charset="0"/>
                      </a:rPr>
                      <m:t>×</m:t>
                    </m:r>
                    <m:func>
                      <m:funcPr>
                        <m:ctrlPr>
                          <a:rPr lang="en-US" altLang="en-US" i="1" dirty="0" smtClean="0">
                            <a:latin typeface="Cambria Math" panose="02040503050406030204" charset="0"/>
                          </a:rPr>
                        </m:ctrlPr>
                      </m:funcPr>
                      <m:fName>
                        <m:r>
                          <m:rPr>
                            <m:sty m:val="p"/>
                          </m:rPr>
                          <a:rPr lang="en-US" altLang="en-US" i="0" dirty="0" smtClean="0">
                            <a:latin typeface="Cambria Math" panose="02040503050406030204" charset="0"/>
                          </a:rPr>
                          <m:t>log</m:t>
                        </m:r>
                      </m:fName>
                      <m:e>
                        <m:d>
                          <m:dPr>
                            <m:ctrlPr>
                              <a:rPr lang="en-US" altLang="en-US" i="1" dirty="0" smtClean="0">
                                <a:latin typeface="Cambria Math" panose="02040503050406030204" charset="0"/>
                              </a:rPr>
                            </m:ctrlPr>
                          </m:dPr>
                          <m:e>
                            <m:func>
                              <m:funcPr>
                                <m:ctrlPr>
                                  <a:rPr lang="en-US" altLang="en-US" b="0" i="1" dirty="0" smtClean="0">
                                    <a:latin typeface="Cambria Math" panose="02040503050406030204" charset="0"/>
                                  </a:rPr>
                                </m:ctrlPr>
                              </m:funcPr>
                              <m:fName>
                                <m:r>
                                  <m:rPr>
                                    <m:sty m:val="p"/>
                                  </m:rPr>
                                  <a:rPr lang="en-US" altLang="en-US" b="0" i="0" dirty="0" smtClean="0">
                                    <a:latin typeface="Cambria Math" panose="02040503050406030204" charset="0"/>
                                  </a:rPr>
                                  <m:t>max</m:t>
                                </m:r>
                              </m:fName>
                              <m:e>
                                <m:r>
                                  <a:rPr lang="en-US" altLang="en-US" b="0" i="1" dirty="0" smtClean="0">
                                    <a:latin typeface="Cambria Math" panose="02040503050406030204" charset="0"/>
                                  </a:rPr>
                                  <m:t>𝑤𝑒𝑖𝑔ℎ𝑡</m:t>
                                </m:r>
                              </m:e>
                            </m:func>
                          </m:e>
                        </m:d>
                      </m:e>
                    </m:func>
                    <m:r>
                      <a:rPr lang="en-US" altLang="en-US" b="0" i="1" dirty="0" smtClean="0">
                        <a:latin typeface="Cambria Math" panose="02040503050406030204" charset="0"/>
                      </a:rPr>
                      <m:t>×</m:t>
                    </m:r>
                    <m:r>
                      <a:rPr lang="en-US" altLang="en-US" i="1" dirty="0" smtClean="0">
                        <a:latin typeface="Cambria Math" panose="02040503050406030204" charset="0"/>
                      </a:rPr>
                      <m:t>𝑛</m:t>
                    </m:r>
                    <m:r>
                      <a:rPr lang="en-US" altLang="en-US" i="1" dirty="0" smtClean="0">
                        <a:latin typeface="Cambria Math" panose="02040503050406030204" charset="0"/>
                      </a:rPr>
                      <m:t>)</m:t>
                    </m:r>
                  </m:oMath>
                </a14:m>
                <a:endParaRPr lang="en-US" altLang="en-US" dirty="0"/>
              </a:p>
              <a:p>
                <a:pPr marL="0" indent="0">
                  <a:lnSpc>
                    <a:spcPct val="150000"/>
                  </a:lnSpc>
                  <a:buNone/>
                </a:pPr>
                <a:r>
                  <a:rPr lang="en-US" altLang="en-US" dirty="0"/>
                  <a:t>where Max_Weight is the maximal weight of all edges</a:t>
                </a:r>
                <a:endParaRPr lang="en-US" alt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203200" y="1341120"/>
                <a:ext cx="11805285" cy="5421630"/>
              </a:xfrm>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sym typeface="+mn-ea"/>
              </a:rPr>
              <a:t>Homework 4 problem 2 solution</a:t>
            </a: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22885" y="1548130"/>
                <a:ext cx="11875135" cy="5373370"/>
              </a:xfrm>
            </p:spPr>
            <p:txBody>
              <a:bodyPr>
                <a:noAutofit/>
              </a:bodyPr>
              <a:lstStyle/>
              <a:p>
                <a:pPr marL="0" indent="0">
                  <a:lnSpc>
                    <a:spcPct val="100000"/>
                  </a:lnSpc>
                  <a:buNone/>
                </a:pPr>
                <a:r>
                  <a:rPr lang="en-US" altLang="en-US" sz="2700" dirty="0"/>
                  <a:t>3. Consider Widest Path Dijkstra. (Prof. Fang’s solution)</a:t>
                </a:r>
                <a:endParaRPr lang="en-US" altLang="en-US" sz="2700" dirty="0"/>
              </a:p>
              <a:p>
                <a:pPr>
                  <a:lnSpc>
                    <a:spcPct val="100000"/>
                  </a:lnSpc>
                </a:pPr>
                <a:r>
                  <a:rPr lang="en-US" altLang="en-US" sz="2700" dirty="0"/>
                  <a:t>It’s the same idea as Shortest Path Problem. The only difference is:</a:t>
                </a:r>
                <a:endParaRPr lang="en-US" altLang="en-US" sz="2700" dirty="0"/>
              </a:p>
              <a:p>
                <a:pPr>
                  <a:lnSpc>
                    <a:spcPct val="100000"/>
                  </a:lnSpc>
                </a:pPr>
                <a:r>
                  <a:rPr lang="en-US" altLang="en-US" sz="2700" dirty="0">
                    <a:latin typeface="Consolas" panose="020B0609020204030204" pitchFamily="49" charset="0"/>
                  </a:rPr>
                  <a:t>dist[v] = min(dist[u] + edgeweight, dist[v]); </a:t>
                </a:r>
                <a:r>
                  <a:rPr lang="en-US" altLang="en-US" sz="2700" dirty="0"/>
                  <a:t>(shortest path)</a:t>
                </a:r>
                <a:endParaRPr lang="en-US" altLang="en-US" sz="2700" dirty="0"/>
              </a:p>
              <a:p>
                <a:pPr>
                  <a:lnSpc>
                    <a:spcPct val="100000"/>
                  </a:lnSpc>
                </a:pPr>
                <a:r>
                  <a:rPr lang="en-US" altLang="en-US" sz="2700" dirty="0">
                    <a:latin typeface="Consolas" panose="020B0609020204030204" pitchFamily="49" charset="0"/>
                  </a:rPr>
                  <a:t>dist[v] = max(min(dist[u], edgeweight), dist[v]); </a:t>
                </a:r>
                <a:r>
                  <a:rPr lang="en-US" altLang="en-US" sz="2700" dirty="0"/>
                  <a:t>(widest path)</a:t>
                </a:r>
                <a:endParaRPr lang="en-US" altLang="en-US" sz="2700" dirty="0"/>
              </a:p>
              <a:p>
                <a:pPr>
                  <a:lnSpc>
                    <a:spcPct val="100000"/>
                  </a:lnSpc>
                </a:pPr>
                <a:r>
                  <a:rPr lang="en-US" altLang="en-US" sz="2700" dirty="0"/>
                  <a:t>Can be implemented greedily. (Initially </a:t>
                </a:r>
                <a:r>
                  <a:rPr lang="en-US" altLang="en-US" sz="2700" dirty="0">
                    <a:latin typeface="Consolas" panose="020B0609020204030204" pitchFamily="49" charset="0"/>
                  </a:rPr>
                  <a:t>dist[source] = inf </a:t>
                </a:r>
                <a:r>
                  <a:rPr lang="en-US" altLang="en-US" sz="2700" dirty="0"/>
                  <a:t>and others are 0)</a:t>
                </a:r>
                <a:endParaRPr lang="en-US" altLang="en-US" sz="2700" dirty="0"/>
              </a:p>
              <a:p>
                <a:pPr>
                  <a:lnSpc>
                    <a:spcPct val="100000"/>
                  </a:lnSpc>
                </a:pPr>
                <a:r>
                  <a:rPr lang="en-US" altLang="en-US" sz="2700" dirty="0"/>
                  <a:t>Dijkstra again…</a:t>
                </a:r>
                <a:endParaRPr lang="en-US" altLang="en-US" sz="2700" dirty="0"/>
              </a:p>
              <a:p>
                <a:pPr>
                  <a:lnSpc>
                    <a:spcPct val="100000"/>
                  </a:lnSpc>
                </a:pPr>
                <a:r>
                  <a:rPr lang="en-US" altLang="en-US" sz="2700" dirty="0"/>
                  <a:t>Time Complexity: </a:t>
                </a:r>
                <a14:m>
                  <m:oMath xmlns:m="http://schemas.openxmlformats.org/officeDocument/2006/math">
                    <m:r>
                      <a:rPr lang="en-US" altLang="en-US" sz="2700" i="1" dirty="0" smtClean="0">
                        <a:latin typeface="Cambria Math" panose="02040503050406030204" charset="0"/>
                      </a:rPr>
                      <m:t>𝑂</m:t>
                    </m:r>
                    <m:r>
                      <a:rPr lang="en-US" altLang="en-US" sz="2700" i="1" dirty="0" smtClean="0">
                        <a:latin typeface="Cambria Math" panose="02040503050406030204" charset="0"/>
                      </a:rPr>
                      <m:t> (</m:t>
                    </m:r>
                    <m:r>
                      <a:rPr lang="en-US" altLang="en-US" sz="2700" i="1" dirty="0" smtClean="0">
                        <a:latin typeface="Cambria Math" panose="02040503050406030204" charset="0"/>
                      </a:rPr>
                      <m:t>𝑞</m:t>
                    </m:r>
                    <m:r>
                      <a:rPr lang="en-US" altLang="en-US" sz="2700" b="0" i="1" dirty="0" smtClean="0">
                        <a:latin typeface="Cambria Math" panose="02040503050406030204" charset="0"/>
                      </a:rPr>
                      <m:t>×</m:t>
                    </m:r>
                    <m:r>
                      <a:rPr lang="en-US" altLang="en-US" sz="2700" i="1" dirty="0" smtClean="0">
                        <a:latin typeface="Cambria Math" panose="02040503050406030204" charset="0"/>
                      </a:rPr>
                      <m:t>𝑚</m:t>
                    </m:r>
                    <m:r>
                      <a:rPr lang="en-US" altLang="en-US" sz="2700" b="0" i="1" dirty="0" smtClean="0">
                        <a:latin typeface="Cambria Math" panose="02040503050406030204" charset="0"/>
                      </a:rPr>
                      <m:t>×</m:t>
                    </m:r>
                    <m:r>
                      <m:rPr>
                        <m:sty m:val="p"/>
                      </m:rPr>
                      <a:rPr lang="en-US" altLang="en-US" sz="2700" i="1" dirty="0" smtClean="0">
                        <a:latin typeface="Cambria Math" panose="02040503050406030204" charset="0"/>
                      </a:rPr>
                      <m:t>log</m:t>
                    </m:r>
                    <m:r>
                      <a:rPr lang="en-US" altLang="en-US" sz="2700" i="1" dirty="0" smtClean="0">
                        <a:latin typeface="Cambria Math" panose="02040503050406030204" charset="0"/>
                      </a:rPr>
                      <m:t>⁡(</m:t>
                    </m:r>
                    <m:r>
                      <a:rPr lang="en-US" altLang="en-US" sz="2700" i="1" dirty="0" smtClean="0">
                        <a:latin typeface="Cambria Math" panose="02040503050406030204" charset="0"/>
                      </a:rPr>
                      <m:t>𝑛</m:t>
                    </m:r>
                    <m:r>
                      <a:rPr lang="en-US" altLang="en-US" sz="2700" i="1" dirty="0" smtClean="0">
                        <a:latin typeface="Cambria Math" panose="02040503050406030204" charset="0"/>
                      </a:rPr>
                      <m:t>))</m:t>
                    </m:r>
                  </m:oMath>
                </a14:m>
                <a:endParaRPr lang="en-US" altLang="en-US" sz="27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222885" y="1548130"/>
                <a:ext cx="11875135" cy="5373370"/>
              </a:xfrm>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ym typeface="+mn-ea"/>
              </a:rPr>
              <a:t>Homework 4 problem </a:t>
            </a:r>
            <a:r>
              <a:rPr lang="en-US" altLang="en-US" dirty="0">
                <a:sym typeface="+mn-ea"/>
              </a:rPr>
              <a:t>3</a:t>
            </a:r>
            <a:r>
              <a:rPr lang="en-US" altLang="en-US" dirty="0">
                <a:sym typeface="+mn-ea"/>
              </a:rPr>
              <a:t> solution</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47650" y="1691005"/>
                <a:ext cx="11944350" cy="5032375"/>
              </a:xfrm>
            </p:spPr>
            <p:txBody>
              <a:bodyPr/>
              <a:lstStyle/>
              <a:p>
                <a:pPr marL="0" indent="0">
                  <a:lnSpc>
                    <a:spcPct val="150000"/>
                  </a:lnSpc>
                  <a:buNone/>
                </a:pPr>
                <a:r>
                  <a:rPr lang="en-US" altLang="en-US" dirty="0">
                    <a:latin typeface="Calibri" panose="020F0502020204030204" pitchFamily="34" charset="0"/>
                    <a:ea typeface="Calibri" panose="020F0502020204030204" pitchFamily="34" charset="0"/>
                    <a:cs typeface="Calibri" panose="020F0502020204030204" pitchFamily="34" charset="0"/>
                  </a:rPr>
                  <a:t>Some useful observation: If your SP is greater than 100, you can reach anywhere you want, without losing HP.</a:t>
                </a:r>
                <a:endParaRPr lang="en-US" altLang="en-US" dirty="0">
                  <a:latin typeface="Calibri" panose="020F0502020204030204" pitchFamily="34" charset="0"/>
                  <a:ea typeface="Calibri" panose="020F0502020204030204" pitchFamily="34" charset="0"/>
                  <a:cs typeface="Calibri" panose="020F0502020204030204" pitchFamily="34" charset="0"/>
                </a:endParaRPr>
              </a:p>
              <a:p>
                <a:pPr marL="0" indent="0">
                  <a:lnSpc>
                    <a:spcPct val="150000"/>
                  </a:lnSpc>
                  <a:buNone/>
                </a:pPr>
                <a:r>
                  <a:rPr lang="en-US" altLang="en-US" dirty="0">
                    <a:latin typeface="Calibri" panose="020F0502020204030204" pitchFamily="34" charset="0"/>
                    <a:ea typeface="Calibri" panose="020F0502020204030204" pitchFamily="34" charset="0"/>
                    <a:cs typeface="Calibri" panose="020F0502020204030204" pitchFamily="34" charset="0"/>
                  </a:rPr>
                  <a:t>Why not use </a:t>
                </a:r>
                <a:r>
                  <a:rPr lang="en-US" altLang="en-US" dirty="0">
                    <a:latin typeface="Consolas" panose="020B0609020204030204" pitchFamily="49" charset="0"/>
                    <a:ea typeface="Calibri" panose="020F0502020204030204" pitchFamily="34" charset="0"/>
                    <a:cs typeface="Calibri" panose="020F0502020204030204" pitchFamily="34" charset="0"/>
                  </a:rPr>
                  <a:t>dist[i][j]</a:t>
                </a:r>
                <a:r>
                  <a:rPr lang="en-US" altLang="en-US" dirty="0">
                    <a:latin typeface="Calibri" panose="020F0502020204030204" pitchFamily="34" charset="0"/>
                    <a:ea typeface="Calibri" panose="020F0502020204030204" pitchFamily="34" charset="0"/>
                    <a:cs typeface="Calibri" panose="020F0502020204030204" pitchFamily="34" charset="0"/>
                  </a:rPr>
                  <a:t>, a 2-D array, which means the minimum HP you need if you start from </a:t>
                </a:r>
                <a:r>
                  <a:rPr lang="en-US" altLang="en-US" dirty="0">
                    <a:latin typeface="Consolas" panose="020B0609020204030204" pitchFamily="49" charset="0"/>
                    <a:ea typeface="Calibri" panose="020F0502020204030204" pitchFamily="34" charset="0"/>
                    <a:cs typeface="Calibri" panose="020F0502020204030204" pitchFamily="34" charset="0"/>
                  </a:rPr>
                  <a:t>i</a:t>
                </a:r>
                <a:r>
                  <a:rPr lang="en-US" altLang="en-US" dirty="0">
                    <a:latin typeface="Calibri" panose="020F0502020204030204" pitchFamily="34" charset="0"/>
                    <a:ea typeface="Calibri" panose="020F0502020204030204" pitchFamily="34" charset="0"/>
                    <a:cs typeface="Calibri" panose="020F0502020204030204" pitchFamily="34" charset="0"/>
                  </a:rPr>
                  <a:t> with initial </a:t>
                </a:r>
                <a:r>
                  <a:rPr lang="en-US" altLang="en-US" dirty="0">
                    <a:latin typeface="Consolas" panose="020B0609020204030204" pitchFamily="49" charset="0"/>
                    <a:ea typeface="Calibri" panose="020F0502020204030204" pitchFamily="34" charset="0"/>
                    <a:cs typeface="Calibri" panose="020F0502020204030204" pitchFamily="34" charset="0"/>
                  </a:rPr>
                  <a:t>SP = j</a:t>
                </a:r>
                <a:r>
                  <a:rPr lang="en-US" altLang="en-US" dirty="0">
                    <a:latin typeface="Calibri" panose="020F0502020204030204" pitchFamily="34" charset="0"/>
                    <a:ea typeface="Calibri" panose="020F0502020204030204" pitchFamily="34" charset="0"/>
                    <a:cs typeface="Calibri" panose="020F0502020204030204" pitchFamily="34" charset="0"/>
                  </a:rPr>
                  <a:t>, to arrive at </a:t>
                </a:r>
                <a:r>
                  <a:rPr lang="en-US" altLang="en-US" dirty="0">
                    <a:latin typeface="Consolas" panose="020B0609020204030204" pitchFamily="49" charset="0"/>
                    <a:ea typeface="Calibri" panose="020F0502020204030204" pitchFamily="34" charset="0"/>
                    <a:cs typeface="Calibri" panose="020F0502020204030204" pitchFamily="34" charset="0"/>
                  </a:rPr>
                  <a:t>t</a:t>
                </a:r>
                <a:r>
                  <a:rPr lang="en-US" altLang="en-US" dirty="0">
                    <a:latin typeface="Calibri" panose="020F0502020204030204" pitchFamily="34" charset="0"/>
                    <a:ea typeface="Calibri" panose="020F0502020204030204" pitchFamily="34" charset="0"/>
                    <a:cs typeface="Calibri" panose="020F0502020204030204" pitchFamily="34" charset="0"/>
                  </a:rPr>
                  <a:t>. Dijkstra will help you run the shortest path on this 2-D array. We have totally </a:t>
                </a:r>
                <a14:m>
                  <m:oMath xmlns:m="http://schemas.openxmlformats.org/officeDocument/2006/math">
                    <m:r>
                      <a:rPr lang="en-US" altLang="en-US" i="1" dirty="0" smtClean="0">
                        <a:latin typeface="Cambria Math" panose="02040503050406030204" charset="0"/>
                      </a:rPr>
                      <m:t>10000</m:t>
                    </m:r>
                    <m:r>
                      <a:rPr lang="en-US" altLang="en-US" b="0" i="1" dirty="0" smtClean="0">
                        <a:latin typeface="Cambria Math" panose="02040503050406030204" charset="0"/>
                      </a:rPr>
                      <m:t>×</m:t>
                    </m:r>
                    <m:r>
                      <a:rPr lang="en-US" altLang="en-US" i="1" dirty="0" smtClean="0">
                        <a:latin typeface="Cambria Math" panose="02040503050406030204" charset="0"/>
                      </a:rPr>
                      <m:t>100</m:t>
                    </m:r>
                    <m:r>
                      <a:rPr lang="en-US" altLang="en-US" i="1" dirty="0" smtClean="0">
                        <a:latin typeface="Cambria Math" panose="02040503050406030204" charset="0"/>
                      </a:rPr>
                      <m:t> (</m:t>
                    </m:r>
                    <m:r>
                      <a:rPr lang="en-US" altLang="en-US" i="1" dirty="0" smtClean="0">
                        <a:latin typeface="Cambria Math" panose="02040503050406030204" charset="0"/>
                      </a:rPr>
                      <m:t>𝑛</m:t>
                    </m:r>
                    <m:r>
                      <a:rPr lang="en-US" altLang="en-US" b="0" i="1" dirty="0" smtClean="0">
                        <a:latin typeface="Cambria Math" panose="02040503050406030204" charset="0"/>
                      </a:rPr>
                      <m:t>×</m:t>
                    </m:r>
                    <m:r>
                      <a:rPr lang="en-US" altLang="en-US" i="1" dirty="0" smtClean="0">
                        <a:latin typeface="Cambria Math" panose="02040503050406030204" charset="0"/>
                      </a:rPr>
                      <m:t>𝑘</m:t>
                    </m:r>
                    <m:r>
                      <a:rPr lang="en-US" altLang="en-US" i="1" dirty="0" smtClean="0">
                        <a:latin typeface="Cambria Math" panose="02040503050406030204" charset="0"/>
                      </a:rPr>
                      <m:t>)</m:t>
                    </m:r>
                  </m:oMath>
                </a14:m>
                <a:r>
                  <a:rPr lang="en-US" altLang="en-US" dirty="0">
                    <a:latin typeface="Calibri" panose="020F0502020204030204" pitchFamily="34" charset="0"/>
                    <a:ea typeface="Calibri" panose="020F0502020204030204" pitchFamily="34" charset="0"/>
                    <a:cs typeface="Calibri" panose="020F0502020204030204" pitchFamily="34" charset="0"/>
                  </a:rPr>
                  <a:t> nodes on this virtual graph we construct, treating each </a:t>
                </a:r>
                <a:r>
                  <a:rPr lang="en-US" altLang="en-US" dirty="0">
                    <a:latin typeface="Consolas" panose="020B0609020204030204" pitchFamily="49" charset="0"/>
                    <a:ea typeface="Calibri" panose="020F0502020204030204" pitchFamily="34" charset="0"/>
                    <a:cs typeface="Calibri" panose="020F0502020204030204" pitchFamily="34" charset="0"/>
                  </a:rPr>
                  <a:t>dist[i][j] </a:t>
                </a:r>
                <a:r>
                  <a:rPr lang="en-US" altLang="en-US" dirty="0">
                    <a:latin typeface="Calibri" panose="020F0502020204030204" pitchFamily="34" charset="0"/>
                    <a:ea typeface="Calibri" panose="020F0502020204030204" pitchFamily="34" charset="0"/>
                    <a:cs typeface="Calibri" panose="020F0502020204030204" pitchFamily="34" charset="0"/>
                  </a:rPr>
                  <a:t>as a node.</a:t>
                </a:r>
                <a:endParaRPr lang="en-US" altLang="en-US" dirty="0">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247650" y="1691005"/>
                <a:ext cx="11944350" cy="5032375"/>
              </a:xfrm>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sym typeface="+mn-ea"/>
              </a:rPr>
              <a:t>Homework 4 problem 3 solution</a:t>
            </a:r>
            <a:endParaRPr lang="en-US"/>
          </a:p>
        </p:txBody>
      </p:sp>
      <p:sp>
        <p:nvSpPr>
          <p:cNvPr id="3" name="Content Placeholder 2"/>
          <p:cNvSpPr>
            <a:spLocks noGrp="1"/>
          </p:cNvSpPr>
          <p:nvPr>
            <p:ph idx="1"/>
          </p:nvPr>
        </p:nvSpPr>
        <p:spPr>
          <a:xfrm>
            <a:off x="163830" y="1408430"/>
            <a:ext cx="11121390" cy="4747895"/>
          </a:xfrm>
        </p:spPr>
        <p:txBody>
          <a:bodyPr>
            <a:noAutofit/>
          </a:bodyPr>
          <a:lstStyle/>
          <a:p>
            <a:pPr marL="457200" lvl="1" indent="0">
              <a:buNone/>
            </a:pPr>
            <a:r>
              <a:rPr lang="en-US" altLang="en-US" sz="1700"/>
              <a:t>	dist[t][0]=0;</a:t>
            </a:r>
            <a:endParaRPr lang="en-US" altLang="en-US" sz="1700"/>
          </a:p>
          <a:p>
            <a:pPr marL="457200" lvl="1" indent="0">
              <a:buNone/>
            </a:pPr>
            <a:r>
              <a:rPr lang="en-US" altLang="en-US" sz="1700"/>
              <a:t>	priority_queue&lt;pair&lt;int,pair&lt;int,int&gt;&gt;,vector&lt;pair&lt;int,pair&lt;int,int&gt;&gt;&gt;,greater&lt;pair&lt;int,pair&lt;int,int&gt;&gt;&gt;&gt; q;</a:t>
            </a:r>
            <a:endParaRPr lang="en-US" altLang="en-US" sz="1700"/>
          </a:p>
          <a:p>
            <a:pPr marL="457200" lvl="1" indent="0">
              <a:buNone/>
            </a:pPr>
            <a:r>
              <a:rPr lang="en-US" altLang="en-US" sz="1700"/>
              <a:t>	q.push({0,{t,0}});</a:t>
            </a:r>
            <a:endParaRPr lang="en-US" altLang="en-US" sz="1700"/>
          </a:p>
          <a:p>
            <a:pPr marL="457200" lvl="1" indent="0">
              <a:buNone/>
            </a:pPr>
            <a:r>
              <a:rPr lang="en-US" altLang="en-US" sz="1700"/>
              <a:t>	while(q.size()){</a:t>
            </a:r>
            <a:endParaRPr lang="en-US" altLang="en-US" sz="1700"/>
          </a:p>
          <a:p>
            <a:pPr marL="457200" lvl="1" indent="0">
              <a:buNone/>
            </a:pPr>
            <a:r>
              <a:rPr lang="en-US" altLang="en-US" sz="1700"/>
              <a:t>		int x=q.top().second.first;</a:t>
            </a:r>
            <a:endParaRPr lang="en-US" altLang="en-US" sz="1700"/>
          </a:p>
          <a:p>
            <a:pPr marL="457200" lvl="1" indent="0">
              <a:buNone/>
            </a:pPr>
            <a:r>
              <a:rPr lang="en-US" altLang="en-US" sz="1700"/>
              <a:t>		int r=q.top().second.second;</a:t>
            </a:r>
            <a:endParaRPr lang="en-US" altLang="en-US" sz="1700"/>
          </a:p>
          <a:p>
            <a:pPr marL="457200" lvl="1" indent="0">
              <a:buNone/>
            </a:pPr>
            <a:r>
              <a:rPr lang="en-US" altLang="en-US" sz="1700"/>
              <a:t>		q.pop();</a:t>
            </a:r>
            <a:endParaRPr lang="en-US" altLang="en-US" sz="1700"/>
          </a:p>
          <a:p>
            <a:pPr marL="457200" lvl="1" indent="0">
              <a:buNone/>
            </a:pPr>
            <a:r>
              <a:rPr lang="en-US" altLang="en-US" sz="1700"/>
              <a:t>		if(vis[x][r]||r==100)</a:t>
            </a:r>
            <a:r>
              <a:rPr lang="en-US" altLang="en-US" sz="1700"/>
              <a:t> </a:t>
            </a:r>
            <a:r>
              <a:rPr lang="en-US" altLang="en-US" sz="1700">
                <a:sym typeface="+mn-ea"/>
              </a:rPr>
              <a:t>continue;</a:t>
            </a:r>
            <a:endParaRPr lang="en-US" altLang="en-US" sz="1700"/>
          </a:p>
          <a:p>
            <a:pPr marL="457200" lvl="1" indent="0">
              <a:buNone/>
            </a:pPr>
            <a:r>
              <a:rPr lang="en-US" altLang="en-US" sz="1700"/>
              <a:t>		vis[x][r]=1;</a:t>
            </a:r>
            <a:endParaRPr lang="en-US" altLang="en-US" sz="1700"/>
          </a:p>
          <a:p>
            <a:pPr marL="457200" lvl="1" indent="0">
              <a:buNone/>
            </a:pPr>
            <a:r>
              <a:rPr lang="en-US" altLang="en-US" sz="1700"/>
              <a:t>		for(int i=head[x];i;i=e[i].next){</a:t>
            </a:r>
            <a:endParaRPr lang="en-US" altLang="en-US" sz="1700"/>
          </a:p>
          <a:p>
            <a:pPr marL="457200" lvl="1" indent="0">
              <a:buNone/>
            </a:pPr>
            <a:r>
              <a:rPr lang="en-US" altLang="en-US" sz="1700"/>
              <a:t>			int to=e[i].to;</a:t>
            </a:r>
            <a:endParaRPr lang="en-US" altLang="en-US" sz="1700"/>
          </a:p>
          <a:p>
            <a:pPr marL="457200" lvl="1" indent="0">
              <a:buNone/>
            </a:pPr>
            <a:r>
              <a:rPr lang="en-US" altLang="en-US" sz="1700"/>
              <a:t>			int w=e[i].wei;</a:t>
            </a:r>
            <a:endParaRPr lang="en-US" altLang="en-US" sz="1700"/>
          </a:p>
          <a:p>
            <a:pPr marL="457200" lvl="1" indent="0">
              <a:buNone/>
            </a:pPr>
            <a:r>
              <a:rPr lang="en-US" altLang="en-US" sz="1700"/>
              <a:t>			if(dist[to][r+1]&gt;dist[x][r]+w/(r+1)){</a:t>
            </a:r>
            <a:endParaRPr lang="en-US" altLang="en-US" sz="1700"/>
          </a:p>
          <a:p>
            <a:pPr marL="457200" lvl="1" indent="0">
              <a:buNone/>
            </a:pPr>
            <a:r>
              <a:rPr lang="en-US" altLang="en-US" sz="1700"/>
              <a:t>				dist[to][r+1]=dist[x][r]+w/(r+1);</a:t>
            </a:r>
            <a:endParaRPr lang="en-US" altLang="en-US" sz="1700"/>
          </a:p>
          <a:p>
            <a:pPr marL="457200" lvl="1" indent="0">
              <a:buNone/>
            </a:pPr>
            <a:r>
              <a:rPr lang="en-US" altLang="en-US" sz="1700"/>
              <a:t>				q.push({dist[to][r+1],{to,r+1}});</a:t>
            </a:r>
            <a:endParaRPr lang="en-US" altLang="en-US" sz="1700"/>
          </a:p>
          <a:p>
            <a:pPr marL="457200" lvl="1" indent="0">
              <a:buNone/>
            </a:pPr>
            <a:r>
              <a:rPr lang="en-US" altLang="en-US" sz="1700"/>
              <a:t>			}</a:t>
            </a:r>
            <a:endParaRPr lang="en-US" altLang="en-US" sz="1700"/>
          </a:p>
          <a:p>
            <a:pPr marL="457200" lvl="1" indent="0">
              <a:buNone/>
            </a:pPr>
            <a:r>
              <a:rPr lang="en-US" altLang="en-US" sz="1700"/>
              <a:t>		}</a:t>
            </a:r>
            <a:endParaRPr lang="en-US" altLang="en-US" sz="1700"/>
          </a:p>
          <a:p>
            <a:pPr marL="457200" lvl="1" indent="0">
              <a:buNone/>
            </a:pPr>
            <a:r>
              <a:rPr lang="en-US" altLang="en-US" sz="1700"/>
              <a:t>	}</a:t>
            </a:r>
            <a:endParaRPr lang="en-US" altLang="en-US" sz="17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sym typeface="+mn-ea"/>
              </a:rPr>
              <a:t>Homework 4 problem 3 solution</a:t>
            </a:r>
            <a:endParaRPr lang="en-US"/>
          </a:p>
        </p:txBody>
      </p:sp>
      <p:sp>
        <p:nvSpPr>
          <p:cNvPr id="3" name="Content Placeholder 2"/>
          <p:cNvSpPr>
            <a:spLocks noGrp="1"/>
          </p:cNvSpPr>
          <p:nvPr>
            <p:ph idx="1"/>
          </p:nvPr>
        </p:nvSpPr>
        <p:spPr/>
        <p:txBody>
          <a:bodyPr/>
          <a:lstStyle/>
          <a:p>
            <a:pPr marL="0" indent="0">
              <a:buNone/>
            </a:pPr>
            <a:r>
              <a:rPr lang="en-US" altLang="en-US"/>
              <a:t>	int ans = inf;</a:t>
            </a:r>
            <a:endParaRPr lang="en-US" altLang="en-US"/>
          </a:p>
          <a:p>
            <a:pPr marL="0" indent="0">
              <a:buNone/>
            </a:pPr>
            <a:r>
              <a:rPr lang="en-US" altLang="en-US"/>
              <a:t>	for(int i = 0; i &lt;= 100; i++){</a:t>
            </a:r>
            <a:endParaRPr lang="en-US" altLang="en-US"/>
          </a:p>
          <a:p>
            <a:pPr marL="0" indent="0">
              <a:buNone/>
            </a:pPr>
            <a:r>
              <a:rPr lang="en-US" altLang="en-US"/>
              <a:t>		ans = min(ans, dist[s][i]);</a:t>
            </a:r>
            <a:endParaRPr lang="en-US" altLang="en-US"/>
          </a:p>
          <a:p>
            <a:pPr marL="0" indent="0">
              <a:buNone/>
            </a:pPr>
            <a:r>
              <a:rPr lang="en-US" altLang="en-US"/>
              <a:t>	}</a:t>
            </a:r>
            <a:endParaRPr lang="en-US" altLang="en-US"/>
          </a:p>
          <a:p>
            <a:pPr marL="0" indent="0">
              <a:buNone/>
            </a:pPr>
            <a:r>
              <a:rPr lang="en-US" altLang="en-US"/>
              <a:t>	for(int i = 1; i &lt;= n; i++){</a:t>
            </a:r>
            <a:endParaRPr lang="en-US" altLang="en-US"/>
          </a:p>
          <a:p>
            <a:pPr marL="0" indent="0">
              <a:buNone/>
            </a:pPr>
            <a:r>
              <a:rPr lang="en-US" altLang="en-US"/>
              <a:t>		ans = min(ans, dist[i][100]);</a:t>
            </a:r>
            <a:endParaRPr lang="en-US" altLang="en-US"/>
          </a:p>
          <a:p>
            <a:pPr marL="0" indent="0">
              <a:buNone/>
            </a:pPr>
            <a:r>
              <a:rPr lang="en-US" altLang="en-US"/>
              <a:t>	}</a:t>
            </a:r>
            <a:endParaRPr lang="en-US" altLang="en-US"/>
          </a:p>
          <a:p>
            <a:pPr marL="0" indent="0">
              <a:buNone/>
            </a:pPr>
            <a:r>
              <a:rPr lang="en-US" altLang="en-US"/>
              <a:t>	cout &lt;&lt; ans &lt;&lt; '\n';</a:t>
            </a:r>
            <a:endParaRPr lang="en-US"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Sample Final Review</a:t>
            </a:r>
            <a:endParaRPr lang="en-US"/>
          </a:p>
        </p:txBody>
      </p:sp>
      <p:pic>
        <p:nvPicPr>
          <p:cNvPr id="4" name="Picture 3"/>
          <p:cNvPicPr>
            <a:picLocks noChangeAspect="1"/>
          </p:cNvPicPr>
          <p:nvPr/>
        </p:nvPicPr>
        <p:blipFill>
          <a:blip r:embed="rId1"/>
          <a:stretch>
            <a:fillRect/>
          </a:stretch>
        </p:blipFill>
        <p:spPr>
          <a:xfrm>
            <a:off x="635635" y="1790700"/>
            <a:ext cx="11440160" cy="234251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969010" y="996950"/>
            <a:ext cx="10253980" cy="48641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Sample Final Review</a:t>
            </a:r>
            <a:endParaRPr lang="en-US"/>
          </a:p>
        </p:txBody>
      </p:sp>
      <p:pic>
        <p:nvPicPr>
          <p:cNvPr id="4" name="Picture 3"/>
          <p:cNvPicPr>
            <a:picLocks noChangeAspect="1"/>
          </p:cNvPicPr>
          <p:nvPr/>
        </p:nvPicPr>
        <p:blipFill>
          <a:blip r:embed="rId1"/>
          <a:stretch>
            <a:fillRect/>
          </a:stretch>
        </p:blipFill>
        <p:spPr>
          <a:xfrm>
            <a:off x="92710" y="1924050"/>
            <a:ext cx="11978640" cy="414210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内容占位符 2"/>
          <p:cNvSpPr>
            <a:spLocks noGrp="1"/>
          </p:cNvSpPr>
          <p:nvPr>
            <p:ph idx="1"/>
          </p:nvPr>
        </p:nvSpPr>
        <p:spPr>
          <a:xfrm>
            <a:off x="184150" y="139065"/>
            <a:ext cx="12007215" cy="6652260"/>
          </a:xfrm>
          <a:solidFill>
            <a:schemeClr val="tx2">
              <a:lumMod val="50000"/>
            </a:schemeClr>
          </a:solidFill>
        </p:spPr>
        <p:txBody>
          <a:bodyPr>
            <a:noAutofit/>
          </a:bodyPr>
          <a:p>
            <a:pPr marL="0" indent="0">
              <a:lnSpc>
                <a:spcPct val="120000"/>
              </a:lnSpc>
              <a:buNone/>
            </a:pPr>
            <a:r>
              <a:rPr lang="en-US" altLang="zh-CN" sz="2000" b="0" dirty="0">
                <a:solidFill>
                  <a:srgbClr val="F8F8F2"/>
                </a:solidFill>
                <a:effectLst/>
                <a:latin typeface="Consolas" panose="020B0609020204030204" pitchFamily="49" charset="0"/>
              </a:rPr>
              <a:t>Node union(Node first, Node second){</a:t>
            </a:r>
            <a:endParaRPr lang="en-US" altLang="zh-CN" sz="2000" b="0" dirty="0">
              <a:solidFill>
                <a:srgbClr val="F8F8F2"/>
              </a:solidFill>
              <a:effectLst/>
              <a:latin typeface="Consolas" panose="020B0609020204030204" pitchFamily="49" charset="0"/>
            </a:endParaRPr>
          </a:p>
          <a:p>
            <a:pPr marL="457200" lvl="1" indent="457200">
              <a:lnSpc>
                <a:spcPct val="120000"/>
              </a:lnSpc>
              <a:buNone/>
            </a:pPr>
            <a:r>
              <a:rPr lang="en-US" altLang="zh-CN" sz="2000" b="0" dirty="0">
                <a:solidFill>
                  <a:srgbClr val="F8F8F2"/>
                </a:solidFill>
                <a:effectLst/>
                <a:latin typeface="Consolas" panose="020B0609020204030204" pitchFamily="49" charset="0"/>
              </a:rPr>
              <a:t>Node ans = first;</a:t>
            </a:r>
            <a:br>
              <a:rPr lang="en-US" altLang="zh-CN" sz="2000" b="0" dirty="0">
                <a:solidFill>
                  <a:srgbClr val="F8F8F2"/>
                </a:solidFill>
                <a:effectLst/>
                <a:latin typeface="Consolas" panose="020B0609020204030204" pitchFamily="49" charset="0"/>
              </a:rPr>
            </a:br>
            <a:r>
              <a:rPr lang="en-US" altLang="zh-CN" sz="2000" b="0" dirty="0">
                <a:solidFill>
                  <a:srgbClr val="F8F8F2"/>
                </a:solidFill>
                <a:effectLst/>
                <a:latin typeface="Consolas" panose="020B0609020204030204" pitchFamily="49" charset="0"/>
              </a:rPr>
              <a:t>	while(first.next != NULL){</a:t>
            </a:r>
            <a:br>
              <a:rPr lang="en-US" altLang="zh-CN" sz="2000" b="0" dirty="0">
                <a:solidFill>
                  <a:srgbClr val="F8F8F2"/>
                </a:solidFill>
                <a:effectLst/>
                <a:latin typeface="Consolas" panose="020B0609020204030204" pitchFamily="49" charset="0"/>
              </a:rPr>
            </a:br>
            <a:r>
              <a:rPr lang="en-US" altLang="zh-CN" sz="2000" b="0" dirty="0">
                <a:solidFill>
                  <a:srgbClr val="F8F8F2"/>
                </a:solidFill>
                <a:effectLst/>
                <a:latin typeface="Consolas" panose="020B0609020204030204" pitchFamily="49" charset="0"/>
              </a:rPr>
              <a:t>		first = first.next;</a:t>
            </a:r>
            <a:endParaRPr lang="en-US" altLang="zh-CN" sz="2000" b="0" dirty="0">
              <a:solidFill>
                <a:srgbClr val="F8F8F2"/>
              </a:solidFill>
              <a:effectLst/>
              <a:latin typeface="Consolas" panose="020B0609020204030204" pitchFamily="49" charset="0"/>
            </a:endParaRPr>
          </a:p>
          <a:p>
            <a:pPr marL="457200" lvl="1" indent="457200">
              <a:lnSpc>
                <a:spcPct val="120000"/>
              </a:lnSpc>
              <a:buNone/>
            </a:pPr>
            <a:r>
              <a:rPr lang="en-US" altLang="zh-CN" sz="2000" b="0" dirty="0">
                <a:solidFill>
                  <a:srgbClr val="F8F8F2"/>
                </a:solidFill>
                <a:effectLst/>
                <a:latin typeface="Consolas" panose="020B0609020204030204" pitchFamily="49" charset="0"/>
              </a:rPr>
              <a:t>}</a:t>
            </a:r>
            <a:endParaRPr lang="en-US" altLang="zh-CN" sz="2000" b="0" dirty="0">
              <a:solidFill>
                <a:srgbClr val="F8F8F2"/>
              </a:solidFill>
              <a:effectLst/>
              <a:latin typeface="Consolas" panose="020B0609020204030204" pitchFamily="49" charset="0"/>
            </a:endParaRPr>
          </a:p>
          <a:p>
            <a:pPr marL="457200" lvl="1" indent="457200">
              <a:lnSpc>
                <a:spcPct val="120000"/>
              </a:lnSpc>
              <a:buNone/>
            </a:pPr>
            <a:r>
              <a:rPr lang="en-US" altLang="zh-CN" sz="2000" b="0" dirty="0">
                <a:solidFill>
                  <a:srgbClr val="F8F8F2"/>
                </a:solidFill>
                <a:effectLst/>
                <a:latin typeface="Consolas" panose="020B0609020204030204" pitchFamily="49" charset="0"/>
              </a:rPr>
              <a:t>first.next = second;</a:t>
            </a:r>
            <a:endParaRPr lang="en-US" altLang="zh-CN" sz="2000" b="0" dirty="0">
              <a:solidFill>
                <a:srgbClr val="F8F8F2"/>
              </a:solidFill>
              <a:effectLst/>
              <a:latin typeface="Consolas" panose="020B0609020204030204" pitchFamily="49" charset="0"/>
            </a:endParaRPr>
          </a:p>
          <a:p>
            <a:pPr marL="457200" lvl="1" indent="457200">
              <a:lnSpc>
                <a:spcPct val="120000"/>
              </a:lnSpc>
              <a:buNone/>
            </a:pPr>
            <a:r>
              <a:rPr lang="en-US" altLang="zh-CN" sz="2000" b="0" dirty="0">
                <a:solidFill>
                  <a:srgbClr val="F8F8F2"/>
                </a:solidFill>
                <a:effectLst/>
                <a:latin typeface="Consolas" panose="020B0609020204030204" pitchFamily="49" charset="0"/>
              </a:rPr>
              <a:t>second.prev = first;</a:t>
            </a:r>
            <a:endParaRPr lang="en-US" altLang="zh-CN" sz="2000" b="0" dirty="0">
              <a:solidFill>
                <a:srgbClr val="F8F8F2"/>
              </a:solidFill>
              <a:effectLst/>
              <a:latin typeface="Consolas" panose="020B0609020204030204" pitchFamily="49" charset="0"/>
            </a:endParaRPr>
          </a:p>
          <a:p>
            <a:pPr marL="457200" lvl="1" indent="457200">
              <a:lnSpc>
                <a:spcPct val="120000"/>
              </a:lnSpc>
              <a:buNone/>
            </a:pPr>
            <a:r>
              <a:rPr lang="en-US" altLang="zh-CN" sz="2000" b="0" dirty="0">
                <a:solidFill>
                  <a:srgbClr val="F8F8F2"/>
                </a:solidFill>
                <a:effectLst/>
                <a:latin typeface="Consolas" panose="020B0609020204030204" pitchFamily="49" charset="0"/>
              </a:rPr>
              <a:t>return ans;</a:t>
            </a:r>
            <a:endParaRPr lang="en-US" altLang="zh-CN" sz="2000" b="0" dirty="0">
              <a:solidFill>
                <a:srgbClr val="F8F8F2"/>
              </a:solidFill>
              <a:effectLst/>
              <a:latin typeface="Consolas" panose="020B0609020204030204" pitchFamily="49" charset="0"/>
            </a:endParaRPr>
          </a:p>
          <a:p>
            <a:pPr marL="457200" lvl="1" indent="457200">
              <a:lnSpc>
                <a:spcPct val="120000"/>
              </a:lnSpc>
              <a:buNone/>
            </a:pPr>
            <a:r>
              <a:rPr lang="en-US" altLang="zh-CN" sz="2000" b="0" dirty="0">
                <a:solidFill>
                  <a:srgbClr val="F8F8F2"/>
                </a:solidFill>
                <a:effectLst/>
                <a:latin typeface="Consolas" panose="020B0609020204030204" pitchFamily="49" charset="0"/>
              </a:rPr>
              <a:t>// we need to return the head of the merged linked list</a:t>
            </a:r>
            <a:endParaRPr lang="en-US" altLang="zh-CN" sz="2000" b="0" dirty="0">
              <a:solidFill>
                <a:srgbClr val="F8F8F2"/>
              </a:solidFill>
              <a:effectLst/>
              <a:latin typeface="Consolas" panose="020B0609020204030204" pitchFamily="49" charset="0"/>
            </a:endParaRPr>
          </a:p>
          <a:p>
            <a:pPr marL="457200" lvl="1" indent="457200">
              <a:lnSpc>
                <a:spcPct val="120000"/>
              </a:lnSpc>
              <a:buNone/>
            </a:pPr>
            <a:r>
              <a:rPr lang="en-US" altLang="zh-CN" sz="2000" b="0" dirty="0">
                <a:solidFill>
                  <a:srgbClr val="F8F8F2"/>
                </a:solidFill>
                <a:effectLst/>
                <a:latin typeface="Consolas" panose="020B0609020204030204" pitchFamily="49" charset="0"/>
              </a:rPr>
              <a:t>// otherwise we will lose the entire linked list.</a:t>
            </a:r>
            <a:endParaRPr lang="en-US" altLang="zh-CN" sz="2000" b="0" dirty="0">
              <a:solidFill>
                <a:srgbClr val="F8F8F2"/>
              </a:solidFill>
              <a:effectLst/>
              <a:latin typeface="Consolas" panose="020B0609020204030204" pitchFamily="49" charset="0"/>
            </a:endParaRPr>
          </a:p>
          <a:p>
            <a:pPr marL="0" indent="0">
              <a:lnSpc>
                <a:spcPct val="120000"/>
              </a:lnSpc>
              <a:buNone/>
            </a:pPr>
            <a:r>
              <a:rPr lang="en-US" altLang="zh-CN" sz="2000" b="0" dirty="0">
                <a:solidFill>
                  <a:srgbClr val="F8F8F2"/>
                </a:solidFill>
                <a:effectLst/>
                <a:latin typeface="Consolas" panose="020B0609020204030204" pitchFamily="49" charset="0"/>
              </a:rPr>
              <a:t>}</a:t>
            </a:r>
            <a:endParaRPr lang="en-US" altLang="zh-CN" sz="2000" b="0" dirty="0">
              <a:solidFill>
                <a:srgbClr val="F8F8F2"/>
              </a:solidFill>
              <a:effectLst/>
              <a:latin typeface="Consolas" panose="020B0609020204030204" pitchFamily="49"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1706880" y="506095"/>
            <a:ext cx="8778240" cy="584517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1997075" y="745490"/>
            <a:ext cx="8197850" cy="536638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Sample Final Review</a:t>
            </a:r>
            <a:endParaRPr lang="en-US"/>
          </a:p>
        </p:txBody>
      </p:sp>
      <p:pic>
        <p:nvPicPr>
          <p:cNvPr id="4" name="Picture 3"/>
          <p:cNvPicPr>
            <a:picLocks noChangeAspect="1"/>
          </p:cNvPicPr>
          <p:nvPr/>
        </p:nvPicPr>
        <p:blipFill>
          <a:blip r:embed="rId1"/>
          <a:stretch>
            <a:fillRect/>
          </a:stretch>
        </p:blipFill>
        <p:spPr>
          <a:xfrm>
            <a:off x="223520" y="1909445"/>
            <a:ext cx="11452225" cy="410972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内容占位符 2"/>
          <p:cNvSpPr>
            <a:spLocks noGrp="1"/>
          </p:cNvSpPr>
          <p:nvPr>
            <p:ph idx="1"/>
          </p:nvPr>
        </p:nvSpPr>
        <p:spPr>
          <a:xfrm>
            <a:off x="184150" y="139065"/>
            <a:ext cx="12007215" cy="6652260"/>
          </a:xfrm>
          <a:solidFill>
            <a:schemeClr val="tx2">
              <a:lumMod val="50000"/>
            </a:schemeClr>
          </a:solidFill>
        </p:spPr>
        <p:txBody>
          <a:bodyPr>
            <a:noAutofit/>
          </a:bodyPr>
          <a:p>
            <a:pPr marL="0" indent="0">
              <a:lnSpc>
                <a:spcPct val="120000"/>
              </a:lnSpc>
              <a:buNone/>
            </a:pPr>
            <a:r>
              <a:rPr lang="en-US" altLang="zh-CN" sz="1500" b="0" dirty="0">
                <a:solidFill>
                  <a:srgbClr val="F8F8F2"/>
                </a:solidFill>
                <a:effectLst/>
                <a:latin typeface="Consolas" panose="020B0609020204030204" pitchFamily="49" charset="0"/>
              </a:rPr>
              <a:t>vector&lt;int&gt; inorder, postorder;</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b="0" dirty="0">
                <a:solidFill>
                  <a:srgbClr val="F8F8F2"/>
                </a:solidFill>
                <a:effectLst/>
                <a:latin typeface="Consolas" panose="020B0609020204030204" pitchFamily="49" charset="0"/>
              </a:rPr>
              <a:t>int pos[200001];</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b="0" dirty="0">
                <a:solidFill>
                  <a:srgbClr val="F8F8F2"/>
                </a:solidFill>
                <a:effectLst/>
                <a:latin typeface="Consolas" panose="020B0609020204030204" pitchFamily="49" charset="0"/>
              </a:rPr>
              <a:t>Node root = Node(postorder[n-1]);</a:t>
            </a:r>
            <a:endParaRPr lang="en-US" altLang="zh-CN" sz="1500" b="0" dirty="0">
              <a:solidFill>
                <a:srgbClr val="F8F8F2"/>
              </a:solidFill>
              <a:effectLst/>
              <a:latin typeface="Consolas" panose="020B0609020204030204" pitchFamily="49" charset="0"/>
            </a:endParaRPr>
          </a:p>
          <a:p>
            <a:pPr marL="0" algn="l">
              <a:lnSpc>
                <a:spcPct val="120000"/>
              </a:lnSpc>
              <a:buClrTx/>
              <a:buSzTx/>
              <a:buNone/>
            </a:pPr>
            <a:r>
              <a:rPr lang="en-US" altLang="zh-CN" sz="1500" dirty="0">
                <a:solidFill>
                  <a:srgbClr val="F8F8F2"/>
                </a:solidFill>
                <a:effectLst/>
                <a:latin typeface="Consolas" panose="020B0609020204030204" pitchFamily="49" charset="0"/>
              </a:rPr>
              <a:t>Node* dfs(int left, int right, int posindex) {</a:t>
            </a:r>
            <a:endParaRPr lang="en-US" altLang="zh-CN" sz="1500" dirty="0">
              <a:solidFill>
                <a:srgbClr val="F8F8F2"/>
              </a:solidFill>
              <a:effectLst/>
              <a:latin typeface="Consolas" panose="020B0609020204030204" pitchFamily="49" charset="0"/>
            </a:endParaRPr>
          </a:p>
          <a:p>
            <a:pPr marL="0" algn="l">
              <a:lnSpc>
                <a:spcPct val="120000"/>
              </a:lnSpc>
              <a:buClrTx/>
              <a:buSzTx/>
              <a:buNone/>
            </a:pPr>
            <a:r>
              <a:rPr lang="en-US" altLang="zh-CN" sz="1500" dirty="0">
                <a:solidFill>
                  <a:srgbClr val="F8F8F2"/>
                </a:solidFill>
                <a:effectLst/>
                <a:latin typeface="Consolas" panose="020B0609020204030204" pitchFamily="49" charset="0"/>
              </a:rPr>
              <a:t>    if (left &gt; right) return nullptr;</a:t>
            </a:r>
            <a:endParaRPr lang="en-US" altLang="zh-CN" sz="1500" dirty="0">
              <a:solidFill>
                <a:srgbClr val="F8F8F2"/>
              </a:solidFill>
              <a:effectLst/>
              <a:latin typeface="Consolas" panose="020B0609020204030204" pitchFamily="49" charset="0"/>
            </a:endParaRPr>
          </a:p>
          <a:p>
            <a:pPr marL="0" algn="l">
              <a:lnSpc>
                <a:spcPct val="120000"/>
              </a:lnSpc>
              <a:buClrTx/>
              <a:buSzTx/>
              <a:buNone/>
            </a:pPr>
            <a:r>
              <a:rPr lang="en-US" altLang="zh-CN" sz="1500" dirty="0">
                <a:solidFill>
                  <a:srgbClr val="F8F8F2"/>
                </a:solidFill>
                <a:effectLst/>
                <a:latin typeface="Consolas" panose="020B0609020204030204" pitchFamily="49" charset="0"/>
              </a:rPr>
              <a:t>    int rootValue = postorder[posindex];</a:t>
            </a:r>
            <a:endParaRPr lang="en-US" altLang="zh-CN" sz="1500" dirty="0">
              <a:solidFill>
                <a:srgbClr val="F8F8F2"/>
              </a:solidFill>
              <a:effectLst/>
              <a:latin typeface="Consolas" panose="020B0609020204030204" pitchFamily="49" charset="0"/>
            </a:endParaRPr>
          </a:p>
          <a:p>
            <a:pPr marL="0" algn="l">
              <a:lnSpc>
                <a:spcPct val="120000"/>
              </a:lnSpc>
              <a:buClrTx/>
              <a:buSzTx/>
              <a:buNone/>
            </a:pPr>
            <a:r>
              <a:rPr lang="en-US" altLang="zh-CN" sz="1500" dirty="0">
                <a:solidFill>
                  <a:srgbClr val="F8F8F2"/>
                </a:solidFill>
                <a:effectLst/>
                <a:latin typeface="Consolas" panose="020B0609020204030204" pitchFamily="49" charset="0"/>
              </a:rPr>
              <a:t>    Node* root = new Node(rootValue);</a:t>
            </a:r>
            <a:endParaRPr lang="en-US" altLang="zh-CN" sz="1500" dirty="0">
              <a:solidFill>
                <a:srgbClr val="F8F8F2"/>
              </a:solidFill>
              <a:effectLst/>
              <a:latin typeface="Consolas" panose="020B0609020204030204" pitchFamily="49" charset="0"/>
            </a:endParaRPr>
          </a:p>
          <a:p>
            <a:pPr marL="0" algn="l">
              <a:lnSpc>
                <a:spcPct val="120000"/>
              </a:lnSpc>
              <a:buClrTx/>
              <a:buSzTx/>
              <a:buNone/>
            </a:pPr>
            <a:r>
              <a:rPr lang="en-US" altLang="zh-CN" sz="1500" dirty="0">
                <a:solidFill>
                  <a:srgbClr val="F8F8F2"/>
                </a:solidFill>
                <a:effectLst/>
                <a:latin typeface="Consolas" panose="020B0609020204030204" pitchFamily="49" charset="0"/>
              </a:rPr>
              <a:t>    int rootPos = pos[rootValue];</a:t>
            </a:r>
            <a:endParaRPr lang="en-US" altLang="zh-CN" sz="1500" dirty="0">
              <a:solidFill>
                <a:srgbClr val="F8F8F2"/>
              </a:solidFill>
              <a:effectLst/>
              <a:latin typeface="Consolas" panose="020B0609020204030204" pitchFamily="49" charset="0"/>
            </a:endParaRPr>
          </a:p>
          <a:p>
            <a:pPr marL="0" algn="l">
              <a:lnSpc>
                <a:spcPct val="120000"/>
              </a:lnSpc>
              <a:buClrTx/>
              <a:buSzTx/>
              <a:buNone/>
            </a:pPr>
            <a:r>
              <a:rPr lang="en-US" altLang="zh-CN" sz="1500" dirty="0">
                <a:solidFill>
                  <a:srgbClr val="F8F8F2"/>
                </a:solidFill>
                <a:effectLst/>
                <a:latin typeface="Consolas" panose="020B0609020204030204" pitchFamily="49" charset="0"/>
              </a:rPr>
              <a:t>    root-&gt;right = dfs(rootPos + 1, right, posindex - 1);</a:t>
            </a:r>
            <a:endParaRPr lang="en-US" altLang="zh-CN" sz="1500" dirty="0">
              <a:solidFill>
                <a:srgbClr val="F8F8F2"/>
              </a:solidFill>
              <a:effectLst/>
              <a:latin typeface="Consolas" panose="020B0609020204030204" pitchFamily="49" charset="0"/>
            </a:endParaRPr>
          </a:p>
          <a:p>
            <a:pPr marL="0" algn="l">
              <a:lnSpc>
                <a:spcPct val="120000"/>
              </a:lnSpc>
              <a:buClrTx/>
              <a:buSzTx/>
              <a:buNone/>
            </a:pPr>
            <a:r>
              <a:rPr lang="en-US" altLang="zh-CN" sz="1500" dirty="0">
                <a:solidFill>
                  <a:srgbClr val="F8F8F2"/>
                </a:solidFill>
                <a:effectLst/>
                <a:latin typeface="Consolas" panose="020B0609020204030204" pitchFamily="49" charset="0"/>
              </a:rPr>
              <a:t>    root-&gt;left = dfs(left, rootPos - 1, posindex - (right - rootPos) - 1);</a:t>
            </a:r>
            <a:endParaRPr lang="en-US" altLang="zh-CN" sz="1500" dirty="0">
              <a:solidFill>
                <a:srgbClr val="F8F8F2"/>
              </a:solidFill>
              <a:effectLst/>
              <a:latin typeface="Consolas" panose="020B0609020204030204" pitchFamily="49" charset="0"/>
            </a:endParaRPr>
          </a:p>
          <a:p>
            <a:pPr marL="0" algn="l">
              <a:lnSpc>
                <a:spcPct val="120000"/>
              </a:lnSpc>
              <a:buClrTx/>
              <a:buSzTx/>
              <a:buNone/>
            </a:pPr>
            <a:r>
              <a:rPr lang="en-US" altLang="zh-CN" sz="1500" dirty="0">
                <a:solidFill>
                  <a:srgbClr val="F8F8F2"/>
                </a:solidFill>
                <a:effectLst/>
                <a:latin typeface="Consolas" panose="020B0609020204030204" pitchFamily="49" charset="0"/>
              </a:rPr>
              <a:t>    return root;</a:t>
            </a:r>
            <a:endParaRPr lang="en-US" altLang="zh-CN" sz="1500" dirty="0">
              <a:solidFill>
                <a:srgbClr val="F8F8F2"/>
              </a:solidFill>
              <a:effectLst/>
              <a:latin typeface="Consolas" panose="020B0609020204030204" pitchFamily="49" charset="0"/>
            </a:endParaRPr>
          </a:p>
          <a:p>
            <a:pPr marL="0" algn="l">
              <a:lnSpc>
                <a:spcPct val="120000"/>
              </a:lnSpc>
              <a:buClrTx/>
              <a:buSzTx/>
              <a:buNone/>
            </a:pPr>
            <a:r>
              <a:rPr lang="en-US" altLang="zh-CN" sz="1500" dirty="0">
                <a:solidFill>
                  <a:srgbClr val="F8F8F2"/>
                </a:solidFill>
                <a:effectLst/>
                <a:latin typeface="Consolas" panose="020B0609020204030204" pitchFamily="49" charset="0"/>
              </a:rPr>
              <a:t>}</a:t>
            </a:r>
            <a:endParaRPr lang="en-US" altLang="zh-CN" sz="1500" dirty="0">
              <a:solidFill>
                <a:srgbClr val="F8F8F2"/>
              </a:solidFill>
              <a:effectLst/>
              <a:latin typeface="Consolas" panose="020B0609020204030204" pitchFamily="49" charset="0"/>
            </a:endParaRPr>
          </a:p>
          <a:p>
            <a:pPr marL="0" indent="0">
              <a:lnSpc>
                <a:spcPct val="120000"/>
              </a:lnSpc>
              <a:buNone/>
            </a:pPr>
            <a:r>
              <a:rPr lang="en-US" altLang="zh-CN" sz="1500" b="0" dirty="0">
                <a:solidFill>
                  <a:srgbClr val="F8F8F2"/>
                </a:solidFill>
                <a:effectLst/>
                <a:latin typeface="Consolas" panose="020B0609020204030204" pitchFamily="49" charset="0"/>
              </a:rPr>
              <a:t>for(int i = 0; i &lt; n; i++){</a:t>
            </a:r>
            <a:br>
              <a:rPr lang="en-US" altLang="zh-CN" sz="1500" b="0" dirty="0">
                <a:solidFill>
                  <a:srgbClr val="F8F8F2"/>
                </a:solidFill>
                <a:effectLst/>
                <a:latin typeface="Consolas" panose="020B0609020204030204" pitchFamily="49" charset="0"/>
              </a:rPr>
            </a:br>
            <a:r>
              <a:rPr lang="en-US" altLang="zh-CN" sz="1500" b="0" dirty="0">
                <a:solidFill>
                  <a:srgbClr val="F8F8F2"/>
                </a:solidFill>
                <a:effectLst/>
                <a:latin typeface="Consolas" panose="020B0609020204030204" pitchFamily="49" charset="0"/>
              </a:rPr>
              <a:t>	pos[inorder[i]] = i;</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b="0" dirty="0">
                <a:solidFill>
                  <a:srgbClr val="F8F8F2"/>
                </a:solidFill>
                <a:effectLst/>
                <a:latin typeface="Consolas" panose="020B0609020204030204" pitchFamily="49" charset="0"/>
              </a:rPr>
              <a:t>}</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b="0" dirty="0">
                <a:solidFill>
                  <a:srgbClr val="F8F8F2"/>
                </a:solidFill>
                <a:effectLst/>
                <a:latin typeface="Consolas" panose="020B0609020204030204" pitchFamily="49" charset="0"/>
              </a:rPr>
              <a:t>Node* root = dfs(0, n-1, n-1);</a:t>
            </a:r>
            <a:endParaRPr lang="en-US" altLang="zh-CN" sz="1500" b="0" dirty="0">
              <a:solidFill>
                <a:srgbClr val="F8F8F2"/>
              </a:solidFill>
              <a:effectLst/>
              <a:latin typeface="Consolas" panose="020B0609020204030204" pitchFamily="49"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Sample Final Review</a:t>
            </a:r>
            <a:endParaRPr lang="en-US"/>
          </a:p>
        </p:txBody>
      </p:sp>
      <p:pic>
        <p:nvPicPr>
          <p:cNvPr id="4" name="Picture 3"/>
          <p:cNvPicPr>
            <a:picLocks noChangeAspect="1"/>
          </p:cNvPicPr>
          <p:nvPr/>
        </p:nvPicPr>
        <p:blipFill>
          <a:blip r:embed="rId1"/>
          <a:stretch>
            <a:fillRect/>
          </a:stretch>
        </p:blipFill>
        <p:spPr>
          <a:xfrm>
            <a:off x="54610" y="2026920"/>
            <a:ext cx="11693525" cy="271335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927735" y="560070"/>
            <a:ext cx="10336530" cy="573786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1872615" y="416560"/>
            <a:ext cx="6330950" cy="620903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Sample Final Review</a:t>
            </a:r>
            <a:endParaRPr lang="en-US"/>
          </a:p>
        </p:txBody>
      </p:sp>
      <p:pic>
        <p:nvPicPr>
          <p:cNvPr id="4" name="Picture 3"/>
          <p:cNvPicPr>
            <a:picLocks noChangeAspect="1"/>
          </p:cNvPicPr>
          <p:nvPr/>
        </p:nvPicPr>
        <p:blipFill>
          <a:blip r:embed="rId1"/>
          <a:stretch>
            <a:fillRect/>
          </a:stretch>
        </p:blipFill>
        <p:spPr>
          <a:xfrm>
            <a:off x="253365" y="1848485"/>
            <a:ext cx="11685270" cy="377698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0" y="1045845"/>
            <a:ext cx="12161520" cy="353695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Sample Final Review</a:t>
            </a:r>
            <a:endParaRPr lang="en-US"/>
          </a:p>
        </p:txBody>
      </p:sp>
      <p:pic>
        <p:nvPicPr>
          <p:cNvPr id="4" name="Picture 3"/>
          <p:cNvPicPr>
            <a:picLocks noChangeAspect="1"/>
          </p:cNvPicPr>
          <p:nvPr/>
        </p:nvPicPr>
        <p:blipFill>
          <a:blip r:embed="rId1"/>
          <a:stretch>
            <a:fillRect/>
          </a:stretch>
        </p:blipFill>
        <p:spPr>
          <a:xfrm>
            <a:off x="428625" y="1971040"/>
            <a:ext cx="11334750" cy="321881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内容占位符 2"/>
          <p:cNvSpPr>
            <a:spLocks noGrp="1"/>
          </p:cNvSpPr>
          <p:nvPr>
            <p:ph idx="1"/>
          </p:nvPr>
        </p:nvSpPr>
        <p:spPr>
          <a:xfrm>
            <a:off x="184150" y="139065"/>
            <a:ext cx="12007215" cy="6652260"/>
          </a:xfrm>
          <a:solidFill>
            <a:schemeClr val="tx2">
              <a:lumMod val="50000"/>
            </a:schemeClr>
          </a:solidFill>
        </p:spPr>
        <p:txBody>
          <a:bodyPr>
            <a:noAutofit/>
          </a:bodyPr>
          <a:p>
            <a:pPr marL="0" indent="0">
              <a:lnSpc>
                <a:spcPct val="120000"/>
              </a:lnSpc>
              <a:buNone/>
            </a:pPr>
            <a:r>
              <a:rPr lang="en-US" altLang="zh-CN" sz="1500" b="0" dirty="0">
                <a:solidFill>
                  <a:srgbClr val="F8F8F2"/>
                </a:solidFill>
                <a:effectLst/>
                <a:latin typeface="Consolas" panose="020B0609020204030204" pitchFamily="49" charset="0"/>
              </a:rPr>
              <a:t>vector&lt;int&gt; vec;</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b="0" dirty="0">
                <a:solidFill>
                  <a:srgbClr val="F8F8F2"/>
                </a:solidFill>
                <a:effectLst/>
                <a:latin typeface="Consolas" panose="020B0609020204030204" pitchFamily="49" charset="0"/>
              </a:rPr>
              <a:t>void dfs(Node t){</a:t>
            </a:r>
            <a:endParaRPr lang="en-US" altLang="zh-CN" sz="1500" b="0" dirty="0">
              <a:solidFill>
                <a:srgbClr val="F8F8F2"/>
              </a:solidFill>
              <a:effectLst/>
              <a:latin typeface="Consolas" panose="020B0609020204030204" pitchFamily="49" charset="0"/>
            </a:endParaRPr>
          </a:p>
          <a:p>
            <a:pPr marL="0" indent="457200">
              <a:lnSpc>
                <a:spcPct val="120000"/>
              </a:lnSpc>
              <a:buNone/>
            </a:pPr>
            <a:r>
              <a:rPr lang="en-US" altLang="zh-CN" sz="1500" b="0" dirty="0">
                <a:solidFill>
                  <a:srgbClr val="F8F8F2"/>
                </a:solidFill>
                <a:effectLst/>
                <a:latin typeface="Consolas" panose="020B0609020204030204" pitchFamily="49" charset="0"/>
              </a:rPr>
              <a:t>dfs(t.leftChild);</a:t>
            </a:r>
            <a:endParaRPr lang="en-US" altLang="zh-CN" sz="1500" b="0" dirty="0">
              <a:solidFill>
                <a:srgbClr val="F8F8F2"/>
              </a:solidFill>
              <a:effectLst/>
              <a:latin typeface="Consolas" panose="020B0609020204030204" pitchFamily="49" charset="0"/>
            </a:endParaRPr>
          </a:p>
          <a:p>
            <a:pPr marL="0" indent="457200">
              <a:lnSpc>
                <a:spcPct val="120000"/>
              </a:lnSpc>
              <a:buNone/>
            </a:pPr>
            <a:r>
              <a:rPr lang="en-US" altLang="zh-CN" sz="1500" b="0" dirty="0">
                <a:solidFill>
                  <a:srgbClr val="F8F8F2"/>
                </a:solidFill>
                <a:effectLst/>
                <a:latin typeface="Consolas" panose="020B0609020204030204" pitchFamily="49" charset="0"/>
              </a:rPr>
              <a:t>vec.push_back(t.key);</a:t>
            </a:r>
            <a:endParaRPr lang="en-US" altLang="zh-CN" sz="1500" b="0" dirty="0">
              <a:solidFill>
                <a:srgbClr val="F8F8F2"/>
              </a:solidFill>
              <a:effectLst/>
              <a:latin typeface="Consolas" panose="020B0609020204030204" pitchFamily="49" charset="0"/>
            </a:endParaRPr>
          </a:p>
          <a:p>
            <a:pPr marL="0" indent="457200">
              <a:lnSpc>
                <a:spcPct val="120000"/>
              </a:lnSpc>
              <a:buNone/>
            </a:pPr>
            <a:r>
              <a:rPr lang="en-US" altLang="zh-CN" sz="1500" b="0" dirty="0">
                <a:solidFill>
                  <a:srgbClr val="F8F8F2"/>
                </a:solidFill>
                <a:effectLst/>
                <a:latin typeface="Consolas" panose="020B0609020204030204" pitchFamily="49" charset="0"/>
              </a:rPr>
              <a:t>dfs(t.rightChild);</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b="0" dirty="0">
                <a:solidFill>
                  <a:srgbClr val="F8F8F2"/>
                </a:solidFill>
                <a:effectLst/>
                <a:latin typeface="Consolas" panose="020B0609020204030204" pitchFamily="49" charset="0"/>
              </a:rPr>
              <a:t>}</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dirty="0">
                <a:solidFill>
                  <a:srgbClr val="F8F8F2"/>
                </a:solidFill>
                <a:effectLst/>
                <a:latin typeface="Consolas" panose="020B0609020204030204" pitchFamily="49" charset="0"/>
                <a:sym typeface="+mn-ea"/>
              </a:rPr>
              <a:t>dfs(T);</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dirty="0">
                <a:solidFill>
                  <a:srgbClr val="F8F8F2"/>
                </a:solidFill>
                <a:effectLst/>
                <a:latin typeface="Consolas" panose="020B0609020204030204" pitchFamily="49" charset="0"/>
                <a:sym typeface="+mn-ea"/>
              </a:rPr>
              <a:t>int median = vec[(vec.size() - 1) / 2];</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dirty="0">
                <a:solidFill>
                  <a:srgbClr val="F8F8F2"/>
                </a:solidFill>
                <a:effectLst/>
                <a:latin typeface="Consolas" panose="020B0609020204030204" pitchFamily="49" charset="0"/>
                <a:sym typeface="+mn-ea"/>
              </a:rPr>
              <a:t>Node temp = T;</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dirty="0">
                <a:solidFill>
                  <a:srgbClr val="F8F8F2"/>
                </a:solidFill>
                <a:effectLst/>
                <a:latin typeface="Consolas" panose="020B0609020204030204" pitchFamily="49" charset="0"/>
                <a:sym typeface="+mn-ea"/>
              </a:rPr>
              <a:t>while(temp.key != median){</a:t>
            </a:r>
            <a:br>
              <a:rPr lang="en-US" altLang="zh-CN" sz="1500" dirty="0">
                <a:solidFill>
                  <a:srgbClr val="F8F8F2"/>
                </a:solidFill>
                <a:effectLst/>
                <a:latin typeface="Consolas" panose="020B0609020204030204" pitchFamily="49" charset="0"/>
                <a:sym typeface="+mn-ea"/>
              </a:rPr>
            </a:br>
            <a:r>
              <a:rPr lang="en-US" altLang="zh-CN" sz="1500" dirty="0">
                <a:solidFill>
                  <a:srgbClr val="F8F8F2"/>
                </a:solidFill>
                <a:effectLst/>
                <a:latin typeface="Consolas" panose="020B0609020204030204" pitchFamily="49" charset="0"/>
                <a:sym typeface="+mn-ea"/>
              </a:rPr>
              <a:t>	if(temp.key &lt; median){</a:t>
            </a:r>
            <a:br>
              <a:rPr lang="en-US" altLang="zh-CN" sz="1500" dirty="0">
                <a:solidFill>
                  <a:srgbClr val="F8F8F2"/>
                </a:solidFill>
                <a:effectLst/>
                <a:latin typeface="Consolas" panose="020B0609020204030204" pitchFamily="49" charset="0"/>
                <a:sym typeface="+mn-ea"/>
              </a:rPr>
            </a:br>
            <a:r>
              <a:rPr lang="en-US" altLang="zh-CN" sz="1500" dirty="0">
                <a:solidFill>
                  <a:srgbClr val="F8F8F2"/>
                </a:solidFill>
                <a:effectLst/>
                <a:latin typeface="Consolas" panose="020B0609020204030204" pitchFamily="49" charset="0"/>
                <a:sym typeface="+mn-ea"/>
              </a:rPr>
              <a:t>		temp = temp.rightChild;</a:t>
            </a:r>
            <a:endParaRPr lang="en-US" altLang="zh-CN" sz="1500" b="0" dirty="0">
              <a:solidFill>
                <a:srgbClr val="F8F8F2"/>
              </a:solidFill>
              <a:effectLst/>
              <a:latin typeface="Consolas" panose="020B0609020204030204" pitchFamily="49" charset="0"/>
            </a:endParaRPr>
          </a:p>
          <a:p>
            <a:pPr marL="457200" lvl="1" indent="457200">
              <a:lnSpc>
                <a:spcPct val="120000"/>
              </a:lnSpc>
              <a:buNone/>
            </a:pPr>
            <a:r>
              <a:rPr lang="en-US" altLang="zh-CN" sz="1500" dirty="0">
                <a:solidFill>
                  <a:srgbClr val="F8F8F2"/>
                </a:solidFill>
                <a:effectLst/>
                <a:latin typeface="Consolas" panose="020B0609020204030204" pitchFamily="49" charset="0"/>
                <a:sym typeface="+mn-ea"/>
              </a:rPr>
              <a:t>}else{</a:t>
            </a:r>
            <a:br>
              <a:rPr lang="en-US" altLang="zh-CN" sz="1500" dirty="0">
                <a:solidFill>
                  <a:srgbClr val="F8F8F2"/>
                </a:solidFill>
                <a:effectLst/>
                <a:latin typeface="Consolas" panose="020B0609020204030204" pitchFamily="49" charset="0"/>
                <a:sym typeface="+mn-ea"/>
              </a:rPr>
            </a:br>
            <a:r>
              <a:rPr lang="en-US" altLang="zh-CN" sz="1500" dirty="0">
                <a:solidFill>
                  <a:srgbClr val="F8F8F2"/>
                </a:solidFill>
                <a:effectLst/>
                <a:latin typeface="Consolas" panose="020B0609020204030204" pitchFamily="49" charset="0"/>
                <a:sym typeface="+mn-ea"/>
              </a:rPr>
              <a:t>		temp = temp.leftChild;</a:t>
            </a:r>
            <a:endParaRPr lang="en-US" altLang="zh-CN" sz="1500" b="0" dirty="0">
              <a:solidFill>
                <a:srgbClr val="F8F8F2"/>
              </a:solidFill>
              <a:effectLst/>
              <a:latin typeface="Consolas" panose="020B0609020204030204" pitchFamily="49" charset="0"/>
            </a:endParaRPr>
          </a:p>
          <a:p>
            <a:pPr marL="457200" lvl="1" indent="457200">
              <a:lnSpc>
                <a:spcPct val="120000"/>
              </a:lnSpc>
              <a:buNone/>
            </a:pPr>
            <a:r>
              <a:rPr lang="en-US" altLang="zh-CN" sz="1500" dirty="0">
                <a:solidFill>
                  <a:srgbClr val="F8F8F2"/>
                </a:solidFill>
                <a:effectLst/>
                <a:latin typeface="Consolas" panose="020B0609020204030204" pitchFamily="49" charset="0"/>
                <a:sym typeface="+mn-ea"/>
              </a:rPr>
              <a:t>}</a:t>
            </a:r>
            <a:endParaRPr lang="en-US" altLang="zh-CN" sz="1500" b="0" dirty="0">
              <a:solidFill>
                <a:srgbClr val="F8F8F2"/>
              </a:solidFill>
              <a:effectLst/>
              <a:latin typeface="Consolas" panose="020B0609020204030204" pitchFamily="49" charset="0"/>
            </a:endParaRPr>
          </a:p>
          <a:p>
            <a:pPr marL="0" indent="0">
              <a:lnSpc>
                <a:spcPct val="120000"/>
              </a:lnSpc>
              <a:buNone/>
            </a:pPr>
            <a:r>
              <a:rPr lang="en-US" altLang="zh-CN" sz="1500" dirty="0">
                <a:solidFill>
                  <a:srgbClr val="F8F8F2"/>
                </a:solidFill>
                <a:effectLst/>
                <a:latin typeface="Consolas" panose="020B0609020204030204" pitchFamily="49" charset="0"/>
                <a:sym typeface="+mn-ea"/>
              </a:rPr>
              <a:t>}</a:t>
            </a:r>
            <a:endParaRPr lang="en-US" altLang="zh-CN" sz="1500" dirty="0">
              <a:solidFill>
                <a:srgbClr val="F8F8F2"/>
              </a:solidFill>
              <a:effectLst/>
              <a:latin typeface="Consolas" panose="020B0609020204030204" pitchFamily="49" charset="0"/>
              <a:sym typeface="+mn-ea"/>
            </a:endParaRPr>
          </a:p>
          <a:p>
            <a:pPr marL="0" indent="0">
              <a:lnSpc>
                <a:spcPct val="120000"/>
              </a:lnSpc>
              <a:buNone/>
            </a:pPr>
            <a:r>
              <a:rPr lang="en-US" altLang="zh-CN" sz="1500" dirty="0">
                <a:solidFill>
                  <a:srgbClr val="F8F8F2"/>
                </a:solidFill>
                <a:effectLst/>
                <a:latin typeface="Consolas" panose="020B0609020204030204" pitchFamily="49" charset="0"/>
                <a:sym typeface="+mn-ea"/>
              </a:rPr>
              <a:t>// delete Node temp and replace it with its successor, ommitted here. </a:t>
            </a:r>
            <a:endParaRPr lang="en-US" altLang="zh-CN" sz="1500" b="0" dirty="0">
              <a:solidFill>
                <a:srgbClr val="F8F8F2"/>
              </a:solidFill>
              <a:effectLst/>
              <a:latin typeface="Consolas" panose="020B0609020204030204" pitchFamily="49" charset="0"/>
            </a:endParaRPr>
          </a:p>
          <a:p>
            <a:pPr marL="0" indent="0">
              <a:lnSpc>
                <a:spcPct val="120000"/>
              </a:lnSpc>
              <a:buNone/>
            </a:pPr>
            <a:endParaRPr lang="en-US" altLang="zh-CN" sz="1500" b="0" dirty="0">
              <a:solidFill>
                <a:srgbClr val="F8F8F2"/>
              </a:solidFill>
              <a:effectLst/>
              <a:latin typeface="Consolas" panose="020B0609020204030204" pitchFamily="49" charset="0"/>
            </a:endParaRPr>
          </a:p>
          <a:p>
            <a:pPr marL="0" indent="0">
              <a:lnSpc>
                <a:spcPct val="120000"/>
              </a:lnSpc>
              <a:buNone/>
            </a:pPr>
            <a:endParaRPr lang="en-US" altLang="zh-CN" sz="1500" b="0" dirty="0">
              <a:solidFill>
                <a:srgbClr val="F8F8F2"/>
              </a:solidFill>
              <a:effectLst/>
              <a:latin typeface="Consolas" panose="020B0609020204030204" pitchFamily="49"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Sample Final Review</a:t>
            </a:r>
            <a:endParaRPr lang="en-US"/>
          </a:p>
        </p:txBody>
      </p:sp>
      <p:pic>
        <p:nvPicPr>
          <p:cNvPr id="4" name="Picture 3"/>
          <p:cNvPicPr>
            <a:picLocks noChangeAspect="1"/>
          </p:cNvPicPr>
          <p:nvPr/>
        </p:nvPicPr>
        <p:blipFill>
          <a:blip r:embed="rId1"/>
          <a:stretch>
            <a:fillRect/>
          </a:stretch>
        </p:blipFill>
        <p:spPr>
          <a:xfrm>
            <a:off x="838200" y="1691005"/>
            <a:ext cx="9932670" cy="3430905"/>
          </a:xfrm>
          <a:prstGeom prst="rect">
            <a:avLst/>
          </a:prstGeom>
        </p:spPr>
      </p:pic>
      <p:pic>
        <p:nvPicPr>
          <p:cNvPr id="5" name="Picture 4"/>
          <p:cNvPicPr>
            <a:picLocks noChangeAspect="1"/>
          </p:cNvPicPr>
          <p:nvPr/>
        </p:nvPicPr>
        <p:blipFill>
          <a:blip r:embed="rId2"/>
          <a:stretch>
            <a:fillRect/>
          </a:stretch>
        </p:blipFill>
        <p:spPr>
          <a:xfrm>
            <a:off x="838200" y="5121910"/>
            <a:ext cx="9932670" cy="141605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187960"/>
            <a:ext cx="10515600" cy="5989320"/>
          </a:xfrm>
        </p:spPr>
        <p:txBody>
          <a:bodyPr/>
          <a:p>
            <a:pPr marL="0" indent="0">
              <a:lnSpc>
                <a:spcPct val="150000"/>
              </a:lnSpc>
              <a:buNone/>
            </a:pPr>
            <a:r>
              <a:rPr lang="en-US"/>
              <a:t>Answer:</a:t>
            </a:r>
            <a:endParaRPr lang="en-US"/>
          </a:p>
          <a:p>
            <a:pPr marL="0" indent="0">
              <a:lnSpc>
                <a:spcPct val="150000"/>
              </a:lnSpc>
              <a:buNone/>
            </a:pPr>
            <a:r>
              <a:rPr lang="en-US"/>
              <a:t>(1) O (n+m) and O (m) are fine</a:t>
            </a:r>
            <a:endParaRPr lang="en-US"/>
          </a:p>
          <a:p>
            <a:pPr marL="0" indent="0">
              <a:lnSpc>
                <a:spcPct val="150000"/>
              </a:lnSpc>
              <a:buNone/>
            </a:pPr>
            <a:r>
              <a:rPr lang="en-US"/>
              <a:t>(2) Yes, we can use counting sort or radix sort. </a:t>
            </a:r>
            <a:endParaRPr lang="en-US"/>
          </a:p>
          <a:p>
            <a:pPr marL="0" indent="0">
              <a:lnSpc>
                <a:spcPct val="150000"/>
              </a:lnSpc>
              <a:buNone/>
            </a:pPr>
            <a:r>
              <a:rPr lang="en-US"/>
              <a:t>(3) O (n+m) or O(m)</a:t>
            </a:r>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Sample Final Review</a:t>
            </a:r>
            <a:endParaRPr lang="en-US"/>
          </a:p>
        </p:txBody>
      </p:sp>
      <p:pic>
        <p:nvPicPr>
          <p:cNvPr id="4" name="Picture 3"/>
          <p:cNvPicPr>
            <a:picLocks noChangeAspect="1"/>
          </p:cNvPicPr>
          <p:nvPr/>
        </p:nvPicPr>
        <p:blipFill>
          <a:blip r:embed="rId1"/>
          <a:stretch>
            <a:fillRect/>
          </a:stretch>
        </p:blipFill>
        <p:spPr>
          <a:xfrm>
            <a:off x="1895475" y="1691005"/>
            <a:ext cx="8401050" cy="503872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336550"/>
                <a:ext cx="10515600" cy="5840730"/>
              </a:xfrm>
            </p:spPr>
            <p:txBody>
              <a:bodyPr/>
              <a:p>
                <a:pPr marL="0" indent="0">
                  <a:buNone/>
                </a:pPr>
                <a:r>
                  <a:rPr lang="en-US"/>
                  <a:t>Answer:</a:t>
                </a:r>
                <a:endParaRPr lang="en-US"/>
              </a:p>
              <a:p>
                <a:pPr marL="0" indent="0">
                  <a:buNone/>
                </a:pPr>
                <a:r>
                  <a:rPr lang="en-US"/>
                  <a:t>BFS: v0, v1, v2, v3, v4, v5, v6, v8 v9, v7</a:t>
                </a:r>
                <a:endParaRPr lang="en-US"/>
              </a:p>
              <a:p>
                <a:pPr marL="0" indent="0">
                  <a:buNone/>
                </a:pPr>
                <a:r>
                  <a:rPr lang="en-US"/>
                  <a:t>DFS: v0, v1, v3, v4, v8, v7, v6, v9, v2, v5</a:t>
                </a:r>
                <a:endParaRPr lang="en-US"/>
              </a:p>
              <a:p>
                <a:pPr marL="0" indent="0">
                  <a:buNone/>
                </a:pPr>
                <a:endParaRPr lang="en-US"/>
              </a:p>
              <a:p>
                <a:pPr marL="0" indent="0">
                  <a:buNone/>
                </a:pPr>
                <a:r>
                  <a:rPr lang="en-US"/>
                  <a:t>BFS: Time: O(</a:t>
                </a:r>
                <a14:m>
                  <m:oMath xmlns:m="http://schemas.openxmlformats.org/officeDocument/2006/math">
                    <m:sSup>
                      <m:sSupPr>
                        <m:ctrlPr>
                          <a:rPr lang="en-US" i="1">
                            <a:latin typeface="Cambria Math" panose="02040503050406030204" charset="0"/>
                            <a:cs typeface="Cambria Math" panose="02040503050406030204" charset="0"/>
                          </a:rPr>
                        </m:ctrlPr>
                      </m:sSupPr>
                      <m:e>
                        <m:r>
                          <a:rPr lang="en-US" i="1">
                            <a:latin typeface="Cambria Math" panose="02040503050406030204" charset="0"/>
                            <a:cs typeface="Cambria Math" panose="02040503050406030204" charset="0"/>
                          </a:rPr>
                          <m:t>𝑉</m:t>
                        </m:r>
                      </m:e>
                      <m:sup>
                        <m:r>
                          <a:rPr lang="en-US" i="1">
                            <a:latin typeface="Cambria Math" panose="02040503050406030204" charset="0"/>
                            <a:cs typeface="Cambria Math" panose="02040503050406030204" charset="0"/>
                          </a:rPr>
                          <m:t>2</m:t>
                        </m:r>
                      </m:sup>
                    </m:sSup>
                  </m:oMath>
                </a14:m>
                <a:r>
                  <a:rPr lang="en-US"/>
                  <a:t>) Space: O(V) (implemented by a queue)</a:t>
                </a:r>
                <a:endParaRPr lang="en-US"/>
              </a:p>
              <a:p>
                <a:pPr marL="0" indent="0">
                  <a:buNone/>
                </a:pPr>
                <a:r>
                  <a:rPr lang="en-US"/>
                  <a:t>DFS: Time: O(</a:t>
                </a:r>
                <a14:m>
                  <m:oMath xmlns:m="http://schemas.openxmlformats.org/officeDocument/2006/math">
                    <m:sSup>
                      <m:sSupPr>
                        <m:ctrlPr>
                          <a:rPr lang="en-US" i="1">
                            <a:latin typeface="Cambria Math" panose="02040503050406030204" charset="0"/>
                            <a:cs typeface="Cambria Math" panose="02040503050406030204" charset="0"/>
                          </a:rPr>
                        </m:ctrlPr>
                      </m:sSupPr>
                      <m:e>
                        <m:r>
                          <a:rPr lang="en-US" i="1">
                            <a:latin typeface="Cambria Math" panose="02040503050406030204" charset="0"/>
                            <a:cs typeface="Cambria Math" panose="02040503050406030204" charset="0"/>
                          </a:rPr>
                          <m:t>𝑉</m:t>
                        </m:r>
                      </m:e>
                      <m:sup>
                        <m:r>
                          <a:rPr lang="en-US" i="1">
                            <a:latin typeface="Cambria Math" panose="02040503050406030204" charset="0"/>
                            <a:cs typeface="Cambria Math" panose="02040503050406030204" charset="0"/>
                          </a:rPr>
                          <m:t>2</m:t>
                        </m:r>
                      </m:sup>
                    </m:sSup>
                  </m:oMath>
                </a14:m>
                <a:r>
                  <a:rPr lang="en-US"/>
                  <a:t>) Space: O(V) (use working stack)</a:t>
                </a:r>
                <a:endParaRPr lang="en-US"/>
              </a:p>
              <a:p>
                <a:pPr marL="0" indent="0">
                  <a:buNone/>
                </a:pPr>
                <a:r>
                  <a:rPr lang="en-US"/>
                  <a:t> </a:t>
                </a:r>
                <a:endParaRPr lang="en-US"/>
              </a:p>
              <a:p>
                <a:pPr marL="0" indent="0">
                  <a:buNone/>
                </a:pPr>
                <a:endParaRPr lang="en-US"/>
              </a:p>
              <a:p>
                <a:pPr marL="0" indent="457200">
                  <a:buNone/>
                </a:pPr>
                <a:endParaRPr lang="en-US"/>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838200" y="336550"/>
                <a:ext cx="10515600" cy="5840730"/>
              </a:xfrm>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Sample Final Review</a:t>
            </a:r>
            <a:endParaRPr lang="en-US"/>
          </a:p>
        </p:txBody>
      </p:sp>
      <p:pic>
        <p:nvPicPr>
          <p:cNvPr id="4" name="Picture 3"/>
          <p:cNvPicPr>
            <a:picLocks noChangeAspect="1"/>
          </p:cNvPicPr>
          <p:nvPr/>
        </p:nvPicPr>
        <p:blipFill>
          <a:blip r:embed="rId1"/>
          <a:stretch>
            <a:fillRect/>
          </a:stretch>
        </p:blipFill>
        <p:spPr>
          <a:xfrm>
            <a:off x="981075" y="1691005"/>
            <a:ext cx="10229850" cy="516636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544830"/>
            <a:ext cx="10515600" cy="5632450"/>
          </a:xfrm>
        </p:spPr>
        <p:txBody>
          <a:bodyPr/>
          <a:p>
            <a:pPr marL="0" indent="0">
              <a:lnSpc>
                <a:spcPct val="150000"/>
              </a:lnSpc>
              <a:buNone/>
            </a:pPr>
            <a:r>
              <a:rPr lang="en-US"/>
              <a:t>(1) Break the edge, use label[i] array to denote which connected component vertex i is in. For the broken edge, DFS or BFS it’s two vertices, to construct the label array. O(V) here. Then sort the edges in ascending order w.r.t weight. O(ElogE) here. Scan the edges and find the minimum weight of an edge which connects two vertices with different labels. O(E) here.</a:t>
            </a:r>
            <a:endParaRPr lang="en-US"/>
          </a:p>
          <a:p>
            <a:pPr marL="0" indent="0">
              <a:lnSpc>
                <a:spcPct val="150000"/>
              </a:lnSpc>
              <a:buNone/>
            </a:pPr>
            <a:r>
              <a:rPr lang="en-US"/>
              <a:t>Time Complexity: O(V+ElogE)  </a:t>
            </a:r>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346075"/>
                <a:ext cx="10515600" cy="5831205"/>
              </a:xfrm>
            </p:spPr>
            <p:txBody>
              <a:bodyPr/>
              <a:p>
                <a:pPr marL="0" indent="0">
                  <a:lnSpc>
                    <a:spcPct val="150000"/>
                  </a:lnSpc>
                  <a:buNone/>
                </a:pPr>
                <a:r>
                  <a:rPr lang="en-US"/>
                  <a:t>(2) Note that there are only V-1 edges in MST</a:t>
                </a:r>
                <a:endParaRPr lang="en-US"/>
              </a:p>
              <a:p>
                <a:pPr marL="0" indent="0">
                  <a:lnSpc>
                    <a:spcPct val="150000"/>
                  </a:lnSpc>
                  <a:buNone/>
                </a:pPr>
                <a:r>
                  <a:rPr lang="en-US"/>
                  <a:t>Try to replace every edge in MST with the weight-decreased edge. O(V) here for enumerating. Check whether the graph is connected using DFS/BFS. That is, only start from any single vertex in this graph and run DFS/BFS, check whether every vertex in this graph is visited O(V) for check. If so, then it’s a valid replacement. Update the answer.</a:t>
                </a:r>
                <a:endParaRPr lang="en-US"/>
              </a:p>
              <a:p>
                <a:pPr marL="0" indent="0">
                  <a:lnSpc>
                    <a:spcPct val="150000"/>
                  </a:lnSpc>
                  <a:buNone/>
                </a:pPr>
                <a:r>
                  <a:rPr lang="en-US"/>
                  <a:t>Time Complexity: O</a:t>
                </a:r>
                <a14:m>
                  <m:oMath xmlns:m="http://schemas.openxmlformats.org/officeDocument/2006/math">
                    <m:r>
                      <a:rPr lang="en-US"/>
                      <m:t>(</m:t>
                    </m:r>
                    <m:sSup>
                      <m:sSupPr>
                        <m:ctrlPr>
                          <a:rPr lang="en-US" i="1">
                            <a:latin typeface="Cambria Math" panose="02040503050406030204" charset="0"/>
                            <a:cs typeface="Cambria Math" panose="02040503050406030204" charset="0"/>
                          </a:rPr>
                        </m:ctrlPr>
                      </m:sSupPr>
                      <m:e>
                        <m:r>
                          <a:rPr lang="en-US" i="1">
                            <a:latin typeface="Cambria Math" panose="02040503050406030204" charset="0"/>
                            <a:cs typeface="Cambria Math" panose="02040503050406030204" charset="0"/>
                          </a:rPr>
                          <m:t>𝑉</m:t>
                        </m:r>
                      </m:e>
                      <m:sup>
                        <m:r>
                          <a:rPr lang="en-US" i="1">
                            <a:latin typeface="Cambria Math" panose="02040503050406030204" charset="0"/>
                            <a:cs typeface="Cambria Math" panose="02040503050406030204" charset="0"/>
                          </a:rPr>
                          <m:t>2</m:t>
                        </m:r>
                      </m:sup>
                    </m:sSup>
                  </m:oMath>
                </a14:m>
                <a:r>
                  <a:rPr lang="en-US"/>
                  <a:t>) (Enumerate * Check)</a:t>
                </a:r>
                <a:endParaRPr lang="en-US"/>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838200" y="346075"/>
                <a:ext cx="10515600" cy="5831205"/>
              </a:xfrm>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tags/tag1.xml><?xml version="1.0" encoding="utf-8"?>
<p:tagLst xmlns:p="http://schemas.openxmlformats.org/presentationml/2006/main">
  <p:tag name="TABLE_ENDDRAG_ORIGIN_RECT" val="917*504"/>
  <p:tag name="TABLE_ENDDRAG_RECT" val="22*8*917*504"/>
</p:tagLst>
</file>

<file path=ppt/tags/tag2.xml><?xml version="1.0" encoding="utf-8"?>
<p:tagLst xmlns:p="http://schemas.openxmlformats.org/presentationml/2006/main">
  <p:tag name="TABLE_ENDDRAG_ORIGIN_RECT" val="917*504"/>
  <p:tag name="TABLE_ENDDRAG_RECT" val="22*8*917*50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14644</Words>
  <Application>WPS Presentation</Application>
  <PresentationFormat>宽屏</PresentationFormat>
  <Paragraphs>523</Paragraphs>
  <Slides>64</Slides>
  <Notes>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64</vt:i4>
      </vt:variant>
    </vt:vector>
  </HeadingPairs>
  <TitlesOfParts>
    <vt:vector size="79" baseType="lpstr">
      <vt:lpstr>Arial</vt:lpstr>
      <vt:lpstr>宋体</vt:lpstr>
      <vt:lpstr>Wingdings</vt:lpstr>
      <vt:lpstr>Calibri</vt:lpstr>
      <vt:lpstr>BIZ UDPMincho Medium</vt:lpstr>
      <vt:lpstr>Yu Gothic UI</vt:lpstr>
      <vt:lpstr>Consolas</vt:lpstr>
      <vt:lpstr>Cambria Math</vt:lpstr>
      <vt:lpstr>微软雅黑</vt:lpstr>
      <vt:lpstr>Arial Unicode MS</vt:lpstr>
      <vt:lpstr>黑体</vt:lpstr>
      <vt:lpstr>等线</vt:lpstr>
      <vt:lpstr>MS Mincho</vt:lpstr>
      <vt:lpstr>Segoe Print</vt:lpstr>
      <vt:lpstr>Office 主题​​</vt:lpstr>
      <vt:lpstr>CSC3100 Final Review</vt:lpstr>
      <vt:lpstr>Review of core course topics</vt:lpstr>
      <vt:lpstr>Hash table</vt:lpstr>
      <vt:lpstr>Hash table</vt:lpstr>
      <vt:lpstr>Hash table</vt:lpstr>
      <vt:lpstr>Hash table</vt:lpstr>
      <vt:lpstr>Hash table</vt:lpstr>
      <vt:lpstr>Proof of time complexity</vt:lpstr>
      <vt:lpstr>Hash table</vt:lpstr>
      <vt:lpstr>Hash table</vt:lpstr>
      <vt:lpstr>Heap</vt:lpstr>
      <vt:lpstr>Pseudo code (build heap)</vt:lpstr>
      <vt:lpstr>Heap</vt:lpstr>
      <vt:lpstr>PowerPoint 演示文稿</vt:lpstr>
      <vt:lpstr>Heap</vt:lpstr>
      <vt:lpstr>Pseudo code (build heap)</vt:lpstr>
      <vt:lpstr>Heap</vt:lpstr>
      <vt:lpstr>Stack</vt:lpstr>
      <vt:lpstr>Stack</vt:lpstr>
      <vt:lpstr>Tree &amp; AVL Tree</vt:lpstr>
      <vt:lpstr>Tree &amp; AVL Tree</vt:lpstr>
      <vt:lpstr>Tree &amp; AVL Tree</vt:lpstr>
      <vt:lpstr>Pseudo code (Rotation)</vt:lpstr>
      <vt:lpstr>Pseudo code (double rotation)</vt:lpstr>
      <vt:lpstr>Tree &amp; AVL Tree</vt:lpstr>
      <vt:lpstr>Tree &amp; AVL Tree</vt:lpstr>
      <vt:lpstr>Tree &amp; AVL Tree</vt:lpstr>
      <vt:lpstr>Tree &amp; AVL Tree</vt:lpstr>
      <vt:lpstr>PowerPoint 演示文稿</vt:lpstr>
      <vt:lpstr>Graph</vt:lpstr>
      <vt:lpstr>PowerPoint 演示文稿</vt:lpstr>
      <vt:lpstr>Shortest Path on Graph</vt:lpstr>
      <vt:lpstr>PowerPoint 演示文稿</vt:lpstr>
      <vt:lpstr>PowerPoint 演示文稿</vt:lpstr>
      <vt:lpstr>PowerPoint 演示文稿</vt:lpstr>
      <vt:lpstr>Homework 4 problem 1 solution</vt:lpstr>
      <vt:lpstr>Homework 4 problem 2 solution</vt:lpstr>
      <vt:lpstr>Homework 4 problem 2 solution</vt:lpstr>
      <vt:lpstr>Homework 4 problem 2 solution</vt:lpstr>
      <vt:lpstr>Homework 4 problem 3 solution</vt:lpstr>
      <vt:lpstr>Homework 4 problem 3 solution</vt:lpstr>
      <vt:lpstr>Homework 4 problem 3 solution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WhiteEurya 未白</dc:creator>
  <cp:lastModifiedBy>zhoux</cp:lastModifiedBy>
  <cp:revision>263</cp:revision>
  <dcterms:created xsi:type="dcterms:W3CDTF">2024-12-06T06:44:00Z</dcterms:created>
  <dcterms:modified xsi:type="dcterms:W3CDTF">2024-12-10T08:10:55Z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ECBD40532F4246D88A8042D7A4AAFA5D_12</vt:lpwstr>
  </property>
  <property fmtid="{D5CDD505-2E9C-101B-9397-08002B2CF9AE}" pid="3" name="KSOProductBuildVer">
    <vt:lpwstr>1033-12.2.0.18911</vt:lpwstr>
  </property>
</Properties>
</file>